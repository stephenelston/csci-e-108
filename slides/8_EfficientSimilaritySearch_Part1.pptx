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58" r:id="rId12"/>
    <p:sldId id="767" r:id="rId13"/>
    <p:sldId id="787" r:id="rId14"/>
    <p:sldId id="789" r:id="rId15"/>
    <p:sldId id="768" r:id="rId16"/>
    <p:sldId id="782" r:id="rId17"/>
    <p:sldId id="849" r:id="rId18"/>
    <p:sldId id="781" r:id="rId19"/>
    <p:sldId id="852" r:id="rId20"/>
    <p:sldId id="786" r:id="rId21"/>
    <p:sldId id="780" r:id="rId22"/>
    <p:sldId id="769" r:id="rId23"/>
    <p:sldId id="770" r:id="rId24"/>
    <p:sldId id="778" r:id="rId25"/>
    <p:sldId id="749" r:id="rId26"/>
    <p:sldId id="688" r:id="rId27"/>
    <p:sldId id="754" r:id="rId28"/>
    <p:sldId id="735" r:id="rId29"/>
    <p:sldId id="737" r:id="rId30"/>
    <p:sldId id="736" r:id="rId31"/>
    <p:sldId id="738" r:id="rId32"/>
    <p:sldId id="739" r:id="rId33"/>
    <p:sldId id="763" r:id="rId34"/>
    <p:sldId id="750" r:id="rId35"/>
    <p:sldId id="740" r:id="rId36"/>
    <p:sldId id="741" r:id="rId37"/>
    <p:sldId id="742" r:id="rId38"/>
    <p:sldId id="744" r:id="rId39"/>
    <p:sldId id="745" r:id="rId40"/>
    <p:sldId id="746" r:id="rId41"/>
    <p:sldId id="748" r:id="rId42"/>
    <p:sldId id="766" r:id="rId43"/>
    <p:sldId id="774" r:id="rId44"/>
    <p:sldId id="792" r:id="rId45"/>
    <p:sldId id="793" r:id="rId46"/>
    <p:sldId id="775" r:id="rId47"/>
    <p:sldId id="833" r:id="rId48"/>
    <p:sldId id="834" r:id="rId49"/>
    <p:sldId id="832" r:id="rId50"/>
    <p:sldId id="840" r:id="rId51"/>
    <p:sldId id="841" r:id="rId52"/>
    <p:sldId id="772" r:id="rId53"/>
    <p:sldId id="788" r:id="rId54"/>
    <p:sldId id="836" r:id="rId55"/>
    <p:sldId id="799" r:id="rId56"/>
    <p:sldId id="819" r:id="rId57"/>
    <p:sldId id="821" r:id="rId58"/>
    <p:sldId id="790" r:id="rId59"/>
    <p:sldId id="779" r:id="rId60"/>
    <p:sldId id="794" r:id="rId61"/>
    <p:sldId id="796" r:id="rId62"/>
    <p:sldId id="814" r:id="rId63"/>
    <p:sldId id="822" r:id="rId64"/>
    <p:sldId id="831" r:id="rId65"/>
    <p:sldId id="797" r:id="rId66"/>
    <p:sldId id="839" r:id="rId67"/>
    <p:sldId id="848" r:id="rId68"/>
    <p:sldId id="731" r:id="rId69"/>
    <p:sldId id="850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4660"/>
  </p:normalViewPr>
  <p:slideViewPr>
    <p:cSldViewPr snapToGrid="0">
      <p:cViewPr varScale="1">
        <p:scale>
          <a:sx n="74" d="100"/>
          <a:sy n="74" d="100"/>
        </p:scale>
        <p:origin x="70" y="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FE69-A745-70B9-4F2A-C97ACD859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DB8D3-D5D6-842C-B9C9-E2EA999F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59537-264C-7230-4C1B-7F09F5020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F52B4-A2A9-7D1F-CDEC-CBC7EDB704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029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8560-71DB-C205-0597-9E74D487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508CB-7802-0DBB-737F-70F5E177F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7EB01-FD23-B86F-0762-7219B977D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D3EDC-B63D-94C8-9239-274879E294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443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75FB-2532-7444-6460-35676A6C5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B6A49-F294-7D61-59A7-47504DBA4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16BCF-9200-FCF8-BC31-C0DC31DA9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FC5D2-7526-86E9-3AF5-DD5E6539F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52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9E963-936D-0686-3ED6-9544AB653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B9D47-CFE9-8335-3DAE-0DE1F9739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18163-9C5F-0EBA-C03F-6164724F3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C91B6-9D71-7DC9-6E17-6120F874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622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7E578-3355-2245-627B-3F792E7BF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AA74B-9B69-677A-E49E-3005D8EE7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CFAAF-3B3B-417E-381C-F3F180CEA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3A36-ACC8-604B-BA27-8073288A5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249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E3DE6-03DC-4173-340B-26F4C6D9E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0F9F-560E-9555-9BF7-A4BC57F85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A1A27-78D0-3CF3-2C65-B1FD8FDA5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A4E2-593E-702B-F7D7-CEFB49FDB8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7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7C4FB-FEF6-2A1B-3021-665C8D970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2852D-E494-1DDB-7513-582559668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8D9056-35C9-E817-0A8B-7E9C64406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9ACD1-7FD9-BA95-3B94-AB326CA33E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98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6DBB-E52F-E56E-CF2F-6047CC4F1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051EC-4CA5-8837-9303-4E5B6247E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E290A-A15C-6D99-1A21-82A4B312F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BB76-8E70-7FD4-95A4-3F704422A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31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EE027-18C7-30C4-2B24-820F876F4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04C3B-389F-0859-ADC1-312432C65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AC131-DF76-7CA5-0476-925349FB5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515CF-E1ED-C5FE-115B-0BB8D3181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60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609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570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32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05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87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79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474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23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71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006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043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182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9300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699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701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AA010-4279-4924-A752-7FB444228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6C045-5A11-27A8-6A57-22BCECB17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EE0BF-6F34-8CB8-4999-6BEEDF057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C6462-06DD-45A5-8819-19A8A3A3B0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9049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30E80-5BA7-FE36-ECF6-4DB0463A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DDB68-531F-ACED-C3CC-3271FB80E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6EAE68-41A5-8121-850E-167856675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60E86-A25F-FFEB-17D4-8188F73BFD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301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C96E-185A-6DB9-6378-314502EF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47271-45E0-B96A-860D-B43A4840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DF76B-E3AF-9ABB-6C4C-EE01EF750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6BD5F-B83A-FF45-4C17-8188AA9DDE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56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E4643-9719-3317-9F52-668C3375C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8FFBC-9D83-5878-AE9D-E229B9B9B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67E90-59DD-37E8-12B2-9DE556250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E1CE-F4CD-2F9C-3428-11D74CB5D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995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86A82-594E-C481-B531-3CB41211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D980B-D0EC-2DBC-CE26-85665D1E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4353-0718-65FD-B1C4-282236038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DBE3D-E830-9965-F87E-F7E7E0AEF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462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59B3-32FD-B5C1-A14C-AF0C6D18B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FEC36-F4A2-7C0C-C027-0904909A1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2F8C7-4885-9C21-80F6-7EF08D192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1B0F1-48C1-960D-27B2-21395C097E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337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1BEB4-2EAB-6814-04E8-7C55862BB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67870-402C-FC0B-48C8-CDCE6FD0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DBC5C-C9EC-346A-9A10-D0D341ADA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9E2EB-96C2-F82B-A184-F0A7D3B882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2972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C9F5-8B02-C85C-5372-77FFBB52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88797-8AA9-2924-16E9-0FDD9679D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1362AF-C86A-5C73-3975-E8D1B753C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06106-4613-D25C-EB20-ECD4017D0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356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534C-E413-A9CB-6CD9-5B5313664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411120-8557-A8AD-ED08-E4E4C0D84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ADC99-204E-D9CE-5FB4-39601F2CF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069FF-C894-C3DA-DB58-47C89F3A40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89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11BC-BCB1-097B-C7ED-4486CFD60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CC407-9A84-FF1D-862E-A0062605A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97CAA-F227-7BF9-1FCE-2C03B142C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C72D1-EEAD-F545-E8D2-F844E65F3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5329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CE59-EECD-5572-FE06-AD8603C59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FE1EA-E461-B2D0-DE92-AFCF66F7A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0DE49-E7A7-2447-2545-CBDCBEF42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9D0FF-F0B1-6BA3-E871-840261CF9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31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D6228-0A45-4BAB-199F-98E858D5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7896D-BB01-E0AF-3566-2D3AC4E64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0D7AC-48DF-B5F1-8AAF-2D015F3DA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E7F7-60AD-9C4F-26E0-670A48C5A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9966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1D35-CD5C-3D9A-9D91-B442FE2B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89C85-9712-43D5-A2B9-2E3263E80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3E825-6467-3A2F-5397-9EB1C920F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E87C-20B6-F281-4B46-0492557BD3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8288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F82A1-CF08-CFDA-3372-00F06515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89A10-247E-30FF-7CBC-5C8363949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8EF68-AA44-6309-DC2D-83A597D73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B4D84-F673-A0A8-E9A1-039E792EDF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764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D09B-165E-48F8-4ED5-1AF84080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CB1D3-F265-2B33-6F75-ADF3C776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C01ED-B2D5-7E9C-0EB8-19D11480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5F882-9919-B7B8-C2DA-B5921C58B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682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A760-4A06-3C16-03BF-D8E49E15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FB5260-750A-DAFC-1C21-AAA48F3D6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97D3A-943A-EF71-FE80-2FFBAF041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CD620-8216-976F-826F-546C2B3FA1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502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4A3A-5ED4-EA05-9CF0-98974EA4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2CA71-72CE-E550-8EF6-2A83FDF67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634E4-B4A4-1596-0933-72A453B2E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B5721-1E6A-0703-E471-F586FD11B8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193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88C4-37E3-6269-18F5-58F58590C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C7F8C-D595-5633-105A-A677E6BA5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3CA58-BAD9-2095-241C-C486F1F27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3B20C-B7D3-7A9F-02A1-3F2BF719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449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2B68-F1A9-28BF-1EF2-974B7F7F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32546-CE35-4579-181C-741E3126F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88522-E382-9F68-BCEF-62E305E1C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03E8B-F884-A529-9FB8-937B6EA05C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1140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5F8A1-B791-693A-5F3D-9DD7CADD9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1A985-C179-1AC6-400B-6E10D5C33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BDD36-7ED4-CB38-8C90-BC052C12C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06566-B257-0EDB-33A6-AA964BDCA4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6332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E624-28CF-AA28-F3A9-27D4C73A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26103-52E0-96E7-C0CA-D09211017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7083DF-6452-4A10-95D3-993098C8F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52735-56DF-646F-D053-03A70DC19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46670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8A3E-D58F-9A2F-F28F-8C73A4D99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E77DD-11CE-8693-C4C6-779B950DE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C0FBB-2868-CD6F-9AE0-9427D85C7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75EDA-CF89-ED2B-8EF5-78AD2E84A5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5321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2E6A7-7551-9916-E6D7-BFD6EFF28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4D0A6-A20A-C07E-4642-B50DCC26E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4DF7E-A714-0EBA-4885-BEF512D4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AD4D9-CDD2-2F4A-04A2-8747F877C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1354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6.0982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verted_index#:~:text=In%20computer%20science%2C%20an%20inverted,index%2C%20which%20maps%20from%20document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3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-d_tre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hyperlink" Target="https://arxiv.org/pdf/1511.00628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i.cmu.edu/pub_files/pub1/moore_andrew_1991_1/moore_andrew_1991_1.pdf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K-d_tree" TargetMode="External"/><Relationship Id="rId4" Type="http://schemas.openxmlformats.org/officeDocument/2006/relationships/hyperlink" Target="https://www.manning.com/books/advanced-algorithms-and-data-structure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loyd%27s_algorith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oronoi_diagra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0.png"/><Relationship Id="rId4" Type="http://schemas.openxmlformats.org/officeDocument/2006/relationships/hyperlink" Target="https://fbellelli.com/posts/2021-07-08-the-fascinating-world-of-voronoi-diagrams/" TargetMode="Externa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4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2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skoltech.ru/app/data/uploads/sites/25/2014/12/TPAMI14.pdf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stage.jst.go.jp/article/mta/6/1/6_2/_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13/product-quantizer-tutorial-part-1/" TargetMode="External"/><Relationship Id="rId4" Type="http://schemas.openxmlformats.org/officeDocument/2006/relationships/image" Target="../media/image2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9.05195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22/product-quantizer-tutorial-part-2/" TargetMode="External"/><Relationship Id="rId4" Type="http://schemas.openxmlformats.org/officeDocument/2006/relationships/image" Target="../media/image2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7/10/22/product-quantizer-tutorial-part-2/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research/wp-content/uploads/2013/11/pami13opq.pdf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0.png"/><Relationship Id="rId4" Type="http://schemas.openxmlformats.org/officeDocument/2006/relationships/hyperlink" Target="https://en.wikipedia.org/wiki/Orthogonal_Procrustes_problem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>
                <a:latin typeface="+mn-lt"/>
              </a:rPr>
              <a:t>Information retrieval </a:t>
            </a:r>
            <a:r>
              <a:rPr lang="en-US" dirty="0">
                <a:latin typeface="+mn-lt"/>
              </a:rPr>
              <a:t>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and dimensionality reduction in next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68E5C-26FC-0635-F972-C05CE8066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Flat Similarity Search</a:t>
            </a:r>
          </a:p>
        </p:txBody>
      </p:sp>
    </p:spTree>
    <p:extLst>
      <p:ext uri="{BB962C8B-B14F-4D97-AF65-F5344CB8AC3E}">
        <p14:creationId xmlns:p14="http://schemas.microsoft.com/office/powerpoint/2010/main" val="27556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C6B3-08C0-7742-AB1F-8E4D168C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150A9-E2F1-00D7-C164-1FD35656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>
                  <a:spcAft>
                    <a:spcPts val="1800"/>
                  </a:spcAft>
                </a:pPr>
                <a:r>
                  <a:rPr lang="en-US" dirty="0">
                    <a:latin typeface="+mn-lt"/>
                  </a:rPr>
                  <a:t>Goal is to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vectors, , that are closest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>
                    <a:latin typeface="+mn-lt"/>
                  </a:rPr>
                  <a:t> from the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is a </a:t>
                </a:r>
                <a:r>
                  <a:rPr lang="en-US" b="1" dirty="0">
                    <a:latin typeface="+mn-lt"/>
                  </a:rPr>
                  <a:t>distance metric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Note that alternatively we can </a:t>
                </a:r>
                <a:r>
                  <a:rPr lang="en-US" b="1" dirty="0">
                    <a:latin typeface="+mn-lt"/>
                  </a:rPr>
                  <a:t>use max of a similarity metric </a:t>
                </a:r>
                <a:r>
                  <a:rPr lang="en-US" dirty="0">
                    <a:latin typeface="+mn-lt"/>
                  </a:rPr>
                  <a:t>for the search</a:t>
                </a:r>
              </a:p>
              <a:p>
                <a:r>
                  <a:rPr lang="en-US" dirty="0">
                    <a:latin typeface="+mn-lt"/>
                  </a:rPr>
                  <a:t>We can perform a flat similarity search for any distance metric we choose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</a:t>
                </a:r>
              </a:p>
              <a:p>
                <a:pPr lvl="1"/>
                <a:r>
                  <a:rPr lang="en-US" dirty="0">
                    <a:latin typeface="+mn-lt"/>
                  </a:rPr>
                  <a:t>L1 or Manhattan</a:t>
                </a: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Hamming, for binary strings</a:t>
                </a:r>
              </a:p>
              <a:p>
                <a:pPr lvl="1"/>
                <a:r>
                  <a:rPr lang="en-US" dirty="0">
                    <a:latin typeface="+mn-lt"/>
                  </a:rPr>
                  <a:t>Jaccard, for categorical variables</a:t>
                </a:r>
              </a:p>
              <a:p>
                <a:pPr lvl="1"/>
                <a:r>
                  <a:rPr lang="en-US" dirty="0">
                    <a:latin typeface="+mn-lt"/>
                  </a:rPr>
                  <a:t>Etc.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  <a:blipFill>
                <a:blip r:embed="rId3"/>
                <a:stretch>
                  <a:fillRect l="-952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6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861F-67E5-BC09-2478-9BD24237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FC993-6B7E-56F0-8B75-71E8DFFEF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requires linear scan of distance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𝑐𝑜𝑚𝑝𝑙𝑒𝑥𝑖𝑡𝑦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𝑑𝑛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finds exact nearest neighbors at a cost</a:t>
                </a:r>
              </a:p>
              <a:p>
                <a:pPr lvl="1"/>
                <a:r>
                  <a:rPr lang="en-US" dirty="0">
                    <a:latin typeface="+mn-lt"/>
                  </a:rPr>
                  <a:t>High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High memory requirement, with no compression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r>
                  <a:rPr lang="en-US" dirty="0">
                    <a:latin typeface="+mn-lt"/>
                  </a:rPr>
                  <a:t> for floating point vectors         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39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9B707-9D15-391C-2F27-4BA74C271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C35C-F2A7-F0AE-815E-446C36A73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CAEA6-A2B8-ECF4-7D09-E007621CAB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But, is any similarity search truly exact?  </a:t>
            </a:r>
          </a:p>
          <a:p>
            <a:r>
              <a:rPr lang="en-US" b="1" dirty="0">
                <a:solidFill>
                  <a:srgbClr val="FF0000"/>
                </a:solidFill>
                <a:latin typeface="+mn-lt"/>
              </a:rPr>
              <a:t>Unlikely!   </a:t>
            </a:r>
          </a:p>
          <a:p>
            <a:pPr lvl="1"/>
            <a:r>
              <a:rPr lang="en-US" dirty="0">
                <a:latin typeface="+mn-lt"/>
              </a:rPr>
              <a:t>Distance is dependent on the distance metric used</a:t>
            </a:r>
          </a:p>
          <a:p>
            <a:pPr lvl="1"/>
            <a:r>
              <a:rPr lang="en-US" dirty="0">
                <a:latin typeface="+mn-lt"/>
              </a:rPr>
              <a:t>Dimensionality reduction (embedding) provides only an approximate representation of original vector   </a:t>
            </a:r>
          </a:p>
          <a:p>
            <a:pPr lvl="1"/>
            <a:r>
              <a:rPr lang="en-US" dirty="0">
                <a:latin typeface="+mn-lt"/>
              </a:rPr>
              <a:t>Vector valued observations are subject to noise   </a:t>
            </a:r>
          </a:p>
          <a:p>
            <a:r>
              <a:rPr lang="en-US" dirty="0">
                <a:latin typeface="+mn-lt"/>
              </a:rPr>
              <a:t>In reality we only need an NN similarity search good enough for our task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4483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EEB62-0204-F0B9-249D-FADDE5CB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73ED-5BF7-A8D8-1651-CB5186D7D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Evaluation of ANNS</a:t>
            </a:r>
          </a:p>
        </p:txBody>
      </p:sp>
    </p:spTree>
    <p:extLst>
      <p:ext uri="{BB962C8B-B14F-4D97-AF65-F5344CB8AC3E}">
        <p14:creationId xmlns:p14="http://schemas.microsoft.com/office/powerpoint/2010/main" val="2825997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b="1" dirty="0">
                <a:latin typeface="+mn-lt"/>
              </a:rPr>
              <a:t>Recall</a:t>
            </a:r>
            <a:r>
              <a:rPr lang="en-US" dirty="0">
                <a:latin typeface="+mn-lt"/>
              </a:rPr>
              <a:t> measures the fraction of true NNs found by the algorithm </a:t>
            </a: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B1801-A420-7D34-9781-7990F919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AF489-E4B3-1986-392A-25542915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2D5FC-205E-5A89-5706-68BC4E39B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Is an invariable trade off between these three dimensions  </a:t>
            </a:r>
          </a:p>
          <a:p>
            <a:pPr lvl="1"/>
            <a:r>
              <a:rPr lang="en-US" dirty="0">
                <a:latin typeface="+mn-lt"/>
              </a:rPr>
              <a:t>Example, we can have high recall if we have sufficient memory and computational capacity  </a:t>
            </a:r>
          </a:p>
          <a:p>
            <a:pPr lvl="1"/>
            <a:r>
              <a:rPr lang="en-US" dirty="0">
                <a:latin typeface="+mn-lt"/>
              </a:rPr>
              <a:t>Generally, we must pick two of three dimensions and accept the value of the third       </a:t>
            </a:r>
          </a:p>
          <a:p>
            <a:pPr marL="457200" lvl="1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1"/>
                </a:solidFill>
                <a:latin typeface="+mn-lt"/>
              </a:rPr>
              <a:t>For a theoretical analysis of this tradeoff, including bounds on performance, can be found in </a:t>
            </a:r>
            <a:r>
              <a:rPr lang="en-US" sz="2000" dirty="0">
                <a:solidFill>
                  <a:srgbClr val="0563C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Andoni, et.al, 201</a:t>
            </a:r>
            <a:r>
              <a:rPr lang="en-US" sz="2000" dirty="0">
                <a:solidFill>
                  <a:schemeClr val="accent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r>
              <a:rPr lang="en-US" sz="2000" dirty="0">
                <a:solidFill>
                  <a:schemeClr val="accent1"/>
                </a:solidFill>
                <a:latin typeface="+mn-lt"/>
              </a:rPr>
              <a:t>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B8AC2FB9-5C6F-936C-4FDF-52FF949ED9E7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D34BB-961B-02DD-373F-53C0C6F84EBB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85F2D0-8FC7-1E9B-46E6-0FF54C9259AB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C82CA-795E-187C-38F7-68DAA448D4F3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706889-8829-F622-CEE2-36074D6DDD62}"/>
              </a:ext>
            </a:extLst>
          </p:cNvPr>
          <p:cNvSpPr txBox="1"/>
          <p:nvPr/>
        </p:nvSpPr>
        <p:spPr>
          <a:xfrm>
            <a:off x="9611665" y="4004882"/>
            <a:ext cx="7021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/>
              <a:t>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A31EDF-5689-7E1F-3B36-4018A17E8439}"/>
              </a:ext>
            </a:extLst>
          </p:cNvPr>
          <p:cNvCxnSpPr>
            <a:cxnSpLocks/>
          </p:cNvCxnSpPr>
          <p:nvPr/>
        </p:nvCxnSpPr>
        <p:spPr>
          <a:xfrm flipH="1">
            <a:off x="8577943" y="4631871"/>
            <a:ext cx="1213757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EA798-5BA4-8B26-F5B7-4FE89C0BF3A4}"/>
              </a:ext>
            </a:extLst>
          </p:cNvPr>
          <p:cNvCxnSpPr>
            <a:cxnSpLocks/>
          </p:cNvCxnSpPr>
          <p:nvPr/>
        </p:nvCxnSpPr>
        <p:spPr>
          <a:xfrm>
            <a:off x="10123714" y="4631871"/>
            <a:ext cx="1284515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AB05AC-7C1E-B96E-4B94-DE90DEECE3E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962729" y="2987069"/>
            <a:ext cx="0" cy="101781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021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1948C-7DBF-C081-3265-E985D07B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B385-DFA3-AAE5-8083-405D5BD4D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Recall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– or so we assume </a:t>
                </a:r>
              </a:p>
              <a:p>
                <a:pPr lvl="1"/>
                <a:r>
                  <a:rPr lang="en-US" dirty="0">
                    <a:latin typeface="+mn-lt"/>
                  </a:rPr>
                  <a:t>Negatives retrieved by ANNS are considered False Positives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14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5F8B9-8ED5-B142-C5C3-15EB0DE6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59B4-AB14-18C9-3A57-CC7218F7E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Precision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𝑁𝑒𝑔𝑎𝑡𝑖𝑣𝑒𝑠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</a:t>
                </a:r>
              </a:p>
              <a:p>
                <a:pPr lvl="1"/>
                <a:r>
                  <a:rPr lang="en-US" dirty="0">
                    <a:latin typeface="+mn-lt"/>
                  </a:rPr>
                  <a:t>True Positives missed by ANNS are considered False Negatives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690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C823-2684-B73C-0FFB-2E8357E1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59D0-2CC7-CABB-3F4C-1827332B8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dirty="0">
                    <a:latin typeface="+mn-lt"/>
                  </a:rPr>
                  <a:t>For ANNS one usually computes recall for different numbers of nearest neighbors,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Know as recall@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Example: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more repeatable evaluation we often compute the </a:t>
                </a:r>
                <a:r>
                  <a:rPr lang="en-US" b="1" dirty="0">
                    <a:latin typeface="+mn-lt"/>
                  </a:rPr>
                  <a:t>average mean recall for some sample of query vectors </a:t>
                </a:r>
                <a:endParaRPr lang="en-US" sz="2400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  <a:blipFill>
                <a:blip r:embed="rId3"/>
                <a:stretch>
                  <a:fillRect l="-1111" t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95BB26-ADA2-8A05-D8D3-9D592FF634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583" y="1931487"/>
            <a:ext cx="1041536" cy="20830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81E29A-2EF9-8EE8-DD98-940B9CA72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785" y="4492388"/>
            <a:ext cx="1509999" cy="2083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295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C7911-9740-8FD8-4DFC-AD418B3D1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C4EEF-51A1-DA8A-B0D5-276B04152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Inverted File Systems</a:t>
            </a:r>
          </a:p>
        </p:txBody>
      </p:sp>
    </p:spTree>
    <p:extLst>
      <p:ext uri="{BB962C8B-B14F-4D97-AF65-F5344CB8AC3E}">
        <p14:creationId xmlns:p14="http://schemas.microsoft.com/office/powerpoint/2010/main" val="213431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292-F430-0B6A-28F2-B1EFA9B2C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5234D-2F29-0026-CCA8-34240FC3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Simple file systems or databases map file references to content</a:t>
                </a: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With forward indexing all files must scanned to find the files containing projects using </a:t>
                </a:r>
                <a:r>
                  <a:rPr lang="en-US" b="1" dirty="0">
                    <a:latin typeface="+mn-lt"/>
                  </a:rPr>
                  <a:t>oak</a:t>
                </a:r>
              </a:p>
              <a:p>
                <a:r>
                  <a:rPr lang="en-US" dirty="0">
                    <a:latin typeface="+mn-lt"/>
                  </a:rPr>
                  <a:t>A linear search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operation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  <a:blipFill>
                <a:blip r:embed="rId3"/>
                <a:stretch>
                  <a:fillRect l="-198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502027-A6A7-01D7-964F-31A054A0B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161249"/>
              </p:ext>
            </p:extLst>
          </p:nvPr>
        </p:nvGraphicFramePr>
        <p:xfrm>
          <a:off x="7541491" y="827621"/>
          <a:ext cx="1425117" cy="593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117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File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F9B56B3-4AB6-19DA-923A-EE925F475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977618"/>
              </p:ext>
            </p:extLst>
          </p:nvPr>
        </p:nvGraphicFramePr>
        <p:xfrm>
          <a:off x="9993466" y="832701"/>
          <a:ext cx="1486511" cy="592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511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27952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B57D91-4A69-3E19-2637-AA222CE26F42}"/>
              </a:ext>
            </a:extLst>
          </p:cNvPr>
          <p:cNvCxnSpPr/>
          <p:nvPr/>
        </p:nvCxnSpPr>
        <p:spPr>
          <a:xfrm>
            <a:off x="8982635" y="136426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0EDB56-661F-9496-895E-B95D38EA05BB}"/>
              </a:ext>
            </a:extLst>
          </p:cNvPr>
          <p:cNvCxnSpPr/>
          <p:nvPr/>
        </p:nvCxnSpPr>
        <p:spPr>
          <a:xfrm>
            <a:off x="8982634" y="176703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9F4C70-91B8-8CAB-0DDD-5596A3587D7E}"/>
              </a:ext>
            </a:extLst>
          </p:cNvPr>
          <p:cNvCxnSpPr/>
          <p:nvPr/>
        </p:nvCxnSpPr>
        <p:spPr>
          <a:xfrm>
            <a:off x="8982631" y="214259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91B32-04A4-8F8D-2B51-792125849A3B}"/>
              </a:ext>
            </a:extLst>
          </p:cNvPr>
          <p:cNvCxnSpPr/>
          <p:nvPr/>
        </p:nvCxnSpPr>
        <p:spPr>
          <a:xfrm>
            <a:off x="8966608" y="2512710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C8B04F4-0E62-3E83-6162-D2BC012CBE2D}"/>
              </a:ext>
            </a:extLst>
          </p:cNvPr>
          <p:cNvCxnSpPr/>
          <p:nvPr/>
        </p:nvCxnSpPr>
        <p:spPr>
          <a:xfrm>
            <a:off x="8966607" y="2871939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A9E700-08F0-EB65-43DD-5CE50D4EC173}"/>
              </a:ext>
            </a:extLst>
          </p:cNvPr>
          <p:cNvCxnSpPr/>
          <p:nvPr/>
        </p:nvCxnSpPr>
        <p:spPr>
          <a:xfrm>
            <a:off x="8966599" y="326382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19863A-422B-03B5-2014-ADD0460E015E}"/>
              </a:ext>
            </a:extLst>
          </p:cNvPr>
          <p:cNvCxnSpPr/>
          <p:nvPr/>
        </p:nvCxnSpPr>
        <p:spPr>
          <a:xfrm>
            <a:off x="8966599" y="3639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E61842-0C0D-A583-D24B-7A16D4730CD9}"/>
              </a:ext>
            </a:extLst>
          </p:cNvPr>
          <p:cNvCxnSpPr/>
          <p:nvPr/>
        </p:nvCxnSpPr>
        <p:spPr>
          <a:xfrm>
            <a:off x="8966606" y="4020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01863E-D932-E547-F19B-0AF2FE170EB3}"/>
              </a:ext>
            </a:extLst>
          </p:cNvPr>
          <p:cNvCxnSpPr/>
          <p:nvPr/>
        </p:nvCxnSpPr>
        <p:spPr>
          <a:xfrm>
            <a:off x="8966605" y="435239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D42E9F-1812-8923-477E-AFDD49E49D27}"/>
              </a:ext>
            </a:extLst>
          </p:cNvPr>
          <p:cNvCxnSpPr/>
          <p:nvPr/>
        </p:nvCxnSpPr>
        <p:spPr>
          <a:xfrm>
            <a:off x="8966604" y="468441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A7A2D8-2BA2-592D-0308-A0E90D3DEE90}"/>
              </a:ext>
            </a:extLst>
          </p:cNvPr>
          <p:cNvCxnSpPr/>
          <p:nvPr/>
        </p:nvCxnSpPr>
        <p:spPr>
          <a:xfrm>
            <a:off x="8966603" y="507085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9DB6E6A-8CC3-0F44-E09A-211DD3DB0C4A}"/>
              </a:ext>
            </a:extLst>
          </p:cNvPr>
          <p:cNvCxnSpPr/>
          <p:nvPr/>
        </p:nvCxnSpPr>
        <p:spPr>
          <a:xfrm>
            <a:off x="8966602" y="5457298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472065-5966-D93F-4F0E-FD79E825749F}"/>
              </a:ext>
            </a:extLst>
          </p:cNvPr>
          <p:cNvCxnSpPr/>
          <p:nvPr/>
        </p:nvCxnSpPr>
        <p:spPr>
          <a:xfrm>
            <a:off x="8966601" y="5843741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174D56-98BC-89DC-8DF8-292D75390053}"/>
              </a:ext>
            </a:extLst>
          </p:cNvPr>
          <p:cNvCxnSpPr/>
          <p:nvPr/>
        </p:nvCxnSpPr>
        <p:spPr>
          <a:xfrm>
            <a:off x="8966600" y="623018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EA11A7-5A92-A76E-026B-73F5605793E9}"/>
              </a:ext>
            </a:extLst>
          </p:cNvPr>
          <p:cNvCxnSpPr/>
          <p:nvPr/>
        </p:nvCxnSpPr>
        <p:spPr>
          <a:xfrm>
            <a:off x="8966599" y="661662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6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B907-400D-8116-79FC-E3AF6599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3EAD2-7095-C4C7-9DEB-65F1B9A1C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  <a:hlinkClick r:id="rId3"/>
                  </a:rPr>
                  <a:t>Inverted file index </a:t>
                </a:r>
                <a:r>
                  <a:rPr lang="en-US" dirty="0">
                    <a:latin typeface="+mn-lt"/>
                  </a:rPr>
                  <a:t>maps content to location </a:t>
                </a:r>
                <a:endParaRPr lang="en-US" i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Inverted index maps wood types to files with projects containing that wood type</a:t>
                </a:r>
              </a:p>
              <a:p>
                <a:r>
                  <a:rPr lang="en-US" dirty="0">
                    <a:latin typeface="+mn-lt"/>
                  </a:rPr>
                  <a:t>Example: we only need to look in the hash bucket for oak </a:t>
                </a:r>
              </a:p>
              <a:p>
                <a:r>
                  <a:rPr lang="en-US" dirty="0">
                    <a:latin typeface="+mn-lt"/>
                  </a:rPr>
                  <a:t>Notice the </a:t>
                </a:r>
                <a:r>
                  <a:rPr lang="en-US" b="1" dirty="0">
                    <a:latin typeface="+mn-lt"/>
                  </a:rPr>
                  <a:t>memory compression</a:t>
                </a:r>
              </a:p>
              <a:p>
                <a:r>
                  <a:rPr lang="en-US" dirty="0">
                    <a:latin typeface="+mn-lt"/>
                  </a:rPr>
                  <a:t>Search has </a:t>
                </a:r>
                <a:r>
                  <a:rPr lang="en-US" b="1" dirty="0">
                    <a:latin typeface="+mn-lt"/>
                  </a:rPr>
                  <a:t>sublinear complexity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𝐷𝑁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  <a:blipFill>
                <a:blip r:embed="rId4"/>
                <a:stretch>
                  <a:fillRect l="-19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FB14D-03DD-CB07-C4FF-F9A668E50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167185"/>
              </p:ext>
            </p:extLst>
          </p:nvPr>
        </p:nvGraphicFramePr>
        <p:xfrm>
          <a:off x="6925129" y="2363408"/>
          <a:ext cx="157117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171">
                  <a:extLst>
                    <a:ext uri="{9D8B030D-6E8A-4147-A177-3AD203B41FA5}">
                      <a16:colId xmlns:a16="http://schemas.microsoft.com/office/drawing/2014/main" val="2309095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083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60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806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609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101,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103, 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108, 114, 115 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112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5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 107, 110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289803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104</m:t>
                                    </m:r>
                                    <m:r>
                                      <a:rPr lang="en-US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 106, 109, 111, 113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108197" r="-840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204839" r="-840" b="-1983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309836" r="-840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416667" r="-840" b="-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AA26CDA-83BE-56D1-5B90-8CC8A7D86E97}"/>
              </a:ext>
            </a:extLst>
          </p:cNvPr>
          <p:cNvCxnSpPr>
            <a:cxnSpLocks/>
          </p:cNvCxnSpPr>
          <p:nvPr/>
        </p:nvCxnSpPr>
        <p:spPr>
          <a:xfrm>
            <a:off x="8496300" y="2906486"/>
            <a:ext cx="74022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40270-F74B-BA5E-D99D-36CDA6FEBAB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8496300" y="3287968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CAF5C8-9377-3288-D102-5276A11BD4C6}"/>
              </a:ext>
            </a:extLst>
          </p:cNvPr>
          <p:cNvCxnSpPr>
            <a:cxnSpLocks/>
          </p:cNvCxnSpPr>
          <p:nvPr/>
        </p:nvCxnSpPr>
        <p:spPr>
          <a:xfrm flipV="1">
            <a:off x="8496300" y="3669450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B751B3-F498-DCF2-9BE9-CDAA64B42EFC}"/>
              </a:ext>
            </a:extLst>
          </p:cNvPr>
          <p:cNvCxnSpPr>
            <a:cxnSpLocks/>
          </p:cNvCxnSpPr>
          <p:nvPr/>
        </p:nvCxnSpPr>
        <p:spPr>
          <a:xfrm flipV="1">
            <a:off x="8496300" y="4050932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3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5853-3F71-2F6B-5E06-87812B26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469B-973B-CC90-9785-C2ABFBC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Building KD-Trees</a:t>
            </a:r>
          </a:p>
        </p:txBody>
      </p:sp>
    </p:spTree>
    <p:extLst>
      <p:ext uri="{BB962C8B-B14F-4D97-AF65-F5344CB8AC3E}">
        <p14:creationId xmlns:p14="http://schemas.microsoft.com/office/powerpoint/2010/main" val="3928595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  <a:hlinkClick r:id="rId3"/>
                  </a:rPr>
                  <a:t>KD-trees</a:t>
                </a:r>
                <a:r>
                  <a:rPr lang="en-US" dirty="0">
                    <a:latin typeface="+mn-lt"/>
                  </a:rPr>
                  <a:t> perform </a:t>
                </a:r>
                <a:r>
                  <a:rPr lang="en-US" b="1" dirty="0">
                    <a:latin typeface="+mn-lt"/>
                  </a:rPr>
                  <a:t>exact NN searches </a:t>
                </a:r>
                <a:r>
                  <a:rPr lang="en-US" dirty="0">
                    <a:latin typeface="+mn-lt"/>
                  </a:rPr>
                  <a:t>by partitioning lower dimensional spaces </a:t>
                </a:r>
              </a:p>
              <a:p>
                <a:r>
                  <a:rPr lang="en-US" dirty="0">
                    <a:latin typeface="+mn-lt"/>
                  </a:rPr>
                  <a:t>KD-tree is constructed by binary partitions of low-dimensional data  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 data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KD-tree algorithm has computational complexity: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Construction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b="1" dirty="0">
                    <a:latin typeface="+mn-lt"/>
                  </a:rPr>
                  <a:t>Query </a:t>
                </a:r>
                <a:r>
                  <a:rPr lang="en-US" dirty="0">
                    <a:latin typeface="+mn-lt"/>
                  </a:rPr>
                  <a:t>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Insert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Delete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KD-tree algorithm suitable for lower dimensional small to medium sized datasets</a:t>
                </a:r>
              </a:p>
              <a:p>
                <a:pPr lvl="1"/>
                <a:r>
                  <a:rPr lang="en-US" dirty="0">
                    <a:latin typeface="+mn-lt"/>
                  </a:rPr>
                  <a:t>KD-tree is generally considered an efficient algorithm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&lt;20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Related </a:t>
                </a:r>
                <a:r>
                  <a:rPr lang="en-US" b="1" dirty="0">
                    <a:latin typeface="+mn-lt"/>
                    <a:hlinkClick r:id="rId4"/>
                  </a:rPr>
                  <a:t>ball-tree algorithms </a:t>
                </a:r>
                <a:r>
                  <a:rPr lang="en-US" dirty="0">
                    <a:latin typeface="+mn-lt"/>
                  </a:rPr>
                  <a:t>are generally considered better for higher dimensions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11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638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KD-tree is constructed by binary partitions through these steps 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Start with the set of observations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Determine distance metric for nearest neighbor search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Default is Euclidean distance, but can use other metrics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Number of observations per leaf is defined – a hyperparameter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Splits are along the axes of the data space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Axes are sampled round-robin or randomly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On each axis split point is determined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Split is at observation closest to median, mean or other measure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 hyperplane perpendicular to the axis selected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Observations in region split are partitioned left and right of hyperplane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Repeat steps 4-7 until leaf has less than required number of observations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The termination condition       </a:t>
            </a:r>
            <a:r>
              <a:rPr lang="en-US" dirty="0">
                <a:latin typeface="+mn-lt"/>
              </a:rPr>
              <a:t>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09469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sources discussing details of KD-tree algorithms, their limitations and the pitfalls, with a few suggestions  </a:t>
            </a:r>
          </a:p>
          <a:p>
            <a:r>
              <a:rPr lang="en-US" dirty="0">
                <a:latin typeface="+mn-lt"/>
                <a:hlinkClick r:id="rId3"/>
              </a:rPr>
              <a:t>Chapter from Andrew Moore’s PhD dissertation, 1991  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4"/>
              </a:rPr>
              <a:t>Chapters 8, 9, 10, 11 of Advanced Algorithms and Data Structures, Marcello La Rocca, Manning, 2021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5"/>
              </a:rPr>
              <a:t>Wikipedia article  </a:t>
            </a:r>
            <a:endParaRPr lang="en-US" dirty="0">
              <a:latin typeface="+mn-lt"/>
            </a:endParaRP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60915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</a:t>
                </a:r>
                <a:r>
                  <a:rPr lang="en-US" b="1" dirty="0">
                    <a:latin typeface="+mn-lt"/>
                  </a:rPr>
                  <a:t>binary partitioning </a:t>
                </a:r>
                <a:endParaRPr lang="en-US" sz="2400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Start with some data points in a 2-dimensional space,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Set number of nodes in leaves,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Root of the tree is NULL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  <a:blipFill>
                <a:blip r:embed="rId3"/>
                <a:stretch>
                  <a:fillRect l="-1111" t="-3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4F5AC8-FDC3-1F36-8D4E-04D4092A9B00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96484E-218F-847E-A252-F46E5B34D2F8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748887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/>
      <p:bldP spid="15" grpId="0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5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Partition</a:t>
                </a:r>
                <a:r>
                  <a:rPr lang="en-US" dirty="0">
                    <a:latin typeface="+mn-lt"/>
                  </a:rPr>
                  <a:t> the data by the value closest to the </a:t>
                </a:r>
                <a:r>
                  <a:rPr lang="en-US" b="1" dirty="0">
                    <a:latin typeface="+mn-lt"/>
                  </a:rPr>
                  <a:t>median</a:t>
                </a:r>
                <a:r>
                  <a:rPr lang="en-US" dirty="0">
                    <a:latin typeface="+mn-lt"/>
                  </a:rPr>
                  <a:t> of along the first axis,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first partition becomes the root of the tree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952" t="-8197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068BDB-0051-C2B5-23CF-8435E84E8E3D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12B18-06D0-60D9-4841-B68E67A4FC03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863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 are nearly </a:t>
                </a:r>
                <a:r>
                  <a:rPr lang="en-US" b="1" dirty="0">
                    <a:latin typeface="+mn-lt"/>
                  </a:rPr>
                  <a:t>balanced</a:t>
                </a:r>
                <a:r>
                  <a:rPr lang="en-US" dirty="0">
                    <a:latin typeface="+mn-lt"/>
                  </a:rPr>
                  <a:t> numbers of observations on each side of the partition</a:t>
                </a:r>
              </a:p>
              <a:p>
                <a:r>
                  <a:rPr lang="en-US" dirty="0">
                    <a:latin typeface="+mn-lt"/>
                  </a:rPr>
                  <a:t>Next,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partition the left and right partitions by the values nearest the medians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847" t="-7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078035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Continue to partition, round robin back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r>
                  <a:rPr lang="en-US" dirty="0">
                    <a:latin typeface="+mn-lt"/>
                  </a:rPr>
                  <a:t>Single node is a leaf of the tree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1111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4226498" y="380984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A9BFA00-8F8A-EFCC-877D-FFA57C9D6AF0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D5B92AF-F028-8587-40F2-21F749066028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0065C14-9537-91C2-B011-4A131A2A942D}"/>
              </a:ext>
            </a:extLst>
          </p:cNvPr>
          <p:cNvCxnSpPr>
            <a:cxnSpLocks/>
            <a:stCxn id="43" idx="3"/>
            <a:endCxn id="55" idx="0"/>
          </p:cNvCxnSpPr>
          <p:nvPr/>
        </p:nvCxnSpPr>
        <p:spPr>
          <a:xfrm flipH="1">
            <a:off x="3531365" y="3430504"/>
            <a:ext cx="267950" cy="378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6E973BD-6A1F-A166-BA2F-81B0A28A84E0}"/>
              </a:ext>
            </a:extLst>
          </p:cNvPr>
          <p:cNvCxnSpPr>
            <a:cxnSpLocks/>
            <a:stCxn id="43" idx="5"/>
            <a:endCxn id="54" idx="0"/>
          </p:cNvCxnSpPr>
          <p:nvPr/>
        </p:nvCxnSpPr>
        <p:spPr>
          <a:xfrm>
            <a:off x="4211328" y="3430504"/>
            <a:ext cx="306508" cy="3793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2708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KD-trees are constructed by binary partitioning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Now there are only leaves to add to the tree</a:t>
            </a:r>
          </a:p>
          <a:p>
            <a:r>
              <a:rPr lang="en-US" dirty="0">
                <a:latin typeface="+mn-lt"/>
              </a:rPr>
              <a:t>Reached the </a:t>
            </a:r>
            <a:r>
              <a:rPr lang="en-US" b="1" dirty="0">
                <a:latin typeface="+mn-lt"/>
              </a:rPr>
              <a:t>stopping condition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63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16C6A-B07C-2982-F6C2-66C2EA5C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DE842-B0E0-554D-5260-21395A24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Similarity Queries on KD-Trees</a:t>
            </a:r>
          </a:p>
        </p:txBody>
      </p:sp>
    </p:spTree>
    <p:extLst>
      <p:ext uri="{BB962C8B-B14F-4D97-AF65-F5344CB8AC3E}">
        <p14:creationId xmlns:p14="http://schemas.microsoft.com/office/powerpoint/2010/main" val="35218112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Query KD-tree </a:t>
                </a:r>
                <a:r>
                  <a:rPr lang="en-US" dirty="0">
                    <a:latin typeface="+mn-lt"/>
                  </a:rPr>
                  <a:t>to determine nearest neighbors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Start at the root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Head left or right from node based on split value and sample value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Repeat step 2 until leaves encountered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Determine distance for nearest neighbor search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>
                    <a:latin typeface="+mn-lt"/>
                    <a:cs typeface="Courier New" panose="02070309020205020404" pitchFamily="49" charset="0"/>
                  </a:rPr>
                  <a:t>Backtrack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to other branches to determine if NN missed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Prune branches if distances are not NNs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Pruning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Reaching root node is </a:t>
                </a:r>
                <a:r>
                  <a:rPr lang="en-US" b="1" dirty="0">
                    <a:latin typeface="+mn-lt"/>
                  </a:rPr>
                  <a:t>stopping condition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1907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3069" y="896078"/>
            <a:ext cx="11345556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perform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Query at location </a:t>
            </a:r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26179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E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G, </a:t>
                </a:r>
                <a:r>
                  <a:rPr lang="en-US" dirty="0">
                    <a:latin typeface="+mn-lt"/>
                  </a:rPr>
                  <a:t>find distance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  <a:blipFill>
                <a:blip r:embed="rId3"/>
                <a:stretch>
                  <a:fillRect l="-1130" t="-9426" r="-108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2BDBA73-0EDA-A63F-883F-E3FC5B31196B}"/>
              </a:ext>
            </a:extLst>
          </p:cNvPr>
          <p:cNvCxnSpPr/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915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less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G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, find distance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  <a:blipFill>
                <a:blip r:embed="rId3"/>
                <a:stretch>
                  <a:fillRect l="-1072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397452-56DD-B179-2F6C-277725B4A95F}"/>
              </a:ext>
            </a:extLst>
          </p:cNvPr>
          <p:cNvCxnSpPr/>
          <p:nvPr/>
        </p:nvCxnSpPr>
        <p:spPr>
          <a:xfrm>
            <a:off x="10829359" y="4362586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0A2AD60-03EE-314C-6D2A-73EDA48D967C}"/>
              </a:ext>
            </a:extLst>
          </p:cNvPr>
          <p:cNvCxnSpPr>
            <a:cxnSpLocks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7525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0455" y="896078"/>
            <a:ext cx="1134817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has nearest neighbors on graph </a:t>
            </a:r>
            <a:r>
              <a:rPr lang="en-US" i="1" dirty="0">
                <a:latin typeface="+mn-lt"/>
              </a:rPr>
              <a:t>I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K</a:t>
            </a:r>
          </a:p>
          <a:p>
            <a:r>
              <a:rPr lang="en-US" dirty="0">
                <a:latin typeface="+mn-lt"/>
              </a:rPr>
              <a:t>But is there a nearer neighbor on the graph?</a:t>
            </a:r>
            <a:endParaRPr lang="en-US" i="1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>
            <a:off x="6179658" y="3787416"/>
            <a:ext cx="751295" cy="68802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0770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04511" y="896078"/>
            <a:ext cx="11354113" cy="148648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We need to </a:t>
            </a:r>
            <a:r>
              <a:rPr lang="en-US" b="1" dirty="0">
                <a:latin typeface="+mn-lt"/>
              </a:rPr>
              <a:t>backtrack</a:t>
            </a:r>
            <a:r>
              <a:rPr lang="en-US" dirty="0">
                <a:latin typeface="+mn-lt"/>
              </a:rPr>
              <a:t> to determine if there is a nearer neighbor on another branch</a:t>
            </a:r>
          </a:p>
          <a:p>
            <a:r>
              <a:rPr lang="en-US" dirty="0">
                <a:latin typeface="+mn-lt"/>
              </a:rPr>
              <a:t>Backtracking to K then to branch with F, finding a nearer neighbor than K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>
            <a:off x="4853258" y="3881007"/>
            <a:ext cx="627427" cy="65597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6995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73380" y="898164"/>
            <a:ext cx="10952281" cy="14864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Continue </a:t>
            </a:r>
            <a:r>
              <a:rPr lang="en-US" b="1" dirty="0">
                <a:latin typeface="+mn-lt"/>
              </a:rPr>
              <a:t>backtracking</a:t>
            </a:r>
            <a:r>
              <a:rPr lang="en-US" dirty="0">
                <a:latin typeface="+mn-lt"/>
              </a:rPr>
              <a:t> to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 then to branch to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, but no nearer neighbor</a:t>
            </a:r>
          </a:p>
          <a:p>
            <a:r>
              <a:rPr lang="en-US" dirty="0">
                <a:latin typeface="+mn-lt"/>
              </a:rPr>
              <a:t>We can </a:t>
            </a:r>
            <a:r>
              <a:rPr lang="en-US" b="1" dirty="0">
                <a:latin typeface="+mn-lt"/>
              </a:rPr>
              <a:t>prune</a:t>
            </a:r>
            <a:r>
              <a:rPr lang="en-US" dirty="0">
                <a:latin typeface="+mn-lt"/>
              </a:rPr>
              <a:t> the branch with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 from the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>
            <a:off x="3344349" y="3287114"/>
            <a:ext cx="951497" cy="43709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0913AB7-DB2C-075A-9D79-0ADAECD6ECD3}"/>
              </a:ext>
            </a:extLst>
          </p:cNvPr>
          <p:cNvCxnSpPr>
            <a:cxnSpLocks/>
          </p:cNvCxnSpPr>
          <p:nvPr/>
        </p:nvCxnSpPr>
        <p:spPr>
          <a:xfrm>
            <a:off x="3130181" y="4103723"/>
            <a:ext cx="612293" cy="73928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5139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06400" y="898164"/>
            <a:ext cx="11119261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query a KD-Tree by following the video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The backtrack arrives at the root, the </a:t>
            </a:r>
            <a:r>
              <a:rPr lang="en-US" b="1" dirty="0">
                <a:latin typeface="+mn-lt"/>
              </a:rPr>
              <a:t>stopping condition</a:t>
            </a: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 flipV="1">
            <a:off x="3866866" y="2621629"/>
            <a:ext cx="986392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7348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A2A4-799D-406D-1F58-94812A5B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71AB-5E80-DC5F-6C7B-09206EE16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Coarse Quantization</a:t>
            </a:r>
          </a:p>
        </p:txBody>
      </p:sp>
    </p:spTree>
    <p:extLst>
      <p:ext uri="{BB962C8B-B14F-4D97-AF65-F5344CB8AC3E}">
        <p14:creationId xmlns:p14="http://schemas.microsoft.com/office/powerpoint/2010/main" val="26853172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9AD7A-A75D-084D-1061-F38EA98B1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DEAC8-D2CA-1AA4-031F-42C92D7EF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6C044-6234-CBCC-60DE-5F4C0471F7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Coarse quantization </a:t>
            </a:r>
            <a:r>
              <a:rPr lang="en-US" dirty="0">
                <a:latin typeface="+mn-lt"/>
              </a:rPr>
              <a:t>speeds NN search by reducing scope    </a:t>
            </a:r>
          </a:p>
          <a:p>
            <a:r>
              <a:rPr lang="en-US" dirty="0">
                <a:latin typeface="+mn-lt"/>
              </a:rPr>
              <a:t>To speed NN search by orders of magnitude limit scope of search    </a:t>
            </a:r>
          </a:p>
          <a:p>
            <a:r>
              <a:rPr lang="en-US" dirty="0">
                <a:latin typeface="+mn-lt"/>
              </a:rPr>
              <a:t>Coarse coding divides the search scope into small cells  </a:t>
            </a:r>
          </a:p>
          <a:p>
            <a:r>
              <a:rPr lang="en-US" dirty="0">
                <a:latin typeface="+mn-lt"/>
              </a:rPr>
              <a:t>Similar vectors are within the cells</a:t>
            </a:r>
          </a:p>
          <a:p>
            <a:r>
              <a:rPr lang="en-US" dirty="0">
                <a:latin typeface="+mn-lt"/>
              </a:rPr>
              <a:t>Can use the cell IDs in an </a:t>
            </a:r>
            <a:r>
              <a:rPr lang="en-US" b="1" dirty="0">
                <a:latin typeface="+mn-lt"/>
              </a:rPr>
              <a:t>inverted index </a:t>
            </a:r>
            <a:r>
              <a:rPr lang="en-US" dirty="0">
                <a:latin typeface="+mn-lt"/>
              </a:rPr>
              <a:t>for fast lookup of similar vectors</a:t>
            </a:r>
          </a:p>
          <a:p>
            <a:pPr lvl="1"/>
            <a:r>
              <a:rPr lang="en-US" dirty="0">
                <a:latin typeface="+mn-lt"/>
              </a:rPr>
              <a:t>A type of </a:t>
            </a:r>
            <a:r>
              <a:rPr lang="en-US" b="1" dirty="0">
                <a:latin typeface="+mn-lt"/>
              </a:rPr>
              <a:t>hash table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89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5C84A-5EC1-FA5C-21F1-68305B40A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4704-9CB5-D839-DAC6-7AFF597C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Euclidian distances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 the codes are found by a minimizing distance over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the book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solve this nonlinear minimization problem?   </a:t>
                </a:r>
              </a:p>
              <a:p>
                <a:pPr lvl="1"/>
                <a:r>
                  <a:rPr lang="en-US" dirty="0">
                    <a:latin typeface="+mn-lt"/>
                  </a:rPr>
                  <a:t>Several possible algorithms</a:t>
                </a:r>
              </a:p>
              <a:p>
                <a:pPr lvl="1"/>
                <a:r>
                  <a:rPr lang="en-US" dirty="0">
                    <a:latin typeface="+mn-lt"/>
                    <a:hlinkClick r:id="rId3"/>
                  </a:rPr>
                  <a:t>Lloyd’s algorithm </a:t>
                </a:r>
                <a:r>
                  <a:rPr lang="en-US" dirty="0">
                    <a:latin typeface="+mn-lt"/>
                  </a:rPr>
                  <a:t>is one possibility – we will examine in lesson on k-means clustering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4"/>
                <a:stretch>
                  <a:fillRect l="-1136" t="-1870" r="-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020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109E-962C-2F27-ABCB-969BB588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F11D-1DA7-3664-55EA-0241B70D6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a Euclidean norm the resulting search space is divided into </a:t>
                </a:r>
                <a:r>
                  <a:rPr lang="en-US" b="1" dirty="0">
                    <a:latin typeface="+mn-lt"/>
                    <a:hlinkClick r:id="rId3"/>
                  </a:rPr>
                  <a:t>Voronoi cells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Euclidean distance, Voronoi cells are convex polygons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vectors between points in a Voronoi cell are contained within the cell </a:t>
                </a:r>
              </a:p>
              <a:p>
                <a:r>
                  <a:rPr lang="en-US" dirty="0">
                    <a:latin typeface="+mn-lt"/>
                  </a:rPr>
                  <a:t>For L1 distance, Voronoi cells are non-convex  </a:t>
                </a:r>
              </a:p>
              <a:p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For an interesting and entertaining in-depth discussion of Voronoi cells see the </a:t>
                </a:r>
                <a:r>
                  <a:rPr lang="en-US" dirty="0">
                    <a:solidFill>
                      <a:srgbClr val="0563C1"/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blog post by Francesco </a:t>
                </a:r>
                <a:r>
                  <a:rPr lang="en-US" dirty="0" err="1">
                    <a:solidFill>
                      <a:schemeClr val="accent1">
                        <a:lumMod val="75000"/>
                      </a:schemeClr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Bellelli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 and the references therein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5"/>
                <a:stretch>
                  <a:fillRect l="-1136" t="-1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764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8C63-2A7A-DF3F-5952-2F96777D2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CC8E-3C13-63A5-1C42-32F5FC84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Example: For Euclidean norm, search space divided into Voronoi cells </a:t>
                </a:r>
              </a:p>
              <a:p>
                <a:r>
                  <a:rPr lang="en-US" dirty="0">
                    <a:latin typeface="+mn-lt"/>
                  </a:rPr>
                  <a:t>The cell centroids are the coarse codes  representing the vectors within each cell,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Using centroids results in coarse coding gives squared </a:t>
                </a:r>
                <a:r>
                  <a:rPr lang="en-US" b="1" dirty="0">
                    <a:latin typeface="+mn-lt"/>
                  </a:rPr>
                  <a:t>quantization error</a:t>
                </a:r>
                <a:r>
                  <a:rPr lang="en-US" dirty="0">
                    <a:latin typeface="+mn-lt"/>
                  </a:rPr>
                  <a:t> for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𝑒𝑟𝑟𝑜𝑟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 r="-4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903C3B-86E6-F07C-1EDA-861D263DECD7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972EE4-3CB7-5B8B-DC9E-1A52FD23AA5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50063-C9CA-0CFE-7A25-4B08AB1A5417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713369-0E8D-100B-0161-3AC7F11F1ECB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25DDCB6-257A-CD1F-99BC-108810DD98E1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B2B27CA-27E3-D3BB-F09C-59395FF90E8D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AD55B9-EC8A-296E-7907-597C60FD7F25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B1A155-D4A7-0DED-E19C-C6DBC951D694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364603-F771-3EBE-DB78-4F09E1A2CBA5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19FA045-363F-FFBF-9295-3360FDEE834B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7898EBB-ADF4-08FE-D191-CF13934592D2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0EF1198-3BB0-FFA0-6D7C-2815DB6D47A9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DBABBA5-FCB1-3E64-6873-118893A4E79A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2726D9-DA32-E30C-CEB3-D7E1A73283E5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46970E-E19F-E6A1-C0B1-847D56526C4F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35F955E-5FF6-FFB8-CB0D-EC4ACFE9A07C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64A16FF-3EA1-3A8E-B4CA-BE1AAD444687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FAB1080-95E7-1E01-01C5-C89DBD7BFB9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97CD0C-858B-6D4A-95D9-556D5DBA1DD3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87B484A-F898-EB2C-86B7-56E6A8ADE884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C0EFAB1-502F-6A3D-3D31-87AEB447B353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02D516A-ADBD-DE5D-C39C-8B0F8E63F3EB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4B817ED-1673-A4EA-2F48-9B1C69B7C61F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6D51AAC-0B18-99CA-2BC8-7EB01C8C9BE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480DEBC-1691-A465-389E-DA8647830958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8803D4B-9128-92F9-D472-F5519298BE8A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C686873-EB6C-0122-1CA1-B91285A1545C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4CC46DD-6014-26E1-6D1D-8F01E2078AE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72D4212-D1A4-D8A4-787D-3F9B705C158D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B4B3C36-68C3-D9A6-7E99-5E30645CBA20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D9524958-8EAB-C682-7D89-6E9E44142254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7A3DCD3F-9964-8343-1D15-7EDA69CEE84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EEEEEA74-B493-7BBD-FA4D-AD974AB539EB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2DA8F1AD-2267-B6ED-F84E-F05C3358B00C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E1C7BD68-7143-99CD-54F5-982494C05F2A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3899495E-437B-2942-8DE0-72FDC882AC9E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68621461-1216-6FF2-24F6-433B4F34F9FA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111A679-48BA-39C0-A393-4B734783409F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2FBD17-83D0-8AA3-F2B7-319006DCDD4A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47F3AFF-A48D-1647-3C73-32755764418B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AED48F3-19FD-66D1-3EEB-0611A1FB1352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047A0ACE-7F67-8B18-44AF-B79F5CC32643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8CB7F18B-2EFC-B65C-6844-9381F3E378FB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2863F8C-1B22-F974-2265-2948A30904C7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8A83083-86D5-CE3E-E794-598FC9A0E9F4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C7226EF7-14C4-5059-702A-AC297DEB007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8E40E0E2-9AD2-EF18-D2CE-0DA9E2424BE3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FE1DA7A0-5ECE-CE52-EC3C-AF364C6CC389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B8C07B68-DDF5-E319-6A0F-69444127AAE7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2472A34-A1A3-C9FB-6A48-A26882A79BD2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6567708-0D1C-D3ED-DF5A-593E2C9EFAF9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6FC79E-FF92-2F74-CEF6-A16476B34D4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AC8A78-BFB3-A0E8-BA6F-CC6C38C5CF5D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B6A4C3C-1C06-4A60-118C-4CF5C3AF73FF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A1F538-8276-C0C9-2964-732425F5CEA8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49E5E6-11CC-65F2-1C02-D48BD33EAD42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CF36FEC-837D-907F-5F93-DAF1C746994D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BE08061-E1C3-60DD-BC47-486E0D86C580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AC897B-3B8C-FC07-8D18-B5E986F779F5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B5F07AC-D67A-7581-DF57-D0DBD1A78574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FC65E4-8B8E-D5E4-93AE-9EA6C8F1FD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5539E0-A299-555A-DB32-430E701A5FC3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75BAC2-E563-49BD-509F-6A49EA2CBA52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D550D30-1DF5-6883-1F6C-BA0E2A8ABCF6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E135B16-B6E7-A58E-86CC-6674FBBA01EB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96B7E8F-AC56-9462-05C6-C00923AA2AC6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9EA5B-551C-EE69-A214-1043C287DC86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6E10F62-2F5F-CD73-7B74-959372359DA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1F5B079-7FD3-C519-5183-F3128C5DFA67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71F5598-2BDC-0403-B24F-1576AE2119AF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348C85-6462-DC64-CA09-3FBDEB8F4BA1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4F95E3-4C54-194C-E74A-87FC81F7EB39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19F52E9-A8E2-7388-2072-71F9894BF4D4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A3E9085-D860-5960-70D3-3DBF61EBF15B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E7C2A66-6782-AB5A-B8A1-DA6D86B04D4D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8D9A92B-5DF1-F53A-11AC-49ED7532E79A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22564-8CEC-D643-C488-FFC7034CECDD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D6F9CA9-91D7-76E2-ED54-C992BABA5E43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B2098F4-EDBB-5043-BCA0-A9DF4D87F59F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AB29DF-CE84-A141-5F84-CD755B00C472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008519A-1C33-2AEA-B461-98904744D998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C6D78C9-5EAE-4E45-2A72-DD22E397D8CC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553BC0F-4ADD-5045-2EF3-8B8C7B76C4A4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DCFF39A-1890-2E02-1EEE-F4652EC23ADF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6A8A7EC-704B-2795-7E93-EB4245DAEAA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D5DD6F7-E539-6623-BA3D-23949B573E5F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BE9889E-F029-92BF-7B1C-637F755FBAB6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82F2D67-B88D-01C2-5F32-459B29B7A18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5815F25A-362E-B857-DCAE-251C77CD16DE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D15C92F-CF4A-2979-B053-DBDB0D821B43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AC8057C-F040-E0D7-993D-A3B60E095BF4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F423A5-46FD-E582-2F0A-2423883B0388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8798CF8-CF03-1DD7-2D5E-BBC2BAB8AB43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2DD374A-4062-FBF5-5307-0B49E6C29553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37493E6-B135-065C-2D60-08B5BDD1FB48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B83687A-4A98-46F3-4296-7D83E9D97D9D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4F1121-1AEA-D2F0-3C88-A3B9C22DFC91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97B5C08-ADFA-7242-C7D8-959A0A98CEE5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B405133-B162-15B6-EB00-C3B9AF062E24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5F15AA9-83C9-A53E-482A-FE2F2C721740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D7CB4F9-2EC5-218F-2CD2-03F57804ACF8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EB332B9-F6A7-7968-A4E5-FE68D6A2C2B6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1FDE32A3-DFD9-8BC8-8D02-172B95DF4FC8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E274D09-C88D-5765-521B-7CFA9DFE79E5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D883D65-D8DF-293E-215B-FD5AE4B17A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8FAA074-90AF-9CA2-5FF9-B97433FDF10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75C6CF8-0706-0E32-2ACD-195CF8B2004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CF48D85-F3E1-5A0C-06C1-9BF46CA42579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6BDBBDD-1364-A63C-4651-E7ED2C7F6209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3E5428E-6F8A-DFAE-B136-C7DB083F978C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5BDE5F6-124F-8345-B441-BE03835F900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7864716-AD43-6C9B-1DEA-BD7BB639384F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D63DFF01-FE81-1BFB-0D80-BACB84DBEF7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880483-626E-912E-80A9-150F394202B1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D4294F6-D1C3-6B4D-9F83-6856472B93FB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627B184C-BD9E-CBDD-83C5-5AD694E4E52E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10F31478-539A-1332-F91E-8B1AF80892E4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854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" grpId="0" animBg="1"/>
      <p:bldP spid="247" grpId="0" animBg="1"/>
      <p:bldP spid="248" grpId="0"/>
      <p:bldP spid="249" grpId="0"/>
      <p:bldP spid="256" grpId="0" animBg="1"/>
      <p:bldP spid="257" grpId="0"/>
      <p:bldP spid="258" grpId="0" animBg="1"/>
      <p:bldP spid="259" grpId="0"/>
      <p:bldP spid="270" grpId="0" animBg="1"/>
      <p:bldP spid="271" grpId="0"/>
      <p:bldP spid="274" grpId="0" animBg="1"/>
      <p:bldP spid="275" grpId="0"/>
      <p:bldP spid="276" grpId="0" animBg="1"/>
      <p:bldP spid="277" grpId="0"/>
      <p:bldP spid="91" grpId="0" animBg="1"/>
      <p:bldP spid="92" grpId="0"/>
      <p:bldP spid="108" grpId="0" animBg="1"/>
      <p:bldP spid="109" grpId="0" animBg="1"/>
      <p:bldP spid="111" grpId="0" animBg="1"/>
      <p:bldP spid="112" grpId="0" animBg="1"/>
      <p:bldP spid="114" grpId="0" animBg="1"/>
      <p:bldP spid="115" grpId="0" animBg="1"/>
      <p:bldP spid="116" grpId="0" animBg="1"/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6" grpId="0" animBg="1"/>
      <p:bldP spid="68" grpId="0" animBg="1"/>
      <p:bldP spid="70" grpId="0" animBg="1"/>
      <p:bldP spid="72" grpId="0" animBg="1"/>
      <p:bldP spid="73" grpId="0" animBg="1"/>
      <p:bldP spid="74" grpId="0" animBg="1"/>
      <p:bldP spid="76" grpId="0" animBg="1"/>
      <p:bldP spid="77" grpId="0" animBg="1"/>
      <p:bldP spid="78" grpId="0" animBg="1"/>
      <p:bldP spid="80" grpId="0" animBg="1"/>
      <p:bldP spid="81" grpId="0" animBg="1"/>
      <p:bldP spid="82" grpId="0" animBg="1"/>
      <p:bldP spid="83" grpId="0" animBg="1"/>
      <p:bldP spid="85" grpId="0" animBg="1"/>
      <p:bldP spid="86" grpId="0" animBg="1"/>
      <p:bldP spid="88" grpId="0" animBg="1"/>
      <p:bldP spid="89" grpId="0" animBg="1"/>
      <p:bldP spid="93" grpId="0" animBg="1"/>
      <p:bldP spid="95" grpId="0" animBg="1"/>
      <p:bldP spid="96" grpId="0" animBg="1"/>
      <p:bldP spid="97" grpId="0" animBg="1"/>
      <p:bldP spid="99" grpId="0" animBg="1"/>
      <p:bldP spid="100" grpId="0" animBg="1"/>
      <p:bldP spid="102" grpId="0" animBg="1"/>
      <p:bldP spid="10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B23BB-D866-33E9-A2D0-7D842969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53D12-33DF-F1CA-A80A-0DDBBDD74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Search on centroids is only;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)≪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Once cell is found a fine search is performed for nearest neighbors  </a:t>
                </a:r>
              </a:p>
              <a:p>
                <a:pPr lvl="1"/>
                <a:r>
                  <a:rPr lang="en-US" dirty="0">
                    <a:latin typeface="+mn-lt"/>
                  </a:rPr>
                  <a:t>Only need to search observations in the cell  </a:t>
                </a:r>
              </a:p>
              <a:p>
                <a:pPr lvl="1"/>
                <a:r>
                  <a:rPr lang="en-US" dirty="0">
                    <a:latin typeface="+mn-lt"/>
                  </a:rPr>
                  <a:t>Many fine search methods can be used, such as using a flat index  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3CFA46-F4C3-BD5D-A4C1-3B34B1056C42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AD5C6D-0985-C4DC-0A12-893A965A6586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541CB1-047C-4806-A107-04CBA1FE4E45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4689A5-59EA-9F12-2970-F926DEA2E902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2FFE11E-5CC9-4AAB-A7D1-8700A5626439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855ADCC-F8F0-A8D4-4BD3-4984BF069EAA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C5E896-C994-1747-9F0C-6528F859BAEB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7F0EF4-604D-10A4-4E6F-200E769F627B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6FE5309-90F7-92E4-5F9B-181CA59204C0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DE7E719-5C57-855C-52D2-FC84B6EC4AE7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114915-E531-0023-4B74-C1B2C473ED1B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0714DE8-91FA-B913-A118-88E3DD3A5F7A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FE01902-72D8-0DF8-BBFE-30B02BF0D93B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2CBEA5-0EE4-7DC3-3F56-E73AB87C97CC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CD37D65-0503-15B1-98FA-05D72A7C99CD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2189D9-37EB-18F3-E8A1-C4E57CF319EB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1D11E9F-5ADB-0162-653B-173E3AC5F9BB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35E5DE2-BFE9-2629-D6C1-C15DCA63B16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33EBFE3-933D-5C52-D751-C3C1987BB357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76E85A5-8500-4474-CEA2-F2EA8184E70D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2C9B571-898B-8A2C-1E84-8140D09B333D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6692851-ECB1-F0EC-26D8-331769133334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577C1A4-BA34-9C9A-469A-DAD2FD80A772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65BB8F-BDEF-77A8-F20C-BAE3828CBF19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E0DD3C2-CA8F-327B-B2DB-3C461D8912C3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644F7488-AF01-B5B9-D47D-38A76F4598C5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0FC1A7-5FF9-6DE3-7B9C-60FC5F7B83B8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C3E61BDC-D981-6BDF-D84D-682F1C4FEF9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03BC2A0-E675-CFF9-288C-E41FEEA3871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095277-0BCB-B193-2AF4-9326127DC79B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589D180E-B814-EAC2-8F96-A2B8720D2389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8A889929-5C12-5365-2485-DAD17DB55C7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2FA0B614-019F-298B-4F5E-88D1F14150DF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CF5C24B3-8B28-F672-D24D-F2A52072CE76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1BA8BDB5-6504-94EC-4A2C-6F2B76CEA91D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9F0C91E1-50E1-9C60-EABA-E30586F0044C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9B2787FE-E535-A11B-8735-2E053A5C0DF9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540E7BF-0C79-0FFA-D1DC-0A6DE04C86E7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C580EC7-04CA-02B6-3052-C6CC73A544DD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319A560-9CD2-E687-A292-DD73211C0528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CE946DD-A6CE-EEEF-42A8-DA5DA346473D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E1C55C05-EF26-F048-9ED5-74F0029B4496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5F6AAA8C-1583-F8F6-E749-B6A7B6A278F4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A85918C-2394-A63D-3E9E-8FECEC326B4F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A57E5B20-2874-BC5A-BF97-F4B2B7FE581E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A8ED6189-7CB5-9152-D8F2-66963C26462D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3BC1238E-D4C3-721D-B9CB-FB8E6BA439D7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2A79D2DF-3312-6F06-BEA4-CB5366AE437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F485908-D8BE-4C26-F8DD-2BDBB0CE74E9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80A9A38-8BA4-6ED4-25FA-B6B00B02F2EE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7D01110-6128-8B23-A4CB-D88C411D6426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E1E1B8-18AC-7301-C6D6-8F31158381F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750862-B4EF-4353-F418-1C6ABE693A10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D9D31A-5145-7573-E0A4-326F674BBEB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85ED74-7663-5EC3-8FA3-817AD108269D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20198E-2F63-9DFC-7B35-BDFB84196C27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01D5FDF-37CE-5D50-4FD6-52FCAC82E0C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B8D384F-08EB-14DA-8248-75541A8DE93D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8C4AE2-5598-8323-A5B9-932127F2E3F2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7F60DE1-04CE-FFF6-D11D-BBCA69403C29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E3A418-5946-D25F-ED70-1C8B718F5B75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DCB089D-DED7-28E7-109E-348A883D2209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5A8F521-202F-98D4-6C2B-11293F364254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4552394-74EA-86E3-3C8F-92D67524BD28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3211382-C519-8FF9-0B91-9C4E335C6250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74E2460-B41E-778B-84DB-0508C7EC1DFB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794BDD2-95B3-F9DA-11F8-56360C9EC8C5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958DC2C-5A25-FF58-0761-BD84183170D5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19572F-717E-B895-F3AE-50343FE9C5D6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452A662-F675-0759-5FD6-1D16AF426453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54D26AF-D530-40D2-62DA-F4D6A7D26438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270AEBE-004F-6F2F-C7DC-FB523B79B9E1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EF7006E-E05C-4BEB-C0C9-F148063B1D07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4AE7750-02DD-9B10-AACF-34191F44AEBD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D5E83BB-1DBE-7EAF-79C8-CAD95C6B5353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506762-4F46-E504-3876-F261F0C59FFF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6A37FF1-095C-7E3B-E106-9D32FF250AB1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BAA1492-AFCD-D905-3BE8-193F78F0E2A2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3A361E3-49D3-6D96-5F6F-02A40E535393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5C976FE-C853-A358-F231-2B85E08BB650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F2579E7-34CB-E4F4-CF97-948CB7AD7EAF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73C8C70-A047-7B4A-D4C4-062BA0970D5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95D04AC-658D-8855-494B-77583C0758F9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C9B1912-6FF1-F056-773E-2A48BAEE9694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E849255-493A-4127-6726-0AF18ECBA0B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29900F4-44E3-F9E4-0B5F-4F74DA7B046E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850FD5E-A586-3918-3FA9-0EFFA21D6134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62E581B-8100-E1EF-FDDC-482AFECD8478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80C22E3-E434-081C-DDE2-2CCC1F188207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48F545E-F709-3CB8-96CB-CD8C96717C70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C84447C-5AD1-E4B5-D98E-E835EA83E79C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F8F7F46-D209-1CB9-ED9C-AE53F6D4AFD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B1DCC71-2F80-B836-A243-74BCEFAAB85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7BF48C8-9363-3F35-4DF2-165E61F5ABD9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C5E49DC-7A42-64F2-211F-BA0AC0CF21AC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D8E8CC3-3A68-6859-4008-BB3E5DF4D366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DFC506A-9995-B045-C179-BDFF5790F10D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B630DF3-6D5D-D8A7-1BDF-AF55B28A2000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7A52EB0-F717-2FCF-79A7-BE000727CE95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9E2E708-E017-D990-8921-2B82F3040441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8291A95-E43F-0F62-3FE0-515329AD1FF1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DA08257-064F-0B29-DFFE-E63FBC7E2A6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C491908D-65F0-488C-B461-DA4702EE3E2E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2DA7851-4874-1AC3-B238-497BC820CA71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9143552-FE2E-E479-45FF-99705CAF4F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65F77B03-36A5-1DF4-EBB5-C119ECDA0534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A7C386E0-9F27-8650-373A-0694395F675D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750C1347-E467-8BA8-0DD8-3B97AE16D2A3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AFC8DE2-8ECB-6231-32C6-CD4781A7573E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E7DDDA8-6996-740F-0F1F-C572DAB971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41225DA-8887-A288-5B1E-FDEDF481CD37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8731662-75A4-4252-7F44-092C6C26ACDB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FCD9DCD-FF53-DBC4-51CD-EC3C6389AA4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A3238F0-FD72-C197-08D0-BD1C021D1A77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B5AD3F8-A92B-F22F-6F8D-BDA73AFFCDE3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049A3915-0D03-8999-3A4F-89503090DBB6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1C201A2-4E55-5ABF-4A34-0C578DD08AD8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26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312E9-322E-0636-ACD9-892023D2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1BC8C-5A5D-94BE-622C-7AB6A191C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</a:rPr>
                  <a:t>If the query vector is close to the cell boundary, the NNs can be in other cells</a:t>
                </a:r>
              </a:p>
              <a:p>
                <a:r>
                  <a:rPr lang="en-US" dirty="0">
                    <a:latin typeface="+mn-lt"/>
                  </a:rPr>
                  <a:t>Solution is to probe surrounding cells to expand range of search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nprobe</a:t>
                </a:r>
                <a:r>
                  <a:rPr lang="en-US" dirty="0">
                    <a:latin typeface="+mn-lt"/>
                  </a:rPr>
                  <a:t> attribute in FAISS sets the number of cells to prob</a:t>
                </a:r>
              </a:p>
              <a:p>
                <a:pPr lvl="1"/>
                <a:r>
                  <a:rPr lang="en-US" dirty="0">
                    <a:latin typeface="+mn-lt"/>
                  </a:rPr>
                  <a:t>The larger </a:t>
                </a:r>
                <a:r>
                  <a:rPr lang="en-US" dirty="0" err="1">
                    <a:latin typeface="+mn-lt"/>
                  </a:rPr>
                  <a:t>nprobe</a:t>
                </a:r>
                <a:r>
                  <a:rPr lang="en-US" dirty="0">
                    <a:latin typeface="+mn-lt"/>
                  </a:rPr>
                  <a:t> the slower the query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𝑝𝑟𝑜𝑏𝑒𝑠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  <a:blipFill>
                <a:blip r:embed="rId3"/>
                <a:stretch>
                  <a:fillRect l="-2033" t="-1818" r="-1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4A95E3-CA47-A402-C5BA-E44317C65C39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3EC86D-DAE2-9074-42F1-2CD4F954DAC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7A649A-1279-A0F9-6FF0-C6134D49320E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B1B36D-F28B-C09F-5445-8B1B1DDF467D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4E3EA4-8118-12D9-A580-9D3D3BA5199F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C88B78F-652C-3B82-FF00-80A24D1B4883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CF622D6-08AC-68F2-9B9F-36C92B8574F1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B98996-4A74-5788-F44D-C66231E8AF62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303E734-59DB-6EFF-F42A-5208DF749D8B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061E4CC-B0E5-4292-AF24-640FE10D5221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C67249F-175C-432A-4095-ECE7ACDFCFFD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CB650D-62EE-AA91-C1FB-8347A682610C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8F4ECF-B494-EB99-B577-B86AC798C2B6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991F61-51CD-8B25-4121-5999CD03594D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E45FB23-7390-2311-6A33-ECFB43F8C122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AEC4EC7-768C-ADE4-09D1-FCB65E22066D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B681842-BA13-AD87-7BD2-791B71CE29D9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6F9BF6C-89FF-5C50-9A9D-414E0BFAE12C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37D89AD-EA65-7800-EEFD-5EB3E71B7CFF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4B13BF1-A9F5-7629-6D39-191A12BF6919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EBD817E-8F14-B2ED-63E6-F1427A0561A9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5670CCF-9421-34BB-D565-8978199354D1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1B4EFAF-94C2-AF38-D662-C95378E80C43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931AB9C-C34B-3728-EB1E-D3040DCF05C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BBF4292-8058-5E89-C10E-52BBF4FD96D5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3EA57D5A-542D-58D0-8029-C9EF255ADAAE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F49C646-5FED-2158-4421-FAC6B13EA761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D5D4A8A3-0C1C-C695-187C-F0B26C62BBFF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D63DF3A-C6AB-F5ED-87D1-B04ADD42C5A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CA526C1-86C7-DE23-9EDB-450ED6C282D5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E17BE318-38E5-BCA2-03AA-2AA924DCFEE2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4B42E92C-82D1-7485-9D00-3DD49A53950A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835AF347-10C1-E141-12E7-66B9280C0652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B4B25439-97F7-AD7C-68FF-3C0218986664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FD59AA8E-8BA9-E200-F2CA-CD872FF5E85C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8B169603-A4B6-4719-7954-EBF31787B11A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AC6AA222-D022-19B3-1BD0-6CCDC85DA617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B01525-E009-8C81-55CF-FD8678A045C9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B630A5C-EE8A-87F3-92DA-4FB43FDE9284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1A11568-1243-C663-1367-F61C6DE9EFD3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90D6D3-938F-A12D-CAA0-FB68712697E7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D41CFD50-68EE-8ECD-D0C9-1D70C06DFF44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E4ED75D4-81C3-766E-45D0-E28809FE295F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7B12A02-FEA5-0BEE-73A8-B77E245A134A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E3AFD479-2EAD-47EF-C433-352091DAC657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867E72B7-DCF4-7A20-062B-E78845B477E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4FC4D4A1-F389-95F7-E8D0-1675580731E6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13CD0DBF-58DC-DD05-0901-36447BE14B8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3A9AD3D6-7FE8-7716-474D-2BB74056957D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C4CC8C-978E-2BA2-8BC3-186E82AB38EC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A9DDF74-CE63-FAB8-04FB-F231E417A068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4D47BF-7B8C-3852-8F6B-798C2E2CB16B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02E7E0-6C37-DEF6-FD10-7ADF53799E12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9FAC79-FCEA-DC87-447B-12D79696ECF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6B834A2-D1A8-339D-A764-E40CC0B31E71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9F7B57-6080-8347-D4DE-34D3FC7011F8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293DC73-4F55-DDAA-19E8-F8DDC06DBA8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4EBD0A-6135-5EDD-E79B-A6CAF0A4EAB2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F57D73D-9AC0-41DF-67B2-95F5CF368894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48A11B-A31F-C55E-FC9B-FA41484BDE5E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F0A0D20-F634-9152-CE12-7A1AEE3AAF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B299AE0-C416-6160-789C-109D9F9CEAE4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6C9F30D-8C85-A146-EB06-128AFD38117A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77DE3EA-7887-84CE-04F4-8D2784D9B8F4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505036F-68E1-34E2-1637-07B5F2BC0154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F432D4B-79D0-AB8E-862C-BD0E72666BB0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91E3CB5-572F-00C9-48D7-069E7260177C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E5F0EEA-EAF4-086F-39E8-134885F03D9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5A7999F-D1E4-E2CF-E28E-5832FC599721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A151EFB-1155-927F-92F9-B50960D6C81B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D84B570-E665-4561-D37C-524B52FCF439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76A5A17-E2B7-1A2F-BE98-5B9EBCAFA092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09DFFF-9DBC-0860-AA68-92A01388A285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A9D91E1-57E6-3710-9937-3EEFBA7DC276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74AB408-9EAE-7266-4868-850D792AF508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73D5DB3-FAB4-0D1B-FB6A-CA2CF2D72CF4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48CD6D5-D024-830C-C072-A9FA8BCF61B3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8CCD652-8E79-69E7-36A3-539CF9C2D3E5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0C07758-1CF4-4DAC-681C-A99B28092A91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35C4149-04DD-CE38-EF5D-137583F5615B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147B796-27C2-27CF-ACCD-5A589BF94FB0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67180D0-CECF-F068-23F3-F5034DD27AD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9081FC-A3E7-A9C0-E9CA-29E75226A717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7BFE876-F7EC-E0D9-7B32-E255C5713507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57F8DD7-B890-F504-CE01-863E090D3EBA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E72C402-7A5C-FE93-D00B-1B0B988A28D5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AF76B04-9523-73BB-F238-5133A09B9537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8CB864-001D-B06D-969E-A11CC416B33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EDBF28E-176A-6F94-1D06-EA00BB22C4D4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07837BF-0A31-5F2E-B06D-BE0A629EAEAB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AC5D35E-8A3A-3127-FF7F-AAE7A539934D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8F8C4704-4A12-847E-E980-2ECA9A35B54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6C868A2-20EE-A85C-0750-E22188DE59B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B8CB319-357C-411F-0ECC-894CCC3B301C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B6C8D29-CA39-2433-32B8-4F44DD96F167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BC74A88-D4A2-994E-E92A-B64F39978515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D01118-D437-FB7A-3D8D-467302BB7B17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03B1AF2-DE15-6CA3-0382-2B2DEC73CC78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69A3B893-C3BE-07D0-05A1-6BCE223530B3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D5368B9-E209-5886-44FB-448E6C29C614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6C95B71-AB87-5AC7-931F-A2DF3581D6BD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BCB9CB3-99EA-9A02-952A-B8A22347283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9EFD2BE-2297-BDAB-C53F-7920BF555F5D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56A2E49-1632-76B6-12FA-6CC0E445079F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E5AE1163-609A-BB12-14C3-3D2BBF7C7516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81F0FB0C-040D-EC3E-A7C3-D896CD7C35E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845A4E0-9923-EEAA-94E1-23E6BDDD003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ADBAE0D7-9593-2706-9441-938CA5065866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A8022D5-DBE7-5B3A-9909-7886BD2FBE4F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B949B30-3DEC-0081-E3FA-4D103CE67E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905C815-152F-873D-0F08-9F707A75847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8B9A5CEE-861E-0A63-2348-B73D93F6E0B9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45989367-342F-196F-41AC-C21EA6C2C802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EEC7A756-5AC0-28F7-A81A-BE931613BBCF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2F63ABBF-1FF5-CAC6-44FD-B5137926CA7E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7511F17-EB4F-9DDA-5851-28EA7DB9B67B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D0F9065-DC92-69DE-BF1A-531C600817CF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84B902BA-DFAB-7710-2A9F-1E732A35D61F}"/>
              </a:ext>
            </a:extLst>
          </p:cNvPr>
          <p:cNvSpPr/>
          <p:nvPr/>
        </p:nvSpPr>
        <p:spPr>
          <a:xfrm>
            <a:off x="8982602" y="2614277"/>
            <a:ext cx="174414" cy="211708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CCE809-B48D-3B4B-97CC-3AF02710356C}"/>
              </a:ext>
            </a:extLst>
          </p:cNvPr>
          <p:cNvSpPr txBox="1"/>
          <p:nvPr/>
        </p:nvSpPr>
        <p:spPr>
          <a:xfrm>
            <a:off x="8666728" y="2724013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</p:spTree>
    <p:extLst>
      <p:ext uri="{BB962C8B-B14F-4D97-AF65-F5344CB8AC3E}">
        <p14:creationId xmlns:p14="http://schemas.microsoft.com/office/powerpoint/2010/main" val="1070192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54C0-D3EA-6714-26F5-DC98EAA71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15A1-A950-DA3E-8AE0-1B89E6F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94990-A112-0BCA-24F8-E1876AAB2D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208489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Voronoi cells are not the only way to perform coarse quantization </a:t>
            </a:r>
          </a:p>
          <a:p>
            <a:r>
              <a:rPr lang="en-US" dirty="0">
                <a:latin typeface="+mn-lt"/>
                <a:hlinkClick r:id="rId3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The multi-index is quantized along the axes of a grid rather than Voronoi cells</a:t>
            </a:r>
          </a:p>
          <a:p>
            <a:r>
              <a:rPr lang="en-US" dirty="0">
                <a:latin typeface="+mn-lt"/>
              </a:rPr>
              <a:t>Result is a better constrained search region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E1BC0-72B5-367E-DB28-A1C413007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241" y="2980973"/>
            <a:ext cx="7598811" cy="387091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C30B9A4-4A71-D827-F58C-1A7C833ADBF6}"/>
              </a:ext>
            </a:extLst>
          </p:cNvPr>
          <p:cNvCxnSpPr>
            <a:cxnSpLocks/>
          </p:cNvCxnSpPr>
          <p:nvPr/>
        </p:nvCxnSpPr>
        <p:spPr>
          <a:xfrm>
            <a:off x="6263884" y="2885005"/>
            <a:ext cx="1755453" cy="170166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7E3016-A8C9-EE5C-BB54-A6B55FD19A6C}"/>
              </a:ext>
            </a:extLst>
          </p:cNvPr>
          <p:cNvCxnSpPr>
            <a:cxnSpLocks/>
          </p:cNvCxnSpPr>
          <p:nvPr/>
        </p:nvCxnSpPr>
        <p:spPr>
          <a:xfrm flipH="1">
            <a:off x="4796933" y="2885005"/>
            <a:ext cx="870391" cy="160875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537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6871D-2200-338F-4873-09D8AE8D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45ADFA-3C77-51BE-AFB8-7C1EE8DF9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258" y="2618630"/>
            <a:ext cx="7496474" cy="2784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602503-1D0F-D956-4030-1ED2FF479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32624-5844-DE51-1DD9-F6D1923B58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1579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Grid is quantized along axes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C4D1749-9FF8-BA60-3A42-DA8D91407527}"/>
              </a:ext>
            </a:extLst>
          </p:cNvPr>
          <p:cNvCxnSpPr>
            <a:cxnSpLocks/>
          </p:cNvCxnSpPr>
          <p:nvPr/>
        </p:nvCxnSpPr>
        <p:spPr>
          <a:xfrm flipH="1" flipV="1">
            <a:off x="6430139" y="5271247"/>
            <a:ext cx="386297" cy="7897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39736A-852B-7A8C-0CD7-80AAC1DBD7CD}"/>
              </a:ext>
            </a:extLst>
          </p:cNvPr>
          <p:cNvCxnSpPr>
            <a:cxnSpLocks/>
          </p:cNvCxnSpPr>
          <p:nvPr/>
        </p:nvCxnSpPr>
        <p:spPr>
          <a:xfrm>
            <a:off x="4298169" y="2268886"/>
            <a:ext cx="39119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F57694-45A7-CB59-CA42-4B9728DFA45F}"/>
              </a:ext>
            </a:extLst>
          </p:cNvPr>
          <p:cNvSpPr txBox="1">
            <a:spLocks/>
          </p:cNvSpPr>
          <p:nvPr/>
        </p:nvSpPr>
        <p:spPr>
          <a:xfrm>
            <a:off x="520004" y="5961920"/>
            <a:ext cx="11328892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Distances from the query vector are measured along the axes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C7668A-12D2-5151-310A-B6331B0B2C02}"/>
              </a:ext>
            </a:extLst>
          </p:cNvPr>
          <p:cNvCxnSpPr>
            <a:cxnSpLocks/>
          </p:cNvCxnSpPr>
          <p:nvPr/>
        </p:nvCxnSpPr>
        <p:spPr>
          <a:xfrm flipV="1">
            <a:off x="6816436" y="5271247"/>
            <a:ext cx="1403384" cy="74814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FBA93C-E87E-1210-0F3D-5EB6136C4B21}"/>
              </a:ext>
            </a:extLst>
          </p:cNvPr>
          <p:cNvCxnSpPr>
            <a:cxnSpLocks/>
          </p:cNvCxnSpPr>
          <p:nvPr/>
        </p:nvCxnSpPr>
        <p:spPr>
          <a:xfrm>
            <a:off x="1261579" y="2268886"/>
            <a:ext cx="635679" cy="284588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60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54DED-22B7-2921-35BF-CB2679BB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489D4-B3C7-ED6E-B694-62C9323F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46" y="2145248"/>
            <a:ext cx="8115503" cy="38166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E8C4CC-FC3C-474A-4857-B9168AEF7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C7F5-FB84-BF42-81A0-DFA8856B39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8244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0D44C97-37D0-6D99-BC28-D00913E84DF5}"/>
              </a:ext>
            </a:extLst>
          </p:cNvPr>
          <p:cNvCxnSpPr>
            <a:cxnSpLocks/>
          </p:cNvCxnSpPr>
          <p:nvPr/>
        </p:nvCxnSpPr>
        <p:spPr>
          <a:xfrm flipH="1" flipV="1">
            <a:off x="1701664" y="5911816"/>
            <a:ext cx="4684466" cy="4747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251F83-4EF6-DCC6-D18E-20261E944017}"/>
              </a:ext>
            </a:extLst>
          </p:cNvPr>
          <p:cNvCxnSpPr>
            <a:cxnSpLocks/>
          </p:cNvCxnSpPr>
          <p:nvPr/>
        </p:nvCxnSpPr>
        <p:spPr>
          <a:xfrm flipH="1">
            <a:off x="8322507" y="2046212"/>
            <a:ext cx="581891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7991F0C-BAB0-75FD-018D-72FF516039E9}"/>
              </a:ext>
            </a:extLst>
          </p:cNvPr>
          <p:cNvSpPr txBox="1">
            <a:spLocks/>
          </p:cNvSpPr>
          <p:nvPr/>
        </p:nvSpPr>
        <p:spPr>
          <a:xfrm>
            <a:off x="6188142" y="1355539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Total distances are the sum of distances along the axes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03FDC01-BA0B-7003-EF25-096DE37898BF}"/>
              </a:ext>
            </a:extLst>
          </p:cNvPr>
          <p:cNvSpPr txBox="1">
            <a:spLocks/>
          </p:cNvSpPr>
          <p:nvPr/>
        </p:nvSpPr>
        <p:spPr>
          <a:xfrm>
            <a:off x="6525541" y="6036507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The query proceeds stepwise until required NNs found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613CA2-F22C-6503-B05E-61BF594D3283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59692" y="4982747"/>
            <a:ext cx="1534212" cy="105376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2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8E92-8F9D-961A-0F21-7B8F86276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D66C7-B16A-BB10-1CAE-8CD7E193D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Product Quantization</a:t>
            </a:r>
          </a:p>
        </p:txBody>
      </p:sp>
    </p:spTree>
    <p:extLst>
      <p:ext uri="{BB962C8B-B14F-4D97-AF65-F5344CB8AC3E}">
        <p14:creationId xmlns:p14="http://schemas.microsoft.com/office/powerpoint/2010/main" val="13769565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C114D-C2B0-93AC-FDA8-5552D4B8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6CF1-B60D-5F3C-294D-0557D71D3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A33EC-5BB0-2188-D54B-4E2AD61AA99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817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Product Quantization (PQ) </a:t>
            </a:r>
            <a:r>
              <a:rPr lang="en-US" dirty="0">
                <a:latin typeface="+mn-lt"/>
              </a:rPr>
              <a:t>for ANNS was first proposed by </a:t>
            </a:r>
            <a:r>
              <a:rPr lang="en-US" dirty="0">
                <a:latin typeface="+mn-lt"/>
                <a:hlinkClick r:id="rId3"/>
              </a:rPr>
              <a:t>Jégou, </a:t>
            </a:r>
            <a:r>
              <a:rPr lang="en-US" dirty="0" err="1">
                <a:latin typeface="+mn-lt"/>
                <a:hlinkClick r:id="rId3"/>
              </a:rPr>
              <a:t>Douze</a:t>
            </a:r>
            <a:r>
              <a:rPr lang="en-US" dirty="0">
                <a:latin typeface="+mn-lt"/>
                <a:hlinkClick r:id="rId3"/>
              </a:rPr>
              <a:t>, and Schmid, 2011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78E3E0-75CD-988C-275B-EC274834E376}"/>
              </a:ext>
            </a:extLst>
          </p:cNvPr>
          <p:cNvSpPr/>
          <p:nvPr/>
        </p:nvSpPr>
        <p:spPr>
          <a:xfrm>
            <a:off x="517072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observation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47FEF1-51C1-DF87-4FB4-D45AD7B3575D}"/>
              </a:ext>
            </a:extLst>
          </p:cNvPr>
          <p:cNvSpPr/>
          <p:nvPr/>
        </p:nvSpPr>
        <p:spPr>
          <a:xfrm>
            <a:off x="517072" y="3108280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Learn codes (centroids) by K-means clustering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32EA0-C3F1-34E3-C9B1-CCFE4E5D18AB}"/>
              </a:ext>
            </a:extLst>
          </p:cNvPr>
          <p:cNvSpPr/>
          <p:nvPr/>
        </p:nvSpPr>
        <p:spPr>
          <a:xfrm>
            <a:off x="517072" y="4323291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 observation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by cluster centroids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232F01-CE06-8F9D-12CA-B3396EDAA9C4}"/>
              </a:ext>
            </a:extLst>
          </p:cNvPr>
          <p:cNvSpPr/>
          <p:nvPr/>
        </p:nvSpPr>
        <p:spPr>
          <a:xfrm>
            <a:off x="7236278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query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072DA-069E-4D5F-0373-4331A1C987A8}"/>
              </a:ext>
            </a:extLst>
          </p:cNvPr>
          <p:cNvSpPr/>
          <p:nvPr/>
        </p:nvSpPr>
        <p:spPr>
          <a:xfrm>
            <a:off x="7219949" y="3142422"/>
            <a:ext cx="3575958" cy="119543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Build asymmetric distance tables between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centroids and 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1AF84D-FF68-6E9A-2728-06B43B920BA3}"/>
              </a:ext>
            </a:extLst>
          </p:cNvPr>
          <p:cNvSpPr/>
          <p:nvPr/>
        </p:nvSpPr>
        <p:spPr>
          <a:xfrm>
            <a:off x="7219949" y="4665446"/>
            <a:ext cx="3575958" cy="146014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distance table for NN search for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compute distances by summing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distances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9B07FA-2364-2F3C-88E7-410C9675F39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2305051" y="285446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EEC86-9209-760A-4C3A-4B4E3B8B6489}"/>
              </a:ext>
            </a:extLst>
          </p:cNvPr>
          <p:cNvCxnSpPr/>
          <p:nvPr/>
        </p:nvCxnSpPr>
        <p:spPr>
          <a:xfrm>
            <a:off x="2291444" y="4012977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7F7AEAF-F904-F14B-FFE4-2A65EBCEBA48}"/>
              </a:ext>
            </a:extLst>
          </p:cNvPr>
          <p:cNvCxnSpPr/>
          <p:nvPr/>
        </p:nvCxnSpPr>
        <p:spPr>
          <a:xfrm>
            <a:off x="9024257" y="2888602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8F34C14-3B0B-21DC-9F95-02C5DD8438F5}"/>
              </a:ext>
            </a:extLst>
          </p:cNvPr>
          <p:cNvCxnSpPr/>
          <p:nvPr/>
        </p:nvCxnSpPr>
        <p:spPr>
          <a:xfrm>
            <a:off x="9024257" y="439435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0BBECEE-11A1-4209-A166-76A4F83759D7}"/>
              </a:ext>
            </a:extLst>
          </p:cNvPr>
          <p:cNvSpPr txBox="1"/>
          <p:nvPr/>
        </p:nvSpPr>
        <p:spPr>
          <a:xfrm>
            <a:off x="510268" y="5226805"/>
            <a:ext cx="35623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Database construction </a:t>
            </a:r>
          </a:p>
          <a:p>
            <a:pPr algn="ctr"/>
            <a:r>
              <a:rPr lang="en-US" sz="2400" b="1" dirty="0"/>
              <a:t>a.k.a. model training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0E1B29-2BBF-6F8E-47AB-57DAFB77494C}"/>
              </a:ext>
            </a:extLst>
          </p:cNvPr>
          <p:cNvSpPr txBox="1"/>
          <p:nvPr/>
        </p:nvSpPr>
        <p:spPr>
          <a:xfrm>
            <a:off x="7219949" y="6174343"/>
            <a:ext cx="3562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NN search for query</a:t>
            </a:r>
          </a:p>
        </p:txBody>
      </p:sp>
    </p:spTree>
    <p:extLst>
      <p:ext uri="{BB962C8B-B14F-4D97-AF65-F5344CB8AC3E}">
        <p14:creationId xmlns:p14="http://schemas.microsoft.com/office/powerpoint/2010/main" val="2072419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0" grpId="0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975A-78D5-E137-8DF5-B04447CD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33675-BD8B-FFDC-9293-676AC404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641C8-B5C3-0090-D944-93C3ACC43C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270796" cy="124742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review paper by </a:t>
            </a:r>
            <a:r>
              <a:rPr lang="en-US" dirty="0">
                <a:latin typeface="+mn-lt"/>
                <a:hlinkClick r:id="rId3"/>
              </a:rPr>
              <a:t>Matsui, et. al., 2018</a:t>
            </a:r>
            <a:r>
              <a:rPr lang="en-US" dirty="0">
                <a:latin typeface="+mn-lt"/>
              </a:rPr>
              <a:t>, includes a diagram showing the evolution of PQ algorithms </a:t>
            </a:r>
          </a:p>
          <a:p>
            <a:r>
              <a:rPr lang="en-US" dirty="0">
                <a:latin typeface="+mn-lt"/>
              </a:rPr>
              <a:t>We will only </a:t>
            </a:r>
            <a:r>
              <a:rPr lang="en-US">
                <a:latin typeface="+mn-lt"/>
              </a:rPr>
              <a:t>discuss a few </a:t>
            </a:r>
            <a:r>
              <a:rPr lang="en-US" dirty="0">
                <a:latin typeface="+mn-lt"/>
              </a:rPr>
              <a:t>of these many algorithms and applications in our lesson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D86C4-04EA-085F-6AE7-D8613B1C5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706" y="2143502"/>
            <a:ext cx="8470831" cy="464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B12CF-3FB5-8CE3-EC1C-2CC4BD6C2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73C6B-7371-8C25-DFAA-F85A9E021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 In contrast to coarse quantization, the PQ algorithm quantizes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dimensional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has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4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Where code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2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EC5FDDFA-B2F1-86AD-B8EF-33B20A94C9D5}"/>
              </a:ext>
            </a:extLst>
          </p:cNvPr>
          <p:cNvSpPr/>
          <p:nvPr/>
        </p:nvSpPr>
        <p:spPr>
          <a:xfrm rot="5400000">
            <a:off x="4803696" y="2279527"/>
            <a:ext cx="273458" cy="1560034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FCB90-D9DE-6468-585F-3539C7767BEB}"/>
              </a:ext>
            </a:extLst>
          </p:cNvPr>
          <p:cNvSpPr txBox="1"/>
          <p:nvPr/>
        </p:nvSpPr>
        <p:spPr>
          <a:xfrm>
            <a:off x="4110389" y="3157749"/>
            <a:ext cx="1660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1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E040563-CE45-5A12-70D3-452BF1F185D1}"/>
              </a:ext>
            </a:extLst>
          </p:cNvPr>
          <p:cNvSpPr/>
          <p:nvPr/>
        </p:nvSpPr>
        <p:spPr>
          <a:xfrm rot="5400000">
            <a:off x="7251903" y="2100991"/>
            <a:ext cx="273458" cy="191710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C5362-AD24-F620-86AA-2FC3AB101154}"/>
              </a:ext>
            </a:extLst>
          </p:cNvPr>
          <p:cNvSpPr txBox="1"/>
          <p:nvPr/>
        </p:nvSpPr>
        <p:spPr>
          <a:xfrm>
            <a:off x="6380060" y="3157749"/>
            <a:ext cx="204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m</a:t>
            </a:r>
          </a:p>
        </p:txBody>
      </p:sp>
    </p:spTree>
    <p:extLst>
      <p:ext uri="{BB962C8B-B14F-4D97-AF65-F5344CB8AC3E}">
        <p14:creationId xmlns:p14="http://schemas.microsoft.com/office/powerpoint/2010/main" val="305408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FC157-5490-922D-4724-B3671E71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0918-6088-6E3B-09C7-71C9BEE40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code or centroid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we already noted, there is no feasible exact algorithm for this minimization </a:t>
                </a:r>
              </a:p>
              <a:p>
                <a:pPr lvl="1"/>
                <a:r>
                  <a:rPr lang="en-US" dirty="0">
                    <a:latin typeface="+mn-lt"/>
                  </a:rPr>
                  <a:t>For Euclidean metric we typically use Lloyd’s algorithm – a.k.a. k-means clustering</a:t>
                </a:r>
              </a:p>
              <a:p>
                <a:r>
                  <a:rPr lang="en-US" dirty="0">
                    <a:latin typeface="+mn-lt"/>
                  </a:rPr>
                  <a:t>A code book is constructed for 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subvectors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164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62926-5215-50E8-2BC9-B359F181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00241-FC43-4169-B109-FAA2BCAD7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0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29F28B8-8215-96D7-E437-3C179FFC98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733" y="2980651"/>
            <a:ext cx="8388481" cy="2981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BA1A08-F8C5-3BEB-E840-41B47BC8A9C9}"/>
              </a:ext>
            </a:extLst>
          </p:cNvPr>
          <p:cNvSpPr txBox="1"/>
          <p:nvPr/>
        </p:nvSpPr>
        <p:spPr>
          <a:xfrm>
            <a:off x="1721224" y="6174343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117802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C070-6470-FFD3-022F-6F4D94D2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5148-167D-A26A-2A51-4F8CE4020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</a:t>
                </a:r>
                <a:endParaRPr lang="en-US" sz="2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</a:t>
                </a:r>
                <a:r>
                  <a:rPr lang="en-US" b="0" dirty="0">
                    <a:latin typeface="+mn-lt"/>
                  </a:rPr>
                  <a:t>ach </a:t>
                </a:r>
                <a:r>
                  <a:rPr lang="en-US" b="0" dirty="0" err="1">
                    <a:latin typeface="+mn-lt"/>
                  </a:rPr>
                  <a:t>subvector</a:t>
                </a:r>
                <a:r>
                  <a:rPr lang="en-US" b="0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b="0" dirty="0">
                    <a:latin typeface="+mn-lt"/>
                  </a:rPr>
                  <a:t> coded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+mn-lt"/>
                  </a:rPr>
                  <a:t> levels,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b="0" dirty="0">
                    <a:latin typeface="+mn-lt"/>
                  </a:rPr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b="0" dirty="0">
                    <a:latin typeface="+mn-lt"/>
                  </a:rPr>
                  <a:t>Example, using a one byte (8 bit) code</a:t>
                </a:r>
                <a:r>
                  <a:rPr lang="en-US" dirty="0">
                    <a:latin typeface="+mn-lt"/>
                  </a:rPr>
                  <a:t> the centroid code has discrete values: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𝑙𝑒𝑣𝑒𝑙𝑠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6731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2A23-D05E-D3AB-7698-34AE81790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21922-CE6B-976C-1929-33997151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Simple PQ coding is invertible,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so we can approximately reconstruct the original vector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coded </a:t>
                </a:r>
                <a:r>
                  <a:rPr lang="en-US" b="1" dirty="0">
                    <a:latin typeface="+mn-lt"/>
                  </a:rPr>
                  <a:t>distance is invertible and symmetric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  <a:blipFill>
                <a:blip r:embed="rId4"/>
                <a:stretch>
                  <a:fillRect l="-1136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44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093EA-CC99-48B2-0481-DA414255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F3B76-7E86-9319-2830-22745F97B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is memory efficient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The complete code book for each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is represented by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i="1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array</a:t>
                </a:r>
              </a:p>
              <a:p>
                <a:pPr marL="742950" lvl="1" indent="-285750"/>
                <a:r>
                  <a:rPr lang="en-US" sz="2200" dirty="0">
                    <a:latin typeface="+mn-lt"/>
                  </a:rPr>
                  <a:t>Example,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the full code book is 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array </a:t>
                </a:r>
              </a:p>
              <a:p>
                <a:r>
                  <a:rPr lang="en-US" dirty="0">
                    <a:latin typeface="+mn-lt"/>
                  </a:rPr>
                  <a:t>Example of compression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Vector length,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=1024</m:t>
                    </m:r>
                  </m:oMath>
                </a14:m>
                <a:r>
                  <a:rPr lang="en-US" sz="2200" dirty="0">
                    <a:latin typeface="+mn-lt"/>
                  </a:rPr>
                  <a:t>, memory for float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×8×1024=32768</m:t>
                    </m:r>
                  </m:oMath>
                </a14:m>
                <a:r>
                  <a:rPr lang="en-US" sz="2200" dirty="0">
                    <a:latin typeface="+mn-lt"/>
                  </a:rPr>
                  <a:t> bits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Number of </a:t>
                </a:r>
                <a:r>
                  <a:rPr lang="en-US" sz="2200" dirty="0" err="1">
                    <a:latin typeface="+mn-lt"/>
                  </a:rPr>
                  <a:t>subvectors</a:t>
                </a:r>
                <a:r>
                  <a:rPr lang="en-US" sz="22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pPr lvl="1"/>
                <a:r>
                  <a:rPr lang="en-US" sz="2200" dirty="0">
                    <a:latin typeface="+mn-lt"/>
                  </a:rPr>
                  <a:t>Number of code levels,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>
                    <a:latin typeface="+mn-lt"/>
                  </a:rPr>
                  <a:t>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=8</m:t>
                    </m:r>
                    <m:sSup>
                      <m:sSupPr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⟶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r>
                  <a:rPr lang="en-US" sz="2200" dirty="0">
                    <a:latin typeface="+mn-lt"/>
                  </a:rPr>
                  <a:t> levels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Total codes per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×8=64</m:t>
                    </m:r>
                  </m:oMath>
                </a14:m>
                <a:r>
                  <a:rPr lang="en-US" sz="2200" dirty="0">
                    <a:latin typeface="+mn-lt"/>
                  </a:rPr>
                  <a:t> bits </a:t>
                </a:r>
              </a:p>
              <a:p>
                <a:pPr lvl="1"/>
                <a:r>
                  <a:rPr lang="en-US" sz="2200" b="1" dirty="0">
                    <a:latin typeface="+mn-lt"/>
                  </a:rPr>
                  <a:t>Compression factor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32768</m:t>
                        </m:r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×8</m:t>
                        </m:r>
                      </m:den>
                    </m:f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=512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  <a:blipFill>
                <a:blip r:embed="rId3"/>
                <a:stretch>
                  <a:fillRect l="-1750" t="-1786" r="-1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B65D19C0-B598-6051-6E61-7911D8196E6C}"/>
              </a:ext>
            </a:extLst>
          </p:cNvPr>
          <p:cNvGrpSpPr/>
          <p:nvPr/>
        </p:nvGrpSpPr>
        <p:grpSpPr>
          <a:xfrm>
            <a:off x="8933452" y="2808302"/>
            <a:ext cx="2579045" cy="2298539"/>
            <a:chOff x="4425904" y="2425838"/>
            <a:chExt cx="3738150" cy="309330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23CB0AD-4740-2E72-8A4E-F8AB593C7B55}"/>
                </a:ext>
              </a:extLst>
            </p:cNvPr>
            <p:cNvSpPr/>
            <p:nvPr/>
          </p:nvSpPr>
          <p:spPr>
            <a:xfrm>
              <a:off x="4425904" y="2502788"/>
              <a:ext cx="3738147" cy="30163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D34D306-9B78-5A5E-6C51-8307B5DF35D0}"/>
                </a:ext>
              </a:extLst>
            </p:cNvPr>
            <p:cNvSpPr/>
            <p:nvPr/>
          </p:nvSpPr>
          <p:spPr>
            <a:xfrm>
              <a:off x="7142584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,-1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85C0E14-13F8-AB9B-9CD3-2EDD703F0F86}"/>
                </a:ext>
              </a:extLst>
            </p:cNvPr>
            <p:cNvSpPr/>
            <p:nvPr/>
          </p:nvSpPr>
          <p:spPr>
            <a:xfrm>
              <a:off x="7142584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,m-1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223266A-3588-22A4-F2E9-5D90E76B043E}"/>
                </a:ext>
              </a:extLst>
            </p:cNvPr>
            <p:cNvSpPr/>
            <p:nvPr/>
          </p:nvSpPr>
          <p:spPr>
            <a:xfrm>
              <a:off x="7142584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,m-1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5501206-0930-B406-36CC-AD6ACF771486}"/>
                </a:ext>
              </a:extLst>
            </p:cNvPr>
            <p:cNvSpPr/>
            <p:nvPr/>
          </p:nvSpPr>
          <p:spPr>
            <a:xfrm>
              <a:off x="7142582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,m-1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A534B37-E621-1EC3-A1A9-5297E95624C3}"/>
                </a:ext>
              </a:extLst>
            </p:cNvPr>
            <p:cNvSpPr/>
            <p:nvPr/>
          </p:nvSpPr>
          <p:spPr>
            <a:xfrm>
              <a:off x="7142581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,m-1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2B117E0-934F-1055-C82D-A3A5F4008709}"/>
                </a:ext>
              </a:extLst>
            </p:cNvPr>
            <p:cNvSpPr/>
            <p:nvPr/>
          </p:nvSpPr>
          <p:spPr>
            <a:xfrm>
              <a:off x="7142579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k-1,k-1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18B12C4-8618-F5FD-65E9-CE967C566D62}"/>
                </a:ext>
              </a:extLst>
            </p:cNvPr>
            <p:cNvSpPr txBox="1"/>
            <p:nvPr/>
          </p:nvSpPr>
          <p:spPr>
            <a:xfrm>
              <a:off x="7361476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B7A796D-500E-6A89-B5FE-182987176EE4}"/>
                </a:ext>
              </a:extLst>
            </p:cNvPr>
            <p:cNvSpPr/>
            <p:nvPr/>
          </p:nvSpPr>
          <p:spPr>
            <a:xfrm>
              <a:off x="4425909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0 ,0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0B8CC90-AB0C-EB76-8106-D93D32789134}"/>
                </a:ext>
              </a:extLst>
            </p:cNvPr>
            <p:cNvSpPr/>
            <p:nvPr/>
          </p:nvSpPr>
          <p:spPr>
            <a:xfrm>
              <a:off x="4425909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1 ,0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53575AEF-E16F-401F-AB1F-DAE065325DE9}"/>
                </a:ext>
              </a:extLst>
            </p:cNvPr>
            <p:cNvSpPr/>
            <p:nvPr/>
          </p:nvSpPr>
          <p:spPr>
            <a:xfrm>
              <a:off x="4425909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2 ,0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A46976A-8446-337F-0642-9DAFB8027DC8}"/>
                </a:ext>
              </a:extLst>
            </p:cNvPr>
            <p:cNvSpPr/>
            <p:nvPr/>
          </p:nvSpPr>
          <p:spPr>
            <a:xfrm>
              <a:off x="4425907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3 ,0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BAC01E7-2601-019D-1DE6-88AD234FD030}"/>
                </a:ext>
              </a:extLst>
            </p:cNvPr>
            <p:cNvSpPr/>
            <p:nvPr/>
          </p:nvSpPr>
          <p:spPr>
            <a:xfrm>
              <a:off x="4425906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,0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CA9BDBB-BC21-8764-50DC-847F5BD36CF5}"/>
                </a:ext>
              </a:extLst>
            </p:cNvPr>
            <p:cNvSpPr/>
            <p:nvPr/>
          </p:nvSpPr>
          <p:spPr>
            <a:xfrm>
              <a:off x="4425904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k-1,0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F2F29D9-0395-6C2C-0982-3103A6E8389B}"/>
                </a:ext>
              </a:extLst>
            </p:cNvPr>
            <p:cNvSpPr txBox="1"/>
            <p:nvPr/>
          </p:nvSpPr>
          <p:spPr>
            <a:xfrm>
              <a:off x="4644802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DE06383-B287-C229-46C7-B68B1498315E}"/>
                </a:ext>
              </a:extLst>
            </p:cNvPr>
            <p:cNvSpPr/>
            <p:nvPr/>
          </p:nvSpPr>
          <p:spPr>
            <a:xfrm>
              <a:off x="5447376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0 ,1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AD979AB-E718-A0C2-6B37-0A3FF41A079E}"/>
                </a:ext>
              </a:extLst>
            </p:cNvPr>
            <p:cNvSpPr/>
            <p:nvPr/>
          </p:nvSpPr>
          <p:spPr>
            <a:xfrm>
              <a:off x="5447376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1 ,1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7E97D2-DB6A-1C50-4F24-4FE24C43FBCA}"/>
                </a:ext>
              </a:extLst>
            </p:cNvPr>
            <p:cNvSpPr/>
            <p:nvPr/>
          </p:nvSpPr>
          <p:spPr>
            <a:xfrm>
              <a:off x="5447376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59611A-FED7-EA11-8F30-9E334CCDB49A}"/>
                </a:ext>
              </a:extLst>
            </p:cNvPr>
            <p:cNvSpPr/>
            <p:nvPr/>
          </p:nvSpPr>
          <p:spPr>
            <a:xfrm>
              <a:off x="5447374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3 ,1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0374324-4244-F6F7-DE9D-6C193A2D9690}"/>
                </a:ext>
              </a:extLst>
            </p:cNvPr>
            <p:cNvSpPr/>
            <p:nvPr/>
          </p:nvSpPr>
          <p:spPr>
            <a:xfrm>
              <a:off x="5447373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N-2 ,1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A5AB5769-9516-4722-6565-AB6A98A77E5B}"/>
                </a:ext>
              </a:extLst>
            </p:cNvPr>
            <p:cNvSpPr/>
            <p:nvPr/>
          </p:nvSpPr>
          <p:spPr>
            <a:xfrm>
              <a:off x="5447371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N-1,1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2F0DA0E-0C8F-5F21-B589-50E28864FCEE}"/>
                </a:ext>
              </a:extLst>
            </p:cNvPr>
            <p:cNvSpPr txBox="1"/>
            <p:nvPr/>
          </p:nvSpPr>
          <p:spPr>
            <a:xfrm>
              <a:off x="5666268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326E8D4-3604-D280-1B9A-D6B3B377D8B4}"/>
                </a:ext>
              </a:extLst>
            </p:cNvPr>
            <p:cNvSpPr txBox="1"/>
            <p:nvPr/>
          </p:nvSpPr>
          <p:spPr>
            <a:xfrm>
              <a:off x="6468843" y="2425838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A5B79DFE-DDFA-B019-A89A-5E31AD8984C6}"/>
                </a:ext>
              </a:extLst>
            </p:cNvPr>
            <p:cNvSpPr txBox="1"/>
            <p:nvPr/>
          </p:nvSpPr>
          <p:spPr>
            <a:xfrm>
              <a:off x="6430005" y="2810246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16CFE6F-C6F1-5D16-CF82-922BEB38FBAE}"/>
                </a:ext>
              </a:extLst>
            </p:cNvPr>
            <p:cNvSpPr txBox="1"/>
            <p:nvPr/>
          </p:nvSpPr>
          <p:spPr>
            <a:xfrm>
              <a:off x="6430005" y="317633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20D81A1-0FF3-6FE8-6BCE-55EC0A5138E6}"/>
                </a:ext>
              </a:extLst>
            </p:cNvPr>
            <p:cNvSpPr txBox="1"/>
            <p:nvPr/>
          </p:nvSpPr>
          <p:spPr>
            <a:xfrm>
              <a:off x="6377559" y="354871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19FB8DB-FC72-9411-E92B-EB23D3CC66C0}"/>
                </a:ext>
              </a:extLst>
            </p:cNvPr>
            <p:cNvSpPr txBox="1"/>
            <p:nvPr/>
          </p:nvSpPr>
          <p:spPr>
            <a:xfrm>
              <a:off x="6404455" y="4732872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BE7C7EE-51FB-E47A-61B1-B64B97CAA158}"/>
                </a:ext>
              </a:extLst>
            </p:cNvPr>
            <p:cNvSpPr txBox="1"/>
            <p:nvPr/>
          </p:nvSpPr>
          <p:spPr>
            <a:xfrm>
              <a:off x="6377559" y="5098960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</p:grp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9CEBAF-54FE-A612-3274-2E1CCB0F05ED}"/>
              </a:ext>
            </a:extLst>
          </p:cNvPr>
          <p:cNvCxnSpPr>
            <a:cxnSpLocks/>
          </p:cNvCxnSpPr>
          <p:nvPr/>
        </p:nvCxnSpPr>
        <p:spPr>
          <a:xfrm>
            <a:off x="8933453" y="2727694"/>
            <a:ext cx="2579042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504AF0C5-18F4-DD39-E8A9-75A74E6D4941}"/>
              </a:ext>
            </a:extLst>
          </p:cNvPr>
          <p:cNvCxnSpPr>
            <a:cxnSpLocks/>
          </p:cNvCxnSpPr>
          <p:nvPr/>
        </p:nvCxnSpPr>
        <p:spPr>
          <a:xfrm flipV="1">
            <a:off x="8785635" y="2885252"/>
            <a:ext cx="0" cy="222161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/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/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1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0DEAD-D601-8B9F-C073-20964A6F4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D8072-659E-4A7F-25D9-4299DAFDA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Quantization (PQ) queries use </a:t>
                </a:r>
                <a:r>
                  <a:rPr lang="en-US" b="1" dirty="0">
                    <a:latin typeface="+mn-lt"/>
                  </a:rPr>
                  <a:t>asymmetric distance (ASD) calculations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 naïve (symmetric) algorithm for PQ ANNS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Invert PQ index to search for nearest neighbor of uncompressed query vector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invertible</a:t>
                </a:r>
                <a:r>
                  <a:rPr lang="en-US" dirty="0">
                    <a:latin typeface="+mn-lt"/>
                  </a:rPr>
                  <a:t> and therefore </a:t>
                </a:r>
                <a:r>
                  <a:rPr lang="en-US" b="1" dirty="0">
                    <a:latin typeface="+mn-lt"/>
                  </a:rPr>
                  <a:t>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ASD provides an efficient look-up method for ANNS</a:t>
                </a:r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by compressing the query vector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subvectors</a:t>
                </a:r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285750" indent="-285750"/>
                <a:r>
                  <a:rPr lang="en-US" dirty="0">
                    <a:latin typeface="+mn-lt"/>
                  </a:rPr>
                  <a:t>For the ASD algorithm computes distances between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query,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not </a:t>
                </a:r>
                <a:r>
                  <a:rPr lang="en-US" b="1" dirty="0" err="1">
                    <a:latin typeface="+mn-lt"/>
                  </a:rPr>
                  <a:t>invertable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and therefore </a:t>
                </a:r>
                <a:r>
                  <a:rPr lang="en-US" b="1" dirty="0">
                    <a:latin typeface="+mn-lt"/>
                  </a:rPr>
                  <a:t>asymmetric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NN search on the lookup table is fast </a:t>
                </a:r>
              </a:p>
              <a:p>
                <a:pPr marL="285750" indent="-285750"/>
                <a:endParaRPr lang="en-US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  <a:blipFill>
                <a:blip r:embed="rId3"/>
                <a:stretch>
                  <a:fillRect l="-1122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7747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06CD-0236-2A11-9221-8F6C9CB1B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491F-5739-AC02-C972-5E56F2530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Performance of the PQ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PQ algorithm has two key hyperparameters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: increasing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computational complexity increases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, increasing the number of quantization levels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 As the number of quantization levels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quantization levels increases the computational complexity increases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  <a:blipFill>
                <a:blip r:embed="rId3"/>
                <a:stretch>
                  <a:fillRect l="-1811" t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8B7046C-E9A4-E742-9205-31341161BB00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B467C-80D3-20B1-1DDD-6EFBB6367E78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B24D1-90C9-42BB-5815-E896814A4D2F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52D803-B59A-85F4-95E7-803A65C2F600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E63A3A-3F72-26D7-476B-6DA571184C32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C982E1-D3B6-ECE9-02CF-BC55B17D31F5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261D4-CE43-0703-5E15-56BBEC2C394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58639E-9FA7-BAC9-A7A4-AFAA76A7225A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01FF80A-06D3-5C6C-556C-3538BC50D558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9DD9A9-BBFC-64FE-1355-7FFE740C29B4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92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16" grpId="0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47C8E-F652-0FC9-87A6-9BE1BA9D8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7F0CF-9E55-11B4-D7B0-DA398029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46E0C-D27B-E430-69AC-D6C9E997D96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4" y="896079"/>
            <a:ext cx="11177308" cy="25329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residuals, RPQ</a:t>
            </a:r>
          </a:p>
          <a:p>
            <a:pPr marL="285750" indent="-285750"/>
            <a:r>
              <a:rPr lang="en-US" dirty="0">
                <a:latin typeface="+mn-lt"/>
              </a:rPr>
              <a:t>We can perform similarity search using differences or residuals with respect to the centroid  </a:t>
            </a:r>
          </a:p>
          <a:p>
            <a:pPr marL="285750" indent="-285750"/>
            <a:r>
              <a:rPr lang="en-US" dirty="0">
                <a:latin typeface="+mn-lt"/>
              </a:rPr>
              <a:t>Idea proposed by </a:t>
            </a:r>
            <a:r>
              <a:rPr lang="en-US" dirty="0" err="1">
                <a:latin typeface="+mn-lt"/>
                <a:hlinkClick r:id="rId3"/>
              </a:rPr>
              <a:t>Schicong</a:t>
            </a:r>
            <a:r>
              <a:rPr lang="en-US" dirty="0">
                <a:latin typeface="+mn-lt"/>
                <a:hlinkClick r:id="rId3"/>
              </a:rPr>
              <a:t>, et.al., 2015</a:t>
            </a:r>
            <a:r>
              <a:rPr lang="en-US" dirty="0">
                <a:latin typeface="+mn-lt"/>
              </a:rPr>
              <a:t>, and others 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5AF8181-47B6-998A-019C-4B0126E2B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072" y="3291884"/>
            <a:ext cx="6102519" cy="304856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FAA3658-1F64-1D23-9B6C-FC88E56D58B0}"/>
              </a:ext>
            </a:extLst>
          </p:cNvPr>
          <p:cNvSpPr txBox="1"/>
          <p:nvPr/>
        </p:nvSpPr>
        <p:spPr>
          <a:xfrm>
            <a:off x="1740784" y="6340450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401392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8F1F0-DCC4-F7A7-6AC6-D7FC7E2A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64BF8-7C21-B747-587A-B3D0DF1D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Quantization algorithms can be formulated in terms residuals, RPQ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We can perform similarity search using differences or residuals with respect to the centroid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Consider the Euclidean distance calculation between a query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another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+mn-lt"/>
                  </a:rPr>
                  <a:t>, with centroid,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latin typeface="+mn-lt"/>
                  </a:rPr>
                  <a:t>, with dimension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Computing distances with residuals gives the same result, so why bother?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  <a:blipFill>
                <a:blip r:embed="rId3"/>
                <a:stretch>
                  <a:fillRect l="-1146" t="-1834" r="-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61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27E0-D77C-90A1-7241-C5F5E916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BA3E-CD64-9542-D25B-A3308B78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D4120-705E-91BA-FBAA-9CF62ADDF3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507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</a:t>
            </a:r>
          </a:p>
          <a:p>
            <a:pPr marL="285750" indent="-285750"/>
            <a:r>
              <a:rPr lang="en-US" dirty="0">
                <a:latin typeface="+mn-lt"/>
              </a:rPr>
              <a:t>What is the advantage of using residuals, since we get the same result either way?     </a:t>
            </a:r>
          </a:p>
          <a:p>
            <a:pPr marL="285750" indent="-285750"/>
            <a:r>
              <a:rPr lang="en-US" dirty="0">
                <a:latin typeface="+mn-lt"/>
              </a:rPr>
              <a:t>The variance of the residuals, and therefore the error of distance estimates is reduced!</a:t>
            </a:r>
          </a:p>
          <a:p>
            <a:pPr marL="285750" indent="-285750"/>
            <a:r>
              <a:rPr lang="en-US" dirty="0">
                <a:latin typeface="+mn-lt"/>
              </a:rPr>
              <a:t>Using residuals, distance estimates are zero-centered, analogous to zero-centering variables for machine learning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27823-B0BD-9795-6B2A-ECC90CF588F1}"/>
              </a:ext>
            </a:extLst>
          </p:cNvPr>
          <p:cNvSpPr txBox="1"/>
          <p:nvPr/>
        </p:nvSpPr>
        <p:spPr>
          <a:xfrm>
            <a:off x="-75000" y="5589733"/>
            <a:ext cx="628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from </a:t>
            </a:r>
            <a:r>
              <a:rPr lang="en-US" dirty="0">
                <a:hlinkClick r:id="rId3"/>
              </a:rPr>
              <a:t>Chris McCormick’s blog post </a:t>
            </a:r>
            <a:r>
              <a:rPr lang="en-US" dirty="0"/>
              <a:t>on the PQ algorithm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48D54C-9A9D-D3D5-B957-1C2692EF0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3" y="1612407"/>
            <a:ext cx="5512998" cy="397732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DE722D-0212-6B8E-0371-20704CF25399}"/>
              </a:ext>
            </a:extLst>
          </p:cNvPr>
          <p:cNvCxnSpPr>
            <a:cxnSpLocks/>
          </p:cNvCxnSpPr>
          <p:nvPr/>
        </p:nvCxnSpPr>
        <p:spPr>
          <a:xfrm flipH="1" flipV="1">
            <a:off x="4728475" y="3584252"/>
            <a:ext cx="1721223" cy="1662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57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FE15-016E-F9B5-3E61-3FA64EBC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F865E-91F8-6D77-7B5D-6EBFF3356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Optimized product quantization (OPQ) </a:t>
                </a:r>
                <a:r>
                  <a:rPr lang="en-US" dirty="0">
                    <a:latin typeface="+mn-lt"/>
                  </a:rPr>
                  <a:t>was proposed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𝐺𝑒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𝑒𝑡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𝑎𝑙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., 2013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algorithm assumes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are uncorrelated or </a:t>
                </a:r>
                <a:r>
                  <a:rPr lang="en-US" b="1" dirty="0">
                    <a:latin typeface="+mn-lt"/>
                  </a:rPr>
                  <a:t>orthogonal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OPQ adds an orthogonalization step before PQ is applied   </a:t>
                </a:r>
              </a:p>
              <a:p>
                <a:r>
                  <a:rPr lang="en-US" dirty="0">
                    <a:latin typeface="+mn-lt"/>
                  </a:rPr>
                  <a:t>Apply the </a:t>
                </a:r>
                <a:r>
                  <a:rPr lang="en-US" b="1" dirty="0">
                    <a:latin typeface="+mn-lt"/>
                    <a:hlinkClick r:id="rId4"/>
                  </a:rPr>
                  <a:t>orthogonal Procrustes problem </a:t>
                </a:r>
                <a:r>
                  <a:rPr lang="en-US" dirty="0">
                    <a:latin typeface="+mn-lt"/>
                  </a:rPr>
                  <a:t>to transform the data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</a:rPr>
                  <a:t> to an orthogonal matrix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en-US" dirty="0">
                  <a:latin typeface="+mn-lt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 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the </a:t>
                </a:r>
                <a:r>
                  <a:rPr lang="en-US" dirty="0" err="1">
                    <a:latin typeface="+mn-lt"/>
                  </a:rPr>
                  <a:t>Forbenious</a:t>
                </a:r>
                <a:r>
                  <a:rPr lang="en-US" dirty="0">
                    <a:latin typeface="+mn-lt"/>
                  </a:rPr>
                  <a:t> (Euclidean matrix) norm</a:t>
                </a:r>
              </a:p>
              <a:p>
                <a:r>
                  <a:rPr lang="en-US" dirty="0">
                    <a:latin typeface="+mn-lt"/>
                  </a:rPr>
                  <a:t>Orthogonalization is applied iteratively at each step of the PQ algorithm </a:t>
                </a:r>
              </a:p>
              <a:p>
                <a:r>
                  <a:rPr lang="en-US" dirty="0">
                    <a:latin typeface="+mn-lt"/>
                  </a:rPr>
                  <a:t>OPQ often improves recall at minimal computational cost</a:t>
                </a:r>
                <a:r>
                  <a:rPr lang="en-US" dirty="0"/>
                  <a:t>   </a:t>
                </a:r>
              </a:p>
              <a:p>
                <a:r>
                  <a:rPr lang="en-US" dirty="0">
                    <a:latin typeface="+mn-lt"/>
                  </a:rPr>
                  <a:t>OPQ can reduce dimensionality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  <a:blipFill>
                <a:blip r:embed="rId5"/>
                <a:stretch>
                  <a:fillRect l="-1168" t="-1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22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r>
              <a:rPr lang="en-US" dirty="0">
                <a:latin typeface="+mn-lt"/>
              </a:rPr>
              <a:t>Composite index can achieve greater performance 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29983</TotalTime>
  <Words>4436</Words>
  <Application>Microsoft Office PowerPoint</Application>
  <PresentationFormat>Widescreen</PresentationFormat>
  <Paragraphs>987</Paragraphs>
  <Slides>69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8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Flat Similarity Search</vt:lpstr>
      <vt:lpstr>Flat similarity search finds exact solution </vt:lpstr>
      <vt:lpstr>Flat similarity search finds exact solution </vt:lpstr>
      <vt:lpstr>Flat similarity search finds exact solution </vt:lpstr>
      <vt:lpstr>Evaluation of ANNS</vt:lpstr>
      <vt:lpstr>Evaluation of ANNS</vt:lpstr>
      <vt:lpstr>Evaluation of ANNS</vt:lpstr>
      <vt:lpstr>Evaluation of ANNS</vt:lpstr>
      <vt:lpstr>Evaluation of ANNS</vt:lpstr>
      <vt:lpstr>Evaluation of ANNS</vt:lpstr>
      <vt:lpstr>Inverted File Systems</vt:lpstr>
      <vt:lpstr>Inverted file systems enable look-up by value</vt:lpstr>
      <vt:lpstr>Inverted file systems enable look-up by value</vt:lpstr>
      <vt:lpstr>Building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Similarity Queries on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Coarse Quantization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Product Quantization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Performance of the PQ algorithm </vt:lpstr>
      <vt:lpstr>Improving Basic Quantization </vt:lpstr>
      <vt:lpstr>Improving Basic Quantization </vt:lpstr>
      <vt:lpstr>Improvements Basic Product Quantization </vt:lpstr>
      <vt:lpstr>Improvements Basic Product Quantization 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912</cp:revision>
  <dcterms:created xsi:type="dcterms:W3CDTF">2021-06-01T18:04:30Z</dcterms:created>
  <dcterms:modified xsi:type="dcterms:W3CDTF">2026-10-18T23:30:14Z</dcterms:modified>
</cp:coreProperties>
</file>