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1"/>
  </p:notesMasterIdLst>
  <p:sldIdLst>
    <p:sldId id="718" r:id="rId2"/>
    <p:sldId id="853" r:id="rId3"/>
    <p:sldId id="753" r:id="rId4"/>
    <p:sldId id="851" r:id="rId5"/>
    <p:sldId id="764" r:id="rId6"/>
    <p:sldId id="835" r:id="rId7"/>
    <p:sldId id="837" r:id="rId8"/>
    <p:sldId id="795" r:id="rId9"/>
    <p:sldId id="765" r:id="rId10"/>
    <p:sldId id="756" r:id="rId11"/>
    <p:sldId id="758" r:id="rId12"/>
    <p:sldId id="767" r:id="rId13"/>
    <p:sldId id="787" r:id="rId14"/>
    <p:sldId id="789" r:id="rId15"/>
    <p:sldId id="768" r:id="rId16"/>
    <p:sldId id="782" r:id="rId17"/>
    <p:sldId id="849" r:id="rId18"/>
    <p:sldId id="781" r:id="rId19"/>
    <p:sldId id="852" r:id="rId20"/>
    <p:sldId id="786" r:id="rId21"/>
    <p:sldId id="780" r:id="rId22"/>
    <p:sldId id="769" r:id="rId23"/>
    <p:sldId id="770" r:id="rId24"/>
    <p:sldId id="778" r:id="rId25"/>
    <p:sldId id="749" r:id="rId26"/>
    <p:sldId id="688" r:id="rId27"/>
    <p:sldId id="754" r:id="rId28"/>
    <p:sldId id="735" r:id="rId29"/>
    <p:sldId id="737" r:id="rId30"/>
    <p:sldId id="736" r:id="rId31"/>
    <p:sldId id="738" r:id="rId32"/>
    <p:sldId id="739" r:id="rId33"/>
    <p:sldId id="763" r:id="rId34"/>
    <p:sldId id="750" r:id="rId35"/>
    <p:sldId id="740" r:id="rId36"/>
    <p:sldId id="741" r:id="rId37"/>
    <p:sldId id="742" r:id="rId38"/>
    <p:sldId id="744" r:id="rId39"/>
    <p:sldId id="745" r:id="rId40"/>
    <p:sldId id="746" r:id="rId41"/>
    <p:sldId id="748" r:id="rId42"/>
    <p:sldId id="766" r:id="rId43"/>
    <p:sldId id="774" r:id="rId44"/>
    <p:sldId id="792" r:id="rId45"/>
    <p:sldId id="793" r:id="rId46"/>
    <p:sldId id="775" r:id="rId47"/>
    <p:sldId id="833" r:id="rId48"/>
    <p:sldId id="834" r:id="rId49"/>
    <p:sldId id="832" r:id="rId50"/>
    <p:sldId id="840" r:id="rId51"/>
    <p:sldId id="841" r:id="rId52"/>
    <p:sldId id="772" r:id="rId53"/>
    <p:sldId id="788" r:id="rId54"/>
    <p:sldId id="836" r:id="rId55"/>
    <p:sldId id="799" r:id="rId56"/>
    <p:sldId id="819" r:id="rId57"/>
    <p:sldId id="821" r:id="rId58"/>
    <p:sldId id="790" r:id="rId59"/>
    <p:sldId id="779" r:id="rId60"/>
    <p:sldId id="794" r:id="rId61"/>
    <p:sldId id="796" r:id="rId62"/>
    <p:sldId id="814" r:id="rId63"/>
    <p:sldId id="822" r:id="rId64"/>
    <p:sldId id="831" r:id="rId65"/>
    <p:sldId id="797" r:id="rId66"/>
    <p:sldId id="839" r:id="rId67"/>
    <p:sldId id="848" r:id="rId68"/>
    <p:sldId id="731" r:id="rId69"/>
    <p:sldId id="850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2" autoAdjust="0"/>
    <p:restoredTop sz="94660"/>
  </p:normalViewPr>
  <p:slideViewPr>
    <p:cSldViewPr snapToGrid="0">
      <p:cViewPr varScale="1">
        <p:scale>
          <a:sx n="77" d="100"/>
          <a:sy n="77" d="100"/>
        </p:scale>
        <p:origin x="518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D534D1-5B48-49E9-A024-C5EAE54CADD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EEBAC-B083-4D6F-9402-80E985106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825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4179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C7DCB-BEFA-95AB-BD28-CB4573A79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96C50-6892-76BD-236A-5FCC14533A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DBB48-60E5-C08D-24E0-02EAC022C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F2286-68E9-FCF8-E181-E20877671A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898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734B-AC59-6B2C-9041-40370BEC3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64006-6B93-D0AC-BD1E-90A71723E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95AA25-60F3-E8E5-2F41-81C262FF7E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29553-5BF6-BCE1-07E1-DA0436FE28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166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2810B-E9D8-0840-C306-362D6607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DB4362-666B-EBFB-1F1D-3CCC9C1077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5FDBD7-7328-B196-3781-9A973E5D9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7E5C1-94C9-FA6F-3177-865DEAC074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0908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77203-0E30-6E95-6F3A-50D18572E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D4BBDF-63C6-3438-DBE2-4FBCE9C4A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C7633-9B6C-395B-D1ED-DE12F330F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CCF3A-7636-D252-C57B-FF2503E154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6230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22D64-405A-9870-AAB8-C6225AE6B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3A7516-BC16-D9AB-D255-784E23BED7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211175-965B-17AA-1F52-3C72CE100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D00CE-8DBA-276C-0B99-342ABD3C3C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424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4B776-13B6-B6B4-C4C0-819442A9D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89E57C-06F5-46CE-1428-B435F6C5D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028338-FBED-843D-2006-E1185D74E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BAB76-0D2A-83D7-8CFA-67128F4911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1681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7B176-0719-23B5-F766-5DB32C1D1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8ECC7-E776-657C-632A-672C978EFD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E16A4C-FA05-7FF6-6A6D-E0C7AD035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36E46-A9EE-F179-1923-78E81C301D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140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CFE69-A745-70B9-4F2A-C97ACD859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6DB8D3-D5D6-842C-B9C9-E2EA999F8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959537-264C-7230-4C1B-7F09F5020B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F52B4-A2A9-7D1F-CDEC-CBC7EDB704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0291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B8560-71DB-C205-0597-9E74D487F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3508CB-7802-0DBB-737F-70F5E177F3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27EB01-FD23-B86F-0762-7219B977D1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AD3EDC-B63D-94C8-9239-274879E294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9443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475FB-2532-7444-6460-35676A6C5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DB6A49-F294-7D61-59A7-47504DBA4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916BCF-9200-FCF8-BC31-C0DC31DA9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DFC5D2-7526-86E9-3AF5-DD5E6539FB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6520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9E963-936D-0686-3ED6-9544AB653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6B9D47-CFE9-8335-3DAE-0DE1F97398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18163-9C5F-0EBA-C03F-6164724F3B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DC91B6-9D71-7DC9-6E17-6120F8741E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8622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7E578-3355-2245-627B-3F792E7BF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AA74B-9B69-677A-E49E-3005D8EE79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ACFAAF-3B3B-417E-381C-F3F180CEA3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53A36-ACC8-604B-BA27-8073288A5D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2491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E3DE6-03DC-4173-340B-26F4C6D9E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B0F9F-560E-9555-9BF7-A4BC57F85C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BA1A27-78D0-3CF3-2C65-B1FD8FDA5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FA4E2-593E-702B-F7D7-CEFB49FDB8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077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7C4FB-FEF6-2A1B-3021-665C8D970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02852D-E494-1DDB-7513-582559668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8D9056-35C9-E817-0A8B-7E9C64406D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9ACD1-7FD9-BA95-3B94-AB326CA33E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1984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6DBB-E52F-E56E-CF2F-6047CC4F1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1051EC-4CA5-8837-9303-4E5B6247E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DE290A-A15C-6D99-1A21-82A4B312F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BB76-8E70-7FD4-95A4-3F704422AD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6311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EE027-18C7-30C4-2B24-820F876F4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404C3B-389F-0859-ADC1-312432C650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4AC131-DF76-7CA5-0476-925349FB5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515CF-E1ED-C5FE-115B-0BB8D3181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0606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1609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5706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7328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1052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876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8791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54743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8235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471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9006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7576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0434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71826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93009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5699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17012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AA010-4279-4924-A752-7FB444228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C6C045-5A11-27A8-6A57-22BCECB17D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EE0BF-6F34-8CB8-4999-6BEEDF057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C6462-06DD-45A5-8819-19A8A3A3B0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90490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30E80-5BA7-FE36-ECF6-4DB0463AD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2DDB68-531F-ACED-C3CC-3271FB80E3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6EAE68-41A5-8121-850E-167856675C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E60E86-A25F-FFEB-17D4-8188F73BFD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3301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8C96E-185A-6DB9-6378-314502EF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F47271-45E0-B96A-860D-B43A48405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7DF76B-E3AF-9ABB-6C4C-EE01EF750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6BD5F-B83A-FF45-4C17-8188AA9DDE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4569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E4643-9719-3317-9F52-668C3375C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E8FFBC-9D83-5878-AE9D-E229B9B9B6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067E90-59DD-37E8-12B2-9DE556250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7E1CE-F4CD-2F9C-3428-11D74CB5D2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9951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86A82-594E-C481-B531-3CB412116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FD980B-D0EC-2DBC-CE26-85665D1E23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324353-0718-65FD-B1C4-282236038C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FDBE3D-E830-9965-F87E-F7E7E0AEF9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64621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859B3-32FD-B5C1-A14C-AF0C6D18B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FFEC36-F4A2-7C0C-C027-0904909A1E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42F8C7-4885-9C21-80F6-7EF08D192A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1B0F1-48C1-960D-27B2-21395C097E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13372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1BEB4-2EAB-6814-04E8-7C55862BB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067870-402C-FC0B-48C8-CDCE6FD00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DBC5C-C9EC-346A-9A10-D0D341ADA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F9E2EB-96C2-F82B-A184-F0A7D3B882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22972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2C9F5-8B02-C85C-5372-77FFBB525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788797-8AA9-2924-16E9-0FDD9679D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1362AF-C86A-5C73-3975-E8D1B753C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06106-4613-D25C-EB20-ECD4017D0F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03562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0534C-E413-A9CB-6CD9-5B5313664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411120-8557-A8AD-ED08-E4E4C0D84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0ADC99-204E-D9CE-5FB4-39601F2CF1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069FF-C894-C3DA-DB58-47C89F3A40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6891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811BC-BCB1-097B-C7ED-4486CFD60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8CC407-9A84-FF1D-862E-A0062605A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E97CAA-F227-7BF9-1FCE-2C03B142C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0C72D1-EEAD-F545-E8D2-F844E65F3E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53296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DCE59-EECD-5572-FE06-AD8603C59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7FE1EA-E461-B2D0-DE92-AFCF66F7AB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0DE49-E7A7-2447-2545-CBDCBEF42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F9D0FF-F0B1-6BA3-E871-840261CF9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94312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D6228-0A45-4BAB-199F-98E858D5E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27896D-BB01-E0AF-3566-2D3AC4E641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70D7AC-48DF-B5F1-8AAF-2D015F3DA3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3E7F7-60AD-9C4F-26E0-670A48C5A3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99661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E1D35-CD5C-3D9A-9D91-B442FE2BA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889C85-9712-43D5-A2B9-2E3263E80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A3E825-6467-3A2F-5397-9EB1C920F5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DE87C-20B6-F281-4B46-0492557BD3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82887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F82A1-CF08-CFDA-3372-00F065156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389A10-247E-30FF-7CBC-5C8363949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B8EF68-AA44-6309-DC2D-83A597D739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B4D84-F673-A0A8-E9A1-039E792EDF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67643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D09B-165E-48F8-4ED5-1AF84080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5CB1D3-F265-2B33-6F75-ADF3C776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9C01ED-B2D5-7E9C-0EB8-19D1148052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B5F882-9919-B7B8-C2DA-B5921C58BE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36828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1A760-4A06-3C16-03BF-D8E49E15F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FB5260-750A-DAFC-1C21-AAA48F3D6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A97D3A-943A-EF71-FE80-2FFBAF041A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CD620-8216-976F-826F-546C2B3FA1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15026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F4A3A-5ED4-EA05-9CF0-98974EA46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92CA71-72CE-E550-8EF6-2A83FDF67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8634E4-B4A4-1596-0933-72A453B2E7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B5721-1E6A-0703-E471-F586FD11B8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47193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F88C4-37E3-6269-18F5-58F58590C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0C7F8C-D595-5633-105A-A677E6BA5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3CA58-BAD9-2095-241C-C486F1F27F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A3B20C-B7D3-7A9F-02A1-3F2BF7198C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2449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42B68-F1A9-28BF-1EF2-974B7F7F8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A32546-CE35-4579-181C-741E3126F3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588522-E382-9F68-BCEF-62E305E1CF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03E8B-F884-A529-9FB8-937B6EA05C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11409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5F8A1-B791-693A-5F3D-9DD7CADD9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1A985-C179-1AC6-400B-6E10D5C33B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ABDD36-7ED4-CB38-8C90-BC052C12CB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C06566-B257-0EDB-33A6-AA964BDCA4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63320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0E624-28CF-AA28-F3A9-27D4C73A8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326103-52E0-96E7-C0CA-D09211017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7083DF-6452-4A10-95D3-993098C8F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E52735-56DF-646F-D053-03A70DC195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46670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A8A3E-D58F-9A2F-F28F-8C73A4D99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E77DD-11CE-8693-C4C6-779B950DE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FC0FBB-2868-CD6F-9AE0-9427D85C72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575EDA-CF89-ED2B-8EF5-78AD2E84A5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5321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2E6A7-7551-9916-E6D7-BFD6EFF28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4D0A6-A20A-C07E-4642-B50DCC26E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44DF7E-A714-0EBA-4885-BEF512D4C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AD4D9-CDD2-2F4A-04A2-8747F877CF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51354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44837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ED2F9-E600-EA8C-91AC-7330E90AE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3D397-C5B8-9F03-01EA-816228F036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C50EED-43AA-CDC6-FA10-8882D6475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414F4-C420-7AAA-A23A-194FF202D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592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3BF2D-41FA-4DC4-ACC3-8DBE09B5CD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13E280-A648-496F-85AA-9A66AAFBBE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F1F5B-8D44-4C83-9847-9551BDB9F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C3EC5-9432-4A66-9E64-E003554DE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260A7-E873-4AE3-A514-E4BB65FC7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388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7F54C-82AC-4275-8221-D46FC2667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B4F01-9014-47D8-8412-C244B62E1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CB737-AC34-448C-98C8-898605FAE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AE056-A155-42C1-99FF-436668779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504B6-2335-4095-8B32-5F546DC69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123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E2810-4E61-4DB3-B18D-C9651617E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02EFD-6306-4EE5-A93E-C3B3D3977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F6911E-21ED-48DB-87D1-BAEBD3DE5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F8AC4B-FA15-4C3B-8886-15F84DD59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126E0-E09D-46FC-99D1-733DF58D6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427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C5468-6E3C-464D-A6F9-9A5E61BD9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E0FFA-BA3D-4026-B5EE-95A00E43FC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C18753-9280-4B68-B1BA-6C5B41A53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AF946-8BD2-4E05-B886-1FBA90C04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8ECCFF-AF08-450A-8E24-1D3901548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357094-F2F0-4A8D-A5C3-D80BC46D6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685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ED42C-20FB-433D-B2FA-15722CF5D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D6BDB4-437B-4186-8704-EDB6B55F03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AE20E-37E7-4857-AB8D-67948CF372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763DCC-87D5-46CD-B027-BA49CC6B1B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33A01-0D20-4787-9FA8-283275AB48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A574D2-843D-4F2D-AF16-E7E1F35B2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64638-A973-4BE2-AA0D-66B04C9B3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06A5EE-6F5E-4133-B608-A36D2C04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241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A0394-55C9-4C4A-93DB-AAA9493A5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02A156-2986-4ABD-88EB-80463BB88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E26ACC-44A1-415B-AB92-2445AC79E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A5FF18-7690-4BEF-A85B-1A8FDA430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700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F4E047-CF1F-417C-929D-18F844567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AA4F07-AD23-4E5E-9D5E-A87F2D58C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53E95-DB56-411B-BBAF-EB0EAFEE3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769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F955A-B592-4DB6-A7B5-B68170C51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51CCC-97B2-4BF2-8369-40860ECB3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1F55B1-BF41-4C84-B04F-06D900AC3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FF8CC-17EE-455F-8D16-116AB1736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BF062-FCFC-4AB6-9E1B-1BFB8D9B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17FCE-EFD7-4175-A763-32BF3DBC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543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9326B-82FA-4368-92A0-C51E5CC7E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304CE4-5C9C-4E2A-9970-F159A60B7E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C66A65-F884-4AEB-B19D-2497ADCFC0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EAC10-F420-471E-84BC-C7B24E229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17FE1D-5DF8-4727-A7F1-8BCA4EDE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22EEE-ACB0-49BB-9812-5ADB795B7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662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079D8-3828-4F5E-A0BB-AE8F18A2D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49175-8BA9-4D53-9A50-7147572795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2669A9-F519-4FA9-87F2-1A347FB6E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8528B-FA2D-4D43-8A7A-88991C0E1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E2180F-7D0D-482B-8460-366B45705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566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92452-B6BA-4A34-9679-D34A2491E7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89B900-A9C9-4E80-B0A6-A832725EC2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58F2A1-3E26-417B-A42B-3427FF81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67A0C-4E40-41D0-87DD-C9D859600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910001-2CEE-4F16-93B6-4F0DBBE7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63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3985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7FB1D0-F1BF-42CA-83CA-B3568E5E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13485-E4D3-4F57-A46D-C56DED0FC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6A6D78-2DED-4113-B1CF-35F3181329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A7174D-3533-4CD4-AD63-7B08E04028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0482C-E75C-4391-BC8F-CC4721087A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2.10997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pub.towardsai.net/advanced-rag-techniques-an-illustrated-overview-04d193d8fec6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azure.microsoft.com/en-us/products/ai-services/ai-search/?ef_id=_k_Cj0KCQjw0qTCBhCmARIsAAj8C4bWYP5bJ_q2egFsGNg1jOm-_5rCYbSmeVkqoC5BaTI--gmRA743Cb8aAqNCEALw_wcB_k_&amp;OCID=AIDcmm5edswduu_SEM__k_Cj0KCQjw0qTCBhCmARIsAAj8C4bWYP5bJ_q2egFsGNg1jOm-_5rCYbSmeVkqoC5BaTI--gmRA743Cb8aAqNCEALw_wcB_k_&amp;gad_source=1&amp;gad_campaignid=21496728177&amp;gbraid=0AAAAADcJh_tZAjLmwL75PLHE3fkQJ61Xs&amp;gclid=Cj0KCQjw0qTCBhCmARIsAAj8C4bWYP5bJ_q2egFsGNg1jOm-_5rCYbSmeVkqoC5BaTI--gmRA743Cb8aAqNCEALw_wcB" TargetMode="External"/><Relationship Id="rId3" Type="http://schemas.openxmlformats.org/officeDocument/2006/relationships/hyperlink" Target="https://www.pinecone.io/" TargetMode="External"/><Relationship Id="rId7" Type="http://schemas.openxmlformats.org/officeDocument/2006/relationships/hyperlink" Target="https://aws.amazon.com/what-is/elasticsearch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weaviate.io/" TargetMode="External"/><Relationship Id="rId5" Type="http://schemas.openxmlformats.org/officeDocument/2006/relationships/hyperlink" Target="https://www.trychroma.com/" TargetMode="External"/><Relationship Id="rId4" Type="http://schemas.openxmlformats.org/officeDocument/2006/relationships/hyperlink" Target="https://milvus.io/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facebookresearch/faiss/wiki/The-index-factory" TargetMode="External"/><Relationship Id="rId3" Type="http://schemas.openxmlformats.org/officeDocument/2006/relationships/hyperlink" Target="https://github.com/spotify/annoy" TargetMode="External"/><Relationship Id="rId7" Type="http://schemas.openxmlformats.org/officeDocument/2006/relationships/hyperlink" Target="https://opensearch.org/platform/vector-engine/?utm_source=google&amp;utm_medium=paid-search&amp;utm_campaign=opensearch-vector&amp;utm_term=opensearch-vector-db-search-os&amp;utm_content=opensearch-vector-db-search-os-rsa&amp;gad_source=1&amp;gad_campaignid=22587674346&amp;gbraid=0AAAAAD2R-lqiwK3OD-kJs-F-97uO-uEQj&amp;gclid=CjwKCAjw4K3DBhBqEiwAYtG_9HyX76OHqKTBSCDfdcZxwqAqdPMpO20YyOv6jfMzo5B1iOeimSJOIxoCzDwQAvD_Bw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vespa.ai/" TargetMode="External"/><Relationship Id="rId5" Type="http://schemas.openxmlformats.org/officeDocument/2006/relationships/hyperlink" Target="https://github.com/vearch/gamma" TargetMode="External"/><Relationship Id="rId4" Type="http://schemas.openxmlformats.org/officeDocument/2006/relationships/hyperlink" Target="https://qdrant.tech/documentation/concepts/search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806.09823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Inverted_index#:~:text=In%20computer%20science%2C%20an%20inverted,index%2C%20which%20maps%20from%20documents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3.png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-d_tree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hyperlink" Target="https://arxiv.org/pdf/1511.00628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i.cmu.edu/pub_files/pub1/moore_andrew_1991_1/moore_andrew_1991_1.pdf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en.wikipedia.org/wiki/K-d_tree" TargetMode="External"/><Relationship Id="rId4" Type="http://schemas.openxmlformats.org/officeDocument/2006/relationships/hyperlink" Target="https://www.manning.com/books/advanced-algorithms-and-data-structures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0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loyd%27s_algorithm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oronoi_diagram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0.png"/><Relationship Id="rId4" Type="http://schemas.openxmlformats.org/officeDocument/2006/relationships/hyperlink" Target="https://fbellelli.com/posts/2021-07-08-the-fascinating-world-of-voronoi-diagrams/" TargetMode="Externa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4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5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6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sites.skoltech.ru/app/data/uploads/sites/25/2014/12/TPAMI14.pdf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ites.skoltech.ru/app/data/uploads/sites/25/2014/12/TPAMI14.pdf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ites.skoltech.ru/app/data/uploads/sites/25/2014/12/TPAMI14.pdf" TargetMode="Externa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stage.jst.go.jp/article/mta/6/1/6_2/_pdf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mccormickml.com/2017/10/13/product-quantizer-tutorial-part-1/" TargetMode="External"/><Relationship Id="rId4" Type="http://schemas.openxmlformats.org/officeDocument/2006/relationships/image" Target="../media/image2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509.05195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mccormickml.com/2017/10/22/product-quantizer-tutorial-part-2/" TargetMode="External"/><Relationship Id="rId4" Type="http://schemas.openxmlformats.org/officeDocument/2006/relationships/image" Target="../media/image27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mccormickml.com/2017/10/22/product-quantizer-tutorial-part-2/" TargetMode="Externa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8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crosoft.com/en-us/research/wp-content/uploads/2013/11/pami13opq.pdf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70.png"/><Relationship Id="rId4" Type="http://schemas.openxmlformats.org/officeDocument/2006/relationships/hyperlink" Target="https://en.wikipedia.org/wiki/Orthogonal_Procrustes_problem" TargetMode="Externa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Faiss-indexes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github.com/facebookresearch/faiss/wiki/MetricType-and-distances" TargetMode="External"/><Relationship Id="rId4" Type="http://schemas.openxmlformats.org/officeDocument/2006/relationships/hyperlink" Target="https://scikit-learn.org/stable/modules/generated/sklearn.metrics.pairwise.distance_metrics.html#sklearn.metrics.pairwise.distance_metrics" TargetMode="Externa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636650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Efficient Similarity 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522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F2317F-F47E-4078-8A9E-272A9AB83B75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2026,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6398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Need an efficient method for high-dimensional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 at massive scale</a:t>
            </a:r>
          </a:p>
          <a:p>
            <a:r>
              <a:rPr lang="en-US" dirty="0">
                <a:latin typeface="+mn-lt"/>
              </a:rPr>
              <a:t>Constructing nearest-neighbor graphs </a:t>
            </a:r>
          </a:p>
          <a:p>
            <a:pPr lvl="1"/>
            <a:r>
              <a:rPr lang="en-US" dirty="0">
                <a:latin typeface="+mn-lt"/>
              </a:rPr>
              <a:t>Cluster models  </a:t>
            </a:r>
          </a:p>
          <a:p>
            <a:pPr lvl="1"/>
            <a:r>
              <a:rPr lang="en-US" dirty="0">
                <a:latin typeface="+mn-lt"/>
              </a:rPr>
              <a:t>Dimensionality reduction </a:t>
            </a:r>
          </a:p>
          <a:p>
            <a:pPr lvl="1"/>
            <a:r>
              <a:rPr lang="en-US" dirty="0">
                <a:latin typeface="+mn-lt"/>
              </a:rPr>
              <a:t>Network analysis</a:t>
            </a:r>
          </a:p>
          <a:p>
            <a:r>
              <a:rPr lang="en-US" dirty="0">
                <a:latin typeface="+mn-lt"/>
              </a:rPr>
              <a:t>Find similar products and for recommendation </a:t>
            </a:r>
          </a:p>
          <a:p>
            <a:r>
              <a:rPr lang="en-US">
                <a:latin typeface="+mn-lt"/>
              </a:rPr>
              <a:t>Information retrieval </a:t>
            </a:r>
            <a:r>
              <a:rPr lang="en-US" dirty="0">
                <a:latin typeface="+mn-lt"/>
              </a:rPr>
              <a:t>and document search   </a:t>
            </a:r>
          </a:p>
          <a:p>
            <a:pPr lvl="1"/>
            <a:r>
              <a:rPr lang="en-US" dirty="0">
                <a:latin typeface="+mn-lt"/>
              </a:rPr>
              <a:t>Web search</a:t>
            </a:r>
          </a:p>
          <a:p>
            <a:pPr lvl="1"/>
            <a:r>
              <a:rPr lang="en-US" dirty="0">
                <a:latin typeface="+mn-lt"/>
              </a:rPr>
              <a:t>Document search </a:t>
            </a:r>
          </a:p>
          <a:p>
            <a:pPr lvl="1"/>
            <a:r>
              <a:rPr lang="en-US" dirty="0">
                <a:latin typeface="+mn-lt"/>
              </a:rPr>
              <a:t>Deduplication </a:t>
            </a:r>
          </a:p>
          <a:p>
            <a:pPr lvl="1"/>
            <a:r>
              <a:rPr lang="en-US" dirty="0">
                <a:latin typeface="+mn-lt"/>
              </a:rPr>
              <a:t>Plagiarism detection </a:t>
            </a:r>
          </a:p>
          <a:p>
            <a:pPr lvl="1"/>
            <a:r>
              <a:rPr lang="en-US" dirty="0">
                <a:latin typeface="+mn-lt"/>
              </a:rPr>
              <a:t>…</a:t>
            </a:r>
          </a:p>
          <a:p>
            <a:r>
              <a:rPr lang="en-US" dirty="0">
                <a:latin typeface="+mn-lt"/>
              </a:rPr>
              <a:t>Search for similar images</a:t>
            </a:r>
          </a:p>
          <a:p>
            <a:r>
              <a:rPr lang="en-US" b="1" dirty="0">
                <a:latin typeface="+mn-lt"/>
              </a:rPr>
              <a:t>Retrieval Augmented Generation (RAG) </a:t>
            </a:r>
            <a:r>
              <a:rPr lang="en-US" dirty="0">
                <a:latin typeface="+mn-lt"/>
              </a:rPr>
              <a:t>models for generative AI</a:t>
            </a:r>
          </a:p>
          <a:p>
            <a:pPr lvl="1"/>
            <a:r>
              <a:rPr lang="en-US" dirty="0">
                <a:latin typeface="+mn-lt"/>
              </a:rPr>
              <a:t>For a review of RAG including the similarity search problem see </a:t>
            </a:r>
            <a:r>
              <a:rPr lang="en-US" dirty="0">
                <a:latin typeface="+mn-lt"/>
                <a:hlinkClick r:id="rId3"/>
              </a:rPr>
              <a:t>Gao, et. al., 2024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42473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7FB2A-64A6-1996-D082-0A7461828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650422A-BFD6-1F83-87B0-FA8DCF825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7" y="1369527"/>
            <a:ext cx="9207048" cy="52664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7E1CE8-024E-F8AB-025A-2A93B1849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B1098-7ECB-25F9-05F0-758C2AE550A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80"/>
            <a:ext cx="11668778" cy="6202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massive similarity search for </a:t>
            </a:r>
            <a:r>
              <a:rPr lang="en-US" b="1" dirty="0">
                <a:latin typeface="+mn-lt"/>
              </a:rPr>
              <a:t>retrieval augmented generation (RAG)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1019CA2-BA1A-E2E1-78A3-C2582ADB5F0B}"/>
              </a:ext>
            </a:extLst>
          </p:cNvPr>
          <p:cNvSpPr/>
          <p:nvPr/>
        </p:nvSpPr>
        <p:spPr>
          <a:xfrm>
            <a:off x="3531503" y="1888392"/>
            <a:ext cx="3135085" cy="3668051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3F4CDADA-0FAC-F1B1-4950-E6DC225A4ACA}"/>
              </a:ext>
            </a:extLst>
          </p:cNvPr>
          <p:cNvSpPr txBox="1">
            <a:spLocks/>
          </p:cNvSpPr>
          <p:nvPr/>
        </p:nvSpPr>
        <p:spPr>
          <a:xfrm>
            <a:off x="8283137" y="2752138"/>
            <a:ext cx="3565003" cy="1324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We are focused on </a:t>
            </a:r>
            <a:r>
              <a:rPr lang="en-US" b="1" dirty="0">
                <a:latin typeface="+mn-lt"/>
              </a:rPr>
              <a:t>massive index and search problem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7EBAA9B-4E4D-D25B-CBA7-6F47DDDC573F}"/>
              </a:ext>
            </a:extLst>
          </p:cNvPr>
          <p:cNvCxnSpPr>
            <a:cxnSpLocks/>
          </p:cNvCxnSpPr>
          <p:nvPr/>
        </p:nvCxnSpPr>
        <p:spPr>
          <a:xfrm flipH="1">
            <a:off x="6625481" y="3429000"/>
            <a:ext cx="1609344" cy="4572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5F3D503-1852-6FCF-407B-522B5813B88D}"/>
              </a:ext>
            </a:extLst>
          </p:cNvPr>
          <p:cNvSpPr txBox="1">
            <a:spLocks/>
          </p:cNvSpPr>
          <p:nvPr/>
        </p:nvSpPr>
        <p:spPr>
          <a:xfrm>
            <a:off x="8394729" y="4664597"/>
            <a:ext cx="3565003" cy="414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+mn-lt"/>
                <a:hlinkClick r:id="rId4"/>
              </a:rPr>
              <a:t>Diagram from blog post by Ivan Ilin</a:t>
            </a:r>
            <a:endParaRPr lang="en-US" sz="1800" dirty="0">
              <a:latin typeface="+mn-lt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498C50B-93D9-94E9-22EF-24643195F3FA}"/>
              </a:ext>
            </a:extLst>
          </p:cNvPr>
          <p:cNvCxnSpPr>
            <a:cxnSpLocks/>
          </p:cNvCxnSpPr>
          <p:nvPr/>
        </p:nvCxnSpPr>
        <p:spPr>
          <a:xfrm flipH="1" flipV="1">
            <a:off x="7703146" y="2583519"/>
            <a:ext cx="579991" cy="30598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AE1E6D14-F439-9555-30FF-0C95C823CED9}"/>
              </a:ext>
            </a:extLst>
          </p:cNvPr>
          <p:cNvSpPr txBox="1">
            <a:spLocks/>
          </p:cNvSpPr>
          <p:nvPr/>
        </p:nvSpPr>
        <p:spPr>
          <a:xfrm>
            <a:off x="8234825" y="1487066"/>
            <a:ext cx="3565003" cy="8746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Ranking typically uses </a:t>
            </a:r>
            <a:r>
              <a:rPr lang="en-US" b="1" dirty="0">
                <a:latin typeface="+mn-lt"/>
              </a:rPr>
              <a:t>cosine similarity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02D35FC-4127-F048-6D07-C303389A7B02}"/>
              </a:ext>
            </a:extLst>
          </p:cNvPr>
          <p:cNvCxnSpPr>
            <a:cxnSpLocks/>
          </p:cNvCxnSpPr>
          <p:nvPr/>
        </p:nvCxnSpPr>
        <p:spPr>
          <a:xfrm flipH="1">
            <a:off x="7654834" y="1888392"/>
            <a:ext cx="579991" cy="363645"/>
          </a:xfrm>
          <a:prstGeom prst="straightConnector1">
            <a:avLst/>
          </a:prstGeom>
          <a:ln w="349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5128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3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DAC63-4AD3-1CDC-AFE6-96CFE3255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3FCD-07BF-BB18-1DDE-43533B375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D758AF-A024-1F9E-00E7-C454BD95FF2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Need an efficient method for high-dimensional </a:t>
                </a:r>
                <a:r>
                  <a:rPr lang="en-US" b="1" dirty="0">
                    <a:latin typeface="+mn-lt"/>
                  </a:rPr>
                  <a:t>similarity joins</a:t>
                </a:r>
                <a:r>
                  <a:rPr lang="en-US" dirty="0">
                    <a:latin typeface="+mn-lt"/>
                  </a:rPr>
                  <a:t> at massive scale</a:t>
                </a:r>
              </a:p>
              <a:p>
                <a:r>
                  <a:rPr lang="en-US" dirty="0">
                    <a:latin typeface="+mn-lt"/>
                  </a:rPr>
                  <a:t>Simple pairwise similarity is computationally </a:t>
                </a:r>
                <a:r>
                  <a:rPr lang="en-US" b="1" dirty="0">
                    <a:latin typeface="+mn-lt"/>
                  </a:rPr>
                  <a:t>infeasible</a:t>
                </a:r>
                <a:r>
                  <a:rPr lang="en-US" dirty="0">
                    <a:latin typeface="+mn-lt"/>
                  </a:rPr>
                  <a:t> for large scale problems!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Complexity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b="1" dirty="0"/>
                  <a:t>!</a:t>
                </a:r>
              </a:p>
              <a:p>
                <a:r>
                  <a:rPr lang="en-US" dirty="0">
                    <a:latin typeface="+mn-lt"/>
                  </a:rPr>
                  <a:t>Simple linear similarity search 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dimensional, observation vectors is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process in both computation and memory </a:t>
                </a:r>
              </a:p>
              <a:p>
                <a:r>
                  <a:rPr lang="en-US" dirty="0">
                    <a:latin typeface="+mn-lt"/>
                  </a:rPr>
                  <a:t>Use an </a:t>
                </a:r>
                <a:r>
                  <a:rPr lang="en-US" b="1" dirty="0">
                    <a:latin typeface="+mn-lt"/>
                  </a:rPr>
                  <a:t>approximate nearest neighbor search (ANNS)! </a:t>
                </a:r>
              </a:p>
              <a:p>
                <a:pPr lvl="1"/>
                <a:r>
                  <a:rPr lang="en-US" dirty="0">
                    <a:latin typeface="+mn-lt"/>
                  </a:rPr>
                  <a:t>Build a graph of the k nearest neighbors</a:t>
                </a:r>
              </a:p>
              <a:p>
                <a:pPr lvl="1"/>
                <a:r>
                  <a:rPr lang="en-US" dirty="0">
                    <a:latin typeface="+mn-lt"/>
                  </a:rPr>
                  <a:t>Nearest neighbors are most important in terms of finding similar cases </a:t>
                </a:r>
              </a:p>
              <a:p>
                <a:pPr lvl="1"/>
                <a:r>
                  <a:rPr lang="en-US" dirty="0">
                    <a:latin typeface="+mn-lt"/>
                  </a:rPr>
                  <a:t>Apply to different distance metrics in high-dimensional spaces       </a:t>
                </a:r>
              </a:p>
              <a:p>
                <a:endParaRPr lang="en-US" sz="33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D758AF-A024-1F9E-00E7-C454BD95FF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5988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ECF4D-6E81-926A-7B32-C1390ACAA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E36F4-C323-EB5B-18DF-F2B396A28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707D7-7889-4DD8-B948-04F54A91D2E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Massive scale similarity search is at the core of many analytics and AI platforms </a:t>
            </a:r>
          </a:p>
          <a:p>
            <a:r>
              <a:rPr lang="en-US" dirty="0">
                <a:latin typeface="+mn-lt"/>
              </a:rPr>
              <a:t>There is wide landscape of technologies available for the similarity search problem</a:t>
            </a:r>
          </a:p>
          <a:p>
            <a:r>
              <a:rPr lang="en-US" dirty="0">
                <a:latin typeface="+mn-lt"/>
              </a:rPr>
              <a:t>Vector databases incorporate massive scale similarity search, </a:t>
            </a:r>
          </a:p>
          <a:p>
            <a:pPr lvl="1"/>
            <a:r>
              <a:rPr lang="en-US" dirty="0">
                <a:latin typeface="+mn-lt"/>
                <a:hlinkClick r:id="rId3"/>
              </a:rPr>
              <a:t>Pinecone</a:t>
            </a:r>
            <a:r>
              <a:rPr lang="en-US" dirty="0">
                <a:latin typeface="+mn-lt"/>
              </a:rPr>
              <a:t> includes FAISS</a:t>
            </a:r>
          </a:p>
          <a:p>
            <a:pPr lvl="1"/>
            <a:r>
              <a:rPr lang="en-US" dirty="0">
                <a:latin typeface="+mn-lt"/>
                <a:hlinkClick r:id="rId4"/>
              </a:rPr>
              <a:t>Milvus</a:t>
            </a:r>
            <a:r>
              <a:rPr lang="en-US" dirty="0">
                <a:latin typeface="+mn-lt"/>
              </a:rPr>
              <a:t> from Zilli</a:t>
            </a:r>
          </a:p>
          <a:p>
            <a:pPr lvl="1"/>
            <a:r>
              <a:rPr lang="en-US" dirty="0">
                <a:latin typeface="+mn-lt"/>
                <a:hlinkClick r:id="rId5"/>
              </a:rPr>
              <a:t>Chroma</a:t>
            </a:r>
            <a:endParaRPr lang="en-US" dirty="0">
              <a:latin typeface="+mn-lt"/>
            </a:endParaRPr>
          </a:p>
          <a:p>
            <a:pPr lvl="1"/>
            <a:r>
              <a:rPr lang="en-US" dirty="0" err="1">
                <a:latin typeface="+mn-lt"/>
                <a:hlinkClick r:id="rId6"/>
              </a:rPr>
              <a:t>Weaviate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many more…</a:t>
            </a:r>
          </a:p>
          <a:p>
            <a:r>
              <a:rPr lang="en-US" dirty="0">
                <a:latin typeface="+mn-lt"/>
              </a:rPr>
              <a:t>Cloud platforms often include massive scale document similarity search,</a:t>
            </a:r>
          </a:p>
          <a:p>
            <a:pPr lvl="1"/>
            <a:r>
              <a:rPr lang="en-US" dirty="0">
                <a:latin typeface="+mn-lt"/>
                <a:hlinkClick r:id="rId7"/>
              </a:rPr>
              <a:t>AWS </a:t>
            </a:r>
            <a:r>
              <a:rPr lang="en-US" dirty="0" err="1">
                <a:latin typeface="+mn-lt"/>
                <a:hlinkClick r:id="rId7"/>
              </a:rPr>
              <a:t>ElasticSearch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  <a:hlinkClick r:id="rId8"/>
              </a:rPr>
              <a:t>Azure AI Search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others….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8804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D8DA7-E7C7-7E10-22A4-37B7DE26B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1775-E2D7-FF22-19A8-E3E47BAB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42E26-F656-9FB4-B8AF-B8B04723AEA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Massive scale similarity search is at the core of many analytics and AI platforms </a:t>
            </a:r>
          </a:p>
          <a:p>
            <a:r>
              <a:rPr lang="en-US" dirty="0">
                <a:latin typeface="+mn-lt"/>
              </a:rPr>
              <a:t>There are several vector similarity search platforms for recommender systems, document search and web search, </a:t>
            </a:r>
          </a:p>
          <a:p>
            <a:pPr lvl="1"/>
            <a:r>
              <a:rPr lang="en-US" dirty="0">
                <a:latin typeface="+mn-lt"/>
                <a:hlinkClick r:id="rId3"/>
              </a:rPr>
              <a:t>Approximate Nearest Neighbor Search Oh Yeah (Annoy)</a:t>
            </a:r>
            <a:r>
              <a:rPr lang="en-US" dirty="0">
                <a:latin typeface="+mn-lt"/>
              </a:rPr>
              <a:t> from Spotify </a:t>
            </a:r>
          </a:p>
          <a:p>
            <a:pPr lvl="1"/>
            <a:r>
              <a:rPr lang="en-US" dirty="0" err="1">
                <a:latin typeface="+mn-lt"/>
                <a:hlinkClick r:id="rId4"/>
              </a:rPr>
              <a:t>Qdrant</a:t>
            </a:r>
            <a:endParaRPr lang="en-US" dirty="0">
              <a:latin typeface="+mn-lt"/>
            </a:endParaRPr>
          </a:p>
          <a:p>
            <a:pPr lvl="1"/>
            <a:r>
              <a:rPr lang="en-US" dirty="0" err="1">
                <a:latin typeface="+mn-lt"/>
                <a:hlinkClick r:id="rId5"/>
              </a:rPr>
              <a:t>Vearch</a:t>
            </a:r>
            <a:r>
              <a:rPr lang="en-US" dirty="0">
                <a:latin typeface="+mn-lt"/>
                <a:hlinkClick r:id="rId5"/>
              </a:rPr>
              <a:t>-Gamma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  <a:hlinkClick r:id="rId6"/>
              </a:rPr>
              <a:t>Vespa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  <a:hlinkClick r:id="rId7"/>
              </a:rPr>
              <a:t>OpenSearch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others…</a:t>
            </a:r>
          </a:p>
          <a:p>
            <a:r>
              <a:rPr lang="en-US" dirty="0">
                <a:latin typeface="+mn-lt"/>
              </a:rPr>
              <a:t>We will focus on </a:t>
            </a:r>
            <a:r>
              <a:rPr lang="en-US" b="1" dirty="0">
                <a:latin typeface="+mn-lt"/>
                <a:hlinkClick r:id="rId8"/>
              </a:rPr>
              <a:t>Facebook AI Similarity Search (FAISS)</a:t>
            </a:r>
            <a:endParaRPr lang="en-US" b="1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FAISS is widely used as a basis for many similarity search platforms</a:t>
            </a:r>
          </a:p>
          <a:p>
            <a:r>
              <a:rPr lang="en-US" dirty="0">
                <a:latin typeface="+mn-lt"/>
              </a:rPr>
              <a:t>We will explore specific solutions using these algorithms in subsequent lessons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13176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02E59-A553-2DC8-32BD-807DE9566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E9E3-02EE-276B-33A8-25A72E781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4E82E5-A4BA-EE20-7F83-4CB56BB6BE0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We need an efficient way to (approximately) perform similarity joins at massive scale   </a:t>
            </a:r>
          </a:p>
          <a:p>
            <a:r>
              <a:rPr lang="en-US" dirty="0">
                <a:latin typeface="+mn-lt"/>
              </a:rPr>
              <a:t>Need an efficient method for large-scale and high-dimensional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! </a:t>
            </a:r>
          </a:p>
          <a:p>
            <a:r>
              <a:rPr lang="en-US" dirty="0">
                <a:latin typeface="+mn-lt"/>
              </a:rPr>
              <a:t>Broadly, there are four classes of ANNS algorithms    </a:t>
            </a:r>
          </a:p>
          <a:p>
            <a:pPr lvl="1"/>
            <a:r>
              <a:rPr lang="en-US" sz="2800" b="1" dirty="0">
                <a:latin typeface="+mn-lt"/>
              </a:rPr>
              <a:t>Tree</a:t>
            </a:r>
            <a:r>
              <a:rPr lang="en-US" sz="2800" dirty="0">
                <a:latin typeface="+mn-lt"/>
              </a:rPr>
              <a:t> search</a:t>
            </a:r>
          </a:p>
          <a:p>
            <a:pPr lvl="1"/>
            <a:r>
              <a:rPr lang="en-US" sz="2800" b="1" dirty="0">
                <a:latin typeface="+mn-lt"/>
              </a:rPr>
              <a:t>Hash</a:t>
            </a:r>
            <a:r>
              <a:rPr lang="en-US" sz="2800" dirty="0">
                <a:latin typeface="+mn-lt"/>
              </a:rPr>
              <a:t>-based search</a:t>
            </a:r>
            <a:endParaRPr lang="en-US" sz="2800" b="1" dirty="0">
              <a:latin typeface="+mn-lt"/>
            </a:endParaRPr>
          </a:p>
          <a:p>
            <a:pPr lvl="1"/>
            <a:r>
              <a:rPr lang="en-US" sz="2800" b="1" dirty="0">
                <a:latin typeface="+mn-lt"/>
              </a:rPr>
              <a:t>Quantization</a:t>
            </a:r>
            <a:r>
              <a:rPr lang="en-US" sz="2800" dirty="0">
                <a:latin typeface="+mn-lt"/>
              </a:rPr>
              <a:t>-based search</a:t>
            </a:r>
          </a:p>
          <a:p>
            <a:pPr lvl="1"/>
            <a:r>
              <a:rPr lang="en-US" sz="2800" b="1" dirty="0">
                <a:latin typeface="+mn-lt"/>
              </a:rPr>
              <a:t>Graph</a:t>
            </a:r>
            <a:r>
              <a:rPr lang="en-US" sz="2800" dirty="0">
                <a:latin typeface="+mn-lt"/>
              </a:rPr>
              <a:t> search</a:t>
            </a:r>
          </a:p>
          <a:p>
            <a:r>
              <a:rPr lang="en-US" dirty="0">
                <a:latin typeface="+mn-lt"/>
              </a:rPr>
              <a:t>Apply appropriate </a:t>
            </a:r>
            <a:r>
              <a:rPr lang="en-US" b="1" dirty="0">
                <a:latin typeface="+mn-lt"/>
              </a:rPr>
              <a:t>distance metrics </a:t>
            </a:r>
            <a:r>
              <a:rPr lang="en-US" dirty="0">
                <a:latin typeface="+mn-lt"/>
              </a:rPr>
              <a:t>in high-dimensional spaces     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1981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2BCB-E35F-71F4-ACCB-5980CA61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69039-7502-1DF6-8301-AA0C98980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593CB-C8CB-2922-EED4-EE11BED775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206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Pipeline for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 at massive scale</a:t>
            </a:r>
          </a:p>
          <a:p>
            <a:r>
              <a:rPr lang="en-US" sz="2400" dirty="0">
                <a:latin typeface="+mn-lt"/>
              </a:rPr>
              <a:t>Our goal is to rapidly find approximate nearest neighbors with </a:t>
            </a:r>
            <a:r>
              <a:rPr lang="en-US" sz="2400" b="1" dirty="0">
                <a:latin typeface="+mn-lt"/>
              </a:rPr>
              <a:t>high recall </a:t>
            </a:r>
          </a:p>
          <a:p>
            <a:r>
              <a:rPr lang="en-US" sz="2400" dirty="0">
                <a:latin typeface="+mn-lt"/>
              </a:rPr>
              <a:t>No one method can achieve this goal </a:t>
            </a:r>
          </a:p>
          <a:p>
            <a:r>
              <a:rPr lang="en-US" sz="2400" dirty="0">
                <a:latin typeface="+mn-lt"/>
              </a:rPr>
              <a:t>In practice use a pipeline concatenating several methods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25C636-61DA-807E-BA01-B210757D5C93}"/>
              </a:ext>
            </a:extLst>
          </p:cNvPr>
          <p:cNvSpPr/>
          <p:nvPr/>
        </p:nvSpPr>
        <p:spPr>
          <a:xfrm>
            <a:off x="239764" y="3946372"/>
            <a:ext cx="2643414" cy="268963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Dimensionality Reduction (Embedding)</a:t>
            </a:r>
          </a:p>
          <a:p>
            <a:r>
              <a:rPr lang="en-US" b="1" dirty="0">
                <a:solidFill>
                  <a:schemeClr val="tx1"/>
                </a:solidFill>
              </a:rPr>
              <a:t>Create D dimensional numeric embedding vectors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Neural Embedding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Etc.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AD268-0773-52CB-6348-0A468FE42675}"/>
              </a:ext>
            </a:extLst>
          </p:cNvPr>
          <p:cNvSpPr/>
          <p:nvPr/>
        </p:nvSpPr>
        <p:spPr>
          <a:xfrm>
            <a:off x="3370244" y="3946644"/>
            <a:ext cx="3094509" cy="2689634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Coarse Quantization</a:t>
            </a:r>
          </a:p>
          <a:p>
            <a:r>
              <a:rPr lang="en-US" b="1" dirty="0">
                <a:solidFill>
                  <a:schemeClr val="tx1"/>
                </a:solidFill>
              </a:rPr>
              <a:t>Reduce scope for ANN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file - IVF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IVF Product quantization (IVF-PQ)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Multi-Index (IMI)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rgbClr val="1C1917"/>
                </a:solidFill>
                <a:effectLst/>
                <a:latin typeface="__gtPlanar_9a6492"/>
              </a:rPr>
              <a:t>IVF Hierarchical Navigable Small Worlds (HNSW)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57B868-2907-489F-A7AA-7E43FB3CC1A3}"/>
              </a:ext>
            </a:extLst>
          </p:cNvPr>
          <p:cNvSpPr/>
          <p:nvPr/>
        </p:nvSpPr>
        <p:spPr>
          <a:xfrm>
            <a:off x="6951819" y="3975983"/>
            <a:ext cx="2486610" cy="2689635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Fine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Quantizaton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Further reduce search scope and improve recall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Exhaustive search – 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Residual PQ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Locally Sensitive Hashing (LSH) , …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ABDB3C-F527-7DBC-BD3D-C6B4B99A27F3}"/>
              </a:ext>
            </a:extLst>
          </p:cNvPr>
          <p:cNvSpPr/>
          <p:nvPr/>
        </p:nvSpPr>
        <p:spPr>
          <a:xfrm>
            <a:off x="9859061" y="3946370"/>
            <a:ext cx="2260379" cy="2689637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Search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Refinemnet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Increase recall for 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Re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sidual PQ</a:t>
            </a: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 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algorithm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Neural reranking </a:t>
            </a:r>
            <a:endParaRPr lang="en-US" i="0" dirty="0">
              <a:solidFill>
                <a:srgbClr val="1C1917"/>
              </a:solidFill>
              <a:effectLst/>
              <a:latin typeface="__gtPlanar_9a6492"/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558B08C-D0B3-CF5E-3160-DA35D5363FBE}"/>
              </a:ext>
            </a:extLst>
          </p:cNvPr>
          <p:cNvSpPr/>
          <p:nvPr/>
        </p:nvSpPr>
        <p:spPr>
          <a:xfrm>
            <a:off x="6532466" y="5144876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84C926F-6491-E28D-1427-C3F12A5B2060}"/>
              </a:ext>
            </a:extLst>
          </p:cNvPr>
          <p:cNvSpPr/>
          <p:nvPr/>
        </p:nvSpPr>
        <p:spPr>
          <a:xfrm>
            <a:off x="2920166" y="5130861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9F50681-ADDF-1475-FEA8-6BB31A5C0EC6}"/>
              </a:ext>
            </a:extLst>
          </p:cNvPr>
          <p:cNvSpPr/>
          <p:nvPr/>
        </p:nvSpPr>
        <p:spPr>
          <a:xfrm>
            <a:off x="9437150" y="5071145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657A6B-0325-6EF4-0EC8-99214EB0655C}"/>
              </a:ext>
            </a:extLst>
          </p:cNvPr>
          <p:cNvSpPr/>
          <p:nvPr/>
        </p:nvSpPr>
        <p:spPr>
          <a:xfrm>
            <a:off x="4381499" y="3051258"/>
            <a:ext cx="4258847" cy="506463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Distance (Similarity) Metric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8907C35-5E52-5241-0F60-431DF9DD65B0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4917499" y="3597729"/>
            <a:ext cx="0" cy="3489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4F4BB66-795D-D06A-34FA-D4554624CC30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8195123" y="3557721"/>
            <a:ext cx="1" cy="4182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A2171E6-67D9-E231-505C-A89B66B705E4}"/>
              </a:ext>
            </a:extLst>
          </p:cNvPr>
          <p:cNvCxnSpPr>
            <a:cxnSpLocks/>
          </p:cNvCxnSpPr>
          <p:nvPr/>
        </p:nvCxnSpPr>
        <p:spPr>
          <a:xfrm>
            <a:off x="1472171" y="3303814"/>
            <a:ext cx="0" cy="6425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E3C582-AC30-BCBE-84CD-2B35DC110CAA}"/>
              </a:ext>
            </a:extLst>
          </p:cNvPr>
          <p:cNvCxnSpPr>
            <a:cxnSpLocks/>
          </p:cNvCxnSpPr>
          <p:nvPr/>
        </p:nvCxnSpPr>
        <p:spPr>
          <a:xfrm>
            <a:off x="11008057" y="3303814"/>
            <a:ext cx="0" cy="6028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1D3CE3-1216-32C5-279E-4605BBFD31FA}"/>
              </a:ext>
            </a:extLst>
          </p:cNvPr>
          <p:cNvCxnSpPr>
            <a:stCxn id="7" idx="3"/>
          </p:cNvCxnSpPr>
          <p:nvPr/>
        </p:nvCxnSpPr>
        <p:spPr>
          <a:xfrm flipV="1">
            <a:off x="8640346" y="3303814"/>
            <a:ext cx="2386883" cy="6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3FBC1F-87D0-30E3-E2E5-27CA1D47988E}"/>
              </a:ext>
            </a:extLst>
          </p:cNvPr>
          <p:cNvCxnSpPr>
            <a:cxnSpLocks/>
          </p:cNvCxnSpPr>
          <p:nvPr/>
        </p:nvCxnSpPr>
        <p:spPr>
          <a:xfrm flipV="1">
            <a:off x="1472171" y="3303814"/>
            <a:ext cx="2890157" cy="6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8310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  <p:bldP spid="10" grpId="0" animBg="1"/>
      <p:bldP spid="11" grpId="0" animBg="1"/>
      <p:bldP spid="13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E17D7-21DC-66AE-C2EF-027E3913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18980-3914-1E64-27D6-1F2D5C1F8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602C7-4FC9-9193-085A-D535901ABF2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Dimensionality reduction </a:t>
            </a:r>
            <a:r>
              <a:rPr lang="en-US" dirty="0">
                <a:latin typeface="+mn-lt"/>
              </a:rPr>
              <a:t>often applied to similarity </a:t>
            </a:r>
            <a:r>
              <a:rPr lang="en-US" dirty="0" err="1">
                <a:latin typeface="+mn-lt"/>
              </a:rPr>
              <a:t>serarch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It is easier to search in a lower-dimensional space</a:t>
            </a:r>
          </a:p>
          <a:p>
            <a:r>
              <a:rPr lang="en-US" dirty="0">
                <a:latin typeface="+mn-lt"/>
              </a:rPr>
              <a:t>Many possible transformations to lower-dimensional embedding space</a:t>
            </a:r>
          </a:p>
          <a:p>
            <a:pPr lvl="1"/>
            <a:r>
              <a:rPr lang="en-US" dirty="0">
                <a:latin typeface="+mn-lt"/>
              </a:rPr>
              <a:t>Some algorithms start with a nearest neighbor similarity search!  </a:t>
            </a:r>
          </a:p>
          <a:p>
            <a:pPr lvl="1"/>
            <a:r>
              <a:rPr lang="en-US" dirty="0">
                <a:latin typeface="+mn-lt"/>
              </a:rPr>
              <a:t>Can use a neural network to find an embedding space, but computationally expensive</a:t>
            </a:r>
          </a:p>
          <a:p>
            <a:r>
              <a:rPr lang="en-US" dirty="0">
                <a:latin typeface="+mn-lt"/>
              </a:rPr>
              <a:t>Ideally want an </a:t>
            </a:r>
            <a:r>
              <a:rPr lang="en-US" b="1" dirty="0">
                <a:latin typeface="+mn-lt"/>
              </a:rPr>
              <a:t>orthogonal embedding space</a:t>
            </a:r>
          </a:p>
          <a:p>
            <a:r>
              <a:rPr lang="en-US" dirty="0">
                <a:latin typeface="+mn-lt"/>
              </a:rPr>
              <a:t>More on embedding in a future lesson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46611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68E5C-26FC-0635-F972-C05CE8066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Flat Similarity Search</a:t>
            </a:r>
          </a:p>
        </p:txBody>
      </p:sp>
    </p:spTree>
    <p:extLst>
      <p:ext uri="{BB962C8B-B14F-4D97-AF65-F5344CB8AC3E}">
        <p14:creationId xmlns:p14="http://schemas.microsoft.com/office/powerpoint/2010/main" val="275563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8C6B3-08C0-7742-AB1F-8E4D168C1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150A9-E2F1-00D7-C164-1FD356563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Flat similarity search finds exact solution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352624-8568-61DF-C50F-2278B397F55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871459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Flat similarity search </a:t>
                </a:r>
                <a:r>
                  <a:rPr lang="en-US" dirty="0">
                    <a:latin typeface="+mn-lt"/>
                  </a:rPr>
                  <a:t>finds an </a:t>
                </a:r>
                <a:r>
                  <a:rPr lang="en-US" b="1" dirty="0">
                    <a:latin typeface="+mn-lt"/>
                  </a:rPr>
                  <a:t>exact solution </a:t>
                </a:r>
                <a:r>
                  <a:rPr lang="en-US" dirty="0">
                    <a:latin typeface="+mn-lt"/>
                  </a:rPr>
                  <a:t>to the nearest neighbor problem </a:t>
                </a:r>
              </a:p>
              <a:p>
                <a:r>
                  <a:rPr lang="en-US" dirty="0">
                    <a:latin typeface="+mn-lt"/>
                  </a:rPr>
                  <a:t>Flat similarity search computes exact similarity to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length </a:t>
                </a:r>
                <a:r>
                  <a:rPr lang="en-US" b="1" dirty="0">
                    <a:latin typeface="+mn-lt"/>
                  </a:rPr>
                  <a:t>query vector,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pPr>
                  <a:spcAft>
                    <a:spcPts val="1800"/>
                  </a:spcAft>
                </a:pPr>
                <a:r>
                  <a:rPr lang="en-US" dirty="0">
                    <a:latin typeface="+mn-lt"/>
                  </a:rPr>
                  <a:t>Goal is to 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vectors, , that are closest 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dirty="0">
                    <a:latin typeface="+mn-lt"/>
                  </a:rPr>
                  <a:t> from the 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dirty="0">
                    <a:latin typeface="+mn-lt"/>
                  </a:rPr>
                  <a:t>-length vector-valued observations,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Where,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</a:rPr>
                  <a:t> is a </a:t>
                </a:r>
                <a:r>
                  <a:rPr lang="en-US" b="1" dirty="0">
                    <a:latin typeface="+mn-lt"/>
                  </a:rPr>
                  <a:t>distance metric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Note that alternatively we can </a:t>
                </a:r>
                <a:r>
                  <a:rPr lang="en-US" b="1" dirty="0">
                    <a:latin typeface="+mn-lt"/>
                  </a:rPr>
                  <a:t>use max of a similarity metric </a:t>
                </a:r>
                <a:r>
                  <a:rPr lang="en-US" dirty="0">
                    <a:latin typeface="+mn-lt"/>
                  </a:rPr>
                  <a:t>for the search</a:t>
                </a:r>
              </a:p>
              <a:p>
                <a:r>
                  <a:rPr lang="en-US" dirty="0">
                    <a:latin typeface="+mn-lt"/>
                  </a:rPr>
                  <a:t>We can perform a flat similarity search for any distance metric we choose</a:t>
                </a:r>
              </a:p>
              <a:p>
                <a:pPr lvl="1"/>
                <a:r>
                  <a:rPr lang="en-US" dirty="0">
                    <a:latin typeface="+mn-lt"/>
                  </a:rPr>
                  <a:t>Euclidean</a:t>
                </a:r>
              </a:p>
              <a:p>
                <a:pPr lvl="1"/>
                <a:r>
                  <a:rPr lang="en-US" dirty="0">
                    <a:latin typeface="+mn-lt"/>
                  </a:rPr>
                  <a:t>L1 or Manhattan</a:t>
                </a:r>
              </a:p>
              <a:p>
                <a:pPr lvl="1"/>
                <a:r>
                  <a:rPr lang="en-US" dirty="0">
                    <a:latin typeface="+mn-lt"/>
                  </a:rPr>
                  <a:t>Cosine</a:t>
                </a:r>
              </a:p>
              <a:p>
                <a:pPr lvl="1"/>
                <a:r>
                  <a:rPr lang="en-US" dirty="0">
                    <a:latin typeface="+mn-lt"/>
                  </a:rPr>
                  <a:t>Hamming, for binary strings</a:t>
                </a:r>
              </a:p>
              <a:p>
                <a:pPr lvl="1"/>
                <a:r>
                  <a:rPr lang="en-US" dirty="0">
                    <a:latin typeface="+mn-lt"/>
                  </a:rPr>
                  <a:t>Jaccard, for categorical variables</a:t>
                </a:r>
              </a:p>
              <a:p>
                <a:pPr lvl="1"/>
                <a:r>
                  <a:rPr lang="en-US" dirty="0">
                    <a:latin typeface="+mn-lt"/>
                  </a:rPr>
                  <a:t>Etc.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352624-8568-61DF-C50F-2278B397F5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871459"/>
              </a:xfrm>
              <a:blipFill>
                <a:blip r:embed="rId3"/>
                <a:stretch>
                  <a:fillRect l="-952" t="-2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366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2861F-67E5-BC09-2478-9BD242375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FC993-6B7E-56F0-8B75-71E8DFFEF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Flat similarity search finds exact solution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F27E0-74CC-A7F3-AE99-253AB4ACB571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Flat similarity search </a:t>
                </a:r>
                <a:r>
                  <a:rPr lang="en-US" dirty="0">
                    <a:latin typeface="+mn-lt"/>
                  </a:rPr>
                  <a:t>finds an </a:t>
                </a:r>
                <a:r>
                  <a:rPr lang="en-US" b="1" dirty="0">
                    <a:latin typeface="+mn-lt"/>
                  </a:rPr>
                  <a:t>exact solution </a:t>
                </a:r>
                <a:r>
                  <a:rPr lang="en-US" dirty="0">
                    <a:latin typeface="+mn-lt"/>
                  </a:rPr>
                  <a:t>to the nearest neighbor problem </a:t>
                </a:r>
              </a:p>
              <a:p>
                <a:r>
                  <a:rPr lang="en-US" dirty="0">
                    <a:latin typeface="+mn-lt"/>
                  </a:rPr>
                  <a:t>Flat similarity search computes exact similarity to 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length </a:t>
                </a:r>
                <a:r>
                  <a:rPr lang="en-US" b="1" dirty="0">
                    <a:latin typeface="+mn-lt"/>
                  </a:rPr>
                  <a:t>query vector,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Flat similarity search requires linear scan of distance between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-length vector-valued observations and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𝑐𝑜𝑚𝑝𝑙𝑒𝑥𝑖𝑡𝑦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𝑑𝑛</m:t>
                          </m: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Flat similarity search finds exact nearest neighbors at a cost</a:t>
                </a:r>
              </a:p>
              <a:p>
                <a:pPr lvl="1"/>
                <a:r>
                  <a:rPr lang="en-US" dirty="0">
                    <a:latin typeface="+mn-lt"/>
                  </a:rPr>
                  <a:t>High computational complexity</a:t>
                </a:r>
              </a:p>
              <a:p>
                <a:pPr lvl="1"/>
                <a:r>
                  <a:rPr lang="en-US" dirty="0">
                    <a:latin typeface="+mn-lt"/>
                  </a:rPr>
                  <a:t>High memory requirement, with no compression 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𝑑𝑛</m:t>
                    </m:r>
                  </m:oMath>
                </a14:m>
                <a:r>
                  <a:rPr lang="en-US" dirty="0">
                    <a:latin typeface="+mn-lt"/>
                  </a:rPr>
                  <a:t> bytes for floating point vectors           </a:t>
                </a: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F27E0-74CC-A7F3-AE99-253AB4ACB5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16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8394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9B707-9D15-391C-2F27-4BA74C271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BC35C-F2A7-F0AE-815E-446C36A73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Flat similarity search finds exact solution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CAEA6-A2B8-ECF4-7D09-E007621CABA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But, is any similarity search truly exact?  </a:t>
            </a:r>
          </a:p>
          <a:p>
            <a:r>
              <a:rPr lang="en-US" b="1" dirty="0">
                <a:solidFill>
                  <a:srgbClr val="FF0000"/>
                </a:solidFill>
                <a:latin typeface="+mn-lt"/>
              </a:rPr>
              <a:t>Unlikely!   </a:t>
            </a:r>
          </a:p>
          <a:p>
            <a:pPr lvl="1"/>
            <a:r>
              <a:rPr lang="en-US" dirty="0">
                <a:latin typeface="+mn-lt"/>
              </a:rPr>
              <a:t>Distance is dependent on the distance metric used</a:t>
            </a:r>
          </a:p>
          <a:p>
            <a:pPr lvl="1"/>
            <a:r>
              <a:rPr lang="en-US" dirty="0">
                <a:latin typeface="+mn-lt"/>
              </a:rPr>
              <a:t>Dimensionality reduction (embedding) provides only an approximate representation of original vector   </a:t>
            </a:r>
          </a:p>
          <a:p>
            <a:pPr lvl="1"/>
            <a:r>
              <a:rPr lang="en-US" dirty="0">
                <a:latin typeface="+mn-lt"/>
              </a:rPr>
              <a:t>Vector valued observations are subject to noise   </a:t>
            </a:r>
          </a:p>
          <a:p>
            <a:r>
              <a:rPr lang="en-US" dirty="0">
                <a:latin typeface="+mn-lt"/>
              </a:rPr>
              <a:t>In reality we only need an NN similarity search good enough for our task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4483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EEB62-0204-F0B9-249D-FADDE5CB7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273ED-5BF7-A8D8-1651-CB5186D7D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Evaluation of ANNS</a:t>
            </a:r>
          </a:p>
        </p:txBody>
      </p:sp>
    </p:spTree>
    <p:extLst>
      <p:ext uri="{BB962C8B-B14F-4D97-AF65-F5344CB8AC3E}">
        <p14:creationId xmlns:p14="http://schemas.microsoft.com/office/powerpoint/2010/main" val="28259976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objectively evaluate ANNS algorithms </a:t>
            </a:r>
          </a:p>
          <a:p>
            <a:r>
              <a:rPr lang="en-US" dirty="0">
                <a:latin typeface="+mn-lt"/>
              </a:rPr>
              <a:t>There are three dimensions of performance </a:t>
            </a:r>
          </a:p>
          <a:p>
            <a:r>
              <a:rPr lang="en-US" b="1" dirty="0">
                <a:latin typeface="+mn-lt"/>
              </a:rPr>
              <a:t>Recall</a:t>
            </a:r>
            <a:r>
              <a:rPr lang="en-US" dirty="0">
                <a:latin typeface="+mn-lt"/>
              </a:rPr>
              <a:t> measures the fraction of true NNs found by the algorithm </a:t>
            </a:r>
          </a:p>
          <a:p>
            <a:r>
              <a:rPr lang="en-US" b="1" dirty="0">
                <a:latin typeface="+mn-lt"/>
              </a:rPr>
              <a:t>Memory use </a:t>
            </a:r>
            <a:r>
              <a:rPr lang="en-US" dirty="0">
                <a:latin typeface="+mn-lt"/>
              </a:rPr>
              <a:t>can be the biggest constraint for massive data sets</a:t>
            </a:r>
          </a:p>
          <a:p>
            <a:r>
              <a:rPr lang="en-US" b="1" dirty="0">
                <a:latin typeface="+mn-lt"/>
              </a:rPr>
              <a:t>Speed</a:t>
            </a:r>
            <a:r>
              <a:rPr lang="en-US" dirty="0">
                <a:latin typeface="+mn-lt"/>
              </a:rPr>
              <a:t> can be important for many applications 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9725A6CF-0B0D-044D-B5B6-DE9B7965339A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</p:spTree>
    <p:extLst>
      <p:ext uri="{BB962C8B-B14F-4D97-AF65-F5344CB8AC3E}">
        <p14:creationId xmlns:p14="http://schemas.microsoft.com/office/powerpoint/2010/main" val="304773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B1801-A420-7D34-9781-7990F919E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AF489-E4B3-1986-392A-25542915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2D5FC-205E-5A89-5706-68BC4E39B76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objectively evaluate ANNS algorithms </a:t>
            </a:r>
          </a:p>
          <a:p>
            <a:r>
              <a:rPr lang="en-US" dirty="0">
                <a:latin typeface="+mn-lt"/>
              </a:rPr>
              <a:t>Is an invariable trade off between these three dimensions  </a:t>
            </a:r>
          </a:p>
          <a:p>
            <a:pPr lvl="1"/>
            <a:r>
              <a:rPr lang="en-US" dirty="0">
                <a:latin typeface="+mn-lt"/>
              </a:rPr>
              <a:t>Example, we can have high recall if we have sufficient memory and computational capacity  </a:t>
            </a:r>
          </a:p>
          <a:p>
            <a:pPr lvl="1"/>
            <a:r>
              <a:rPr lang="en-US" dirty="0">
                <a:latin typeface="+mn-lt"/>
              </a:rPr>
              <a:t>Generally, we must pick two of three dimensions and accept the value of the third       </a:t>
            </a:r>
          </a:p>
          <a:p>
            <a:pPr marL="457200" lvl="1" indent="0">
              <a:buNone/>
            </a:pPr>
            <a:br>
              <a:rPr lang="en-US" dirty="0">
                <a:latin typeface="+mn-lt"/>
              </a:rPr>
            </a:br>
            <a:endParaRPr lang="en-US" dirty="0">
              <a:latin typeface="+mn-lt"/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chemeClr val="accent1"/>
                </a:solidFill>
                <a:latin typeface="+mn-lt"/>
              </a:rPr>
              <a:t>For a theoretical analysis of this tradeoff, including bounds on performance, can be found in </a:t>
            </a:r>
            <a:r>
              <a:rPr lang="en-US" sz="2000" dirty="0">
                <a:solidFill>
                  <a:srgbClr val="0563C1"/>
                </a:solidFill>
                <a:latin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Andoni, et.al, 201</a:t>
            </a:r>
            <a:r>
              <a:rPr lang="en-US" sz="2000" dirty="0">
                <a:solidFill>
                  <a:schemeClr val="accent1"/>
                </a:solidFill>
                <a:latin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</a:t>
            </a:r>
            <a:r>
              <a:rPr lang="en-US" sz="2000" dirty="0">
                <a:solidFill>
                  <a:schemeClr val="accent1"/>
                </a:solidFill>
                <a:latin typeface="+mn-lt"/>
              </a:rPr>
              <a:t>  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B8AC2FB9-5C6F-936C-4FDF-52FF949ED9E7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8D34BB-961B-02DD-373F-53C0C6F84EBB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85F2D0-8FC7-1E9B-46E6-0FF54C9259AB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7C82CA-795E-187C-38F7-68DAA448D4F3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706889-8829-F622-CEE2-36074D6DDD62}"/>
              </a:ext>
            </a:extLst>
          </p:cNvPr>
          <p:cNvSpPr txBox="1"/>
          <p:nvPr/>
        </p:nvSpPr>
        <p:spPr>
          <a:xfrm>
            <a:off x="9611665" y="4004882"/>
            <a:ext cx="7021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/>
              <a:t>?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EA31EDF-5689-7E1F-3B36-4018A17E8439}"/>
              </a:ext>
            </a:extLst>
          </p:cNvPr>
          <p:cNvCxnSpPr>
            <a:cxnSpLocks/>
          </p:cNvCxnSpPr>
          <p:nvPr/>
        </p:nvCxnSpPr>
        <p:spPr>
          <a:xfrm flipH="1">
            <a:off x="8577943" y="4631871"/>
            <a:ext cx="1213757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8EA798-5BA4-8B26-F5B7-4FE89C0BF3A4}"/>
              </a:ext>
            </a:extLst>
          </p:cNvPr>
          <p:cNvCxnSpPr>
            <a:cxnSpLocks/>
          </p:cNvCxnSpPr>
          <p:nvPr/>
        </p:nvCxnSpPr>
        <p:spPr>
          <a:xfrm>
            <a:off x="10123714" y="4631871"/>
            <a:ext cx="1284515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1AB05AC-7C1E-B96E-4B94-DE90DEECE3E0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9962729" y="2987069"/>
            <a:ext cx="0" cy="101781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0216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1948C-7DBF-C081-3265-E985D07BD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EB385-DFA3-AAE5-8083-405D5BD4D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9729F-8538-46AB-6453-153A5816362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ANNS algorithms </a:t>
                </a:r>
              </a:p>
              <a:p>
                <a:r>
                  <a:rPr lang="en-US" b="1" dirty="0">
                    <a:latin typeface="+mn-lt"/>
                  </a:rPr>
                  <a:t>Recall</a:t>
                </a:r>
                <a:r>
                  <a:rPr lang="en-US" dirty="0">
                    <a:latin typeface="+mn-lt"/>
                  </a:rPr>
                  <a:t> is defined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𝑅𝑒𝑐𝑎𝑙𝑙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𝐹𝑎𝑙𝑠𝑒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Ground truth obtained from flat (exact) similarity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Ground truth (exact search) contains all True Positives – or so we assume </a:t>
                </a:r>
              </a:p>
              <a:p>
                <a:pPr lvl="1"/>
                <a:r>
                  <a:rPr lang="en-US" dirty="0">
                    <a:latin typeface="+mn-lt"/>
                  </a:rPr>
                  <a:t>Negatives retrieved by ANNS are considered False Positives 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9729F-8538-46AB-6453-153A581636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  <a:blipFill>
                <a:blip r:embed="rId3"/>
                <a:stretch>
                  <a:fillRect l="-1111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6145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5F8B9-8ED5-B142-C5C3-15EB0DE66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D59B4-AB14-18C9-3A57-CC7218F7E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9E321E-2126-63CE-3691-6CAF927FA243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ANNS algorithms </a:t>
                </a:r>
              </a:p>
              <a:p>
                <a:r>
                  <a:rPr lang="en-US" b="1" dirty="0">
                    <a:latin typeface="+mn-lt"/>
                  </a:rPr>
                  <a:t>Precision</a:t>
                </a:r>
                <a:r>
                  <a:rPr lang="en-US" dirty="0">
                    <a:latin typeface="+mn-lt"/>
                  </a:rPr>
                  <a:t> is defined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𝑃𝑟𝑒𝑐𝑖𝑠𝑖𝑜𝑛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𝐹𝑎𝑙𝑠𝑒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𝑁𝑒𝑔𝑎𝑡𝑖𝑣𝑒𝑠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Ground truth obtained from flat (exact) similarity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Ground truth (exact search) contains all True Positives </a:t>
                </a:r>
              </a:p>
              <a:p>
                <a:pPr lvl="1"/>
                <a:r>
                  <a:rPr lang="en-US" dirty="0">
                    <a:latin typeface="+mn-lt"/>
                  </a:rPr>
                  <a:t>True Positives missed by ANNS are considered False Negatives 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9E321E-2126-63CE-3691-6CAF927FA2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  <a:blipFill>
                <a:blip r:embed="rId3"/>
                <a:stretch>
                  <a:fillRect l="-1111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6909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8C823-2684-B73C-0FFB-2E8357E19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059D0-2CC7-CABB-3F4C-1827332B8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640D3A-2D79-B4B7-8CA3-8042F7DE9864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7932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ANNS algorithms </a:t>
                </a:r>
              </a:p>
              <a:p>
                <a:r>
                  <a:rPr lang="en-US" dirty="0">
                    <a:latin typeface="+mn-lt"/>
                  </a:rPr>
                  <a:t>For ANNS one usually computes recall for different numbers of nearest neighbors,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Know as recall@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Example: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more repeatable evaluation we often compute the </a:t>
                </a:r>
                <a:r>
                  <a:rPr lang="en-US" b="1" dirty="0">
                    <a:latin typeface="+mn-lt"/>
                  </a:rPr>
                  <a:t>average mean recall for some sample of query vectors </a:t>
                </a:r>
                <a:endParaRPr lang="en-US" sz="2400" b="1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640D3A-2D79-B4B7-8CA3-8042F7DE98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793223"/>
              </a:xfrm>
              <a:blipFill>
                <a:blip r:embed="rId3"/>
                <a:stretch>
                  <a:fillRect l="-1111" t="-1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595BB26-ADA2-8A05-D8D3-9D592FF634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9583" y="1931487"/>
            <a:ext cx="1041536" cy="208307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81E29A-2EF9-8EE8-DD98-940B9CA721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785" y="4492388"/>
            <a:ext cx="1509999" cy="2083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295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C7911-9740-8FD8-4DFC-AD418B3D1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C4EEF-51A1-DA8A-B0D5-276B04152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Inverted File Systems</a:t>
            </a:r>
          </a:p>
        </p:txBody>
      </p:sp>
    </p:spTree>
    <p:extLst>
      <p:ext uri="{BB962C8B-B14F-4D97-AF65-F5344CB8AC3E}">
        <p14:creationId xmlns:p14="http://schemas.microsoft.com/office/powerpoint/2010/main" val="21343105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0292-F430-0B6A-28F2-B1EFA9B2C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5234D-2F29-0026-CCA8-34240FC36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Inverted file systems enable look-up by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BBBB20-5D87-7167-ACC6-D7292658FF5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464754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Simple file systems or databases map file references to content</a:t>
                </a:r>
              </a:p>
              <a:p>
                <a:r>
                  <a:rPr lang="en-US" dirty="0">
                    <a:latin typeface="+mn-lt"/>
                  </a:rPr>
                  <a:t>Example, a database of files (or web pages) describing simple wood working projects. </a:t>
                </a:r>
              </a:p>
              <a:p>
                <a:r>
                  <a:rPr lang="en-US" dirty="0">
                    <a:latin typeface="+mn-lt"/>
                  </a:rPr>
                  <a:t>With forward indexing all files must scanned to find the files containing projects using </a:t>
                </a:r>
                <a:r>
                  <a:rPr lang="en-US" b="1" dirty="0">
                    <a:latin typeface="+mn-lt"/>
                  </a:rPr>
                  <a:t>oak</a:t>
                </a:r>
              </a:p>
              <a:p>
                <a:r>
                  <a:rPr lang="en-US" dirty="0">
                    <a:latin typeface="+mn-lt"/>
                  </a:rPr>
                  <a:t>A linear search is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operation  </a:t>
                </a: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BBBB20-5D87-7167-ACC6-D7292658FF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464754" cy="5698998"/>
              </a:xfrm>
              <a:blipFill>
                <a:blip r:embed="rId3"/>
                <a:stretch>
                  <a:fillRect l="-198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502027-A6A7-01D7-964F-31A054A0B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161249"/>
              </p:ext>
            </p:extLst>
          </p:nvPr>
        </p:nvGraphicFramePr>
        <p:xfrm>
          <a:off x="7541491" y="827621"/>
          <a:ext cx="1425117" cy="593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5117">
                  <a:extLst>
                    <a:ext uri="{9D8B030D-6E8A-4147-A177-3AD203B41FA5}">
                      <a16:colId xmlns:a16="http://schemas.microsoft.com/office/drawing/2014/main" val="4175659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File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259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7982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1908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752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810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3199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781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1124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1791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4364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471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02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006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6948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92337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00751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F9B56B3-4AB6-19DA-923A-EE925F4755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977618"/>
              </p:ext>
            </p:extLst>
          </p:nvPr>
        </p:nvGraphicFramePr>
        <p:xfrm>
          <a:off x="9993466" y="832701"/>
          <a:ext cx="1486511" cy="592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6511">
                  <a:extLst>
                    <a:ext uri="{9D8B030D-6E8A-4147-A177-3AD203B41FA5}">
                      <a16:colId xmlns:a16="http://schemas.microsoft.com/office/drawing/2014/main" val="4175659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Wood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259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7982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1908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752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810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3199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781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1124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1791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4364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471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02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006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6948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9233717"/>
                  </a:ext>
                </a:extLst>
              </a:tr>
              <a:tr h="27952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007516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6B57D91-4A69-3E19-2637-AA222CE26F42}"/>
              </a:ext>
            </a:extLst>
          </p:cNvPr>
          <p:cNvCxnSpPr/>
          <p:nvPr/>
        </p:nvCxnSpPr>
        <p:spPr>
          <a:xfrm>
            <a:off x="8982635" y="1364265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F0EDB56-661F-9496-895E-B95D38EA05BB}"/>
              </a:ext>
            </a:extLst>
          </p:cNvPr>
          <p:cNvCxnSpPr/>
          <p:nvPr/>
        </p:nvCxnSpPr>
        <p:spPr>
          <a:xfrm>
            <a:off x="8982634" y="1767037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19F4C70-91B8-8CAB-0DDD-5596A3587D7E}"/>
              </a:ext>
            </a:extLst>
          </p:cNvPr>
          <p:cNvCxnSpPr/>
          <p:nvPr/>
        </p:nvCxnSpPr>
        <p:spPr>
          <a:xfrm>
            <a:off x="8982631" y="2142594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2A91B32-04A4-8F8D-2B51-792125849A3B}"/>
              </a:ext>
            </a:extLst>
          </p:cNvPr>
          <p:cNvCxnSpPr/>
          <p:nvPr/>
        </p:nvCxnSpPr>
        <p:spPr>
          <a:xfrm>
            <a:off x="8966608" y="2512710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C8B04F4-0E62-3E83-6162-D2BC012CBE2D}"/>
              </a:ext>
            </a:extLst>
          </p:cNvPr>
          <p:cNvCxnSpPr/>
          <p:nvPr/>
        </p:nvCxnSpPr>
        <p:spPr>
          <a:xfrm>
            <a:off x="8966607" y="2871939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FA9E700-08F0-EB65-43DD-5CE50D4EC173}"/>
              </a:ext>
            </a:extLst>
          </p:cNvPr>
          <p:cNvCxnSpPr/>
          <p:nvPr/>
        </p:nvCxnSpPr>
        <p:spPr>
          <a:xfrm>
            <a:off x="8966599" y="3263825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E19863A-422B-03B5-2014-ADD0460E015E}"/>
              </a:ext>
            </a:extLst>
          </p:cNvPr>
          <p:cNvCxnSpPr/>
          <p:nvPr/>
        </p:nvCxnSpPr>
        <p:spPr>
          <a:xfrm>
            <a:off x="8966599" y="3639382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E61842-0C0D-A583-D24B-7A16D4730CD9}"/>
              </a:ext>
            </a:extLst>
          </p:cNvPr>
          <p:cNvCxnSpPr/>
          <p:nvPr/>
        </p:nvCxnSpPr>
        <p:spPr>
          <a:xfrm>
            <a:off x="8966606" y="4020382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601863E-D932-E547-F19B-0AF2FE170EB3}"/>
              </a:ext>
            </a:extLst>
          </p:cNvPr>
          <p:cNvCxnSpPr/>
          <p:nvPr/>
        </p:nvCxnSpPr>
        <p:spPr>
          <a:xfrm>
            <a:off x="8966605" y="4352397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DD42E9F-1812-8923-477E-AFDD49E49D27}"/>
              </a:ext>
            </a:extLst>
          </p:cNvPr>
          <p:cNvCxnSpPr/>
          <p:nvPr/>
        </p:nvCxnSpPr>
        <p:spPr>
          <a:xfrm>
            <a:off x="8966604" y="4684412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A7A2D8-2BA2-592D-0308-A0E90D3DEE90}"/>
              </a:ext>
            </a:extLst>
          </p:cNvPr>
          <p:cNvCxnSpPr/>
          <p:nvPr/>
        </p:nvCxnSpPr>
        <p:spPr>
          <a:xfrm>
            <a:off x="8966603" y="5070855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9DB6E6A-8CC3-0F44-E09A-211DD3DB0C4A}"/>
              </a:ext>
            </a:extLst>
          </p:cNvPr>
          <p:cNvCxnSpPr/>
          <p:nvPr/>
        </p:nvCxnSpPr>
        <p:spPr>
          <a:xfrm>
            <a:off x="8966602" y="5457298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9472065-5966-D93F-4F0E-FD79E825749F}"/>
              </a:ext>
            </a:extLst>
          </p:cNvPr>
          <p:cNvCxnSpPr/>
          <p:nvPr/>
        </p:nvCxnSpPr>
        <p:spPr>
          <a:xfrm>
            <a:off x="8966601" y="5843741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D174D56-98BC-89DC-8DF8-292D75390053}"/>
              </a:ext>
            </a:extLst>
          </p:cNvPr>
          <p:cNvCxnSpPr/>
          <p:nvPr/>
        </p:nvCxnSpPr>
        <p:spPr>
          <a:xfrm>
            <a:off x="8966600" y="6230184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EA11A7-5A92-A76E-026B-73F5605793E9}"/>
              </a:ext>
            </a:extLst>
          </p:cNvPr>
          <p:cNvCxnSpPr/>
          <p:nvPr/>
        </p:nvCxnSpPr>
        <p:spPr>
          <a:xfrm>
            <a:off x="8966599" y="6616627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2635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AB907-400D-8116-79FC-E3AF6599E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3EAD2-7095-C4C7-9DEB-65F1B9A1C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Inverted file systems enable look-up by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4CE376-8EEE-5630-9178-A18BF563C31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434163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  <a:hlinkClick r:id="rId3"/>
                  </a:rPr>
                  <a:t>Inverted file index </a:t>
                </a:r>
                <a:r>
                  <a:rPr lang="en-US" dirty="0">
                    <a:latin typeface="+mn-lt"/>
                  </a:rPr>
                  <a:t>maps content to location </a:t>
                </a:r>
                <a:endParaRPr lang="en-US" i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Example, a database of files (or web pages) describing simple wood working projects. </a:t>
                </a:r>
              </a:p>
              <a:p>
                <a:r>
                  <a:rPr lang="en-US" dirty="0">
                    <a:latin typeface="+mn-lt"/>
                  </a:rPr>
                  <a:t>Inverted index maps wood types to files with projects containing that wood type</a:t>
                </a:r>
              </a:p>
              <a:p>
                <a:r>
                  <a:rPr lang="en-US" dirty="0">
                    <a:latin typeface="+mn-lt"/>
                  </a:rPr>
                  <a:t>Example: we only need to look in the hash bucket for oak </a:t>
                </a:r>
              </a:p>
              <a:p>
                <a:r>
                  <a:rPr lang="en-US" dirty="0">
                    <a:latin typeface="+mn-lt"/>
                  </a:rPr>
                  <a:t>Notice the </a:t>
                </a:r>
                <a:r>
                  <a:rPr lang="en-US" b="1" dirty="0">
                    <a:latin typeface="+mn-lt"/>
                  </a:rPr>
                  <a:t>memory compression</a:t>
                </a:r>
              </a:p>
              <a:p>
                <a:r>
                  <a:rPr lang="en-US" dirty="0">
                    <a:latin typeface="+mn-lt"/>
                  </a:rPr>
                  <a:t>Search has </a:t>
                </a:r>
                <a:r>
                  <a:rPr lang="en-US" b="1" dirty="0">
                    <a:latin typeface="+mn-lt"/>
                  </a:rPr>
                  <a:t>sublinear complexity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≪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𝐷𝑁</m:t>
                          </m: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4CE376-8EEE-5630-9178-A18BF563C3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434163" cy="5698998"/>
              </a:xfrm>
              <a:blipFill>
                <a:blip r:embed="rId4"/>
                <a:stretch>
                  <a:fillRect l="-199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0FB14D-03DD-CB07-C4FF-F9A668E506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167185"/>
              </p:ext>
            </p:extLst>
          </p:nvPr>
        </p:nvGraphicFramePr>
        <p:xfrm>
          <a:off x="6925129" y="2363408"/>
          <a:ext cx="157117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171">
                  <a:extLst>
                    <a:ext uri="{9D8B030D-6E8A-4147-A177-3AD203B41FA5}">
                      <a16:colId xmlns:a16="http://schemas.microsoft.com/office/drawing/2014/main" val="23090955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Wood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10839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604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8806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34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06097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D6DD76D-E28C-239C-6D22-D7BD65D0E26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0258290"/>
                  </p:ext>
                </p:extLst>
              </p:nvPr>
            </p:nvGraphicFramePr>
            <p:xfrm>
              <a:off x="9236529" y="2363408"/>
              <a:ext cx="2895600" cy="184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95600">
                      <a:extLst>
                        <a:ext uri="{9D8B030D-6E8A-4147-A177-3AD203B41FA5}">
                          <a16:colId xmlns:a16="http://schemas.microsoft.com/office/drawing/2014/main" val="23090955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File IDs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10839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101,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103, 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108, 114, 115 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52604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2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,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 112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8806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5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, 107, 110 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334064"/>
                      </a:ext>
                    </a:extLst>
                  </a:tr>
                  <a:tr h="289803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104</m:t>
                                    </m:r>
                                    <m:r>
                                      <a:rPr lang="en-US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 106, 109, 111, 113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4406097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D6DD76D-E28C-239C-6D22-D7BD65D0E26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0258290"/>
                  </p:ext>
                </p:extLst>
              </p:nvPr>
            </p:nvGraphicFramePr>
            <p:xfrm>
              <a:off x="9236529" y="2363408"/>
              <a:ext cx="2895600" cy="184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95600">
                      <a:extLst>
                        <a:ext uri="{9D8B030D-6E8A-4147-A177-3AD203B41FA5}">
                          <a16:colId xmlns:a16="http://schemas.microsoft.com/office/drawing/2014/main" val="23090955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File IDs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10839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108197" r="-840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352604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204839" r="-840" b="-1983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08806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309836" r="-840" b="-10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3406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416667" r="-840" b="-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406097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AA26CDA-83BE-56D1-5B90-8CC8A7D86E97}"/>
              </a:ext>
            </a:extLst>
          </p:cNvPr>
          <p:cNvCxnSpPr>
            <a:cxnSpLocks/>
          </p:cNvCxnSpPr>
          <p:nvPr/>
        </p:nvCxnSpPr>
        <p:spPr>
          <a:xfrm>
            <a:off x="8496300" y="2906486"/>
            <a:ext cx="74022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2C40270-F74B-BA5E-D99D-36CDA6FEBAB6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8496300" y="3287968"/>
            <a:ext cx="740229" cy="25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BCAF5C8-9377-3288-D102-5276A11BD4C6}"/>
              </a:ext>
            </a:extLst>
          </p:cNvPr>
          <p:cNvCxnSpPr>
            <a:cxnSpLocks/>
          </p:cNvCxnSpPr>
          <p:nvPr/>
        </p:nvCxnSpPr>
        <p:spPr>
          <a:xfrm flipV="1">
            <a:off x="8496300" y="3669450"/>
            <a:ext cx="740229" cy="25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BB751B3-F498-DCF2-9BE9-CDAA64B42EFC}"/>
              </a:ext>
            </a:extLst>
          </p:cNvPr>
          <p:cNvCxnSpPr>
            <a:cxnSpLocks/>
          </p:cNvCxnSpPr>
          <p:nvPr/>
        </p:nvCxnSpPr>
        <p:spPr>
          <a:xfrm flipV="1">
            <a:off x="8496300" y="4050932"/>
            <a:ext cx="740229" cy="25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835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35853-3F71-2F6B-5E06-87812B26D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A469B-973B-CC90-9785-C2ABFBC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Building KD-Trees</a:t>
            </a:r>
          </a:p>
        </p:txBody>
      </p:sp>
    </p:spTree>
    <p:extLst>
      <p:ext uri="{BB962C8B-B14F-4D97-AF65-F5344CB8AC3E}">
        <p14:creationId xmlns:p14="http://schemas.microsoft.com/office/powerpoint/2010/main" val="39285957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  <a:hlinkClick r:id="rId3"/>
                  </a:rPr>
                  <a:t>KD-trees</a:t>
                </a:r>
                <a:r>
                  <a:rPr lang="en-US" dirty="0">
                    <a:latin typeface="+mn-lt"/>
                  </a:rPr>
                  <a:t> perform </a:t>
                </a:r>
                <a:r>
                  <a:rPr lang="en-US" b="1" dirty="0">
                    <a:latin typeface="+mn-lt"/>
                  </a:rPr>
                  <a:t>exact NN searches </a:t>
                </a:r>
                <a:r>
                  <a:rPr lang="en-US" dirty="0">
                    <a:latin typeface="+mn-lt"/>
                  </a:rPr>
                  <a:t>by partitioning lower dimensional spaces </a:t>
                </a:r>
              </a:p>
              <a:p>
                <a:r>
                  <a:rPr lang="en-US" dirty="0">
                    <a:latin typeface="+mn-lt"/>
                  </a:rPr>
                  <a:t>KD-tree is constructed by binary partitions of low-dimensional data  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dimensional data of size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, KD-tree algorithm has computational complexity: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Construction</a:t>
                </a:r>
                <a:r>
                  <a:rPr lang="en-US" dirty="0">
                    <a:latin typeface="+mn-lt"/>
                  </a:rPr>
                  <a:t>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b="1" dirty="0">
                    <a:latin typeface="+mn-lt"/>
                  </a:rPr>
                  <a:t>Query </a:t>
                </a:r>
                <a:r>
                  <a:rPr lang="en-US" dirty="0">
                    <a:latin typeface="+mn-lt"/>
                  </a:rPr>
                  <a:t>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Insert</a:t>
                </a:r>
                <a:r>
                  <a:rPr lang="en-US" dirty="0">
                    <a:latin typeface="+mn-lt"/>
                  </a:rPr>
                  <a:t>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Delete</a:t>
                </a:r>
                <a:r>
                  <a:rPr lang="en-US" dirty="0">
                    <a:latin typeface="+mn-lt"/>
                  </a:rPr>
                  <a:t>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KD-tree algorithm suitable for lower dimensional small to medium sized datasets</a:t>
                </a:r>
              </a:p>
              <a:p>
                <a:pPr lvl="1"/>
                <a:r>
                  <a:rPr lang="en-US" dirty="0">
                    <a:latin typeface="+mn-lt"/>
                  </a:rPr>
                  <a:t>KD-tree is generally considered an efficient algorithm if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≫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&lt;20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Related </a:t>
                </a:r>
                <a:r>
                  <a:rPr lang="en-US" b="1" dirty="0">
                    <a:latin typeface="+mn-lt"/>
                    <a:hlinkClick r:id="rId4"/>
                  </a:rPr>
                  <a:t>ball-tree algorithms </a:t>
                </a:r>
                <a:r>
                  <a:rPr lang="en-US" dirty="0">
                    <a:latin typeface="+mn-lt"/>
                  </a:rPr>
                  <a:t>are generally considered better for higher dimensions</a:t>
                </a: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1111" b="-2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4638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 KD-tree is constructed by binary partitions through these steps 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Start with the set of observations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Determine distance metric for nearest neighbor search    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Default is Euclidean distance, but can use other metrics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Number of observations per leaf is defined – a hyperparameter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Splits are along the axes of the data space    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Axes are sampled round-robin or randomly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On each axis split point is determined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Split is at observation closest to median, mean or other measure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Split hyperplane perpendicular to the axis selected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Observations in region split are partitioned left and right of hyperplane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Repeat steps 4-7 until leaf has less than required number of observations 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The termination condition       </a:t>
            </a:r>
            <a:r>
              <a:rPr lang="en-US" dirty="0">
                <a:latin typeface="+mn-lt"/>
              </a:rPr>
              <a:t>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09469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sources discussing details of KD-tree algorithms, their limitations and the pitfalls, with a few suggestions  </a:t>
            </a:r>
          </a:p>
          <a:p>
            <a:r>
              <a:rPr lang="en-US" dirty="0">
                <a:latin typeface="+mn-lt"/>
                <a:hlinkClick r:id="rId3"/>
              </a:rPr>
              <a:t>Chapter from Andrew Moore’s PhD dissertation, 1991   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  <a:hlinkClick r:id="rId4"/>
              </a:rPr>
              <a:t>Chapters 8, 9, 10, 11 of Advanced Algorithms and Data Structures, Marcello La Rocca, Manning, 2021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  <a:hlinkClick r:id="rId5"/>
              </a:rPr>
              <a:t>Wikipedia article  </a:t>
            </a:r>
            <a:endParaRPr lang="en-US" dirty="0">
              <a:latin typeface="+mn-lt"/>
            </a:endParaRP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609156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26552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</a:t>
                </a:r>
                <a:r>
                  <a:rPr lang="en-US" b="1" dirty="0">
                    <a:latin typeface="+mn-lt"/>
                  </a:rPr>
                  <a:t>binary partitioning </a:t>
                </a:r>
                <a:endParaRPr lang="en-US" sz="2400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Example: data points in a 2-dimensional space,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Set number of nodes in leaves,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Root of the tree is NULL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2655294"/>
              </a:xfrm>
              <a:blipFill>
                <a:blip r:embed="rId3"/>
                <a:stretch>
                  <a:fillRect l="-1111" t="-3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378277" y="38987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40849" y="414557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84F5AC8-FDC3-1F36-8D4E-04D4092A9B00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96484E-218F-847E-A252-F46E5B34D2F8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2748887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4" grpId="0"/>
      <p:bldP spid="15" grpId="0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5" grpId="0" animBg="1"/>
      <p:bldP spid="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binary partitioning </a:t>
                </a:r>
                <a:endParaRPr lang="en-US" sz="2400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Partition</a:t>
                </a:r>
                <a:r>
                  <a:rPr lang="en-US" dirty="0">
                    <a:latin typeface="+mn-lt"/>
                  </a:rPr>
                  <a:t> the data by the value closest to the </a:t>
                </a:r>
                <a:r>
                  <a:rPr lang="en-US" b="1" dirty="0">
                    <a:latin typeface="+mn-lt"/>
                  </a:rPr>
                  <a:t>median</a:t>
                </a:r>
                <a:r>
                  <a:rPr lang="en-US" dirty="0">
                    <a:latin typeface="+mn-lt"/>
                  </a:rPr>
                  <a:t> of along the first axis,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The first partition becomes the root of the tree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  <a:blipFill>
                <a:blip r:embed="rId3"/>
                <a:stretch>
                  <a:fillRect l="-952" t="-8197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378277" y="38987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40849" y="414557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2766609" y="258189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F068BDB-0051-C2B5-23CF-8435E84E8E3D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A12B18-06D0-60D9-4841-B68E67A4FC03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486398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binary partitioning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There are nearly </a:t>
                </a:r>
                <a:r>
                  <a:rPr lang="en-US" b="1" dirty="0">
                    <a:latin typeface="+mn-lt"/>
                  </a:rPr>
                  <a:t>balanced</a:t>
                </a:r>
                <a:r>
                  <a:rPr lang="en-US" dirty="0">
                    <a:latin typeface="+mn-lt"/>
                  </a:rPr>
                  <a:t> numbers of observations on each side of the partition</a:t>
                </a:r>
              </a:p>
              <a:p>
                <a:r>
                  <a:rPr lang="en-US" dirty="0">
                    <a:latin typeface="+mn-lt"/>
                  </a:rPr>
                  <a:t>Next, along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partition the left and right partitions by the values nearest the medians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  <a:blipFill>
                <a:blip r:embed="rId3"/>
                <a:stretch>
                  <a:fillRect l="-847" t="-7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2766609" y="258189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3713984" y="3150197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862206"/>
            <a:ext cx="607748" cy="3396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263953" y="2862206"/>
            <a:ext cx="535362" cy="3360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20780351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binary partitioning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Continue to partition, round robin back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  </a:t>
                </a:r>
              </a:p>
              <a:p>
                <a:r>
                  <a:rPr lang="en-US" dirty="0">
                    <a:latin typeface="+mn-lt"/>
                  </a:rPr>
                  <a:t>Single node is a leaf of the tree  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  <a:blipFill>
                <a:blip r:embed="rId3"/>
                <a:stretch>
                  <a:fillRect l="-1111" t="-9426" b="-11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2766609" y="258189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3713984" y="3150197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862206"/>
            <a:ext cx="607748" cy="3396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263953" y="2862206"/>
            <a:ext cx="535362" cy="3360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4226498" y="380984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A9BFA00-8F8A-EFCC-877D-FFA57C9D6AF0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D5B92AF-F028-8587-40F2-21F749066028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0065C14-9537-91C2-B011-4A131A2A942D}"/>
              </a:ext>
            </a:extLst>
          </p:cNvPr>
          <p:cNvCxnSpPr>
            <a:cxnSpLocks/>
            <a:stCxn id="43" idx="3"/>
            <a:endCxn id="55" idx="0"/>
          </p:cNvCxnSpPr>
          <p:nvPr/>
        </p:nvCxnSpPr>
        <p:spPr>
          <a:xfrm flipH="1">
            <a:off x="3531365" y="3430504"/>
            <a:ext cx="267950" cy="3783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6E973BD-6A1F-A166-BA2F-81B0A28A84E0}"/>
              </a:ext>
            </a:extLst>
          </p:cNvPr>
          <p:cNvCxnSpPr>
            <a:cxnSpLocks/>
            <a:stCxn id="43" idx="5"/>
            <a:endCxn id="54" idx="0"/>
          </p:cNvCxnSpPr>
          <p:nvPr/>
        </p:nvCxnSpPr>
        <p:spPr>
          <a:xfrm>
            <a:off x="4211328" y="3430504"/>
            <a:ext cx="306508" cy="3793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92708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148648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KD-trees are constructed by binary partitioning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Now there are only leaves to add to the tree</a:t>
            </a:r>
          </a:p>
          <a:p>
            <a:r>
              <a:rPr lang="en-US" dirty="0">
                <a:latin typeface="+mn-lt"/>
              </a:rPr>
              <a:t>Reached the </a:t>
            </a:r>
            <a:r>
              <a:rPr lang="en-US" b="1" dirty="0">
                <a:latin typeface="+mn-lt"/>
              </a:rPr>
              <a:t>stopping condition</a:t>
            </a:r>
            <a:r>
              <a:rPr lang="en-US" dirty="0">
                <a:latin typeface="+mn-lt"/>
              </a:rPr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863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16C6A-B07C-2982-F6C2-66C2EA5C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DE842-B0E0-554D-5260-21395A244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Similarity Queries on KD-Trees</a:t>
            </a:r>
          </a:p>
        </p:txBody>
      </p:sp>
    </p:spTree>
    <p:extLst>
      <p:ext uri="{BB962C8B-B14F-4D97-AF65-F5344CB8AC3E}">
        <p14:creationId xmlns:p14="http://schemas.microsoft.com/office/powerpoint/2010/main" val="35218112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Query KD-tree </a:t>
                </a:r>
                <a:r>
                  <a:rPr lang="en-US" dirty="0">
                    <a:latin typeface="+mn-lt"/>
                  </a:rPr>
                  <a:t>to determine nearest neighbors 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Start at the root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Head left or right from node based on split value and sample value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Repeat step 2 until leaves encountered </a:t>
                </a:r>
              </a:p>
              <a:p>
                <a:pPr lvl="1"/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Determine distance for nearest neighbor search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>
                    <a:latin typeface="+mn-lt"/>
                    <a:cs typeface="Courier New" panose="02070309020205020404" pitchFamily="49" charset="0"/>
                  </a:rPr>
                  <a:t>Backtrack</a:t>
                </a: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 to other branches to determine if NN missed </a:t>
                </a:r>
              </a:p>
              <a:p>
                <a:pPr lvl="1"/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Prune branches if distances are not NNs</a:t>
                </a:r>
              </a:p>
              <a:p>
                <a:pPr lvl="1"/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Pruning gives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0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d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computational complexity</a:t>
                </a:r>
              </a:p>
              <a:p>
                <a:pPr lvl="1"/>
                <a:r>
                  <a:rPr lang="en-US" dirty="0">
                    <a:latin typeface="+mn-lt"/>
                  </a:rPr>
                  <a:t>Reaching root node is </a:t>
                </a:r>
                <a:r>
                  <a:rPr lang="en-US" b="1" dirty="0">
                    <a:latin typeface="+mn-lt"/>
                  </a:rPr>
                  <a:t>stopping condition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1190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13069" y="896078"/>
            <a:ext cx="11345556" cy="14864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perform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Query vector at location </a:t>
            </a:r>
            <a:r>
              <a:rPr lang="en-US" i="1" dirty="0">
                <a:latin typeface="+mn-lt"/>
              </a:rPr>
              <a:t>Z</a:t>
            </a:r>
            <a:r>
              <a:rPr lang="en-US" dirty="0">
                <a:latin typeface="+mn-lt"/>
              </a:rPr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</p:spTree>
    <p:extLst>
      <p:ext uri="{BB962C8B-B14F-4D97-AF65-F5344CB8AC3E}">
        <p14:creationId xmlns:p14="http://schemas.microsoft.com/office/powerpoint/2010/main" val="2617977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27979" y="896078"/>
                <a:ext cx="11330645" cy="148648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Can rapidly 3-nearest neighbor query a KD-Tree by following the node splits 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</a:t>
                </a:r>
                <a:r>
                  <a:rPr lang="en-US" i="1" dirty="0">
                    <a:latin typeface="+mn-lt"/>
                  </a:rPr>
                  <a:t>Z</a:t>
                </a:r>
                <a:r>
                  <a:rPr lang="en-US" dirty="0">
                    <a:latin typeface="+mn-lt"/>
                  </a:rPr>
                  <a:t> is greater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of </a:t>
                </a:r>
                <a:r>
                  <a:rPr lang="en-US" i="1" dirty="0">
                    <a:latin typeface="+mn-lt"/>
                  </a:rPr>
                  <a:t>E</a:t>
                </a:r>
              </a:p>
              <a:p>
                <a:r>
                  <a:rPr lang="en-US" dirty="0">
                    <a:latin typeface="+mn-lt"/>
                  </a:rPr>
                  <a:t>So branch right to </a:t>
                </a:r>
                <a:r>
                  <a:rPr lang="en-US" i="1" dirty="0">
                    <a:latin typeface="+mn-lt"/>
                  </a:rPr>
                  <a:t>G, </a:t>
                </a:r>
                <a:r>
                  <a:rPr lang="en-US" dirty="0">
                    <a:latin typeface="+mn-lt"/>
                  </a:rPr>
                  <a:t>find distance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27979" y="896078"/>
                <a:ext cx="11330645" cy="1486485"/>
              </a:xfrm>
              <a:blipFill>
                <a:blip r:embed="rId3"/>
                <a:stretch>
                  <a:fillRect l="-1130" t="-9426" r="-108" b="-11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22E945C-7EBC-B523-EC72-1560AB6072CE}"/>
              </a:ext>
            </a:extLst>
          </p:cNvPr>
          <p:cNvCxnSpPr/>
          <p:nvPr/>
        </p:nvCxnSpPr>
        <p:spPr>
          <a:xfrm>
            <a:off x="3909060" y="2621629"/>
            <a:ext cx="944198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2BDBA73-0EDA-A63F-883F-E3FC5B31196B}"/>
              </a:ext>
            </a:extLst>
          </p:cNvPr>
          <p:cNvCxnSpPr/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2915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483249" y="896078"/>
                <a:ext cx="11375376" cy="148648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Can rapidly 3-nearest neighbor query a KD-Tree by following the node splits 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</a:t>
                </a:r>
                <a:r>
                  <a:rPr lang="en-US" i="1" dirty="0">
                    <a:latin typeface="+mn-lt"/>
                  </a:rPr>
                  <a:t>Z</a:t>
                </a:r>
                <a:r>
                  <a:rPr lang="en-US" dirty="0">
                    <a:latin typeface="+mn-lt"/>
                  </a:rPr>
                  <a:t> is less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of </a:t>
                </a:r>
                <a:r>
                  <a:rPr lang="en-US" i="1" dirty="0">
                    <a:latin typeface="+mn-lt"/>
                  </a:rPr>
                  <a:t>G</a:t>
                </a:r>
              </a:p>
              <a:p>
                <a:r>
                  <a:rPr lang="en-US" dirty="0">
                    <a:latin typeface="+mn-lt"/>
                  </a:rPr>
                  <a:t>So branch right to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, find distance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483249" y="896078"/>
                <a:ext cx="11375376" cy="1486485"/>
              </a:xfrm>
              <a:blipFill>
                <a:blip r:embed="rId3"/>
                <a:stretch>
                  <a:fillRect l="-1072" t="-9426" b="-11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22E945C-7EBC-B523-EC72-1560AB6072CE}"/>
              </a:ext>
            </a:extLst>
          </p:cNvPr>
          <p:cNvCxnSpPr/>
          <p:nvPr/>
        </p:nvCxnSpPr>
        <p:spPr>
          <a:xfrm>
            <a:off x="3909060" y="2621629"/>
            <a:ext cx="944198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>
            <a:off x="5028045" y="3208251"/>
            <a:ext cx="984299" cy="488090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7397452-56DD-B179-2F6C-277725B4A95F}"/>
              </a:ext>
            </a:extLst>
          </p:cNvPr>
          <p:cNvCxnSpPr/>
          <p:nvPr/>
        </p:nvCxnSpPr>
        <p:spPr>
          <a:xfrm>
            <a:off x="10829359" y="4362586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0A2AD60-03EE-314C-6D2A-73EDA48D967C}"/>
              </a:ext>
            </a:extLst>
          </p:cNvPr>
          <p:cNvCxnSpPr>
            <a:cxnSpLocks/>
          </p:cNvCxnSpPr>
          <p:nvPr/>
        </p:nvCxnSpPr>
        <p:spPr>
          <a:xfrm flipV="1">
            <a:off x="10493379" y="4931196"/>
            <a:ext cx="412959" cy="54708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17525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10455" y="896078"/>
            <a:ext cx="11348170" cy="148648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i="1" dirty="0">
                <a:latin typeface="+mn-lt"/>
              </a:rPr>
              <a:t>Z</a:t>
            </a:r>
            <a:r>
              <a:rPr lang="en-US" dirty="0">
                <a:latin typeface="+mn-lt"/>
              </a:rPr>
              <a:t> has nearest neighbors on graph </a:t>
            </a:r>
            <a:r>
              <a:rPr lang="en-US" i="1" dirty="0">
                <a:latin typeface="+mn-lt"/>
              </a:rPr>
              <a:t>I</a:t>
            </a:r>
            <a:r>
              <a:rPr lang="en-US" dirty="0">
                <a:latin typeface="+mn-lt"/>
              </a:rPr>
              <a:t>, </a:t>
            </a:r>
            <a:r>
              <a:rPr lang="en-US" i="1" dirty="0">
                <a:latin typeface="+mn-lt"/>
              </a:rPr>
              <a:t>G</a:t>
            </a:r>
            <a:r>
              <a:rPr lang="en-US" dirty="0">
                <a:latin typeface="+mn-lt"/>
              </a:rPr>
              <a:t>, </a:t>
            </a:r>
            <a:r>
              <a:rPr lang="en-US" i="1" dirty="0">
                <a:latin typeface="+mn-lt"/>
              </a:rPr>
              <a:t>K</a:t>
            </a:r>
          </a:p>
          <a:p>
            <a:r>
              <a:rPr lang="en-US" dirty="0">
                <a:latin typeface="+mn-lt"/>
              </a:rPr>
              <a:t>But is there a nearer neighbor on the graph?</a:t>
            </a:r>
            <a:endParaRPr lang="en-US" i="1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22E945C-7EBC-B523-EC72-1560AB6072CE}"/>
              </a:ext>
            </a:extLst>
          </p:cNvPr>
          <p:cNvCxnSpPr/>
          <p:nvPr/>
        </p:nvCxnSpPr>
        <p:spPr>
          <a:xfrm>
            <a:off x="3909060" y="2621629"/>
            <a:ext cx="944198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>
            <a:off x="5028045" y="3208251"/>
            <a:ext cx="984299" cy="488090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 flipV="1">
            <a:off x="10493379" y="4931196"/>
            <a:ext cx="412959" cy="54708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>
            <a:off x="6179658" y="3787416"/>
            <a:ext cx="751295" cy="688022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0770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04511" y="896078"/>
            <a:ext cx="11354113" cy="1486485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We need to </a:t>
            </a:r>
            <a:r>
              <a:rPr lang="en-US" b="1" dirty="0">
                <a:latin typeface="+mn-lt"/>
              </a:rPr>
              <a:t>backtrack</a:t>
            </a:r>
            <a:r>
              <a:rPr lang="en-US" dirty="0">
                <a:latin typeface="+mn-lt"/>
              </a:rPr>
              <a:t> to determine if there is a nearer neighbor on another branch</a:t>
            </a:r>
          </a:p>
          <a:p>
            <a:r>
              <a:rPr lang="en-US" dirty="0">
                <a:latin typeface="+mn-lt"/>
              </a:rPr>
              <a:t>Backtracking to K then to branch with F, finding a nearer neighbor than K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 flipH="1">
            <a:off x="4853258" y="3881007"/>
            <a:ext cx="627427" cy="65597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>
            <a:off x="10339527" y="4843007"/>
            <a:ext cx="566811" cy="88189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 flipH="1" flipV="1">
            <a:off x="6140415" y="3760003"/>
            <a:ext cx="860460" cy="72519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6995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73380" y="898164"/>
            <a:ext cx="10952281" cy="148648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Continue </a:t>
            </a:r>
            <a:r>
              <a:rPr lang="en-US" b="1" dirty="0">
                <a:latin typeface="+mn-lt"/>
              </a:rPr>
              <a:t>backtracking</a:t>
            </a:r>
            <a:r>
              <a:rPr lang="en-US" dirty="0">
                <a:latin typeface="+mn-lt"/>
              </a:rPr>
              <a:t> to </a:t>
            </a:r>
            <a:r>
              <a:rPr lang="en-US" i="1" dirty="0">
                <a:latin typeface="+mn-lt"/>
              </a:rPr>
              <a:t>K</a:t>
            </a:r>
            <a:r>
              <a:rPr lang="en-US" dirty="0">
                <a:latin typeface="+mn-lt"/>
              </a:rPr>
              <a:t> then to branch to </a:t>
            </a:r>
            <a:r>
              <a:rPr lang="en-US" i="1" dirty="0">
                <a:latin typeface="+mn-lt"/>
              </a:rPr>
              <a:t>C</a:t>
            </a:r>
            <a:r>
              <a:rPr lang="en-US" dirty="0">
                <a:latin typeface="+mn-lt"/>
              </a:rPr>
              <a:t> and </a:t>
            </a:r>
            <a:r>
              <a:rPr lang="en-US" i="1" dirty="0">
                <a:latin typeface="+mn-lt"/>
              </a:rPr>
              <a:t>J</a:t>
            </a:r>
            <a:r>
              <a:rPr lang="en-US" dirty="0">
                <a:latin typeface="+mn-lt"/>
              </a:rPr>
              <a:t>, but no nearer neighbor</a:t>
            </a:r>
          </a:p>
          <a:p>
            <a:r>
              <a:rPr lang="en-US" dirty="0">
                <a:latin typeface="+mn-lt"/>
              </a:rPr>
              <a:t>We can </a:t>
            </a:r>
            <a:r>
              <a:rPr lang="en-US" b="1" dirty="0">
                <a:latin typeface="+mn-lt"/>
              </a:rPr>
              <a:t>prune</a:t>
            </a:r>
            <a:r>
              <a:rPr lang="en-US" dirty="0">
                <a:latin typeface="+mn-lt"/>
              </a:rPr>
              <a:t> the branch with </a:t>
            </a:r>
            <a:r>
              <a:rPr lang="en-US" i="1" dirty="0">
                <a:latin typeface="+mn-lt"/>
              </a:rPr>
              <a:t>C</a:t>
            </a:r>
            <a:r>
              <a:rPr lang="en-US" dirty="0">
                <a:latin typeface="+mn-lt"/>
              </a:rPr>
              <a:t> and </a:t>
            </a:r>
            <a:r>
              <a:rPr lang="en-US" i="1" dirty="0">
                <a:latin typeface="+mn-lt"/>
              </a:rPr>
              <a:t>J</a:t>
            </a:r>
            <a:r>
              <a:rPr lang="en-US" dirty="0">
                <a:latin typeface="+mn-lt"/>
              </a:rPr>
              <a:t> from the search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 flipH="1" flipV="1">
            <a:off x="5002998" y="3150197"/>
            <a:ext cx="987224" cy="48185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>
            <a:off x="10339527" y="4843007"/>
            <a:ext cx="566811" cy="88189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 flipH="1" flipV="1">
            <a:off x="6140415" y="3760003"/>
            <a:ext cx="860460" cy="72519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0433E6B-7946-0343-7146-C3B4EC235F62}"/>
              </a:ext>
            </a:extLst>
          </p:cNvPr>
          <p:cNvCxnSpPr>
            <a:cxnSpLocks/>
          </p:cNvCxnSpPr>
          <p:nvPr/>
        </p:nvCxnSpPr>
        <p:spPr>
          <a:xfrm flipH="1">
            <a:off x="3344349" y="3287114"/>
            <a:ext cx="951497" cy="43709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0913AB7-DB2C-075A-9D79-0ADAECD6ECD3}"/>
              </a:ext>
            </a:extLst>
          </p:cNvPr>
          <p:cNvCxnSpPr>
            <a:cxnSpLocks/>
          </p:cNvCxnSpPr>
          <p:nvPr/>
        </p:nvCxnSpPr>
        <p:spPr>
          <a:xfrm>
            <a:off x="3130181" y="4103723"/>
            <a:ext cx="612293" cy="73928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5139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406400" y="898164"/>
            <a:ext cx="11119261" cy="14864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query a KD-Tree by following the video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The backtrack arrives at the root, the </a:t>
            </a:r>
            <a:r>
              <a:rPr lang="en-US" b="1" dirty="0">
                <a:latin typeface="+mn-lt"/>
              </a:rPr>
              <a:t>stopping condition</a:t>
            </a: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 flipH="1" flipV="1">
            <a:off x="5002998" y="3150197"/>
            <a:ext cx="987224" cy="48185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>
            <a:off x="10339527" y="4843007"/>
            <a:ext cx="566811" cy="88189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 flipH="1" flipV="1">
            <a:off x="6140415" y="3760003"/>
            <a:ext cx="860460" cy="72519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0433E6B-7946-0343-7146-C3B4EC235F62}"/>
              </a:ext>
            </a:extLst>
          </p:cNvPr>
          <p:cNvCxnSpPr>
            <a:cxnSpLocks/>
          </p:cNvCxnSpPr>
          <p:nvPr/>
        </p:nvCxnSpPr>
        <p:spPr>
          <a:xfrm flipH="1" flipV="1">
            <a:off x="3866866" y="2621629"/>
            <a:ext cx="986392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7348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4A2A4-799D-406D-1F58-94812A5B9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D71AB-5E80-DC5F-6C7B-09206EE16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Coarse Quantization</a:t>
            </a:r>
          </a:p>
        </p:txBody>
      </p:sp>
    </p:spTree>
    <p:extLst>
      <p:ext uri="{BB962C8B-B14F-4D97-AF65-F5344CB8AC3E}">
        <p14:creationId xmlns:p14="http://schemas.microsoft.com/office/powerpoint/2010/main" val="26853172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9AD7A-A75D-084D-1061-F38EA98B1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DEAC8-D2CA-1AA4-031F-42C92D7EF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6C044-6234-CBCC-60DE-5F4C0471F7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Coarse quantization </a:t>
            </a:r>
            <a:r>
              <a:rPr lang="en-US" dirty="0">
                <a:latin typeface="+mn-lt"/>
              </a:rPr>
              <a:t>speeds NN search by reducing scope    </a:t>
            </a:r>
          </a:p>
          <a:p>
            <a:r>
              <a:rPr lang="en-US" dirty="0">
                <a:latin typeface="+mn-lt"/>
              </a:rPr>
              <a:t>To speed NN search by orders of magnitude limit scope of search    </a:t>
            </a:r>
          </a:p>
          <a:p>
            <a:r>
              <a:rPr lang="en-US" dirty="0">
                <a:latin typeface="+mn-lt"/>
              </a:rPr>
              <a:t>Coarse coding divides the search scope into small cells  </a:t>
            </a:r>
          </a:p>
          <a:p>
            <a:r>
              <a:rPr lang="en-US" dirty="0">
                <a:latin typeface="+mn-lt"/>
              </a:rPr>
              <a:t>Similar vectors are within the cells</a:t>
            </a:r>
          </a:p>
          <a:p>
            <a:r>
              <a:rPr lang="en-US" dirty="0">
                <a:latin typeface="+mn-lt"/>
              </a:rPr>
              <a:t>Can use the cell IDs in an </a:t>
            </a:r>
            <a:r>
              <a:rPr lang="en-US" b="1" dirty="0">
                <a:latin typeface="+mn-lt"/>
              </a:rPr>
              <a:t>inverted index </a:t>
            </a:r>
            <a:r>
              <a:rPr lang="en-US" dirty="0">
                <a:latin typeface="+mn-lt"/>
              </a:rPr>
              <a:t>for fast lookup of similar vectors</a:t>
            </a:r>
          </a:p>
          <a:p>
            <a:pPr lvl="1"/>
            <a:r>
              <a:rPr lang="en-US" dirty="0">
                <a:latin typeface="+mn-lt"/>
              </a:rPr>
              <a:t>A type of </a:t>
            </a:r>
            <a:r>
              <a:rPr lang="en-US" b="1" dirty="0">
                <a:latin typeface="+mn-lt"/>
              </a:rPr>
              <a:t>hash table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89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5C84A-5EC1-FA5C-21F1-68305B40A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E4704-9CB5-D839-DAC6-7AFF597CB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A3461F-7A1E-D92B-EAF2-FAD5B232BA2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Coarse quantization </a:t>
                </a:r>
                <a:r>
                  <a:rPr lang="en-US" dirty="0">
                    <a:latin typeface="+mn-lt"/>
                  </a:rPr>
                  <a:t>speeds NN search by reducing scope    </a:t>
                </a:r>
              </a:p>
              <a:p>
                <a:r>
                  <a:rPr lang="en-US" b="1" dirty="0">
                    <a:latin typeface="+mn-lt"/>
                  </a:rPr>
                  <a:t>Flat sparse coding </a:t>
                </a:r>
                <a:r>
                  <a:rPr lang="en-US" dirty="0">
                    <a:latin typeface="+mn-lt"/>
                  </a:rPr>
                  <a:t>assigns each vector to one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 in a </a:t>
                </a:r>
                <a:r>
                  <a:rPr lang="en-US" b="1" dirty="0">
                    <a:latin typeface="+mn-lt"/>
                  </a:rPr>
                  <a:t>code book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Euclidian distances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observations the codes are found by a minimizing distance over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 in the book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How can we solve this nonlinear minimization problem?   </a:t>
                </a:r>
              </a:p>
              <a:p>
                <a:pPr lvl="1"/>
                <a:r>
                  <a:rPr lang="en-US" dirty="0">
                    <a:latin typeface="+mn-lt"/>
                  </a:rPr>
                  <a:t>Several possible algorithms</a:t>
                </a:r>
              </a:p>
              <a:p>
                <a:pPr lvl="1"/>
                <a:r>
                  <a:rPr lang="en-US" dirty="0">
                    <a:latin typeface="+mn-lt"/>
                    <a:hlinkClick r:id="rId3"/>
                  </a:rPr>
                  <a:t>Lloyd’s algorithm </a:t>
                </a:r>
                <a:r>
                  <a:rPr lang="en-US" dirty="0">
                    <a:latin typeface="+mn-lt"/>
                  </a:rPr>
                  <a:t>is one possibility – we examined in lesson on k-means clustering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A3461F-7A1E-D92B-EAF2-FAD5B232BA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  <a:blipFill>
                <a:blip r:embed="rId4"/>
                <a:stretch>
                  <a:fillRect l="-1136" t="-1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020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9109E-962C-2F27-ABCB-969BB5885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5F11D-1DA7-3664-55EA-0241B70D6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28BA23-C623-E843-5C71-1A3C0E22FF2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Coarse quantization </a:t>
                </a:r>
                <a:r>
                  <a:rPr lang="en-US" dirty="0">
                    <a:latin typeface="+mn-lt"/>
                  </a:rPr>
                  <a:t>speeds NN search by reducing scope    </a:t>
                </a:r>
              </a:p>
              <a:p>
                <a:r>
                  <a:rPr lang="en-US" b="1" dirty="0">
                    <a:latin typeface="+mn-lt"/>
                  </a:rPr>
                  <a:t>Flat sparse coding </a:t>
                </a:r>
                <a:r>
                  <a:rPr lang="en-US" dirty="0">
                    <a:latin typeface="+mn-lt"/>
                  </a:rPr>
                  <a:t>assigns each vector to one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 in a </a:t>
                </a:r>
                <a:r>
                  <a:rPr lang="en-US" b="1" dirty="0">
                    <a:latin typeface="+mn-lt"/>
                  </a:rPr>
                  <a:t>code book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a Euclidean norm the resulting search space is divided into </a:t>
                </a:r>
                <a:r>
                  <a:rPr lang="en-US" b="1" dirty="0">
                    <a:latin typeface="+mn-lt"/>
                    <a:hlinkClick r:id="rId3"/>
                  </a:rPr>
                  <a:t>Voronoi cells</a:t>
                </a:r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Euclidean distance, Voronoi cells are convex polygons</a:t>
                </a:r>
              </a:p>
              <a:p>
                <a:pPr lvl="1"/>
                <a:r>
                  <a:rPr lang="en-US" dirty="0">
                    <a:latin typeface="+mn-lt"/>
                  </a:rPr>
                  <a:t>Distance vectors between points in a Voronoi cell are contained within the cell </a:t>
                </a:r>
              </a:p>
              <a:p>
                <a:r>
                  <a:rPr lang="en-US" dirty="0">
                    <a:latin typeface="+mn-lt"/>
                  </a:rPr>
                  <a:t>For L1 distance, Voronoi cells are non-convex  </a:t>
                </a:r>
              </a:p>
              <a:p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  <a:latin typeface="+mn-lt"/>
                  </a:rPr>
                  <a:t>For an interesting and entertaining in-depth discussion of Voronoi cells see the </a:t>
                </a:r>
                <a:r>
                  <a:rPr lang="en-US" dirty="0">
                    <a:solidFill>
                      <a:srgbClr val="0563C1"/>
                    </a:solidFill>
                    <a:latin typeface="+mn-lt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blog post by Francesco </a:t>
                </a:r>
                <a:r>
                  <a:rPr lang="en-US" dirty="0" err="1">
                    <a:solidFill>
                      <a:schemeClr val="accent1">
                        <a:lumMod val="75000"/>
                      </a:schemeClr>
                    </a:solidFill>
                    <a:latin typeface="+mn-lt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Bellelli</a:t>
                </a:r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  <a:latin typeface="+mn-lt"/>
                  </a:rPr>
                  <a:t> and the references therein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28BA23-C623-E843-5C71-1A3C0E22FF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  <a:blipFill>
                <a:blip r:embed="rId5"/>
                <a:stretch>
                  <a:fillRect l="-1136" t="-1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7643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A8C63-2A7A-DF3F-5952-2F96777D2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4CC8E-3C13-63A5-1C42-32F5FC84C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67ABF0-5CA2-9740-4437-10D90C34291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Coarse quantization divides a search space into smaller regions </a:t>
                </a:r>
              </a:p>
              <a:p>
                <a:r>
                  <a:rPr lang="en-US" dirty="0">
                    <a:latin typeface="+mn-lt"/>
                  </a:rPr>
                  <a:t>Example: For Euclidean norm, search space divided into Voronoi cells </a:t>
                </a:r>
              </a:p>
              <a:p>
                <a:r>
                  <a:rPr lang="en-US" dirty="0">
                    <a:latin typeface="+mn-lt"/>
                  </a:rPr>
                  <a:t>The cell centroids are the coarse codes  representing the vectors within each cell,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Centroid coarse coding has squared </a:t>
                </a:r>
                <a:r>
                  <a:rPr lang="en-US" b="1" dirty="0">
                    <a:latin typeface="+mn-lt"/>
                  </a:rPr>
                  <a:t>quantization error</a:t>
                </a:r>
                <a:r>
                  <a:rPr lang="en-US" dirty="0">
                    <a:latin typeface="+mn-lt"/>
                  </a:rPr>
                  <a:t> for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𝑒𝑟𝑟𝑜𝑟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67ABF0-5CA2-9740-4437-10D90C3429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  <a:blipFill>
                <a:blip r:embed="rId3"/>
                <a:stretch>
                  <a:fillRect l="-2128" t="-1818" r="-43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9903C3B-86E6-F07C-1EDA-861D263DECD7}"/>
              </a:ext>
            </a:extLst>
          </p:cNvPr>
          <p:cNvCxnSpPr>
            <a:cxnSpLocks/>
          </p:cNvCxnSpPr>
          <p:nvPr/>
        </p:nvCxnSpPr>
        <p:spPr>
          <a:xfrm flipV="1">
            <a:off x="6845742" y="2881291"/>
            <a:ext cx="930733" cy="7555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D972EE4-3CB7-5B8B-DC9E-1A52FD23AA5D}"/>
              </a:ext>
            </a:extLst>
          </p:cNvPr>
          <p:cNvCxnSpPr>
            <a:cxnSpLocks/>
          </p:cNvCxnSpPr>
          <p:nvPr/>
        </p:nvCxnSpPr>
        <p:spPr>
          <a:xfrm flipH="1" flipV="1">
            <a:off x="7776475" y="2850805"/>
            <a:ext cx="601450" cy="502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4550063-C9CA-0CFE-7A25-4B08AB1A5417}"/>
              </a:ext>
            </a:extLst>
          </p:cNvPr>
          <p:cNvCxnSpPr>
            <a:cxnSpLocks/>
          </p:cNvCxnSpPr>
          <p:nvPr/>
        </p:nvCxnSpPr>
        <p:spPr>
          <a:xfrm flipH="1" flipV="1">
            <a:off x="8316685" y="2901020"/>
            <a:ext cx="283029" cy="8763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713369-0E8D-100B-0161-3AC7F11F1ECB}"/>
              </a:ext>
            </a:extLst>
          </p:cNvPr>
          <p:cNvCxnSpPr>
            <a:cxnSpLocks/>
          </p:cNvCxnSpPr>
          <p:nvPr/>
        </p:nvCxnSpPr>
        <p:spPr>
          <a:xfrm flipH="1">
            <a:off x="7920715" y="3777343"/>
            <a:ext cx="646351" cy="8575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25DDCB6-257A-CD1F-99BC-108810DD98E1}"/>
              </a:ext>
            </a:extLst>
          </p:cNvPr>
          <p:cNvCxnSpPr>
            <a:cxnSpLocks/>
          </p:cNvCxnSpPr>
          <p:nvPr/>
        </p:nvCxnSpPr>
        <p:spPr>
          <a:xfrm flipH="1">
            <a:off x="7097485" y="4631293"/>
            <a:ext cx="835470" cy="114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B2B27CA-27E3-D3BB-F09C-59395FF90E8D}"/>
              </a:ext>
            </a:extLst>
          </p:cNvPr>
          <p:cNvCxnSpPr>
            <a:cxnSpLocks/>
          </p:cNvCxnSpPr>
          <p:nvPr/>
        </p:nvCxnSpPr>
        <p:spPr>
          <a:xfrm flipH="1" flipV="1">
            <a:off x="6845742" y="3668856"/>
            <a:ext cx="283046" cy="93044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AD55B9-EC8A-296E-7907-597C60FD7F25}"/>
              </a:ext>
            </a:extLst>
          </p:cNvPr>
          <p:cNvCxnSpPr>
            <a:cxnSpLocks/>
          </p:cNvCxnSpPr>
          <p:nvPr/>
        </p:nvCxnSpPr>
        <p:spPr>
          <a:xfrm flipH="1">
            <a:off x="8335739" y="2442227"/>
            <a:ext cx="658576" cy="46676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9B1A155-D4A7-0DED-E19C-C6DBC951D694}"/>
              </a:ext>
            </a:extLst>
          </p:cNvPr>
          <p:cNvCxnSpPr>
            <a:cxnSpLocks/>
          </p:cNvCxnSpPr>
          <p:nvPr/>
        </p:nvCxnSpPr>
        <p:spPr>
          <a:xfrm flipH="1" flipV="1">
            <a:off x="8599714" y="3777343"/>
            <a:ext cx="557209" cy="27082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2364603-F771-3EBE-DB78-4F09E1A2CBA5}"/>
              </a:ext>
            </a:extLst>
          </p:cNvPr>
          <p:cNvCxnSpPr>
            <a:cxnSpLocks/>
          </p:cNvCxnSpPr>
          <p:nvPr/>
        </p:nvCxnSpPr>
        <p:spPr>
          <a:xfrm flipV="1">
            <a:off x="10142758" y="3557569"/>
            <a:ext cx="766084" cy="4492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19FA045-363F-FFBF-9295-3360FDEE834B}"/>
              </a:ext>
            </a:extLst>
          </p:cNvPr>
          <p:cNvCxnSpPr>
            <a:cxnSpLocks/>
          </p:cNvCxnSpPr>
          <p:nvPr/>
        </p:nvCxnSpPr>
        <p:spPr>
          <a:xfrm flipH="1" flipV="1">
            <a:off x="9013369" y="2442227"/>
            <a:ext cx="778335" cy="34426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7898EBB-ADF4-08FE-D191-CF13934592D2}"/>
              </a:ext>
            </a:extLst>
          </p:cNvPr>
          <p:cNvCxnSpPr>
            <a:cxnSpLocks/>
          </p:cNvCxnSpPr>
          <p:nvPr/>
        </p:nvCxnSpPr>
        <p:spPr>
          <a:xfrm flipH="1" flipV="1">
            <a:off x="9802585" y="2755681"/>
            <a:ext cx="263965" cy="12511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0EF1198-3BB0-FFA0-6D7C-2815DB6D47A9}"/>
              </a:ext>
            </a:extLst>
          </p:cNvPr>
          <p:cNvCxnSpPr>
            <a:cxnSpLocks/>
          </p:cNvCxnSpPr>
          <p:nvPr/>
        </p:nvCxnSpPr>
        <p:spPr>
          <a:xfrm flipH="1" flipV="1">
            <a:off x="7897579" y="4615544"/>
            <a:ext cx="244930" cy="112266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DBABBA5-FCB1-3E64-6873-118893A4E79A}"/>
              </a:ext>
            </a:extLst>
          </p:cNvPr>
          <p:cNvCxnSpPr>
            <a:cxnSpLocks/>
          </p:cNvCxnSpPr>
          <p:nvPr/>
        </p:nvCxnSpPr>
        <p:spPr>
          <a:xfrm>
            <a:off x="9145360" y="4066330"/>
            <a:ext cx="548367" cy="118098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F2726D9-DA32-E30C-CEB3-D7E1A73283E5}"/>
              </a:ext>
            </a:extLst>
          </p:cNvPr>
          <p:cNvCxnSpPr>
            <a:cxnSpLocks/>
          </p:cNvCxnSpPr>
          <p:nvPr/>
        </p:nvCxnSpPr>
        <p:spPr>
          <a:xfrm flipV="1">
            <a:off x="9285520" y="5176875"/>
            <a:ext cx="408207" cy="81026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B46970E-E19F-E6A1-C0B1-847D56526C4F}"/>
              </a:ext>
            </a:extLst>
          </p:cNvPr>
          <p:cNvCxnSpPr>
            <a:cxnSpLocks/>
          </p:cNvCxnSpPr>
          <p:nvPr/>
        </p:nvCxnSpPr>
        <p:spPr>
          <a:xfrm>
            <a:off x="8107129" y="5738206"/>
            <a:ext cx="1172942" cy="24893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B35F955E-5FF6-FFB8-CB0D-EC4ACFE9A07C}"/>
              </a:ext>
            </a:extLst>
          </p:cNvPr>
          <p:cNvCxnSpPr>
            <a:cxnSpLocks/>
          </p:cNvCxnSpPr>
          <p:nvPr/>
        </p:nvCxnSpPr>
        <p:spPr>
          <a:xfrm flipH="1" flipV="1">
            <a:off x="7394945" y="2358510"/>
            <a:ext cx="395964" cy="50854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64A16FF-3EA1-3A8E-B4CA-BE1AAD444687}"/>
              </a:ext>
            </a:extLst>
          </p:cNvPr>
          <p:cNvCxnSpPr>
            <a:cxnSpLocks/>
          </p:cNvCxnSpPr>
          <p:nvPr/>
        </p:nvCxnSpPr>
        <p:spPr>
          <a:xfrm flipH="1" flipV="1">
            <a:off x="8961659" y="1575534"/>
            <a:ext cx="51710" cy="87513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FAB1080-95E7-1E01-01C5-C89DBD7BFB9A}"/>
              </a:ext>
            </a:extLst>
          </p:cNvPr>
          <p:cNvCxnSpPr>
            <a:cxnSpLocks/>
          </p:cNvCxnSpPr>
          <p:nvPr/>
        </p:nvCxnSpPr>
        <p:spPr>
          <a:xfrm flipV="1">
            <a:off x="7375061" y="1887236"/>
            <a:ext cx="0" cy="42454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397CD0C-858B-6D4A-95D9-556D5DBA1DD3}"/>
              </a:ext>
            </a:extLst>
          </p:cNvPr>
          <p:cNvCxnSpPr>
            <a:cxnSpLocks/>
          </p:cNvCxnSpPr>
          <p:nvPr/>
        </p:nvCxnSpPr>
        <p:spPr>
          <a:xfrm flipH="1">
            <a:off x="7375061" y="1415023"/>
            <a:ext cx="631379" cy="47221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187B484A-F898-EB2C-86B7-56E6A8ADE884}"/>
              </a:ext>
            </a:extLst>
          </p:cNvPr>
          <p:cNvCxnSpPr>
            <a:cxnSpLocks/>
          </p:cNvCxnSpPr>
          <p:nvPr/>
        </p:nvCxnSpPr>
        <p:spPr>
          <a:xfrm flipH="1" flipV="1">
            <a:off x="8009155" y="1415023"/>
            <a:ext cx="944344" cy="19140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8C0EFAB1-502F-6A3D-3D31-87AEB447B353}"/>
              </a:ext>
            </a:extLst>
          </p:cNvPr>
          <p:cNvCxnSpPr>
            <a:cxnSpLocks/>
          </p:cNvCxnSpPr>
          <p:nvPr/>
        </p:nvCxnSpPr>
        <p:spPr>
          <a:xfrm flipH="1">
            <a:off x="8929004" y="1393371"/>
            <a:ext cx="889915" cy="23174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02D516A-ADBD-DE5D-C39C-8B0F8E63F3EB}"/>
              </a:ext>
            </a:extLst>
          </p:cNvPr>
          <p:cNvCxnSpPr>
            <a:cxnSpLocks/>
          </p:cNvCxnSpPr>
          <p:nvPr/>
        </p:nvCxnSpPr>
        <p:spPr>
          <a:xfrm flipH="1">
            <a:off x="9857014" y="2412534"/>
            <a:ext cx="530667" cy="3431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4B817ED-1673-A4EA-2F48-9B1C69B7C61F}"/>
              </a:ext>
            </a:extLst>
          </p:cNvPr>
          <p:cNvCxnSpPr>
            <a:cxnSpLocks/>
          </p:cNvCxnSpPr>
          <p:nvPr/>
        </p:nvCxnSpPr>
        <p:spPr>
          <a:xfrm flipV="1">
            <a:off x="10406735" y="1960206"/>
            <a:ext cx="108856" cy="4463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6D51AAC-0B18-99CA-2BC8-7EB01C8C9BE2}"/>
              </a:ext>
            </a:extLst>
          </p:cNvPr>
          <p:cNvCxnSpPr>
            <a:cxnSpLocks/>
          </p:cNvCxnSpPr>
          <p:nvPr/>
        </p:nvCxnSpPr>
        <p:spPr>
          <a:xfrm flipH="1" flipV="1">
            <a:off x="9799869" y="1404405"/>
            <a:ext cx="683067" cy="55276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0480DEBC-1691-A465-389E-DA8647830958}"/>
              </a:ext>
            </a:extLst>
          </p:cNvPr>
          <p:cNvCxnSpPr>
            <a:cxnSpLocks/>
          </p:cNvCxnSpPr>
          <p:nvPr/>
        </p:nvCxnSpPr>
        <p:spPr>
          <a:xfrm flipH="1" flipV="1">
            <a:off x="10096502" y="4028019"/>
            <a:ext cx="642253" cy="60685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A8803D4B-9128-92F9-D472-F5519298BE8A}"/>
              </a:ext>
            </a:extLst>
          </p:cNvPr>
          <p:cNvCxnSpPr>
            <a:cxnSpLocks/>
          </p:cNvCxnSpPr>
          <p:nvPr/>
        </p:nvCxnSpPr>
        <p:spPr>
          <a:xfrm flipH="1">
            <a:off x="9737269" y="5083628"/>
            <a:ext cx="1001487" cy="932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6C686873-EB6C-0122-1CA1-B91285A1545C}"/>
              </a:ext>
            </a:extLst>
          </p:cNvPr>
          <p:cNvCxnSpPr>
            <a:cxnSpLocks/>
          </p:cNvCxnSpPr>
          <p:nvPr/>
        </p:nvCxnSpPr>
        <p:spPr>
          <a:xfrm>
            <a:off x="10714262" y="4599297"/>
            <a:ext cx="48987" cy="5309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24CC46DD-6014-26E1-6D1D-8F01E2078AE5}"/>
              </a:ext>
            </a:extLst>
          </p:cNvPr>
          <p:cNvCxnSpPr>
            <a:cxnSpLocks/>
          </p:cNvCxnSpPr>
          <p:nvPr/>
        </p:nvCxnSpPr>
        <p:spPr>
          <a:xfrm>
            <a:off x="10888429" y="3579261"/>
            <a:ext cx="713007" cy="31099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872D4212-D1A4-D8A4-787D-3F9B705C158D}"/>
              </a:ext>
            </a:extLst>
          </p:cNvPr>
          <p:cNvCxnSpPr>
            <a:cxnSpLocks/>
          </p:cNvCxnSpPr>
          <p:nvPr/>
        </p:nvCxnSpPr>
        <p:spPr>
          <a:xfrm flipH="1">
            <a:off x="10714262" y="4521379"/>
            <a:ext cx="700762" cy="12138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8B4B3C36-68C3-D9A6-7E99-5E30645CBA20}"/>
              </a:ext>
            </a:extLst>
          </p:cNvPr>
          <p:cNvCxnSpPr>
            <a:cxnSpLocks/>
          </p:cNvCxnSpPr>
          <p:nvPr/>
        </p:nvCxnSpPr>
        <p:spPr>
          <a:xfrm flipH="1">
            <a:off x="11408213" y="3890832"/>
            <a:ext cx="193223" cy="6305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Oval 245">
            <a:extLst>
              <a:ext uri="{FF2B5EF4-FFF2-40B4-BE49-F238E27FC236}">
                <a16:creationId xmlns:a16="http://schemas.microsoft.com/office/drawing/2014/main" id="{D9524958-8EAB-C682-7D89-6E9E44142254}"/>
              </a:ext>
            </a:extLst>
          </p:cNvPr>
          <p:cNvSpPr/>
          <p:nvPr/>
        </p:nvSpPr>
        <p:spPr>
          <a:xfrm>
            <a:off x="8059842" y="1960074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7A3DCD3F-9964-8343-1D15-7EDA69CEE844}"/>
              </a:ext>
            </a:extLst>
          </p:cNvPr>
          <p:cNvSpPr/>
          <p:nvPr/>
        </p:nvSpPr>
        <p:spPr>
          <a:xfrm>
            <a:off x="9746113" y="355756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4FB60A72-FD90-89C0-DE00-47CDE9577258}"/>
                  </a:ext>
                </a:extLst>
              </p:cNvPr>
              <p:cNvSpPr txBox="1"/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4FB60A72-FD90-89C0-DE00-47CDE9577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18245D3-419A-0721-3FC4-11DE6C94F3FC}"/>
                  </a:ext>
                </a:extLst>
              </p:cNvPr>
              <p:cNvSpPr txBox="1"/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18245D3-419A-0721-3FC4-11DE6C94F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55">
            <a:extLst>
              <a:ext uri="{FF2B5EF4-FFF2-40B4-BE49-F238E27FC236}">
                <a16:creationId xmlns:a16="http://schemas.microsoft.com/office/drawing/2014/main" id="{EEEEEA74-B493-7BBD-FA4D-AD974AB539EB}"/>
              </a:ext>
            </a:extLst>
          </p:cNvPr>
          <p:cNvSpPr/>
          <p:nvPr/>
        </p:nvSpPr>
        <p:spPr>
          <a:xfrm>
            <a:off x="8558890" y="181795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6506DACC-FDE8-CA5F-E016-C652AF769924}"/>
                  </a:ext>
                </a:extLst>
              </p:cNvPr>
              <p:cNvSpPr txBox="1"/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6506DACC-FDE8-CA5F-E016-C652AF769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Oval 257">
            <a:extLst>
              <a:ext uri="{FF2B5EF4-FFF2-40B4-BE49-F238E27FC236}">
                <a16:creationId xmlns:a16="http://schemas.microsoft.com/office/drawing/2014/main" id="{2DA8F1AD-2267-B6ED-F84E-F05C3358B00C}"/>
              </a:ext>
            </a:extLst>
          </p:cNvPr>
          <p:cNvSpPr/>
          <p:nvPr/>
        </p:nvSpPr>
        <p:spPr>
          <a:xfrm>
            <a:off x="10980216" y="299704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B43E630-96DA-5D44-21F9-6E9D10C69638}"/>
                  </a:ext>
                </a:extLst>
              </p:cNvPr>
              <p:cNvSpPr txBox="1"/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B43E630-96DA-5D44-21F9-6E9D10C696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0" name="Oval 269">
            <a:extLst>
              <a:ext uri="{FF2B5EF4-FFF2-40B4-BE49-F238E27FC236}">
                <a16:creationId xmlns:a16="http://schemas.microsoft.com/office/drawing/2014/main" id="{E1C7BD68-7143-99CD-54F5-982494C05F2A}"/>
              </a:ext>
            </a:extLst>
          </p:cNvPr>
          <p:cNvSpPr/>
          <p:nvPr/>
        </p:nvSpPr>
        <p:spPr>
          <a:xfrm>
            <a:off x="10381551" y="484178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B4D530E-469C-0A30-B63E-A0D24F94EEA2}"/>
                  </a:ext>
                </a:extLst>
              </p:cNvPr>
              <p:cNvSpPr txBox="1"/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B4D530E-469C-0A30-B63E-A0D24F94E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Oval 273">
            <a:extLst>
              <a:ext uri="{FF2B5EF4-FFF2-40B4-BE49-F238E27FC236}">
                <a16:creationId xmlns:a16="http://schemas.microsoft.com/office/drawing/2014/main" id="{3899495E-437B-2942-8DE0-72FDC882AC9E}"/>
              </a:ext>
            </a:extLst>
          </p:cNvPr>
          <p:cNvSpPr/>
          <p:nvPr/>
        </p:nvSpPr>
        <p:spPr>
          <a:xfrm>
            <a:off x="9134473" y="562716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547B005C-AFDB-90F3-0FDD-C9F5A7691675}"/>
                  </a:ext>
                </a:extLst>
              </p:cNvPr>
              <p:cNvSpPr txBox="1"/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547B005C-AFDB-90F3-0FDD-C9F5A7691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" name="Oval 275">
            <a:extLst>
              <a:ext uri="{FF2B5EF4-FFF2-40B4-BE49-F238E27FC236}">
                <a16:creationId xmlns:a16="http://schemas.microsoft.com/office/drawing/2014/main" id="{68621461-1216-6FF2-24F6-433B4F34F9FA}"/>
              </a:ext>
            </a:extLst>
          </p:cNvPr>
          <p:cNvSpPr/>
          <p:nvPr/>
        </p:nvSpPr>
        <p:spPr>
          <a:xfrm>
            <a:off x="7400921" y="429514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C24F11A8-6631-4A35-9F55-B8EB8B64FBAF}"/>
                  </a:ext>
                </a:extLst>
              </p:cNvPr>
              <p:cNvSpPr txBox="1"/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C24F11A8-6631-4A35-9F55-B8EB8B64F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111A679-48BA-39C0-A393-4B734783409F}"/>
              </a:ext>
            </a:extLst>
          </p:cNvPr>
          <p:cNvCxnSpPr>
            <a:cxnSpLocks/>
          </p:cNvCxnSpPr>
          <p:nvPr/>
        </p:nvCxnSpPr>
        <p:spPr>
          <a:xfrm flipV="1">
            <a:off x="9146720" y="4007413"/>
            <a:ext cx="1019171" cy="607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72FBD17-83D0-8AA3-F2B7-319006DCDD4A}"/>
              </a:ext>
            </a:extLst>
          </p:cNvPr>
          <p:cNvCxnSpPr>
            <a:cxnSpLocks/>
          </p:cNvCxnSpPr>
          <p:nvPr/>
        </p:nvCxnSpPr>
        <p:spPr>
          <a:xfrm flipV="1">
            <a:off x="10888429" y="3306380"/>
            <a:ext cx="329302" cy="3026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47F3AFF-A48D-1647-3C73-32755764418B}"/>
              </a:ext>
            </a:extLst>
          </p:cNvPr>
          <p:cNvCxnSpPr>
            <a:cxnSpLocks/>
          </p:cNvCxnSpPr>
          <p:nvPr/>
        </p:nvCxnSpPr>
        <p:spPr>
          <a:xfrm flipH="1" flipV="1">
            <a:off x="10406735" y="2384212"/>
            <a:ext cx="810996" cy="3714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AED48F3-19FD-66D1-3EEB-0611A1FB1352}"/>
              </a:ext>
            </a:extLst>
          </p:cNvPr>
          <p:cNvCxnSpPr>
            <a:cxnSpLocks/>
          </p:cNvCxnSpPr>
          <p:nvPr/>
        </p:nvCxnSpPr>
        <p:spPr>
          <a:xfrm flipV="1">
            <a:off x="11217731" y="2721627"/>
            <a:ext cx="0" cy="56588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047A0ACE-7F67-8B18-44AF-B79F5CC32643}"/>
              </a:ext>
            </a:extLst>
          </p:cNvPr>
          <p:cNvSpPr/>
          <p:nvPr/>
        </p:nvSpPr>
        <p:spPr>
          <a:xfrm>
            <a:off x="11348340" y="407802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658E1E0-DF35-687D-39CC-144C5082F1E4}"/>
                  </a:ext>
                </a:extLst>
              </p:cNvPr>
              <p:cNvSpPr txBox="1"/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658E1E0-DF35-687D-39CC-144C5082F1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Oval 107">
            <a:extLst>
              <a:ext uri="{FF2B5EF4-FFF2-40B4-BE49-F238E27FC236}">
                <a16:creationId xmlns:a16="http://schemas.microsoft.com/office/drawing/2014/main" id="{8CB7F18B-2EFC-B65C-6844-9381F3E378FB}"/>
              </a:ext>
            </a:extLst>
          </p:cNvPr>
          <p:cNvSpPr/>
          <p:nvPr/>
        </p:nvSpPr>
        <p:spPr>
          <a:xfrm>
            <a:off x="9588941" y="1924725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82863F8C-1B22-F974-2265-2948A30904C7}"/>
              </a:ext>
            </a:extLst>
          </p:cNvPr>
          <p:cNvSpPr/>
          <p:nvPr/>
        </p:nvSpPr>
        <p:spPr>
          <a:xfrm>
            <a:off x="10368971" y="299912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28A83083-86D5-CE3E-E794-598FC9A0E9F4}"/>
              </a:ext>
            </a:extLst>
          </p:cNvPr>
          <p:cNvSpPr/>
          <p:nvPr/>
        </p:nvSpPr>
        <p:spPr>
          <a:xfrm>
            <a:off x="9103519" y="3132539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C7226EF7-14C4-5059-702A-AC297DEB0078}"/>
              </a:ext>
            </a:extLst>
          </p:cNvPr>
          <p:cNvSpPr/>
          <p:nvPr/>
        </p:nvSpPr>
        <p:spPr>
          <a:xfrm>
            <a:off x="7575762" y="3641436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8E40E0E2-9AD2-EF18-D2CE-0DA9E2424BE3}"/>
              </a:ext>
            </a:extLst>
          </p:cNvPr>
          <p:cNvSpPr/>
          <p:nvPr/>
        </p:nvSpPr>
        <p:spPr>
          <a:xfrm>
            <a:off x="8655485" y="482577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FE1DA7A0-5ECE-CE52-EC3C-AF364C6CC389}"/>
              </a:ext>
            </a:extLst>
          </p:cNvPr>
          <p:cNvSpPr/>
          <p:nvPr/>
        </p:nvSpPr>
        <p:spPr>
          <a:xfrm>
            <a:off x="9799869" y="4445370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B8C07B68-DDF5-E319-6A0F-69444127AAE7}"/>
              </a:ext>
            </a:extLst>
          </p:cNvPr>
          <p:cNvSpPr/>
          <p:nvPr/>
        </p:nvSpPr>
        <p:spPr>
          <a:xfrm>
            <a:off x="10886317" y="3972531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2472A34-A1A3-C9FB-6A48-A26882A79BD2}"/>
              </a:ext>
            </a:extLst>
          </p:cNvPr>
          <p:cNvSpPr/>
          <p:nvPr/>
        </p:nvSpPr>
        <p:spPr>
          <a:xfrm>
            <a:off x="7569278" y="208923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6567708-0D1C-D3ED-DF5A-593E2C9EFAF9}"/>
              </a:ext>
            </a:extLst>
          </p:cNvPr>
          <p:cNvSpPr/>
          <p:nvPr/>
        </p:nvSpPr>
        <p:spPr>
          <a:xfrm>
            <a:off x="7920715" y="2572336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66FC79E-FF92-2F74-CEF6-A16476B34D44}"/>
              </a:ext>
            </a:extLst>
          </p:cNvPr>
          <p:cNvSpPr/>
          <p:nvPr/>
        </p:nvSpPr>
        <p:spPr>
          <a:xfrm>
            <a:off x="8571471" y="239424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AC8A78-BFB3-A0E8-BA6F-CC6C38C5CF5D}"/>
              </a:ext>
            </a:extLst>
          </p:cNvPr>
          <p:cNvSpPr/>
          <p:nvPr/>
        </p:nvSpPr>
        <p:spPr>
          <a:xfrm>
            <a:off x="9222227" y="2216148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B6A4C3C-1C06-4A60-118C-4CF5C3AF73FF}"/>
              </a:ext>
            </a:extLst>
          </p:cNvPr>
          <p:cNvSpPr/>
          <p:nvPr/>
        </p:nvSpPr>
        <p:spPr>
          <a:xfrm>
            <a:off x="9872983" y="203805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AA1F538-8276-C0C9-2964-732425F5CEA8}"/>
              </a:ext>
            </a:extLst>
          </p:cNvPr>
          <p:cNvSpPr/>
          <p:nvPr/>
        </p:nvSpPr>
        <p:spPr>
          <a:xfrm>
            <a:off x="8074460" y="153382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549E5E6-11CC-65F2-1C02-D48BD33EAD42}"/>
              </a:ext>
            </a:extLst>
          </p:cNvPr>
          <p:cNvSpPr/>
          <p:nvPr/>
        </p:nvSpPr>
        <p:spPr>
          <a:xfrm>
            <a:off x="9402536" y="171280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CF36FEC-837D-907F-5F93-DAF1C746994D}"/>
              </a:ext>
            </a:extLst>
          </p:cNvPr>
          <p:cNvSpPr/>
          <p:nvPr/>
        </p:nvSpPr>
        <p:spPr>
          <a:xfrm>
            <a:off x="9805303" y="245144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BE08061-E1C3-60DD-BC47-486E0D86C580}"/>
              </a:ext>
            </a:extLst>
          </p:cNvPr>
          <p:cNvSpPr/>
          <p:nvPr/>
        </p:nvSpPr>
        <p:spPr>
          <a:xfrm>
            <a:off x="10208070" y="319008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AAC897B-3B8C-FC07-8D18-B5E986F779F5}"/>
              </a:ext>
            </a:extLst>
          </p:cNvPr>
          <p:cNvSpPr/>
          <p:nvPr/>
        </p:nvSpPr>
        <p:spPr>
          <a:xfrm>
            <a:off x="10452991" y="27517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B5F07AC-D67A-7581-DF57-D0DBD1A78574}"/>
              </a:ext>
            </a:extLst>
          </p:cNvPr>
          <p:cNvSpPr/>
          <p:nvPr/>
        </p:nvSpPr>
        <p:spPr>
          <a:xfrm>
            <a:off x="10605391" y="2904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CFC65E4-8B8E-D5E4-93AE-9EA6C8F1FD4E}"/>
              </a:ext>
            </a:extLst>
          </p:cNvPr>
          <p:cNvSpPr/>
          <p:nvPr/>
        </p:nvSpPr>
        <p:spPr>
          <a:xfrm>
            <a:off x="10236911" y="364811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45539E0-A299-555A-DB32-430E701A5FC3}"/>
              </a:ext>
            </a:extLst>
          </p:cNvPr>
          <p:cNvSpPr/>
          <p:nvPr/>
        </p:nvSpPr>
        <p:spPr>
          <a:xfrm>
            <a:off x="9313274" y="384327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F75BAC2-E563-49BD-509F-6A49EA2CBA52}"/>
              </a:ext>
            </a:extLst>
          </p:cNvPr>
          <p:cNvSpPr/>
          <p:nvPr/>
        </p:nvSpPr>
        <p:spPr>
          <a:xfrm>
            <a:off x="8849362" y="337219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D550D30-1DF5-6883-1F6C-BA0E2A8ABCF6}"/>
              </a:ext>
            </a:extLst>
          </p:cNvPr>
          <p:cNvSpPr/>
          <p:nvPr/>
        </p:nvSpPr>
        <p:spPr>
          <a:xfrm>
            <a:off x="8675632" y="295697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E135B16-B6E7-A58E-86CC-6674FBBA01EB}"/>
              </a:ext>
            </a:extLst>
          </p:cNvPr>
          <p:cNvSpPr/>
          <p:nvPr/>
        </p:nvSpPr>
        <p:spPr>
          <a:xfrm>
            <a:off x="8776819" y="213989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96B7E8F-AC56-9462-05C6-C00923AA2AC6}"/>
              </a:ext>
            </a:extLst>
          </p:cNvPr>
          <p:cNvSpPr/>
          <p:nvPr/>
        </p:nvSpPr>
        <p:spPr>
          <a:xfrm>
            <a:off x="9328242" y="30378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DF9EA5B-551C-EE69-A214-1043C287DC86}"/>
              </a:ext>
            </a:extLst>
          </p:cNvPr>
          <p:cNvSpPr/>
          <p:nvPr/>
        </p:nvSpPr>
        <p:spPr>
          <a:xfrm>
            <a:off x="9635229" y="320675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6E10F62-2F5F-CD73-7B74-959372359DAA}"/>
              </a:ext>
            </a:extLst>
          </p:cNvPr>
          <p:cNvSpPr/>
          <p:nvPr/>
        </p:nvSpPr>
        <p:spPr>
          <a:xfrm>
            <a:off x="9026987" y="3763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1F5B079-7FD3-C519-5183-F3128C5DFA67}"/>
              </a:ext>
            </a:extLst>
          </p:cNvPr>
          <p:cNvSpPr/>
          <p:nvPr/>
        </p:nvSpPr>
        <p:spPr>
          <a:xfrm>
            <a:off x="8189853" y="313253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71F5598-2BDC-0403-B24F-1576AE2119AF}"/>
              </a:ext>
            </a:extLst>
          </p:cNvPr>
          <p:cNvSpPr/>
          <p:nvPr/>
        </p:nvSpPr>
        <p:spPr>
          <a:xfrm>
            <a:off x="9840680" y="16881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8348C85-6462-DC64-CA09-3FBDEB8F4BA1}"/>
              </a:ext>
            </a:extLst>
          </p:cNvPr>
          <p:cNvSpPr/>
          <p:nvPr/>
        </p:nvSpPr>
        <p:spPr>
          <a:xfrm>
            <a:off x="8169713" y="353301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64F95E3-4C54-194C-E74A-87FC81F7EB39}"/>
              </a:ext>
            </a:extLst>
          </p:cNvPr>
          <p:cNvSpPr/>
          <p:nvPr/>
        </p:nvSpPr>
        <p:spPr>
          <a:xfrm>
            <a:off x="7599214" y="325586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19F52E9-A8E2-7388-2072-71F9894BF4D4}"/>
              </a:ext>
            </a:extLst>
          </p:cNvPr>
          <p:cNvSpPr/>
          <p:nvPr/>
        </p:nvSpPr>
        <p:spPr>
          <a:xfrm>
            <a:off x="7071957" y="37514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A3E9085-D860-5960-70D3-3DBF61EBF15B}"/>
              </a:ext>
            </a:extLst>
          </p:cNvPr>
          <p:cNvSpPr/>
          <p:nvPr/>
        </p:nvSpPr>
        <p:spPr>
          <a:xfrm>
            <a:off x="7224357" y="39038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E7C2A66-6782-AB5A-B8A1-DA6D86B04D4D}"/>
              </a:ext>
            </a:extLst>
          </p:cNvPr>
          <p:cNvSpPr/>
          <p:nvPr/>
        </p:nvSpPr>
        <p:spPr>
          <a:xfrm>
            <a:off x="8066628" y="40236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8D9A92B-5DF1-F53A-11AC-49ED7532E79A}"/>
              </a:ext>
            </a:extLst>
          </p:cNvPr>
          <p:cNvSpPr/>
          <p:nvPr/>
        </p:nvSpPr>
        <p:spPr>
          <a:xfrm>
            <a:off x="8696866" y="40481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22564-8CEC-D643-C488-FFC7034CECDD}"/>
              </a:ext>
            </a:extLst>
          </p:cNvPr>
          <p:cNvSpPr/>
          <p:nvPr/>
        </p:nvSpPr>
        <p:spPr>
          <a:xfrm>
            <a:off x="9743533" y="492325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D6F9CA9-91D7-76E2-ED54-C992BABA5E43}"/>
              </a:ext>
            </a:extLst>
          </p:cNvPr>
          <p:cNvSpPr/>
          <p:nvPr/>
        </p:nvSpPr>
        <p:spPr>
          <a:xfrm>
            <a:off x="8939907" y="43799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EB2098F4-EDBB-5043-BCA0-A9DF4D87F59F}"/>
              </a:ext>
            </a:extLst>
          </p:cNvPr>
          <p:cNvSpPr/>
          <p:nvPr/>
        </p:nvSpPr>
        <p:spPr>
          <a:xfrm>
            <a:off x="8552710" y="468709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FAB29DF-CE84-A141-5F84-CD755B00C472}"/>
              </a:ext>
            </a:extLst>
          </p:cNvPr>
          <p:cNvSpPr/>
          <p:nvPr/>
        </p:nvSpPr>
        <p:spPr>
          <a:xfrm>
            <a:off x="8184962" y="46841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008519A-1C33-2AEA-B461-98904744D998}"/>
              </a:ext>
            </a:extLst>
          </p:cNvPr>
          <p:cNvSpPr/>
          <p:nvPr/>
        </p:nvSpPr>
        <p:spPr>
          <a:xfrm>
            <a:off x="8305775" y="50882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AC6D78C9-5EAE-4E45-2A72-DD22E397D8CC}"/>
              </a:ext>
            </a:extLst>
          </p:cNvPr>
          <p:cNvSpPr/>
          <p:nvPr/>
        </p:nvSpPr>
        <p:spPr>
          <a:xfrm>
            <a:off x="8426588" y="549246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6553BC0F-4ADD-5045-2EF3-8B8C7B76C4A4}"/>
              </a:ext>
            </a:extLst>
          </p:cNvPr>
          <p:cNvSpPr/>
          <p:nvPr/>
        </p:nvSpPr>
        <p:spPr>
          <a:xfrm>
            <a:off x="8513171" y="557805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EDCFF39A-1890-2E02-1EEE-F4652EC23ADF}"/>
              </a:ext>
            </a:extLst>
          </p:cNvPr>
          <p:cNvSpPr/>
          <p:nvPr/>
        </p:nvSpPr>
        <p:spPr>
          <a:xfrm>
            <a:off x="9229303" y="514691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F6A8A7EC-704B-2795-7E93-EB4245DAEAA9}"/>
              </a:ext>
            </a:extLst>
          </p:cNvPr>
          <p:cNvSpPr/>
          <p:nvPr/>
        </p:nvSpPr>
        <p:spPr>
          <a:xfrm>
            <a:off x="9096642" y="47463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D5DD6F7-E539-6623-BA3D-23949B573E5F}"/>
              </a:ext>
            </a:extLst>
          </p:cNvPr>
          <p:cNvSpPr/>
          <p:nvPr/>
        </p:nvSpPr>
        <p:spPr>
          <a:xfrm>
            <a:off x="9483785" y="430094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2BE9889E-F029-92BF-7B1C-637F755FBAB6}"/>
              </a:ext>
            </a:extLst>
          </p:cNvPr>
          <p:cNvSpPr/>
          <p:nvPr/>
        </p:nvSpPr>
        <p:spPr>
          <a:xfrm>
            <a:off x="9870928" y="38555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82F2D67-B88D-01C2-5F32-459B29B7A181}"/>
              </a:ext>
            </a:extLst>
          </p:cNvPr>
          <p:cNvSpPr/>
          <p:nvPr/>
        </p:nvSpPr>
        <p:spPr>
          <a:xfrm>
            <a:off x="10222224" y="460674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5815F25A-362E-B857-DCAE-251C77CD16DE}"/>
              </a:ext>
            </a:extLst>
          </p:cNvPr>
          <p:cNvSpPr/>
          <p:nvPr/>
        </p:nvSpPr>
        <p:spPr>
          <a:xfrm>
            <a:off x="10700915" y="429023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D15C92F-CF4A-2979-B053-DBDB0D821B43}"/>
              </a:ext>
            </a:extLst>
          </p:cNvPr>
          <p:cNvSpPr/>
          <p:nvPr/>
        </p:nvSpPr>
        <p:spPr>
          <a:xfrm>
            <a:off x="11179606" y="397371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AC8057C-F040-E0D7-993D-A3B60E095BF4}"/>
              </a:ext>
            </a:extLst>
          </p:cNvPr>
          <p:cNvSpPr/>
          <p:nvPr/>
        </p:nvSpPr>
        <p:spPr>
          <a:xfrm>
            <a:off x="9952808" y="28551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2F423A5-46FD-E582-2F0A-2423883B0388}"/>
              </a:ext>
            </a:extLst>
          </p:cNvPr>
          <p:cNvSpPr/>
          <p:nvPr/>
        </p:nvSpPr>
        <p:spPr>
          <a:xfrm>
            <a:off x="9856993" y="42681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18798CF8-CF03-1DD7-2D5E-BBC2BAB8AB43}"/>
              </a:ext>
            </a:extLst>
          </p:cNvPr>
          <p:cNvSpPr/>
          <p:nvPr/>
        </p:nvSpPr>
        <p:spPr>
          <a:xfrm>
            <a:off x="10009393" y="44205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62DD374A-4062-FBF5-5307-0B49E6C29553}"/>
              </a:ext>
            </a:extLst>
          </p:cNvPr>
          <p:cNvSpPr/>
          <p:nvPr/>
        </p:nvSpPr>
        <p:spPr>
          <a:xfrm>
            <a:off x="10087556" y="435854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037493E6-B135-065C-2D60-08B5BDD1FB48}"/>
              </a:ext>
            </a:extLst>
          </p:cNvPr>
          <p:cNvSpPr/>
          <p:nvPr/>
        </p:nvSpPr>
        <p:spPr>
          <a:xfrm>
            <a:off x="10541443" y="40092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4B83687A-4A98-46F3-4296-7D83E9D97D9D}"/>
              </a:ext>
            </a:extLst>
          </p:cNvPr>
          <p:cNvSpPr/>
          <p:nvPr/>
        </p:nvSpPr>
        <p:spPr>
          <a:xfrm>
            <a:off x="10843317" y="379658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614F1121-1AEA-D2F0-3C88-A3B9C22DFC91}"/>
              </a:ext>
            </a:extLst>
          </p:cNvPr>
          <p:cNvSpPr/>
          <p:nvPr/>
        </p:nvSpPr>
        <p:spPr>
          <a:xfrm>
            <a:off x="11199213" y="433144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E97B5C08-ADFA-7242-C7D8-959A0A98CEE5}"/>
              </a:ext>
            </a:extLst>
          </p:cNvPr>
          <p:cNvSpPr/>
          <p:nvPr/>
        </p:nvSpPr>
        <p:spPr>
          <a:xfrm>
            <a:off x="8644198" y="322638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CB405133-B162-15B6-EB00-C3B9AF062E24}"/>
              </a:ext>
            </a:extLst>
          </p:cNvPr>
          <p:cNvSpPr/>
          <p:nvPr/>
        </p:nvSpPr>
        <p:spPr>
          <a:xfrm>
            <a:off x="7819883" y="23168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A5F15AA9-83C9-A53E-482A-FE2F2C721740}"/>
              </a:ext>
            </a:extLst>
          </p:cNvPr>
          <p:cNvSpPr/>
          <p:nvPr/>
        </p:nvSpPr>
        <p:spPr>
          <a:xfrm>
            <a:off x="10180194" y="208133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0D7CB4F9-2EC5-218F-2CD2-03F57804ACF8}"/>
              </a:ext>
            </a:extLst>
          </p:cNvPr>
          <p:cNvSpPr/>
          <p:nvPr/>
        </p:nvSpPr>
        <p:spPr>
          <a:xfrm>
            <a:off x="9543222" y="293996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7EB332B9-F6A7-7968-A4E5-FE68D6A2C2B6}"/>
              </a:ext>
            </a:extLst>
          </p:cNvPr>
          <p:cNvSpPr/>
          <p:nvPr/>
        </p:nvSpPr>
        <p:spPr>
          <a:xfrm>
            <a:off x="7876484" y="33127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1FDE32A3-DFD9-8BC8-8D02-172B95DF4FC8}"/>
              </a:ext>
            </a:extLst>
          </p:cNvPr>
          <p:cNvSpPr/>
          <p:nvPr/>
        </p:nvSpPr>
        <p:spPr>
          <a:xfrm>
            <a:off x="8600943" y="433121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EE274D09-C88D-5765-521B-7CFA9DFE79E5}"/>
              </a:ext>
            </a:extLst>
          </p:cNvPr>
          <p:cNvSpPr/>
          <p:nvPr/>
        </p:nvSpPr>
        <p:spPr>
          <a:xfrm>
            <a:off x="8929004" y="544818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4D883D65-D8DF-293E-215B-FD5AE4B17AFD}"/>
              </a:ext>
            </a:extLst>
          </p:cNvPr>
          <p:cNvSpPr/>
          <p:nvPr/>
        </p:nvSpPr>
        <p:spPr>
          <a:xfrm>
            <a:off x="10465689" y="34816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8FAA074-90AF-9CA2-5FF9-B97433FDF106}"/>
              </a:ext>
            </a:extLst>
          </p:cNvPr>
          <p:cNvSpPr/>
          <p:nvPr/>
        </p:nvSpPr>
        <p:spPr>
          <a:xfrm>
            <a:off x="9212037" y="196686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F75C6CF8-0706-0E32-2ACD-195CF8B20048}"/>
              </a:ext>
            </a:extLst>
          </p:cNvPr>
          <p:cNvSpPr/>
          <p:nvPr/>
        </p:nvSpPr>
        <p:spPr>
          <a:xfrm>
            <a:off x="7851860" y="18319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CF48D85-F3E1-5A0C-06C1-9BF46CA42579}"/>
              </a:ext>
            </a:extLst>
          </p:cNvPr>
          <p:cNvSpPr/>
          <p:nvPr/>
        </p:nvSpPr>
        <p:spPr>
          <a:xfrm>
            <a:off x="7925276" y="36508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76BDBBDD-1364-A63C-4651-E7ED2C7F6209}"/>
              </a:ext>
            </a:extLst>
          </p:cNvPr>
          <p:cNvSpPr/>
          <p:nvPr/>
        </p:nvSpPr>
        <p:spPr>
          <a:xfrm>
            <a:off x="8819811" y="366337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93E5428E-6F8A-DFAE-B136-C7DB083F978C}"/>
              </a:ext>
            </a:extLst>
          </p:cNvPr>
          <p:cNvSpPr/>
          <p:nvPr/>
        </p:nvSpPr>
        <p:spPr>
          <a:xfrm>
            <a:off x="9613457" y="459365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05BDE5F6-124F-8345-B441-BE03835F900F}"/>
              </a:ext>
            </a:extLst>
          </p:cNvPr>
          <p:cNvSpPr/>
          <p:nvPr/>
        </p:nvSpPr>
        <p:spPr>
          <a:xfrm>
            <a:off x="8504931" y="21605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17864716-AD43-6C9B-1DEA-BD7BB639384F}"/>
              </a:ext>
            </a:extLst>
          </p:cNvPr>
          <p:cNvSpPr/>
          <p:nvPr/>
        </p:nvSpPr>
        <p:spPr>
          <a:xfrm>
            <a:off x="8260877" y="25690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D63DFF01-FE81-1BFB-0D80-BACB84DBEF73}"/>
              </a:ext>
            </a:extLst>
          </p:cNvPr>
          <p:cNvSpPr/>
          <p:nvPr/>
        </p:nvSpPr>
        <p:spPr>
          <a:xfrm>
            <a:off x="8259529" y="186769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C7880483-626E-912E-80A9-150F394202B1}"/>
              </a:ext>
            </a:extLst>
          </p:cNvPr>
          <p:cNvSpPr/>
          <p:nvPr/>
        </p:nvSpPr>
        <p:spPr>
          <a:xfrm>
            <a:off x="7471687" y="359387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1D4294F6-D1C3-6B4D-9F83-6856472B93FB}"/>
              </a:ext>
            </a:extLst>
          </p:cNvPr>
          <p:cNvSpPr/>
          <p:nvPr/>
        </p:nvSpPr>
        <p:spPr>
          <a:xfrm>
            <a:off x="9073582" y="307701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627B184C-BD9E-CBDD-83C5-5AD694E4E52E}"/>
              </a:ext>
            </a:extLst>
          </p:cNvPr>
          <p:cNvSpPr/>
          <p:nvPr/>
        </p:nvSpPr>
        <p:spPr>
          <a:xfrm>
            <a:off x="9467025" y="364093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10F31478-539A-1332-F91E-8B1AF80892E4}"/>
              </a:ext>
            </a:extLst>
          </p:cNvPr>
          <p:cNvSpPr/>
          <p:nvPr/>
        </p:nvSpPr>
        <p:spPr>
          <a:xfrm>
            <a:off x="10801375" y="415520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854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3" fill="hold">
                      <p:stCondLst>
                        <p:cond delay="indefinite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6" grpId="0" animBg="1"/>
      <p:bldP spid="247" grpId="0" animBg="1"/>
      <p:bldP spid="248" grpId="0"/>
      <p:bldP spid="249" grpId="0"/>
      <p:bldP spid="256" grpId="0" animBg="1"/>
      <p:bldP spid="257" grpId="0"/>
      <p:bldP spid="258" grpId="0" animBg="1"/>
      <p:bldP spid="259" grpId="0"/>
      <p:bldP spid="270" grpId="0" animBg="1"/>
      <p:bldP spid="271" grpId="0"/>
      <p:bldP spid="274" grpId="0" animBg="1"/>
      <p:bldP spid="275" grpId="0"/>
      <p:bldP spid="276" grpId="0" animBg="1"/>
      <p:bldP spid="277" grpId="0"/>
      <p:bldP spid="91" grpId="0" animBg="1"/>
      <p:bldP spid="92" grpId="0"/>
      <p:bldP spid="108" grpId="0" animBg="1"/>
      <p:bldP spid="109" grpId="0" animBg="1"/>
      <p:bldP spid="111" grpId="0" animBg="1"/>
      <p:bldP spid="112" grpId="0" animBg="1"/>
      <p:bldP spid="114" grpId="0" animBg="1"/>
      <p:bldP spid="115" grpId="0" animBg="1"/>
      <p:bldP spid="116" grpId="0" animBg="1"/>
      <p:bldP spid="4" grpId="0" animBg="1"/>
      <p:bldP spid="5" grpId="0" animBg="1"/>
      <p:bldP spid="6" grpId="0" animBg="1"/>
      <p:bldP spid="7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4" grpId="0" animBg="1"/>
      <p:bldP spid="35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44" grpId="0" animBg="1"/>
      <p:bldP spid="45" grpId="0" animBg="1"/>
      <p:bldP spid="48" grpId="0" animBg="1"/>
      <p:bldP spid="50" grpId="0" animBg="1"/>
      <p:bldP spid="51" grpId="0" animBg="1"/>
      <p:bldP spid="52" grpId="0" animBg="1"/>
      <p:bldP spid="54" grpId="0" animBg="1"/>
      <p:bldP spid="55" grpId="0" animBg="1"/>
      <p:bldP spid="56" grpId="0" animBg="1"/>
      <p:bldP spid="57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6" grpId="0" animBg="1"/>
      <p:bldP spid="68" grpId="0" animBg="1"/>
      <p:bldP spid="70" grpId="0" animBg="1"/>
      <p:bldP spid="72" grpId="0" animBg="1"/>
      <p:bldP spid="73" grpId="0" animBg="1"/>
      <p:bldP spid="74" grpId="0" animBg="1"/>
      <p:bldP spid="76" grpId="0" animBg="1"/>
      <p:bldP spid="77" grpId="0" animBg="1"/>
      <p:bldP spid="78" grpId="0" animBg="1"/>
      <p:bldP spid="80" grpId="0" animBg="1"/>
      <p:bldP spid="81" grpId="0" animBg="1"/>
      <p:bldP spid="82" grpId="0" animBg="1"/>
      <p:bldP spid="83" grpId="0" animBg="1"/>
      <p:bldP spid="85" grpId="0" animBg="1"/>
      <p:bldP spid="86" grpId="0" animBg="1"/>
      <p:bldP spid="88" grpId="0" animBg="1"/>
      <p:bldP spid="89" grpId="0" animBg="1"/>
      <p:bldP spid="93" grpId="0" animBg="1"/>
      <p:bldP spid="95" grpId="0" animBg="1"/>
      <p:bldP spid="96" grpId="0" animBg="1"/>
      <p:bldP spid="97" grpId="0" animBg="1"/>
      <p:bldP spid="99" grpId="0" animBg="1"/>
      <p:bldP spid="100" grpId="0" animBg="1"/>
      <p:bldP spid="102" grpId="0" animBg="1"/>
      <p:bldP spid="10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B23BB-D866-33E9-A2D0-7D8429690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53D12-33DF-F1CA-A80A-0DDBBDD74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BD3CBD-806A-7EA3-8C83-26E643FE453A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Coarse quantization divides a search space into smaller regions </a:t>
                </a:r>
              </a:p>
              <a:p>
                <a:r>
                  <a:rPr lang="en-US" dirty="0">
                    <a:latin typeface="+mn-lt"/>
                  </a:rPr>
                  <a:t>Search on inverted index of centroids is only;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)≪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Once cell is found a fine search is performed for nearest neighbors  </a:t>
                </a:r>
              </a:p>
              <a:p>
                <a:pPr lvl="1"/>
                <a:r>
                  <a:rPr lang="en-US" dirty="0">
                    <a:latin typeface="+mn-lt"/>
                  </a:rPr>
                  <a:t>Only need to search observations in the cell  </a:t>
                </a:r>
              </a:p>
              <a:p>
                <a:pPr lvl="1"/>
                <a:r>
                  <a:rPr lang="en-US" dirty="0">
                    <a:latin typeface="+mn-lt"/>
                  </a:rPr>
                  <a:t>Many fine search methods can be used, such as using a flat index  </a:t>
                </a:r>
              </a:p>
              <a:p>
                <a:pPr lvl="1"/>
                <a:r>
                  <a:rPr lang="en-US" dirty="0">
                    <a:latin typeface="+mn-lt"/>
                  </a:rPr>
                  <a:t>Complexity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BD3CBD-806A-7EA3-8C83-26E643FE45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  <a:blipFill>
                <a:blip r:embed="rId3"/>
                <a:stretch>
                  <a:fillRect l="-2128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D3CFA46-F4C3-BD5D-A4C1-3B34B1056C42}"/>
              </a:ext>
            </a:extLst>
          </p:cNvPr>
          <p:cNvCxnSpPr>
            <a:cxnSpLocks/>
          </p:cNvCxnSpPr>
          <p:nvPr/>
        </p:nvCxnSpPr>
        <p:spPr>
          <a:xfrm flipV="1">
            <a:off x="6845742" y="2881291"/>
            <a:ext cx="930733" cy="7555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FAD5C6D-0985-C4DC-0A12-893A965A6586}"/>
              </a:ext>
            </a:extLst>
          </p:cNvPr>
          <p:cNvCxnSpPr>
            <a:cxnSpLocks/>
          </p:cNvCxnSpPr>
          <p:nvPr/>
        </p:nvCxnSpPr>
        <p:spPr>
          <a:xfrm flipH="1" flipV="1">
            <a:off x="7776475" y="2850805"/>
            <a:ext cx="601450" cy="502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A541CB1-047C-4806-A107-04CBA1FE4E45}"/>
              </a:ext>
            </a:extLst>
          </p:cNvPr>
          <p:cNvCxnSpPr>
            <a:cxnSpLocks/>
          </p:cNvCxnSpPr>
          <p:nvPr/>
        </p:nvCxnSpPr>
        <p:spPr>
          <a:xfrm flipH="1" flipV="1">
            <a:off x="8316685" y="2901020"/>
            <a:ext cx="283029" cy="8763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24689A5-59EA-9F12-2970-F926DEA2E902}"/>
              </a:ext>
            </a:extLst>
          </p:cNvPr>
          <p:cNvCxnSpPr>
            <a:cxnSpLocks/>
          </p:cNvCxnSpPr>
          <p:nvPr/>
        </p:nvCxnSpPr>
        <p:spPr>
          <a:xfrm flipH="1">
            <a:off x="7920715" y="3777343"/>
            <a:ext cx="646351" cy="8575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2FFE11E-5CC9-4AAB-A7D1-8700A5626439}"/>
              </a:ext>
            </a:extLst>
          </p:cNvPr>
          <p:cNvCxnSpPr>
            <a:cxnSpLocks/>
          </p:cNvCxnSpPr>
          <p:nvPr/>
        </p:nvCxnSpPr>
        <p:spPr>
          <a:xfrm flipH="1">
            <a:off x="7097485" y="4631293"/>
            <a:ext cx="835470" cy="114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855ADCC-F8F0-A8D4-4BD3-4984BF069EAA}"/>
              </a:ext>
            </a:extLst>
          </p:cNvPr>
          <p:cNvCxnSpPr>
            <a:cxnSpLocks/>
          </p:cNvCxnSpPr>
          <p:nvPr/>
        </p:nvCxnSpPr>
        <p:spPr>
          <a:xfrm flipH="1" flipV="1">
            <a:off x="6845742" y="3668856"/>
            <a:ext cx="283046" cy="93044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AC5E896-C994-1747-9F0C-6528F859BAEB}"/>
              </a:ext>
            </a:extLst>
          </p:cNvPr>
          <p:cNvCxnSpPr>
            <a:cxnSpLocks/>
          </p:cNvCxnSpPr>
          <p:nvPr/>
        </p:nvCxnSpPr>
        <p:spPr>
          <a:xfrm flipH="1">
            <a:off x="8335739" y="2442227"/>
            <a:ext cx="658576" cy="46676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07F0EF4-604D-10A4-4E6F-200E769F627B}"/>
              </a:ext>
            </a:extLst>
          </p:cNvPr>
          <p:cNvCxnSpPr>
            <a:cxnSpLocks/>
          </p:cNvCxnSpPr>
          <p:nvPr/>
        </p:nvCxnSpPr>
        <p:spPr>
          <a:xfrm flipH="1" flipV="1">
            <a:off x="8599714" y="3777343"/>
            <a:ext cx="557209" cy="27082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6FE5309-90F7-92E4-5F9B-181CA59204C0}"/>
              </a:ext>
            </a:extLst>
          </p:cNvPr>
          <p:cNvCxnSpPr>
            <a:cxnSpLocks/>
          </p:cNvCxnSpPr>
          <p:nvPr/>
        </p:nvCxnSpPr>
        <p:spPr>
          <a:xfrm flipV="1">
            <a:off x="10142758" y="3557569"/>
            <a:ext cx="766084" cy="4492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DE7E719-5C57-855C-52D2-FC84B6EC4AE7}"/>
              </a:ext>
            </a:extLst>
          </p:cNvPr>
          <p:cNvCxnSpPr>
            <a:cxnSpLocks/>
          </p:cNvCxnSpPr>
          <p:nvPr/>
        </p:nvCxnSpPr>
        <p:spPr>
          <a:xfrm flipH="1" flipV="1">
            <a:off x="9013369" y="2442227"/>
            <a:ext cx="778335" cy="34426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7114915-E531-0023-4B74-C1B2C473ED1B}"/>
              </a:ext>
            </a:extLst>
          </p:cNvPr>
          <p:cNvCxnSpPr>
            <a:cxnSpLocks/>
          </p:cNvCxnSpPr>
          <p:nvPr/>
        </p:nvCxnSpPr>
        <p:spPr>
          <a:xfrm flipH="1" flipV="1">
            <a:off x="9802585" y="2755681"/>
            <a:ext cx="263965" cy="12511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0714DE8-91FA-B913-A118-88E3DD3A5F7A}"/>
              </a:ext>
            </a:extLst>
          </p:cNvPr>
          <p:cNvCxnSpPr>
            <a:cxnSpLocks/>
          </p:cNvCxnSpPr>
          <p:nvPr/>
        </p:nvCxnSpPr>
        <p:spPr>
          <a:xfrm flipH="1" flipV="1">
            <a:off x="7897579" y="4615544"/>
            <a:ext cx="244930" cy="112266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FE01902-72D8-0DF8-BBFE-30B02BF0D93B}"/>
              </a:ext>
            </a:extLst>
          </p:cNvPr>
          <p:cNvCxnSpPr>
            <a:cxnSpLocks/>
          </p:cNvCxnSpPr>
          <p:nvPr/>
        </p:nvCxnSpPr>
        <p:spPr>
          <a:xfrm>
            <a:off x="9145360" y="4066330"/>
            <a:ext cx="548367" cy="118098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52CBEA5-0EE4-7DC3-3F56-E73AB87C97CC}"/>
              </a:ext>
            </a:extLst>
          </p:cNvPr>
          <p:cNvCxnSpPr>
            <a:cxnSpLocks/>
          </p:cNvCxnSpPr>
          <p:nvPr/>
        </p:nvCxnSpPr>
        <p:spPr>
          <a:xfrm flipV="1">
            <a:off x="9285520" y="5176875"/>
            <a:ext cx="408207" cy="81026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CD37D65-0503-15B1-98FA-05D72A7C99CD}"/>
              </a:ext>
            </a:extLst>
          </p:cNvPr>
          <p:cNvCxnSpPr>
            <a:cxnSpLocks/>
          </p:cNvCxnSpPr>
          <p:nvPr/>
        </p:nvCxnSpPr>
        <p:spPr>
          <a:xfrm>
            <a:off x="8107129" y="5738206"/>
            <a:ext cx="1172942" cy="24893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AB2189D9-37EB-18F3-E8A1-C4E57CF319EB}"/>
              </a:ext>
            </a:extLst>
          </p:cNvPr>
          <p:cNvCxnSpPr>
            <a:cxnSpLocks/>
          </p:cNvCxnSpPr>
          <p:nvPr/>
        </p:nvCxnSpPr>
        <p:spPr>
          <a:xfrm flipH="1" flipV="1">
            <a:off x="7394945" y="2358510"/>
            <a:ext cx="395964" cy="50854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41D11E9F-5ADB-0162-653B-173E3AC5F9BB}"/>
              </a:ext>
            </a:extLst>
          </p:cNvPr>
          <p:cNvCxnSpPr>
            <a:cxnSpLocks/>
          </p:cNvCxnSpPr>
          <p:nvPr/>
        </p:nvCxnSpPr>
        <p:spPr>
          <a:xfrm flipH="1" flipV="1">
            <a:off x="8961659" y="1575534"/>
            <a:ext cx="51710" cy="87513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235E5DE2-BFE9-2629-D6C1-C15DCA63B16A}"/>
              </a:ext>
            </a:extLst>
          </p:cNvPr>
          <p:cNvCxnSpPr>
            <a:cxnSpLocks/>
          </p:cNvCxnSpPr>
          <p:nvPr/>
        </p:nvCxnSpPr>
        <p:spPr>
          <a:xfrm flipV="1">
            <a:off x="7375061" y="1887236"/>
            <a:ext cx="0" cy="42454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33EBFE3-933D-5C52-D751-C3C1987BB357}"/>
              </a:ext>
            </a:extLst>
          </p:cNvPr>
          <p:cNvCxnSpPr>
            <a:cxnSpLocks/>
          </p:cNvCxnSpPr>
          <p:nvPr/>
        </p:nvCxnSpPr>
        <p:spPr>
          <a:xfrm flipH="1">
            <a:off x="7375061" y="1415023"/>
            <a:ext cx="631379" cy="47221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076E85A5-8500-4474-CEA2-F2EA8184E70D}"/>
              </a:ext>
            </a:extLst>
          </p:cNvPr>
          <p:cNvCxnSpPr>
            <a:cxnSpLocks/>
          </p:cNvCxnSpPr>
          <p:nvPr/>
        </p:nvCxnSpPr>
        <p:spPr>
          <a:xfrm flipH="1" flipV="1">
            <a:off x="8009155" y="1415023"/>
            <a:ext cx="944344" cy="19140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2C9B571-898B-8A2C-1E84-8140D09B333D}"/>
              </a:ext>
            </a:extLst>
          </p:cNvPr>
          <p:cNvCxnSpPr>
            <a:cxnSpLocks/>
          </p:cNvCxnSpPr>
          <p:nvPr/>
        </p:nvCxnSpPr>
        <p:spPr>
          <a:xfrm flipH="1">
            <a:off x="8929004" y="1393371"/>
            <a:ext cx="889915" cy="23174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6692851-ECB1-F0EC-26D8-331769133334}"/>
              </a:ext>
            </a:extLst>
          </p:cNvPr>
          <p:cNvCxnSpPr>
            <a:cxnSpLocks/>
          </p:cNvCxnSpPr>
          <p:nvPr/>
        </p:nvCxnSpPr>
        <p:spPr>
          <a:xfrm flipH="1">
            <a:off x="9857014" y="2412534"/>
            <a:ext cx="530667" cy="3431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D577C1A4-BA34-9C9A-469A-DAD2FD80A772}"/>
              </a:ext>
            </a:extLst>
          </p:cNvPr>
          <p:cNvCxnSpPr>
            <a:cxnSpLocks/>
          </p:cNvCxnSpPr>
          <p:nvPr/>
        </p:nvCxnSpPr>
        <p:spPr>
          <a:xfrm flipV="1">
            <a:off x="10406735" y="1960206"/>
            <a:ext cx="108856" cy="4463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2565BB8F-BDEF-77A8-F20C-BAE3828CBF19}"/>
              </a:ext>
            </a:extLst>
          </p:cNvPr>
          <p:cNvCxnSpPr>
            <a:cxnSpLocks/>
          </p:cNvCxnSpPr>
          <p:nvPr/>
        </p:nvCxnSpPr>
        <p:spPr>
          <a:xfrm flipH="1" flipV="1">
            <a:off x="9799869" y="1404405"/>
            <a:ext cx="683067" cy="55276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9E0DD3C2-CA8F-327B-B2DB-3C461D8912C3}"/>
              </a:ext>
            </a:extLst>
          </p:cNvPr>
          <p:cNvCxnSpPr>
            <a:cxnSpLocks/>
          </p:cNvCxnSpPr>
          <p:nvPr/>
        </p:nvCxnSpPr>
        <p:spPr>
          <a:xfrm flipH="1" flipV="1">
            <a:off x="10096502" y="4028019"/>
            <a:ext cx="642253" cy="60685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644F7488-AF01-B5B9-D47D-38A76F4598C5}"/>
              </a:ext>
            </a:extLst>
          </p:cNvPr>
          <p:cNvCxnSpPr>
            <a:cxnSpLocks/>
          </p:cNvCxnSpPr>
          <p:nvPr/>
        </p:nvCxnSpPr>
        <p:spPr>
          <a:xfrm flipH="1">
            <a:off x="9737269" y="5083628"/>
            <a:ext cx="1001487" cy="932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70FC1A7-5FF9-6DE3-7B9C-60FC5F7B83B8}"/>
              </a:ext>
            </a:extLst>
          </p:cNvPr>
          <p:cNvCxnSpPr>
            <a:cxnSpLocks/>
          </p:cNvCxnSpPr>
          <p:nvPr/>
        </p:nvCxnSpPr>
        <p:spPr>
          <a:xfrm>
            <a:off x="10714262" y="4599297"/>
            <a:ext cx="48987" cy="5309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C3E61BDC-D981-6BDF-D84D-682F1C4FEF95}"/>
              </a:ext>
            </a:extLst>
          </p:cNvPr>
          <p:cNvCxnSpPr>
            <a:cxnSpLocks/>
          </p:cNvCxnSpPr>
          <p:nvPr/>
        </p:nvCxnSpPr>
        <p:spPr>
          <a:xfrm>
            <a:off x="10888429" y="3579261"/>
            <a:ext cx="713007" cy="31099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803BC2A0-E675-CFF9-288C-E41FEEA38713}"/>
              </a:ext>
            </a:extLst>
          </p:cNvPr>
          <p:cNvCxnSpPr>
            <a:cxnSpLocks/>
          </p:cNvCxnSpPr>
          <p:nvPr/>
        </p:nvCxnSpPr>
        <p:spPr>
          <a:xfrm flipH="1">
            <a:off x="10714262" y="4521379"/>
            <a:ext cx="700762" cy="12138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095277-0BCB-B193-2AF4-9326127DC79B}"/>
              </a:ext>
            </a:extLst>
          </p:cNvPr>
          <p:cNvCxnSpPr>
            <a:cxnSpLocks/>
          </p:cNvCxnSpPr>
          <p:nvPr/>
        </p:nvCxnSpPr>
        <p:spPr>
          <a:xfrm flipH="1">
            <a:off x="11408213" y="3890832"/>
            <a:ext cx="193223" cy="6305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Oval 245">
            <a:extLst>
              <a:ext uri="{FF2B5EF4-FFF2-40B4-BE49-F238E27FC236}">
                <a16:creationId xmlns:a16="http://schemas.microsoft.com/office/drawing/2014/main" id="{589D180E-B814-EAC2-8F96-A2B8720D2389}"/>
              </a:ext>
            </a:extLst>
          </p:cNvPr>
          <p:cNvSpPr/>
          <p:nvPr/>
        </p:nvSpPr>
        <p:spPr>
          <a:xfrm>
            <a:off x="8059842" y="1960074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8A889929-5C12-5365-2485-DAD17DB55C74}"/>
              </a:ext>
            </a:extLst>
          </p:cNvPr>
          <p:cNvSpPr/>
          <p:nvPr/>
        </p:nvSpPr>
        <p:spPr>
          <a:xfrm>
            <a:off x="9746113" y="355756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3A5FF7D6-90F5-C10F-D2E3-29F772CFAE1F}"/>
                  </a:ext>
                </a:extLst>
              </p:cNvPr>
              <p:cNvSpPr txBox="1"/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3A5FF7D6-90F5-C10F-D2E3-29F772CFA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C3D10703-CC52-E151-C04B-5393D039D8AF}"/>
                  </a:ext>
                </a:extLst>
              </p:cNvPr>
              <p:cNvSpPr txBox="1"/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C3D10703-CC52-E151-C04B-5393D039D8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55">
            <a:extLst>
              <a:ext uri="{FF2B5EF4-FFF2-40B4-BE49-F238E27FC236}">
                <a16:creationId xmlns:a16="http://schemas.microsoft.com/office/drawing/2014/main" id="{2FA0B614-019F-298B-4F5E-88D1F14150DF}"/>
              </a:ext>
            </a:extLst>
          </p:cNvPr>
          <p:cNvSpPr/>
          <p:nvPr/>
        </p:nvSpPr>
        <p:spPr>
          <a:xfrm>
            <a:off x="8558890" y="181795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658904C-3EDC-1448-F589-5D45B72BA8F9}"/>
                  </a:ext>
                </a:extLst>
              </p:cNvPr>
              <p:cNvSpPr txBox="1"/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658904C-3EDC-1448-F589-5D45B72BA8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Oval 257">
            <a:extLst>
              <a:ext uri="{FF2B5EF4-FFF2-40B4-BE49-F238E27FC236}">
                <a16:creationId xmlns:a16="http://schemas.microsoft.com/office/drawing/2014/main" id="{CF5C24B3-8B28-F672-D24D-F2A52072CE76}"/>
              </a:ext>
            </a:extLst>
          </p:cNvPr>
          <p:cNvSpPr/>
          <p:nvPr/>
        </p:nvSpPr>
        <p:spPr>
          <a:xfrm>
            <a:off x="10980216" y="299704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F157012B-4D88-BD27-3D6D-A0AF78E64AFC}"/>
                  </a:ext>
                </a:extLst>
              </p:cNvPr>
              <p:cNvSpPr txBox="1"/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F157012B-4D88-BD27-3D6D-A0AF78E64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0" name="Oval 269">
            <a:extLst>
              <a:ext uri="{FF2B5EF4-FFF2-40B4-BE49-F238E27FC236}">
                <a16:creationId xmlns:a16="http://schemas.microsoft.com/office/drawing/2014/main" id="{1BA8BDB5-6504-94EC-4A2C-6F2B76CEA91D}"/>
              </a:ext>
            </a:extLst>
          </p:cNvPr>
          <p:cNvSpPr/>
          <p:nvPr/>
        </p:nvSpPr>
        <p:spPr>
          <a:xfrm>
            <a:off x="10381551" y="484178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5A41537E-1628-FE4D-7D94-964A168AC72C}"/>
                  </a:ext>
                </a:extLst>
              </p:cNvPr>
              <p:cNvSpPr txBox="1"/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5A41537E-1628-FE4D-7D94-964A168AC7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Oval 273">
            <a:extLst>
              <a:ext uri="{FF2B5EF4-FFF2-40B4-BE49-F238E27FC236}">
                <a16:creationId xmlns:a16="http://schemas.microsoft.com/office/drawing/2014/main" id="{9F0C91E1-50E1-9C60-EABA-E30586F0044C}"/>
              </a:ext>
            </a:extLst>
          </p:cNvPr>
          <p:cNvSpPr/>
          <p:nvPr/>
        </p:nvSpPr>
        <p:spPr>
          <a:xfrm>
            <a:off x="9134473" y="562716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DBF580C2-2C9C-17AD-9865-BBCADEBDC320}"/>
                  </a:ext>
                </a:extLst>
              </p:cNvPr>
              <p:cNvSpPr txBox="1"/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DBF580C2-2C9C-17AD-9865-BBCADEBDC3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" name="Oval 275">
            <a:extLst>
              <a:ext uri="{FF2B5EF4-FFF2-40B4-BE49-F238E27FC236}">
                <a16:creationId xmlns:a16="http://schemas.microsoft.com/office/drawing/2014/main" id="{9B2787FE-E535-A11B-8735-2E053A5C0DF9}"/>
              </a:ext>
            </a:extLst>
          </p:cNvPr>
          <p:cNvSpPr/>
          <p:nvPr/>
        </p:nvSpPr>
        <p:spPr>
          <a:xfrm>
            <a:off x="7400921" y="429514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1863584D-C9F5-AC0C-1852-92082920D563}"/>
                  </a:ext>
                </a:extLst>
              </p:cNvPr>
              <p:cNvSpPr txBox="1"/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1863584D-C9F5-AC0C-1852-92082920D5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540E7BF-0C79-0FFA-D1DC-0A6DE04C86E7}"/>
              </a:ext>
            </a:extLst>
          </p:cNvPr>
          <p:cNvCxnSpPr>
            <a:cxnSpLocks/>
          </p:cNvCxnSpPr>
          <p:nvPr/>
        </p:nvCxnSpPr>
        <p:spPr>
          <a:xfrm flipV="1">
            <a:off x="9146720" y="4007413"/>
            <a:ext cx="1019171" cy="607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C580EC7-04CA-02B6-3052-C6CC73A544DD}"/>
              </a:ext>
            </a:extLst>
          </p:cNvPr>
          <p:cNvCxnSpPr>
            <a:cxnSpLocks/>
          </p:cNvCxnSpPr>
          <p:nvPr/>
        </p:nvCxnSpPr>
        <p:spPr>
          <a:xfrm flipV="1">
            <a:off x="10888429" y="3306380"/>
            <a:ext cx="329302" cy="3026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319A560-9CD2-E687-A292-DD73211C0528}"/>
              </a:ext>
            </a:extLst>
          </p:cNvPr>
          <p:cNvCxnSpPr>
            <a:cxnSpLocks/>
          </p:cNvCxnSpPr>
          <p:nvPr/>
        </p:nvCxnSpPr>
        <p:spPr>
          <a:xfrm flipH="1" flipV="1">
            <a:off x="10406735" y="2384212"/>
            <a:ext cx="810996" cy="3714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CE946DD-A6CE-EEEF-42A8-DA5DA346473D}"/>
              </a:ext>
            </a:extLst>
          </p:cNvPr>
          <p:cNvCxnSpPr>
            <a:cxnSpLocks/>
          </p:cNvCxnSpPr>
          <p:nvPr/>
        </p:nvCxnSpPr>
        <p:spPr>
          <a:xfrm flipV="1">
            <a:off x="11217731" y="2721627"/>
            <a:ext cx="0" cy="56588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E1C55C05-EF26-F048-9ED5-74F0029B4496}"/>
              </a:ext>
            </a:extLst>
          </p:cNvPr>
          <p:cNvSpPr/>
          <p:nvPr/>
        </p:nvSpPr>
        <p:spPr>
          <a:xfrm>
            <a:off x="11348340" y="407802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12B4874E-0185-5B0E-3501-AEDD8CF46ECA}"/>
                  </a:ext>
                </a:extLst>
              </p:cNvPr>
              <p:cNvSpPr txBox="1"/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12B4874E-0185-5B0E-3501-AEDD8CF46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Oval 107">
            <a:extLst>
              <a:ext uri="{FF2B5EF4-FFF2-40B4-BE49-F238E27FC236}">
                <a16:creationId xmlns:a16="http://schemas.microsoft.com/office/drawing/2014/main" id="{5F6AAA8C-1583-F8F6-E749-B6A7B6A278F4}"/>
              </a:ext>
            </a:extLst>
          </p:cNvPr>
          <p:cNvSpPr/>
          <p:nvPr/>
        </p:nvSpPr>
        <p:spPr>
          <a:xfrm>
            <a:off x="9588941" y="1924725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3A85918C-2394-A63D-3E9E-8FECEC326B4F}"/>
              </a:ext>
            </a:extLst>
          </p:cNvPr>
          <p:cNvSpPr/>
          <p:nvPr/>
        </p:nvSpPr>
        <p:spPr>
          <a:xfrm>
            <a:off x="10368971" y="299912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A57E5B20-2874-BC5A-BF97-F4B2B7FE581E}"/>
              </a:ext>
            </a:extLst>
          </p:cNvPr>
          <p:cNvSpPr/>
          <p:nvPr/>
        </p:nvSpPr>
        <p:spPr>
          <a:xfrm>
            <a:off x="9103519" y="3132539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A8ED6189-7CB5-9152-D8F2-66963C26462D}"/>
              </a:ext>
            </a:extLst>
          </p:cNvPr>
          <p:cNvSpPr/>
          <p:nvPr/>
        </p:nvSpPr>
        <p:spPr>
          <a:xfrm>
            <a:off x="7575762" y="3641436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3BC1238E-D4C3-721D-B9CB-FB8E6BA439D7}"/>
              </a:ext>
            </a:extLst>
          </p:cNvPr>
          <p:cNvSpPr/>
          <p:nvPr/>
        </p:nvSpPr>
        <p:spPr>
          <a:xfrm>
            <a:off x="8655485" y="482577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2A79D2DF-3312-6F06-BEA4-CB5366AE4372}"/>
              </a:ext>
            </a:extLst>
          </p:cNvPr>
          <p:cNvSpPr/>
          <p:nvPr/>
        </p:nvSpPr>
        <p:spPr>
          <a:xfrm>
            <a:off x="9799869" y="4445370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9F485908-D8BE-4C26-F8DD-2BDBB0CE74E9}"/>
              </a:ext>
            </a:extLst>
          </p:cNvPr>
          <p:cNvSpPr/>
          <p:nvPr/>
        </p:nvSpPr>
        <p:spPr>
          <a:xfrm>
            <a:off x="10886317" y="3972531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80A9A38-8BA4-6ED4-25FA-B6B00B02F2EE}"/>
              </a:ext>
            </a:extLst>
          </p:cNvPr>
          <p:cNvSpPr/>
          <p:nvPr/>
        </p:nvSpPr>
        <p:spPr>
          <a:xfrm>
            <a:off x="7569278" y="208923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7D01110-6128-8B23-A4CB-D88C411D6426}"/>
              </a:ext>
            </a:extLst>
          </p:cNvPr>
          <p:cNvSpPr/>
          <p:nvPr/>
        </p:nvSpPr>
        <p:spPr>
          <a:xfrm>
            <a:off x="7920715" y="2572336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6E1E1B8-18AC-7301-C6D6-8F31158381F4}"/>
              </a:ext>
            </a:extLst>
          </p:cNvPr>
          <p:cNvSpPr/>
          <p:nvPr/>
        </p:nvSpPr>
        <p:spPr>
          <a:xfrm>
            <a:off x="8571471" y="239424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E750862-B4EF-4353-F418-1C6ABE693A10}"/>
              </a:ext>
            </a:extLst>
          </p:cNvPr>
          <p:cNvSpPr/>
          <p:nvPr/>
        </p:nvSpPr>
        <p:spPr>
          <a:xfrm>
            <a:off x="9222227" y="2216148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AD9D31A-5145-7573-E0A4-326F674BBEBB}"/>
              </a:ext>
            </a:extLst>
          </p:cNvPr>
          <p:cNvSpPr/>
          <p:nvPr/>
        </p:nvSpPr>
        <p:spPr>
          <a:xfrm>
            <a:off x="9872983" y="203805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485ED74-7663-5EC3-8FA3-817AD108269D}"/>
              </a:ext>
            </a:extLst>
          </p:cNvPr>
          <p:cNvSpPr/>
          <p:nvPr/>
        </p:nvSpPr>
        <p:spPr>
          <a:xfrm>
            <a:off x="8074460" y="153382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920198E-2F63-9DFC-7B35-BDFB84196C27}"/>
              </a:ext>
            </a:extLst>
          </p:cNvPr>
          <p:cNvSpPr/>
          <p:nvPr/>
        </p:nvSpPr>
        <p:spPr>
          <a:xfrm>
            <a:off x="9402536" y="171280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01D5FDF-37CE-5D50-4FD6-52FCAC82E0C8}"/>
              </a:ext>
            </a:extLst>
          </p:cNvPr>
          <p:cNvSpPr/>
          <p:nvPr/>
        </p:nvSpPr>
        <p:spPr>
          <a:xfrm>
            <a:off x="9805303" y="245144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B8D384F-08EB-14DA-8248-75541A8DE93D}"/>
              </a:ext>
            </a:extLst>
          </p:cNvPr>
          <p:cNvSpPr/>
          <p:nvPr/>
        </p:nvSpPr>
        <p:spPr>
          <a:xfrm>
            <a:off x="10208070" y="319008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68C4AE2-5598-8323-A5B9-932127F2E3F2}"/>
              </a:ext>
            </a:extLst>
          </p:cNvPr>
          <p:cNvSpPr/>
          <p:nvPr/>
        </p:nvSpPr>
        <p:spPr>
          <a:xfrm>
            <a:off x="10452991" y="27517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7F60DE1-04CE-FFF6-D11D-BBCA69403C29}"/>
              </a:ext>
            </a:extLst>
          </p:cNvPr>
          <p:cNvSpPr/>
          <p:nvPr/>
        </p:nvSpPr>
        <p:spPr>
          <a:xfrm>
            <a:off x="10605391" y="2904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AE3A418-5946-D25F-ED70-1C8B718F5B75}"/>
              </a:ext>
            </a:extLst>
          </p:cNvPr>
          <p:cNvSpPr/>
          <p:nvPr/>
        </p:nvSpPr>
        <p:spPr>
          <a:xfrm>
            <a:off x="10236911" y="364811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DCB089D-DED7-28E7-109E-348A883D2209}"/>
              </a:ext>
            </a:extLst>
          </p:cNvPr>
          <p:cNvSpPr/>
          <p:nvPr/>
        </p:nvSpPr>
        <p:spPr>
          <a:xfrm>
            <a:off x="9313274" y="384327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5A8F521-202F-98D4-6C2B-11293F364254}"/>
              </a:ext>
            </a:extLst>
          </p:cNvPr>
          <p:cNvSpPr/>
          <p:nvPr/>
        </p:nvSpPr>
        <p:spPr>
          <a:xfrm>
            <a:off x="8849362" y="337219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4552394-74EA-86E3-3C8F-92D67524BD28}"/>
              </a:ext>
            </a:extLst>
          </p:cNvPr>
          <p:cNvSpPr/>
          <p:nvPr/>
        </p:nvSpPr>
        <p:spPr>
          <a:xfrm>
            <a:off x="8675632" y="295697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3211382-C519-8FF9-0B91-9C4E335C6250}"/>
              </a:ext>
            </a:extLst>
          </p:cNvPr>
          <p:cNvSpPr/>
          <p:nvPr/>
        </p:nvSpPr>
        <p:spPr>
          <a:xfrm>
            <a:off x="8776819" y="213989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74E2460-B41E-778B-84DB-0508C7EC1DFB}"/>
              </a:ext>
            </a:extLst>
          </p:cNvPr>
          <p:cNvSpPr/>
          <p:nvPr/>
        </p:nvSpPr>
        <p:spPr>
          <a:xfrm>
            <a:off x="9328242" y="30378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1794BDD2-95B3-F9DA-11F8-56360C9EC8C5}"/>
              </a:ext>
            </a:extLst>
          </p:cNvPr>
          <p:cNvSpPr/>
          <p:nvPr/>
        </p:nvSpPr>
        <p:spPr>
          <a:xfrm>
            <a:off x="9635229" y="320675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958DC2C-5A25-FF58-0761-BD84183170D5}"/>
              </a:ext>
            </a:extLst>
          </p:cNvPr>
          <p:cNvSpPr/>
          <p:nvPr/>
        </p:nvSpPr>
        <p:spPr>
          <a:xfrm>
            <a:off x="9026987" y="3763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819572F-717E-B895-F3AE-50343FE9C5D6}"/>
              </a:ext>
            </a:extLst>
          </p:cNvPr>
          <p:cNvSpPr/>
          <p:nvPr/>
        </p:nvSpPr>
        <p:spPr>
          <a:xfrm>
            <a:off x="8189853" y="313253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452A662-F675-0759-5FD6-1D16AF426453}"/>
              </a:ext>
            </a:extLst>
          </p:cNvPr>
          <p:cNvSpPr/>
          <p:nvPr/>
        </p:nvSpPr>
        <p:spPr>
          <a:xfrm>
            <a:off x="9840680" y="16881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54D26AF-D530-40D2-62DA-F4D6A7D26438}"/>
              </a:ext>
            </a:extLst>
          </p:cNvPr>
          <p:cNvSpPr/>
          <p:nvPr/>
        </p:nvSpPr>
        <p:spPr>
          <a:xfrm>
            <a:off x="8169713" y="353301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270AEBE-004F-6F2F-C7DC-FB523B79B9E1}"/>
              </a:ext>
            </a:extLst>
          </p:cNvPr>
          <p:cNvSpPr/>
          <p:nvPr/>
        </p:nvSpPr>
        <p:spPr>
          <a:xfrm>
            <a:off x="7599214" y="325586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EF7006E-E05C-4BEB-C0C9-F148063B1D07}"/>
              </a:ext>
            </a:extLst>
          </p:cNvPr>
          <p:cNvSpPr/>
          <p:nvPr/>
        </p:nvSpPr>
        <p:spPr>
          <a:xfrm>
            <a:off x="7071957" y="37514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44AE7750-02DD-9B10-AACF-34191F44AEBD}"/>
              </a:ext>
            </a:extLst>
          </p:cNvPr>
          <p:cNvSpPr/>
          <p:nvPr/>
        </p:nvSpPr>
        <p:spPr>
          <a:xfrm>
            <a:off x="7224357" y="39038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D5E83BB-1DBE-7EAF-79C8-CAD95C6B5353}"/>
              </a:ext>
            </a:extLst>
          </p:cNvPr>
          <p:cNvSpPr/>
          <p:nvPr/>
        </p:nvSpPr>
        <p:spPr>
          <a:xfrm>
            <a:off x="8066628" y="40236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E1506762-4F46-E504-3876-F261F0C59FFF}"/>
              </a:ext>
            </a:extLst>
          </p:cNvPr>
          <p:cNvSpPr/>
          <p:nvPr/>
        </p:nvSpPr>
        <p:spPr>
          <a:xfrm>
            <a:off x="8696866" y="40481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6A37FF1-095C-7E3B-E106-9D32FF250AB1}"/>
              </a:ext>
            </a:extLst>
          </p:cNvPr>
          <p:cNvSpPr/>
          <p:nvPr/>
        </p:nvSpPr>
        <p:spPr>
          <a:xfrm>
            <a:off x="9743533" y="492325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BAA1492-AFCD-D905-3BE8-193F78F0E2A2}"/>
              </a:ext>
            </a:extLst>
          </p:cNvPr>
          <p:cNvSpPr/>
          <p:nvPr/>
        </p:nvSpPr>
        <p:spPr>
          <a:xfrm>
            <a:off x="8939907" y="43799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53A361E3-49D3-6D96-5F6F-02A40E535393}"/>
              </a:ext>
            </a:extLst>
          </p:cNvPr>
          <p:cNvSpPr/>
          <p:nvPr/>
        </p:nvSpPr>
        <p:spPr>
          <a:xfrm>
            <a:off x="8552710" y="468709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5C976FE-C853-A358-F231-2B85E08BB650}"/>
              </a:ext>
            </a:extLst>
          </p:cNvPr>
          <p:cNvSpPr/>
          <p:nvPr/>
        </p:nvSpPr>
        <p:spPr>
          <a:xfrm>
            <a:off x="8184962" y="46841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F2579E7-34CB-E4F4-CF97-948CB7AD7EAF}"/>
              </a:ext>
            </a:extLst>
          </p:cNvPr>
          <p:cNvSpPr/>
          <p:nvPr/>
        </p:nvSpPr>
        <p:spPr>
          <a:xfrm>
            <a:off x="8305775" y="50882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73C8C70-A047-7B4A-D4C4-062BA0970D53}"/>
              </a:ext>
            </a:extLst>
          </p:cNvPr>
          <p:cNvSpPr/>
          <p:nvPr/>
        </p:nvSpPr>
        <p:spPr>
          <a:xfrm>
            <a:off x="8426588" y="549246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195D04AC-658D-8855-494B-77583C0758F9}"/>
              </a:ext>
            </a:extLst>
          </p:cNvPr>
          <p:cNvSpPr/>
          <p:nvPr/>
        </p:nvSpPr>
        <p:spPr>
          <a:xfrm>
            <a:off x="8513171" y="557805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C9B1912-6FF1-F056-773E-2A48BAEE9694}"/>
              </a:ext>
            </a:extLst>
          </p:cNvPr>
          <p:cNvSpPr/>
          <p:nvPr/>
        </p:nvSpPr>
        <p:spPr>
          <a:xfrm>
            <a:off x="9229303" y="514691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CE849255-493A-4127-6726-0AF18ECBA0B9}"/>
              </a:ext>
            </a:extLst>
          </p:cNvPr>
          <p:cNvSpPr/>
          <p:nvPr/>
        </p:nvSpPr>
        <p:spPr>
          <a:xfrm>
            <a:off x="9096642" y="47463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329900F4-44E3-F9E4-0B5F-4F74DA7B046E}"/>
              </a:ext>
            </a:extLst>
          </p:cNvPr>
          <p:cNvSpPr/>
          <p:nvPr/>
        </p:nvSpPr>
        <p:spPr>
          <a:xfrm>
            <a:off x="9483785" y="430094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C850FD5E-A586-3918-3FA9-0EFFA21D6134}"/>
              </a:ext>
            </a:extLst>
          </p:cNvPr>
          <p:cNvSpPr/>
          <p:nvPr/>
        </p:nvSpPr>
        <p:spPr>
          <a:xfrm>
            <a:off x="9870928" y="38555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262E581B-8100-E1EF-FDDC-482AFECD8478}"/>
              </a:ext>
            </a:extLst>
          </p:cNvPr>
          <p:cNvSpPr/>
          <p:nvPr/>
        </p:nvSpPr>
        <p:spPr>
          <a:xfrm>
            <a:off x="10222224" y="460674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B80C22E3-E434-081C-DDE2-2CCC1F188207}"/>
              </a:ext>
            </a:extLst>
          </p:cNvPr>
          <p:cNvSpPr/>
          <p:nvPr/>
        </p:nvSpPr>
        <p:spPr>
          <a:xfrm>
            <a:off x="10700915" y="429023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248F545E-F709-3CB8-96CB-CD8C96717C70}"/>
              </a:ext>
            </a:extLst>
          </p:cNvPr>
          <p:cNvSpPr/>
          <p:nvPr/>
        </p:nvSpPr>
        <p:spPr>
          <a:xfrm>
            <a:off x="11179606" y="397371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C84447C-5AD1-E4B5-D98E-E835EA83E79C}"/>
              </a:ext>
            </a:extLst>
          </p:cNvPr>
          <p:cNvSpPr/>
          <p:nvPr/>
        </p:nvSpPr>
        <p:spPr>
          <a:xfrm>
            <a:off x="9952808" y="28551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EF8F7F46-D209-1CB9-ED9C-AE53F6D4AFD7}"/>
              </a:ext>
            </a:extLst>
          </p:cNvPr>
          <p:cNvSpPr/>
          <p:nvPr/>
        </p:nvSpPr>
        <p:spPr>
          <a:xfrm>
            <a:off x="9856993" y="42681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EB1DCC71-2F80-B836-A243-74BCEFAAB854}"/>
              </a:ext>
            </a:extLst>
          </p:cNvPr>
          <p:cNvSpPr/>
          <p:nvPr/>
        </p:nvSpPr>
        <p:spPr>
          <a:xfrm>
            <a:off x="10009393" y="44205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A7BF48C8-9363-3F35-4DF2-165E61F5ABD9}"/>
              </a:ext>
            </a:extLst>
          </p:cNvPr>
          <p:cNvSpPr/>
          <p:nvPr/>
        </p:nvSpPr>
        <p:spPr>
          <a:xfrm>
            <a:off x="10087556" y="435854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6C5E49DC-7A42-64F2-211F-BA0AC0CF21AC}"/>
              </a:ext>
            </a:extLst>
          </p:cNvPr>
          <p:cNvSpPr/>
          <p:nvPr/>
        </p:nvSpPr>
        <p:spPr>
          <a:xfrm>
            <a:off x="10541443" y="40092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6D8E8CC3-3A68-6859-4008-BB3E5DF4D366}"/>
              </a:ext>
            </a:extLst>
          </p:cNvPr>
          <p:cNvSpPr/>
          <p:nvPr/>
        </p:nvSpPr>
        <p:spPr>
          <a:xfrm>
            <a:off x="10843317" y="379658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2DFC506A-9995-B045-C179-BDFF5790F10D}"/>
              </a:ext>
            </a:extLst>
          </p:cNvPr>
          <p:cNvSpPr/>
          <p:nvPr/>
        </p:nvSpPr>
        <p:spPr>
          <a:xfrm>
            <a:off x="11199213" y="433144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B630DF3-6D5D-D8A7-1BDF-AF55B28A2000}"/>
              </a:ext>
            </a:extLst>
          </p:cNvPr>
          <p:cNvSpPr/>
          <p:nvPr/>
        </p:nvSpPr>
        <p:spPr>
          <a:xfrm>
            <a:off x="8644198" y="322638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37A52EB0-F717-2FCF-79A7-BE000727CE95}"/>
              </a:ext>
            </a:extLst>
          </p:cNvPr>
          <p:cNvSpPr/>
          <p:nvPr/>
        </p:nvSpPr>
        <p:spPr>
          <a:xfrm>
            <a:off x="7819883" y="23168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A9E2E708-E017-D990-8921-2B82F3040441}"/>
              </a:ext>
            </a:extLst>
          </p:cNvPr>
          <p:cNvSpPr/>
          <p:nvPr/>
        </p:nvSpPr>
        <p:spPr>
          <a:xfrm>
            <a:off x="10180194" y="208133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78291A95-E43F-0F62-3FE0-515329AD1FF1}"/>
              </a:ext>
            </a:extLst>
          </p:cNvPr>
          <p:cNvSpPr/>
          <p:nvPr/>
        </p:nvSpPr>
        <p:spPr>
          <a:xfrm>
            <a:off x="9543222" y="293996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BDA08257-064F-0B29-DFFE-E63FBC7E2A6F}"/>
              </a:ext>
            </a:extLst>
          </p:cNvPr>
          <p:cNvSpPr/>
          <p:nvPr/>
        </p:nvSpPr>
        <p:spPr>
          <a:xfrm>
            <a:off x="7876484" y="33127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C491908D-65F0-488C-B461-DA4702EE3E2E}"/>
              </a:ext>
            </a:extLst>
          </p:cNvPr>
          <p:cNvSpPr/>
          <p:nvPr/>
        </p:nvSpPr>
        <p:spPr>
          <a:xfrm>
            <a:off x="8600943" y="433121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B2DA7851-4874-1AC3-B238-497BC820CA71}"/>
              </a:ext>
            </a:extLst>
          </p:cNvPr>
          <p:cNvSpPr/>
          <p:nvPr/>
        </p:nvSpPr>
        <p:spPr>
          <a:xfrm>
            <a:off x="8929004" y="544818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49143552-FE2E-E479-45FF-99705CAF4FFD}"/>
              </a:ext>
            </a:extLst>
          </p:cNvPr>
          <p:cNvSpPr/>
          <p:nvPr/>
        </p:nvSpPr>
        <p:spPr>
          <a:xfrm>
            <a:off x="10465689" y="34816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65F77B03-36A5-1DF4-EBB5-C119ECDA0534}"/>
              </a:ext>
            </a:extLst>
          </p:cNvPr>
          <p:cNvSpPr/>
          <p:nvPr/>
        </p:nvSpPr>
        <p:spPr>
          <a:xfrm>
            <a:off x="9212037" y="196686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A7C386E0-9F27-8650-373A-0694395F675D}"/>
              </a:ext>
            </a:extLst>
          </p:cNvPr>
          <p:cNvSpPr/>
          <p:nvPr/>
        </p:nvSpPr>
        <p:spPr>
          <a:xfrm>
            <a:off x="7851860" y="18319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750C1347-E467-8BA8-0DD8-3B97AE16D2A3}"/>
              </a:ext>
            </a:extLst>
          </p:cNvPr>
          <p:cNvSpPr/>
          <p:nvPr/>
        </p:nvSpPr>
        <p:spPr>
          <a:xfrm>
            <a:off x="7925276" y="36508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0AFC8DE2-8ECB-6231-32C6-CD4781A7573E}"/>
              </a:ext>
            </a:extLst>
          </p:cNvPr>
          <p:cNvSpPr/>
          <p:nvPr/>
        </p:nvSpPr>
        <p:spPr>
          <a:xfrm>
            <a:off x="8819811" y="366337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FE7DDDA8-6996-740F-0F1F-C572DAB9710D}"/>
              </a:ext>
            </a:extLst>
          </p:cNvPr>
          <p:cNvSpPr/>
          <p:nvPr/>
        </p:nvSpPr>
        <p:spPr>
          <a:xfrm>
            <a:off x="9613457" y="459365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541225DA-8887-A288-5B1E-FDEDF481CD37}"/>
              </a:ext>
            </a:extLst>
          </p:cNvPr>
          <p:cNvSpPr/>
          <p:nvPr/>
        </p:nvSpPr>
        <p:spPr>
          <a:xfrm>
            <a:off x="8504931" y="21605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68731662-75A4-4252-7F44-092C6C26ACDB}"/>
              </a:ext>
            </a:extLst>
          </p:cNvPr>
          <p:cNvSpPr/>
          <p:nvPr/>
        </p:nvSpPr>
        <p:spPr>
          <a:xfrm>
            <a:off x="8260877" y="25690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0FCD9DCD-FF53-DBC4-51CD-EC3C6389AA43}"/>
              </a:ext>
            </a:extLst>
          </p:cNvPr>
          <p:cNvSpPr/>
          <p:nvPr/>
        </p:nvSpPr>
        <p:spPr>
          <a:xfrm>
            <a:off x="8259529" y="186769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5A3238F0-FD72-C197-08D0-BD1C021D1A77}"/>
              </a:ext>
            </a:extLst>
          </p:cNvPr>
          <p:cNvSpPr/>
          <p:nvPr/>
        </p:nvSpPr>
        <p:spPr>
          <a:xfrm>
            <a:off x="7471687" y="359387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1B5AD3F8-A92B-F22F-6F8D-BDA73AFFCDE3}"/>
              </a:ext>
            </a:extLst>
          </p:cNvPr>
          <p:cNvSpPr/>
          <p:nvPr/>
        </p:nvSpPr>
        <p:spPr>
          <a:xfrm>
            <a:off x="9073582" y="307701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049A3915-0D03-8999-3A4F-89503090DBB6}"/>
              </a:ext>
            </a:extLst>
          </p:cNvPr>
          <p:cNvSpPr/>
          <p:nvPr/>
        </p:nvSpPr>
        <p:spPr>
          <a:xfrm>
            <a:off x="9467025" y="364093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F1C201A2-4E55-5ABF-4A34-0C578DD08AD8}"/>
              </a:ext>
            </a:extLst>
          </p:cNvPr>
          <p:cNvSpPr/>
          <p:nvPr/>
        </p:nvSpPr>
        <p:spPr>
          <a:xfrm>
            <a:off x="10801375" y="415520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026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312E9-322E-0636-ACD9-892023D2C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1BC8C-5A5D-94BE-622C-7AB6A191C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36B6B9-F92A-0833-C0A8-64822175E062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296323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Coarse quantization divides a search space into smaller regions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</a:rPr>
                  <a:t>If the query vector is close to the cell boundary, the NNs can be in other cells</a:t>
                </a:r>
              </a:p>
              <a:p>
                <a:r>
                  <a:rPr lang="en-US" dirty="0">
                    <a:latin typeface="+mn-lt"/>
                  </a:rPr>
                  <a:t>Solution is to probe surrounding cells to expand range of search  </a:t>
                </a:r>
              </a:p>
              <a:p>
                <a:pPr lvl="1"/>
                <a:r>
                  <a:rPr lang="en-US" dirty="0">
                    <a:latin typeface="+mn-lt"/>
                  </a:rPr>
                  <a:t>The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nprobe</a:t>
                </a:r>
                <a:r>
                  <a:rPr lang="en-US" dirty="0">
                    <a:latin typeface="+mn-lt"/>
                  </a:rPr>
                  <a:t> attribute in FAISS sets the number of cells to prob</a:t>
                </a:r>
              </a:p>
              <a:p>
                <a:pPr lvl="1"/>
                <a:r>
                  <a:rPr lang="en-US" dirty="0">
                    <a:latin typeface="+mn-lt"/>
                  </a:rPr>
                  <a:t>The larger </a:t>
                </a:r>
                <a:r>
                  <a:rPr lang="en-US" dirty="0" err="1">
                    <a:latin typeface="+mn-lt"/>
                  </a:rPr>
                  <a:t>nprobe</a:t>
                </a:r>
                <a:r>
                  <a:rPr lang="en-US" dirty="0">
                    <a:latin typeface="+mn-lt"/>
                  </a:rPr>
                  <a:t> the slower the query</a:t>
                </a:r>
              </a:p>
              <a:p>
                <a:pPr lvl="1"/>
                <a:r>
                  <a:rPr lang="en-US" dirty="0">
                    <a:latin typeface="+mn-lt"/>
                  </a:rPr>
                  <a:t>Complexity,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𝑝𝑟𝑜𝑏𝑒𝑠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36B6B9-F92A-0833-C0A8-64822175E0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296323" cy="5698998"/>
              </a:xfrm>
              <a:blipFill>
                <a:blip r:embed="rId3"/>
                <a:stretch>
                  <a:fillRect l="-2033" t="-1818" r="-1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54A95E3-CA47-A402-C5BA-E44317C65C39}"/>
              </a:ext>
            </a:extLst>
          </p:cNvPr>
          <p:cNvCxnSpPr>
            <a:cxnSpLocks/>
          </p:cNvCxnSpPr>
          <p:nvPr/>
        </p:nvCxnSpPr>
        <p:spPr>
          <a:xfrm flipV="1">
            <a:off x="6845742" y="2881291"/>
            <a:ext cx="930733" cy="7555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3EC86D-DAE2-9074-42F1-2CD4F954DACD}"/>
              </a:ext>
            </a:extLst>
          </p:cNvPr>
          <p:cNvCxnSpPr>
            <a:cxnSpLocks/>
          </p:cNvCxnSpPr>
          <p:nvPr/>
        </p:nvCxnSpPr>
        <p:spPr>
          <a:xfrm flipH="1" flipV="1">
            <a:off x="7776475" y="2850805"/>
            <a:ext cx="601450" cy="502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67A649A-1279-A0F9-6FF0-C6134D49320E}"/>
              </a:ext>
            </a:extLst>
          </p:cNvPr>
          <p:cNvCxnSpPr>
            <a:cxnSpLocks/>
          </p:cNvCxnSpPr>
          <p:nvPr/>
        </p:nvCxnSpPr>
        <p:spPr>
          <a:xfrm flipH="1" flipV="1">
            <a:off x="8316685" y="2901020"/>
            <a:ext cx="283029" cy="8763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8B1B36D-F28B-C09F-5445-8B1B1DDF467D}"/>
              </a:ext>
            </a:extLst>
          </p:cNvPr>
          <p:cNvCxnSpPr>
            <a:cxnSpLocks/>
          </p:cNvCxnSpPr>
          <p:nvPr/>
        </p:nvCxnSpPr>
        <p:spPr>
          <a:xfrm flipH="1">
            <a:off x="7920715" y="3777343"/>
            <a:ext cx="646351" cy="8575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A4E3EA4-8118-12D9-A580-9D3D3BA5199F}"/>
              </a:ext>
            </a:extLst>
          </p:cNvPr>
          <p:cNvCxnSpPr>
            <a:cxnSpLocks/>
          </p:cNvCxnSpPr>
          <p:nvPr/>
        </p:nvCxnSpPr>
        <p:spPr>
          <a:xfrm flipH="1">
            <a:off x="7097485" y="4631293"/>
            <a:ext cx="835470" cy="114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C88B78F-652C-3B82-FF00-80A24D1B4883}"/>
              </a:ext>
            </a:extLst>
          </p:cNvPr>
          <p:cNvCxnSpPr>
            <a:cxnSpLocks/>
          </p:cNvCxnSpPr>
          <p:nvPr/>
        </p:nvCxnSpPr>
        <p:spPr>
          <a:xfrm flipH="1" flipV="1">
            <a:off x="6845742" y="3668856"/>
            <a:ext cx="283046" cy="93044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CF622D6-08AC-68F2-9B9F-36C92B8574F1}"/>
              </a:ext>
            </a:extLst>
          </p:cNvPr>
          <p:cNvCxnSpPr>
            <a:cxnSpLocks/>
          </p:cNvCxnSpPr>
          <p:nvPr/>
        </p:nvCxnSpPr>
        <p:spPr>
          <a:xfrm flipH="1">
            <a:off x="8335739" y="2442227"/>
            <a:ext cx="658576" cy="46676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2B98996-4A74-5788-F44D-C66231E8AF62}"/>
              </a:ext>
            </a:extLst>
          </p:cNvPr>
          <p:cNvCxnSpPr>
            <a:cxnSpLocks/>
          </p:cNvCxnSpPr>
          <p:nvPr/>
        </p:nvCxnSpPr>
        <p:spPr>
          <a:xfrm flipH="1" flipV="1">
            <a:off x="8599714" y="3777343"/>
            <a:ext cx="557209" cy="27082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303E734-59DB-6EFF-F42A-5208DF749D8B}"/>
              </a:ext>
            </a:extLst>
          </p:cNvPr>
          <p:cNvCxnSpPr>
            <a:cxnSpLocks/>
          </p:cNvCxnSpPr>
          <p:nvPr/>
        </p:nvCxnSpPr>
        <p:spPr>
          <a:xfrm flipV="1">
            <a:off x="10142758" y="3557569"/>
            <a:ext cx="766084" cy="4492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061E4CC-B0E5-4292-AF24-640FE10D5221}"/>
              </a:ext>
            </a:extLst>
          </p:cNvPr>
          <p:cNvCxnSpPr>
            <a:cxnSpLocks/>
          </p:cNvCxnSpPr>
          <p:nvPr/>
        </p:nvCxnSpPr>
        <p:spPr>
          <a:xfrm flipH="1" flipV="1">
            <a:off x="9013369" y="2442227"/>
            <a:ext cx="778335" cy="34426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C67249F-175C-432A-4095-ECE7ACDFCFFD}"/>
              </a:ext>
            </a:extLst>
          </p:cNvPr>
          <p:cNvCxnSpPr>
            <a:cxnSpLocks/>
          </p:cNvCxnSpPr>
          <p:nvPr/>
        </p:nvCxnSpPr>
        <p:spPr>
          <a:xfrm flipH="1" flipV="1">
            <a:off x="9802585" y="2755681"/>
            <a:ext cx="263965" cy="12511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0CB650D-62EE-AA91-C1FB-8347A682610C}"/>
              </a:ext>
            </a:extLst>
          </p:cNvPr>
          <p:cNvCxnSpPr>
            <a:cxnSpLocks/>
          </p:cNvCxnSpPr>
          <p:nvPr/>
        </p:nvCxnSpPr>
        <p:spPr>
          <a:xfrm flipH="1" flipV="1">
            <a:off x="7897579" y="4615544"/>
            <a:ext cx="244930" cy="112266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B18F4ECF-B494-EB99-B577-B86AC798C2B6}"/>
              </a:ext>
            </a:extLst>
          </p:cNvPr>
          <p:cNvCxnSpPr>
            <a:cxnSpLocks/>
          </p:cNvCxnSpPr>
          <p:nvPr/>
        </p:nvCxnSpPr>
        <p:spPr>
          <a:xfrm>
            <a:off x="9145360" y="4066330"/>
            <a:ext cx="548367" cy="118098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3991F61-51CD-8B25-4121-5999CD03594D}"/>
              </a:ext>
            </a:extLst>
          </p:cNvPr>
          <p:cNvCxnSpPr>
            <a:cxnSpLocks/>
          </p:cNvCxnSpPr>
          <p:nvPr/>
        </p:nvCxnSpPr>
        <p:spPr>
          <a:xfrm flipV="1">
            <a:off x="9285520" y="5176875"/>
            <a:ext cx="408207" cy="81026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E45FB23-7390-2311-6A33-ECFB43F8C122}"/>
              </a:ext>
            </a:extLst>
          </p:cNvPr>
          <p:cNvCxnSpPr>
            <a:cxnSpLocks/>
          </p:cNvCxnSpPr>
          <p:nvPr/>
        </p:nvCxnSpPr>
        <p:spPr>
          <a:xfrm>
            <a:off x="8107129" y="5738206"/>
            <a:ext cx="1172942" cy="24893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FAEC4EC7-768C-ADE4-09D1-FCB65E22066D}"/>
              </a:ext>
            </a:extLst>
          </p:cNvPr>
          <p:cNvCxnSpPr>
            <a:cxnSpLocks/>
          </p:cNvCxnSpPr>
          <p:nvPr/>
        </p:nvCxnSpPr>
        <p:spPr>
          <a:xfrm flipH="1" flipV="1">
            <a:off x="7394945" y="2358510"/>
            <a:ext cx="395964" cy="50854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B681842-BA13-AD87-7BD2-791B71CE29D9}"/>
              </a:ext>
            </a:extLst>
          </p:cNvPr>
          <p:cNvCxnSpPr>
            <a:cxnSpLocks/>
          </p:cNvCxnSpPr>
          <p:nvPr/>
        </p:nvCxnSpPr>
        <p:spPr>
          <a:xfrm flipH="1" flipV="1">
            <a:off x="8961659" y="1575534"/>
            <a:ext cx="51710" cy="87513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6F9BF6C-89FF-5C50-9A9D-414E0BFAE12C}"/>
              </a:ext>
            </a:extLst>
          </p:cNvPr>
          <p:cNvCxnSpPr>
            <a:cxnSpLocks/>
          </p:cNvCxnSpPr>
          <p:nvPr/>
        </p:nvCxnSpPr>
        <p:spPr>
          <a:xfrm flipV="1">
            <a:off x="7375061" y="1887236"/>
            <a:ext cx="0" cy="42454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37D89AD-EA65-7800-EEFD-5EB3E71B7CFF}"/>
              </a:ext>
            </a:extLst>
          </p:cNvPr>
          <p:cNvCxnSpPr>
            <a:cxnSpLocks/>
          </p:cNvCxnSpPr>
          <p:nvPr/>
        </p:nvCxnSpPr>
        <p:spPr>
          <a:xfrm flipH="1">
            <a:off x="7375061" y="1415023"/>
            <a:ext cx="631379" cy="47221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64B13BF1-A9F5-7629-6D39-191A12BF6919}"/>
              </a:ext>
            </a:extLst>
          </p:cNvPr>
          <p:cNvCxnSpPr>
            <a:cxnSpLocks/>
          </p:cNvCxnSpPr>
          <p:nvPr/>
        </p:nvCxnSpPr>
        <p:spPr>
          <a:xfrm flipH="1" flipV="1">
            <a:off x="8009155" y="1415023"/>
            <a:ext cx="944344" cy="19140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EBD817E-8F14-B2ED-63E6-F1427A0561A9}"/>
              </a:ext>
            </a:extLst>
          </p:cNvPr>
          <p:cNvCxnSpPr>
            <a:cxnSpLocks/>
          </p:cNvCxnSpPr>
          <p:nvPr/>
        </p:nvCxnSpPr>
        <p:spPr>
          <a:xfrm flipH="1">
            <a:off x="8929004" y="1393371"/>
            <a:ext cx="889915" cy="23174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5670CCF-9421-34BB-D565-8978199354D1}"/>
              </a:ext>
            </a:extLst>
          </p:cNvPr>
          <p:cNvCxnSpPr>
            <a:cxnSpLocks/>
          </p:cNvCxnSpPr>
          <p:nvPr/>
        </p:nvCxnSpPr>
        <p:spPr>
          <a:xfrm flipH="1">
            <a:off x="9857014" y="2412534"/>
            <a:ext cx="530667" cy="3431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1B4EFAF-94C2-AF38-D662-C95378E80C43}"/>
              </a:ext>
            </a:extLst>
          </p:cNvPr>
          <p:cNvCxnSpPr>
            <a:cxnSpLocks/>
          </p:cNvCxnSpPr>
          <p:nvPr/>
        </p:nvCxnSpPr>
        <p:spPr>
          <a:xfrm flipV="1">
            <a:off x="10406735" y="1960206"/>
            <a:ext cx="108856" cy="4463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931AB9C-C34B-3728-EB1E-D3040DCF05C2}"/>
              </a:ext>
            </a:extLst>
          </p:cNvPr>
          <p:cNvCxnSpPr>
            <a:cxnSpLocks/>
          </p:cNvCxnSpPr>
          <p:nvPr/>
        </p:nvCxnSpPr>
        <p:spPr>
          <a:xfrm flipH="1" flipV="1">
            <a:off x="9799869" y="1404405"/>
            <a:ext cx="683067" cy="55276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5BBF4292-8058-5E89-C10E-52BBF4FD96D5}"/>
              </a:ext>
            </a:extLst>
          </p:cNvPr>
          <p:cNvCxnSpPr>
            <a:cxnSpLocks/>
          </p:cNvCxnSpPr>
          <p:nvPr/>
        </p:nvCxnSpPr>
        <p:spPr>
          <a:xfrm flipH="1" flipV="1">
            <a:off x="10096502" y="4028019"/>
            <a:ext cx="642253" cy="60685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3EA57D5A-542D-58D0-8029-C9EF255ADAAE}"/>
              </a:ext>
            </a:extLst>
          </p:cNvPr>
          <p:cNvCxnSpPr>
            <a:cxnSpLocks/>
          </p:cNvCxnSpPr>
          <p:nvPr/>
        </p:nvCxnSpPr>
        <p:spPr>
          <a:xfrm flipH="1">
            <a:off x="9737269" y="5083628"/>
            <a:ext cx="1001487" cy="932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F49C646-5FED-2158-4421-FAC6B13EA761}"/>
              </a:ext>
            </a:extLst>
          </p:cNvPr>
          <p:cNvCxnSpPr>
            <a:cxnSpLocks/>
          </p:cNvCxnSpPr>
          <p:nvPr/>
        </p:nvCxnSpPr>
        <p:spPr>
          <a:xfrm>
            <a:off x="10714262" y="4599297"/>
            <a:ext cx="48987" cy="5309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D5D4A8A3-0C1C-C695-187C-F0B26C62BBFF}"/>
              </a:ext>
            </a:extLst>
          </p:cNvPr>
          <p:cNvCxnSpPr>
            <a:cxnSpLocks/>
          </p:cNvCxnSpPr>
          <p:nvPr/>
        </p:nvCxnSpPr>
        <p:spPr>
          <a:xfrm>
            <a:off x="10888429" y="3579261"/>
            <a:ext cx="713007" cy="31099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FD63DF3A-C6AB-F5ED-87D1-B04ADD42C5A3}"/>
              </a:ext>
            </a:extLst>
          </p:cNvPr>
          <p:cNvCxnSpPr>
            <a:cxnSpLocks/>
          </p:cNvCxnSpPr>
          <p:nvPr/>
        </p:nvCxnSpPr>
        <p:spPr>
          <a:xfrm flipH="1">
            <a:off x="10714262" y="4521379"/>
            <a:ext cx="700762" cy="12138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8CA526C1-86C7-DE23-9EDB-450ED6C282D5}"/>
              </a:ext>
            </a:extLst>
          </p:cNvPr>
          <p:cNvCxnSpPr>
            <a:cxnSpLocks/>
          </p:cNvCxnSpPr>
          <p:nvPr/>
        </p:nvCxnSpPr>
        <p:spPr>
          <a:xfrm flipH="1">
            <a:off x="11408213" y="3890832"/>
            <a:ext cx="193223" cy="6305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Oval 245">
            <a:extLst>
              <a:ext uri="{FF2B5EF4-FFF2-40B4-BE49-F238E27FC236}">
                <a16:creationId xmlns:a16="http://schemas.microsoft.com/office/drawing/2014/main" id="{E17BE318-38E5-BCA2-03AA-2AA924DCFEE2}"/>
              </a:ext>
            </a:extLst>
          </p:cNvPr>
          <p:cNvSpPr/>
          <p:nvPr/>
        </p:nvSpPr>
        <p:spPr>
          <a:xfrm>
            <a:off x="8059842" y="1960074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4B42E92C-82D1-7485-9D00-3DD49A53950A}"/>
              </a:ext>
            </a:extLst>
          </p:cNvPr>
          <p:cNvSpPr/>
          <p:nvPr/>
        </p:nvSpPr>
        <p:spPr>
          <a:xfrm>
            <a:off x="9746113" y="355756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790E9147-77E5-881D-6069-68A0CF990513}"/>
                  </a:ext>
                </a:extLst>
              </p:cNvPr>
              <p:cNvSpPr txBox="1"/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790E9147-77E5-881D-6069-68A0CF990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3023C58-47A1-EFD7-732B-E71B68D3DC81}"/>
                  </a:ext>
                </a:extLst>
              </p:cNvPr>
              <p:cNvSpPr txBox="1"/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3023C58-47A1-EFD7-732B-E71B68D3DC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55">
            <a:extLst>
              <a:ext uri="{FF2B5EF4-FFF2-40B4-BE49-F238E27FC236}">
                <a16:creationId xmlns:a16="http://schemas.microsoft.com/office/drawing/2014/main" id="{835AF347-10C1-E141-12E7-66B9280C0652}"/>
              </a:ext>
            </a:extLst>
          </p:cNvPr>
          <p:cNvSpPr/>
          <p:nvPr/>
        </p:nvSpPr>
        <p:spPr>
          <a:xfrm>
            <a:off x="8558890" y="181795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D3B1A23-F770-14F5-6489-7A41EF488261}"/>
                  </a:ext>
                </a:extLst>
              </p:cNvPr>
              <p:cNvSpPr txBox="1"/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D3B1A23-F770-14F5-6489-7A41EF488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Oval 257">
            <a:extLst>
              <a:ext uri="{FF2B5EF4-FFF2-40B4-BE49-F238E27FC236}">
                <a16:creationId xmlns:a16="http://schemas.microsoft.com/office/drawing/2014/main" id="{B4B25439-97F7-AD7C-68FF-3C0218986664}"/>
              </a:ext>
            </a:extLst>
          </p:cNvPr>
          <p:cNvSpPr/>
          <p:nvPr/>
        </p:nvSpPr>
        <p:spPr>
          <a:xfrm>
            <a:off x="10980216" y="299704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2C71B500-13AC-50C3-7894-DACCD6274D17}"/>
                  </a:ext>
                </a:extLst>
              </p:cNvPr>
              <p:cNvSpPr txBox="1"/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2C71B500-13AC-50C3-7894-DACCD6274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0" name="Oval 269">
            <a:extLst>
              <a:ext uri="{FF2B5EF4-FFF2-40B4-BE49-F238E27FC236}">
                <a16:creationId xmlns:a16="http://schemas.microsoft.com/office/drawing/2014/main" id="{FD59AA8E-8BA9-E200-F2CA-CD872FF5E85C}"/>
              </a:ext>
            </a:extLst>
          </p:cNvPr>
          <p:cNvSpPr/>
          <p:nvPr/>
        </p:nvSpPr>
        <p:spPr>
          <a:xfrm>
            <a:off x="10381551" y="484178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0F521FA-206D-716D-87C7-0BB372B53BE2}"/>
                  </a:ext>
                </a:extLst>
              </p:cNvPr>
              <p:cNvSpPr txBox="1"/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0F521FA-206D-716D-87C7-0BB372B53B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Oval 273">
            <a:extLst>
              <a:ext uri="{FF2B5EF4-FFF2-40B4-BE49-F238E27FC236}">
                <a16:creationId xmlns:a16="http://schemas.microsoft.com/office/drawing/2014/main" id="{8B169603-A4B6-4719-7954-EBF31787B11A}"/>
              </a:ext>
            </a:extLst>
          </p:cNvPr>
          <p:cNvSpPr/>
          <p:nvPr/>
        </p:nvSpPr>
        <p:spPr>
          <a:xfrm>
            <a:off x="9134473" y="562716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1A07AA40-5C36-0340-E0F5-5197107B5CDE}"/>
                  </a:ext>
                </a:extLst>
              </p:cNvPr>
              <p:cNvSpPr txBox="1"/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1A07AA40-5C36-0340-E0F5-5197107B5C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" name="Oval 275">
            <a:extLst>
              <a:ext uri="{FF2B5EF4-FFF2-40B4-BE49-F238E27FC236}">
                <a16:creationId xmlns:a16="http://schemas.microsoft.com/office/drawing/2014/main" id="{AC6AA222-D022-19B3-1BD0-6CCDC85DA617}"/>
              </a:ext>
            </a:extLst>
          </p:cNvPr>
          <p:cNvSpPr/>
          <p:nvPr/>
        </p:nvSpPr>
        <p:spPr>
          <a:xfrm>
            <a:off x="7400921" y="429514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523A90E8-8ECC-BB64-4416-E2E838124EBE}"/>
                  </a:ext>
                </a:extLst>
              </p:cNvPr>
              <p:cNvSpPr txBox="1"/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523A90E8-8ECC-BB64-4416-E2E838124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9B01525-E009-8C81-55CF-FD8678A045C9}"/>
              </a:ext>
            </a:extLst>
          </p:cNvPr>
          <p:cNvCxnSpPr>
            <a:cxnSpLocks/>
          </p:cNvCxnSpPr>
          <p:nvPr/>
        </p:nvCxnSpPr>
        <p:spPr>
          <a:xfrm flipV="1">
            <a:off x="9146720" y="4007413"/>
            <a:ext cx="1019171" cy="607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B630A5C-EE8A-87F3-92DA-4FB43FDE9284}"/>
              </a:ext>
            </a:extLst>
          </p:cNvPr>
          <p:cNvCxnSpPr>
            <a:cxnSpLocks/>
          </p:cNvCxnSpPr>
          <p:nvPr/>
        </p:nvCxnSpPr>
        <p:spPr>
          <a:xfrm flipV="1">
            <a:off x="10888429" y="3306380"/>
            <a:ext cx="329302" cy="3026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1A11568-1243-C663-1367-F61C6DE9EFD3}"/>
              </a:ext>
            </a:extLst>
          </p:cNvPr>
          <p:cNvCxnSpPr>
            <a:cxnSpLocks/>
          </p:cNvCxnSpPr>
          <p:nvPr/>
        </p:nvCxnSpPr>
        <p:spPr>
          <a:xfrm flipH="1" flipV="1">
            <a:off x="10406735" y="2384212"/>
            <a:ext cx="810996" cy="3714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990D6D3-938F-A12D-CAA0-FB68712697E7}"/>
              </a:ext>
            </a:extLst>
          </p:cNvPr>
          <p:cNvCxnSpPr>
            <a:cxnSpLocks/>
          </p:cNvCxnSpPr>
          <p:nvPr/>
        </p:nvCxnSpPr>
        <p:spPr>
          <a:xfrm flipV="1">
            <a:off x="11217731" y="2721627"/>
            <a:ext cx="0" cy="56588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D41CFD50-68EE-8ECD-D0C9-1D70C06DFF44}"/>
              </a:ext>
            </a:extLst>
          </p:cNvPr>
          <p:cNvSpPr/>
          <p:nvPr/>
        </p:nvSpPr>
        <p:spPr>
          <a:xfrm>
            <a:off x="11348340" y="407802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A1D6C9F-266A-9808-C197-BA6DC529D573}"/>
                  </a:ext>
                </a:extLst>
              </p:cNvPr>
              <p:cNvSpPr txBox="1"/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A1D6C9F-266A-9808-C197-BA6DC529D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Oval 107">
            <a:extLst>
              <a:ext uri="{FF2B5EF4-FFF2-40B4-BE49-F238E27FC236}">
                <a16:creationId xmlns:a16="http://schemas.microsoft.com/office/drawing/2014/main" id="{E4ED75D4-81C3-766E-45D0-E28809FE295F}"/>
              </a:ext>
            </a:extLst>
          </p:cNvPr>
          <p:cNvSpPr/>
          <p:nvPr/>
        </p:nvSpPr>
        <p:spPr>
          <a:xfrm>
            <a:off x="9588941" y="1924725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97B12A02-FEA5-0BEE-73A8-B77E245A134A}"/>
              </a:ext>
            </a:extLst>
          </p:cNvPr>
          <p:cNvSpPr/>
          <p:nvPr/>
        </p:nvSpPr>
        <p:spPr>
          <a:xfrm>
            <a:off x="10368971" y="299912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E3AFD479-2EAD-47EF-C433-352091DAC657}"/>
              </a:ext>
            </a:extLst>
          </p:cNvPr>
          <p:cNvSpPr/>
          <p:nvPr/>
        </p:nvSpPr>
        <p:spPr>
          <a:xfrm>
            <a:off x="9103519" y="3132539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867E72B7-DCF4-7A20-062B-E78845B477E8}"/>
              </a:ext>
            </a:extLst>
          </p:cNvPr>
          <p:cNvSpPr/>
          <p:nvPr/>
        </p:nvSpPr>
        <p:spPr>
          <a:xfrm>
            <a:off x="7575762" y="3641436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4FC4D4A1-F389-95F7-E8D0-1675580731E6}"/>
              </a:ext>
            </a:extLst>
          </p:cNvPr>
          <p:cNvSpPr/>
          <p:nvPr/>
        </p:nvSpPr>
        <p:spPr>
          <a:xfrm>
            <a:off x="8655485" y="482577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13CD0DBF-58DC-DD05-0901-36447BE14B82}"/>
              </a:ext>
            </a:extLst>
          </p:cNvPr>
          <p:cNvSpPr/>
          <p:nvPr/>
        </p:nvSpPr>
        <p:spPr>
          <a:xfrm>
            <a:off x="9799869" y="4445370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3A9AD3D6-7FE8-7716-474D-2BB74056957D}"/>
              </a:ext>
            </a:extLst>
          </p:cNvPr>
          <p:cNvSpPr/>
          <p:nvPr/>
        </p:nvSpPr>
        <p:spPr>
          <a:xfrm>
            <a:off x="10886317" y="3972531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FC4CC8C-978E-2BA2-8BC3-186E82AB38EC}"/>
              </a:ext>
            </a:extLst>
          </p:cNvPr>
          <p:cNvSpPr/>
          <p:nvPr/>
        </p:nvSpPr>
        <p:spPr>
          <a:xfrm>
            <a:off x="7569278" y="208923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A9DDF74-CE63-FAB8-04FB-F231E417A068}"/>
              </a:ext>
            </a:extLst>
          </p:cNvPr>
          <p:cNvSpPr/>
          <p:nvPr/>
        </p:nvSpPr>
        <p:spPr>
          <a:xfrm>
            <a:off x="7920715" y="2572336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E4D47BF-7B8C-3852-8F6B-798C2E2CB16B}"/>
              </a:ext>
            </a:extLst>
          </p:cNvPr>
          <p:cNvSpPr/>
          <p:nvPr/>
        </p:nvSpPr>
        <p:spPr>
          <a:xfrm>
            <a:off x="8571471" y="239424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D02E7E0-6C37-DEF6-FD10-7ADF53799E12}"/>
              </a:ext>
            </a:extLst>
          </p:cNvPr>
          <p:cNvSpPr/>
          <p:nvPr/>
        </p:nvSpPr>
        <p:spPr>
          <a:xfrm>
            <a:off x="9222227" y="2216148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9FAC79-FCEA-DC87-447B-12D79696ECFB}"/>
              </a:ext>
            </a:extLst>
          </p:cNvPr>
          <p:cNvSpPr/>
          <p:nvPr/>
        </p:nvSpPr>
        <p:spPr>
          <a:xfrm>
            <a:off x="9872983" y="203805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6B834A2-D1A8-339D-A764-E40CC0B31E71}"/>
              </a:ext>
            </a:extLst>
          </p:cNvPr>
          <p:cNvSpPr/>
          <p:nvPr/>
        </p:nvSpPr>
        <p:spPr>
          <a:xfrm>
            <a:off x="8074460" y="153382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9F7B57-6080-8347-D4DE-34D3FC7011F8}"/>
              </a:ext>
            </a:extLst>
          </p:cNvPr>
          <p:cNvSpPr/>
          <p:nvPr/>
        </p:nvSpPr>
        <p:spPr>
          <a:xfrm>
            <a:off x="9402536" y="171280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293DC73-4F55-DDAA-19E8-F8DDC06DBA88}"/>
              </a:ext>
            </a:extLst>
          </p:cNvPr>
          <p:cNvSpPr/>
          <p:nvPr/>
        </p:nvSpPr>
        <p:spPr>
          <a:xfrm>
            <a:off x="9805303" y="245144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A4EBD0A-6135-5EDD-E79B-A6CAF0A4EAB2}"/>
              </a:ext>
            </a:extLst>
          </p:cNvPr>
          <p:cNvSpPr/>
          <p:nvPr/>
        </p:nvSpPr>
        <p:spPr>
          <a:xfrm>
            <a:off x="10208070" y="319008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F57D73D-9AC0-41DF-67B2-95F5CF368894}"/>
              </a:ext>
            </a:extLst>
          </p:cNvPr>
          <p:cNvSpPr/>
          <p:nvPr/>
        </p:nvSpPr>
        <p:spPr>
          <a:xfrm>
            <a:off x="10452991" y="27517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648A11B-A31F-C55E-FC9B-FA41484BDE5E}"/>
              </a:ext>
            </a:extLst>
          </p:cNvPr>
          <p:cNvSpPr/>
          <p:nvPr/>
        </p:nvSpPr>
        <p:spPr>
          <a:xfrm>
            <a:off x="10605391" y="2904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F0A0D20-F634-9152-CE12-7A1AEE3AAF4E}"/>
              </a:ext>
            </a:extLst>
          </p:cNvPr>
          <p:cNvSpPr/>
          <p:nvPr/>
        </p:nvSpPr>
        <p:spPr>
          <a:xfrm>
            <a:off x="10236911" y="364811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B299AE0-C416-6160-789C-109D9F9CEAE4}"/>
              </a:ext>
            </a:extLst>
          </p:cNvPr>
          <p:cNvSpPr/>
          <p:nvPr/>
        </p:nvSpPr>
        <p:spPr>
          <a:xfrm>
            <a:off x="9313274" y="384327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6C9F30D-8C85-A146-EB06-128AFD38117A}"/>
              </a:ext>
            </a:extLst>
          </p:cNvPr>
          <p:cNvSpPr/>
          <p:nvPr/>
        </p:nvSpPr>
        <p:spPr>
          <a:xfrm>
            <a:off x="8849362" y="337219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877DE3EA-7887-84CE-04F4-8D2784D9B8F4}"/>
              </a:ext>
            </a:extLst>
          </p:cNvPr>
          <p:cNvSpPr/>
          <p:nvPr/>
        </p:nvSpPr>
        <p:spPr>
          <a:xfrm>
            <a:off x="8675632" y="295697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505036F-68E1-34E2-1637-07B5F2BC0154}"/>
              </a:ext>
            </a:extLst>
          </p:cNvPr>
          <p:cNvSpPr/>
          <p:nvPr/>
        </p:nvSpPr>
        <p:spPr>
          <a:xfrm>
            <a:off x="8776819" y="213989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F432D4B-79D0-AB8E-862C-BD0E72666BB0}"/>
              </a:ext>
            </a:extLst>
          </p:cNvPr>
          <p:cNvSpPr/>
          <p:nvPr/>
        </p:nvSpPr>
        <p:spPr>
          <a:xfrm>
            <a:off x="9328242" y="30378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91E3CB5-572F-00C9-48D7-069E7260177C}"/>
              </a:ext>
            </a:extLst>
          </p:cNvPr>
          <p:cNvSpPr/>
          <p:nvPr/>
        </p:nvSpPr>
        <p:spPr>
          <a:xfrm>
            <a:off x="9635229" y="320675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E5F0EEA-EAF4-086F-39E8-134885F03D9A}"/>
              </a:ext>
            </a:extLst>
          </p:cNvPr>
          <p:cNvSpPr/>
          <p:nvPr/>
        </p:nvSpPr>
        <p:spPr>
          <a:xfrm>
            <a:off x="9026987" y="3763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5A7999F-D1E4-E2CF-E28E-5832FC599721}"/>
              </a:ext>
            </a:extLst>
          </p:cNvPr>
          <p:cNvSpPr/>
          <p:nvPr/>
        </p:nvSpPr>
        <p:spPr>
          <a:xfrm>
            <a:off x="8189853" y="313253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A151EFB-1155-927F-92F9-B50960D6C81B}"/>
              </a:ext>
            </a:extLst>
          </p:cNvPr>
          <p:cNvSpPr/>
          <p:nvPr/>
        </p:nvSpPr>
        <p:spPr>
          <a:xfrm>
            <a:off x="9840680" y="16881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8D84B570-E665-4561-D37C-524B52FCF439}"/>
              </a:ext>
            </a:extLst>
          </p:cNvPr>
          <p:cNvSpPr/>
          <p:nvPr/>
        </p:nvSpPr>
        <p:spPr>
          <a:xfrm>
            <a:off x="8169713" y="353301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76A5A17-E2B7-1A2F-BE98-5B9EBCAFA092}"/>
              </a:ext>
            </a:extLst>
          </p:cNvPr>
          <p:cNvSpPr/>
          <p:nvPr/>
        </p:nvSpPr>
        <p:spPr>
          <a:xfrm>
            <a:off x="7599214" y="325586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009DFFF-9DBC-0860-AA68-92A01388A285}"/>
              </a:ext>
            </a:extLst>
          </p:cNvPr>
          <p:cNvSpPr/>
          <p:nvPr/>
        </p:nvSpPr>
        <p:spPr>
          <a:xfrm>
            <a:off x="7071957" y="37514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A9D91E1-57E6-3710-9937-3EEFBA7DC276}"/>
              </a:ext>
            </a:extLst>
          </p:cNvPr>
          <p:cNvSpPr/>
          <p:nvPr/>
        </p:nvSpPr>
        <p:spPr>
          <a:xfrm>
            <a:off x="7224357" y="39038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74AB408-9EAE-7266-4868-850D792AF508}"/>
              </a:ext>
            </a:extLst>
          </p:cNvPr>
          <p:cNvSpPr/>
          <p:nvPr/>
        </p:nvSpPr>
        <p:spPr>
          <a:xfrm>
            <a:off x="8066628" y="40236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73D5DB3-FAB4-0D1B-FB6A-CA2CF2D72CF4}"/>
              </a:ext>
            </a:extLst>
          </p:cNvPr>
          <p:cNvSpPr/>
          <p:nvPr/>
        </p:nvSpPr>
        <p:spPr>
          <a:xfrm>
            <a:off x="8696866" y="40481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48CD6D5-D024-830C-C072-A9FA8BCF61B3}"/>
              </a:ext>
            </a:extLst>
          </p:cNvPr>
          <p:cNvSpPr/>
          <p:nvPr/>
        </p:nvSpPr>
        <p:spPr>
          <a:xfrm>
            <a:off x="9743533" y="492325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8CCD652-8E79-69E7-36A3-539CF9C2D3E5}"/>
              </a:ext>
            </a:extLst>
          </p:cNvPr>
          <p:cNvSpPr/>
          <p:nvPr/>
        </p:nvSpPr>
        <p:spPr>
          <a:xfrm>
            <a:off x="8939907" y="43799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C0C07758-1CF4-4DAC-681C-A99B28092A91}"/>
              </a:ext>
            </a:extLst>
          </p:cNvPr>
          <p:cNvSpPr/>
          <p:nvPr/>
        </p:nvSpPr>
        <p:spPr>
          <a:xfrm>
            <a:off x="8552710" y="468709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435C4149-04DD-CE38-EF5D-137583F5615B}"/>
              </a:ext>
            </a:extLst>
          </p:cNvPr>
          <p:cNvSpPr/>
          <p:nvPr/>
        </p:nvSpPr>
        <p:spPr>
          <a:xfrm>
            <a:off x="8184962" y="46841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147B796-27C2-27CF-ACCD-5A589BF94FB0}"/>
              </a:ext>
            </a:extLst>
          </p:cNvPr>
          <p:cNvSpPr/>
          <p:nvPr/>
        </p:nvSpPr>
        <p:spPr>
          <a:xfrm>
            <a:off x="8305775" y="50882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67180D0-CECF-F068-23F3-F5034DD27AD3}"/>
              </a:ext>
            </a:extLst>
          </p:cNvPr>
          <p:cNvSpPr/>
          <p:nvPr/>
        </p:nvSpPr>
        <p:spPr>
          <a:xfrm>
            <a:off x="8426588" y="549246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99081FC-A3E7-A9C0-E9CA-29E75226A717}"/>
              </a:ext>
            </a:extLst>
          </p:cNvPr>
          <p:cNvSpPr/>
          <p:nvPr/>
        </p:nvSpPr>
        <p:spPr>
          <a:xfrm>
            <a:off x="8513171" y="557805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27BFE876-F7EC-E0D9-7B32-E255C5713507}"/>
              </a:ext>
            </a:extLst>
          </p:cNvPr>
          <p:cNvSpPr/>
          <p:nvPr/>
        </p:nvSpPr>
        <p:spPr>
          <a:xfrm>
            <a:off x="9229303" y="514691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57F8DD7-B890-F504-CE01-863E090D3EBA}"/>
              </a:ext>
            </a:extLst>
          </p:cNvPr>
          <p:cNvSpPr/>
          <p:nvPr/>
        </p:nvSpPr>
        <p:spPr>
          <a:xfrm>
            <a:off x="9096642" y="47463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E72C402-7A5C-FE93-D00B-1B0B988A28D5}"/>
              </a:ext>
            </a:extLst>
          </p:cNvPr>
          <p:cNvSpPr/>
          <p:nvPr/>
        </p:nvSpPr>
        <p:spPr>
          <a:xfrm>
            <a:off x="9483785" y="430094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AF76B04-9523-73BB-F238-5133A09B9537}"/>
              </a:ext>
            </a:extLst>
          </p:cNvPr>
          <p:cNvSpPr/>
          <p:nvPr/>
        </p:nvSpPr>
        <p:spPr>
          <a:xfrm>
            <a:off x="9870928" y="38555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98CB864-001D-B06D-969E-A11CC416B331}"/>
              </a:ext>
            </a:extLst>
          </p:cNvPr>
          <p:cNvSpPr/>
          <p:nvPr/>
        </p:nvSpPr>
        <p:spPr>
          <a:xfrm>
            <a:off x="10222224" y="460674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EDBF28E-176A-6F94-1D06-EA00BB22C4D4}"/>
              </a:ext>
            </a:extLst>
          </p:cNvPr>
          <p:cNvSpPr/>
          <p:nvPr/>
        </p:nvSpPr>
        <p:spPr>
          <a:xfrm>
            <a:off x="10700915" y="429023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107837BF-0A31-5F2E-B06D-BE0A629EAEAB}"/>
              </a:ext>
            </a:extLst>
          </p:cNvPr>
          <p:cNvSpPr/>
          <p:nvPr/>
        </p:nvSpPr>
        <p:spPr>
          <a:xfrm>
            <a:off x="11179606" y="397371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AC5D35E-8A3A-3127-FF7F-AAE7A539934D}"/>
              </a:ext>
            </a:extLst>
          </p:cNvPr>
          <p:cNvSpPr/>
          <p:nvPr/>
        </p:nvSpPr>
        <p:spPr>
          <a:xfrm>
            <a:off x="9952808" y="28551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8F8C4704-4A12-847E-E980-2ECA9A35B547}"/>
              </a:ext>
            </a:extLst>
          </p:cNvPr>
          <p:cNvSpPr/>
          <p:nvPr/>
        </p:nvSpPr>
        <p:spPr>
          <a:xfrm>
            <a:off x="9856993" y="42681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6C868A2-20EE-A85C-0750-E22188DE59B4}"/>
              </a:ext>
            </a:extLst>
          </p:cNvPr>
          <p:cNvSpPr/>
          <p:nvPr/>
        </p:nvSpPr>
        <p:spPr>
          <a:xfrm>
            <a:off x="10009393" y="44205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AB8CB319-357C-411F-0ECC-894CCC3B301C}"/>
              </a:ext>
            </a:extLst>
          </p:cNvPr>
          <p:cNvSpPr/>
          <p:nvPr/>
        </p:nvSpPr>
        <p:spPr>
          <a:xfrm>
            <a:off x="10087556" y="435854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CB6C8D29-CA39-2433-32B8-4F44DD96F167}"/>
              </a:ext>
            </a:extLst>
          </p:cNvPr>
          <p:cNvSpPr/>
          <p:nvPr/>
        </p:nvSpPr>
        <p:spPr>
          <a:xfrm>
            <a:off x="10541443" y="40092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BC74A88-D4A2-994E-E92A-B64F39978515}"/>
              </a:ext>
            </a:extLst>
          </p:cNvPr>
          <p:cNvSpPr/>
          <p:nvPr/>
        </p:nvSpPr>
        <p:spPr>
          <a:xfrm>
            <a:off x="10843317" y="379658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61D01118-D437-FB7A-3D8D-467302BB7B17}"/>
              </a:ext>
            </a:extLst>
          </p:cNvPr>
          <p:cNvSpPr/>
          <p:nvPr/>
        </p:nvSpPr>
        <p:spPr>
          <a:xfrm>
            <a:off x="11199213" y="433144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E03B1AF2-DE15-6CA3-0382-2B2DEC73CC78}"/>
              </a:ext>
            </a:extLst>
          </p:cNvPr>
          <p:cNvSpPr/>
          <p:nvPr/>
        </p:nvSpPr>
        <p:spPr>
          <a:xfrm>
            <a:off x="8644198" y="322638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69A3B893-C3BE-07D0-05A1-6BCE223530B3}"/>
              </a:ext>
            </a:extLst>
          </p:cNvPr>
          <p:cNvSpPr/>
          <p:nvPr/>
        </p:nvSpPr>
        <p:spPr>
          <a:xfrm>
            <a:off x="7819883" y="23168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0D5368B9-E209-5886-44FB-448E6C29C614}"/>
              </a:ext>
            </a:extLst>
          </p:cNvPr>
          <p:cNvSpPr/>
          <p:nvPr/>
        </p:nvSpPr>
        <p:spPr>
          <a:xfrm>
            <a:off x="10180194" y="208133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6C95B71-AB87-5AC7-931F-A2DF3581D6BD}"/>
              </a:ext>
            </a:extLst>
          </p:cNvPr>
          <p:cNvSpPr/>
          <p:nvPr/>
        </p:nvSpPr>
        <p:spPr>
          <a:xfrm>
            <a:off x="9543222" y="293996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ABCB9CB3-99EA-9A02-952A-B8A22347283F}"/>
              </a:ext>
            </a:extLst>
          </p:cNvPr>
          <p:cNvSpPr/>
          <p:nvPr/>
        </p:nvSpPr>
        <p:spPr>
          <a:xfrm>
            <a:off x="7876484" y="33127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49EFD2BE-2297-BDAB-C53F-7920BF555F5D}"/>
              </a:ext>
            </a:extLst>
          </p:cNvPr>
          <p:cNvSpPr/>
          <p:nvPr/>
        </p:nvSpPr>
        <p:spPr>
          <a:xfrm>
            <a:off x="8600943" y="433121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E56A2E49-1632-76B6-12FA-6CC0E445079F}"/>
              </a:ext>
            </a:extLst>
          </p:cNvPr>
          <p:cNvSpPr/>
          <p:nvPr/>
        </p:nvSpPr>
        <p:spPr>
          <a:xfrm>
            <a:off x="8929004" y="544818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E5AE1163-609A-BB12-14C3-3D2BBF7C7516}"/>
              </a:ext>
            </a:extLst>
          </p:cNvPr>
          <p:cNvSpPr/>
          <p:nvPr/>
        </p:nvSpPr>
        <p:spPr>
          <a:xfrm>
            <a:off x="10465689" y="34816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81F0FB0C-040D-EC3E-A7C3-D896CD7C35E6}"/>
              </a:ext>
            </a:extLst>
          </p:cNvPr>
          <p:cNvSpPr/>
          <p:nvPr/>
        </p:nvSpPr>
        <p:spPr>
          <a:xfrm>
            <a:off x="9212037" y="196686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1845A4E0-9923-EEAA-94E1-23E6BDDD0038}"/>
              </a:ext>
            </a:extLst>
          </p:cNvPr>
          <p:cNvSpPr/>
          <p:nvPr/>
        </p:nvSpPr>
        <p:spPr>
          <a:xfrm>
            <a:off x="7851860" y="18319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ADBAE0D7-9593-2706-9441-938CA5065866}"/>
              </a:ext>
            </a:extLst>
          </p:cNvPr>
          <p:cNvSpPr/>
          <p:nvPr/>
        </p:nvSpPr>
        <p:spPr>
          <a:xfrm>
            <a:off x="7925276" y="36508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1A8022D5-DBE7-5B3A-9909-7886BD2FBE4F}"/>
              </a:ext>
            </a:extLst>
          </p:cNvPr>
          <p:cNvSpPr/>
          <p:nvPr/>
        </p:nvSpPr>
        <p:spPr>
          <a:xfrm>
            <a:off x="8819811" y="366337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B949B30-3DEC-0081-E3FA-4D103CE67E0D}"/>
              </a:ext>
            </a:extLst>
          </p:cNvPr>
          <p:cNvSpPr/>
          <p:nvPr/>
        </p:nvSpPr>
        <p:spPr>
          <a:xfrm>
            <a:off x="9613457" y="459365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6905C815-152F-873D-0F08-9F707A75847F}"/>
              </a:ext>
            </a:extLst>
          </p:cNvPr>
          <p:cNvSpPr/>
          <p:nvPr/>
        </p:nvSpPr>
        <p:spPr>
          <a:xfrm>
            <a:off x="8504931" y="21605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8B9A5CEE-861E-0A63-2348-B73D93F6E0B9}"/>
              </a:ext>
            </a:extLst>
          </p:cNvPr>
          <p:cNvSpPr/>
          <p:nvPr/>
        </p:nvSpPr>
        <p:spPr>
          <a:xfrm>
            <a:off x="8260877" y="25690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45989367-342F-196F-41AC-C21EA6C2C802}"/>
              </a:ext>
            </a:extLst>
          </p:cNvPr>
          <p:cNvSpPr/>
          <p:nvPr/>
        </p:nvSpPr>
        <p:spPr>
          <a:xfrm>
            <a:off x="8259529" y="186769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EEC7A756-5AC0-28F7-A81A-BE931613BBCF}"/>
              </a:ext>
            </a:extLst>
          </p:cNvPr>
          <p:cNvSpPr/>
          <p:nvPr/>
        </p:nvSpPr>
        <p:spPr>
          <a:xfrm>
            <a:off x="7471687" y="359387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2F63ABBF-1FF5-CAC6-44FD-B5137926CA7E}"/>
              </a:ext>
            </a:extLst>
          </p:cNvPr>
          <p:cNvSpPr/>
          <p:nvPr/>
        </p:nvSpPr>
        <p:spPr>
          <a:xfrm>
            <a:off x="9073582" y="307701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E7511F17-EB4F-9DDA-5851-28EA7DB9B67B}"/>
              </a:ext>
            </a:extLst>
          </p:cNvPr>
          <p:cNvSpPr/>
          <p:nvPr/>
        </p:nvSpPr>
        <p:spPr>
          <a:xfrm>
            <a:off x="9467025" y="364093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DD0F9065-DC92-69DE-BF1A-531C600817CF}"/>
              </a:ext>
            </a:extLst>
          </p:cNvPr>
          <p:cNvSpPr/>
          <p:nvPr/>
        </p:nvSpPr>
        <p:spPr>
          <a:xfrm>
            <a:off x="10801375" y="415520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84B902BA-DFAB-7710-2A9F-1E732A35D61F}"/>
              </a:ext>
            </a:extLst>
          </p:cNvPr>
          <p:cNvSpPr/>
          <p:nvPr/>
        </p:nvSpPr>
        <p:spPr>
          <a:xfrm>
            <a:off x="8982602" y="2614277"/>
            <a:ext cx="174414" cy="211708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CCE809-B48D-3B4B-97CC-3AF02710356C}"/>
              </a:ext>
            </a:extLst>
          </p:cNvPr>
          <p:cNvSpPr txBox="1"/>
          <p:nvPr/>
        </p:nvSpPr>
        <p:spPr>
          <a:xfrm>
            <a:off x="8666728" y="2724013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</p:spTree>
    <p:extLst>
      <p:ext uri="{BB962C8B-B14F-4D97-AF65-F5344CB8AC3E}">
        <p14:creationId xmlns:p14="http://schemas.microsoft.com/office/powerpoint/2010/main" val="1070192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754C0-D3EA-6714-26F5-DC98EAA71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B15A1-A950-DA3E-8AE0-1B89E6FA6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94990-A112-0BCA-24F8-E1876AAB2DA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328892" cy="208489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Voronoi cells are not the only way to perform coarse quantization </a:t>
            </a:r>
          </a:p>
          <a:p>
            <a:r>
              <a:rPr lang="en-US" dirty="0">
                <a:latin typeface="+mn-lt"/>
                <a:hlinkClick r:id="rId3"/>
              </a:rPr>
              <a:t>Babenko, et. al., 2012</a:t>
            </a:r>
            <a:r>
              <a:rPr lang="en-US" dirty="0">
                <a:latin typeface="+mn-lt"/>
              </a:rPr>
              <a:t>, proposed using a multi-dimensional inverted multi-index</a:t>
            </a:r>
          </a:p>
          <a:p>
            <a:r>
              <a:rPr lang="en-US" dirty="0">
                <a:latin typeface="+mn-lt"/>
              </a:rPr>
              <a:t>The multi-index is quantized along the axes of a grid rather than Voronoi cells</a:t>
            </a:r>
          </a:p>
          <a:p>
            <a:r>
              <a:rPr lang="en-US" dirty="0">
                <a:latin typeface="+mn-lt"/>
              </a:rPr>
              <a:t>Result is a better constrained search region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0E1BC0-72B5-367E-DB28-A1C413007B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241" y="2980973"/>
            <a:ext cx="7598811" cy="3870913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C30B9A4-4A71-D827-F58C-1A7C833ADBF6}"/>
              </a:ext>
            </a:extLst>
          </p:cNvPr>
          <p:cNvCxnSpPr>
            <a:cxnSpLocks/>
          </p:cNvCxnSpPr>
          <p:nvPr/>
        </p:nvCxnSpPr>
        <p:spPr>
          <a:xfrm>
            <a:off x="6263884" y="2885005"/>
            <a:ext cx="1755453" cy="170166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B7E3016-A8C9-EE5C-BB54-A6B55FD19A6C}"/>
              </a:ext>
            </a:extLst>
          </p:cNvPr>
          <p:cNvCxnSpPr>
            <a:cxnSpLocks/>
          </p:cNvCxnSpPr>
          <p:nvPr/>
        </p:nvCxnSpPr>
        <p:spPr>
          <a:xfrm flipH="1">
            <a:off x="4796933" y="2885005"/>
            <a:ext cx="870391" cy="160875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9537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6871D-2200-338F-4873-09D8AE8D4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A45ADFA-3C77-51BE-AFB8-7C1EE8DF9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7258" y="2618630"/>
            <a:ext cx="7496474" cy="2784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602503-1D0F-D956-4030-1ED2FF479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32624-5844-DE51-1DD9-F6D1923B58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328892" cy="15794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  <a:hlinkClick r:id="rId4"/>
              </a:rPr>
              <a:t>Babenko, et. al., 2012</a:t>
            </a:r>
            <a:r>
              <a:rPr lang="en-US" dirty="0">
                <a:latin typeface="+mn-lt"/>
              </a:rPr>
              <a:t>, proposed using a multi-dimensional inverted multi-index</a:t>
            </a:r>
          </a:p>
          <a:p>
            <a:r>
              <a:rPr lang="en-US" dirty="0">
                <a:latin typeface="+mn-lt"/>
              </a:rPr>
              <a:t>Grid is quantized along axes 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C4D1749-9FF8-BA60-3A42-DA8D91407527}"/>
              </a:ext>
            </a:extLst>
          </p:cNvPr>
          <p:cNvCxnSpPr>
            <a:cxnSpLocks/>
          </p:cNvCxnSpPr>
          <p:nvPr/>
        </p:nvCxnSpPr>
        <p:spPr>
          <a:xfrm flipH="1" flipV="1">
            <a:off x="6430139" y="5271247"/>
            <a:ext cx="386297" cy="78970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39736A-852B-7A8C-0CD7-80AAC1DBD7CD}"/>
              </a:ext>
            </a:extLst>
          </p:cNvPr>
          <p:cNvCxnSpPr>
            <a:cxnSpLocks/>
          </p:cNvCxnSpPr>
          <p:nvPr/>
        </p:nvCxnSpPr>
        <p:spPr>
          <a:xfrm>
            <a:off x="4298169" y="2268886"/>
            <a:ext cx="39119" cy="65523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7F57694-45A7-CB59-CA42-4B9728DFA45F}"/>
              </a:ext>
            </a:extLst>
          </p:cNvPr>
          <p:cNvSpPr txBox="1">
            <a:spLocks/>
          </p:cNvSpPr>
          <p:nvPr/>
        </p:nvSpPr>
        <p:spPr>
          <a:xfrm>
            <a:off x="520004" y="5961920"/>
            <a:ext cx="11328892" cy="789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Distances from the query vector are measured along the axes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2C7668A-12D2-5151-310A-B6331B0B2C02}"/>
              </a:ext>
            </a:extLst>
          </p:cNvPr>
          <p:cNvCxnSpPr>
            <a:cxnSpLocks/>
          </p:cNvCxnSpPr>
          <p:nvPr/>
        </p:nvCxnSpPr>
        <p:spPr>
          <a:xfrm flipV="1">
            <a:off x="6816436" y="5271247"/>
            <a:ext cx="1403384" cy="74814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FBA93C-E87E-1210-0F3D-5EB6136C4B21}"/>
              </a:ext>
            </a:extLst>
          </p:cNvPr>
          <p:cNvCxnSpPr>
            <a:cxnSpLocks/>
          </p:cNvCxnSpPr>
          <p:nvPr/>
        </p:nvCxnSpPr>
        <p:spPr>
          <a:xfrm>
            <a:off x="1261579" y="2268886"/>
            <a:ext cx="635679" cy="284588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608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54DED-22B7-2921-35BF-CB2679BBB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B7489D4-B3C7-ED6E-B694-62C9323F4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46" y="2145248"/>
            <a:ext cx="8115503" cy="38166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E8C4CC-FC3C-474A-4857-B9168AEF7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0C7F5-FB84-BF42-81A0-DFA8856B39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328892" cy="82447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  <a:hlinkClick r:id="rId4"/>
              </a:rPr>
              <a:t>Babenko, et. al., 2012</a:t>
            </a:r>
            <a:r>
              <a:rPr lang="en-US" dirty="0">
                <a:latin typeface="+mn-lt"/>
              </a:rPr>
              <a:t>, proposed using a multi-dimensional inverted multi-index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0D44C97-37D0-6D99-BC28-D00913E84DF5}"/>
              </a:ext>
            </a:extLst>
          </p:cNvPr>
          <p:cNvCxnSpPr>
            <a:cxnSpLocks/>
          </p:cNvCxnSpPr>
          <p:nvPr/>
        </p:nvCxnSpPr>
        <p:spPr>
          <a:xfrm flipH="1" flipV="1">
            <a:off x="1701664" y="5911816"/>
            <a:ext cx="4684466" cy="474794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B251F83-4EF6-DCC6-D18E-20261E944017}"/>
              </a:ext>
            </a:extLst>
          </p:cNvPr>
          <p:cNvCxnSpPr>
            <a:cxnSpLocks/>
          </p:cNvCxnSpPr>
          <p:nvPr/>
        </p:nvCxnSpPr>
        <p:spPr>
          <a:xfrm flipH="1">
            <a:off x="8322507" y="2046212"/>
            <a:ext cx="581891" cy="65523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7991F0C-BAB0-75FD-018D-72FF516039E9}"/>
              </a:ext>
            </a:extLst>
          </p:cNvPr>
          <p:cNvSpPr txBox="1">
            <a:spLocks/>
          </p:cNvSpPr>
          <p:nvPr/>
        </p:nvSpPr>
        <p:spPr>
          <a:xfrm>
            <a:off x="6188142" y="1355539"/>
            <a:ext cx="5136726" cy="78970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Total distances are the sum of distances along the axes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03FDC01-BA0B-7003-EF25-096DE37898BF}"/>
              </a:ext>
            </a:extLst>
          </p:cNvPr>
          <p:cNvSpPr txBox="1">
            <a:spLocks/>
          </p:cNvSpPr>
          <p:nvPr/>
        </p:nvSpPr>
        <p:spPr>
          <a:xfrm>
            <a:off x="6525541" y="6036507"/>
            <a:ext cx="5136726" cy="78970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The query proceeds stepwise until required NNs found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8613CA2-F22C-6503-B05E-61BF594D3283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59692" y="4982747"/>
            <a:ext cx="1534212" cy="105376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1202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48E92-8F9D-961A-0F21-7B8F86276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D66C7-B16A-BB10-1CAE-8CD7E193D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Product Quantization</a:t>
            </a:r>
          </a:p>
        </p:txBody>
      </p:sp>
    </p:spTree>
    <p:extLst>
      <p:ext uri="{BB962C8B-B14F-4D97-AF65-F5344CB8AC3E}">
        <p14:creationId xmlns:p14="http://schemas.microsoft.com/office/powerpoint/2010/main" val="13769565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C114D-C2B0-93AC-FDA8-5552D4B80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B6CF1-B60D-5F3C-294D-0557D71D3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A33EC-5BB0-2188-D54B-4E2AD61AA99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9817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Product Quantization (PQ) </a:t>
            </a:r>
            <a:r>
              <a:rPr lang="en-US" dirty="0">
                <a:latin typeface="+mn-lt"/>
              </a:rPr>
              <a:t>for ANNS was first proposed by </a:t>
            </a:r>
            <a:r>
              <a:rPr lang="en-US" dirty="0">
                <a:latin typeface="+mn-lt"/>
                <a:hlinkClick r:id="rId3"/>
              </a:rPr>
              <a:t>Jégou, </a:t>
            </a:r>
            <a:r>
              <a:rPr lang="en-US" dirty="0" err="1">
                <a:latin typeface="+mn-lt"/>
                <a:hlinkClick r:id="rId3"/>
              </a:rPr>
              <a:t>Douze</a:t>
            </a:r>
            <a:r>
              <a:rPr lang="en-US" dirty="0">
                <a:latin typeface="+mn-lt"/>
                <a:hlinkClick r:id="rId3"/>
              </a:rPr>
              <a:t>, and Schmid, 2011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78E3E0-75CD-988C-275B-EC274834E376}"/>
              </a:ext>
            </a:extLst>
          </p:cNvPr>
          <p:cNvSpPr/>
          <p:nvPr/>
        </p:nvSpPr>
        <p:spPr>
          <a:xfrm>
            <a:off x="517072" y="1950946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Factor observation vectors into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47FEF1-51C1-DF87-4FB4-D45AD7B3575D}"/>
              </a:ext>
            </a:extLst>
          </p:cNvPr>
          <p:cNvSpPr/>
          <p:nvPr/>
        </p:nvSpPr>
        <p:spPr>
          <a:xfrm>
            <a:off x="517072" y="3108280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Learn codes (centroids) by K-means clustering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232EA0-C3F1-34E3-C9B1-CCFE4E5D18AB}"/>
              </a:ext>
            </a:extLst>
          </p:cNvPr>
          <p:cNvSpPr/>
          <p:nvPr/>
        </p:nvSpPr>
        <p:spPr>
          <a:xfrm>
            <a:off x="517072" y="4323291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Encode observation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r>
              <a:rPr lang="en-US" sz="2000" dirty="0">
                <a:solidFill>
                  <a:schemeClr val="tx1"/>
                </a:solidFill>
              </a:rPr>
              <a:t> by cluster centroids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232F01-CE06-8F9D-12CA-B3396EDAA9C4}"/>
              </a:ext>
            </a:extLst>
          </p:cNvPr>
          <p:cNvSpPr/>
          <p:nvPr/>
        </p:nvSpPr>
        <p:spPr>
          <a:xfrm>
            <a:off x="7236278" y="1950946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Factor query vectors into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6072DA-069E-4D5F-0373-4331A1C987A8}"/>
              </a:ext>
            </a:extLst>
          </p:cNvPr>
          <p:cNvSpPr/>
          <p:nvPr/>
        </p:nvSpPr>
        <p:spPr>
          <a:xfrm>
            <a:off x="7219949" y="3142422"/>
            <a:ext cx="3575958" cy="119543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Build asymmetric distance tables between </a:t>
            </a:r>
            <a:r>
              <a:rPr lang="en-US" sz="2000" dirty="0" err="1">
                <a:solidFill>
                  <a:schemeClr val="tx1"/>
                </a:solidFill>
              </a:rPr>
              <a:t>subvector</a:t>
            </a:r>
            <a:r>
              <a:rPr lang="en-US" sz="2000" dirty="0">
                <a:solidFill>
                  <a:schemeClr val="tx1"/>
                </a:solidFill>
              </a:rPr>
              <a:t> centroids and  query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1AF84D-FF68-6E9A-2728-06B43B920BA3}"/>
              </a:ext>
            </a:extLst>
          </p:cNvPr>
          <p:cNvSpPr/>
          <p:nvPr/>
        </p:nvSpPr>
        <p:spPr>
          <a:xfrm>
            <a:off x="7219949" y="4665446"/>
            <a:ext cx="3575958" cy="146014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Use distance table for NN search for query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compute distances by summing </a:t>
            </a:r>
            <a:r>
              <a:rPr lang="en-US" sz="2000" dirty="0" err="1">
                <a:solidFill>
                  <a:schemeClr val="tx1"/>
                </a:solidFill>
              </a:rPr>
              <a:t>subvector</a:t>
            </a:r>
            <a:r>
              <a:rPr lang="en-US" sz="2000" dirty="0">
                <a:solidFill>
                  <a:schemeClr val="tx1"/>
                </a:solidFill>
              </a:rPr>
              <a:t> distances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29B07FA-2364-2F3C-88E7-410C9675F392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2305051" y="2854460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A5EEC86-9209-760A-4C3A-4B4E3B8B6489}"/>
              </a:ext>
            </a:extLst>
          </p:cNvPr>
          <p:cNvCxnSpPr/>
          <p:nvPr/>
        </p:nvCxnSpPr>
        <p:spPr>
          <a:xfrm>
            <a:off x="2291444" y="4012977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7F7AEAF-F904-F14B-FFE4-2A65EBCEBA48}"/>
              </a:ext>
            </a:extLst>
          </p:cNvPr>
          <p:cNvCxnSpPr/>
          <p:nvPr/>
        </p:nvCxnSpPr>
        <p:spPr>
          <a:xfrm>
            <a:off x="9024257" y="2888602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8F34C14-3B0B-21DC-9F95-02C5DD8438F5}"/>
              </a:ext>
            </a:extLst>
          </p:cNvPr>
          <p:cNvCxnSpPr/>
          <p:nvPr/>
        </p:nvCxnSpPr>
        <p:spPr>
          <a:xfrm>
            <a:off x="9024257" y="4394350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0BBECEE-11A1-4209-A166-76A4F83759D7}"/>
              </a:ext>
            </a:extLst>
          </p:cNvPr>
          <p:cNvSpPr txBox="1"/>
          <p:nvPr/>
        </p:nvSpPr>
        <p:spPr>
          <a:xfrm>
            <a:off x="510268" y="5226805"/>
            <a:ext cx="35623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Database construction </a:t>
            </a:r>
          </a:p>
          <a:p>
            <a:pPr algn="ctr"/>
            <a:r>
              <a:rPr lang="en-US" sz="2400" b="1" dirty="0"/>
              <a:t>a.k.a. model training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0E1B29-2BBF-6F8E-47AB-57DAFB77494C}"/>
              </a:ext>
            </a:extLst>
          </p:cNvPr>
          <p:cNvSpPr txBox="1"/>
          <p:nvPr/>
        </p:nvSpPr>
        <p:spPr>
          <a:xfrm>
            <a:off x="7219949" y="6174343"/>
            <a:ext cx="35623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NN search for query</a:t>
            </a:r>
          </a:p>
        </p:txBody>
      </p:sp>
    </p:spTree>
    <p:extLst>
      <p:ext uri="{BB962C8B-B14F-4D97-AF65-F5344CB8AC3E}">
        <p14:creationId xmlns:p14="http://schemas.microsoft.com/office/powerpoint/2010/main" val="2072419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20" grpId="0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6975A-78D5-E137-8DF5-B04447CD5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33675-BD8B-FFDC-9293-676AC404B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641C8-B5C3-0090-D944-93C3ACC43CF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270796" cy="124742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review paper by </a:t>
            </a:r>
            <a:r>
              <a:rPr lang="en-US" dirty="0">
                <a:latin typeface="+mn-lt"/>
                <a:hlinkClick r:id="rId3"/>
              </a:rPr>
              <a:t>Matsui, et. al., 2018</a:t>
            </a:r>
            <a:r>
              <a:rPr lang="en-US" dirty="0">
                <a:latin typeface="+mn-lt"/>
              </a:rPr>
              <a:t>, includes a diagram showing the evolution of PQ algorithms </a:t>
            </a:r>
          </a:p>
          <a:p>
            <a:r>
              <a:rPr lang="en-US" dirty="0">
                <a:latin typeface="+mn-lt"/>
              </a:rPr>
              <a:t>We will only </a:t>
            </a:r>
            <a:r>
              <a:rPr lang="en-US">
                <a:latin typeface="+mn-lt"/>
              </a:rPr>
              <a:t>discuss a few </a:t>
            </a:r>
            <a:r>
              <a:rPr lang="en-US" dirty="0">
                <a:latin typeface="+mn-lt"/>
              </a:rPr>
              <a:t>of these many algorithms and applications in our lesson</a:t>
            </a:r>
          </a:p>
          <a:p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ED86C4-04EA-085F-6AE7-D8613B1C5D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1706" y="2143502"/>
            <a:ext cx="8470831" cy="464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8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B12CF-3FB5-8CE3-EC1C-2CC4BD6C2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73C6B-7371-8C25-DFAA-F85A9E021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468B9-98FE-DD6A-7B9E-2C5BA2820524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quantizes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observations </a:t>
                </a:r>
              </a:p>
              <a:p>
                <a:r>
                  <a:rPr lang="en-US" dirty="0">
                    <a:latin typeface="+mn-lt"/>
                  </a:rPr>
                  <a:t> In contrast to coarse quantization, the PQ algorithm quantizes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dimensional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,..,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,..,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has an independent code book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quantization levels </a:t>
                </a:r>
                <a:r>
                  <a:rPr lang="en-US" sz="2400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Where code for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minimizes distance or quantization error to the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468B9-98FE-DD6A-7B9E-2C5BA28205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3"/>
                <a:stretch>
                  <a:fillRect l="-1136" t="-2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EC5FDDFA-B2F1-86AD-B8EF-33B20A94C9D5}"/>
              </a:ext>
            </a:extLst>
          </p:cNvPr>
          <p:cNvSpPr/>
          <p:nvPr/>
        </p:nvSpPr>
        <p:spPr>
          <a:xfrm rot="5400000">
            <a:off x="4803696" y="2279527"/>
            <a:ext cx="273458" cy="1560034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0FCB90-D9DE-6468-585F-3539C7767BEB}"/>
              </a:ext>
            </a:extLst>
          </p:cNvPr>
          <p:cNvSpPr txBox="1"/>
          <p:nvPr/>
        </p:nvSpPr>
        <p:spPr>
          <a:xfrm>
            <a:off x="4110389" y="3157749"/>
            <a:ext cx="16600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Subvector</a:t>
            </a:r>
            <a:r>
              <a:rPr lang="en-US" sz="2400" dirty="0"/>
              <a:t> 1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7E040563-CE45-5A12-70D3-452BF1F185D1}"/>
              </a:ext>
            </a:extLst>
          </p:cNvPr>
          <p:cNvSpPr/>
          <p:nvPr/>
        </p:nvSpPr>
        <p:spPr>
          <a:xfrm rot="5400000">
            <a:off x="7251903" y="2100991"/>
            <a:ext cx="273458" cy="1917106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EC5362-AD24-F620-86AA-2FC3AB101154}"/>
              </a:ext>
            </a:extLst>
          </p:cNvPr>
          <p:cNvSpPr txBox="1"/>
          <p:nvPr/>
        </p:nvSpPr>
        <p:spPr>
          <a:xfrm>
            <a:off x="6380060" y="3157749"/>
            <a:ext cx="204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Subvector</a:t>
            </a:r>
            <a:r>
              <a:rPr lang="en-US" sz="2400" dirty="0"/>
              <a:t> m</a:t>
            </a:r>
          </a:p>
        </p:txBody>
      </p:sp>
    </p:spTree>
    <p:extLst>
      <p:ext uri="{BB962C8B-B14F-4D97-AF65-F5344CB8AC3E}">
        <p14:creationId xmlns:p14="http://schemas.microsoft.com/office/powerpoint/2010/main" val="3054084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animBg="1"/>
      <p:bldP spid="7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FC157-5490-922D-4724-B3671E717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00918-6088-6E3B-09C7-71C9BEE40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4F5EEE-EE0E-EBE4-335D-D661407C791A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for ANNS was first proposed by </a:t>
                </a:r>
                <a:r>
                  <a:rPr lang="en-US" dirty="0">
                    <a:latin typeface="+mn-lt"/>
                    <a:hlinkClick r:id="rId3"/>
                  </a:rPr>
                  <a:t>Jégou, </a:t>
                </a:r>
                <a:r>
                  <a:rPr lang="en-US" dirty="0" err="1">
                    <a:latin typeface="+mn-lt"/>
                    <a:hlinkClick r:id="rId3"/>
                  </a:rPr>
                  <a:t>Douze</a:t>
                </a:r>
                <a:r>
                  <a:rPr lang="en-US" dirty="0">
                    <a:latin typeface="+mn-lt"/>
                    <a:hlinkClick r:id="rId3"/>
                  </a:rPr>
                  <a:t>, and Schmid, 2011</a:t>
                </a:r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code or centroid for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minimizes distance or quantization error to the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As we already noted, there is no feasible exact algorithm for this minimization </a:t>
                </a:r>
              </a:p>
              <a:p>
                <a:pPr lvl="1"/>
                <a:r>
                  <a:rPr lang="en-US" dirty="0">
                    <a:latin typeface="+mn-lt"/>
                  </a:rPr>
                  <a:t>For Euclidean metric we typically use Lloyd’s algorithm – a.k.a. k-means clustering</a:t>
                </a:r>
              </a:p>
              <a:p>
                <a:r>
                  <a:rPr lang="en-US" dirty="0">
                    <a:latin typeface="+mn-lt"/>
                  </a:rPr>
                  <a:t>A code book is constructed for 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subvectors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4F5EEE-EE0E-EBE4-335D-D661407C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4"/>
                <a:stretch>
                  <a:fillRect l="-1136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1644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62926-5215-50E8-2BC9-B359F1818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00241-FC43-4169-B109-FAA2BCAD7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2DE0A0-12DD-8D14-046C-5CB5205712A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quantizes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observations </a:t>
                </a:r>
              </a:p>
              <a:p>
                <a:r>
                  <a:rPr lang="en-US" dirty="0">
                    <a:latin typeface="+mn-lt"/>
                  </a:rPr>
                  <a:t>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have an independent code book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quantization levels </a:t>
                </a:r>
                <a:r>
                  <a:rPr lang="en-US" sz="2000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2DE0A0-12DD-8D14-046C-5CB5205712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3"/>
                <a:stretch>
                  <a:fillRect l="-1136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E29F28B8-8215-96D7-E437-3C179FFC98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733" y="2980651"/>
            <a:ext cx="8388481" cy="298127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5BA1A08-F8C5-3BEB-E840-41B47BC8A9C9}"/>
              </a:ext>
            </a:extLst>
          </p:cNvPr>
          <p:cNvSpPr txBox="1"/>
          <p:nvPr/>
        </p:nvSpPr>
        <p:spPr>
          <a:xfrm>
            <a:off x="1721224" y="6174343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Example from </a:t>
            </a:r>
            <a:r>
              <a:rPr lang="en-US" sz="2400" dirty="0">
                <a:hlinkClick r:id="rId5"/>
              </a:rPr>
              <a:t>Chris McCormick’s blog post </a:t>
            </a:r>
            <a:r>
              <a:rPr lang="en-US" sz="2400" dirty="0"/>
              <a:t>on the PQ algorithm </a:t>
            </a:r>
          </a:p>
        </p:txBody>
      </p:sp>
    </p:spTree>
    <p:extLst>
      <p:ext uri="{BB962C8B-B14F-4D97-AF65-F5344CB8AC3E}">
        <p14:creationId xmlns:p14="http://schemas.microsoft.com/office/powerpoint/2010/main" val="117802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C070-6470-FFD3-022F-6F4D94D21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E5148-167D-A26A-2A51-4F8CE4020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100C9F-0A37-12C7-D3B9-39DA186315F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for ANNS was first proposed by </a:t>
                </a:r>
                <a:r>
                  <a:rPr lang="en-US" dirty="0">
                    <a:latin typeface="+mn-lt"/>
                    <a:hlinkClick r:id="rId3"/>
                  </a:rPr>
                  <a:t>Jégou, </a:t>
                </a:r>
                <a:r>
                  <a:rPr lang="en-US" dirty="0" err="1">
                    <a:latin typeface="+mn-lt"/>
                    <a:hlinkClick r:id="rId3"/>
                  </a:rPr>
                  <a:t>Douze</a:t>
                </a:r>
                <a:r>
                  <a:rPr lang="en-US" dirty="0">
                    <a:latin typeface="+mn-lt"/>
                    <a:hlinkClick r:id="rId3"/>
                  </a:rPr>
                  <a:t>, and Schmid, 2011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have an independent code book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quantization levels</a:t>
                </a:r>
                <a:endParaRPr lang="en-US" sz="20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full vector is encoded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</a:t>
                </a:r>
                <a:r>
                  <a:rPr lang="en-US" b="0" dirty="0">
                    <a:latin typeface="+mn-lt"/>
                  </a:rPr>
                  <a:t>ach </a:t>
                </a:r>
                <a:r>
                  <a:rPr lang="en-US" b="0" dirty="0" err="1">
                    <a:latin typeface="+mn-lt"/>
                  </a:rPr>
                  <a:t>subvector</a:t>
                </a:r>
                <a:r>
                  <a:rPr lang="en-US" b="0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is</a:t>
                </a:r>
                <a:r>
                  <a:rPr lang="en-US" b="0" dirty="0">
                    <a:latin typeface="+mn-lt"/>
                  </a:rPr>
                  <a:t> coded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b="0" dirty="0">
                    <a:latin typeface="+mn-lt"/>
                  </a:rPr>
                  <a:t> levels,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b="0" dirty="0">
                    <a:latin typeface="+mn-lt"/>
                  </a:rPr>
                  <a:t> bits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b="0" dirty="0">
                    <a:latin typeface="+mn-lt"/>
                  </a:rPr>
                  <a:t>Example, using a one byte (8 bit) code</a:t>
                </a:r>
                <a:r>
                  <a:rPr lang="en-US" dirty="0">
                    <a:latin typeface="+mn-lt"/>
                  </a:rPr>
                  <a:t> the centroid code has discrete values: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=256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𝑙𝑒𝑣𝑒𝑙𝑠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100C9F-0A37-12C7-D3B9-39DA186315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4"/>
                <a:stretch>
                  <a:fillRect l="-1136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6731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F2A23-D05E-D3AB-7698-34AE81790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21922-CE6B-976C-1929-339971511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EEF5DD-938D-0AC5-AA20-42CE2867338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for ANNS was first proposed by </a:t>
                </a:r>
                <a:r>
                  <a:rPr lang="en-US" dirty="0">
                    <a:latin typeface="+mn-lt"/>
                    <a:hlinkClick r:id="rId3"/>
                  </a:rPr>
                  <a:t>Jégou, </a:t>
                </a:r>
                <a:r>
                  <a:rPr lang="en-US" dirty="0" err="1">
                    <a:latin typeface="+mn-lt"/>
                    <a:hlinkClick r:id="rId3"/>
                  </a:rPr>
                  <a:t>Douze</a:t>
                </a:r>
                <a:r>
                  <a:rPr lang="en-US" dirty="0">
                    <a:latin typeface="+mn-lt"/>
                    <a:hlinkClick r:id="rId3"/>
                  </a:rPr>
                  <a:t>, and Schmid, 2011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full vector is encoded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Simple PQ coding is invertible,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, so we can approximately reconstruct the original vector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PQ coded </a:t>
                </a:r>
                <a:r>
                  <a:rPr lang="en-US" b="1" dirty="0">
                    <a:latin typeface="+mn-lt"/>
                  </a:rPr>
                  <a:t>distance is invertible and symmetric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EEF5DD-938D-0AC5-AA20-42CE286733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698998"/>
              </a:xfrm>
              <a:blipFill>
                <a:blip r:embed="rId4"/>
                <a:stretch>
                  <a:fillRect l="-1136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441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093EA-CC99-48B2-0481-DA4142558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F3B76-7E86-9319-2830-22745F97B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312019-C3B3-67BF-FA81-D84BEEE3EC6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8"/>
                <a:ext cx="7318920" cy="58030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is memory efficient  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The complete code book for each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n-lt"/>
                  </a:rPr>
                  <a:t>, is represented by 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i="1" dirty="0">
                    <a:latin typeface="+mn-lt"/>
                    <a:ea typeface="Cambria Math" panose="02040503050406030204" pitchFamily="18" charset="0"/>
                  </a:rPr>
                  <a:t> </a:t>
                </a:r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array</a:t>
                </a:r>
              </a:p>
              <a:p>
                <a:pPr marL="742950" lvl="1" indent="-285750"/>
                <a:r>
                  <a:rPr lang="en-US" sz="2200" dirty="0">
                    <a:latin typeface="+mn-lt"/>
                  </a:rPr>
                  <a:t>Example,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256</m:t>
                    </m:r>
                  </m:oMath>
                </a14:m>
                <a:r>
                  <a:rPr lang="en-US" sz="2200" dirty="0">
                    <a:latin typeface="+mn-lt"/>
                  </a:rPr>
                  <a:t> the full code book is 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256</m:t>
                    </m:r>
                  </m:oMath>
                </a14:m>
                <a:r>
                  <a:rPr lang="en-US" sz="2200" dirty="0">
                    <a:latin typeface="+mn-lt"/>
                  </a:rPr>
                  <a:t> array </a:t>
                </a:r>
              </a:p>
              <a:p>
                <a:r>
                  <a:rPr lang="en-US" dirty="0">
                    <a:latin typeface="+mn-lt"/>
                  </a:rPr>
                  <a:t>Example of compression</a:t>
                </a:r>
              </a:p>
              <a:p>
                <a:pPr lvl="1"/>
                <a:r>
                  <a:rPr lang="en-US" sz="2200" dirty="0">
                    <a:latin typeface="+mn-lt"/>
                  </a:rPr>
                  <a:t>Vector length, 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=1024</m:t>
                    </m:r>
                  </m:oMath>
                </a14:m>
                <a:r>
                  <a:rPr lang="en-US" sz="2200" dirty="0">
                    <a:latin typeface="+mn-lt"/>
                  </a:rPr>
                  <a:t>, memory for float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×8×1024=32768</m:t>
                    </m:r>
                  </m:oMath>
                </a14:m>
                <a:r>
                  <a:rPr lang="en-US" sz="2200" dirty="0">
                    <a:latin typeface="+mn-lt"/>
                  </a:rPr>
                  <a:t> bits</a:t>
                </a:r>
              </a:p>
              <a:p>
                <a:pPr lvl="1"/>
                <a:r>
                  <a:rPr lang="en-US" sz="2200" dirty="0">
                    <a:latin typeface="+mn-lt"/>
                  </a:rPr>
                  <a:t>Number of </a:t>
                </a:r>
                <a:r>
                  <a:rPr lang="en-US" sz="2200" dirty="0" err="1">
                    <a:latin typeface="+mn-lt"/>
                  </a:rPr>
                  <a:t>subvectors</a:t>
                </a:r>
                <a:r>
                  <a:rPr lang="en-US" sz="220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endParaRPr lang="en-US" sz="2200" b="0" dirty="0">
                  <a:latin typeface="+mn-lt"/>
                </a:endParaRPr>
              </a:p>
              <a:p>
                <a:pPr lvl="1"/>
                <a:r>
                  <a:rPr lang="en-US" sz="2200" dirty="0">
                    <a:latin typeface="+mn-lt"/>
                  </a:rPr>
                  <a:t>Number of code levels,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>
                    <a:latin typeface="+mn-lt"/>
                  </a:rPr>
                  <a:t>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dirty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=8</m:t>
                    </m:r>
                    <m:sSup>
                      <m:sSupPr>
                        <m:ctrlPr>
                          <a:rPr lang="en-US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⟶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=256</m:t>
                    </m:r>
                  </m:oMath>
                </a14:m>
                <a:r>
                  <a:rPr lang="en-US" sz="2200" dirty="0">
                    <a:latin typeface="+mn-lt"/>
                  </a:rPr>
                  <a:t> levels</a:t>
                </a:r>
              </a:p>
              <a:p>
                <a:pPr lvl="1"/>
                <a:r>
                  <a:rPr lang="en-US" sz="2200" dirty="0">
                    <a:latin typeface="+mn-lt"/>
                  </a:rPr>
                  <a:t>Total codes per vector,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p>
                    </m:sSup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×8=64</m:t>
                    </m:r>
                  </m:oMath>
                </a14:m>
                <a:r>
                  <a:rPr lang="en-US" sz="2200" dirty="0">
                    <a:latin typeface="+mn-lt"/>
                  </a:rPr>
                  <a:t> bits </a:t>
                </a:r>
              </a:p>
              <a:p>
                <a:pPr lvl="1"/>
                <a:r>
                  <a:rPr lang="en-US" sz="2200" b="1" dirty="0">
                    <a:latin typeface="+mn-lt"/>
                  </a:rPr>
                  <a:t>Compression factor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32768</m:t>
                        </m:r>
                      </m:num>
                      <m:den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×8</m:t>
                        </m:r>
                      </m:den>
                    </m:f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=512</m:t>
                    </m:r>
                  </m:oMath>
                </a14:m>
                <a:endParaRPr lang="en-US" sz="2200" b="0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312019-C3B3-67BF-FA81-D84BEEE3EC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8"/>
                <a:ext cx="7318920" cy="5803001"/>
              </a:xfrm>
              <a:blipFill>
                <a:blip r:embed="rId3"/>
                <a:stretch>
                  <a:fillRect l="-1750" t="-1786" r="-1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B65D19C0-B598-6051-6E61-7911D8196E6C}"/>
              </a:ext>
            </a:extLst>
          </p:cNvPr>
          <p:cNvGrpSpPr/>
          <p:nvPr/>
        </p:nvGrpSpPr>
        <p:grpSpPr>
          <a:xfrm>
            <a:off x="8933452" y="2808302"/>
            <a:ext cx="2579045" cy="2298539"/>
            <a:chOff x="4425904" y="2425838"/>
            <a:chExt cx="3738150" cy="3093306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23CB0AD-4740-2E72-8A4E-F8AB593C7B55}"/>
                </a:ext>
              </a:extLst>
            </p:cNvPr>
            <p:cNvSpPr/>
            <p:nvPr/>
          </p:nvSpPr>
          <p:spPr>
            <a:xfrm>
              <a:off x="4425904" y="2502788"/>
              <a:ext cx="3738147" cy="3016356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D34D306-9B78-5A5E-6C51-8307B5DF35D0}"/>
                </a:ext>
              </a:extLst>
            </p:cNvPr>
            <p:cNvSpPr/>
            <p:nvPr/>
          </p:nvSpPr>
          <p:spPr>
            <a:xfrm>
              <a:off x="7142584" y="2502788"/>
              <a:ext cx="1021467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0 ,-1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85C0E14-13F8-AB9B-9CD3-2EDD703F0F86}"/>
                </a:ext>
              </a:extLst>
            </p:cNvPr>
            <p:cNvSpPr/>
            <p:nvPr/>
          </p:nvSpPr>
          <p:spPr>
            <a:xfrm>
              <a:off x="7142584" y="2865634"/>
              <a:ext cx="1021468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1 ,m-1</a:t>
              </a: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223266A-3588-22A4-F2E9-5D90E76B043E}"/>
                </a:ext>
              </a:extLst>
            </p:cNvPr>
            <p:cNvSpPr/>
            <p:nvPr/>
          </p:nvSpPr>
          <p:spPr>
            <a:xfrm>
              <a:off x="7142584" y="3214810"/>
              <a:ext cx="1021468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2 ,m-1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5501206-0930-B406-36CC-AD6ACF771486}"/>
                </a:ext>
              </a:extLst>
            </p:cNvPr>
            <p:cNvSpPr/>
            <p:nvPr/>
          </p:nvSpPr>
          <p:spPr>
            <a:xfrm>
              <a:off x="7142582" y="3577656"/>
              <a:ext cx="1021470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3 ,m-1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6A534B37-E621-1EC3-A1A9-5297E95624C3}"/>
                </a:ext>
              </a:extLst>
            </p:cNvPr>
            <p:cNvSpPr/>
            <p:nvPr/>
          </p:nvSpPr>
          <p:spPr>
            <a:xfrm>
              <a:off x="7142581" y="4793452"/>
              <a:ext cx="1021473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k-2 ,m-1</a:t>
              </a: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62B117E0-934F-1055-C82D-A3A5F4008709}"/>
                </a:ext>
              </a:extLst>
            </p:cNvPr>
            <p:cNvSpPr/>
            <p:nvPr/>
          </p:nvSpPr>
          <p:spPr>
            <a:xfrm>
              <a:off x="7142579" y="5156298"/>
              <a:ext cx="1021473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k-1,k-1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B18B12C4-8618-F5FD-65E9-CE967C566D62}"/>
                </a:ext>
              </a:extLst>
            </p:cNvPr>
            <p:cNvSpPr txBox="1"/>
            <p:nvPr/>
          </p:nvSpPr>
          <p:spPr>
            <a:xfrm>
              <a:off x="7361476" y="3870122"/>
              <a:ext cx="45719" cy="884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B7A796D-500E-6A89-B5FE-182987176EE4}"/>
                </a:ext>
              </a:extLst>
            </p:cNvPr>
            <p:cNvSpPr/>
            <p:nvPr/>
          </p:nvSpPr>
          <p:spPr>
            <a:xfrm>
              <a:off x="4425909" y="2502788"/>
              <a:ext cx="1021467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0 ,0</a:t>
              </a: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10B8CC90-AB0C-EB76-8106-D93D32789134}"/>
                </a:ext>
              </a:extLst>
            </p:cNvPr>
            <p:cNvSpPr/>
            <p:nvPr/>
          </p:nvSpPr>
          <p:spPr>
            <a:xfrm>
              <a:off x="4425909" y="2865634"/>
              <a:ext cx="1021468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1 ,0</a:t>
              </a: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53575AEF-E16F-401F-AB1F-DAE065325DE9}"/>
                </a:ext>
              </a:extLst>
            </p:cNvPr>
            <p:cNvSpPr/>
            <p:nvPr/>
          </p:nvSpPr>
          <p:spPr>
            <a:xfrm>
              <a:off x="4425909" y="3214810"/>
              <a:ext cx="1021468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2 ,0</a:t>
              </a: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A46976A-8446-337F-0642-9DAFB8027DC8}"/>
                </a:ext>
              </a:extLst>
            </p:cNvPr>
            <p:cNvSpPr/>
            <p:nvPr/>
          </p:nvSpPr>
          <p:spPr>
            <a:xfrm>
              <a:off x="4425907" y="3577656"/>
              <a:ext cx="1021470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3 ,0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BAC01E7-2601-019D-1DE6-88AD234FD030}"/>
                </a:ext>
              </a:extLst>
            </p:cNvPr>
            <p:cNvSpPr/>
            <p:nvPr/>
          </p:nvSpPr>
          <p:spPr>
            <a:xfrm>
              <a:off x="4425906" y="4793452"/>
              <a:ext cx="1021473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k-2 ,0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CA9BDBB-BC21-8764-50DC-847F5BD36CF5}"/>
                </a:ext>
              </a:extLst>
            </p:cNvPr>
            <p:cNvSpPr/>
            <p:nvPr/>
          </p:nvSpPr>
          <p:spPr>
            <a:xfrm>
              <a:off x="4425904" y="5156298"/>
              <a:ext cx="1021473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k-1,0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AF2F29D9-0395-6C2C-0982-3103A6E8389B}"/>
                </a:ext>
              </a:extLst>
            </p:cNvPr>
            <p:cNvSpPr txBox="1"/>
            <p:nvPr/>
          </p:nvSpPr>
          <p:spPr>
            <a:xfrm>
              <a:off x="4644802" y="3870122"/>
              <a:ext cx="45719" cy="884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FDE06383-B287-C229-46C7-B68B1498315E}"/>
                </a:ext>
              </a:extLst>
            </p:cNvPr>
            <p:cNvSpPr/>
            <p:nvPr/>
          </p:nvSpPr>
          <p:spPr>
            <a:xfrm>
              <a:off x="5447376" y="2502788"/>
              <a:ext cx="1021467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0 ,1</a:t>
              </a: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9AD979AB-E718-A0C2-6B37-0A3FF41A079E}"/>
                </a:ext>
              </a:extLst>
            </p:cNvPr>
            <p:cNvSpPr/>
            <p:nvPr/>
          </p:nvSpPr>
          <p:spPr>
            <a:xfrm>
              <a:off x="5447376" y="2865634"/>
              <a:ext cx="1021468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1 ,1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7E97D2-DB6A-1C50-4F24-4FE24C43FBCA}"/>
                </a:ext>
              </a:extLst>
            </p:cNvPr>
            <p:cNvSpPr/>
            <p:nvPr/>
          </p:nvSpPr>
          <p:spPr>
            <a:xfrm>
              <a:off x="5447376" y="3214810"/>
              <a:ext cx="1021468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2 ,1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B59611A-FED7-EA11-8F30-9E334CCDB49A}"/>
                </a:ext>
              </a:extLst>
            </p:cNvPr>
            <p:cNvSpPr/>
            <p:nvPr/>
          </p:nvSpPr>
          <p:spPr>
            <a:xfrm>
              <a:off x="5447374" y="3577656"/>
              <a:ext cx="1021470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3 ,1</a:t>
              </a: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00374324-4244-F6F7-DE9D-6C193A2D9690}"/>
                </a:ext>
              </a:extLst>
            </p:cNvPr>
            <p:cNvSpPr/>
            <p:nvPr/>
          </p:nvSpPr>
          <p:spPr>
            <a:xfrm>
              <a:off x="5447373" y="4793452"/>
              <a:ext cx="1021473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N-2 ,1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A5AB5769-9516-4722-6565-AB6A98A77E5B}"/>
                </a:ext>
              </a:extLst>
            </p:cNvPr>
            <p:cNvSpPr/>
            <p:nvPr/>
          </p:nvSpPr>
          <p:spPr>
            <a:xfrm>
              <a:off x="5447371" y="5156298"/>
              <a:ext cx="1021473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N-1,1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E2F0DA0E-0C8F-5F21-B589-50E28864FCEE}"/>
                </a:ext>
              </a:extLst>
            </p:cNvPr>
            <p:cNvSpPr txBox="1"/>
            <p:nvPr/>
          </p:nvSpPr>
          <p:spPr>
            <a:xfrm>
              <a:off x="5666268" y="3870122"/>
              <a:ext cx="45719" cy="884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1326E8D4-3604-D280-1B9A-D6B3B377D8B4}"/>
                </a:ext>
              </a:extLst>
            </p:cNvPr>
            <p:cNvSpPr txBox="1"/>
            <p:nvPr/>
          </p:nvSpPr>
          <p:spPr>
            <a:xfrm>
              <a:off x="6468843" y="2425838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A5B79DFE-DDFA-B019-A89A-5E31AD8984C6}"/>
                </a:ext>
              </a:extLst>
            </p:cNvPr>
            <p:cNvSpPr txBox="1"/>
            <p:nvPr/>
          </p:nvSpPr>
          <p:spPr>
            <a:xfrm>
              <a:off x="6430005" y="2810246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916CFE6F-C6F1-5D16-CF82-922BEB38FBAE}"/>
                </a:ext>
              </a:extLst>
            </p:cNvPr>
            <p:cNvSpPr txBox="1"/>
            <p:nvPr/>
          </p:nvSpPr>
          <p:spPr>
            <a:xfrm>
              <a:off x="6430005" y="3176335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A20D81A1-0FF3-6FE8-6BCE-55EC0A5138E6}"/>
                </a:ext>
              </a:extLst>
            </p:cNvPr>
            <p:cNvSpPr txBox="1"/>
            <p:nvPr/>
          </p:nvSpPr>
          <p:spPr>
            <a:xfrm>
              <a:off x="6377559" y="3548715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919FB8DB-FC72-9411-E92B-EB23D3CC66C0}"/>
                </a:ext>
              </a:extLst>
            </p:cNvPr>
            <p:cNvSpPr txBox="1"/>
            <p:nvPr/>
          </p:nvSpPr>
          <p:spPr>
            <a:xfrm>
              <a:off x="6404455" y="4732872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6BE7C7EE-51FB-E47A-61B1-B64B97CAA158}"/>
                </a:ext>
              </a:extLst>
            </p:cNvPr>
            <p:cNvSpPr txBox="1"/>
            <p:nvPr/>
          </p:nvSpPr>
          <p:spPr>
            <a:xfrm>
              <a:off x="6377559" y="5098960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</p:grp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549CEBAF-54FE-A612-3274-2E1CCB0F05ED}"/>
              </a:ext>
            </a:extLst>
          </p:cNvPr>
          <p:cNvCxnSpPr>
            <a:cxnSpLocks/>
          </p:cNvCxnSpPr>
          <p:nvPr/>
        </p:nvCxnSpPr>
        <p:spPr>
          <a:xfrm>
            <a:off x="8933453" y="2727694"/>
            <a:ext cx="2579042" cy="0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504AF0C5-18F4-DD39-E8A9-75A74E6D4941}"/>
              </a:ext>
            </a:extLst>
          </p:cNvPr>
          <p:cNvCxnSpPr>
            <a:cxnSpLocks/>
          </p:cNvCxnSpPr>
          <p:nvPr/>
        </p:nvCxnSpPr>
        <p:spPr>
          <a:xfrm flipV="1">
            <a:off x="8785635" y="2885252"/>
            <a:ext cx="0" cy="2221612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8408B30-D12C-FC9C-7DA1-B61F119DC2D0}"/>
                  </a:ext>
                </a:extLst>
              </p:cNvPr>
              <p:cNvSpPr txBox="1"/>
              <p:nvPr/>
            </p:nvSpPr>
            <p:spPr>
              <a:xfrm>
                <a:off x="8415085" y="3643943"/>
                <a:ext cx="4071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8408B30-D12C-FC9C-7DA1-B61F119DC2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5085" y="3643943"/>
                <a:ext cx="407167" cy="461665"/>
              </a:xfrm>
              <a:prstGeom prst="rect">
                <a:avLst/>
              </a:prstGeom>
              <a:blipFill>
                <a:blip r:embed="rId4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E6C4EF4-E1BF-D322-FF8C-2C9C70D91D2F}"/>
                  </a:ext>
                </a:extLst>
              </p:cNvPr>
              <p:cNvSpPr txBox="1"/>
              <p:nvPr/>
            </p:nvSpPr>
            <p:spPr>
              <a:xfrm>
                <a:off x="9992721" y="2185422"/>
                <a:ext cx="4605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E6C4EF4-E1BF-D322-FF8C-2C9C70D91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2721" y="2185422"/>
                <a:ext cx="46050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6100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/>
      <p:bldP spid="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0DEAD-D601-8B9F-C073-20964A6F4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D8072-659E-4A7F-25D9-4299DAFDA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8EAA21-64F7-6F0C-85FC-E1635924EFE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8"/>
                <a:ext cx="11412312" cy="58030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Product Quantization (PQ) queries use </a:t>
                </a:r>
                <a:r>
                  <a:rPr lang="en-US" b="1" dirty="0">
                    <a:latin typeface="+mn-lt"/>
                  </a:rPr>
                  <a:t>asymmetric distance (ASD) calculations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A naïve (symmetric) algorithm for PQ ANNS</a:t>
                </a:r>
              </a:p>
              <a:p>
                <a:pPr marL="742950" lvl="1" indent="-285750"/>
                <a:r>
                  <a:rPr lang="en-US" dirty="0">
                    <a:latin typeface="+mn-lt"/>
                  </a:rPr>
                  <a:t>Invert PQ index to search for nearest neighbor of uncompressed query vector</a:t>
                </a:r>
              </a:p>
              <a:p>
                <a:pPr marL="742950" lvl="1" indent="-285750"/>
                <a:r>
                  <a:rPr lang="en-US" dirty="0">
                    <a:latin typeface="+mn-lt"/>
                  </a:rPr>
                  <a:t>This process is </a:t>
                </a:r>
                <a:r>
                  <a:rPr lang="en-US" b="1" dirty="0">
                    <a:latin typeface="+mn-lt"/>
                  </a:rPr>
                  <a:t>invertible</a:t>
                </a:r>
                <a:r>
                  <a:rPr lang="en-US" dirty="0">
                    <a:latin typeface="+mn-lt"/>
                  </a:rPr>
                  <a:t> and therefore </a:t>
                </a:r>
                <a:r>
                  <a:rPr lang="en-US" b="1" dirty="0">
                    <a:latin typeface="+mn-lt"/>
                  </a:rPr>
                  <a:t>symmetric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ASD provides an efficient look-up method for ANNS</a:t>
                </a:r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by compressing the query vector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subvectors</a:t>
                </a:r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  <a:p>
                <a:pPr marL="285750" indent="-285750"/>
                <a:r>
                  <a:rPr lang="en-US" dirty="0">
                    <a:latin typeface="+mn-lt"/>
                  </a:rPr>
                  <a:t>For the ASD algorithm computes distances between 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query,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, and the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marL="742950" lvl="1" indent="-285750"/>
                <a:r>
                  <a:rPr lang="en-US" dirty="0">
                    <a:latin typeface="+mn-lt"/>
                  </a:rPr>
                  <a:t>This process is </a:t>
                </a:r>
                <a:r>
                  <a:rPr lang="en-US" b="1" dirty="0">
                    <a:latin typeface="+mn-lt"/>
                  </a:rPr>
                  <a:t>not </a:t>
                </a:r>
                <a:r>
                  <a:rPr lang="en-US" b="1" dirty="0" err="1">
                    <a:latin typeface="+mn-lt"/>
                  </a:rPr>
                  <a:t>invertable</a:t>
                </a:r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and therefore </a:t>
                </a:r>
                <a:r>
                  <a:rPr lang="en-US" b="1" dirty="0">
                    <a:latin typeface="+mn-lt"/>
                  </a:rPr>
                  <a:t>asymmetric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marL="742950" lvl="1" indent="-285750"/>
                <a:r>
                  <a:rPr lang="en-US" dirty="0">
                    <a:latin typeface="+mn-lt"/>
                  </a:rPr>
                  <a:t>NN search on the lookup table is fast </a:t>
                </a:r>
              </a:p>
              <a:p>
                <a:pPr marL="285750" indent="-285750"/>
                <a:endParaRPr lang="en-US" b="0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8EAA21-64F7-6F0C-85FC-E1635924EF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8"/>
                <a:ext cx="11412312" cy="5803001"/>
              </a:xfrm>
              <a:blipFill>
                <a:blip r:embed="rId3"/>
                <a:stretch>
                  <a:fillRect l="-1122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7747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506CD-0236-2A11-9221-8F6C9CB1B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1491F-5739-AC02-C972-5E56F2530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Performance of the PQ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52F4D9-EBD8-ED39-54A5-4010F515122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061982" cy="569899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PQ algorithm has two key hyperparameters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: increasing the number of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decreases the quantization error </a:t>
                </a:r>
              </a:p>
              <a:p>
                <a:pPr lvl="1"/>
                <a:r>
                  <a:rPr lang="en-US" dirty="0">
                    <a:latin typeface="+mn-lt"/>
                  </a:rPr>
                  <a:t>As the number of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increases the size of the code book increases</a:t>
                </a:r>
              </a:p>
              <a:p>
                <a:pPr lvl="1"/>
                <a:r>
                  <a:rPr lang="en-US" dirty="0">
                    <a:latin typeface="+mn-lt"/>
                  </a:rPr>
                  <a:t>As the number of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increases the computational complexity increases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, increasing the number of quantization levels decreases the quantization error </a:t>
                </a:r>
              </a:p>
              <a:p>
                <a:pPr lvl="1"/>
                <a:r>
                  <a:rPr lang="en-US" dirty="0">
                    <a:latin typeface="+mn-lt"/>
                  </a:rPr>
                  <a:t> As the number of quantization levels increases the size of the code book increases</a:t>
                </a:r>
              </a:p>
              <a:p>
                <a:pPr lvl="1"/>
                <a:r>
                  <a:rPr lang="en-US" dirty="0">
                    <a:latin typeface="+mn-lt"/>
                  </a:rPr>
                  <a:t>As the number of quantization levels increases the computational complexity increases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52F4D9-EBD8-ED39-54A5-4010F51512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061982" cy="5698998"/>
              </a:xfrm>
              <a:blipFill>
                <a:blip r:embed="rId3"/>
                <a:stretch>
                  <a:fillRect l="-1811" t="-16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08B7046C-E9A4-E742-9205-31341161BB00}"/>
              </a:ext>
            </a:extLst>
          </p:cNvPr>
          <p:cNvSpPr/>
          <p:nvPr/>
        </p:nvSpPr>
        <p:spPr>
          <a:xfrm>
            <a:off x="6787242" y="1689789"/>
            <a:ext cx="5023757" cy="3887773"/>
          </a:xfrm>
          <a:prstGeom prst="triangle">
            <a:avLst>
              <a:gd name="adj" fmla="val 50228"/>
            </a:avLst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5B467C-80D3-20B1-1DDD-6EFBB6367E78}"/>
              </a:ext>
            </a:extLst>
          </p:cNvPr>
          <p:cNvSpPr txBox="1"/>
          <p:nvPr/>
        </p:nvSpPr>
        <p:spPr>
          <a:xfrm>
            <a:off x="8360227" y="76157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FB24D1-90C9-42BB-5815-E896814A4D2F}"/>
              </a:ext>
            </a:extLst>
          </p:cNvPr>
          <p:cNvSpPr txBox="1"/>
          <p:nvPr/>
        </p:nvSpPr>
        <p:spPr>
          <a:xfrm>
            <a:off x="6293304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52D803-B59A-85F4-95E7-803A65C2F600}"/>
              </a:ext>
            </a:extLst>
          </p:cNvPr>
          <p:cNvSpPr txBox="1"/>
          <p:nvPr/>
        </p:nvSpPr>
        <p:spPr>
          <a:xfrm>
            <a:off x="10619014" y="5577562"/>
            <a:ext cx="15729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6E63A3A-3F72-26D7-476B-6DA571184C32}"/>
              </a:ext>
            </a:extLst>
          </p:cNvPr>
          <p:cNvCxnSpPr>
            <a:cxnSpLocks/>
          </p:cNvCxnSpPr>
          <p:nvPr/>
        </p:nvCxnSpPr>
        <p:spPr>
          <a:xfrm>
            <a:off x="10107386" y="5327947"/>
            <a:ext cx="1159328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5C982E1-D3B6-ECE9-02CF-BC55B17D31F5}"/>
              </a:ext>
            </a:extLst>
          </p:cNvPr>
          <p:cNvCxnSpPr>
            <a:cxnSpLocks/>
          </p:cNvCxnSpPr>
          <p:nvPr/>
        </p:nvCxnSpPr>
        <p:spPr>
          <a:xfrm>
            <a:off x="10816771" y="4511896"/>
            <a:ext cx="566058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9F261D4-CE43-0703-5E15-56BBEC2C394C}"/>
              </a:ext>
            </a:extLst>
          </p:cNvPr>
          <p:cNvSpPr txBox="1"/>
          <p:nvPr/>
        </p:nvSpPr>
        <p:spPr>
          <a:xfrm>
            <a:off x="9214753" y="3665953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p and m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C58639E-9FA7-BAC9-A7A4-AFAA76A7225A}"/>
              </a:ext>
            </a:extLst>
          </p:cNvPr>
          <p:cNvCxnSpPr>
            <a:cxnSpLocks/>
          </p:cNvCxnSpPr>
          <p:nvPr/>
        </p:nvCxnSpPr>
        <p:spPr>
          <a:xfrm>
            <a:off x="9378043" y="2294150"/>
            <a:ext cx="859970" cy="1357963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01FF80A-06D3-5C6C-556C-3538BC50D558}"/>
              </a:ext>
            </a:extLst>
          </p:cNvPr>
          <p:cNvSpPr txBox="1"/>
          <p:nvPr/>
        </p:nvSpPr>
        <p:spPr>
          <a:xfrm>
            <a:off x="8675912" y="4746565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p and m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29DD9A9-BBFC-64FE-1355-7FFE740C29B4}"/>
              </a:ext>
            </a:extLst>
          </p:cNvPr>
          <p:cNvCxnSpPr>
            <a:cxnSpLocks/>
          </p:cNvCxnSpPr>
          <p:nvPr/>
        </p:nvCxnSpPr>
        <p:spPr>
          <a:xfrm>
            <a:off x="7407729" y="5360597"/>
            <a:ext cx="1298115" cy="0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892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16" grpId="0"/>
      <p:bldP spid="1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47C8E-F652-0FC9-87A6-9BE1BA9D8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7F0CF-9E55-11B4-D7B0-DA3980292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Basic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546E0C-D27B-E430-69AC-D6C9E997D96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4" y="896079"/>
            <a:ext cx="11177308" cy="25329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Quantization algorithms can be formulated in terms residuals, RPQ</a:t>
            </a:r>
          </a:p>
          <a:p>
            <a:pPr marL="285750" indent="-285750"/>
            <a:r>
              <a:rPr lang="en-US" dirty="0">
                <a:latin typeface="+mn-lt"/>
              </a:rPr>
              <a:t>We can perform similarity search using differences or residuals with respect to the centroid  </a:t>
            </a:r>
          </a:p>
          <a:p>
            <a:pPr marL="285750" indent="-285750"/>
            <a:r>
              <a:rPr lang="en-US" dirty="0">
                <a:latin typeface="+mn-lt"/>
              </a:rPr>
              <a:t>Idea proposed by </a:t>
            </a:r>
            <a:r>
              <a:rPr lang="en-US" dirty="0" err="1">
                <a:latin typeface="+mn-lt"/>
                <a:hlinkClick r:id="rId3"/>
              </a:rPr>
              <a:t>Schicong</a:t>
            </a:r>
            <a:r>
              <a:rPr lang="en-US" dirty="0">
                <a:latin typeface="+mn-lt"/>
                <a:hlinkClick r:id="rId3"/>
              </a:rPr>
              <a:t>, et.al., 2015</a:t>
            </a:r>
            <a:r>
              <a:rPr lang="en-US" dirty="0">
                <a:latin typeface="+mn-lt"/>
              </a:rPr>
              <a:t>, and others </a:t>
            </a:r>
          </a:p>
          <a:p>
            <a:endParaRPr lang="en-US" dirty="0">
              <a:latin typeface="+mn-lt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05AF8181-47B6-998A-019C-4B0126E2BA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0072" y="3291884"/>
            <a:ext cx="6102519" cy="304856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FAA3658-1F64-1D23-9B6C-FC88E56D58B0}"/>
              </a:ext>
            </a:extLst>
          </p:cNvPr>
          <p:cNvSpPr txBox="1"/>
          <p:nvPr/>
        </p:nvSpPr>
        <p:spPr>
          <a:xfrm>
            <a:off x="1740784" y="6340450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Example from </a:t>
            </a:r>
            <a:r>
              <a:rPr lang="en-US" sz="2400" dirty="0">
                <a:hlinkClick r:id="rId5"/>
              </a:rPr>
              <a:t>Chris McCormick’s blog post </a:t>
            </a:r>
            <a:r>
              <a:rPr lang="en-US" sz="2400" dirty="0"/>
              <a:t>on the PQ algorithm </a:t>
            </a:r>
          </a:p>
        </p:txBody>
      </p:sp>
    </p:spTree>
    <p:extLst>
      <p:ext uri="{BB962C8B-B14F-4D97-AF65-F5344CB8AC3E}">
        <p14:creationId xmlns:p14="http://schemas.microsoft.com/office/powerpoint/2010/main" val="4013928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8F1F0-DCC4-F7A7-6AC6-D7FC7E2A1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64BF8-7C21-B747-587A-B3D0DF1DB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Basic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79A4C7-1397-3ABF-BAD9-5F1AE19A70C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9"/>
                <a:ext cx="11177308" cy="56514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Quantization algorithms can be formulated in terms residuals, RPQ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We can perform similarity search using differences or residuals with respect to the centroid  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Consider the Euclidean distance calculation between a query vector,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, and another vector,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latin typeface="+mn-lt"/>
                  </a:rPr>
                  <a:t>, with centroid,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latin typeface="+mn-lt"/>
                  </a:rPr>
                  <a:t>, with dimension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Computing distances with residuals gives the same result, so why bother?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79A4C7-1397-3ABF-BAD9-5F1AE19A70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9"/>
                <a:ext cx="11177308" cy="5651416"/>
              </a:xfrm>
              <a:blipFill>
                <a:blip r:embed="rId3"/>
                <a:stretch>
                  <a:fillRect l="-1146" t="-1834" r="-5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6619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227E0-D77C-90A1-7241-C5F5E916C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7BA3E-CD64-9542-D25B-A3308B783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Improvements Basic Product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D4120-705E-91BA-FBAA-9CF62ADDF34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13352" y="825228"/>
            <a:ext cx="5231264" cy="55071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Quantization algorithms can be formulated in terms residuals</a:t>
            </a:r>
          </a:p>
          <a:p>
            <a:pPr marL="285750" indent="-285750"/>
            <a:r>
              <a:rPr lang="en-US" dirty="0">
                <a:latin typeface="+mn-lt"/>
              </a:rPr>
              <a:t>What is the advantage of using residuals, since we get the same result either way?     </a:t>
            </a:r>
          </a:p>
          <a:p>
            <a:pPr marL="285750" indent="-285750"/>
            <a:r>
              <a:rPr lang="en-US" dirty="0">
                <a:latin typeface="+mn-lt"/>
              </a:rPr>
              <a:t>The variance of the residuals, and therefore the error of distance estimates is reduced!</a:t>
            </a:r>
          </a:p>
          <a:p>
            <a:pPr marL="285750" indent="-285750"/>
            <a:r>
              <a:rPr lang="en-US" dirty="0">
                <a:latin typeface="+mn-lt"/>
              </a:rPr>
              <a:t>Using residuals, distance estimates are zero-centered, analogous to zero-centering variables for machine learning</a:t>
            </a:r>
          </a:p>
          <a:p>
            <a:endParaRPr lang="en-US" dirty="0"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E27823-B0BD-9795-6B2A-ECC90CF588F1}"/>
              </a:ext>
            </a:extLst>
          </p:cNvPr>
          <p:cNvSpPr txBox="1"/>
          <p:nvPr/>
        </p:nvSpPr>
        <p:spPr>
          <a:xfrm>
            <a:off x="-75000" y="5589733"/>
            <a:ext cx="628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from </a:t>
            </a:r>
            <a:r>
              <a:rPr lang="en-US" dirty="0">
                <a:hlinkClick r:id="rId3"/>
              </a:rPr>
              <a:t>Chris McCormick’s blog post </a:t>
            </a:r>
            <a:r>
              <a:rPr lang="en-US" dirty="0"/>
              <a:t>on the PQ algorithm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48D54C-9A9D-D3D5-B957-1C2692EF0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3" y="1612407"/>
            <a:ext cx="5512998" cy="397732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EDE722D-0212-6B8E-0371-20704CF25399}"/>
              </a:ext>
            </a:extLst>
          </p:cNvPr>
          <p:cNvCxnSpPr>
            <a:cxnSpLocks/>
          </p:cNvCxnSpPr>
          <p:nvPr/>
        </p:nvCxnSpPr>
        <p:spPr>
          <a:xfrm flipH="1" flipV="1">
            <a:off x="4728475" y="3584252"/>
            <a:ext cx="1721223" cy="16625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57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6FE15-016E-F9B5-3E61-3FA64EBC9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F865E-91F8-6D77-7B5D-6EBFF3356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Improvements Basic 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34A55B-F78D-829C-72ED-E64A9C2F55A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84200" y="825228"/>
                <a:ext cx="10960416" cy="58107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Optimized product quantization (OPQ) </a:t>
                </a:r>
                <a:r>
                  <a:rPr lang="en-US" dirty="0">
                    <a:latin typeface="+mn-lt"/>
                  </a:rPr>
                  <a:t>was proposed by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𝐺𝑒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𝑒𝑡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. 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𝑎𝑙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., 2013 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PQ algorithm assumes the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are uncorrelated or </a:t>
                </a:r>
                <a:r>
                  <a:rPr lang="en-US" b="1" dirty="0">
                    <a:latin typeface="+mn-lt"/>
                  </a:rPr>
                  <a:t>orthogonal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OPQ adds an orthogonalization step before PQ is applied   </a:t>
                </a:r>
              </a:p>
              <a:p>
                <a:r>
                  <a:rPr lang="en-US" dirty="0">
                    <a:latin typeface="+mn-lt"/>
                  </a:rPr>
                  <a:t>Apply the </a:t>
                </a:r>
                <a:r>
                  <a:rPr lang="en-US" b="1" dirty="0">
                    <a:latin typeface="+mn-lt"/>
                    <a:hlinkClick r:id="rId4"/>
                  </a:rPr>
                  <a:t>orthogonal Procrustes problem </a:t>
                </a:r>
                <a:r>
                  <a:rPr lang="en-US" dirty="0">
                    <a:latin typeface="+mn-lt"/>
                  </a:rPr>
                  <a:t>to transform the data matrix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latin typeface="+mn-lt"/>
                  </a:rPr>
                  <a:t> to an orthogonal matrix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endParaRPr lang="en-US" dirty="0">
                  <a:latin typeface="+mn-lt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𝑅𝑋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̃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  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Where,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the </a:t>
                </a:r>
                <a:r>
                  <a:rPr lang="en-US" dirty="0" err="1">
                    <a:latin typeface="+mn-lt"/>
                  </a:rPr>
                  <a:t>Forbenious</a:t>
                </a:r>
                <a:r>
                  <a:rPr lang="en-US" dirty="0">
                    <a:latin typeface="+mn-lt"/>
                  </a:rPr>
                  <a:t> (Euclidean matrix) norm</a:t>
                </a:r>
              </a:p>
              <a:p>
                <a:r>
                  <a:rPr lang="en-US" dirty="0">
                    <a:latin typeface="+mn-lt"/>
                  </a:rPr>
                  <a:t>Orthogonalization is applied iteratively at each step of the PQ algorithm </a:t>
                </a:r>
              </a:p>
              <a:p>
                <a:r>
                  <a:rPr lang="en-US" dirty="0">
                    <a:latin typeface="+mn-lt"/>
                  </a:rPr>
                  <a:t>OPQ often improves recall at minimal computational cost</a:t>
                </a:r>
                <a:r>
                  <a:rPr lang="en-US" dirty="0"/>
                  <a:t>   </a:t>
                </a:r>
              </a:p>
              <a:p>
                <a:r>
                  <a:rPr lang="en-US" dirty="0">
                    <a:latin typeface="+mn-lt"/>
                  </a:rPr>
                  <a:t>OPQ can reduce dimensionality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34A55B-F78D-829C-72ED-E64A9C2F55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84200" y="825228"/>
                <a:ext cx="10960416" cy="5810780"/>
              </a:xfrm>
              <a:blipFill>
                <a:blip r:embed="rId5"/>
                <a:stretch>
                  <a:fillRect l="-1168" t="-1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8226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918EC-026C-7594-F28D-F78931F33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7A8FF-540B-108A-CABA-DEF50818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86995889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6050" y="977769"/>
            <a:ext cx="11010128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Summary of algorithms discussed: See also </a:t>
            </a:r>
            <a:r>
              <a:rPr lang="en-US" dirty="0">
                <a:latin typeface="+mn-lt"/>
                <a:hlinkClick r:id="rId3"/>
              </a:rPr>
              <a:t>this page</a:t>
            </a:r>
            <a:r>
              <a:rPr lang="en-US" dirty="0">
                <a:latin typeface="+mn-lt"/>
              </a:rPr>
              <a:t> in the FAISS Wiki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534B26-0E2D-BC96-2A6E-5DC1EF4786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7613747"/>
              </p:ext>
            </p:extLst>
          </p:nvPr>
        </p:nvGraphicFramePr>
        <p:xfrm>
          <a:off x="505238" y="1508723"/>
          <a:ext cx="11071751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011">
                  <a:extLst>
                    <a:ext uri="{9D8B030D-6E8A-4147-A177-3AD203B41FA5}">
                      <a16:colId xmlns:a16="http://schemas.microsoft.com/office/drawing/2014/main" val="1280803350"/>
                    </a:ext>
                  </a:extLst>
                </a:gridCol>
                <a:gridCol w="3413108">
                  <a:extLst>
                    <a:ext uri="{9D8B030D-6E8A-4147-A177-3AD203B41FA5}">
                      <a16:colId xmlns:a16="http://schemas.microsoft.com/office/drawing/2014/main" val="3815494307"/>
                    </a:ext>
                  </a:extLst>
                </a:gridCol>
                <a:gridCol w="1378935">
                  <a:extLst>
                    <a:ext uri="{9D8B030D-6E8A-4147-A177-3AD203B41FA5}">
                      <a16:colId xmlns:a16="http://schemas.microsoft.com/office/drawing/2014/main" val="4123305998"/>
                    </a:ext>
                  </a:extLst>
                </a:gridCol>
                <a:gridCol w="1457172">
                  <a:extLst>
                    <a:ext uri="{9D8B030D-6E8A-4147-A177-3AD203B41FA5}">
                      <a16:colId xmlns:a16="http://schemas.microsoft.com/office/drawing/2014/main" val="2666986122"/>
                    </a:ext>
                  </a:extLst>
                </a:gridCol>
                <a:gridCol w="1462062">
                  <a:extLst>
                    <a:ext uri="{9D8B030D-6E8A-4147-A177-3AD203B41FA5}">
                      <a16:colId xmlns:a16="http://schemas.microsoft.com/office/drawing/2014/main" val="2417303005"/>
                    </a:ext>
                  </a:extLst>
                </a:gridCol>
                <a:gridCol w="2012463">
                  <a:extLst>
                    <a:ext uri="{9D8B030D-6E8A-4147-A177-3AD203B41FA5}">
                      <a16:colId xmlns:a16="http://schemas.microsoft.com/office/drawing/2014/main" val="1594176011"/>
                    </a:ext>
                  </a:extLst>
                </a:gridCol>
              </a:tblGrid>
              <a:tr h="38853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Dataset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Query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Metrics  Typically Used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185920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KD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Small to medium, low-dimensional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Exact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Minkowski, also see </a:t>
                      </a:r>
                      <a:r>
                        <a:rPr lang="en-US" dirty="0" err="1">
                          <a:solidFill>
                            <a:schemeClr val="tx1"/>
                          </a:solidFill>
                          <a:hlinkClick r:id="rId4"/>
                        </a:rPr>
                        <a:t>Sklean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4"/>
                        </a:rPr>
                        <a:t> docs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680754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Flat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Small stand-alone – typically combined with other algorithms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Exact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684657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Massive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255330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Massive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- higher than 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- higher than 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903523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size and very high dimensions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Jaccard, Hamming, Cosine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175591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PQ, RPQ, OPQ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Massive if  combined with IVF-IMI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– high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 to 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699454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HNSW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large if combined with IVF-IMI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4195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680611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42FD8-CE3C-CC63-5E1E-58B986E5E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7985-700F-9631-4B45-04BEA788B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2E5C6-0509-2B6A-52A7-7E037E2F34B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6050" y="977769"/>
            <a:ext cx="11010128" cy="54864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Key points for this lesson</a:t>
            </a:r>
          </a:p>
          <a:p>
            <a:r>
              <a:rPr lang="en-US" dirty="0">
                <a:latin typeface="+mn-lt"/>
              </a:rPr>
              <a:t>Exact nearest neighbor search is not scalable to massive dataset</a:t>
            </a:r>
          </a:p>
          <a:p>
            <a:r>
              <a:rPr lang="en-US" dirty="0">
                <a:latin typeface="+mn-lt"/>
              </a:rPr>
              <a:t>Broadly, there are four classes of ANNS algorithms    </a:t>
            </a:r>
          </a:p>
          <a:p>
            <a:pPr lvl="1"/>
            <a:r>
              <a:rPr lang="en-US" b="1" dirty="0">
                <a:latin typeface="+mn-lt"/>
              </a:rPr>
              <a:t>Tree</a:t>
            </a:r>
            <a:r>
              <a:rPr lang="en-US" dirty="0">
                <a:latin typeface="+mn-lt"/>
              </a:rPr>
              <a:t> search</a:t>
            </a:r>
          </a:p>
          <a:p>
            <a:pPr lvl="1"/>
            <a:r>
              <a:rPr lang="en-US" b="1" dirty="0">
                <a:latin typeface="+mn-lt"/>
              </a:rPr>
              <a:t>Hash</a:t>
            </a:r>
            <a:r>
              <a:rPr lang="en-US" dirty="0">
                <a:latin typeface="+mn-lt"/>
              </a:rPr>
              <a:t>-based search</a:t>
            </a:r>
            <a:endParaRPr lang="en-US" b="1" dirty="0">
              <a:latin typeface="+mn-lt"/>
            </a:endParaRPr>
          </a:p>
          <a:p>
            <a:pPr lvl="1"/>
            <a:r>
              <a:rPr lang="en-US" b="1" dirty="0">
                <a:latin typeface="+mn-lt"/>
              </a:rPr>
              <a:t>Quantization</a:t>
            </a:r>
            <a:r>
              <a:rPr lang="en-US" dirty="0">
                <a:latin typeface="+mn-lt"/>
              </a:rPr>
              <a:t>-based search</a:t>
            </a:r>
          </a:p>
          <a:p>
            <a:pPr lvl="1"/>
            <a:r>
              <a:rPr lang="en-US" b="1" dirty="0">
                <a:latin typeface="+mn-lt"/>
              </a:rPr>
              <a:t>Graph</a:t>
            </a:r>
            <a:r>
              <a:rPr lang="en-US" dirty="0">
                <a:latin typeface="+mn-lt"/>
              </a:rPr>
              <a:t> search</a:t>
            </a:r>
          </a:p>
          <a:p>
            <a:r>
              <a:rPr lang="en-US" dirty="0">
                <a:latin typeface="+mn-lt"/>
              </a:rPr>
              <a:t>ANNS on massive datasets requires trade-offs between performance characteristics      </a:t>
            </a:r>
          </a:p>
          <a:p>
            <a:pPr lvl="1"/>
            <a:r>
              <a:rPr lang="en-US" b="1" dirty="0">
                <a:latin typeface="+mn-lt"/>
              </a:rPr>
              <a:t>Recall</a:t>
            </a:r>
          </a:p>
          <a:p>
            <a:pPr lvl="1"/>
            <a:r>
              <a:rPr lang="en-US" b="1" dirty="0">
                <a:latin typeface="+mn-lt"/>
              </a:rPr>
              <a:t>Memory</a:t>
            </a:r>
          </a:p>
          <a:p>
            <a:pPr lvl="1"/>
            <a:r>
              <a:rPr lang="en-US" b="1" dirty="0">
                <a:latin typeface="+mn-lt"/>
              </a:rPr>
              <a:t>Query speed</a:t>
            </a:r>
          </a:p>
          <a:p>
            <a:r>
              <a:rPr lang="en-US" dirty="0">
                <a:latin typeface="+mn-lt"/>
              </a:rPr>
              <a:t>Can apply different distance metrics to ANNS 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88380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30518</TotalTime>
  <Words>4432</Words>
  <Application>Microsoft Office PowerPoint</Application>
  <PresentationFormat>Widescreen</PresentationFormat>
  <Paragraphs>986</Paragraphs>
  <Slides>69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8" baseType="lpstr">
      <vt:lpstr>__gtPlanar_9a6492</vt:lpstr>
      <vt:lpstr>Arial</vt:lpstr>
      <vt:lpstr>Calibri</vt:lpstr>
      <vt:lpstr>Calibri Light</vt:lpstr>
      <vt:lpstr>Cambria Math</vt:lpstr>
      <vt:lpstr>Courier New</vt:lpstr>
      <vt:lpstr>Segoe UI</vt:lpstr>
      <vt:lpstr>Segoe UI Light</vt:lpstr>
      <vt:lpstr>Office Theme</vt:lpstr>
      <vt:lpstr>CSCI E-96 Data Mining, Discovery and Exploration Efficient Similarity Search</vt:lpstr>
      <vt:lpstr>Main topics in this course 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Flat Similarity Search</vt:lpstr>
      <vt:lpstr>Flat similarity search finds exact solution </vt:lpstr>
      <vt:lpstr>Flat similarity search finds exact solution </vt:lpstr>
      <vt:lpstr>Flat similarity search finds exact solution </vt:lpstr>
      <vt:lpstr>Evaluation of ANNS</vt:lpstr>
      <vt:lpstr>Evaluation of ANNS</vt:lpstr>
      <vt:lpstr>Evaluation of ANNS</vt:lpstr>
      <vt:lpstr>Evaluation of ANNS</vt:lpstr>
      <vt:lpstr>Evaluation of ANNS</vt:lpstr>
      <vt:lpstr>Evaluation of ANNS</vt:lpstr>
      <vt:lpstr>Inverted File Systems</vt:lpstr>
      <vt:lpstr>Inverted file systems enable look-up by value</vt:lpstr>
      <vt:lpstr>Inverted file systems enable look-up by value</vt:lpstr>
      <vt:lpstr>Building 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Similarity Queries on 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Coarse Quantization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Product Quantization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Performance of the PQ algorithm </vt:lpstr>
      <vt:lpstr>Improving Basic Quantization </vt:lpstr>
      <vt:lpstr>Improving Basic Quantization </vt:lpstr>
      <vt:lpstr>Improvements Basic Product Quantization </vt:lpstr>
      <vt:lpstr>Improvements Basic Product Quantization 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E-96 Data Mining, Discovery and Exploration Similarity Measres</dc:title>
  <dc:creator>Stephe Elston</dc:creator>
  <cp:lastModifiedBy>Stephen Elston</cp:lastModifiedBy>
  <cp:revision>915</cp:revision>
  <dcterms:created xsi:type="dcterms:W3CDTF">2021-06-01T18:04:30Z</dcterms:created>
  <dcterms:modified xsi:type="dcterms:W3CDTF">2026-10-22T00:02:09Z</dcterms:modified>
</cp:coreProperties>
</file>