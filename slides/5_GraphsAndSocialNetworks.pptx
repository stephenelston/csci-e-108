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4"/>
  </p:notesMasterIdLst>
  <p:sldIdLst>
    <p:sldId id="275" r:id="rId2"/>
    <p:sldId id="819" r:id="rId3"/>
    <p:sldId id="425" r:id="rId4"/>
    <p:sldId id="342" r:id="rId5"/>
    <p:sldId id="278" r:id="rId6"/>
    <p:sldId id="277" r:id="rId7"/>
    <p:sldId id="319" r:id="rId8"/>
    <p:sldId id="321" r:id="rId9"/>
    <p:sldId id="322" r:id="rId10"/>
    <p:sldId id="323" r:id="rId11"/>
    <p:sldId id="324" r:id="rId12"/>
    <p:sldId id="411" r:id="rId13"/>
    <p:sldId id="412" r:id="rId14"/>
    <p:sldId id="413" r:id="rId15"/>
    <p:sldId id="414" r:id="rId16"/>
    <p:sldId id="415" r:id="rId17"/>
    <p:sldId id="821" r:id="rId18"/>
    <p:sldId id="820" r:id="rId19"/>
    <p:sldId id="362" r:id="rId20"/>
    <p:sldId id="363" r:id="rId21"/>
    <p:sldId id="398" r:id="rId22"/>
    <p:sldId id="399" r:id="rId23"/>
    <p:sldId id="343" r:id="rId24"/>
    <p:sldId id="344" r:id="rId25"/>
    <p:sldId id="396" r:id="rId26"/>
    <p:sldId id="386" r:id="rId27"/>
    <p:sldId id="353" r:id="rId28"/>
    <p:sldId id="403" r:id="rId29"/>
    <p:sldId id="381" r:id="rId30"/>
    <p:sldId id="373" r:id="rId31"/>
    <p:sldId id="382" r:id="rId32"/>
    <p:sldId id="397" r:id="rId33"/>
    <p:sldId id="438" r:id="rId34"/>
    <p:sldId id="402" r:id="rId35"/>
    <p:sldId id="426" r:id="rId36"/>
    <p:sldId id="427" r:id="rId37"/>
    <p:sldId id="429" r:id="rId38"/>
    <p:sldId id="404" r:id="rId39"/>
    <p:sldId id="351" r:id="rId40"/>
    <p:sldId id="437" r:id="rId41"/>
    <p:sldId id="432" r:id="rId42"/>
    <p:sldId id="347" r:id="rId43"/>
    <p:sldId id="383" r:id="rId44"/>
    <p:sldId id="433" r:id="rId45"/>
    <p:sldId id="435" r:id="rId46"/>
    <p:sldId id="436" r:id="rId47"/>
    <p:sldId id="378" r:id="rId48"/>
    <p:sldId id="384" r:id="rId49"/>
    <p:sldId id="434" r:id="rId50"/>
    <p:sldId id="430" r:id="rId51"/>
    <p:sldId id="349" r:id="rId52"/>
    <p:sldId id="350" r:id="rId53"/>
    <p:sldId id="352" r:id="rId54"/>
    <p:sldId id="369" r:id="rId55"/>
    <p:sldId id="401" r:id="rId56"/>
    <p:sldId id="355" r:id="rId57"/>
    <p:sldId id="359" r:id="rId58"/>
    <p:sldId id="390" r:id="rId59"/>
    <p:sldId id="360" r:id="rId60"/>
    <p:sldId id="361" r:id="rId61"/>
    <p:sldId id="393" r:id="rId62"/>
    <p:sldId id="405" r:id="rId63"/>
    <p:sldId id="358" r:id="rId64"/>
    <p:sldId id="389" r:id="rId65"/>
    <p:sldId id="354" r:id="rId66"/>
    <p:sldId id="356" r:id="rId67"/>
    <p:sldId id="357" r:id="rId68"/>
    <p:sldId id="364" r:id="rId69"/>
    <p:sldId id="365" r:id="rId70"/>
    <p:sldId id="439" r:id="rId71"/>
    <p:sldId id="366" r:id="rId72"/>
    <p:sldId id="367" r:id="rId73"/>
    <p:sldId id="371" r:id="rId74"/>
    <p:sldId id="440" r:id="rId75"/>
    <p:sldId id="368" r:id="rId76"/>
    <p:sldId id="372" r:id="rId77"/>
    <p:sldId id="374" r:id="rId78"/>
    <p:sldId id="375" r:id="rId79"/>
    <p:sldId id="370" r:id="rId80"/>
    <p:sldId id="376" r:id="rId81"/>
    <p:sldId id="394" r:id="rId82"/>
    <p:sldId id="416" r:id="rId83"/>
    <p:sldId id="420" r:id="rId84"/>
    <p:sldId id="421" r:id="rId85"/>
    <p:sldId id="422" r:id="rId86"/>
    <p:sldId id="423" r:id="rId87"/>
    <p:sldId id="424" r:id="rId88"/>
    <p:sldId id="417" r:id="rId89"/>
    <p:sldId id="418" r:id="rId90"/>
    <p:sldId id="419" r:id="rId91"/>
    <p:sldId id="822" r:id="rId92"/>
    <p:sldId id="395" r:id="rId9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1" autoAdjust="0"/>
    <p:restoredTop sz="94660"/>
  </p:normalViewPr>
  <p:slideViewPr>
    <p:cSldViewPr snapToGrid="0">
      <p:cViewPr varScale="1">
        <p:scale>
          <a:sx n="71" d="100"/>
          <a:sy n="71" d="100"/>
        </p:scale>
        <p:origin x="29" y="16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D7D09A-089B-49AD-9380-9EDF59B0FA35}" type="datetimeFigureOut">
              <a:rPr lang="en-US" smtClean="0"/>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07A2E-B268-4E9D-8DE0-397499F5C20F}" type="slidenum">
              <a:rPr lang="en-US" smtClean="0"/>
              <a:t>‹#›</a:t>
            </a:fld>
            <a:endParaRPr lang="en-US"/>
          </a:p>
        </p:txBody>
      </p:sp>
    </p:spTree>
    <p:extLst>
      <p:ext uri="{BB962C8B-B14F-4D97-AF65-F5344CB8AC3E}">
        <p14:creationId xmlns:p14="http://schemas.microsoft.com/office/powerpoint/2010/main" val="2826990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08804-A071-4B92-B9AF-68425EDD7D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A055CFA-9F4D-4829-BE6A-3070A58019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9D527CF-2C12-402C-AD56-D9DEA7BDC8B5}"/>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300DF055-3FC3-4176-9A5B-321D0B4C81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437DE2-8AC7-47FA-B1CE-B05032BCCA8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915094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D64FE-8D94-451A-B9B1-2B3FC74AF8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7FF242-1891-4C9F-B7CE-92975FAD2DD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1D6CB4-303C-46C9-B655-BB2D0C606585}"/>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CB368801-37C5-4EF3-9D1F-7DF93D47C1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0BC0C7-625C-4F1A-BC7F-916EE8241AF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75076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A7B16-8045-4095-8759-74F7D5A2A6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E91B0-988D-4C53-B62B-3F5F7E6EB3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6C432A-4106-4ACA-BCA9-52BA2570DCDD}"/>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8F5563FB-6E91-45AA-AE40-4B2F1671D0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CE3080-B9FA-4646-A663-A4EB811BC371}"/>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85147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F6E18-A428-4965-A6F9-1AF1823C307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68B806F-67CA-4311-8CB3-FCA25540797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D933BB0-DDC5-450A-A47C-E9DE166AA9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F903003-3ADF-413B-BBDC-52B36173BE5D}"/>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6" name="Footer Placeholder 5">
            <a:extLst>
              <a:ext uri="{FF2B5EF4-FFF2-40B4-BE49-F238E27FC236}">
                <a16:creationId xmlns:a16="http://schemas.microsoft.com/office/drawing/2014/main" id="{6C85880C-1EF7-4DD6-B019-B800FC9A26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6E7B67-C300-4A62-B7D5-8D154DA4AE12}"/>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9340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B030E-1B94-4EC6-B993-A4ECE79A428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3635279-9C17-4A5A-A2FE-A7B589285D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5F2DCAC-1049-4688-8ADC-A271931C0B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AFEFDB2-0EF3-49F7-94E8-A56EDCB2E1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AABB9E-145F-4502-899D-F31A6A50D88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D1219B-C450-402A-A88A-0F773AF17663}"/>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8" name="Footer Placeholder 7">
            <a:extLst>
              <a:ext uri="{FF2B5EF4-FFF2-40B4-BE49-F238E27FC236}">
                <a16:creationId xmlns:a16="http://schemas.microsoft.com/office/drawing/2014/main" id="{D28157EF-AC9A-4342-BDEF-5AA2E13FCF2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81E6CD9-C2CA-44F0-A634-1FED9858373C}"/>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112505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5F051-BABB-4920-B92E-323A22B114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35C63E-C311-430B-9E2E-A802B2A3AEF0}"/>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4" name="Footer Placeholder 3">
            <a:extLst>
              <a:ext uri="{FF2B5EF4-FFF2-40B4-BE49-F238E27FC236}">
                <a16:creationId xmlns:a16="http://schemas.microsoft.com/office/drawing/2014/main" id="{4C5EED7D-A47E-45C2-9C06-3AE5E75F545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42885F1-FDB9-40F5-A2DB-BA933D901F7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40142872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99A557-C321-417E-A0CA-076652B9BCB5}"/>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3" name="Footer Placeholder 2">
            <a:extLst>
              <a:ext uri="{FF2B5EF4-FFF2-40B4-BE49-F238E27FC236}">
                <a16:creationId xmlns:a16="http://schemas.microsoft.com/office/drawing/2014/main" id="{3D686801-680C-4BCB-A9BA-B0E27D26EEB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FEBD29-26F6-404C-9BE4-E6F6B29C509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3586367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E398F-318B-4E07-8BDA-E601347EAF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F7DEEED-6A36-47DE-96F8-B47491A31F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F9EE6E-839D-4213-A3CF-EAC924A61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3F9BE0-169F-4D0B-9E7F-469D236F7CB2}"/>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6" name="Footer Placeholder 5">
            <a:extLst>
              <a:ext uri="{FF2B5EF4-FFF2-40B4-BE49-F238E27FC236}">
                <a16:creationId xmlns:a16="http://schemas.microsoft.com/office/drawing/2014/main" id="{64CDC1E2-823B-441E-8CA6-7EB73C2B7D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B375350-4423-4556-AF38-780ABC9DF8A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4048597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4F18A-F093-4A35-A1EF-BBB839E554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A220ECE-C950-43AA-8908-01545C17AB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6846F7A-CD9E-405F-AF06-9BD9F0E747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0E242-540E-42A8-A1B5-A5F9FF267858}"/>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6" name="Footer Placeholder 5">
            <a:extLst>
              <a:ext uri="{FF2B5EF4-FFF2-40B4-BE49-F238E27FC236}">
                <a16:creationId xmlns:a16="http://schemas.microsoft.com/office/drawing/2014/main" id="{8A48117E-B658-4CA9-AC8C-E858462937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2EBBFD-2C00-44D5-96D8-E5587C70D035}"/>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8538683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0F65D-3EE5-44AC-957C-DB198D650C8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7EB429F-5A46-4CFD-A47A-3CE65CAF6F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1800A6-AED8-468B-AF32-E4315378DA29}"/>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989A0147-4FCA-488E-AC17-A32F1CEAA5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F46397-E941-4EBF-BFF9-20FF3DDE87C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547541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585C7EA-397F-41CD-BF7A-DAB0760EDE7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4608832-A967-4BBC-B370-F9B8876E618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9DF700-3F70-488B-8A52-6A2F48A921DB}"/>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69FEBA5F-1D49-4923-852C-97DF291455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794C16-D0E5-4423-8BB9-F5F7F6868000}"/>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2221618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E758AD-FB2B-4FD9-9028-DE0ADFE203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2FBF206-F2A4-48F4-BD38-F7558694B6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312B2E0-C620-48A1-AC6B-EEC63541674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DF6F4425-4E37-4B18-937D-8599C8507B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75BD858-062B-4A7E-89EC-D889597B81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2132259-DE83-4734-84FD-B90D4D442179}" type="slidenum">
              <a:rPr lang="en-US" smtClean="0"/>
              <a:t>‹#›</a:t>
            </a:fld>
            <a:endParaRPr lang="en-US"/>
          </a:p>
        </p:txBody>
      </p:sp>
    </p:spTree>
    <p:extLst>
      <p:ext uri="{BB962C8B-B14F-4D97-AF65-F5344CB8AC3E}">
        <p14:creationId xmlns:p14="http://schemas.microsoft.com/office/powerpoint/2010/main" val="30607767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hyperlink" Target="https://snap.stanford.edu/class/cs224w-readings/erdos59random.pdf" TargetMode="External"/><Relationship Id="rId2" Type="http://schemas.openxmlformats.org/officeDocument/2006/relationships/hyperlink" Target="https://en.wikipedia.org/wiki/Random_graph"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hyperlink" Target="https://en.wikipedia.org/wiki/Paul_Erd%C5%91s" TargetMode="External"/><Relationship Id="rId4" Type="http://schemas.openxmlformats.org/officeDocument/2006/relationships/hyperlink" Target="https://www.stat.cmu.edu/~brian/780/bibliography/09%20Other%20Models/Gilbert%20-%201959%20-%20Random%20graphs.pdf"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stat.cmu.edu/~brian/780/bibliography/09%20Other%20Models/Gilbert%20-%201959%20-%20Random%20graphs.pdf" TargetMode="External"/><Relationship Id="rId2" Type="http://schemas.openxmlformats.org/officeDocument/2006/relationships/hyperlink" Target="https://snap.stanford.edu/class/cs224w-readings/erdos59random.pdf" TargetMode="Externa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hyperlink" Target="https://www.pnas.org/content/101/suppl_1/5200"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arxiv.org/pdf/2304.00501.pdf" TargetMode="External"/><Relationship Id="rId2" Type="http://schemas.openxmlformats.org/officeDocument/2006/relationships/hyperlink" Target="https://www.elsevier.com/products/scopus" TargetMode="Externa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hyperlink" Target="https://link.springer.com/article/10.1007/BF02289026" TargetMode="External"/><Relationship Id="rId2" Type="http://schemas.openxmlformats.org/officeDocument/2006/relationships/hyperlink" Target="https://en.wikipedia.org/wiki/Katz_centrality" TargetMode="Externa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aima.cs.berkeley.edu/"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www.thehindu.com/children/zuses-z3-the-worlds-first-programmable-computer/article68124622.ece"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networkx.org/documentation/stable/reference/algorithms/generated/networkx.algorithms.centrality.closeness_centrality.html" TargetMode="Externa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hyperlink" Target="https://sites.google.com/site/bsmithactivity3/betweenness-centrality"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71.png"/><Relationship Id="rId2" Type="http://schemas.openxmlformats.org/officeDocument/2006/relationships/image" Target="../media/image160.png"/><Relationship Id="rId1" Type="http://schemas.openxmlformats.org/officeDocument/2006/relationships/slideLayout" Target="../slideLayouts/slideLayout2.xml"/><Relationship Id="rId5" Type="http://schemas.openxmlformats.org/officeDocument/2006/relationships/image" Target="../media/image190.png"/><Relationship Id="rId4" Type="http://schemas.openxmlformats.org/officeDocument/2006/relationships/image" Target="../media/image180.png"/></Relationships>
</file>

<file path=ppt/slides/_rels/slide4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25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32.png"/><Relationship Id="rId2" Type="http://schemas.openxmlformats.org/officeDocument/2006/relationships/hyperlink" Target="https://networkx.org/documentation/stable/reference/algorithms/generated/networkx.algorithms.cluster.clustering.html#networkx.algorithms.cluster.clustering"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ndres.me/post/facebook-graph-network/"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3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image" Target="../media/image31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0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22.png"/><Relationship Id="rId2" Type="http://schemas.openxmlformats.org/officeDocument/2006/relationships/hyperlink" Target="https://en.wikipedia.org/wiki/Lanczos_algorithm"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hyperlink" Target="https://en.wikipedia.org/wiki/Small-world_network" TargetMode="Externa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21.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0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3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301659" y="695131"/>
            <a:ext cx="11693950" cy="3139961"/>
          </a:xfrm>
        </p:spPr>
        <p:txBody>
          <a:bodyPr>
            <a:normAutofit fontScale="90000"/>
          </a:bodyPr>
          <a:lstStyle/>
          <a:p>
            <a:r>
              <a:rPr lang="en-US" dirty="0">
                <a:latin typeface="+mn-lt"/>
              </a:rPr>
              <a:t>CSCI E-96</a:t>
            </a:r>
            <a:br>
              <a:rPr lang="en-US" dirty="0">
                <a:latin typeface="+mn-lt"/>
              </a:rPr>
            </a:br>
            <a:r>
              <a:rPr lang="en-US" dirty="0">
                <a:latin typeface="+mn-lt"/>
              </a:rPr>
              <a:t>Data Mining, Exploration and</a:t>
            </a:r>
            <a:br>
              <a:rPr lang="en-US" dirty="0">
                <a:latin typeface="+mn-lt"/>
              </a:rPr>
            </a:br>
            <a:r>
              <a:rPr lang="en-US" dirty="0">
                <a:latin typeface="+mn-lt"/>
              </a:rPr>
              <a:t>Discovery</a:t>
            </a:r>
            <a:br>
              <a:rPr lang="en-US" dirty="0">
                <a:latin typeface="+mn-lt"/>
              </a:rPr>
            </a:br>
            <a:r>
              <a:rPr lang="en-US" dirty="0">
                <a:latin typeface="+mn-lt"/>
              </a:rPr>
              <a:t>Graph Theory and </a:t>
            </a:r>
            <a:br>
              <a:rPr lang="en-US" dirty="0">
                <a:latin typeface="+mn-lt"/>
              </a:rPr>
            </a:br>
            <a:r>
              <a:rPr lang="en-US" dirty="0">
                <a:latin typeface="+mn-lt"/>
              </a:rPr>
              <a:t>Social Network Analysis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3999" y="383509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25950" y="461981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2">
            <a:extLst>
              <a:ext uri="{FF2B5EF4-FFF2-40B4-BE49-F238E27FC236}">
                <a16:creationId xmlns:a16="http://schemas.microsoft.com/office/drawing/2014/main" id="{8636C8FC-9C07-4DFA-B141-EBF94D41D6A9}"/>
              </a:ext>
            </a:extLst>
          </p:cNvPr>
          <p:cNvSpPr txBox="1">
            <a:spLocks/>
          </p:cNvSpPr>
          <p:nvPr/>
        </p:nvSpPr>
        <p:spPr>
          <a:xfrm>
            <a:off x="1524000" y="6363896"/>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100" dirty="0"/>
              <a:t>Copyright 2021, 2022, 2023, 2024, 2025, 2026, Stephen F Elston. All rights reserved.</a:t>
            </a:r>
          </a:p>
          <a:p>
            <a:endParaRPr lang="en-US" dirty="0"/>
          </a:p>
        </p:txBody>
      </p:sp>
    </p:spTree>
    <p:extLst>
      <p:ext uri="{BB962C8B-B14F-4D97-AF65-F5344CB8AC3E}">
        <p14:creationId xmlns:p14="http://schemas.microsoft.com/office/powerpoint/2010/main" val="13650567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242-6F04-0255-B6E4-003EE805C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0B4EF-F7E3-7E82-AE6D-66E8ED303FDB}"/>
              </a:ext>
            </a:extLst>
          </p:cNvPr>
          <p:cNvSpPr>
            <a:spLocks noGrp="1"/>
          </p:cNvSpPr>
          <p:nvPr>
            <p:ph type="title"/>
          </p:nvPr>
        </p:nvSpPr>
        <p:spPr>
          <a:xfrm>
            <a:off x="916187" y="249623"/>
            <a:ext cx="10515600" cy="662230"/>
          </a:xfrm>
        </p:spPr>
        <p:txBody>
          <a:bodyPr>
            <a:normAutofit fontScale="90000"/>
          </a:bodyPr>
          <a:lstStyle/>
          <a:p>
            <a:r>
              <a:rPr lang="en-US" sz="4900" dirty="0">
                <a:latin typeface="+mn-lt"/>
              </a:rPr>
              <a:t>Main topics in this course</a:t>
            </a:r>
            <a:br>
              <a:rPr lang="en-US" sz="4000" dirty="0">
                <a:latin typeface="+mn-lt"/>
              </a:rPr>
            </a:br>
            <a:endParaRPr lang="en-US" sz="4000" dirty="0">
              <a:latin typeface="+mn-lt"/>
            </a:endParaRPr>
          </a:p>
        </p:txBody>
      </p:sp>
      <p:sp>
        <p:nvSpPr>
          <p:cNvPr id="3" name="Left Brace 2">
            <a:extLst>
              <a:ext uri="{FF2B5EF4-FFF2-40B4-BE49-F238E27FC236}">
                <a16:creationId xmlns:a16="http://schemas.microsoft.com/office/drawing/2014/main" id="{B43E0B5E-B811-4BBC-CEDF-97FC2AAC1766}"/>
              </a:ext>
            </a:extLst>
          </p:cNvPr>
          <p:cNvSpPr/>
          <p:nvPr/>
        </p:nvSpPr>
        <p:spPr>
          <a:xfrm>
            <a:off x="756889" y="1964356"/>
            <a:ext cx="225209" cy="1273261"/>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77BB0425-4708-2E61-70FB-876C788A79E2}"/>
              </a:ext>
            </a:extLst>
          </p:cNvPr>
          <p:cNvSpPr txBox="1"/>
          <p:nvPr/>
        </p:nvSpPr>
        <p:spPr>
          <a:xfrm rot="16200000">
            <a:off x="-238228" y="2251765"/>
            <a:ext cx="1571596" cy="400110"/>
          </a:xfrm>
          <a:prstGeom prst="rect">
            <a:avLst/>
          </a:prstGeom>
          <a:noFill/>
        </p:spPr>
        <p:txBody>
          <a:bodyPr wrap="square" rtlCol="0">
            <a:spAutoFit/>
          </a:bodyPr>
          <a:lstStyle/>
          <a:p>
            <a:pPr algn="ctr"/>
            <a:r>
              <a:rPr lang="en-US" sz="2000" dirty="0"/>
              <a:t>Foundations </a:t>
            </a:r>
          </a:p>
        </p:txBody>
      </p:sp>
      <p:sp>
        <p:nvSpPr>
          <p:cNvPr id="5" name="Rectangle 4">
            <a:extLst>
              <a:ext uri="{FF2B5EF4-FFF2-40B4-BE49-F238E27FC236}">
                <a16:creationId xmlns:a16="http://schemas.microsoft.com/office/drawing/2014/main" id="{DAA42CDB-2EBC-28B2-6456-04829EC7EF48}"/>
              </a:ext>
            </a:extLst>
          </p:cNvPr>
          <p:cNvSpPr/>
          <p:nvPr/>
        </p:nvSpPr>
        <p:spPr>
          <a:xfrm>
            <a:off x="1259812" y="1983695"/>
            <a:ext cx="1951346" cy="125392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1. Hashing and K-V pair management </a:t>
            </a:r>
          </a:p>
        </p:txBody>
      </p:sp>
      <p:sp>
        <p:nvSpPr>
          <p:cNvPr id="6" name="Rectangle 5">
            <a:extLst>
              <a:ext uri="{FF2B5EF4-FFF2-40B4-BE49-F238E27FC236}">
                <a16:creationId xmlns:a16="http://schemas.microsoft.com/office/drawing/2014/main" id="{F5C7F060-78DB-AC42-6BFD-05BD50198440}"/>
              </a:ext>
            </a:extLst>
          </p:cNvPr>
          <p:cNvSpPr/>
          <p:nvPr/>
        </p:nvSpPr>
        <p:spPr>
          <a:xfrm>
            <a:off x="3740233" y="2021536"/>
            <a:ext cx="2157426" cy="117823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Distance and Similarity Metrics</a:t>
            </a:r>
          </a:p>
        </p:txBody>
      </p:sp>
      <p:sp>
        <p:nvSpPr>
          <p:cNvPr id="7" name="Rectangle 6">
            <a:extLst>
              <a:ext uri="{FF2B5EF4-FFF2-40B4-BE49-F238E27FC236}">
                <a16:creationId xmlns:a16="http://schemas.microsoft.com/office/drawing/2014/main" id="{F20B3888-4A09-E889-C7DE-5ECE32C17693}"/>
              </a:ext>
            </a:extLst>
          </p:cNvPr>
          <p:cNvSpPr/>
          <p:nvPr/>
        </p:nvSpPr>
        <p:spPr>
          <a:xfrm>
            <a:off x="6408020" y="2037908"/>
            <a:ext cx="2058805" cy="1213337"/>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Graph Algorithms</a:t>
            </a:r>
          </a:p>
        </p:txBody>
      </p:sp>
      <p:sp>
        <p:nvSpPr>
          <p:cNvPr id="8" name="Rectangle 7">
            <a:extLst>
              <a:ext uri="{FF2B5EF4-FFF2-40B4-BE49-F238E27FC236}">
                <a16:creationId xmlns:a16="http://schemas.microsoft.com/office/drawing/2014/main" id="{A234FC6E-068F-82BA-D948-0872902BF117}"/>
              </a:ext>
            </a:extLst>
          </p:cNvPr>
          <p:cNvSpPr/>
          <p:nvPr/>
        </p:nvSpPr>
        <p:spPr>
          <a:xfrm>
            <a:off x="1215334" y="3591320"/>
            <a:ext cx="2085982" cy="107424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Dimensionality Reduction</a:t>
            </a:r>
          </a:p>
        </p:txBody>
      </p:sp>
      <p:sp>
        <p:nvSpPr>
          <p:cNvPr id="10" name="Left Brace 9">
            <a:extLst>
              <a:ext uri="{FF2B5EF4-FFF2-40B4-BE49-F238E27FC236}">
                <a16:creationId xmlns:a16="http://schemas.microsoft.com/office/drawing/2014/main" id="{6B807C0C-B6B7-55FC-4A73-937C1A517C09}"/>
              </a:ext>
            </a:extLst>
          </p:cNvPr>
          <p:cNvSpPr/>
          <p:nvPr/>
        </p:nvSpPr>
        <p:spPr>
          <a:xfrm>
            <a:off x="865089" y="3571535"/>
            <a:ext cx="172578" cy="109402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D0513D5-3561-EC84-E71B-4706879A90A1}"/>
              </a:ext>
            </a:extLst>
          </p:cNvPr>
          <p:cNvSpPr txBox="1"/>
          <p:nvPr/>
        </p:nvSpPr>
        <p:spPr>
          <a:xfrm rot="16200000">
            <a:off x="-286998" y="3724841"/>
            <a:ext cx="1571596" cy="707886"/>
          </a:xfrm>
          <a:prstGeom prst="rect">
            <a:avLst/>
          </a:prstGeom>
          <a:noFill/>
        </p:spPr>
        <p:txBody>
          <a:bodyPr wrap="square" rtlCol="0">
            <a:spAutoFit/>
          </a:bodyPr>
          <a:lstStyle/>
          <a:p>
            <a:pPr algn="ctr"/>
            <a:r>
              <a:rPr lang="en-US" sz="2000" dirty="0"/>
              <a:t>Core Algorithms</a:t>
            </a:r>
          </a:p>
        </p:txBody>
      </p:sp>
      <p:sp>
        <p:nvSpPr>
          <p:cNvPr id="12" name="Rectangle 11">
            <a:extLst>
              <a:ext uri="{FF2B5EF4-FFF2-40B4-BE49-F238E27FC236}">
                <a16:creationId xmlns:a16="http://schemas.microsoft.com/office/drawing/2014/main" id="{B042D63B-E913-3364-5865-54C574ED22CD}"/>
              </a:ext>
            </a:extLst>
          </p:cNvPr>
          <p:cNvSpPr/>
          <p:nvPr/>
        </p:nvSpPr>
        <p:spPr>
          <a:xfrm>
            <a:off x="1280175" y="5154275"/>
            <a:ext cx="1961804" cy="1264023"/>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Social Network Analysis</a:t>
            </a:r>
          </a:p>
        </p:txBody>
      </p:sp>
      <p:sp>
        <p:nvSpPr>
          <p:cNvPr id="14" name="Left Brace 13">
            <a:extLst>
              <a:ext uri="{FF2B5EF4-FFF2-40B4-BE49-F238E27FC236}">
                <a16:creationId xmlns:a16="http://schemas.microsoft.com/office/drawing/2014/main" id="{35E5DEDA-5FFD-FC06-5888-EB758D78C155}"/>
              </a:ext>
            </a:extLst>
          </p:cNvPr>
          <p:cNvSpPr/>
          <p:nvPr/>
        </p:nvSpPr>
        <p:spPr>
          <a:xfrm>
            <a:off x="858563" y="5154275"/>
            <a:ext cx="164275" cy="1264024"/>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3061D0C7-FA6D-00D7-CF2A-B875D7CF029B}"/>
              </a:ext>
            </a:extLst>
          </p:cNvPr>
          <p:cNvSpPr txBox="1"/>
          <p:nvPr/>
        </p:nvSpPr>
        <p:spPr>
          <a:xfrm rot="16200000">
            <a:off x="-322189" y="5405146"/>
            <a:ext cx="1571596" cy="707886"/>
          </a:xfrm>
          <a:prstGeom prst="rect">
            <a:avLst/>
          </a:prstGeom>
          <a:noFill/>
        </p:spPr>
        <p:txBody>
          <a:bodyPr wrap="square" rtlCol="0">
            <a:spAutoFit/>
          </a:bodyPr>
          <a:lstStyle/>
          <a:p>
            <a:pPr algn="ctr"/>
            <a:r>
              <a:rPr lang="en-US" sz="2000" dirty="0"/>
              <a:t>Taks </a:t>
            </a:r>
            <a:r>
              <a:rPr lang="en-US" sz="2000"/>
              <a:t>Speific </a:t>
            </a:r>
            <a:r>
              <a:rPr lang="en-US" sz="2000" dirty="0"/>
              <a:t>Algorithms</a:t>
            </a:r>
          </a:p>
        </p:txBody>
      </p:sp>
      <p:sp>
        <p:nvSpPr>
          <p:cNvPr id="16" name="Rectangle 15">
            <a:extLst>
              <a:ext uri="{FF2B5EF4-FFF2-40B4-BE49-F238E27FC236}">
                <a16:creationId xmlns:a16="http://schemas.microsoft.com/office/drawing/2014/main" id="{8BCB2792-FBF9-D76F-A378-7E6596D54E0F}"/>
              </a:ext>
            </a:extLst>
          </p:cNvPr>
          <p:cNvSpPr/>
          <p:nvPr/>
        </p:nvSpPr>
        <p:spPr>
          <a:xfrm>
            <a:off x="3811677" y="3631085"/>
            <a:ext cx="2085982" cy="109402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5. Similarity Search and NN Algorithms</a:t>
            </a:r>
          </a:p>
        </p:txBody>
      </p:sp>
      <p:sp>
        <p:nvSpPr>
          <p:cNvPr id="17" name="Rectangle 16">
            <a:extLst>
              <a:ext uri="{FF2B5EF4-FFF2-40B4-BE49-F238E27FC236}">
                <a16:creationId xmlns:a16="http://schemas.microsoft.com/office/drawing/2014/main" id="{9A8CAD2D-EC71-A5F3-683F-41BF65DE958F}"/>
              </a:ext>
            </a:extLst>
          </p:cNvPr>
          <p:cNvSpPr/>
          <p:nvPr/>
        </p:nvSpPr>
        <p:spPr>
          <a:xfrm>
            <a:off x="6408020" y="3640978"/>
            <a:ext cx="2038966" cy="11235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4. Online Algorithms</a:t>
            </a:r>
          </a:p>
        </p:txBody>
      </p:sp>
      <p:sp>
        <p:nvSpPr>
          <p:cNvPr id="18" name="Rectangle 17">
            <a:extLst>
              <a:ext uri="{FF2B5EF4-FFF2-40B4-BE49-F238E27FC236}">
                <a16:creationId xmlns:a16="http://schemas.microsoft.com/office/drawing/2014/main" id="{67EB3589-9BBE-D38D-C09A-C7A36757F4E1}"/>
              </a:ext>
            </a:extLst>
          </p:cNvPr>
          <p:cNvSpPr/>
          <p:nvPr/>
        </p:nvSpPr>
        <p:spPr>
          <a:xfrm>
            <a:off x="8985680" y="5155489"/>
            <a:ext cx="1894527" cy="126280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8. Clustering Algorithms</a:t>
            </a:r>
          </a:p>
        </p:txBody>
      </p:sp>
      <p:sp>
        <p:nvSpPr>
          <p:cNvPr id="20" name="Rectangle 19">
            <a:extLst>
              <a:ext uri="{FF2B5EF4-FFF2-40B4-BE49-F238E27FC236}">
                <a16:creationId xmlns:a16="http://schemas.microsoft.com/office/drawing/2014/main" id="{5C5EBFDB-140B-9B88-CE63-77419A11C6E4}"/>
              </a:ext>
            </a:extLst>
          </p:cNvPr>
          <p:cNvSpPr/>
          <p:nvPr/>
        </p:nvSpPr>
        <p:spPr>
          <a:xfrm>
            <a:off x="6470354" y="5154275"/>
            <a:ext cx="2016833"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7. Recommender  Algorithms</a:t>
            </a:r>
          </a:p>
        </p:txBody>
      </p:sp>
      <p:sp>
        <p:nvSpPr>
          <p:cNvPr id="21" name="Rectangle 20">
            <a:extLst>
              <a:ext uri="{FF2B5EF4-FFF2-40B4-BE49-F238E27FC236}">
                <a16:creationId xmlns:a16="http://schemas.microsoft.com/office/drawing/2014/main" id="{69AB1FD0-27FA-3784-41E8-6432B45E080D}"/>
              </a:ext>
            </a:extLst>
          </p:cNvPr>
          <p:cNvSpPr/>
          <p:nvPr/>
        </p:nvSpPr>
        <p:spPr>
          <a:xfrm>
            <a:off x="3760595" y="5172609"/>
            <a:ext cx="2085981"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6. Web/Document ranking and search</a:t>
            </a:r>
          </a:p>
        </p:txBody>
      </p:sp>
      <p:sp>
        <p:nvSpPr>
          <p:cNvPr id="22" name="Content Placeholder 2">
            <a:extLst>
              <a:ext uri="{FF2B5EF4-FFF2-40B4-BE49-F238E27FC236}">
                <a16:creationId xmlns:a16="http://schemas.microsoft.com/office/drawing/2014/main" id="{302608D4-DE73-B603-CD44-1D4BB221F2DE}"/>
              </a:ext>
            </a:extLst>
          </p:cNvPr>
          <p:cNvSpPr txBox="1">
            <a:spLocks/>
          </p:cNvSpPr>
          <p:nvPr/>
        </p:nvSpPr>
        <p:spPr>
          <a:xfrm>
            <a:off x="865089" y="797597"/>
            <a:ext cx="10515600" cy="85057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Graph algorithms are foundational for many data mining algorithms</a:t>
            </a:r>
          </a:p>
        </p:txBody>
      </p:sp>
    </p:spTree>
    <p:extLst>
      <p:ext uri="{BB962C8B-B14F-4D97-AF65-F5344CB8AC3E}">
        <p14:creationId xmlns:p14="http://schemas.microsoft.com/office/powerpoint/2010/main" val="581234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5860F-6005-0C85-22AF-264CD7EBB3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76767-E59C-06A0-12E9-4B1CB9065704}"/>
              </a:ext>
            </a:extLst>
          </p:cNvPr>
          <p:cNvSpPr>
            <a:spLocks noGrp="1"/>
          </p:cNvSpPr>
          <p:nvPr>
            <p:ph type="title"/>
          </p:nvPr>
        </p:nvSpPr>
        <p:spPr>
          <a:xfrm>
            <a:off x="831850" y="1709739"/>
            <a:ext cx="10515600" cy="1838134"/>
          </a:xfrm>
        </p:spPr>
        <p:txBody>
          <a:bodyPr>
            <a:normAutofit/>
          </a:bodyPr>
          <a:lstStyle/>
          <a:p>
            <a:pPr algn="ctr"/>
            <a:r>
              <a:rPr lang="en-US" sz="3600" dirty="0">
                <a:latin typeface="+mn-lt"/>
              </a:rPr>
              <a:t>Introduction to Graph Theory</a:t>
            </a:r>
          </a:p>
        </p:txBody>
      </p:sp>
    </p:spTree>
    <p:extLst>
      <p:ext uri="{BB962C8B-B14F-4D97-AF65-F5344CB8AC3E}">
        <p14:creationId xmlns:p14="http://schemas.microsoft.com/office/powerpoint/2010/main" val="26095938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Graph algorithms are widely used for data mining</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Graph algorithms can be efficient and highly scalable  </a:t>
            </a:r>
          </a:p>
          <a:p>
            <a:r>
              <a:rPr lang="en-US" dirty="0"/>
              <a:t>Graphs are a natural choice of data structure in many cases</a:t>
            </a:r>
          </a:p>
          <a:p>
            <a:r>
              <a:rPr lang="en-US" dirty="0"/>
              <a:t>Applications include:</a:t>
            </a:r>
          </a:p>
          <a:p>
            <a:pPr lvl="1"/>
            <a:r>
              <a:rPr lang="en-US" dirty="0"/>
              <a:t>Dimensionality reduction</a:t>
            </a:r>
          </a:p>
          <a:p>
            <a:pPr lvl="1"/>
            <a:r>
              <a:rPr lang="en-US" dirty="0"/>
              <a:t>Social network analysis </a:t>
            </a:r>
          </a:p>
          <a:p>
            <a:pPr lvl="1"/>
            <a:r>
              <a:rPr lang="en-US" dirty="0"/>
              <a:t>Approximate nearest neighbor search</a:t>
            </a:r>
          </a:p>
          <a:p>
            <a:pPr lvl="1"/>
            <a:r>
              <a:rPr lang="en-US" dirty="0"/>
              <a:t>Recommender systems </a:t>
            </a:r>
          </a:p>
          <a:p>
            <a:pPr lvl="1"/>
            <a:r>
              <a:rPr lang="en-US" dirty="0"/>
              <a:t>Clustering models</a:t>
            </a:r>
          </a:p>
          <a:p>
            <a:pPr lvl="1"/>
            <a:r>
              <a:rPr lang="en-US" b="1" dirty="0"/>
              <a:t>Many more …</a:t>
            </a:r>
          </a:p>
          <a:p>
            <a:endParaRPr lang="en-US" dirty="0"/>
          </a:p>
          <a:p>
            <a:endParaRPr lang="en-US" dirty="0"/>
          </a:p>
        </p:txBody>
      </p:sp>
    </p:spTree>
    <p:extLst>
      <p:ext uri="{BB962C8B-B14F-4D97-AF65-F5344CB8AC3E}">
        <p14:creationId xmlns:p14="http://schemas.microsoft.com/office/powerpoint/2010/main" val="513003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8"/>
                <a:ext cx="10515600" cy="5536580"/>
              </a:xfrm>
            </p:spPr>
            <p:txBody>
              <a:bodyPr>
                <a:normAutofit lnSpcReduction="10000"/>
              </a:bodyPr>
              <a:lstStyle/>
              <a:p>
                <a:pPr marL="0" indent="0">
                  <a:buNone/>
                </a:pPr>
                <a:r>
                  <a:rPr lang="en-US" b="1" dirty="0"/>
                  <a:t>Graphs</a:t>
                </a:r>
                <a:r>
                  <a:rPr lang="en-US" dirty="0"/>
                  <a:t> are constructed from </a:t>
                </a:r>
                <a:r>
                  <a:rPr lang="en-US" b="1" dirty="0"/>
                  <a:t>nodes</a:t>
                </a:r>
                <a:r>
                  <a:rPr lang="en-US" dirty="0"/>
                  <a:t> or </a:t>
                </a:r>
                <a:r>
                  <a:rPr lang="en-US" b="1" dirty="0"/>
                  <a:t>vertices</a:t>
                </a:r>
                <a:r>
                  <a:rPr lang="en-US" dirty="0"/>
                  <a:t> connected by </a:t>
                </a:r>
                <a:r>
                  <a:rPr lang="en-US" b="1" dirty="0"/>
                  <a:t>edges </a:t>
                </a:r>
                <a:r>
                  <a:rPr lang="en-US" dirty="0"/>
                  <a:t>or</a:t>
                </a:r>
                <a:r>
                  <a:rPr lang="en-US" b="1" dirty="0"/>
                  <a:t> links</a:t>
                </a:r>
              </a:p>
              <a:p>
                <a:r>
                  <a:rPr lang="en-US" dirty="0"/>
                  <a:t>Formally, we say a </a:t>
                </a:r>
                <a:r>
                  <a:rPr lang="en-US" b="1" dirty="0"/>
                  <a:t>graph, </a:t>
                </a:r>
                <a14:m>
                  <m:oMath xmlns:m="http://schemas.openxmlformats.org/officeDocument/2006/math">
                    <m:r>
                      <a:rPr lang="en-US" b="1" i="1" smtClean="0">
                        <a:latin typeface="Cambria Math" panose="02040503050406030204" pitchFamily="18" charset="0"/>
                      </a:rPr>
                      <m:t>𝑮</m:t>
                    </m:r>
                    <m:r>
                      <a:rPr lang="en-US" b="1" i="1" smtClean="0">
                        <a:latin typeface="Cambria Math" panose="02040503050406030204" pitchFamily="18" charset="0"/>
                      </a:rPr>
                      <m:t>(</m:t>
                    </m:r>
                    <m:r>
                      <a:rPr lang="en-US" b="1" i="1" smtClean="0">
                        <a:latin typeface="Cambria Math" panose="02040503050406030204" pitchFamily="18" charset="0"/>
                      </a:rPr>
                      <m:t>𝑵</m:t>
                    </m:r>
                    <m:r>
                      <a:rPr lang="en-US" b="1" i="1" smtClean="0">
                        <a:latin typeface="Cambria Math" panose="02040503050406030204" pitchFamily="18" charset="0"/>
                      </a:rPr>
                      <m:t>,</m:t>
                    </m:r>
                    <m:r>
                      <a:rPr lang="en-US" b="1" i="1" smtClean="0">
                        <a:latin typeface="Cambria Math" panose="02040503050406030204" pitchFamily="18" charset="0"/>
                      </a:rPr>
                      <m:t>𝑬</m:t>
                    </m:r>
                    <m:r>
                      <a:rPr lang="en-US" b="1" i="1" smtClean="0">
                        <a:latin typeface="Cambria Math" panose="02040503050406030204" pitchFamily="18" charset="0"/>
                      </a:rPr>
                      <m:t>)</m:t>
                    </m:r>
                  </m:oMath>
                </a14:m>
                <a:r>
                  <a:rPr lang="en-US" b="1" dirty="0"/>
                  <a:t>, </a:t>
                </a:r>
                <a:r>
                  <a:rPr lang="en-US" dirty="0"/>
                  <a:t>is comprised of </a:t>
                </a:r>
                <a:r>
                  <a:rPr lang="en-US" b="1" dirty="0"/>
                  <a:t>nodes, </a:t>
                </a:r>
                <a14:m>
                  <m:oMath xmlns:m="http://schemas.openxmlformats.org/officeDocument/2006/math">
                    <m:r>
                      <a:rPr lang="en-US" b="1" i="1" smtClean="0">
                        <a:latin typeface="Cambria Math" panose="02040503050406030204" pitchFamily="18" charset="0"/>
                      </a:rPr>
                      <m:t>𝑵</m:t>
                    </m:r>
                  </m:oMath>
                </a14:m>
                <a:r>
                  <a:rPr lang="en-US" dirty="0"/>
                  <a:t>, connected by </a:t>
                </a:r>
                <a:r>
                  <a:rPr lang="en-US" b="1" dirty="0"/>
                  <a:t>edges or links, </a:t>
                </a:r>
                <a14:m>
                  <m:oMath xmlns:m="http://schemas.openxmlformats.org/officeDocument/2006/math">
                    <m:r>
                      <a:rPr lang="en-US" b="1" i="1" smtClean="0">
                        <a:latin typeface="Cambria Math" panose="02040503050406030204" pitchFamily="18" charset="0"/>
                      </a:rPr>
                      <m:t>𝑬</m:t>
                    </m:r>
                  </m:oMath>
                </a14:m>
                <a:endParaRPr lang="en-US" b="1" dirty="0"/>
              </a:p>
              <a:p>
                <a:r>
                  <a:rPr lang="en-US" b="1" dirty="0"/>
                  <a:t>Nodes</a:t>
                </a:r>
                <a:r>
                  <a:rPr lang="en-US" dirty="0"/>
                  <a:t> are unique entities within a graph </a:t>
                </a:r>
              </a:p>
              <a:p>
                <a:pPr lvl="1"/>
                <a:r>
                  <a:rPr lang="en-US" dirty="0"/>
                  <a:t>Nodes can have identifiers; e.g. numbers or names </a:t>
                </a:r>
              </a:p>
              <a:p>
                <a:pPr lvl="1"/>
                <a:r>
                  <a:rPr lang="en-US" dirty="0"/>
                  <a:t>Nodes can have properties, e.g. scalar and vector values, tables, unstructured values, hash buckets,… </a:t>
                </a:r>
              </a:p>
              <a:p>
                <a:pPr lvl="1"/>
                <a:r>
                  <a:rPr lang="en-US" dirty="0"/>
                  <a:t>e.g. web pages are nodes in a network  </a:t>
                </a:r>
              </a:p>
              <a:p>
                <a:r>
                  <a:rPr lang="en-US" b="1" dirty="0"/>
                  <a:t>Edges </a:t>
                </a:r>
                <a:r>
                  <a:rPr lang="en-US" dirty="0"/>
                  <a:t>or links connect pairs of nodes</a:t>
                </a:r>
              </a:p>
              <a:p>
                <a:pPr lvl="1"/>
                <a:r>
                  <a:rPr lang="en-US" dirty="0"/>
                  <a:t>Define edge</a:t>
                </a: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oMath>
                </a14:m>
                <a:r>
                  <a:rPr lang="en-US" dirty="0"/>
                  <a:t> connecting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endParaRPr lang="en-US" dirty="0"/>
              </a:p>
              <a:p>
                <a:pPr lvl="1"/>
                <a:r>
                  <a:rPr lang="en-US" dirty="0"/>
                  <a:t>Edges can be </a:t>
                </a:r>
                <a:r>
                  <a:rPr lang="en-US" b="1" dirty="0"/>
                  <a:t>unweighted</a:t>
                </a:r>
                <a:r>
                  <a:rPr lang="en-US" dirty="0"/>
                  <a:t> or </a:t>
                </a:r>
                <a:r>
                  <a:rPr lang="en-US" b="1" dirty="0"/>
                  <a:t>weighted </a:t>
                </a:r>
              </a:p>
              <a:p>
                <a:pPr lvl="1"/>
                <a:r>
                  <a:rPr lang="en-US" dirty="0"/>
                  <a:t>Edges can be </a:t>
                </a:r>
                <a:r>
                  <a:rPr lang="en-US" b="1" dirty="0"/>
                  <a:t>directed</a:t>
                </a:r>
                <a:r>
                  <a:rPr lang="en-US" dirty="0"/>
                  <a:t> or </a:t>
                </a:r>
                <a:r>
                  <a:rPr lang="en-US" b="1" dirty="0"/>
                  <a:t>undirected</a:t>
                </a:r>
                <a:r>
                  <a:rPr lang="en-US" dirty="0"/>
                  <a:t> </a:t>
                </a:r>
              </a:p>
              <a:p>
                <a:pPr lvl="1"/>
                <a:r>
                  <a:rPr lang="en-US" dirty="0"/>
                  <a:t>Nodes can have properties, e.g. weights  </a:t>
                </a:r>
              </a:p>
              <a:p>
                <a:pPr lvl="1"/>
                <a:endParaRPr lang="en-US" dirty="0"/>
              </a:p>
            </p:txBody>
          </p:sp>
        </mc:Choice>
        <mc:Fallback>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8"/>
                <a:ext cx="10515600" cy="5536580"/>
              </a:xfrm>
              <a:blipFill>
                <a:blip r:embed="rId2"/>
                <a:stretch>
                  <a:fillRect l="-1217" t="-2423" r="-696"/>
                </a:stretch>
              </a:blipFill>
            </p:spPr>
            <p:txBody>
              <a:bodyPr/>
              <a:lstStyle/>
              <a:p>
                <a:r>
                  <a:rPr lang="en-US">
                    <a:noFill/>
                  </a:rPr>
                  <a:t> </a:t>
                </a:r>
              </a:p>
            </p:txBody>
          </p:sp>
        </mc:Fallback>
      </mc:AlternateContent>
    </p:spTree>
    <p:extLst>
      <p:ext uri="{BB962C8B-B14F-4D97-AF65-F5344CB8AC3E}">
        <p14:creationId xmlns:p14="http://schemas.microsoft.com/office/powerpoint/2010/main" val="4081103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5495926"/>
              </a:xfrm>
            </p:spPr>
            <p:txBody>
              <a:bodyPr>
                <a:normAutofit/>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a:p>
                <a:r>
                  <a:rPr lang="en-US" dirty="0"/>
                  <a:t>An</a:t>
                </a:r>
                <a:r>
                  <a:rPr lang="en-US" b="1" dirty="0"/>
                  <a:t> undirected edge</a:t>
                </a:r>
                <a:r>
                  <a:rPr lang="en-US" dirty="0"/>
                  <a:t>, </a:t>
                </a:r>
                <a14:m>
                  <m:oMath xmlns:m="http://schemas.openxmlformats.org/officeDocument/2006/math">
                    <m:r>
                      <a:rPr lang="en-US" b="0" i="1" smtClean="0">
                        <a:latin typeface="Cambria Math" panose="02040503050406030204" pitchFamily="18" charset="0"/>
                      </a:rPr>
                      <m:t>𝑙</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connects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bidirectionally </a:t>
                </a:r>
              </a:p>
              <a:p>
                <a:r>
                  <a:rPr lang="en-US" dirty="0"/>
                  <a:t>Example: Facebook friends is a symmetric relationship </a:t>
                </a:r>
              </a:p>
              <a:p>
                <a:r>
                  <a:rPr lang="en-US" dirty="0"/>
                  <a:t>Example: A highway network allows travel in both directions  </a:t>
                </a:r>
              </a:p>
            </p:txBody>
          </p:sp>
        </mc:Choice>
        <mc:Fallback xmlns="">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9"/>
                <a:ext cx="10515600" cy="5495926"/>
              </a:xfrm>
              <a:blipFill>
                <a:blip r:embed="rId2"/>
                <a:stretch>
                  <a:fillRect l="-1217" t="-1774"/>
                </a:stretch>
              </a:blipFill>
            </p:spPr>
            <p:txBody>
              <a:bodyPr/>
              <a:lstStyle/>
              <a:p>
                <a:r>
                  <a:rPr lang="en-US">
                    <a:noFill/>
                  </a:rPr>
                  <a:t> </a:t>
                </a:r>
              </a:p>
            </p:txBody>
          </p:sp>
        </mc:Fallback>
      </mc:AlternateContent>
    </p:spTree>
    <p:extLst>
      <p:ext uri="{BB962C8B-B14F-4D97-AF65-F5344CB8AC3E}">
        <p14:creationId xmlns:p14="http://schemas.microsoft.com/office/powerpoint/2010/main" val="443241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r>
                  <a:rPr lang="en-US" dirty="0"/>
                  <a:t>Example; for small X network for row and column order [</a:t>
                </a:r>
                <a:r>
                  <a:rPr lang="en-US" dirty="0" err="1"/>
                  <a:t>Bob,Raj,Gigi,Asan,Mary</a:t>
                </a:r>
                <a:r>
                  <a:rPr lang="en-US" dirty="0"/>
                  <a:t>]: </a:t>
                </a:r>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1</m:t>
                                      </m:r>
                                    </m:e>
                                  </m:mr>
                                </m:m>
                              </m:e>
                            </m:mr>
                            <m:mr>
                              <m:e>
                                <m: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3"/>
                                          <m:mcJc m:val="center"/>
                                        </m:mcPr>
                                      </m:mc>
                                    </m:mcs>
                                    <m:ctrlPr>
                                      <a:rPr lang="en-US" b="0"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
                        </m:e>
                      </m: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=1, </m:t>
                    </m:r>
                    <m:r>
                      <a:rPr lang="en-US" b="0" i="1" smtClean="0">
                        <a:latin typeface="Cambria Math" panose="02040503050406030204" pitchFamily="18" charset="0"/>
                      </a:rPr>
                      <m:t>𝑖𝑓𝑓</m:t>
                    </m:r>
                  </m:oMath>
                </a14:m>
                <a:r>
                  <a:rPr lang="en-US" dirty="0"/>
                  <a:t> directed edge from </a:t>
                </a:r>
                <a14:m>
                  <m:oMath xmlns:m="http://schemas.openxmlformats.org/officeDocument/2006/math">
                    <m:r>
                      <a:rPr lang="en-US" b="0" i="1" smtClean="0">
                        <a:latin typeface="Cambria Math" panose="02040503050406030204" pitchFamily="18" charset="0"/>
                      </a:rPr>
                      <m:t>𝑗</m:t>
                    </m:r>
                  </m:oMath>
                </a14:m>
                <a:r>
                  <a:rPr lang="en-US" dirty="0"/>
                  <a:t> to </a:t>
                </a:r>
                <a14:m>
                  <m:oMath xmlns:m="http://schemas.openxmlformats.org/officeDocument/2006/math">
                    <m:r>
                      <a:rPr lang="en-US" b="0" i="1" smtClean="0">
                        <a:latin typeface="Cambria Math" panose="02040503050406030204" pitchFamily="18" charset="0"/>
                      </a:rPr>
                      <m:t>𝑖</m:t>
                    </m:r>
                  </m:oMath>
                </a14:m>
                <a:r>
                  <a:rPr lang="en-US" dirty="0"/>
                  <a:t> </a:t>
                </a:r>
              </a:p>
              <a:p>
                <a:r>
                  <a:rPr lang="en-US" dirty="0"/>
                  <a:t>Directed graph association matrix is </a:t>
                </a:r>
                <a:r>
                  <a:rPr lang="en-US" b="1" dirty="0"/>
                  <a:t>asymmetric</a:t>
                </a:r>
                <a:r>
                  <a:rPr lang="en-US" dirty="0"/>
                  <a:t> since generally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𝑗</m:t>
                        </m:r>
                        <m:r>
                          <a:rPr lang="en-US" i="1">
                            <a:latin typeface="Cambria Math" panose="02040503050406030204" pitchFamily="18" charset="0"/>
                          </a:rPr>
                          <m:t>,</m:t>
                        </m:r>
                        <m:r>
                          <a:rPr lang="en-US" b="0" i="1" smtClean="0">
                            <a:latin typeface="Cambria Math" panose="02040503050406030204" pitchFamily="18" charset="0"/>
                          </a:rPr>
                          <m:t>𝑖</m:t>
                        </m:r>
                      </m:sub>
                    </m:sSub>
                  </m:oMath>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795"/>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0252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3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Example; Bob follows Gigi, Mary and himself, a </a:t>
                </a:r>
                <a:r>
                  <a:rPr lang="en-US" b="1" dirty="0"/>
                  <a:t>self loop</a:t>
                </a:r>
                <a:endParaRPr lang="en-US" dirty="0"/>
              </a:p>
              <a:p>
                <a:r>
                  <a:rPr lang="en-US" dirty="0"/>
                  <a:t>Example; Gigi follows Bob and Bob follows Gigi, two directed edges</a:t>
                </a:r>
              </a:p>
              <a:p>
                <a:r>
                  <a:rPr lang="en-US" dirty="0"/>
                  <a:t>Example; No one follows Asan, a </a:t>
                </a:r>
                <a:r>
                  <a:rPr lang="en-US" b="1" dirty="0"/>
                  <a:t>dead end </a:t>
                </a:r>
                <a:r>
                  <a:rPr lang="en-US" dirty="0"/>
                  <a:t>or </a:t>
                </a:r>
                <a:r>
                  <a:rPr lang="en-US" b="1" dirty="0"/>
                  <a:t>terminal node</a:t>
                </a:r>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368" t="-1906"/>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3408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in-degree</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oMath>
                </a14:m>
                <a:r>
                  <a:rPr lang="en-US" b="1" dirty="0"/>
                  <a:t>, </a:t>
                </a:r>
                <a:r>
                  <a:rPr lang="en-US" dirty="0"/>
                  <a:t>the sum along rows of the association matrix</a:t>
                </a:r>
                <a:endParaRPr lang="en-US" b="1"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8252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out-degree</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r>
                  <a:rPr lang="en-US" dirty="0"/>
                  <a:t>the sum along columns of the association matrix</a:t>
                </a:r>
                <a:endParaRPr lang="en-US" b="1"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𝑗</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triangl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458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Nodes in directed networks have an in-degree,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𝑖𝑛</m:t>
                        </m:r>
                      </m:sub>
                    </m:sSub>
                  </m:oMath>
                </a14:m>
                <a:r>
                  <a:rPr lang="en-US" b="1" dirty="0"/>
                  <a:t>,</a:t>
                </a:r>
                <a:r>
                  <a:rPr lang="en-US" dirty="0"/>
                  <a:t> and out-degree,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endParaRPr lang="en-US" dirty="0"/>
              </a:p>
              <a:p>
                <a:r>
                  <a:rPr lang="en-US" dirty="0"/>
                  <a:t>Example; for Gigi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=3</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=2</m:t>
                    </m:r>
                  </m:oMath>
                </a14:m>
                <a:endParaRPr lang="en-US" dirty="0"/>
              </a:p>
              <a:p>
                <a:r>
                  <a:rPr lang="en-US" dirty="0"/>
                  <a:t>Example; for Asan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=0</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=1</m:t>
                    </m:r>
                  </m:oMath>
                </a14:m>
                <a:endParaRPr lang="en-US" dirty="0"/>
              </a:p>
              <a:p>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4461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319BF-275F-C7BD-23CC-E954FAB64E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1E5083-137B-CDC5-DD15-FD486D7256B3}"/>
              </a:ext>
            </a:extLst>
          </p:cNvPr>
          <p:cNvSpPr>
            <a:spLocks noGrp="1"/>
          </p:cNvSpPr>
          <p:nvPr>
            <p:ph type="title"/>
          </p:nvPr>
        </p:nvSpPr>
        <p:spPr>
          <a:xfrm>
            <a:off x="831850" y="1709738"/>
            <a:ext cx="10515600" cy="2282271"/>
          </a:xfrm>
        </p:spPr>
        <p:txBody>
          <a:bodyPr/>
          <a:lstStyle/>
          <a:p>
            <a:pPr algn="ctr"/>
            <a:r>
              <a:rPr lang="en-US" dirty="0"/>
              <a:t>Random Graphs</a:t>
            </a:r>
          </a:p>
        </p:txBody>
      </p:sp>
    </p:spTree>
    <p:extLst>
      <p:ext uri="{BB962C8B-B14F-4D97-AF65-F5344CB8AC3E}">
        <p14:creationId xmlns:p14="http://schemas.microsoft.com/office/powerpoint/2010/main" val="12181432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291E-DCC6-4D60-2F40-7F70A1E57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95BE2E-CC50-EC93-CA4E-2D3585BD690D}"/>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E494F8E-CC87-866C-400D-E3AE659E241B}"/>
                  </a:ext>
                </a:extLst>
              </p:cNvPr>
              <p:cNvSpPr>
                <a:spLocks noGrp="1"/>
              </p:cNvSpPr>
              <p:nvPr>
                <p:ph idx="1"/>
              </p:nvPr>
            </p:nvSpPr>
            <p:spPr>
              <a:xfrm>
                <a:off x="775447" y="1208868"/>
                <a:ext cx="10515600" cy="5447426"/>
              </a:xfrm>
            </p:spPr>
            <p:txBody>
              <a:bodyPr>
                <a:normAutofit/>
              </a:bodyPr>
              <a:lstStyle/>
              <a:p>
                <a:pPr marL="0" indent="0">
                  <a:buNone/>
                </a:pPr>
                <a:r>
                  <a:rPr lang="en-US" dirty="0"/>
                  <a:t>The properties of </a:t>
                </a:r>
                <a:r>
                  <a:rPr lang="en-US" b="1" dirty="0">
                    <a:hlinkClick r:id="rId2"/>
                  </a:rPr>
                  <a:t>random graphs </a:t>
                </a:r>
                <a:r>
                  <a:rPr lang="en-US" dirty="0"/>
                  <a:t>are useful benchmarks for real-world networks   </a:t>
                </a:r>
              </a:p>
              <a:p>
                <a:r>
                  <a:rPr lang="en-US" dirty="0"/>
                  <a:t>How can we define a random network or graph?</a:t>
                </a:r>
              </a:p>
              <a:p>
                <a:pPr lvl="1"/>
                <a:r>
                  <a:rPr lang="en-US" dirty="0"/>
                  <a:t>Graph is composed of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Edges between nodes are randomly selected </a:t>
                </a:r>
              </a:p>
              <a:p>
                <a:r>
                  <a:rPr lang="en-US" dirty="0"/>
                  <a:t>Two widely used and nearly equivalent models   </a:t>
                </a:r>
              </a:p>
              <a:p>
                <a:pPr lvl="1"/>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3"/>
                  </a:rPr>
                  <a:t>Erdős–Rényi (1959) </a:t>
                </a:r>
                <a:r>
                  <a:rPr lang="en-US" dirty="0"/>
                  <a:t>model</a:t>
                </a:r>
              </a:p>
              <a:p>
                <a:pPr lvl="1"/>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4"/>
                  </a:rPr>
                  <a:t>Gilbert (1959)</a:t>
                </a:r>
                <a:endParaRPr lang="en-US" dirty="0"/>
              </a:p>
              <a:p>
                <a:endParaRPr lang="en-US" dirty="0"/>
              </a:p>
              <a:p>
                <a:pPr marL="0" indent="0">
                  <a:buNone/>
                </a:pPr>
                <a:r>
                  <a:rPr lang="en-US" sz="1800" dirty="0"/>
                  <a:t>Hungarian born, </a:t>
                </a:r>
                <a:r>
                  <a:rPr lang="en-US" sz="1800" dirty="0">
                    <a:hlinkClick r:id="rId5"/>
                  </a:rPr>
                  <a:t>Paul Erdős </a:t>
                </a:r>
                <a:r>
                  <a:rPr lang="en-US" sz="1800" dirty="0"/>
                  <a:t>was one of the 20</a:t>
                </a:r>
                <a:r>
                  <a:rPr lang="en-US" sz="1800" baseline="30000" dirty="0"/>
                  <a:t>th</a:t>
                </a:r>
                <a:r>
                  <a:rPr lang="en-US" sz="1800" dirty="0"/>
                  <a:t> Century’s most creative mathematicians, (co)authoring over 500 papers. The highly eccentric Erdős lived most of his life as an itinerant, never holding a permanent position, and couch surfing in the homes of his many notable coauthors.   </a:t>
                </a:r>
              </a:p>
              <a:p>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AE494F8E-CC87-866C-400D-E3AE659E241B}"/>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6"/>
                <a:stretch>
                  <a:fillRect l="-1159" t="-1790" r="-754"/>
                </a:stretch>
              </a:blipFill>
            </p:spPr>
            <p:txBody>
              <a:bodyPr/>
              <a:lstStyle/>
              <a:p>
                <a:r>
                  <a:rPr lang="en-US">
                    <a:noFill/>
                  </a:rPr>
                  <a:t> </a:t>
                </a:r>
              </a:p>
            </p:txBody>
          </p:sp>
        </mc:Fallback>
      </mc:AlternateContent>
    </p:spTree>
    <p:extLst>
      <p:ext uri="{BB962C8B-B14F-4D97-AF65-F5344CB8AC3E}">
        <p14:creationId xmlns:p14="http://schemas.microsoft.com/office/powerpoint/2010/main" val="415776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FE117-92C1-AD8D-8F0F-9919DD432D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8E80E2-1F97-6B49-DE12-B6C0610355A4}"/>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65524CE-2D50-B763-B942-9E6B3CAB3EBC}"/>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2"/>
                  </a:rPr>
                  <a:t>Erdős–Rényi (1959) </a:t>
                </a:r>
                <a:r>
                  <a:rPr lang="en-US" dirty="0"/>
                  <a:t>model</a:t>
                </a:r>
              </a:p>
              <a:p>
                <a:pPr lvl="1"/>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As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2</m:t>
                        </m:r>
                      </m:den>
                    </m:f>
                  </m:oMath>
                </a14:m>
                <a:r>
                  <a:rPr lang="en-US" dirty="0"/>
                  <a:t> the graph becomes fully connected</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3"/>
                  </a:rPr>
                  <a:t>Gilbert (1959)</a:t>
                </a:r>
                <a:endParaRPr lang="en-US" dirty="0"/>
              </a:p>
              <a:p>
                <a:pPr lvl="1"/>
                <a:r>
                  <a:rPr lang="en-US" dirty="0"/>
                  <a:t>The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pPr lvl="1"/>
                <a:r>
                  <a:rPr lang="en-US" dirty="0"/>
                  <a:t>As </a:t>
                </a:r>
                <a14:m>
                  <m:oMath xmlns:m="http://schemas.openxmlformats.org/officeDocument/2006/math">
                    <m:r>
                      <m:rPr>
                        <m:sty m:val="p"/>
                      </m:rPr>
                      <a:rPr lang="en-US" b="0" i="0" smtClean="0">
                        <a:latin typeface="Cambria Math" panose="02040503050406030204" pitchFamily="18" charset="0"/>
                        <a:ea typeface="Cambria Math" panose="02040503050406030204" pitchFamily="18" charset="0"/>
                      </a:rPr>
                      <m:t>p</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1.0</m:t>
                    </m:r>
                  </m:oMath>
                </a14:m>
                <a:r>
                  <a:rPr lang="en-US" dirty="0"/>
                  <a:t> the graph becomes fully connected</a:t>
                </a:r>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6F0F358C-32D2-8FFC-BF50-4210E9E7A28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4"/>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694720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F192F-2DE2-7CCF-6C23-2AF9A9ECD9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B319A-96DB-A351-F40E-742395A3A856}"/>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25C84D6-73B5-EA1A-91F3-CFB748C9E308}"/>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a:t>
                </a:r>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r>
                  <a:rPr lang="en-US" dirty="0"/>
                  <a:t>Limitations of these models</a:t>
                </a:r>
              </a:p>
              <a:p>
                <a:pPr lvl="1"/>
                <a:r>
                  <a:rPr lang="en-US" dirty="0"/>
                  <a:t>Theory is based on very large (infinite sized) graphs, so does not always translate to small graphs   </a:t>
                </a:r>
              </a:p>
              <a:p>
                <a:pPr lvl="1"/>
                <a:r>
                  <a:rPr lang="en-US" dirty="0"/>
                  <a:t>Small graphs are closer to fully connected  </a:t>
                </a:r>
              </a:p>
              <a:p>
                <a:pPr marL="457200" lvl="1" indent="0">
                  <a:buNone/>
                </a:pPr>
                <a:endParaRPr lang="en-US" dirty="0"/>
              </a:p>
              <a:p>
                <a:pPr marL="457200" lvl="1" indent="0">
                  <a:buNone/>
                </a:pPr>
                <a:r>
                  <a:rPr lang="en-US" dirty="0"/>
                  <a:t>Note: </a:t>
                </a:r>
                <a:r>
                  <a:rPr lang="en-US" dirty="0" err="1"/>
                  <a:t>NetworkX</a:t>
                </a:r>
                <a:r>
                  <a:rPr lang="en-US" dirty="0"/>
                  <a:t> does not support random graph generation with disconnected components  </a:t>
                </a:r>
              </a:p>
              <a:p>
                <a:pPr lvl="1"/>
                <a:endParaRPr lang="en-US" dirty="0"/>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F25C84D6-73B5-EA1A-91F3-CFB748C9E30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r="-232"/>
                </a:stretch>
              </a:blipFill>
            </p:spPr>
            <p:txBody>
              <a:bodyPr/>
              <a:lstStyle/>
              <a:p>
                <a:r>
                  <a:rPr lang="en-US">
                    <a:noFill/>
                  </a:rPr>
                  <a:t> </a:t>
                </a:r>
              </a:p>
            </p:txBody>
          </p:sp>
        </mc:Fallback>
      </mc:AlternateContent>
    </p:spTree>
    <p:extLst>
      <p:ext uri="{BB962C8B-B14F-4D97-AF65-F5344CB8AC3E}">
        <p14:creationId xmlns:p14="http://schemas.microsoft.com/office/powerpoint/2010/main" val="1694503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28237-F59E-69E3-6408-03BF55F852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F615E6-CB83-AB71-58A1-6269D3304B63}"/>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BC5044-020C-A5D3-1289-E2FDCAE81DE1}"/>
                  </a:ext>
                </a:extLst>
              </p:cNvPr>
              <p:cNvSpPr>
                <a:spLocks noGrp="1"/>
              </p:cNvSpPr>
              <p:nvPr>
                <p:ph idx="1"/>
              </p:nvPr>
            </p:nvSpPr>
            <p:spPr>
              <a:xfrm>
                <a:off x="775446" y="1208867"/>
                <a:ext cx="5087471" cy="5231051"/>
              </a:xfrm>
            </p:spPr>
            <p:txBody>
              <a:bodyPr>
                <a:normAutofit/>
              </a:bodyPr>
              <a:lstStyle/>
              <a:p>
                <a:pPr marL="0" indent="0">
                  <a:buNone/>
                </a:pPr>
                <a:r>
                  <a:rPr lang="en-US" dirty="0"/>
                  <a:t>Examples of random graphs</a:t>
                </a:r>
              </a:p>
              <a:p>
                <a:r>
                  <a:rPr lang="en-US" dirty="0"/>
                  <a:t>As number of edges increase random graph approaches fully connected:</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12(12−1)</m:t>
                          </m:r>
                        </m:num>
                        <m:den>
                          <m:r>
                            <a:rPr lang="en-US" b="0" i="1" smtClean="0">
                              <a:latin typeface="Cambria Math" panose="02040503050406030204" pitchFamily="18" charset="0"/>
                            </a:rPr>
                            <m:t>2</m:t>
                          </m:r>
                        </m:den>
                      </m:f>
                      <m:r>
                        <a:rPr lang="en-US" b="0" i="1" smtClean="0">
                          <a:latin typeface="Cambria Math" panose="02040503050406030204" pitchFamily="18" charset="0"/>
                        </a:rPr>
                        <m:t>=66 </m:t>
                      </m:r>
                      <m:r>
                        <a:rPr lang="en-US" b="0" i="1" smtClean="0">
                          <a:latin typeface="Cambria Math" panose="02040503050406030204" pitchFamily="18" charset="0"/>
                        </a:rPr>
                        <m:t>𝑒𝑑𝑔𝑒𝑠</m:t>
                      </m:r>
                    </m:oMath>
                  </m:oMathPara>
                </a14:m>
                <a:endParaRPr lang="en-US" dirty="0"/>
              </a:p>
              <a:p>
                <a:r>
                  <a:rPr lang="en-US" dirty="0"/>
                  <a:t>Increasing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oMath>
                </a14:m>
                <a:r>
                  <a:rPr lang="en-US" dirty="0"/>
                  <a:t> clustering coefficients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endParaRPr lang="en-US" dirty="0"/>
              </a:p>
              <a:p>
                <a:r>
                  <a:rPr lang="en-US" dirty="0"/>
                  <a:t>Increasing </a:t>
                </a:r>
                <a14:m>
                  <m:oMath xmlns:m="http://schemas.openxmlformats.org/officeDocument/2006/math">
                    <m:r>
                      <a:rPr lang="en-US" i="1">
                        <a:latin typeface="Cambria Math" panose="02040503050406030204" pitchFamily="18" charset="0"/>
                      </a:rPr>
                      <m:t>𝑚</m:t>
                    </m:r>
                    <m:r>
                      <a:rPr lang="en-US" i="1">
                        <a:latin typeface="Cambria Math" panose="02040503050406030204" pitchFamily="18" charset="0"/>
                        <a:ea typeface="Cambria Math" panose="02040503050406030204" pitchFamily="18" charset="0"/>
                      </a:rPr>
                      <m:t>→</m:t>
                    </m:r>
                  </m:oMath>
                </a14:m>
                <a:r>
                  <a:rPr lang="en-US" dirty="0"/>
                  <a:t> average distance </a:t>
                </a:r>
                <a14:m>
                  <m:oMath xmlns:m="http://schemas.openxmlformats.org/officeDocument/2006/math">
                    <m:r>
                      <a:rPr lang="en-US" i="1">
                        <a:latin typeface="Cambria Math" panose="02040503050406030204" pitchFamily="18" charset="0"/>
                        <a:ea typeface="Cambria Math" panose="02040503050406030204" pitchFamily="18" charset="0"/>
                      </a:rPr>
                      <m:t>→1</m:t>
                    </m:r>
                  </m:oMath>
                </a14:m>
                <a:endParaRPr lang="en-US" dirty="0"/>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4EBC5044-020C-A5D3-1289-E2FDCAE81DE1}"/>
                  </a:ext>
                </a:extLst>
              </p:cNvPr>
              <p:cNvSpPr>
                <a:spLocks noGrp="1" noRot="1" noChangeAspect="1" noMove="1" noResize="1" noEditPoints="1" noAdjustHandles="1" noChangeArrowheads="1" noChangeShapeType="1" noTextEdit="1"/>
              </p:cNvSpPr>
              <p:nvPr>
                <p:ph idx="1"/>
              </p:nvPr>
            </p:nvSpPr>
            <p:spPr>
              <a:xfrm>
                <a:off x="775446" y="1208867"/>
                <a:ext cx="5087471" cy="5231051"/>
              </a:xfrm>
              <a:blipFill>
                <a:blip r:embed="rId2"/>
                <a:stretch>
                  <a:fillRect l="-2395" t="-1865" r="-59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B229452-AD8E-AA6C-A5B8-B1A397276B4D}"/>
              </a:ext>
            </a:extLst>
          </p:cNvPr>
          <p:cNvPicPr>
            <a:picLocks noChangeAspect="1"/>
          </p:cNvPicPr>
          <p:nvPr/>
        </p:nvPicPr>
        <p:blipFill>
          <a:blip r:embed="rId3"/>
          <a:stretch>
            <a:fillRect/>
          </a:stretch>
        </p:blipFill>
        <p:spPr>
          <a:xfrm>
            <a:off x="6032432" y="307961"/>
            <a:ext cx="6032048" cy="6403345"/>
          </a:xfrm>
          <a:prstGeom prst="rect">
            <a:avLst/>
          </a:prstGeom>
        </p:spPr>
      </p:pic>
    </p:spTree>
    <p:extLst>
      <p:ext uri="{BB962C8B-B14F-4D97-AF65-F5344CB8AC3E}">
        <p14:creationId xmlns:p14="http://schemas.microsoft.com/office/powerpoint/2010/main" val="1720961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278D0-4AAD-A687-ADDC-86CBF305FE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F2A7EB-F557-FD7D-A6A1-065798833F5B}"/>
              </a:ext>
            </a:extLst>
          </p:cNvPr>
          <p:cNvSpPr>
            <a:spLocks noGrp="1"/>
          </p:cNvSpPr>
          <p:nvPr>
            <p:ph type="title"/>
          </p:nvPr>
        </p:nvSpPr>
        <p:spPr>
          <a:xfrm>
            <a:off x="831850" y="1709738"/>
            <a:ext cx="10515600" cy="2282271"/>
          </a:xfrm>
        </p:spPr>
        <p:txBody>
          <a:bodyPr/>
          <a:lstStyle/>
          <a:p>
            <a:pPr algn="ctr"/>
            <a:r>
              <a:rPr lang="en-US" dirty="0"/>
              <a:t>Introduction to Social Networks</a:t>
            </a:r>
          </a:p>
        </p:txBody>
      </p:sp>
    </p:spTree>
    <p:extLst>
      <p:ext uri="{BB962C8B-B14F-4D97-AF65-F5344CB8AC3E}">
        <p14:creationId xmlns:p14="http://schemas.microsoft.com/office/powerpoint/2010/main" val="1545437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71F48-CF82-1F12-BC91-229495030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56BE71-70B2-C447-3FBA-C5515884DEC9}"/>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4CCD4814-99D4-EBB0-C7A5-D489A979D4BC}"/>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appear in many forms </a:t>
            </a:r>
          </a:p>
          <a:p>
            <a:r>
              <a:rPr lang="en-US" dirty="0"/>
              <a:t>Online social media  </a:t>
            </a:r>
          </a:p>
          <a:p>
            <a:r>
              <a:rPr lang="en-US" dirty="0"/>
              <a:t>Networks of collaborating people</a:t>
            </a:r>
          </a:p>
          <a:p>
            <a:r>
              <a:rPr lang="en-US" dirty="0"/>
              <a:t>People in clubs   </a:t>
            </a:r>
          </a:p>
          <a:p>
            <a:r>
              <a:rPr lang="en-US" dirty="0"/>
              <a:t>Political and business organizations  </a:t>
            </a:r>
          </a:p>
          <a:p>
            <a:r>
              <a:rPr lang="en-US" dirty="0"/>
              <a:t>Organisms in an ecosystem</a:t>
            </a:r>
          </a:p>
          <a:p>
            <a:r>
              <a:rPr lang="en-US" dirty="0"/>
              <a:t>Citations in research papers   </a:t>
            </a:r>
          </a:p>
          <a:p>
            <a:r>
              <a:rPr lang="en-US" b="1" dirty="0"/>
              <a:t>Many more …</a:t>
            </a:r>
          </a:p>
          <a:p>
            <a:endParaRPr lang="en-US" dirty="0"/>
          </a:p>
          <a:p>
            <a:endParaRPr lang="en-US" dirty="0"/>
          </a:p>
        </p:txBody>
      </p:sp>
    </p:spTree>
    <p:extLst>
      <p:ext uri="{BB962C8B-B14F-4D97-AF65-F5344CB8AC3E}">
        <p14:creationId xmlns:p14="http://schemas.microsoft.com/office/powerpoint/2010/main" val="313575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5661516" cy="5526858"/>
          </a:xfrm>
        </p:spPr>
        <p:txBody>
          <a:bodyPr>
            <a:normAutofit fontScale="92500" lnSpcReduction="20000"/>
          </a:bodyPr>
          <a:lstStyle/>
          <a:p>
            <a:pPr marL="0" indent="0">
              <a:buNone/>
            </a:pPr>
            <a:r>
              <a:rPr lang="en-US" dirty="0"/>
              <a:t>Social networks appear in many forms </a:t>
            </a:r>
          </a:p>
          <a:p>
            <a:r>
              <a:rPr lang="en-US" dirty="0"/>
              <a:t>Example: small network of co-authorship of scientific papers   </a:t>
            </a:r>
          </a:p>
          <a:p>
            <a:r>
              <a:rPr lang="en-US" dirty="0"/>
              <a:t>Relationships represented by </a:t>
            </a:r>
            <a:r>
              <a:rPr lang="en-US" b="1" dirty="0"/>
              <a:t>undirected graph </a:t>
            </a:r>
          </a:p>
          <a:p>
            <a:r>
              <a:rPr lang="en-US" dirty="0"/>
              <a:t>Relationship </a:t>
            </a:r>
            <a:r>
              <a:rPr lang="en-US" b="1" dirty="0"/>
              <a:t>communities</a:t>
            </a:r>
            <a:r>
              <a:rPr lang="en-US" dirty="0"/>
              <a:t> organize along discipline lines</a:t>
            </a:r>
          </a:p>
          <a:p>
            <a:pPr lvl="1"/>
            <a:r>
              <a:rPr lang="en-US" dirty="0"/>
              <a:t>Some community members are </a:t>
            </a:r>
            <a:r>
              <a:rPr lang="en-US" b="1" dirty="0"/>
              <a:t>strongly connected </a:t>
            </a:r>
          </a:p>
          <a:p>
            <a:pPr lvl="1"/>
            <a:r>
              <a:rPr lang="en-US" dirty="0"/>
              <a:t>Strongly connected members are said to be </a:t>
            </a:r>
            <a:r>
              <a:rPr lang="en-US" b="1" dirty="0"/>
              <a:t>influential </a:t>
            </a:r>
          </a:p>
          <a:p>
            <a:r>
              <a:rPr lang="en-US" dirty="0"/>
              <a:t>Few connections between communities</a:t>
            </a:r>
          </a:p>
          <a:p>
            <a:pPr marL="0" indent="0">
              <a:buNone/>
            </a:pPr>
            <a:endParaRPr lang="en-US" dirty="0"/>
          </a:p>
          <a:p>
            <a:pPr marL="0" indent="0">
              <a:buNone/>
            </a:pPr>
            <a:r>
              <a:rPr lang="en-US" sz="2000" dirty="0">
                <a:hlinkClick r:id="rId2"/>
              </a:rPr>
              <a:t>Credit: Neman, 2004, Proceedings of the National Academy of Sciences</a:t>
            </a:r>
            <a:endParaRPr lang="en-US" sz="2000" dirty="0"/>
          </a:p>
          <a:p>
            <a:endParaRPr lang="en-US" dirty="0"/>
          </a:p>
          <a:p>
            <a:endParaRPr lang="en-US" dirty="0"/>
          </a:p>
        </p:txBody>
      </p:sp>
      <p:pic>
        <p:nvPicPr>
          <p:cNvPr id="5" name="Picture 4">
            <a:extLst>
              <a:ext uri="{FF2B5EF4-FFF2-40B4-BE49-F238E27FC236}">
                <a16:creationId xmlns:a16="http://schemas.microsoft.com/office/drawing/2014/main" id="{B7303829-900A-40AC-89F5-A8ED8F2FF8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4233" y="1048855"/>
            <a:ext cx="4976640" cy="5449186"/>
          </a:xfrm>
          <a:prstGeom prst="rect">
            <a:avLst/>
          </a:prstGeom>
        </p:spPr>
      </p:pic>
    </p:spTree>
    <p:extLst>
      <p:ext uri="{BB962C8B-B14F-4D97-AF65-F5344CB8AC3E}">
        <p14:creationId xmlns:p14="http://schemas.microsoft.com/office/powerpoint/2010/main" val="423784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Example: Association network of Bottlenose Dolphins at Port Stephens NSW Australia </a:t>
            </a:r>
          </a:p>
          <a:p>
            <a:pPr lvl="1"/>
            <a:r>
              <a:rPr lang="en-US" dirty="0"/>
              <a:t>Square = western population</a:t>
            </a:r>
          </a:p>
          <a:p>
            <a:pPr lvl="1"/>
            <a:r>
              <a:rPr lang="en-US" dirty="0"/>
              <a:t>Circle = eastern population</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9289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Undirected </a:t>
            </a:r>
            <a:r>
              <a:rPr lang="en-US" b="1" dirty="0"/>
              <a:t>weighted graph </a:t>
            </a:r>
            <a:r>
              <a:rPr lang="en-US" dirty="0"/>
              <a:t>represents relationships between dolphins</a:t>
            </a:r>
          </a:p>
          <a:p>
            <a:pPr lvl="1"/>
            <a:r>
              <a:rPr lang="en-US" dirty="0"/>
              <a:t>Strength of relationship represented by edge weights  </a:t>
            </a:r>
          </a:p>
          <a:p>
            <a:r>
              <a:rPr lang="en-US" dirty="0"/>
              <a:t>Communities in </a:t>
            </a:r>
            <a:r>
              <a:rPr lang="en-US" b="1" dirty="0"/>
              <a:t>isolated graph components </a:t>
            </a:r>
          </a:p>
          <a:p>
            <a:pPr lvl="1"/>
            <a:r>
              <a:rPr lang="en-US" dirty="0"/>
              <a:t>Some sub-components within communities are weekly connected</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8707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Title 1">
            <a:extLst>
              <a:ext uri="{FF2B5EF4-FFF2-40B4-BE49-F238E27FC236}">
                <a16:creationId xmlns:a16="http://schemas.microsoft.com/office/drawing/2014/main" id="{2EF7E482-DDF6-42BD-B5C5-66DB77A3AB7B}"/>
              </a:ext>
            </a:extLst>
          </p:cNvPr>
          <p:cNvSpPr txBox="1">
            <a:spLocks/>
          </p:cNvSpPr>
          <p:nvPr/>
        </p:nvSpPr>
        <p:spPr>
          <a:xfrm>
            <a:off x="458605" y="331471"/>
            <a:ext cx="11525250" cy="580268"/>
          </a:xfrm>
          <a:prstGeom prst="rect">
            <a:avLst/>
          </a:prstGeom>
        </p:spPr>
        <p:txBody>
          <a:bodyP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latin typeface="Segoe"/>
              </a:rPr>
              <a:t>Example of Network of Published Research Literature</a:t>
            </a:r>
          </a:p>
        </p:txBody>
      </p:sp>
      <p:sp>
        <p:nvSpPr>
          <p:cNvPr id="5" name="TextBox 4">
            <a:extLst>
              <a:ext uri="{FF2B5EF4-FFF2-40B4-BE49-F238E27FC236}">
                <a16:creationId xmlns:a16="http://schemas.microsoft.com/office/drawing/2014/main" id="{65663FFD-8C7F-449D-9139-3FFC72D683F2}"/>
              </a:ext>
            </a:extLst>
          </p:cNvPr>
          <p:cNvSpPr txBox="1"/>
          <p:nvPr/>
        </p:nvSpPr>
        <p:spPr>
          <a:xfrm>
            <a:off x="458605" y="1511603"/>
            <a:ext cx="3898935" cy="4524315"/>
          </a:xfrm>
          <a:prstGeom prst="rect">
            <a:avLst/>
          </a:prstGeom>
          <a:noFill/>
        </p:spPr>
        <p:txBody>
          <a:bodyPr wrap="square" rtlCol="0">
            <a:spAutoFit/>
          </a:bodyPr>
          <a:lstStyle/>
          <a:p>
            <a:r>
              <a:rPr lang="en-US" sz="2400" dirty="0"/>
              <a:t>Continued advances in the YOLO family of real-time object detectors has created a tangle of models and published literature! </a:t>
            </a:r>
          </a:p>
          <a:p>
            <a:pPr marL="457200" indent="-457200">
              <a:buFont typeface="Arial" panose="020B0604020202020204" pitchFamily="34" charset="0"/>
              <a:buChar char="•"/>
            </a:pPr>
            <a:r>
              <a:rPr lang="en-US" sz="2400" dirty="0"/>
              <a:t>Citation network created with </a:t>
            </a:r>
            <a:r>
              <a:rPr lang="en-US" sz="2400" dirty="0">
                <a:hlinkClick r:id="rId2"/>
              </a:rPr>
              <a:t>Scopus</a:t>
            </a:r>
            <a:endParaRPr lang="en-US" sz="2400" dirty="0"/>
          </a:p>
          <a:p>
            <a:pPr marL="457200" indent="-457200">
              <a:buFont typeface="Arial" panose="020B0604020202020204" pitchFamily="34" charset="0"/>
              <a:buChar char="•"/>
            </a:pPr>
            <a:r>
              <a:rPr lang="en-US" sz="2400" dirty="0"/>
              <a:t>Only a few papers are highly influential </a:t>
            </a:r>
          </a:p>
          <a:p>
            <a:pPr marL="457200" indent="-457200">
              <a:buFont typeface="Arial" panose="020B0604020202020204" pitchFamily="34" charset="0"/>
              <a:buChar char="•"/>
            </a:pPr>
            <a:r>
              <a:rPr lang="en-US" sz="2400" dirty="0"/>
              <a:t>From YOLO Architecture review paper, </a:t>
            </a:r>
            <a:r>
              <a:rPr lang="en-US" sz="2400" dirty="0" err="1">
                <a:hlinkClick r:id="rId3"/>
              </a:rPr>
              <a:t>Terven</a:t>
            </a:r>
            <a:r>
              <a:rPr lang="en-US" sz="2400" dirty="0">
                <a:hlinkClick r:id="rId3"/>
              </a:rPr>
              <a:t> and Cordova-Esparza, 2024 </a:t>
            </a:r>
            <a:endParaRPr lang="en-US" sz="2400" dirty="0"/>
          </a:p>
        </p:txBody>
      </p:sp>
      <p:pic>
        <p:nvPicPr>
          <p:cNvPr id="3" name="Picture 2">
            <a:extLst>
              <a:ext uri="{FF2B5EF4-FFF2-40B4-BE49-F238E27FC236}">
                <a16:creationId xmlns:a16="http://schemas.microsoft.com/office/drawing/2014/main" id="{44BB2A3E-EF36-3901-6655-52285B1B49F6}"/>
              </a:ext>
            </a:extLst>
          </p:cNvPr>
          <p:cNvPicPr>
            <a:picLocks noChangeAspect="1"/>
          </p:cNvPicPr>
          <p:nvPr/>
        </p:nvPicPr>
        <p:blipFill>
          <a:blip r:embed="rId4"/>
          <a:stretch>
            <a:fillRect/>
          </a:stretch>
        </p:blipFill>
        <p:spPr>
          <a:xfrm>
            <a:off x="4465817" y="1120390"/>
            <a:ext cx="7726183" cy="5566787"/>
          </a:xfrm>
          <a:prstGeom prst="rect">
            <a:avLst/>
          </a:prstGeom>
        </p:spPr>
      </p:pic>
    </p:spTree>
    <p:extLst>
      <p:ext uri="{BB962C8B-B14F-4D97-AF65-F5344CB8AC3E}">
        <p14:creationId xmlns:p14="http://schemas.microsoft.com/office/powerpoint/2010/main" val="253454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Analysis to determine </a:t>
            </a:r>
            <a:r>
              <a:rPr lang="en-US" b="1" dirty="0"/>
              <a:t>community structure</a:t>
            </a:r>
            <a:r>
              <a:rPr lang="en-US" dirty="0"/>
              <a:t> in networks </a:t>
            </a:r>
          </a:p>
          <a:p>
            <a:r>
              <a:rPr lang="en-US" dirty="0"/>
              <a:t>Discover regions of dense connections in the network, </a:t>
            </a:r>
            <a:r>
              <a:rPr lang="en-US" b="1" dirty="0"/>
              <a:t>cores</a:t>
            </a:r>
            <a:r>
              <a:rPr lang="en-US" dirty="0"/>
              <a:t> </a:t>
            </a:r>
          </a:p>
          <a:p>
            <a:r>
              <a:rPr lang="en-US" dirty="0"/>
              <a:t>Discover and </a:t>
            </a:r>
            <a:r>
              <a:rPr lang="en-US" b="1" dirty="0"/>
              <a:t>partition distinct communities </a:t>
            </a:r>
            <a:r>
              <a:rPr lang="en-US" dirty="0"/>
              <a:t>within the networks</a:t>
            </a:r>
          </a:p>
          <a:p>
            <a:r>
              <a:rPr lang="en-US" dirty="0"/>
              <a:t>Find </a:t>
            </a:r>
            <a:r>
              <a:rPr lang="en-US" b="1" dirty="0"/>
              <a:t>highly influential nodes </a:t>
            </a:r>
            <a:r>
              <a:rPr lang="en-US" dirty="0"/>
              <a:t>in the network</a:t>
            </a:r>
          </a:p>
          <a:p>
            <a:r>
              <a:rPr lang="en-US" dirty="0"/>
              <a:t>Community analysis is largely </a:t>
            </a:r>
            <a:r>
              <a:rPr lang="en-US" b="1" dirty="0"/>
              <a:t>unsupervised learning</a:t>
            </a:r>
          </a:p>
          <a:p>
            <a:pPr lvl="1"/>
            <a:r>
              <a:rPr lang="en-US" dirty="0"/>
              <a:t>Rarely know ground truth</a:t>
            </a:r>
          </a:p>
          <a:p>
            <a:pPr lvl="1"/>
            <a:r>
              <a:rPr lang="en-US" dirty="0"/>
              <a:t>Often requires some judgement or domain knowledge </a:t>
            </a:r>
          </a:p>
          <a:p>
            <a:pPr lvl="1"/>
            <a:r>
              <a:rPr lang="en-US" dirty="0"/>
              <a:t>Different models can provide different views and insights </a:t>
            </a:r>
          </a:p>
          <a:p>
            <a:endParaRPr lang="en-US" dirty="0"/>
          </a:p>
          <a:p>
            <a:endParaRPr lang="en-US" dirty="0"/>
          </a:p>
        </p:txBody>
      </p:sp>
    </p:spTree>
    <p:extLst>
      <p:ext uri="{BB962C8B-B14F-4D97-AF65-F5344CB8AC3E}">
        <p14:creationId xmlns:p14="http://schemas.microsoft.com/office/powerpoint/2010/main" val="1914518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Social networks can be partitioned into </a:t>
            </a:r>
            <a:r>
              <a:rPr lang="en-US" b="1" dirty="0"/>
              <a:t>communities</a:t>
            </a:r>
            <a:endParaRPr lang="en-US" dirty="0"/>
          </a:p>
          <a:p>
            <a:r>
              <a:rPr lang="en-US" dirty="0"/>
              <a:t>Communities are </a:t>
            </a:r>
            <a:r>
              <a:rPr lang="en-US" b="1" dirty="0"/>
              <a:t>assortative</a:t>
            </a:r>
          </a:p>
          <a:p>
            <a:pPr lvl="1"/>
            <a:r>
              <a:rPr lang="en-US" b="1" dirty="0"/>
              <a:t>Homophily</a:t>
            </a:r>
            <a:r>
              <a:rPr lang="en-US" dirty="0"/>
              <a:t> is tendency of similar entries to interact in a social network</a:t>
            </a:r>
          </a:p>
          <a:p>
            <a:pPr lvl="1"/>
            <a:r>
              <a:rPr lang="en-US" dirty="0"/>
              <a:t>Homophily leads to </a:t>
            </a:r>
            <a:r>
              <a:rPr lang="en-US" b="1" dirty="0"/>
              <a:t>stronger connections within communities</a:t>
            </a:r>
          </a:p>
          <a:p>
            <a:r>
              <a:rPr lang="en-US" dirty="0"/>
              <a:t>Communities have stronger (denser) connections between nodes</a:t>
            </a:r>
          </a:p>
          <a:p>
            <a:pPr lvl="1"/>
            <a:r>
              <a:rPr lang="en-US" dirty="0"/>
              <a:t>Weaker (fewer) connections between nodes of different communities </a:t>
            </a:r>
          </a:p>
          <a:p>
            <a:pPr lvl="1"/>
            <a:r>
              <a:rPr lang="en-US" dirty="0"/>
              <a:t>Nodes in the </a:t>
            </a:r>
            <a:r>
              <a:rPr lang="en-US" b="1" dirty="0"/>
              <a:t>core components </a:t>
            </a:r>
            <a:r>
              <a:rPr lang="en-US" dirty="0"/>
              <a:t>of communities have strongest connection</a:t>
            </a:r>
          </a:p>
          <a:p>
            <a:endParaRPr lang="en-US" dirty="0"/>
          </a:p>
          <a:p>
            <a:endParaRPr lang="en-US" dirty="0"/>
          </a:p>
        </p:txBody>
      </p:sp>
    </p:spTree>
    <p:extLst>
      <p:ext uri="{BB962C8B-B14F-4D97-AF65-F5344CB8AC3E}">
        <p14:creationId xmlns:p14="http://schemas.microsoft.com/office/powerpoint/2010/main" val="204664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Most social networks are </a:t>
            </a:r>
            <a:r>
              <a:rPr lang="en-US" b="1" dirty="0"/>
              <a:t>undirected</a:t>
            </a:r>
            <a:r>
              <a:rPr lang="en-US" dirty="0"/>
              <a:t>    </a:t>
            </a:r>
          </a:p>
          <a:p>
            <a:pPr lvl="1"/>
            <a:r>
              <a:rPr lang="en-US" dirty="0"/>
              <a:t>Friends know each other   </a:t>
            </a:r>
          </a:p>
          <a:p>
            <a:pPr lvl="1"/>
            <a:r>
              <a:rPr lang="en-US" dirty="0"/>
              <a:t>Work colleagues know each other  </a:t>
            </a:r>
          </a:p>
          <a:p>
            <a:pPr lvl="1"/>
            <a:r>
              <a:rPr lang="en-US" dirty="0"/>
              <a:t>Members of a small club have a high number of mutual connections  </a:t>
            </a:r>
          </a:p>
          <a:p>
            <a:r>
              <a:rPr lang="en-US" dirty="0"/>
              <a:t>But, some social networks are </a:t>
            </a:r>
            <a:r>
              <a:rPr lang="en-US" b="1" dirty="0"/>
              <a:t>directed</a:t>
            </a:r>
            <a:r>
              <a:rPr lang="en-US" dirty="0"/>
              <a:t>    </a:t>
            </a:r>
          </a:p>
          <a:p>
            <a:pPr lvl="1"/>
            <a:r>
              <a:rPr lang="en-US" dirty="0"/>
              <a:t>I can follow someone on X, but they need not follow me    </a:t>
            </a:r>
          </a:p>
          <a:p>
            <a:pPr lvl="1"/>
            <a:r>
              <a:rPr lang="en-US" dirty="0"/>
              <a:t>Organisms in an environment have asymmetric relationship, e.g. predator-prey  </a:t>
            </a:r>
          </a:p>
          <a:p>
            <a:r>
              <a:rPr lang="en-US" dirty="0"/>
              <a:t>We focus on undirected social networks here  </a:t>
            </a:r>
          </a:p>
          <a:p>
            <a:endParaRPr lang="en-US" dirty="0"/>
          </a:p>
          <a:p>
            <a:endParaRPr lang="en-US" dirty="0"/>
          </a:p>
        </p:txBody>
      </p:sp>
    </p:spTree>
    <p:extLst>
      <p:ext uri="{BB962C8B-B14F-4D97-AF65-F5344CB8AC3E}">
        <p14:creationId xmlns:p14="http://schemas.microsoft.com/office/powerpoint/2010/main" val="473746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Kratz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modularity decomposition</a:t>
            </a:r>
          </a:p>
          <a:p>
            <a:endParaRPr lang="en-US" dirty="0"/>
          </a:p>
          <a:p>
            <a:endParaRPr lang="en-US" dirty="0"/>
          </a:p>
        </p:txBody>
      </p:sp>
    </p:spTree>
    <p:extLst>
      <p:ext uri="{BB962C8B-B14F-4D97-AF65-F5344CB8AC3E}">
        <p14:creationId xmlns:p14="http://schemas.microsoft.com/office/powerpoint/2010/main" val="4287135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Pitfalls in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Unsupervised learning of community structure has pitfalls </a:t>
            </a:r>
          </a:p>
          <a:p>
            <a:r>
              <a:rPr lang="en-US" dirty="0"/>
              <a:t>No hard definitions or thresholds</a:t>
            </a:r>
          </a:p>
          <a:p>
            <a:pPr lvl="1"/>
            <a:r>
              <a:rPr lang="en-US" dirty="0"/>
              <a:t>How can you define dense connections? </a:t>
            </a:r>
          </a:p>
          <a:p>
            <a:pPr lvl="1"/>
            <a:r>
              <a:rPr lang="en-US" dirty="0"/>
              <a:t>How dense is a core? </a:t>
            </a:r>
          </a:p>
          <a:p>
            <a:r>
              <a:rPr lang="en-US" dirty="0"/>
              <a:t>How many communities are there? </a:t>
            </a:r>
          </a:p>
          <a:p>
            <a:pPr lvl="1"/>
            <a:r>
              <a:rPr lang="en-US" dirty="0"/>
              <a:t>Communities may have </a:t>
            </a:r>
            <a:r>
              <a:rPr lang="en-US" b="1" dirty="0"/>
              <a:t>subcommunities</a:t>
            </a:r>
            <a:r>
              <a:rPr lang="en-US" dirty="0"/>
              <a:t>   </a:t>
            </a:r>
          </a:p>
          <a:p>
            <a:r>
              <a:rPr lang="en-US" dirty="0"/>
              <a:t>Communities may overlap – not independent or unique</a:t>
            </a:r>
          </a:p>
          <a:p>
            <a:pPr lvl="1"/>
            <a:r>
              <a:rPr lang="en-US" dirty="0"/>
              <a:t>Example: members of two clubs </a:t>
            </a:r>
          </a:p>
          <a:p>
            <a:pPr lvl="1"/>
            <a:r>
              <a:rPr lang="en-US" dirty="0"/>
              <a:t>Example: people in occupations and members of political parties</a:t>
            </a:r>
          </a:p>
          <a:p>
            <a:pPr lvl="1"/>
            <a:r>
              <a:rPr lang="en-US" dirty="0"/>
              <a:t>Effect of criminal network on victims   </a:t>
            </a:r>
          </a:p>
          <a:p>
            <a:r>
              <a:rPr lang="en-US" dirty="0"/>
              <a:t>Evaluation is never fully objective </a:t>
            </a:r>
          </a:p>
          <a:p>
            <a:endParaRPr lang="en-US" dirty="0"/>
          </a:p>
        </p:txBody>
      </p:sp>
    </p:spTree>
    <p:extLst>
      <p:ext uri="{BB962C8B-B14F-4D97-AF65-F5344CB8AC3E}">
        <p14:creationId xmlns:p14="http://schemas.microsoft.com/office/powerpoint/2010/main" val="2047908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E35-2CA5-69B2-BE9C-D5B150C049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E240C4-1845-926E-3746-8AA99FF5A95E}"/>
              </a:ext>
            </a:extLst>
          </p:cNvPr>
          <p:cNvSpPr>
            <a:spLocks noGrp="1"/>
          </p:cNvSpPr>
          <p:nvPr>
            <p:ph type="title"/>
          </p:nvPr>
        </p:nvSpPr>
        <p:spPr>
          <a:xfrm>
            <a:off x="831850" y="1709738"/>
            <a:ext cx="10515600" cy="2282271"/>
          </a:xfrm>
        </p:spPr>
        <p:txBody>
          <a:bodyPr/>
          <a:lstStyle/>
          <a:p>
            <a:pPr algn="ctr"/>
            <a:r>
              <a:rPr lang="en-US" dirty="0"/>
              <a:t>Communities in Networks</a:t>
            </a:r>
          </a:p>
        </p:txBody>
      </p:sp>
    </p:spTree>
    <p:extLst>
      <p:ext uri="{BB962C8B-B14F-4D97-AF65-F5344CB8AC3E}">
        <p14:creationId xmlns:p14="http://schemas.microsoft.com/office/powerpoint/2010/main" val="37978971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Communities are strongly connected </a:t>
            </a:r>
          </a:p>
          <a:p>
            <a:pPr lvl="1"/>
            <a:r>
              <a:rPr lang="en-US" dirty="0"/>
              <a:t>A random graph has uniform distribution of the edges </a:t>
            </a:r>
          </a:p>
          <a:p>
            <a:pPr lvl="1"/>
            <a:r>
              <a:rPr lang="en-US" dirty="0"/>
              <a:t>A graph of communities has regions of </a:t>
            </a:r>
            <a:r>
              <a:rPr lang="en-US" b="1" dirty="0"/>
              <a:t>dense connections  </a:t>
            </a:r>
          </a:p>
          <a:p>
            <a:pPr lvl="1"/>
            <a:r>
              <a:rPr lang="en-US" b="1" dirty="0"/>
              <a:t>Few connections </a:t>
            </a:r>
            <a:r>
              <a:rPr lang="en-US" dirty="0"/>
              <a:t>between communities</a:t>
            </a:r>
          </a:p>
          <a:p>
            <a:pPr lvl="1"/>
            <a:r>
              <a:rPr lang="en-US" dirty="0"/>
              <a:t>Core nodes are said to exhibit </a:t>
            </a:r>
            <a:r>
              <a:rPr lang="en-US" b="1" dirty="0"/>
              <a:t>high clustering</a:t>
            </a:r>
          </a:p>
          <a:p>
            <a:r>
              <a:rPr lang="en-US" dirty="0"/>
              <a:t>Communities are built around highly influential nodes </a:t>
            </a:r>
          </a:p>
          <a:p>
            <a:pPr lvl="1"/>
            <a:r>
              <a:rPr lang="en-US" b="1" dirty="0"/>
              <a:t>High centrality </a:t>
            </a:r>
            <a:r>
              <a:rPr lang="en-US" dirty="0"/>
              <a:t>nodes at the core of communities</a:t>
            </a:r>
          </a:p>
          <a:p>
            <a:pPr lvl="1"/>
            <a:r>
              <a:rPr lang="en-US" dirty="0"/>
              <a:t>Can use several measures of centrality  </a:t>
            </a:r>
          </a:p>
          <a:p>
            <a:pPr lvl="1"/>
            <a:r>
              <a:rPr lang="en-US" dirty="0"/>
              <a:t>Example; K-cores represent nodes at center of communities  </a:t>
            </a:r>
          </a:p>
          <a:p>
            <a:pPr lvl="1"/>
            <a:endParaRPr lang="en-US" dirty="0"/>
          </a:p>
          <a:p>
            <a:endParaRPr lang="en-US" dirty="0"/>
          </a:p>
          <a:p>
            <a:endParaRPr lang="en-US" dirty="0"/>
          </a:p>
          <a:p>
            <a:endParaRPr lang="en-US" dirty="0"/>
          </a:p>
        </p:txBody>
      </p:sp>
    </p:spTree>
    <p:extLst>
      <p:ext uri="{BB962C8B-B14F-4D97-AF65-F5344CB8AC3E}">
        <p14:creationId xmlns:p14="http://schemas.microsoft.com/office/powerpoint/2010/main" val="590577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Find highly connected nodes at center or core of communities </a:t>
            </a:r>
          </a:p>
          <a:p>
            <a:r>
              <a:rPr lang="en-US" dirty="0"/>
              <a:t>These highly connected nodes are </a:t>
            </a:r>
            <a:r>
              <a:rPr lang="en-US" b="1" dirty="0"/>
              <a:t>influential</a:t>
            </a:r>
            <a:r>
              <a:rPr lang="en-US" dirty="0"/>
              <a:t> in the community</a:t>
            </a:r>
          </a:p>
          <a:p>
            <a:r>
              <a:rPr lang="en-US" dirty="0"/>
              <a:t>Consider the spread of information in a social network </a:t>
            </a:r>
          </a:p>
          <a:p>
            <a:pPr lvl="1"/>
            <a:r>
              <a:rPr lang="en-US" dirty="0"/>
              <a:t>Messages with the information travel from node to node </a:t>
            </a:r>
          </a:p>
          <a:p>
            <a:pPr lvl="1"/>
            <a:r>
              <a:rPr lang="en-US" dirty="0"/>
              <a:t>Nodes with stronger connections to the community disseminate messages more effectively  </a:t>
            </a:r>
          </a:p>
          <a:p>
            <a:pPr lvl="1"/>
            <a:r>
              <a:rPr lang="en-US" dirty="0"/>
              <a:t>These strongly connected nodes are considered </a:t>
            </a:r>
            <a:r>
              <a:rPr lang="en-US" b="1" dirty="0"/>
              <a:t>influential </a:t>
            </a:r>
          </a:p>
          <a:p>
            <a:r>
              <a:rPr lang="en-US" dirty="0"/>
              <a:t>We measure a node’s influence in a social network by its </a:t>
            </a:r>
            <a:r>
              <a:rPr lang="en-US" b="1" dirty="0"/>
              <a:t>centrality</a:t>
            </a:r>
          </a:p>
          <a:p>
            <a:endParaRPr lang="en-US" dirty="0"/>
          </a:p>
        </p:txBody>
      </p:sp>
    </p:spTree>
    <p:extLst>
      <p:ext uri="{BB962C8B-B14F-4D97-AF65-F5344CB8AC3E}">
        <p14:creationId xmlns:p14="http://schemas.microsoft.com/office/powerpoint/2010/main" val="1778958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dirty="0"/>
              <a:t>Core nodes have </a:t>
            </a:r>
            <a:r>
              <a:rPr lang="en-US" b="1" dirty="0"/>
              <a:t>high centrality </a:t>
            </a:r>
          </a:p>
          <a:p>
            <a:r>
              <a:rPr lang="en-US" b="1" dirty="0"/>
              <a:t>Kratz centrality </a:t>
            </a:r>
            <a:r>
              <a:rPr lang="en-US" dirty="0"/>
              <a:t>is an example of a centrally metric</a:t>
            </a:r>
            <a:endParaRPr lang="en-US" b="1" dirty="0"/>
          </a:p>
          <a:p>
            <a:pPr lvl="1"/>
            <a:r>
              <a:rPr lang="en-US" dirty="0"/>
              <a:t>Kratz centrality is equivalent to the probability of visiting a node during a </a:t>
            </a:r>
            <a:r>
              <a:rPr lang="en-US" b="1" dirty="0"/>
              <a:t>random walk </a:t>
            </a:r>
            <a:r>
              <a:rPr lang="en-US" dirty="0"/>
              <a:t>on the graph </a:t>
            </a:r>
          </a:p>
          <a:p>
            <a:pPr lvl="1"/>
            <a:r>
              <a:rPr lang="en-US" dirty="0"/>
              <a:t>Kratz centrality is applicable to directed or undirected graphs</a:t>
            </a:r>
          </a:p>
          <a:p>
            <a:r>
              <a:rPr lang="en-US" b="1" dirty="0"/>
              <a:t>Closeness centrality </a:t>
            </a:r>
            <a:r>
              <a:rPr lang="en-US" dirty="0"/>
              <a:t>is the </a:t>
            </a:r>
            <a:r>
              <a:rPr lang="en-US" b="1" dirty="0"/>
              <a:t>average inverse distance </a:t>
            </a:r>
            <a:r>
              <a:rPr lang="en-US" dirty="0"/>
              <a:t>from a node to all other nodes in a graph component </a:t>
            </a:r>
          </a:p>
          <a:p>
            <a:r>
              <a:rPr lang="en-US" dirty="0"/>
              <a:t>Different centrality measures are sensitive to different aspects of the network!</a:t>
            </a:r>
          </a:p>
          <a:p>
            <a:endParaRPr lang="en-US" dirty="0"/>
          </a:p>
          <a:p>
            <a:endParaRPr lang="en-US" dirty="0"/>
          </a:p>
        </p:txBody>
      </p:sp>
    </p:spTree>
    <p:extLst>
      <p:ext uri="{BB962C8B-B14F-4D97-AF65-F5344CB8AC3E}">
        <p14:creationId xmlns:p14="http://schemas.microsoft.com/office/powerpoint/2010/main" val="236491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b="1" dirty="0"/>
                  <a:t>Fully connected </a:t>
                </a:r>
                <a:r>
                  <a:rPr lang="en-US" dirty="0"/>
                  <a:t>portions of graphs are called </a:t>
                </a:r>
                <a:r>
                  <a:rPr lang="en-US" b="1" dirty="0"/>
                  <a:t>cliques</a:t>
                </a:r>
                <a:r>
                  <a:rPr lang="en-US" dirty="0"/>
                  <a:t> </a:t>
                </a:r>
              </a:p>
              <a:p>
                <a:r>
                  <a:rPr lang="en-US" dirty="0"/>
                  <a:t>Nodes that are vertices of many </a:t>
                </a:r>
                <a:r>
                  <a:rPr lang="en-US" b="1" dirty="0"/>
                  <a:t>triad</a:t>
                </a:r>
                <a:r>
                  <a:rPr lang="en-US" dirty="0"/>
                  <a:t> (triangle) relationships exhibit </a:t>
                </a:r>
                <a:r>
                  <a:rPr lang="en-US" b="1" dirty="0"/>
                  <a:t>clustering   </a:t>
                </a:r>
              </a:p>
              <a:p>
                <a:pPr lvl="1"/>
                <a:r>
                  <a:rPr lang="en-US" dirty="0"/>
                  <a:t>Don’t confuse graph clustering with other types of ‘clustering’, e.g. K-means</a:t>
                </a:r>
              </a:p>
              <a:p>
                <a:r>
                  <a:rPr lang="en-US" b="1" dirty="0"/>
                  <a:t>K-cores</a:t>
                </a:r>
                <a:r>
                  <a:rPr lang="en-US" dirty="0"/>
                  <a:t> are dense regions of nodes with degree </a:t>
                </a:r>
                <a14:m>
                  <m:oMath xmlns:m="http://schemas.openxmlformats.org/officeDocument/2006/math">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𝑘</m:t>
                    </m:r>
                  </m:oMath>
                </a14:m>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903352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BA7D6-B1DF-45AD-FAAD-8668239F49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4E8AF1-D970-4B76-2D30-5E1DD3977DE6}"/>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E01DAEC8-E4B7-37C0-5AFE-485786786AFD}"/>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Betweenness and modularity used to partition graphs into community components</a:t>
            </a:r>
          </a:p>
          <a:p>
            <a:r>
              <a:rPr lang="en-US" b="1" dirty="0"/>
              <a:t>Betweenness</a:t>
            </a:r>
            <a:r>
              <a:rPr lang="en-US" dirty="0"/>
              <a:t> measures the extent certain nodes and edges are on path between other nodes  </a:t>
            </a:r>
          </a:p>
          <a:p>
            <a:pPr lvl="1"/>
            <a:r>
              <a:rPr lang="en-US" dirty="0"/>
              <a:t>Betweenness is low within highly connected communities </a:t>
            </a:r>
          </a:p>
          <a:p>
            <a:pPr lvl="1"/>
            <a:r>
              <a:rPr lang="en-US" dirty="0"/>
              <a:t>Betweenness is high between communities </a:t>
            </a:r>
          </a:p>
          <a:p>
            <a:r>
              <a:rPr lang="en-US" b="1" dirty="0"/>
              <a:t>Modularity</a:t>
            </a:r>
            <a:r>
              <a:rPr lang="en-US" dirty="0"/>
              <a:t> measures the weights (density) of edges compared to random graph </a:t>
            </a:r>
          </a:p>
          <a:p>
            <a:pPr lvl="1"/>
            <a:r>
              <a:rPr lang="en-US" dirty="0"/>
              <a:t>Communities have high modularity </a:t>
            </a:r>
          </a:p>
          <a:p>
            <a:pPr lvl="1"/>
            <a:r>
              <a:rPr lang="en-US" dirty="0"/>
              <a:t>Use modularity to search for communities </a:t>
            </a:r>
          </a:p>
          <a:p>
            <a:endParaRPr lang="en-US" dirty="0"/>
          </a:p>
          <a:p>
            <a:endParaRPr lang="en-US" dirty="0"/>
          </a:p>
          <a:p>
            <a:endParaRPr lang="en-US" dirty="0"/>
          </a:p>
        </p:txBody>
      </p:sp>
    </p:spTree>
    <p:extLst>
      <p:ext uri="{BB962C8B-B14F-4D97-AF65-F5344CB8AC3E}">
        <p14:creationId xmlns:p14="http://schemas.microsoft.com/office/powerpoint/2010/main" val="2738987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FC70-52A9-72D3-6D56-74EFD8D5C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B4FF1B-9233-2100-695A-04B2DDDFEBD4}"/>
              </a:ext>
            </a:extLst>
          </p:cNvPr>
          <p:cNvSpPr>
            <a:spLocks noGrp="1"/>
          </p:cNvSpPr>
          <p:nvPr>
            <p:ph type="title"/>
          </p:nvPr>
        </p:nvSpPr>
        <p:spPr>
          <a:xfrm>
            <a:off x="831850" y="1709738"/>
            <a:ext cx="10515600" cy="2282271"/>
          </a:xfrm>
        </p:spPr>
        <p:txBody>
          <a:bodyPr/>
          <a:lstStyle/>
          <a:p>
            <a:pPr algn="ctr"/>
            <a:r>
              <a:rPr lang="en-US" dirty="0"/>
              <a:t>Kratz Centrality</a:t>
            </a:r>
          </a:p>
        </p:txBody>
      </p:sp>
    </p:spTree>
    <p:extLst>
      <p:ext uri="{BB962C8B-B14F-4D97-AF65-F5344CB8AC3E}">
        <p14:creationId xmlns:p14="http://schemas.microsoft.com/office/powerpoint/2010/main" val="14771652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B68D8-3E8E-49D9-CCB4-F234CFA071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15FF8-A31D-AD65-6584-BD9B26A0D2A6}"/>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ABB9CE7-A05E-7635-2CF8-8624C82AFB38}"/>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Kratz Centrality</a:t>
                </a:r>
                <a:r>
                  <a:rPr lang="en-US" dirty="0">
                    <a:hlinkClick r:id="rId2"/>
                  </a:rPr>
                  <a:t> </a:t>
                </a:r>
                <a:r>
                  <a:rPr lang="en-US" dirty="0"/>
                  <a:t>a simple measure of centrality  </a:t>
                </a:r>
              </a:p>
              <a:p>
                <a:r>
                  <a:rPr lang="en-US" dirty="0">
                    <a:hlinkClick r:id="rId3"/>
                  </a:rPr>
                  <a:t>Kratz (1953) </a:t>
                </a:r>
                <a:r>
                  <a:rPr lang="en-US" dirty="0"/>
                  <a:t>proposed a simple measure of centrality.  </a:t>
                </a:r>
              </a:p>
              <a:p>
                <a:r>
                  <a:rPr lang="en-US" b="1" dirty="0"/>
                  <a:t>Eigenvector centrality</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𝜅</m:t>
                          </m:r>
                        </m:den>
                      </m:f>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m:t>
                          </m:r>
                          <m:r>
                            <m:rPr>
                              <m:brk m:alnAt="23"/>
                            </m:rP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oMath>
                  </m:oMathPara>
                </a14:m>
                <a:endParaRPr lang="en-US" dirty="0"/>
              </a:p>
              <a:p>
                <a:r>
                  <a:rPr lang="en-US" dirty="0"/>
                  <a:t>In matrix notation:</a:t>
                </a:r>
              </a:p>
              <a:p>
                <a:pPr marL="0" indent="0">
                  <a:buNone/>
                </a:pPr>
                <a14:m>
                  <m:oMathPara xmlns:m="http://schemas.openxmlformats.org/officeDocument/2006/math">
                    <m:o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pPr marL="457200" lvl="1" indent="0">
                  <a:buNone/>
                </a:pPr>
                <a:r>
                  <a:rPr lang="en-US" dirty="0"/>
                  <a:t>Where: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𝜅</m:t>
                    </m:r>
                  </m:oMath>
                </a14:m>
                <a:r>
                  <a:rPr lang="en-US" dirty="0"/>
                  <a:t> is the largest eigenvalue of </a:t>
                </a:r>
                <a14:m>
                  <m:oMath xmlns:m="http://schemas.openxmlformats.org/officeDocument/2006/math">
                    <m:r>
                      <a:rPr lang="en-US" i="1">
                        <a:latin typeface="Cambria Math" panose="02040503050406030204" pitchFamily="18" charset="0"/>
                      </a:rPr>
                      <m:t>𝐴</m:t>
                    </m:r>
                  </m:oMath>
                </a14:m>
                <a:endParaRPr lang="en-US" dirty="0"/>
              </a:p>
              <a:p>
                <a:pPr marL="457200" lvl="1" indent="0">
                  <a:buNone/>
                </a:pPr>
                <a14:m>
                  <m:oMath xmlns:m="http://schemas.openxmlformats.org/officeDocument/2006/math">
                    <m:r>
                      <a:rPr lang="en-US" i="1">
                        <a:latin typeface="Cambria Math" panose="02040503050406030204" pitchFamily="18" charset="0"/>
                      </a:rPr>
                      <m:t>𝑥</m:t>
                    </m:r>
                  </m:oMath>
                </a14:m>
                <a:r>
                  <a:rPr lang="en-US" dirty="0"/>
                  <a:t> is the eigenvector of </a:t>
                </a:r>
                <a14:m>
                  <m:oMath xmlns:m="http://schemas.openxmlformats.org/officeDocument/2006/math">
                    <m:r>
                      <a:rPr lang="en-US" i="1">
                        <a:latin typeface="Cambria Math" panose="02040503050406030204" pitchFamily="18" charset="0"/>
                      </a:rPr>
                      <m:t>𝐴</m:t>
                    </m:r>
                  </m:oMath>
                </a14:m>
                <a:r>
                  <a:rPr lang="en-US" dirty="0"/>
                  <a:t> for the largest eigenvalue</a:t>
                </a:r>
              </a:p>
              <a:p>
                <a:endParaRPr lang="en-US" dirty="0"/>
              </a:p>
              <a:p>
                <a:endParaRPr lang="en-US" dirty="0"/>
              </a:p>
              <a:p>
                <a:endParaRPr lang="en-US" dirty="0"/>
              </a:p>
              <a:p>
                <a:endParaRPr lang="en-US" dirty="0"/>
              </a:p>
              <a:p>
                <a:endParaRPr lang="en-US" dirty="0"/>
              </a:p>
            </p:txBody>
          </p:sp>
        </mc:Choice>
        <mc:Fallback>
          <p:sp>
            <p:nvSpPr>
              <p:cNvPr id="3" name="Content Placeholder 2">
                <a:extLst>
                  <a:ext uri="{FF2B5EF4-FFF2-40B4-BE49-F238E27FC236}">
                    <a16:creationId xmlns:a16="http://schemas.microsoft.com/office/drawing/2014/main" id="{8ABB9CE7-A05E-7635-2CF8-8624C82AFB3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4"/>
                <a:stretch>
                  <a:fillRect l="-1159" t="-1790" b="-2237"/>
                </a:stretch>
              </a:blipFill>
            </p:spPr>
            <p:txBody>
              <a:bodyPr/>
              <a:lstStyle/>
              <a:p>
                <a:r>
                  <a:rPr lang="en-US">
                    <a:noFill/>
                  </a:rPr>
                  <a:t> </a:t>
                </a:r>
              </a:p>
            </p:txBody>
          </p:sp>
        </mc:Fallback>
      </mc:AlternateContent>
    </p:spTree>
    <p:extLst>
      <p:ext uri="{BB962C8B-B14F-4D97-AF65-F5344CB8AC3E}">
        <p14:creationId xmlns:p14="http://schemas.microsoft.com/office/powerpoint/2010/main" val="997532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317F2-4CCC-33A9-EFC5-CEBBBC2FB9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1533B-6C29-0C32-9380-8D2F62F29E4D}"/>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159714-BC2D-BB4B-D0CC-5D69DA37D844}"/>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Kratz Centrality</a:t>
                </a:r>
                <a:r>
                  <a:rPr lang="en-US" dirty="0"/>
                  <a:t> a simple measure of centrality  </a:t>
                </a:r>
              </a:p>
              <a:p>
                <a:r>
                  <a:rPr lang="en-US" b="1" dirty="0"/>
                  <a:t>Eigenvector centrality</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r>
                  <a:rPr lang="en-US" b="1" dirty="0"/>
                  <a:t>Kratz centrality </a:t>
                </a:r>
                <a:r>
                  <a:rPr lang="en-US" dirty="0"/>
                  <a:t>generalizes eigenvector centrality by adding constant centrality to all nodes, </a:t>
                </a:r>
                <a14:m>
                  <m:oMath xmlns:m="http://schemas.openxmlformats.org/officeDocument/2006/math">
                    <m:r>
                      <a:rPr lang="en-US" i="1" smtClean="0">
                        <a:latin typeface="Cambria Math" panose="02040503050406030204" pitchFamily="18" charset="0"/>
                        <a:ea typeface="Cambria Math" panose="02040503050406030204" pitchFamily="18" charset="0"/>
                      </a:rPr>
                      <m:t>𝛽</m:t>
                    </m:r>
                  </m:oMath>
                </a14:m>
                <a:endParaRPr lang="en-US" dirty="0"/>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𝐴𝑥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𝛽</m:t>
                      </m:r>
                      <m:r>
                        <a:rPr lang="en-US" b="1" i="1" smtClean="0">
                          <a:latin typeface="Cambria Math" panose="02040503050406030204" pitchFamily="18" charset="0"/>
                          <a:ea typeface="Cambria Math" panose="02040503050406030204" pitchFamily="18" charset="0"/>
                        </a:rPr>
                        <m:t>𝟏</m:t>
                      </m:r>
                    </m:oMath>
                  </m:oMathPara>
                </a14:m>
                <a:endParaRPr lang="en-US" b="1" dirty="0"/>
              </a:p>
              <a:p>
                <a:pPr marL="457200" lvl="1" indent="0">
                  <a:buNone/>
                </a:pPr>
                <a:r>
                  <a:rPr lang="en-US" dirty="0"/>
                  <a:t>Where, </a:t>
                </a:r>
                <a14:m>
                  <m:oMath xmlns:m="http://schemas.openxmlformats.org/officeDocument/2006/math">
                    <m:r>
                      <a:rPr lang="en-US" b="1" i="1">
                        <a:latin typeface="Cambria Math" panose="02040503050406030204" pitchFamily="18" charset="0"/>
                        <a:ea typeface="Cambria Math" panose="02040503050406030204" pitchFamily="18" charset="0"/>
                      </a:rPr>
                      <m:t>𝟏</m:t>
                    </m:r>
                    <m:r>
                      <a:rPr lang="en-US" b="0" i="1" smtClean="0">
                        <a:latin typeface="Cambria Math" panose="02040503050406030204" pitchFamily="18" charset="0"/>
                        <a:ea typeface="Cambria Math" panose="02040503050406030204" pitchFamily="18" charset="0"/>
                      </a:rPr>
                      <m:t>=</m:t>
                    </m:r>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1,1,1,…1</m:t>
                        </m:r>
                      </m:e>
                    </m:d>
                  </m:oMath>
                </a14:m>
                <a:r>
                  <a:rPr lang="en-US" dirty="0"/>
                  <a:t> is a vector of all 1s</a:t>
                </a:r>
              </a:p>
              <a:p>
                <a:r>
                  <a:rPr lang="en-US" dirty="0"/>
                  <a:t>Simplify by setting </a:t>
                </a:r>
                <a14:m>
                  <m:oMath xmlns:m="http://schemas.openxmlformats.org/officeDocument/2006/math">
                    <m:r>
                      <a:rPr lang="en-US" i="1">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=1</m:t>
                    </m:r>
                  </m:oMath>
                </a14:m>
                <a:endParaRPr lang="en-US" b="0" dirty="0">
                  <a:ea typeface="Cambria Math" panose="02040503050406030204" pitchFamily="18" charset="0"/>
                </a:endParaRPr>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r>
                  <a:rPr lang="en-US" dirty="0"/>
                  <a:t>Kratz centrality closing related to the famous </a:t>
                </a:r>
                <a:r>
                  <a:rPr lang="en-US" b="1" dirty="0"/>
                  <a:t>PageRank web search algorithm</a:t>
                </a:r>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9A159714-BC2D-BB4B-D0CC-5D69DA37D84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r="-406"/>
                </a:stretch>
              </a:blipFill>
            </p:spPr>
            <p:txBody>
              <a:bodyPr/>
              <a:lstStyle/>
              <a:p>
                <a:r>
                  <a:rPr lang="en-US">
                    <a:noFill/>
                  </a:rPr>
                  <a:t> </a:t>
                </a:r>
              </a:p>
            </p:txBody>
          </p:sp>
        </mc:Fallback>
      </mc:AlternateContent>
    </p:spTree>
    <p:extLst>
      <p:ext uri="{BB962C8B-B14F-4D97-AF65-F5344CB8AC3E}">
        <p14:creationId xmlns:p14="http://schemas.microsoft.com/office/powerpoint/2010/main" val="297064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F7541-8E81-4150-C024-57C342256C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74BA1E-4A51-804F-7F78-5BC5CAFCACB4}"/>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FEDDB9-5BBC-3AD9-8701-AB20F4665CB4}"/>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Kratz Centrality</a:t>
                </a:r>
                <a:r>
                  <a:rPr lang="en-US" dirty="0"/>
                  <a:t> a simple measure of centrality  </a:t>
                </a:r>
              </a:p>
              <a:p>
                <a:r>
                  <a:rPr lang="en-US" b="1" dirty="0"/>
                  <a:t>Kratz centrality </a:t>
                </a:r>
                <a:r>
                  <a:rPr lang="en-US" dirty="0"/>
                  <a:t>generalizes eigenvector centrality by adding constant centrality to all nodes </a:t>
                </a:r>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r>
                  <a:rPr lang="en-US" dirty="0"/>
                  <a:t>We can write the above in terms of the characteristic equation</a:t>
                </a:r>
              </a:p>
              <a:p>
                <a:pPr marL="0" indent="0">
                  <a:buNone/>
                </a:pPr>
                <a14:m>
                  <m:oMathPara xmlns:m="http://schemas.openxmlformats.org/officeDocument/2006/math">
                    <m:oMath>
                      <m:r>
                        <a:rPr lang="en-US" b="0" i="1" smtClean="0">
                          <a:latin typeface="Cambria Math" panose="02040503050406030204" pitchFamily="18" charset="0"/>
                        </a:rPr>
                        <m:t>𝑑𝑒𝑡</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𝛼</m:t>
                              </m:r>
                            </m:e>
                            <m:sup>
                              <m:r>
                                <a:rPr lang="en-US" b="0" i="1" smtClean="0">
                                  <a:latin typeface="Cambria Math" panose="02040503050406030204" pitchFamily="18" charset="0"/>
                                </a:rPr>
                                <m:t>−1</m:t>
                              </m:r>
                            </m:sup>
                          </m:sSup>
                          <m:r>
                            <a:rPr lang="en-US" b="0" i="1" smtClean="0">
                              <a:latin typeface="Cambria Math" panose="02040503050406030204" pitchFamily="18" charset="0"/>
                            </a:rPr>
                            <m:t>𝐼</m:t>
                          </m:r>
                          <m:r>
                            <a:rPr lang="en-US" b="0" i="1" smtClean="0">
                              <a:latin typeface="Cambria Math" panose="02040503050406030204" pitchFamily="18" charset="0"/>
                            </a:rPr>
                            <m:t>−</m:t>
                          </m:r>
                          <m:r>
                            <a:rPr lang="en-US" b="0" i="1" smtClean="0">
                              <a:latin typeface="Cambria Math" panose="02040503050406030204" pitchFamily="18" charset="0"/>
                            </a:rPr>
                            <m:t>𝐴</m:t>
                          </m:r>
                        </m:e>
                      </m:d>
                      <m:r>
                        <a:rPr lang="en-US" b="0" i="1" smtClean="0">
                          <a:latin typeface="Cambria Math" panose="02040503050406030204" pitchFamily="18" charset="0"/>
                        </a:rPr>
                        <m:t>=0</m:t>
                      </m:r>
                    </m:oMath>
                  </m:oMathPara>
                </a14:m>
                <a:endParaRPr lang="en-US" b="0" dirty="0"/>
              </a:p>
              <a:p>
                <a:pPr marL="457200" lvl="1" indent="0">
                  <a:buNone/>
                </a:pPr>
                <a:r>
                  <a:rPr lang="en-US" dirty="0"/>
                  <a:t>We must set </a:t>
                </a:r>
                <a14:m>
                  <m:oMath xmlns:m="http://schemas.openxmlformats.org/officeDocument/2006/math">
                    <m:r>
                      <a:rPr lang="en-US" b="0" i="1" smtClean="0">
                        <a:latin typeface="Cambria Math" panose="02040503050406030204" pitchFamily="18" charset="0"/>
                      </a:rPr>
                      <m:t>0</m:t>
                    </m:r>
                    <m:r>
                      <a:rPr lang="en-US" i="1">
                        <a:latin typeface="Cambria Math" panose="02040503050406030204" pitchFamily="18" charset="0"/>
                        <a:ea typeface="Cambria Math" panose="02040503050406030204" pitchFamily="18" charset="0"/>
                      </a:rPr>
                      <m:t>&lt;</m:t>
                    </m:r>
                    <m:r>
                      <a:rPr lang="en-US" b="0" i="1" smtClean="0">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𝜅</m:t>
                            </m:r>
                          </m:e>
                          <m:sub>
                            <m:r>
                              <a:rPr lang="en-US" b="0" i="1" smtClean="0">
                                <a:latin typeface="Cambria Math" panose="02040503050406030204" pitchFamily="18" charset="0"/>
                                <a:ea typeface="Cambria Math" panose="02040503050406030204" pitchFamily="18" charset="0"/>
                              </a:rPr>
                              <m:t>1</m:t>
                            </m:r>
                          </m:sub>
                        </m:sSub>
                      </m:den>
                    </m:f>
                  </m:oMath>
                </a14:m>
                <a:r>
                  <a:rPr lang="en-US" dirty="0"/>
                  <a:t> for the solution to converge</a:t>
                </a:r>
              </a:p>
              <a:p>
                <a:pPr marL="457200" lvl="1" indent="0">
                  <a:buNone/>
                </a:pPr>
                <a:r>
                  <a:rPr lang="en-US" dirty="0"/>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oMath>
                </a14:m>
                <a:r>
                  <a:rPr lang="en-US" dirty="0"/>
                  <a:t> is the largest eigenvalue </a:t>
                </a:r>
              </a:p>
              <a:p>
                <a14:m>
                  <m:oMath xmlns:m="http://schemas.openxmlformats.org/officeDocument/2006/math">
                    <m:r>
                      <a:rPr lang="en-US" i="1">
                        <a:latin typeface="Cambria Math" panose="02040503050406030204" pitchFamily="18" charset="0"/>
                        <a:ea typeface="Cambria Math" panose="02040503050406030204" pitchFamily="18" charset="0"/>
                      </a:rPr>
                      <m:t>𝛼</m:t>
                    </m:r>
                  </m:oMath>
                </a14:m>
                <a:r>
                  <a:rPr lang="en-US" dirty="0"/>
                  <a:t> is a trade off parameter between constant and eigenvector centrality</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→0</m:t>
                    </m:r>
                  </m:oMath>
                </a14:m>
                <a:r>
                  <a:rPr lang="en-US" dirty="0"/>
                  <a:t> gives constant centrality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den>
                    </m:f>
                  </m:oMath>
                </a14:m>
                <a:r>
                  <a:rPr lang="en-US" dirty="0"/>
                  <a:t> is eigenvector centrality </a:t>
                </a:r>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5CFEDDB9-5BBC-3AD9-8701-AB20F4665CB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r="-406"/>
                </a:stretch>
              </a:blipFill>
            </p:spPr>
            <p:txBody>
              <a:bodyPr/>
              <a:lstStyle/>
              <a:p>
                <a:r>
                  <a:rPr lang="en-US">
                    <a:noFill/>
                  </a:rPr>
                  <a:t> </a:t>
                </a:r>
              </a:p>
            </p:txBody>
          </p:sp>
        </mc:Fallback>
      </mc:AlternateContent>
    </p:spTree>
    <p:extLst>
      <p:ext uri="{BB962C8B-B14F-4D97-AF65-F5344CB8AC3E}">
        <p14:creationId xmlns:p14="http://schemas.microsoft.com/office/powerpoint/2010/main" val="2880501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02F75-A11B-47F5-B422-EE4409137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499EFF-F889-26E4-6AAB-428EFEEFA996}"/>
              </a:ext>
            </a:extLst>
          </p:cNvPr>
          <p:cNvSpPr>
            <a:spLocks noGrp="1"/>
          </p:cNvSpPr>
          <p:nvPr>
            <p:ph type="title"/>
          </p:nvPr>
        </p:nvSpPr>
        <p:spPr>
          <a:xfrm>
            <a:off x="831850" y="1709738"/>
            <a:ext cx="10515600" cy="2282271"/>
          </a:xfrm>
        </p:spPr>
        <p:txBody>
          <a:bodyPr/>
          <a:lstStyle/>
          <a:p>
            <a:pPr algn="ctr"/>
            <a:r>
              <a:rPr lang="en-US" dirty="0"/>
              <a:t>Breath-First Search and Distance-Based Centrality</a:t>
            </a:r>
          </a:p>
        </p:txBody>
      </p:sp>
    </p:spTree>
    <p:extLst>
      <p:ext uri="{BB962C8B-B14F-4D97-AF65-F5344CB8AC3E}">
        <p14:creationId xmlns:p14="http://schemas.microsoft.com/office/powerpoint/2010/main" val="15795623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Distance-Based Centrality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Measures of distance are natural and intuitive centrality metrics </a:t>
            </a:r>
          </a:p>
          <a:p>
            <a:r>
              <a:rPr lang="en-US" dirty="0"/>
              <a:t>Closeness centrality measures average closeness of a node to other nodes in a network </a:t>
            </a:r>
          </a:p>
          <a:p>
            <a:pPr lvl="1"/>
            <a:r>
              <a:rPr lang="en-US" dirty="0"/>
              <a:t>Closeness measured by inverse distance on shortest path</a:t>
            </a:r>
          </a:p>
          <a:p>
            <a:r>
              <a:rPr lang="en-US" dirty="0"/>
              <a:t>Betweenness centrality measures the number of shortest paths between nodes in a network </a:t>
            </a:r>
          </a:p>
          <a:p>
            <a:pPr lvl="1"/>
            <a:r>
              <a:rPr lang="en-US" dirty="0"/>
              <a:t>Can measure betweenness at nodes or on edges   </a:t>
            </a:r>
          </a:p>
          <a:p>
            <a:r>
              <a:rPr lang="en-US" dirty="0"/>
              <a:t>Both metrics based on algorithms to find shorted paths and compute distances between nodes in a graph</a:t>
            </a:r>
          </a:p>
          <a:p>
            <a:pPr lvl="1"/>
            <a:r>
              <a:rPr lang="en-US" dirty="0"/>
              <a:t>Generally, use breath first search algorithms </a:t>
            </a:r>
          </a:p>
          <a:p>
            <a:endParaRPr lang="en-US" dirty="0"/>
          </a:p>
        </p:txBody>
      </p:sp>
    </p:spTree>
    <p:extLst>
      <p:ext uri="{BB962C8B-B14F-4D97-AF65-F5344CB8AC3E}">
        <p14:creationId xmlns:p14="http://schemas.microsoft.com/office/powerpoint/2010/main" val="382209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804CF-0BD3-8BCE-13C2-0649C9E847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2BC081-F1B0-164E-7EFE-9DF4F1D07488}"/>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Shortest Paths in Networks</a:t>
            </a:r>
            <a:endParaRPr lang="en-US" dirty="0"/>
          </a:p>
        </p:txBody>
      </p:sp>
      <p:sp>
        <p:nvSpPr>
          <p:cNvPr id="3" name="Content Placeholder 2">
            <a:extLst>
              <a:ext uri="{FF2B5EF4-FFF2-40B4-BE49-F238E27FC236}">
                <a16:creationId xmlns:a16="http://schemas.microsoft.com/office/drawing/2014/main" id="{E4EFA2AE-9B06-BCD4-EFD9-4A0D884CC4EE}"/>
              </a:ext>
            </a:extLst>
          </p:cNvPr>
          <p:cNvSpPr>
            <a:spLocks noGrp="1"/>
          </p:cNvSpPr>
          <p:nvPr>
            <p:ph idx="1"/>
          </p:nvPr>
        </p:nvSpPr>
        <p:spPr>
          <a:xfrm>
            <a:off x="775447" y="1208868"/>
            <a:ext cx="10515600" cy="5447426"/>
          </a:xfrm>
        </p:spPr>
        <p:txBody>
          <a:bodyPr>
            <a:normAutofit/>
          </a:bodyPr>
          <a:lstStyle/>
          <a:p>
            <a:pPr marL="0" indent="0">
              <a:buNone/>
            </a:pPr>
            <a:r>
              <a:rPr lang="en-US" dirty="0"/>
              <a:t>Finding shortest paths in networks requires a search</a:t>
            </a:r>
          </a:p>
          <a:p>
            <a:r>
              <a:rPr lang="en-US" dirty="0"/>
              <a:t>Path search is computationally intensive for large graphs! </a:t>
            </a:r>
          </a:p>
          <a:p>
            <a:r>
              <a:rPr lang="en-US" dirty="0"/>
              <a:t>Two general approaches to path search</a:t>
            </a:r>
          </a:p>
          <a:p>
            <a:pPr lvl="1"/>
            <a:r>
              <a:rPr lang="en-US" dirty="0"/>
              <a:t>Depth first</a:t>
            </a:r>
          </a:p>
          <a:p>
            <a:pPr lvl="1"/>
            <a:r>
              <a:rPr lang="en-US" b="1" dirty="0"/>
              <a:t>Breath first</a:t>
            </a:r>
          </a:p>
          <a:p>
            <a:r>
              <a:rPr lang="en-US" dirty="0"/>
              <a:t>Path search analogous to database searching algorithm</a:t>
            </a:r>
          </a:p>
          <a:p>
            <a:pPr lvl="1"/>
            <a:r>
              <a:rPr lang="en-US" dirty="0"/>
              <a:t>e.g. B-tree search</a:t>
            </a:r>
          </a:p>
          <a:p>
            <a:r>
              <a:rPr lang="en-US" dirty="0"/>
              <a:t>Searching graphs</a:t>
            </a:r>
          </a:p>
          <a:p>
            <a:pPr lvl="1"/>
            <a:r>
              <a:rPr lang="en-US" dirty="0"/>
              <a:t>Find distances </a:t>
            </a:r>
          </a:p>
          <a:p>
            <a:pPr lvl="1"/>
            <a:r>
              <a:rPr lang="en-US" dirty="0"/>
              <a:t>Distance can be edge weight</a:t>
            </a:r>
          </a:p>
          <a:p>
            <a:pPr lvl="1"/>
            <a:r>
              <a:rPr lang="en-US" dirty="0"/>
              <a:t>Compute shortest paths</a:t>
            </a:r>
          </a:p>
          <a:p>
            <a:pPr lvl="1"/>
            <a:r>
              <a:rPr lang="en-US" dirty="0"/>
              <a:t>Discover connectivity  </a:t>
            </a:r>
          </a:p>
          <a:p>
            <a:endParaRPr lang="en-US" dirty="0"/>
          </a:p>
        </p:txBody>
      </p:sp>
    </p:spTree>
    <p:extLst>
      <p:ext uri="{BB962C8B-B14F-4D97-AF65-F5344CB8AC3E}">
        <p14:creationId xmlns:p14="http://schemas.microsoft.com/office/powerpoint/2010/main" val="441581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67C51-08AD-19C4-7A64-4FB5F5202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AC4124-2213-17F4-CAD6-B6EE61763349}"/>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293132E-D45C-B555-A719-C12D77FAE3C4}"/>
                  </a:ext>
                </a:extLst>
              </p:cNvPr>
              <p:cNvSpPr>
                <a:spLocks noGrp="1"/>
              </p:cNvSpPr>
              <p:nvPr>
                <p:ph idx="1"/>
              </p:nvPr>
            </p:nvSpPr>
            <p:spPr>
              <a:xfrm>
                <a:off x="775447" y="1208868"/>
                <a:ext cx="10515600" cy="5447426"/>
              </a:xfrm>
            </p:spPr>
            <p:txBody>
              <a:bodyPr>
                <a:normAutofit fontScale="92500" lnSpcReduction="10000"/>
              </a:bodyPr>
              <a:lstStyle/>
              <a:p>
                <a:pPr marL="0" indent="0">
                  <a:buNone/>
                </a:pPr>
                <a:r>
                  <a:rPr lang="en-US" dirty="0"/>
                  <a:t>How can we search a graph to find paths</a:t>
                </a:r>
              </a:p>
              <a:p>
                <a:r>
                  <a:rPr lang="en-US" dirty="0"/>
                  <a:t>Depth first search</a:t>
                </a:r>
              </a:p>
              <a:p>
                <a:pPr marL="914400" lvl="1" indent="-457200">
                  <a:buFont typeface="+mj-lt"/>
                  <a:buAutoNum type="arabicPeriod"/>
                </a:pPr>
                <a:r>
                  <a:rPr lang="en-US" dirty="0"/>
                  <a:t>Recursively search nearest neighbors to the ends of the graph </a:t>
                </a:r>
              </a:p>
              <a:p>
                <a:pPr marL="914400" lvl="1" indent="-457200">
                  <a:buFont typeface="+mj-lt"/>
                  <a:buAutoNum type="arabicPeriod"/>
                </a:pPr>
                <a:r>
                  <a:rPr lang="en-US" dirty="0"/>
                  <a:t>Algorithm terminates when all nodes searched</a:t>
                </a:r>
              </a:p>
              <a:p>
                <a:r>
                  <a:rPr lang="en-US" dirty="0"/>
                  <a:t>Breadth first search </a:t>
                </a:r>
              </a:p>
              <a:p>
                <a:pPr marL="914400" lvl="1" indent="-457200">
                  <a:buFont typeface="+mj-lt"/>
                  <a:buAutoNum type="arabicPeriod"/>
                </a:pPr>
                <a:r>
                  <a:rPr lang="en-US" dirty="0"/>
                  <a:t>Start at a node; the </a:t>
                </a:r>
                <a:r>
                  <a:rPr lang="en-US" b="1" dirty="0"/>
                  <a:t>root</a:t>
                </a:r>
                <a:r>
                  <a:rPr lang="en-US" dirty="0"/>
                  <a:t> </a:t>
                </a:r>
              </a:p>
              <a:p>
                <a:pPr marL="914400" lvl="1" indent="-457200">
                  <a:buFont typeface="+mj-lt"/>
                  <a:buAutoNum type="arabicPeriod"/>
                </a:pPr>
                <a:r>
                  <a:rPr lang="en-US" dirty="0"/>
                  <a:t>Find nodes within distance d to root </a:t>
                </a:r>
              </a:p>
              <a:p>
                <a:pPr marL="914400" lvl="1" indent="-457200">
                  <a:buFont typeface="+mj-lt"/>
                  <a:buAutoNum type="arabicPeriod"/>
                </a:pPr>
                <a:r>
                  <a:rPr lang="en-US" dirty="0"/>
                  <a:t>Create queue of nodes at distance d + 1 </a:t>
                </a:r>
              </a:p>
              <a:p>
                <a:pPr marL="914400" lvl="1" indent="-457200">
                  <a:buFont typeface="+mj-lt"/>
                  <a:buAutoNum type="arabicPeriod"/>
                </a:pPr>
                <a:r>
                  <a:rPr lang="en-US" dirty="0"/>
                  <a:t>Find nodes within distance d of new nodes in queue</a:t>
                </a:r>
              </a:p>
              <a:p>
                <a:pPr marL="914400" lvl="1" indent="-457200">
                  <a:buFont typeface="+mj-lt"/>
                  <a:buAutoNum type="arabicPeriod"/>
                </a:pPr>
                <a:r>
                  <a:rPr lang="en-US" dirty="0"/>
                  <a:t>Repeat steps 3 and 4 until end of graph discovered; empty queue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a:t>
                </a:r>
                <a:r>
                  <a:rPr lang="en-US" b="1" dirty="0"/>
                  <a:t>stopping condition </a:t>
                </a:r>
              </a:p>
              <a:p>
                <a:r>
                  <a:rPr lang="en-US" dirty="0"/>
                  <a:t>For an broad introduction to solving problems by searching see Chapter 3 of </a:t>
                </a:r>
                <a:r>
                  <a:rPr lang="en-US" dirty="0">
                    <a:hlinkClick r:id="rId2"/>
                  </a:rPr>
                  <a:t>Artificial Intelligence, a modern approach, 4</a:t>
                </a:r>
                <a:r>
                  <a:rPr lang="en-US" baseline="30000" dirty="0">
                    <a:hlinkClick r:id="rId2"/>
                  </a:rPr>
                  <a:t>th</a:t>
                </a:r>
                <a:r>
                  <a:rPr lang="en-US" dirty="0">
                    <a:hlinkClick r:id="rId2"/>
                  </a:rPr>
                  <a:t> edition, Russell and Norvig, Pearson, 2021</a:t>
                </a:r>
                <a:r>
                  <a:rPr lang="en-US" dirty="0"/>
                  <a:t>  </a:t>
                </a:r>
              </a:p>
              <a:p>
                <a:endParaRPr lang="en-US" dirty="0"/>
              </a:p>
            </p:txBody>
          </p:sp>
        </mc:Choice>
        <mc:Fallback xmlns="">
          <p:sp>
            <p:nvSpPr>
              <p:cNvPr id="3" name="Content Placeholder 2">
                <a:extLst>
                  <a:ext uri="{FF2B5EF4-FFF2-40B4-BE49-F238E27FC236}">
                    <a16:creationId xmlns:a16="http://schemas.microsoft.com/office/drawing/2014/main" id="{1293132E-D45C-B555-A719-C12D77FAE3C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3"/>
                <a:stretch>
                  <a:fillRect l="-1043" t="-2237"/>
                </a:stretch>
              </a:blipFill>
            </p:spPr>
            <p:txBody>
              <a:bodyPr/>
              <a:lstStyle/>
              <a:p>
                <a:r>
                  <a:rPr lang="en-US">
                    <a:noFill/>
                  </a:rPr>
                  <a:t> </a:t>
                </a:r>
              </a:p>
            </p:txBody>
          </p:sp>
        </mc:Fallback>
      </mc:AlternateContent>
    </p:spTree>
    <p:extLst>
      <p:ext uri="{BB962C8B-B14F-4D97-AF65-F5344CB8AC3E}">
        <p14:creationId xmlns:p14="http://schemas.microsoft.com/office/powerpoint/2010/main" val="497944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Oval 20">
            <a:extLst>
              <a:ext uri="{FF2B5EF4-FFF2-40B4-BE49-F238E27FC236}">
                <a16:creationId xmlns:a16="http://schemas.microsoft.com/office/drawing/2014/main" id="{8279F19B-0604-4039-9C42-D50903454E49}"/>
              </a:ext>
            </a:extLst>
          </p:cNvPr>
          <p:cNvSpPr/>
          <p:nvPr/>
        </p:nvSpPr>
        <p:spPr>
          <a:xfrm>
            <a:off x="8186869" y="1962631"/>
            <a:ext cx="2820793" cy="2591647"/>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EF281AF-DDF8-4B05-B723-F283F327EA20}"/>
              </a:ext>
            </a:extLst>
          </p:cNvPr>
          <p:cNvSpPr/>
          <p:nvPr/>
        </p:nvSpPr>
        <p:spPr>
          <a:xfrm>
            <a:off x="8761430" y="2554728"/>
            <a:ext cx="1759486" cy="1528174"/>
          </a:xfrm>
          <a:prstGeom prst="ellipse">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6F5B43F-30E5-44BC-9892-41A17370D307}"/>
              </a:ext>
            </a:extLst>
          </p:cNvPr>
          <p:cNvSpPr/>
          <p:nvPr/>
        </p:nvSpPr>
        <p:spPr>
          <a:xfrm>
            <a:off x="9338929" y="2961576"/>
            <a:ext cx="669851" cy="627859"/>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59935" y="1323753"/>
            <a:ext cx="6033977" cy="5355054"/>
          </a:xfrm>
        </p:spPr>
        <p:txBody>
          <a:bodyPr>
            <a:normAutofit/>
          </a:bodyPr>
          <a:lstStyle/>
          <a:p>
            <a:pPr marL="0" indent="0">
              <a:buNone/>
            </a:pPr>
            <a:r>
              <a:rPr lang="en-US" dirty="0"/>
              <a:t>Basic breadth first search algorithm</a:t>
            </a:r>
          </a:p>
          <a:p>
            <a:r>
              <a:rPr lang="en-US" dirty="0"/>
              <a:t>Start with </a:t>
            </a:r>
            <a:r>
              <a:rPr lang="en-US" b="1" dirty="0"/>
              <a:t>root node</a:t>
            </a:r>
            <a:r>
              <a:rPr lang="en-US" dirty="0"/>
              <a:t> on graph at distance 0</a:t>
            </a:r>
          </a:p>
          <a:p>
            <a:r>
              <a:rPr lang="en-US" dirty="0"/>
              <a:t>Find nodes at distance d from the root</a:t>
            </a:r>
          </a:p>
          <a:p>
            <a:r>
              <a:rPr lang="en-US" dirty="0"/>
              <a:t>Find nodes at distance d = 1 </a:t>
            </a:r>
          </a:p>
          <a:p>
            <a:r>
              <a:rPr lang="en-US" dirty="0"/>
              <a:t>Find nodes at distance d = 2</a:t>
            </a:r>
          </a:p>
          <a:p>
            <a:r>
              <a:rPr lang="en-US" dirty="0"/>
              <a:t>Continue until the</a:t>
            </a:r>
            <a:r>
              <a:rPr lang="en-US" b="1" dirty="0"/>
              <a:t> termination condition is reached</a:t>
            </a:r>
          </a:p>
          <a:p>
            <a:pPr lvl="1"/>
            <a:r>
              <a:rPr lang="en-US" dirty="0"/>
              <a:t>End nodes of the graph</a:t>
            </a:r>
          </a:p>
          <a:p>
            <a:pPr lvl="1"/>
            <a:r>
              <a:rPr lang="en-US" dirty="0"/>
              <a:t>Maximum depth</a:t>
            </a:r>
          </a:p>
          <a:p>
            <a:endParaRPr lang="en-US" dirty="0"/>
          </a:p>
          <a:p>
            <a:endParaRPr lang="en-US" dirty="0"/>
          </a:p>
        </p:txBody>
      </p:sp>
      <p:sp>
        <p:nvSpPr>
          <p:cNvPr id="4" name="Oval 3">
            <a:extLst>
              <a:ext uri="{FF2B5EF4-FFF2-40B4-BE49-F238E27FC236}">
                <a16:creationId xmlns:a16="http://schemas.microsoft.com/office/drawing/2014/main" id="{7D55DE25-0850-4004-AC21-0B092D9C1DFF}"/>
              </a:ext>
            </a:extLst>
          </p:cNvPr>
          <p:cNvSpPr/>
          <p:nvPr/>
        </p:nvSpPr>
        <p:spPr>
          <a:xfrm>
            <a:off x="9037674"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64DDF697-FAA7-4139-B6B7-70044DA62CEC}"/>
              </a:ext>
            </a:extLst>
          </p:cNvPr>
          <p:cNvSpPr/>
          <p:nvPr/>
        </p:nvSpPr>
        <p:spPr>
          <a:xfrm>
            <a:off x="9618034" y="3205716"/>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F452263-033A-4418-9FB7-11A4497D3F39}"/>
              </a:ext>
            </a:extLst>
          </p:cNvPr>
          <p:cNvSpPr/>
          <p:nvPr/>
        </p:nvSpPr>
        <p:spPr>
          <a:xfrm>
            <a:off x="8514907" y="29966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BC60716-917E-4AD0-ABC8-99803D6C6CC9}"/>
              </a:ext>
            </a:extLst>
          </p:cNvPr>
          <p:cNvSpPr/>
          <p:nvPr/>
        </p:nvSpPr>
        <p:spPr>
          <a:xfrm>
            <a:off x="8981853" y="260362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26B6DBC0-54A2-4088-A0E7-A39959909EB4}"/>
              </a:ext>
            </a:extLst>
          </p:cNvPr>
          <p:cNvSpPr/>
          <p:nvPr/>
        </p:nvSpPr>
        <p:spPr>
          <a:xfrm>
            <a:off x="9389057" y="379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EAFF20D-D3AC-44D6-9B07-F6695654D1CE}"/>
              </a:ext>
            </a:extLst>
          </p:cNvPr>
          <p:cNvSpPr/>
          <p:nvPr/>
        </p:nvSpPr>
        <p:spPr>
          <a:xfrm>
            <a:off x="9973338" y="283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F24BF03-1D55-487F-8C97-30D67DFDB53C}"/>
              </a:ext>
            </a:extLst>
          </p:cNvPr>
          <p:cNvSpPr/>
          <p:nvPr/>
        </p:nvSpPr>
        <p:spPr>
          <a:xfrm>
            <a:off x="7956696"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45FB7EE9-95C6-4D3E-AB12-E7D0F2B6F5F6}"/>
              </a:ext>
            </a:extLst>
          </p:cNvPr>
          <p:cNvSpPr/>
          <p:nvPr/>
        </p:nvSpPr>
        <p:spPr>
          <a:xfrm>
            <a:off x="9091048" y="16367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33DCBD6-0694-4C1F-9EC7-E8B4515BB164}"/>
              </a:ext>
            </a:extLst>
          </p:cNvPr>
          <p:cNvSpPr/>
          <p:nvPr/>
        </p:nvSpPr>
        <p:spPr>
          <a:xfrm>
            <a:off x="8296939" y="23103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A9C2216-BF11-4499-AB35-A08B26050393}"/>
              </a:ext>
            </a:extLst>
          </p:cNvPr>
          <p:cNvSpPr/>
          <p:nvPr/>
        </p:nvSpPr>
        <p:spPr>
          <a:xfrm>
            <a:off x="10207268" y="424561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88D574BE-6F88-428C-8604-81099D3F95A3}"/>
              </a:ext>
            </a:extLst>
          </p:cNvPr>
          <p:cNvSpPr/>
          <p:nvPr/>
        </p:nvSpPr>
        <p:spPr>
          <a:xfrm>
            <a:off x="8516590" y="382876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0B2EF76F-D915-4F50-8508-B44273C2940E}"/>
              </a:ext>
            </a:extLst>
          </p:cNvPr>
          <p:cNvSpPr/>
          <p:nvPr/>
        </p:nvSpPr>
        <p:spPr>
          <a:xfrm>
            <a:off x="10797730" y="30299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E70D5669-9951-4C64-9601-8B2F794AA8C8}"/>
              </a:ext>
            </a:extLst>
          </p:cNvPr>
          <p:cNvSpPr/>
          <p:nvPr/>
        </p:nvSpPr>
        <p:spPr>
          <a:xfrm>
            <a:off x="9415190" y="434256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15A910F8-FCA0-454E-B06B-DFED55CD131C}"/>
              </a:ext>
            </a:extLst>
          </p:cNvPr>
          <p:cNvSpPr/>
          <p:nvPr/>
        </p:nvSpPr>
        <p:spPr>
          <a:xfrm>
            <a:off x="6980275" y="213490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35FA785-24B5-428D-9294-168ADDAF1D68}"/>
              </a:ext>
            </a:extLst>
          </p:cNvPr>
          <p:cNvSpPr/>
          <p:nvPr/>
        </p:nvSpPr>
        <p:spPr>
          <a:xfrm>
            <a:off x="8514907" y="13704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DA200B61-8AFC-49A4-9565-E2721FC42941}"/>
              </a:ext>
            </a:extLst>
          </p:cNvPr>
          <p:cNvSpPr/>
          <p:nvPr/>
        </p:nvSpPr>
        <p:spPr>
          <a:xfrm>
            <a:off x="10254590" y="22950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5E96D8DD-3452-456B-9BBF-AE62174A2571}"/>
              </a:ext>
            </a:extLst>
          </p:cNvPr>
          <p:cNvCxnSpPr>
            <a:stCxn id="4" idx="0"/>
            <a:endCxn id="7" idx="4"/>
          </p:cNvCxnSpPr>
          <p:nvPr/>
        </p:nvCxnSpPr>
        <p:spPr>
          <a:xfrm flipH="1" flipV="1">
            <a:off x="9037674" y="2699314"/>
            <a:ext cx="55821" cy="34159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FEE4A90-965D-49B3-A34A-8F5A0230D122}"/>
              </a:ext>
            </a:extLst>
          </p:cNvPr>
          <p:cNvCxnSpPr>
            <a:cxnSpLocks/>
            <a:stCxn id="5" idx="0"/>
            <a:endCxn id="4" idx="7"/>
          </p:cNvCxnSpPr>
          <p:nvPr/>
        </p:nvCxnSpPr>
        <p:spPr>
          <a:xfrm flipH="1" flipV="1">
            <a:off x="9132966" y="3054926"/>
            <a:ext cx="540889" cy="1507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505ACC0-ABFF-4BB7-8E3A-2983204140FC}"/>
              </a:ext>
            </a:extLst>
          </p:cNvPr>
          <p:cNvCxnSpPr>
            <a:cxnSpLocks/>
            <a:stCxn id="4" idx="7"/>
            <a:endCxn id="6" idx="0"/>
          </p:cNvCxnSpPr>
          <p:nvPr/>
        </p:nvCxnSpPr>
        <p:spPr>
          <a:xfrm flipH="1" flipV="1">
            <a:off x="8570728" y="2996609"/>
            <a:ext cx="562238" cy="5831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6D327F9-631C-4A74-A504-2F4D34965F3E}"/>
              </a:ext>
            </a:extLst>
          </p:cNvPr>
          <p:cNvCxnSpPr>
            <a:cxnSpLocks/>
            <a:endCxn id="5" idx="7"/>
          </p:cNvCxnSpPr>
          <p:nvPr/>
        </p:nvCxnSpPr>
        <p:spPr>
          <a:xfrm flipV="1">
            <a:off x="9441025" y="3219730"/>
            <a:ext cx="272301" cy="5949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92EFCAD-7A9C-40B6-BC2A-E1FCACAD86AE}"/>
              </a:ext>
            </a:extLst>
          </p:cNvPr>
          <p:cNvCxnSpPr>
            <a:cxnSpLocks/>
            <a:stCxn id="5" idx="6"/>
            <a:endCxn id="9" idx="4"/>
          </p:cNvCxnSpPr>
          <p:nvPr/>
        </p:nvCxnSpPr>
        <p:spPr>
          <a:xfrm flipV="1">
            <a:off x="9729676" y="2930622"/>
            <a:ext cx="299483" cy="322941"/>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DE5B621-BA63-44CD-BA57-76D74C3648C9}"/>
              </a:ext>
            </a:extLst>
          </p:cNvPr>
          <p:cNvCxnSpPr>
            <a:cxnSpLocks/>
            <a:stCxn id="7" idx="0"/>
            <a:endCxn id="11" idx="0"/>
          </p:cNvCxnSpPr>
          <p:nvPr/>
        </p:nvCxnSpPr>
        <p:spPr>
          <a:xfrm flipV="1">
            <a:off x="9037674" y="1636761"/>
            <a:ext cx="109195" cy="96686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204E5D0-2604-4274-8A0D-3D2B63ADFAEA}"/>
              </a:ext>
            </a:extLst>
          </p:cNvPr>
          <p:cNvCxnSpPr>
            <a:cxnSpLocks/>
            <a:stCxn id="7" idx="4"/>
            <a:endCxn id="12" idx="5"/>
          </p:cNvCxnSpPr>
          <p:nvPr/>
        </p:nvCxnSpPr>
        <p:spPr>
          <a:xfrm flipH="1" flipV="1">
            <a:off x="8392231" y="2392019"/>
            <a:ext cx="645443" cy="307295"/>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9F39E99-9F09-4FC8-B4CD-03A20ECBF312}"/>
              </a:ext>
            </a:extLst>
          </p:cNvPr>
          <p:cNvCxnSpPr>
            <a:cxnSpLocks/>
            <a:stCxn id="6" idx="7"/>
            <a:endCxn id="10" idx="7"/>
          </p:cNvCxnSpPr>
          <p:nvPr/>
        </p:nvCxnSpPr>
        <p:spPr>
          <a:xfrm flipH="1">
            <a:off x="8051988" y="3010623"/>
            <a:ext cx="558211" cy="443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DCE6DC5-2A75-4586-A834-A6E245CAC6C3}"/>
              </a:ext>
            </a:extLst>
          </p:cNvPr>
          <p:cNvCxnSpPr>
            <a:cxnSpLocks/>
            <a:stCxn id="9" idx="7"/>
            <a:endCxn id="22" idx="3"/>
          </p:cNvCxnSpPr>
          <p:nvPr/>
        </p:nvCxnSpPr>
        <p:spPr>
          <a:xfrm flipV="1">
            <a:off x="10068630" y="2376740"/>
            <a:ext cx="202310" cy="4722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76A80237-5BB8-49B0-AF15-E65E8656B710}"/>
              </a:ext>
            </a:extLst>
          </p:cNvPr>
          <p:cNvCxnSpPr>
            <a:cxnSpLocks/>
            <a:stCxn id="9" idx="7"/>
            <a:endCxn id="15" idx="0"/>
          </p:cNvCxnSpPr>
          <p:nvPr/>
        </p:nvCxnSpPr>
        <p:spPr>
          <a:xfrm>
            <a:off x="10068630" y="2848943"/>
            <a:ext cx="784921" cy="18099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DA1F596-5E42-4307-9EEF-770971F08AC5}"/>
              </a:ext>
            </a:extLst>
          </p:cNvPr>
          <p:cNvCxnSpPr>
            <a:cxnSpLocks/>
            <a:stCxn id="11" idx="7"/>
          </p:cNvCxnSpPr>
          <p:nvPr/>
        </p:nvCxnSpPr>
        <p:spPr>
          <a:xfrm flipH="1" flipV="1">
            <a:off x="8529044" y="1406585"/>
            <a:ext cx="657296" cy="2441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5920334-22D2-44E8-AC0A-154717CAF8BB}"/>
              </a:ext>
            </a:extLst>
          </p:cNvPr>
          <p:cNvCxnSpPr>
            <a:cxnSpLocks/>
            <a:stCxn id="12" idx="5"/>
            <a:endCxn id="17" idx="6"/>
          </p:cNvCxnSpPr>
          <p:nvPr/>
        </p:nvCxnSpPr>
        <p:spPr>
          <a:xfrm flipH="1" flipV="1">
            <a:off x="7091917" y="2182749"/>
            <a:ext cx="1300314" cy="20927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2AE838E9-1273-4310-96E9-7A372F43456F}"/>
              </a:ext>
            </a:extLst>
          </p:cNvPr>
          <p:cNvCxnSpPr>
            <a:cxnSpLocks/>
            <a:stCxn id="8" idx="4"/>
          </p:cNvCxnSpPr>
          <p:nvPr/>
        </p:nvCxnSpPr>
        <p:spPr>
          <a:xfrm>
            <a:off x="9444878" y="3890622"/>
            <a:ext cx="14792" cy="50067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1F404C3-A842-47A8-87EB-0B2C6F814133}"/>
              </a:ext>
            </a:extLst>
          </p:cNvPr>
          <p:cNvCxnSpPr>
            <a:cxnSpLocks/>
            <a:stCxn id="8" idx="5"/>
          </p:cNvCxnSpPr>
          <p:nvPr/>
        </p:nvCxnSpPr>
        <p:spPr>
          <a:xfrm>
            <a:off x="9484349" y="3876608"/>
            <a:ext cx="744198" cy="45000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DB99DB2F-0984-43F3-8451-941F5A53EC45}"/>
              </a:ext>
            </a:extLst>
          </p:cNvPr>
          <p:cNvCxnSpPr>
            <a:cxnSpLocks/>
            <a:stCxn id="14" idx="7"/>
            <a:endCxn id="8" idx="4"/>
          </p:cNvCxnSpPr>
          <p:nvPr/>
        </p:nvCxnSpPr>
        <p:spPr>
          <a:xfrm>
            <a:off x="8611882" y="3842776"/>
            <a:ext cx="832996" cy="4784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9933EA55-BC31-47B1-8201-FC14DACCBA30}"/>
              </a:ext>
            </a:extLst>
          </p:cNvPr>
          <p:cNvCxnSpPr>
            <a:cxnSpLocks/>
            <a:endCxn id="18" idx="0"/>
          </p:cNvCxnSpPr>
          <p:nvPr/>
        </p:nvCxnSpPr>
        <p:spPr>
          <a:xfrm flipH="1">
            <a:off x="8570728" y="826788"/>
            <a:ext cx="281119" cy="543621"/>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8201F3E0-9904-45C4-91DE-80E77EA02254}"/>
              </a:ext>
            </a:extLst>
          </p:cNvPr>
          <p:cNvCxnSpPr>
            <a:cxnSpLocks/>
            <a:stCxn id="22" idx="0"/>
          </p:cNvCxnSpPr>
          <p:nvPr/>
        </p:nvCxnSpPr>
        <p:spPr>
          <a:xfrm flipH="1" flipV="1">
            <a:off x="9536450" y="1613771"/>
            <a:ext cx="773961" cy="68129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0E94B3BE-5D3A-4E2D-A388-318AF31B03ED}"/>
              </a:ext>
            </a:extLst>
          </p:cNvPr>
          <p:cNvCxnSpPr>
            <a:cxnSpLocks/>
            <a:endCxn id="22" idx="7"/>
          </p:cNvCxnSpPr>
          <p:nvPr/>
        </p:nvCxnSpPr>
        <p:spPr>
          <a:xfrm flipH="1">
            <a:off x="10349882" y="1866860"/>
            <a:ext cx="810248" cy="44221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20DC4E36-7998-4DF1-9FF8-51BFCE34577A}"/>
              </a:ext>
            </a:extLst>
          </p:cNvPr>
          <p:cNvCxnSpPr>
            <a:cxnSpLocks/>
            <a:endCxn id="15" idx="5"/>
          </p:cNvCxnSpPr>
          <p:nvPr/>
        </p:nvCxnSpPr>
        <p:spPr>
          <a:xfrm flipH="1" flipV="1">
            <a:off x="10893022" y="3111619"/>
            <a:ext cx="523138" cy="633374"/>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507030B6-F07F-4040-9D74-5021F2A56B09}"/>
              </a:ext>
            </a:extLst>
          </p:cNvPr>
          <p:cNvCxnSpPr>
            <a:cxnSpLocks/>
            <a:endCxn id="13" idx="7"/>
          </p:cNvCxnSpPr>
          <p:nvPr/>
        </p:nvCxnSpPr>
        <p:spPr>
          <a:xfrm flipH="1" flipV="1">
            <a:off x="10302560" y="4259625"/>
            <a:ext cx="947060" cy="81676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78DCB22B-10B9-451D-809E-021F3A10E308}"/>
              </a:ext>
            </a:extLst>
          </p:cNvPr>
          <p:cNvCxnSpPr>
            <a:cxnSpLocks/>
            <a:endCxn id="16" idx="5"/>
          </p:cNvCxnSpPr>
          <p:nvPr/>
        </p:nvCxnSpPr>
        <p:spPr>
          <a:xfrm flipH="1" flipV="1">
            <a:off x="9510482" y="4424248"/>
            <a:ext cx="1276308" cy="101246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1A4C3351-2717-40A4-97FE-BD0B4EBCB4A5}"/>
              </a:ext>
            </a:extLst>
          </p:cNvPr>
          <p:cNvCxnSpPr>
            <a:cxnSpLocks/>
          </p:cNvCxnSpPr>
          <p:nvPr/>
        </p:nvCxnSpPr>
        <p:spPr>
          <a:xfrm flipV="1">
            <a:off x="9313033" y="4391298"/>
            <a:ext cx="127992" cy="86704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CE8CAEC2-365A-4B35-B037-C1041284EEAB}"/>
              </a:ext>
            </a:extLst>
          </p:cNvPr>
          <p:cNvCxnSpPr>
            <a:cxnSpLocks/>
            <a:endCxn id="14" idx="3"/>
          </p:cNvCxnSpPr>
          <p:nvPr/>
        </p:nvCxnSpPr>
        <p:spPr>
          <a:xfrm flipV="1">
            <a:off x="8119643" y="3910441"/>
            <a:ext cx="413297" cy="662907"/>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BEA940D9-C5F1-49E2-89FD-E3FE1A4BDCF9}"/>
              </a:ext>
            </a:extLst>
          </p:cNvPr>
          <p:cNvCxnSpPr>
            <a:cxnSpLocks/>
            <a:endCxn id="14" idx="0"/>
          </p:cNvCxnSpPr>
          <p:nvPr/>
        </p:nvCxnSpPr>
        <p:spPr>
          <a:xfrm>
            <a:off x="7373149" y="3504919"/>
            <a:ext cx="1199262" cy="32384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3F70AEC0-33A2-4E8E-8F40-A271AA831652}"/>
              </a:ext>
            </a:extLst>
          </p:cNvPr>
          <p:cNvCxnSpPr>
            <a:cxnSpLocks/>
            <a:endCxn id="10" idx="2"/>
          </p:cNvCxnSpPr>
          <p:nvPr/>
        </p:nvCxnSpPr>
        <p:spPr>
          <a:xfrm>
            <a:off x="6803710" y="2848943"/>
            <a:ext cx="1152986" cy="239816"/>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7AFF5CC-B819-484B-A26E-40F2FAFEBB8E}"/>
              </a:ext>
            </a:extLst>
          </p:cNvPr>
          <p:cNvCxnSpPr>
            <a:cxnSpLocks/>
            <a:endCxn id="17" idx="4"/>
          </p:cNvCxnSpPr>
          <p:nvPr/>
        </p:nvCxnSpPr>
        <p:spPr>
          <a:xfrm>
            <a:off x="6922239" y="1466102"/>
            <a:ext cx="113857"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8742C85-56C0-4044-976E-517D3AECEB06}"/>
              </a:ext>
            </a:extLst>
          </p:cNvPr>
          <p:cNvCxnSpPr>
            <a:cxnSpLocks/>
            <a:stCxn id="17" idx="7"/>
            <a:endCxn id="18" idx="1"/>
          </p:cNvCxnSpPr>
          <p:nvPr/>
        </p:nvCxnSpPr>
        <p:spPr>
          <a:xfrm flipV="1">
            <a:off x="7075567" y="1384423"/>
            <a:ext cx="1455690"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49A62C37-3647-4033-91AC-047DF1928C4A}"/>
              </a:ext>
            </a:extLst>
          </p:cNvPr>
          <p:cNvCxnSpPr>
            <a:cxnSpLocks/>
            <a:stCxn id="14" idx="0"/>
            <a:endCxn id="16" idx="4"/>
          </p:cNvCxnSpPr>
          <p:nvPr/>
        </p:nvCxnSpPr>
        <p:spPr>
          <a:xfrm>
            <a:off x="8572411" y="3828762"/>
            <a:ext cx="898600" cy="60950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7E3931B0-11E1-46D6-9B67-6D0329EEDCC6}"/>
              </a:ext>
            </a:extLst>
          </p:cNvPr>
          <p:cNvSpPr txBox="1"/>
          <p:nvPr/>
        </p:nvSpPr>
        <p:spPr>
          <a:xfrm>
            <a:off x="9612419" y="3544937"/>
            <a:ext cx="660300" cy="400110"/>
          </a:xfrm>
          <a:prstGeom prst="rect">
            <a:avLst/>
          </a:prstGeom>
          <a:noFill/>
        </p:spPr>
        <p:txBody>
          <a:bodyPr wrap="square" rtlCol="0">
            <a:spAutoFit/>
          </a:bodyPr>
          <a:lstStyle/>
          <a:p>
            <a:pPr algn="ctr"/>
            <a:r>
              <a:rPr lang="en-US" sz="2000" dirty="0"/>
              <a:t>D=1</a:t>
            </a:r>
          </a:p>
        </p:txBody>
      </p:sp>
      <p:sp>
        <p:nvSpPr>
          <p:cNvPr id="52" name="TextBox 51">
            <a:extLst>
              <a:ext uri="{FF2B5EF4-FFF2-40B4-BE49-F238E27FC236}">
                <a16:creationId xmlns:a16="http://schemas.microsoft.com/office/drawing/2014/main" id="{C64CE75C-9DEA-4AB1-B9C5-1D31ACE42FE3}"/>
              </a:ext>
            </a:extLst>
          </p:cNvPr>
          <p:cNvSpPr txBox="1"/>
          <p:nvPr/>
        </p:nvSpPr>
        <p:spPr>
          <a:xfrm>
            <a:off x="10138654" y="3801168"/>
            <a:ext cx="660300" cy="400110"/>
          </a:xfrm>
          <a:prstGeom prst="rect">
            <a:avLst/>
          </a:prstGeom>
          <a:noFill/>
        </p:spPr>
        <p:txBody>
          <a:bodyPr wrap="square" rtlCol="0">
            <a:spAutoFit/>
          </a:bodyPr>
          <a:lstStyle/>
          <a:p>
            <a:pPr algn="ctr"/>
            <a:r>
              <a:rPr lang="en-US" sz="2000" dirty="0"/>
              <a:t>D=2</a:t>
            </a:r>
          </a:p>
        </p:txBody>
      </p:sp>
      <p:sp>
        <p:nvSpPr>
          <p:cNvPr id="53" name="TextBox 52">
            <a:extLst>
              <a:ext uri="{FF2B5EF4-FFF2-40B4-BE49-F238E27FC236}">
                <a16:creationId xmlns:a16="http://schemas.microsoft.com/office/drawing/2014/main" id="{B93815A5-848C-45C8-B5FD-5E57DF59DF2A}"/>
              </a:ext>
            </a:extLst>
          </p:cNvPr>
          <p:cNvSpPr txBox="1"/>
          <p:nvPr/>
        </p:nvSpPr>
        <p:spPr>
          <a:xfrm>
            <a:off x="9636549" y="3214107"/>
            <a:ext cx="319526" cy="400110"/>
          </a:xfrm>
          <a:prstGeom prst="rect">
            <a:avLst/>
          </a:prstGeom>
          <a:noFill/>
        </p:spPr>
        <p:txBody>
          <a:bodyPr wrap="square" rtlCol="0">
            <a:spAutoFit/>
          </a:bodyPr>
          <a:lstStyle/>
          <a:p>
            <a:pPr algn="ctr"/>
            <a:r>
              <a:rPr lang="en-US" sz="2000" dirty="0"/>
              <a:t>0</a:t>
            </a:r>
          </a:p>
        </p:txBody>
      </p:sp>
    </p:spTree>
    <p:extLst>
      <p:ext uri="{BB962C8B-B14F-4D97-AF65-F5344CB8AC3E}">
        <p14:creationId xmlns:p14="http://schemas.microsoft.com/office/powerpoint/2010/main" val="33826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8"/>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7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8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02"/>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0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08"/>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1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1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9"/>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3">
                                            <p:txEl>
                                              <p:pRg st="3" end="3"/>
                                            </p:txEl>
                                          </p:spTgt>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3">
                                            <p:txEl>
                                              <p:pRg st="4" end="4"/>
                                            </p:txEl>
                                          </p:spTgt>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2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5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3">
                                            <p:txEl>
                                              <p:pRg st="5" end="5"/>
                                            </p:txEl>
                                          </p:spTgt>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3">
                                            <p:txEl>
                                              <p:pRg st="6" end="6"/>
                                            </p:txEl>
                                          </p:spTgt>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0" grpId="0" animBg="1"/>
      <p:bldP spid="19"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2" grpId="0" animBg="1"/>
      <p:bldP spid="23" grpId="0"/>
      <p:bldP spid="52" grpId="0"/>
      <p:bldP spid="53"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9949" y="986118"/>
                <a:ext cx="10515600" cy="5447426"/>
              </a:xfrm>
            </p:spPr>
            <p:txBody>
              <a:bodyPr>
                <a:normAutofit/>
              </a:bodyPr>
              <a:lstStyle/>
              <a:p>
                <a:pPr marL="0" indent="0">
                  <a:buNone/>
                </a:pPr>
                <a:r>
                  <a:rPr lang="en-US" dirty="0"/>
                  <a:t>Breadth first search is widely used</a:t>
                </a:r>
              </a:p>
              <a:p>
                <a:r>
                  <a:rPr lang="en-US" dirty="0"/>
                  <a:t>Relatively slow with complexity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e>
                    </m:d>
                  </m:oMath>
                </a14:m>
                <a:endParaRPr lang="en-US" dirty="0"/>
              </a:p>
              <a:p>
                <a:r>
                  <a:rPr lang="en-US" dirty="0"/>
                  <a:t>Build a table of distances </a:t>
                </a:r>
              </a:p>
              <a:p>
                <a:r>
                  <a:rPr lang="en-US" dirty="0"/>
                  <a:t>Find shortest paths from distances </a:t>
                </a:r>
              </a:p>
              <a:p>
                <a:pPr lvl="1"/>
                <a:r>
                  <a:rPr lang="en-US" dirty="0"/>
                  <a:t>Tree has only one shortest path </a:t>
                </a:r>
              </a:p>
              <a:p>
                <a:pPr lvl="1"/>
                <a:r>
                  <a:rPr lang="en-US" dirty="0"/>
                  <a:t>A general graph can have multiple shortest paths </a:t>
                </a:r>
              </a:p>
              <a:p>
                <a:r>
                  <a:rPr lang="en-US" dirty="0"/>
                  <a:t>Originally developed by Konrad </a:t>
                </a:r>
                <a:r>
                  <a:rPr lang="en-US" dirty="0" err="1"/>
                  <a:t>Zuse</a:t>
                </a:r>
                <a:r>
                  <a:rPr lang="en-US" dirty="0"/>
                  <a:t>, a computer science pioneer </a:t>
                </a:r>
              </a:p>
              <a:p>
                <a:pPr lvl="1"/>
                <a:r>
                  <a:rPr lang="en-US" dirty="0"/>
                  <a:t>1945 PhD dissertation was rejected, supposedly for unpaid fees </a:t>
                </a:r>
              </a:p>
              <a:p>
                <a:pPr lvl="1"/>
                <a:r>
                  <a:rPr lang="en-US" dirty="0" err="1">
                    <a:hlinkClick r:id="rId2"/>
                  </a:rPr>
                  <a:t>Zuse</a:t>
                </a:r>
                <a:r>
                  <a:rPr lang="en-US" dirty="0">
                    <a:hlinkClick r:id="rId2"/>
                  </a:rPr>
                  <a:t> Created the world’s first programmable computer. The Z3, in 1941</a:t>
                </a:r>
                <a:r>
                  <a:rPr lang="en-US" dirty="0"/>
                  <a:t> </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9949" y="986118"/>
                <a:ext cx="10515600" cy="5447426"/>
              </a:xfrm>
              <a:blipFill>
                <a:blip r:embed="rId3"/>
                <a:stretch>
                  <a:fillRect l="-1217" t="-1904"/>
                </a:stretch>
              </a:blipFill>
            </p:spPr>
            <p:txBody>
              <a:bodyPr/>
              <a:lstStyle/>
              <a:p>
                <a:r>
                  <a:rPr lang="en-US">
                    <a:noFill/>
                  </a:rPr>
                  <a:t> </a:t>
                </a:r>
              </a:p>
            </p:txBody>
          </p:sp>
        </mc:Fallback>
      </mc:AlternateContent>
    </p:spTree>
    <p:extLst>
      <p:ext uri="{BB962C8B-B14F-4D97-AF65-F5344CB8AC3E}">
        <p14:creationId xmlns:p14="http://schemas.microsoft.com/office/powerpoint/2010/main" val="12334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A57F9-C874-AF15-E761-7CD7A24C24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3D6D65-74C2-64B0-9389-C75D392B2CD6}"/>
              </a:ext>
            </a:extLst>
          </p:cNvPr>
          <p:cNvSpPr>
            <a:spLocks noGrp="1"/>
          </p:cNvSpPr>
          <p:nvPr>
            <p:ph type="title"/>
          </p:nvPr>
        </p:nvSpPr>
        <p:spPr>
          <a:xfrm>
            <a:off x="838200" y="365125"/>
            <a:ext cx="10515600" cy="620993"/>
          </a:xfrm>
        </p:spPr>
        <p:txBody>
          <a:bodyPr>
            <a:normAutofit fontScale="90000"/>
          </a:bodyPr>
          <a:lstStyle/>
          <a:p>
            <a:r>
              <a:rPr lang="en-US" dirty="0">
                <a:latin typeface="+mn-lt"/>
              </a:rPr>
              <a:t>Closeness Centrality </a:t>
            </a:r>
            <a:endParaRPr lang="en-US" dirty="0"/>
          </a:p>
        </p:txBody>
      </p:sp>
      <p:sp>
        <p:nvSpPr>
          <p:cNvPr id="3" name="Content Placeholder 2">
            <a:extLst>
              <a:ext uri="{FF2B5EF4-FFF2-40B4-BE49-F238E27FC236}">
                <a16:creationId xmlns:a16="http://schemas.microsoft.com/office/drawing/2014/main" id="{77749327-C1A0-5789-54CD-624C82874528}"/>
              </a:ext>
            </a:extLst>
          </p:cNvPr>
          <p:cNvSpPr>
            <a:spLocks noGrp="1"/>
          </p:cNvSpPr>
          <p:nvPr>
            <p:ph idx="1"/>
          </p:nvPr>
        </p:nvSpPr>
        <p:spPr>
          <a:xfrm>
            <a:off x="759949" y="986118"/>
            <a:ext cx="10515600" cy="1002831"/>
          </a:xfrm>
        </p:spPr>
        <p:txBody>
          <a:bodyPr>
            <a:normAutofit/>
          </a:bodyPr>
          <a:lstStyle/>
          <a:p>
            <a:pPr marL="0" indent="0">
              <a:buNone/>
            </a:pPr>
            <a:r>
              <a:rPr lang="en-US" dirty="0"/>
              <a:t>Closeness centrality measures average closeness of a node to other nodes in a network </a:t>
            </a:r>
          </a:p>
          <a:p>
            <a:pPr marL="0" indent="0">
              <a:buNone/>
            </a:pPr>
            <a:endParaRPr lang="en-US" dirty="0"/>
          </a:p>
          <a:p>
            <a:endParaRPr lang="en-US"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BBE53EDD-D577-7DF8-A96A-114739D74883}"/>
                  </a:ext>
                </a:extLst>
              </p:cNvPr>
              <p:cNvSpPr txBox="1">
                <a:spLocks/>
              </p:cNvSpPr>
              <p:nvPr/>
            </p:nvSpPr>
            <p:spPr>
              <a:xfrm>
                <a:off x="759949" y="1892769"/>
                <a:ext cx="5231067" cy="47715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Several formulations used to compute closeness centrality  </a:t>
                </a:r>
              </a:p>
              <a:p>
                <a:r>
                  <a:rPr lang="en-US" dirty="0" err="1">
                    <a:hlinkClick r:id="rId2"/>
                  </a:rPr>
                  <a:t>NetworkX</a:t>
                </a:r>
                <a:r>
                  <a:rPr lang="en-US" dirty="0"/>
                  <a:t> uses the following formulation for the closeness centrality of node </a:t>
                </a:r>
                <a14:m>
                  <m:oMath xmlns:m="http://schemas.openxmlformats.org/officeDocument/2006/math">
                    <m:r>
                      <a:rPr lang="en-US" i="1">
                        <a:latin typeface="Cambria Math" panose="02040503050406030204" pitchFamily="18" charset="0"/>
                      </a:rPr>
                      <m:t>𝑢</m:t>
                    </m:r>
                  </m:oMath>
                </a14:m>
                <a:r>
                  <a:rPr lang="en-US" dirty="0"/>
                  <a:t>    </a:t>
                </a:r>
              </a:p>
              <a:p>
                <a:pPr marL="0" indent="0">
                  <a:buFont typeface="Arial" panose="020B0604020202020204" pitchFamily="34" charset="0"/>
                  <a:buNone/>
                </a:pPr>
                <a14:m>
                  <m:oMathPara xmlns:m="http://schemas.openxmlformats.org/officeDocument/2006/math">
                    <m:oMath>
                      <m:r>
                        <a:rPr lang="en-US" i="1" smtClean="0">
                          <a:latin typeface="Cambria Math" panose="02040503050406030204" pitchFamily="18" charset="0"/>
                        </a:rPr>
                        <m:t>𝐶</m:t>
                      </m:r>
                      <m:d>
                        <m:dPr>
                          <m:ctrlPr>
                            <a:rPr lang="en-US" i="1" smtClean="0">
                              <a:latin typeface="Cambria Math" panose="02040503050406030204" pitchFamily="18" charset="0"/>
                            </a:rPr>
                          </m:ctrlPr>
                        </m:dPr>
                        <m:e>
                          <m:r>
                            <a:rPr lang="en-US" i="1" smtClean="0">
                              <a:latin typeface="Cambria Math" panose="02040503050406030204" pitchFamily="18" charset="0"/>
                            </a:rPr>
                            <m:t>𝑢</m:t>
                          </m:r>
                        </m:e>
                      </m:d>
                      <m:r>
                        <a:rPr lang="en-US" i="1" smtClean="0">
                          <a:latin typeface="Cambria Math" panose="02040503050406030204" pitchFamily="18" charset="0"/>
                        </a:rPr>
                        <m:t>= </m:t>
                      </m:r>
                      <m:f>
                        <m:fPr>
                          <m:ctrlPr>
                            <a:rPr lang="en-US" i="1" smtClean="0">
                              <a:latin typeface="Cambria Math" panose="02040503050406030204" pitchFamily="18" charset="0"/>
                            </a:rPr>
                          </m:ctrlPr>
                        </m:fPr>
                        <m:num>
                          <m:r>
                            <a:rPr lang="en-US" i="1" smtClean="0">
                              <a:latin typeface="Cambria Math" panose="02040503050406030204" pitchFamily="18" charset="0"/>
                            </a:rPr>
                            <m:t>𝑛</m:t>
                          </m:r>
                          <m:r>
                            <a:rPr lang="en-US" i="1" smtClean="0">
                              <a:latin typeface="Cambria Math" panose="02040503050406030204" pitchFamily="18" charset="0"/>
                            </a:rPr>
                            <m:t>−1</m:t>
                          </m:r>
                        </m:num>
                        <m:den>
                          <m:nary>
                            <m:naryPr>
                              <m:chr m:val="∑"/>
                              <m:supHide m:val="on"/>
                              <m:ctrlPr>
                                <a:rPr lang="en-US" i="1" smtClean="0">
                                  <a:latin typeface="Cambria Math" panose="02040503050406030204" pitchFamily="18" charset="0"/>
                                </a:rPr>
                              </m:ctrlPr>
                            </m:naryPr>
                            <m:sub>
                              <m:r>
                                <m:rPr>
                                  <m:brk m:alnAt="7"/>
                                </m:rPr>
                                <a:rPr lang="en-US" i="1" smtClean="0">
                                  <a:latin typeface="Cambria Math" panose="02040503050406030204" pitchFamily="18" charset="0"/>
                                </a:rPr>
                                <m:t>𝑣</m:t>
                              </m:r>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𝑢</m:t>
                              </m:r>
                            </m:sub>
                            <m:sup/>
                            <m:e>
                              <m:r>
                                <a:rPr lang="en-US" i="1" smtClean="0">
                                  <a:latin typeface="Cambria Math" panose="02040503050406030204" pitchFamily="18" charset="0"/>
                                </a:rPr>
                                <m:t>𝑑</m:t>
                              </m:r>
                              <m:r>
                                <a:rPr lang="en-US" i="1" smtClean="0">
                                  <a:latin typeface="Cambria Math" panose="02040503050406030204" pitchFamily="18" charset="0"/>
                                </a:rPr>
                                <m:t>(</m:t>
                              </m:r>
                              <m:r>
                                <a:rPr lang="en-US" i="1" smtClean="0">
                                  <a:latin typeface="Cambria Math" panose="02040503050406030204" pitchFamily="18" charset="0"/>
                                </a:rPr>
                                <m:t>𝑢</m:t>
                              </m:r>
                              <m:r>
                                <a:rPr lang="en-US" i="1" smtClean="0">
                                  <a:latin typeface="Cambria Math" panose="02040503050406030204" pitchFamily="18" charset="0"/>
                                </a:rPr>
                                <m:t>,</m:t>
                              </m:r>
                              <m:r>
                                <a:rPr lang="en-US" i="1" smtClean="0">
                                  <a:latin typeface="Cambria Math" panose="02040503050406030204" pitchFamily="18" charset="0"/>
                                </a:rPr>
                                <m:t>𝑣</m:t>
                              </m:r>
                              <m:r>
                                <a:rPr lang="en-US" i="1" smtClean="0">
                                  <a:latin typeface="Cambria Math" panose="02040503050406030204" pitchFamily="18" charset="0"/>
                                </a:rPr>
                                <m:t>)</m:t>
                              </m:r>
                            </m:e>
                          </m:nary>
                        </m:den>
                      </m:f>
                    </m:oMath>
                  </m:oMathPara>
                </a14:m>
                <a:endParaRPr lang="en-US" dirty="0"/>
              </a:p>
              <a:p>
                <a:pPr marL="457200" lvl="1" indent="0">
                  <a:buFont typeface="Arial" panose="020B0604020202020204" pitchFamily="34" charset="0"/>
                  <a:buNone/>
                </a:pPr>
                <a:r>
                  <a:rPr lang="en-US" dirty="0"/>
                  <a:t>Where,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𝑣</m:t>
                    </m:r>
                    <m:r>
                      <a:rPr lang="en-US" i="1">
                        <a:latin typeface="Cambria Math" panose="02040503050406030204" pitchFamily="18" charset="0"/>
                      </a:rPr>
                      <m:t>)</m:t>
                    </m:r>
                  </m:oMath>
                </a14:m>
                <a:r>
                  <a:rPr lang="en-US" dirty="0"/>
                  <a:t> is the shortest path distance between node </a:t>
                </a:r>
                <a14:m>
                  <m:oMath xmlns:m="http://schemas.openxmlformats.org/officeDocument/2006/math">
                    <m:r>
                      <a:rPr lang="en-US" i="1">
                        <a:latin typeface="Cambria Math" panose="02040503050406030204" pitchFamily="18" charset="0"/>
                      </a:rPr>
                      <m:t>𝑢</m:t>
                    </m:r>
                  </m:oMath>
                </a14:m>
                <a:r>
                  <a:rPr lang="en-US" dirty="0"/>
                  <a:t> and another node </a:t>
                </a:r>
                <a14:m>
                  <m:oMath xmlns:m="http://schemas.openxmlformats.org/officeDocument/2006/math">
                    <m:r>
                      <a:rPr lang="en-US" i="1" smtClean="0">
                        <a:latin typeface="Cambria Math" panose="02040503050406030204" pitchFamily="18" charset="0"/>
                      </a:rPr>
                      <m:t>𝑣</m:t>
                    </m:r>
                  </m:oMath>
                </a14:m>
                <a:r>
                  <a:rPr lang="en-US" dirty="0"/>
                  <a:t> </a:t>
                </a:r>
              </a:p>
              <a:p>
                <a:pPr marL="0" indent="0">
                  <a:buFont typeface="Arial" panose="020B0604020202020204" pitchFamily="34" charset="0"/>
                  <a:buNone/>
                </a:pPr>
                <a:endParaRPr lang="en-US" dirty="0"/>
              </a:p>
              <a:p>
                <a:endParaRPr lang="en-US" dirty="0"/>
              </a:p>
            </p:txBody>
          </p:sp>
        </mc:Choice>
        <mc:Fallback xmlns="">
          <p:sp>
            <p:nvSpPr>
              <p:cNvPr id="4" name="Content Placeholder 2">
                <a:extLst>
                  <a:ext uri="{FF2B5EF4-FFF2-40B4-BE49-F238E27FC236}">
                    <a16:creationId xmlns:a16="http://schemas.microsoft.com/office/drawing/2014/main" id="{BBE53EDD-D577-7DF8-A96A-114739D74883}"/>
                  </a:ext>
                </a:extLst>
              </p:cNvPr>
              <p:cNvSpPr txBox="1">
                <a:spLocks noRot="1" noChangeAspect="1" noMove="1" noResize="1" noEditPoints="1" noAdjustHandles="1" noChangeArrowheads="1" noChangeShapeType="1" noTextEdit="1"/>
              </p:cNvSpPr>
              <p:nvPr/>
            </p:nvSpPr>
            <p:spPr>
              <a:xfrm>
                <a:off x="759949" y="1892769"/>
                <a:ext cx="5231067" cy="4771502"/>
              </a:xfrm>
              <a:prstGeom prst="rect">
                <a:avLst/>
              </a:prstGeom>
              <a:blipFill>
                <a:blip r:embed="rId3"/>
                <a:stretch>
                  <a:fillRect l="-2098" t="-204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608F6DE3-E25A-A916-A528-2E15B8AB9B99}"/>
              </a:ext>
            </a:extLst>
          </p:cNvPr>
          <p:cNvPicPr>
            <a:picLocks noChangeAspect="1"/>
          </p:cNvPicPr>
          <p:nvPr/>
        </p:nvPicPr>
        <p:blipFill>
          <a:blip r:embed="rId4"/>
          <a:stretch>
            <a:fillRect/>
          </a:stretch>
        </p:blipFill>
        <p:spPr>
          <a:xfrm>
            <a:off x="5991016" y="1557579"/>
            <a:ext cx="6200984" cy="5106692"/>
          </a:xfrm>
          <a:prstGeom prst="rect">
            <a:avLst/>
          </a:prstGeom>
        </p:spPr>
      </p:pic>
    </p:spTree>
    <p:extLst>
      <p:ext uri="{BB962C8B-B14F-4D97-AF65-F5344CB8AC3E}">
        <p14:creationId xmlns:p14="http://schemas.microsoft.com/office/powerpoint/2010/main" val="3651203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E9D12-7E8D-9977-3BE7-D547B7B090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7C9861-146F-6CAC-8763-540378CE9F50}"/>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 Communities  </a:t>
            </a:r>
            <a:endParaRPr lang="en-US" dirty="0"/>
          </a:p>
        </p:txBody>
      </p:sp>
      <p:sp>
        <p:nvSpPr>
          <p:cNvPr id="3" name="Content Placeholder 2">
            <a:extLst>
              <a:ext uri="{FF2B5EF4-FFF2-40B4-BE49-F238E27FC236}">
                <a16:creationId xmlns:a16="http://schemas.microsoft.com/office/drawing/2014/main" id="{FF7CA5C4-127F-A9F3-13CE-75AB0A916057}"/>
              </a:ext>
            </a:extLst>
          </p:cNvPr>
          <p:cNvSpPr>
            <a:spLocks noGrp="1"/>
          </p:cNvSpPr>
          <p:nvPr>
            <p:ph idx="1"/>
          </p:nvPr>
        </p:nvSpPr>
        <p:spPr>
          <a:xfrm>
            <a:off x="278969" y="1208868"/>
            <a:ext cx="10962468" cy="5447426"/>
          </a:xfrm>
        </p:spPr>
        <p:txBody>
          <a:bodyPr>
            <a:normAutofit/>
          </a:bodyPr>
          <a:lstStyle/>
          <a:p>
            <a:pPr marL="0" indent="0">
              <a:buNone/>
            </a:pPr>
            <a:r>
              <a:rPr lang="en-US" dirty="0"/>
              <a:t>Betweenness measures the number of paths between parts of a graph </a:t>
            </a:r>
          </a:p>
          <a:p>
            <a:r>
              <a:rPr lang="en-US" dirty="0"/>
              <a:t>Betweenness is the </a:t>
            </a:r>
            <a:r>
              <a:rPr lang="en-US" b="1" dirty="0"/>
              <a:t>number of pairwise shortest paths </a:t>
            </a:r>
            <a:r>
              <a:rPr lang="en-US" dirty="0"/>
              <a:t>passing though part of a graph</a:t>
            </a:r>
          </a:p>
          <a:p>
            <a:r>
              <a:rPr lang="en-US" dirty="0"/>
              <a:t>Expect high betweenness between communities – few possible paths</a:t>
            </a:r>
          </a:p>
          <a:p>
            <a:r>
              <a:rPr lang="en-US" b="1" dirty="0"/>
              <a:t>Node betweenness </a:t>
            </a:r>
            <a:r>
              <a:rPr lang="en-US" dirty="0"/>
              <a:t>is the number of pairwise shortest paths passing through a given node in the graph </a:t>
            </a:r>
          </a:p>
          <a:p>
            <a:r>
              <a:rPr lang="en-US" b="1" dirty="0"/>
              <a:t>Edge betweenness </a:t>
            </a:r>
            <a:r>
              <a:rPr lang="en-US" dirty="0"/>
              <a:t>is the number of pairwise shortest paths passing through a given edge in the graph</a:t>
            </a:r>
          </a:p>
          <a:p>
            <a:pPr marL="0" indent="0">
              <a:buNone/>
            </a:pPr>
            <a:endParaRPr lang="en-US" dirty="0"/>
          </a:p>
          <a:p>
            <a:pPr marL="0" indent="0">
              <a:buNone/>
            </a:pPr>
            <a:endParaRPr lang="en-US"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09958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E2C1-51E4-EAEE-3ACA-05FF3F8E08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68CBF-6084-8482-5E63-472DD053F44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Social Network Communities</a:t>
            </a:r>
            <a:endParaRPr lang="en-US" dirty="0"/>
          </a:p>
        </p:txBody>
      </p:sp>
      <p:sp>
        <p:nvSpPr>
          <p:cNvPr id="3" name="Content Placeholder 2">
            <a:extLst>
              <a:ext uri="{FF2B5EF4-FFF2-40B4-BE49-F238E27FC236}">
                <a16:creationId xmlns:a16="http://schemas.microsoft.com/office/drawing/2014/main" id="{78415E34-BEC7-AB78-6D68-794C6F28B92D}"/>
              </a:ext>
            </a:extLst>
          </p:cNvPr>
          <p:cNvSpPr>
            <a:spLocks noGrp="1"/>
          </p:cNvSpPr>
          <p:nvPr>
            <p:ph idx="1"/>
          </p:nvPr>
        </p:nvSpPr>
        <p:spPr>
          <a:xfrm>
            <a:off x="278969" y="1208868"/>
            <a:ext cx="5109275" cy="5447426"/>
          </a:xfrm>
        </p:spPr>
        <p:txBody>
          <a:bodyPr>
            <a:normAutofit/>
          </a:bodyPr>
          <a:lstStyle/>
          <a:p>
            <a:pPr marL="0" indent="0">
              <a:buNone/>
            </a:pPr>
            <a:r>
              <a:rPr lang="en-US" dirty="0"/>
              <a:t>Betweenness measures the number </a:t>
            </a:r>
            <a:r>
              <a:rPr lang="en-US"/>
              <a:t>of paths </a:t>
            </a:r>
            <a:r>
              <a:rPr lang="en-US" dirty="0"/>
              <a:t>between parts of a graph </a:t>
            </a:r>
          </a:p>
          <a:p>
            <a:r>
              <a:rPr lang="en-US" dirty="0"/>
              <a:t>Example: a single node is on path between members of two communities  </a:t>
            </a:r>
          </a:p>
          <a:p>
            <a:r>
              <a:rPr lang="en-US" dirty="0"/>
              <a:t>Can use betweenness to separate communities </a:t>
            </a:r>
          </a:p>
          <a:p>
            <a:pPr marL="0" indent="0">
              <a:buNone/>
            </a:pPr>
            <a:endParaRPr lang="en-US" dirty="0"/>
          </a:p>
          <a:p>
            <a:pPr marL="0" indent="0">
              <a:buNone/>
            </a:pPr>
            <a:r>
              <a:rPr lang="en-US" sz="1800" dirty="0"/>
              <a:t>Source: </a:t>
            </a:r>
            <a:r>
              <a:rPr lang="en-US" sz="1800" dirty="0">
                <a:hlinkClick r:id="rId2"/>
              </a:rPr>
              <a:t>bsmithactivity3</a:t>
            </a:r>
            <a:endParaRPr lang="en-US" sz="1800" dirty="0"/>
          </a:p>
          <a:p>
            <a:pPr marL="0" indent="0">
              <a:buNone/>
            </a:pPr>
            <a:endParaRPr lang="en-US" dirty="0"/>
          </a:p>
          <a:p>
            <a:endParaRPr lang="en-US" dirty="0"/>
          </a:p>
          <a:p>
            <a:endParaRPr lang="en-US" dirty="0"/>
          </a:p>
        </p:txBody>
      </p:sp>
      <p:pic>
        <p:nvPicPr>
          <p:cNvPr id="2052" name="Picture 4">
            <a:extLst>
              <a:ext uri="{FF2B5EF4-FFF2-40B4-BE49-F238E27FC236}">
                <a16:creationId xmlns:a16="http://schemas.microsoft.com/office/drawing/2014/main" id="{2C3219DB-5946-0DBB-7D0A-309D4EFF1E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9898" y="1208868"/>
            <a:ext cx="6269584" cy="54474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0142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516611" y="1208868"/>
                <a:ext cx="6892396" cy="5447426"/>
              </a:xfrm>
            </p:spPr>
            <p:txBody>
              <a:bodyPr>
                <a:normAutofit/>
              </a:bodyPr>
              <a:lstStyle/>
              <a:p>
                <a:pPr marL="0" indent="0">
                  <a:buNone/>
                </a:pPr>
                <a:r>
                  <a:rPr lang="en-US" dirty="0"/>
                  <a:t>Betweenness centrality found by summing distances while traversing a graph </a:t>
                </a:r>
              </a:p>
              <a:p>
                <a:r>
                  <a:rPr lang="en-US" dirty="0"/>
                  <a:t>For graph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𝑛</m:t>
                        </m:r>
                      </m:e>
                      <m:sub>
                        <m:r>
                          <a:rPr lang="en-US" b="0" i="1" smtClean="0">
                            <a:latin typeface="Cambria Math" panose="02040503050406030204" pitchFamily="18" charset="0"/>
                          </a:rPr>
                          <m:t>𝑠𝑡</m:t>
                        </m:r>
                      </m:sub>
                      <m:sup>
                        <m:r>
                          <a:rPr lang="en-US" b="0" i="1" smtClean="0">
                            <a:latin typeface="Cambria Math" panose="02040503050406030204" pitchFamily="18" charset="0"/>
                          </a:rPr>
                          <m:t>𝑖</m:t>
                        </m:r>
                      </m:sup>
                    </m:sSubSup>
                  </m:oMath>
                </a14:m>
                <a:r>
                  <a:rPr lang="en-US" dirty="0"/>
                  <a:t> the number of shortest paths though node </a:t>
                </a:r>
                <a:r>
                  <a:rPr lang="en-US" i="1" dirty="0" err="1"/>
                  <a:t>i</a:t>
                </a:r>
                <a:r>
                  <a:rPr lang="en-US" dirty="0"/>
                  <a:t>, a</a:t>
                </a:r>
                <a14:m>
                  <m:oMath xmlns:m="http://schemas.openxmlformats.org/officeDocument/2006/math">
                    <m:r>
                      <m:rPr>
                        <m:sty m:val="p"/>
                      </m:rPr>
                      <a:rPr lang="en-US" b="0" i="0" smtClean="0">
                        <a:latin typeface="Cambria Math" panose="02040503050406030204" pitchFamily="18" charset="0"/>
                      </a:rPr>
                      <m:t>nd</m:t>
                    </m:r>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𝑠𝑡</m:t>
                        </m:r>
                      </m:sub>
                    </m:sSub>
                    <m:r>
                      <a:rPr lang="en-US" b="0" i="1" smtClean="0">
                        <a:latin typeface="Cambria Math" panose="02040503050406030204" pitchFamily="18" charset="0"/>
                      </a:rPr>
                      <m:t> </m:t>
                    </m:r>
                  </m:oMath>
                </a14:m>
                <a:r>
                  <a:rPr lang="en-US" dirty="0"/>
                  <a:t>total </a:t>
                </a:r>
                <a:r>
                  <a:rPr lang="en-US"/>
                  <a:t>number of shortest </a:t>
                </a:r>
                <a:r>
                  <a:rPr lang="en-US" dirty="0"/>
                  <a:t>paths, </a:t>
                </a:r>
                <a:r>
                  <a:rPr lang="en-US" b="1" dirty="0"/>
                  <a:t>betweenness centrality: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𝑠𝑡</m:t>
                              </m:r>
                            </m:sub>
                            <m:sup>
                              <m:r>
                                <a:rPr lang="en-US" i="1">
                                  <a:latin typeface="Cambria Math" panose="02040503050406030204" pitchFamily="18" charset="0"/>
                                </a:rPr>
                                <m:t>𝑖</m:t>
                              </m:r>
                            </m:sup>
                          </m:sSubSup>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nary>
                        <m:naryPr>
                          <m:chr m:val="∑"/>
                          <m:limLoc m:val="subSup"/>
                          <m:supHide m:val="on"/>
                          <m:ctrlPr>
                            <a:rPr lang="en-US" b="0" i="1" smtClean="0">
                              <a:latin typeface="Cambria Math" panose="02040503050406030204" pitchFamily="18" charset="0"/>
                            </a:rPr>
                          </m:ctrlPr>
                        </m:naryPr>
                        <m:sub>
                          <m:r>
                            <m:rPr>
                              <m:brk m:alnAt="9"/>
                            </m:rPr>
                            <a:rPr lang="en-US" b="0" i="1" smtClean="0">
                              <a:latin typeface="Cambria Math" panose="02040503050406030204" pitchFamily="18" charset="0"/>
                            </a:rPr>
                            <m:t>𝑠</m:t>
                          </m:r>
                          <m:r>
                            <a:rPr lang="en-US" b="0" i="1" smtClean="0">
                              <a:latin typeface="Cambria Math" panose="02040503050406030204" pitchFamily="18" charset="0"/>
                            </a:rPr>
                            <m:t>𝑡</m:t>
                          </m:r>
                        </m:sub>
                        <m:sup/>
                        <m:e>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b="0" i="1" smtClean="0">
                                  <a:latin typeface="Cambria Math" panose="02040503050406030204" pitchFamily="18" charset="0"/>
                                </a:rPr>
                                <m:t> </m:t>
                              </m:r>
                            </m:sub>
                            <m:sup>
                              <m:r>
                                <a:rPr lang="en-US" i="1">
                                  <a:latin typeface="Cambria Math" panose="02040503050406030204" pitchFamily="18" charset="0"/>
                                </a:rPr>
                                <m:t>𝑖</m:t>
                              </m:r>
                            </m:sup>
                          </m:sSubSup>
                        </m:e>
                      </m:nary>
                    </m:oMath>
                  </m:oMathPara>
                </a14:m>
                <a:endParaRPr lang="en-US" dirty="0"/>
              </a:p>
              <a:p>
                <a:r>
                  <a:rPr lang="en-US" dirty="0"/>
                  <a:t>Example: start with a graph</a:t>
                </a:r>
              </a:p>
              <a:p>
                <a:r>
                  <a:rPr lang="en-US" dirty="0"/>
                  <a:t>Nodes or edges have distances 1 in this case</a:t>
                </a:r>
              </a:p>
              <a:p>
                <a:r>
                  <a:rPr lang="en-US" dirty="0"/>
                  <a:t>Find betweenness along shortest paths to a node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 </m:t>
                        </m:r>
                      </m:sub>
                      <m:sup>
                        <m:r>
                          <a:rPr lang="en-US" i="1">
                            <a:latin typeface="Cambria Math" panose="02040503050406030204" pitchFamily="18" charset="0"/>
                          </a:rPr>
                          <m:t>𝑖</m:t>
                        </m:r>
                      </m:sup>
                    </m:sSubSup>
                  </m:oMath>
                </a14:m>
                <a:r>
                  <a:rPr lang="en-US" dirty="0"/>
                  <a:t>  </a:t>
                </a:r>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516611" y="1208868"/>
                <a:ext cx="6892396" cy="5447426"/>
              </a:xfrm>
              <a:blipFill>
                <a:blip r:embed="rId2"/>
                <a:stretch>
                  <a:fillRect l="-1858" t="-1790" r="-177"/>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1DD10ED4-E26E-401A-BC6D-EE1165960B84}"/>
              </a:ext>
            </a:extLst>
          </p:cNvPr>
          <p:cNvSpPr/>
          <p:nvPr/>
        </p:nvSpPr>
        <p:spPr>
          <a:xfrm>
            <a:off x="9065781" y="1524000"/>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223706"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99740"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2417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2229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355083" y="5414074"/>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429273" y="541407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88723" y="4386182"/>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68357" y="3024753"/>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68357" y="1748887"/>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69923" y="4386182"/>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602018" y="4386182"/>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344391" y="3024753"/>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312716" y="1748887"/>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608074" y="5303492"/>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808303" y="5303492"/>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614679" y="4031420"/>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78636" y="4062197"/>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943086" y="1020165"/>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96597" y="2648766"/>
            <a:ext cx="542441" cy="461665"/>
          </a:xfrm>
          <a:prstGeom prst="rect">
            <a:avLst/>
          </a:prstGeom>
          <a:noFill/>
        </p:spPr>
        <p:txBody>
          <a:bodyPr wrap="square" rtlCol="0">
            <a:spAutoFit/>
          </a:bodyPr>
          <a:lstStyle/>
          <a:p>
            <a:pPr algn="ctr"/>
            <a:r>
              <a:rPr lang="en-US" sz="2400" dirty="0"/>
              <a:t>1</a:t>
            </a:r>
          </a:p>
        </p:txBody>
      </p:sp>
      <p:sp>
        <p:nvSpPr>
          <p:cNvPr id="28" name="TextBox 27">
            <a:extLst>
              <a:ext uri="{FF2B5EF4-FFF2-40B4-BE49-F238E27FC236}">
                <a16:creationId xmlns:a16="http://schemas.microsoft.com/office/drawing/2014/main" id="{68ADF6B1-60B4-43C4-AC7D-DF41D262DC60}"/>
              </a:ext>
            </a:extLst>
          </p:cNvPr>
          <p:cNvSpPr txBox="1"/>
          <p:nvPr/>
        </p:nvSpPr>
        <p:spPr>
          <a:xfrm>
            <a:off x="7757466" y="2829275"/>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104284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7"/>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32" grpId="0"/>
      <p:bldP spid="33" grpId="0"/>
      <p:bldP spid="34" grpId="0"/>
      <p:bldP spid="35" grpId="0"/>
      <p:bldP spid="36" grpId="0"/>
      <p:bldP spid="37" grpId="0"/>
      <p:bldP spid="28"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6325068" cy="5447426"/>
          </a:xfrm>
        </p:spPr>
        <p:txBody>
          <a:bodyPr>
            <a:normAutofit/>
          </a:bodyPr>
          <a:lstStyle/>
          <a:p>
            <a:pPr marL="0" indent="0">
              <a:buNone/>
            </a:pPr>
            <a:r>
              <a:rPr lang="en-US" dirty="0"/>
              <a:t>Betweenness centrality found by summing distances while traversing a graph </a:t>
            </a:r>
          </a:p>
          <a:p>
            <a:r>
              <a:rPr lang="en-US" dirty="0"/>
              <a:t>Starting with the most distant nodes</a:t>
            </a:r>
          </a:p>
          <a:p>
            <a:r>
              <a:rPr lang="en-US" dirty="0"/>
              <a:t>Sum distances </a:t>
            </a:r>
          </a:p>
          <a:p>
            <a:r>
              <a:rPr lang="en-US" dirty="0"/>
              <a:t>If multiple paths, divide distance (weight) between paths</a:t>
            </a:r>
          </a:p>
          <a:p>
            <a:r>
              <a:rPr lang="en-US" dirty="0"/>
              <a:t>Continue summing until reaching </a:t>
            </a:r>
            <a:r>
              <a:rPr lang="en-US" i="1" dirty="0"/>
              <a:t>s</a:t>
            </a:r>
          </a:p>
          <a:p>
            <a:endParaRPr lang="en-US" dirty="0"/>
          </a:p>
          <a:p>
            <a:endParaRPr lang="en-US" dirty="0"/>
          </a:p>
        </p:txBody>
      </p:sp>
      <p:sp>
        <p:nvSpPr>
          <p:cNvPr id="4" name="Oval 3">
            <a:extLst>
              <a:ext uri="{FF2B5EF4-FFF2-40B4-BE49-F238E27FC236}">
                <a16:creationId xmlns:a16="http://schemas.microsoft.com/office/drawing/2014/main" id="{1DD10ED4-E26E-401A-BC6D-EE1165960B84}"/>
              </a:ext>
            </a:extLst>
          </p:cNvPr>
          <p:cNvSpPr/>
          <p:nvPr/>
        </p:nvSpPr>
        <p:spPr>
          <a:xfrm>
            <a:off x="9008630" y="148995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166555"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42589"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1846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1658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297932" y="5380027"/>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372122" y="5380026"/>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31572" y="4352135"/>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11206" y="2990706"/>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11206" y="1714840"/>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12772" y="4352135"/>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544867" y="4352135"/>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287240" y="2990706"/>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255565" y="1714840"/>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550923" y="5269445"/>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751152" y="5269445"/>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557528" y="3997373"/>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21485" y="4028150"/>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885935" y="986118"/>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39446" y="2614719"/>
            <a:ext cx="542441" cy="461665"/>
          </a:xfrm>
          <a:prstGeom prst="rect">
            <a:avLst/>
          </a:prstGeom>
          <a:noFill/>
        </p:spPr>
        <p:txBody>
          <a:bodyPr wrap="square" rtlCol="0">
            <a:spAutoFit/>
          </a:bodyPr>
          <a:lstStyle/>
          <a:p>
            <a:pPr algn="ctr"/>
            <a:r>
              <a:rPr lang="en-US" sz="2400" dirty="0"/>
              <a:t>1</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FFFC57A-F5A9-4D2C-B57E-6DC2B9166E1F}"/>
                  </a:ext>
                </a:extLst>
              </p:cNvPr>
              <p:cNvSpPr txBox="1"/>
              <p:nvPr/>
            </p:nvSpPr>
            <p:spPr>
              <a:xfrm>
                <a:off x="8741156" y="3809501"/>
                <a:ext cx="542441" cy="783804"/>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3</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8" name="TextBox 37">
                <a:extLst>
                  <a:ext uri="{FF2B5EF4-FFF2-40B4-BE49-F238E27FC236}">
                    <a16:creationId xmlns:a16="http://schemas.microsoft.com/office/drawing/2014/main" id="{5FFFC57A-F5A9-4D2C-B57E-6DC2B9166E1F}"/>
                  </a:ext>
                </a:extLst>
              </p:cNvPr>
              <p:cNvSpPr txBox="1">
                <a:spLocks noRot="1" noChangeAspect="1" noMove="1" noResize="1" noEditPoints="1" noAdjustHandles="1" noChangeArrowheads="1" noChangeShapeType="1" noTextEdit="1"/>
              </p:cNvSpPr>
              <p:nvPr/>
            </p:nvSpPr>
            <p:spPr>
              <a:xfrm>
                <a:off x="8741156" y="3809501"/>
                <a:ext cx="542441" cy="78380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C58BAE9-CD90-4863-BBB1-7071626167C5}"/>
                  </a:ext>
                </a:extLst>
              </p:cNvPr>
              <p:cNvSpPr txBox="1"/>
              <p:nvPr/>
            </p:nvSpPr>
            <p:spPr>
              <a:xfrm>
                <a:off x="10724295" y="3808850"/>
                <a:ext cx="542441" cy="815673"/>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9" name="TextBox 38">
                <a:extLst>
                  <a:ext uri="{FF2B5EF4-FFF2-40B4-BE49-F238E27FC236}">
                    <a16:creationId xmlns:a16="http://schemas.microsoft.com/office/drawing/2014/main" id="{0C58BAE9-CD90-4863-BBB1-7071626167C5}"/>
                  </a:ext>
                </a:extLst>
              </p:cNvPr>
              <p:cNvSpPr txBox="1">
                <a:spLocks noRot="1" noChangeAspect="1" noMove="1" noResize="1" noEditPoints="1" noAdjustHandles="1" noChangeArrowheads="1" noChangeShapeType="1" noTextEdit="1"/>
              </p:cNvSpPr>
              <p:nvPr/>
            </p:nvSpPr>
            <p:spPr>
              <a:xfrm>
                <a:off x="10724295" y="3808850"/>
                <a:ext cx="542441" cy="81567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5F3F7C9-1A1B-465F-8C41-CAC5F14DCB88}"/>
                  </a:ext>
                </a:extLst>
              </p:cNvPr>
              <p:cNvSpPr txBox="1"/>
              <p:nvPr/>
            </p:nvSpPr>
            <p:spPr>
              <a:xfrm>
                <a:off x="10515841" y="2437714"/>
                <a:ext cx="542441" cy="781368"/>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7</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0" name="TextBox 39">
                <a:extLst>
                  <a:ext uri="{FF2B5EF4-FFF2-40B4-BE49-F238E27FC236}">
                    <a16:creationId xmlns:a16="http://schemas.microsoft.com/office/drawing/2014/main" id="{C5F3F7C9-1A1B-465F-8C41-CAC5F14DCB88}"/>
                  </a:ext>
                </a:extLst>
              </p:cNvPr>
              <p:cNvSpPr txBox="1">
                <a:spLocks noRot="1" noChangeAspect="1" noMove="1" noResize="1" noEditPoints="1" noAdjustHandles="1" noChangeArrowheads="1" noChangeShapeType="1" noTextEdit="1"/>
              </p:cNvSpPr>
              <p:nvPr/>
            </p:nvSpPr>
            <p:spPr>
              <a:xfrm>
                <a:off x="10515841" y="2437714"/>
                <a:ext cx="542441" cy="78136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B2990C9-3243-43EC-A09F-12228B07C3CE}"/>
                  </a:ext>
                </a:extLst>
              </p:cNvPr>
              <p:cNvSpPr txBox="1"/>
              <p:nvPr/>
            </p:nvSpPr>
            <p:spPr>
              <a:xfrm>
                <a:off x="8574675" y="2491583"/>
                <a:ext cx="542441" cy="783804"/>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1" name="TextBox 40">
                <a:extLst>
                  <a:ext uri="{FF2B5EF4-FFF2-40B4-BE49-F238E27FC236}">
                    <a16:creationId xmlns:a16="http://schemas.microsoft.com/office/drawing/2014/main" id="{1B2990C9-3243-43EC-A09F-12228B07C3CE}"/>
                  </a:ext>
                </a:extLst>
              </p:cNvPr>
              <p:cNvSpPr txBox="1">
                <a:spLocks noRot="1" noChangeAspect="1" noMove="1" noResize="1" noEditPoints="1" noAdjustHandles="1" noChangeArrowheads="1" noChangeShapeType="1" noTextEdit="1"/>
              </p:cNvSpPr>
              <p:nvPr/>
            </p:nvSpPr>
            <p:spPr>
              <a:xfrm>
                <a:off x="8574675" y="2491583"/>
                <a:ext cx="542441" cy="783804"/>
              </a:xfrm>
              <a:prstGeom prst="rect">
                <a:avLst/>
              </a:prstGeom>
              <a:blipFill>
                <a:blip r:embed="rId5"/>
                <a:stretch>
                  <a:fillRect/>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68ADF6B1-60B4-43C4-AC7D-DF41D262DC60}"/>
              </a:ext>
            </a:extLst>
          </p:cNvPr>
          <p:cNvSpPr txBox="1"/>
          <p:nvPr/>
        </p:nvSpPr>
        <p:spPr>
          <a:xfrm>
            <a:off x="7700315" y="2795228"/>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38209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0" grpId="0"/>
      <p:bldP spid="41"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3F747-8121-68C5-E10E-3B7A3A9382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809CE5-CDEA-5E3B-84E4-0292FBB5262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B3C9307C-7E45-1373-357C-52D27F2518FF}"/>
              </a:ext>
            </a:extLst>
          </p:cNvPr>
          <p:cNvSpPr>
            <a:spLocks noGrp="1"/>
          </p:cNvSpPr>
          <p:nvPr>
            <p:ph idx="1"/>
          </p:nvPr>
        </p:nvSpPr>
        <p:spPr>
          <a:xfrm>
            <a:off x="775447" y="2314414"/>
            <a:ext cx="5217231" cy="4241369"/>
          </a:xfrm>
        </p:spPr>
        <p:txBody>
          <a:bodyPr>
            <a:normAutofit/>
          </a:bodyPr>
          <a:lstStyle/>
          <a:p>
            <a:r>
              <a:rPr lang="en-US" dirty="0"/>
              <a:t>Betweenness can be computed for both nodes and edges</a:t>
            </a:r>
          </a:p>
          <a:p>
            <a:r>
              <a:rPr lang="en-US" dirty="0"/>
              <a:t>High betweenness nodes and edges lie between communities </a:t>
            </a:r>
          </a:p>
          <a:p>
            <a:endParaRPr lang="en-US" dirty="0"/>
          </a:p>
          <a:p>
            <a:endParaRPr lang="en-US" dirty="0"/>
          </a:p>
        </p:txBody>
      </p:sp>
      <p:pic>
        <p:nvPicPr>
          <p:cNvPr id="14" name="Picture 13">
            <a:extLst>
              <a:ext uri="{FF2B5EF4-FFF2-40B4-BE49-F238E27FC236}">
                <a16:creationId xmlns:a16="http://schemas.microsoft.com/office/drawing/2014/main" id="{BB351C4F-B45E-FADB-5EB2-922437753ABE}"/>
              </a:ext>
            </a:extLst>
          </p:cNvPr>
          <p:cNvPicPr>
            <a:picLocks noChangeAspect="1"/>
          </p:cNvPicPr>
          <p:nvPr/>
        </p:nvPicPr>
        <p:blipFill>
          <a:blip r:embed="rId2"/>
          <a:stretch>
            <a:fillRect/>
          </a:stretch>
        </p:blipFill>
        <p:spPr>
          <a:xfrm>
            <a:off x="6199323" y="1838679"/>
            <a:ext cx="5992678" cy="4977991"/>
          </a:xfrm>
          <a:prstGeom prst="rect">
            <a:avLst/>
          </a:prstGeom>
        </p:spPr>
      </p:pic>
      <p:sp>
        <p:nvSpPr>
          <p:cNvPr id="15" name="Content Placeholder 2">
            <a:extLst>
              <a:ext uri="{FF2B5EF4-FFF2-40B4-BE49-F238E27FC236}">
                <a16:creationId xmlns:a16="http://schemas.microsoft.com/office/drawing/2014/main" id="{8B86F25C-10DB-6240-8268-185CEA5E6429}"/>
              </a:ext>
            </a:extLst>
          </p:cNvPr>
          <p:cNvSpPr txBox="1">
            <a:spLocks/>
          </p:cNvSpPr>
          <p:nvPr/>
        </p:nvSpPr>
        <p:spPr>
          <a:xfrm>
            <a:off x="609600" y="1260528"/>
            <a:ext cx="10515600" cy="85279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Betweenness centrality found by summing distances while traversing a graph </a:t>
            </a:r>
          </a:p>
        </p:txBody>
      </p:sp>
    </p:spTree>
    <p:extLst>
      <p:ext uri="{BB962C8B-B14F-4D97-AF65-F5344CB8AC3E}">
        <p14:creationId xmlns:p14="http://schemas.microsoft.com/office/powerpoint/2010/main" val="1002702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4FA98-1458-8C4C-0082-9D3C0E6909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F26731-C312-9E89-3137-ACD78BAB9D08}"/>
              </a:ext>
            </a:extLst>
          </p:cNvPr>
          <p:cNvSpPr>
            <a:spLocks noGrp="1"/>
          </p:cNvSpPr>
          <p:nvPr>
            <p:ph type="title"/>
          </p:nvPr>
        </p:nvSpPr>
        <p:spPr>
          <a:xfrm>
            <a:off x="831850" y="1709738"/>
            <a:ext cx="10515600" cy="2282271"/>
          </a:xfrm>
        </p:spPr>
        <p:txBody>
          <a:bodyPr/>
          <a:lstStyle/>
          <a:p>
            <a:pPr algn="ctr"/>
            <a:r>
              <a:rPr lang="en-US" dirty="0"/>
              <a:t>Cliques and K-Cores</a:t>
            </a:r>
          </a:p>
        </p:txBody>
      </p:sp>
    </p:spTree>
    <p:extLst>
      <p:ext uri="{BB962C8B-B14F-4D97-AF65-F5344CB8AC3E}">
        <p14:creationId xmlns:p14="http://schemas.microsoft.com/office/powerpoint/2010/main" val="28593240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Cliques are fully connected regions </a:t>
                </a:r>
                <a:r>
                  <a:rPr lang="en-US" dirty="0"/>
                  <a:t>of a graph</a:t>
                </a:r>
              </a:p>
              <a:p>
                <a:r>
                  <a:rPr lang="en-US" dirty="0"/>
                  <a:t>Each node is connected to all neighbors in a clique</a:t>
                </a:r>
              </a:p>
              <a:p>
                <a:r>
                  <a:rPr lang="en-US" dirty="0"/>
                  <a:t>Examples of cliques</a:t>
                </a:r>
              </a:p>
              <a:p>
                <a:endParaRPr lang="en-US" dirty="0"/>
              </a:p>
              <a:p>
                <a:endParaRPr lang="en-US" dirty="0"/>
              </a:p>
              <a:p>
                <a:endParaRPr lang="en-US" dirty="0"/>
              </a:p>
              <a:p>
                <a:endParaRPr lang="en-US" dirty="0"/>
              </a:p>
              <a:p>
                <a:r>
                  <a:rPr lang="en-US" dirty="0"/>
                  <a:t>Number of edges, </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For order of clique </a:t>
                </a:r>
                <a14:m>
                  <m:oMath xmlns:m="http://schemas.openxmlformats.org/officeDocument/2006/math">
                    <m:r>
                      <a:rPr lang="en-US" b="0" i="1" smtClean="0">
                        <a:latin typeface="Cambria Math" panose="02040503050406030204" pitchFamily="18" charset="0"/>
                        <a:ea typeface="Cambria Math" panose="02040503050406030204" pitchFamily="18" charset="0"/>
                      </a:rPr>
                      <m:t>≥3</m:t>
                    </m:r>
                  </m:oMath>
                </a14:m>
                <a:r>
                  <a:rPr lang="en-US" dirty="0"/>
                  <a:t> the </a:t>
                </a:r>
                <a:r>
                  <a:rPr lang="en-US" b="1" dirty="0"/>
                  <a:t>nodes are vertices of triangles</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40BD03B8-59B3-4D9A-884E-B28099BA3AE9}"/>
              </a:ext>
            </a:extLst>
          </p:cNvPr>
          <p:cNvSpPr/>
          <p:nvPr/>
        </p:nvSpPr>
        <p:spPr>
          <a:xfrm>
            <a:off x="3058635"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04CFB4D1-BDFC-4546-BFE6-86090502AB1F}"/>
              </a:ext>
            </a:extLst>
          </p:cNvPr>
          <p:cNvSpPr/>
          <p:nvPr/>
        </p:nvSpPr>
        <p:spPr>
          <a:xfrm>
            <a:off x="3509633" y="360167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0BFBFA-7010-4402-80CF-5A2DD21FAB98}"/>
              </a:ext>
            </a:extLst>
          </p:cNvPr>
          <p:cNvSpPr/>
          <p:nvPr/>
        </p:nvSpPr>
        <p:spPr>
          <a:xfrm>
            <a:off x="4002119"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09B590CC-B673-438E-A534-FACF0C6CA0F9}"/>
              </a:ext>
            </a:extLst>
          </p:cNvPr>
          <p:cNvCxnSpPr>
            <a:cxnSpLocks/>
            <a:stCxn id="4" idx="6"/>
            <a:endCxn id="6" idx="2"/>
          </p:cNvCxnSpPr>
          <p:nvPr/>
        </p:nvCxnSpPr>
        <p:spPr>
          <a:xfrm flipV="1">
            <a:off x="3287235"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40E4BDB-9DAE-4118-A532-06FA2B3B75B9}"/>
              </a:ext>
            </a:extLst>
          </p:cNvPr>
          <p:cNvCxnSpPr>
            <a:cxnSpLocks/>
            <a:stCxn id="4" idx="4"/>
            <a:endCxn id="5" idx="1"/>
          </p:cNvCxnSpPr>
          <p:nvPr/>
        </p:nvCxnSpPr>
        <p:spPr>
          <a:xfrm>
            <a:off x="3172935" y="3152553"/>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622F482-CE2E-4B36-8CEF-F822774254C5}"/>
              </a:ext>
            </a:extLst>
          </p:cNvPr>
          <p:cNvCxnSpPr>
            <a:cxnSpLocks/>
            <a:stCxn id="6" idx="4"/>
            <a:endCxn id="5" idx="7"/>
          </p:cNvCxnSpPr>
          <p:nvPr/>
        </p:nvCxnSpPr>
        <p:spPr>
          <a:xfrm flipH="1">
            <a:off x="3704755" y="3147236"/>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E7BE59D5-06E1-4466-B5FD-778173DCE4F0}"/>
              </a:ext>
            </a:extLst>
          </p:cNvPr>
          <p:cNvSpPr/>
          <p:nvPr/>
        </p:nvSpPr>
        <p:spPr>
          <a:xfrm>
            <a:off x="5923097"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DA23E0A-C81C-472D-B828-4E5816EBD4BF}"/>
              </a:ext>
            </a:extLst>
          </p:cNvPr>
          <p:cNvSpPr/>
          <p:nvPr/>
        </p:nvSpPr>
        <p:spPr>
          <a:xfrm>
            <a:off x="5923097" y="367739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EF2B8C5-EE98-4F40-B302-049F65EA8202}"/>
              </a:ext>
            </a:extLst>
          </p:cNvPr>
          <p:cNvSpPr/>
          <p:nvPr/>
        </p:nvSpPr>
        <p:spPr>
          <a:xfrm>
            <a:off x="6866581"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4B020F90-3904-4ECE-BD12-F5478593670D}"/>
              </a:ext>
            </a:extLst>
          </p:cNvPr>
          <p:cNvCxnSpPr>
            <a:cxnSpLocks/>
            <a:stCxn id="17" idx="6"/>
            <a:endCxn id="19" idx="2"/>
          </p:cNvCxnSpPr>
          <p:nvPr/>
        </p:nvCxnSpPr>
        <p:spPr>
          <a:xfrm flipV="1">
            <a:off x="6151697"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0793BE1-3413-4564-8FB3-4DE87DBB01C1}"/>
              </a:ext>
            </a:extLst>
          </p:cNvPr>
          <p:cNvCxnSpPr>
            <a:cxnSpLocks/>
            <a:stCxn id="17" idx="4"/>
            <a:endCxn id="18" idx="0"/>
          </p:cNvCxnSpPr>
          <p:nvPr/>
        </p:nvCxnSpPr>
        <p:spPr>
          <a:xfrm>
            <a:off x="6037397" y="3152553"/>
            <a:ext cx="0" cy="52484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694E58B-219D-4193-A294-BF83CCA61760}"/>
              </a:ext>
            </a:extLst>
          </p:cNvPr>
          <p:cNvCxnSpPr>
            <a:cxnSpLocks/>
            <a:stCxn id="19" idx="3"/>
            <a:endCxn id="18" idx="7"/>
          </p:cNvCxnSpPr>
          <p:nvPr/>
        </p:nvCxnSpPr>
        <p:spPr>
          <a:xfrm flipH="1">
            <a:off x="6118219" y="3116094"/>
            <a:ext cx="781840" cy="59244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63281E21-48BC-406D-B496-DB6BA8A35E3D}"/>
              </a:ext>
            </a:extLst>
          </p:cNvPr>
          <p:cNvSpPr/>
          <p:nvPr/>
        </p:nvSpPr>
        <p:spPr>
          <a:xfrm>
            <a:off x="1337019" y="303027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FFE9A829-D9CD-41F6-94C3-8464548E892C}"/>
              </a:ext>
            </a:extLst>
          </p:cNvPr>
          <p:cNvSpPr/>
          <p:nvPr/>
        </p:nvSpPr>
        <p:spPr>
          <a:xfrm>
            <a:off x="1337019" y="373105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264B782D-6D7B-4BC4-83FA-47ABAF1C8136}"/>
              </a:ext>
            </a:extLst>
          </p:cNvPr>
          <p:cNvCxnSpPr>
            <a:cxnSpLocks/>
            <a:stCxn id="29" idx="4"/>
            <a:endCxn id="30" idx="0"/>
          </p:cNvCxnSpPr>
          <p:nvPr/>
        </p:nvCxnSpPr>
        <p:spPr>
          <a:xfrm>
            <a:off x="1451319" y="3242928"/>
            <a:ext cx="0" cy="48813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300B5CA6-D056-404B-A294-7BB6637DFFC7}"/>
              </a:ext>
            </a:extLst>
          </p:cNvPr>
          <p:cNvSpPr/>
          <p:nvPr/>
        </p:nvSpPr>
        <p:spPr>
          <a:xfrm>
            <a:off x="6883320" y="36724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9CAF639-5DFA-46EB-A029-C48C014AE169}"/>
              </a:ext>
            </a:extLst>
          </p:cNvPr>
          <p:cNvCxnSpPr>
            <a:cxnSpLocks/>
            <a:stCxn id="17" idx="5"/>
            <a:endCxn id="36" idx="1"/>
          </p:cNvCxnSpPr>
          <p:nvPr/>
        </p:nvCxnSpPr>
        <p:spPr>
          <a:xfrm>
            <a:off x="6118219" y="3121411"/>
            <a:ext cx="798579" cy="58214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13E14D44-3995-4900-B54A-19DC9F3D233B}"/>
              </a:ext>
            </a:extLst>
          </p:cNvPr>
          <p:cNvCxnSpPr>
            <a:cxnSpLocks/>
            <a:stCxn id="19" idx="4"/>
            <a:endCxn id="36" idx="0"/>
          </p:cNvCxnSpPr>
          <p:nvPr/>
        </p:nvCxnSpPr>
        <p:spPr>
          <a:xfrm>
            <a:off x="6980881" y="3147236"/>
            <a:ext cx="16739" cy="52517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960C35E-9D98-441F-9738-A1E2BA59D81B}"/>
              </a:ext>
            </a:extLst>
          </p:cNvPr>
          <p:cNvCxnSpPr>
            <a:cxnSpLocks/>
            <a:stCxn id="18" idx="6"/>
            <a:endCxn id="36" idx="2"/>
          </p:cNvCxnSpPr>
          <p:nvPr/>
        </p:nvCxnSpPr>
        <p:spPr>
          <a:xfrm flipV="1">
            <a:off x="6151697" y="3778737"/>
            <a:ext cx="731623" cy="49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Oval 54">
            <a:extLst>
              <a:ext uri="{FF2B5EF4-FFF2-40B4-BE49-F238E27FC236}">
                <a16:creationId xmlns:a16="http://schemas.microsoft.com/office/drawing/2014/main" id="{E397948C-357E-4BF0-A63F-F6233E211A85}"/>
              </a:ext>
            </a:extLst>
          </p:cNvPr>
          <p:cNvSpPr/>
          <p:nvPr/>
        </p:nvSpPr>
        <p:spPr>
          <a:xfrm>
            <a:off x="8637880" y="26189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905EF05-CD8A-4D0A-AB16-E89ECDB2A4AB}"/>
              </a:ext>
            </a:extLst>
          </p:cNvPr>
          <p:cNvSpPr/>
          <p:nvPr/>
        </p:nvSpPr>
        <p:spPr>
          <a:xfrm>
            <a:off x="8334066" y="33230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52E697D6-D95F-4976-84F4-932ECD5B9B94}"/>
              </a:ext>
            </a:extLst>
          </p:cNvPr>
          <p:cNvSpPr/>
          <p:nvPr/>
        </p:nvSpPr>
        <p:spPr>
          <a:xfrm>
            <a:off x="9483022" y="260827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Connector 57">
            <a:extLst>
              <a:ext uri="{FF2B5EF4-FFF2-40B4-BE49-F238E27FC236}">
                <a16:creationId xmlns:a16="http://schemas.microsoft.com/office/drawing/2014/main" id="{DCFAB3CF-E6E9-48BD-9054-3D0753036ABD}"/>
              </a:ext>
            </a:extLst>
          </p:cNvPr>
          <p:cNvCxnSpPr>
            <a:cxnSpLocks/>
            <a:stCxn id="55" idx="6"/>
            <a:endCxn id="57" idx="2"/>
          </p:cNvCxnSpPr>
          <p:nvPr/>
        </p:nvCxnSpPr>
        <p:spPr>
          <a:xfrm flipV="1">
            <a:off x="8866480" y="2714605"/>
            <a:ext cx="616542" cy="1063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7D71769F-2B8D-41AF-BAD9-1F4A0F1E1439}"/>
              </a:ext>
            </a:extLst>
          </p:cNvPr>
          <p:cNvCxnSpPr>
            <a:cxnSpLocks/>
            <a:stCxn id="55" idx="3"/>
            <a:endCxn id="56" idx="0"/>
          </p:cNvCxnSpPr>
          <p:nvPr/>
        </p:nvCxnSpPr>
        <p:spPr>
          <a:xfrm flipH="1">
            <a:off x="8448366" y="2800420"/>
            <a:ext cx="222992" cy="52258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3F463B8-F779-40FC-B8DB-1591AC2A43E2}"/>
              </a:ext>
            </a:extLst>
          </p:cNvPr>
          <p:cNvCxnSpPr>
            <a:cxnSpLocks/>
            <a:stCxn id="57" idx="3"/>
            <a:endCxn id="56" idx="7"/>
          </p:cNvCxnSpPr>
          <p:nvPr/>
        </p:nvCxnSpPr>
        <p:spPr>
          <a:xfrm flipH="1">
            <a:off x="8529188" y="2789788"/>
            <a:ext cx="987312" cy="5643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0D7144E3-E798-4B8D-A142-2309B4AC062B}"/>
              </a:ext>
            </a:extLst>
          </p:cNvPr>
          <p:cNvSpPr/>
          <p:nvPr/>
        </p:nvSpPr>
        <p:spPr>
          <a:xfrm>
            <a:off x="9129339" y="371510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4CF949D5-B284-4402-9510-960303ADDEB0}"/>
              </a:ext>
            </a:extLst>
          </p:cNvPr>
          <p:cNvCxnSpPr>
            <a:cxnSpLocks/>
            <a:stCxn id="55" idx="4"/>
            <a:endCxn id="61" idx="1"/>
          </p:cNvCxnSpPr>
          <p:nvPr/>
        </p:nvCxnSpPr>
        <p:spPr>
          <a:xfrm>
            <a:off x="8752180" y="2831562"/>
            <a:ext cx="410637" cy="91468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3BE28FD0-0D18-4766-85B7-74F445D9157F}"/>
              </a:ext>
            </a:extLst>
          </p:cNvPr>
          <p:cNvCxnSpPr>
            <a:cxnSpLocks/>
            <a:stCxn id="57" idx="4"/>
            <a:endCxn id="61" idx="0"/>
          </p:cNvCxnSpPr>
          <p:nvPr/>
        </p:nvCxnSpPr>
        <p:spPr>
          <a:xfrm flipH="1">
            <a:off x="9243639" y="2820930"/>
            <a:ext cx="353683" cy="89417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4E5E2882-FBBD-429B-BE63-53EFC4D058D5}"/>
              </a:ext>
            </a:extLst>
          </p:cNvPr>
          <p:cNvCxnSpPr>
            <a:cxnSpLocks/>
            <a:stCxn id="56" idx="5"/>
            <a:endCxn id="61" idx="2"/>
          </p:cNvCxnSpPr>
          <p:nvPr/>
        </p:nvCxnSpPr>
        <p:spPr>
          <a:xfrm>
            <a:off x="8529188" y="3504511"/>
            <a:ext cx="600151" cy="31692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539A91B0-E54B-4F19-BB7D-BC2745A84836}"/>
              </a:ext>
            </a:extLst>
          </p:cNvPr>
          <p:cNvSpPr/>
          <p:nvPr/>
        </p:nvSpPr>
        <p:spPr>
          <a:xfrm>
            <a:off x="9839510" y="332751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39348C27-FC44-4E4C-8F00-4DF7EF9C3CC9}"/>
              </a:ext>
            </a:extLst>
          </p:cNvPr>
          <p:cNvCxnSpPr>
            <a:cxnSpLocks/>
            <a:stCxn id="57" idx="5"/>
            <a:endCxn id="65" idx="0"/>
          </p:cNvCxnSpPr>
          <p:nvPr/>
        </p:nvCxnSpPr>
        <p:spPr>
          <a:xfrm>
            <a:off x="9678144" y="2789788"/>
            <a:ext cx="275666" cy="53772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F280DEF3-58DC-4E75-B915-E895CD12FA11}"/>
              </a:ext>
            </a:extLst>
          </p:cNvPr>
          <p:cNvCxnSpPr>
            <a:cxnSpLocks/>
            <a:stCxn id="55" idx="6"/>
            <a:endCxn id="65" idx="1"/>
          </p:cNvCxnSpPr>
          <p:nvPr/>
        </p:nvCxnSpPr>
        <p:spPr>
          <a:xfrm>
            <a:off x="8866480" y="2725237"/>
            <a:ext cx="1006508" cy="63341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0ACC78D9-9D69-45FB-B240-3F717C2C3F39}"/>
              </a:ext>
            </a:extLst>
          </p:cNvPr>
          <p:cNvCxnSpPr>
            <a:cxnSpLocks/>
            <a:stCxn id="56" idx="2"/>
            <a:endCxn id="65" idx="2"/>
          </p:cNvCxnSpPr>
          <p:nvPr/>
        </p:nvCxnSpPr>
        <p:spPr>
          <a:xfrm>
            <a:off x="8334066" y="3429328"/>
            <a:ext cx="1505444" cy="45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FA184986-DA60-476F-8688-A8E037A8D65C}"/>
              </a:ext>
            </a:extLst>
          </p:cNvPr>
          <p:cNvCxnSpPr>
            <a:cxnSpLocks/>
            <a:stCxn id="61" idx="6"/>
            <a:endCxn id="65" idx="3"/>
          </p:cNvCxnSpPr>
          <p:nvPr/>
        </p:nvCxnSpPr>
        <p:spPr>
          <a:xfrm flipV="1">
            <a:off x="9357939" y="3509023"/>
            <a:ext cx="515049" cy="3124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899CAF9A-ED1D-4907-BF33-DFF34733905C}"/>
              </a:ext>
            </a:extLst>
          </p:cNvPr>
          <p:cNvSpPr txBox="1"/>
          <p:nvPr/>
        </p:nvSpPr>
        <p:spPr>
          <a:xfrm>
            <a:off x="731874" y="4063126"/>
            <a:ext cx="1320209" cy="461665"/>
          </a:xfrm>
          <a:prstGeom prst="rect">
            <a:avLst/>
          </a:prstGeom>
          <a:noFill/>
        </p:spPr>
        <p:txBody>
          <a:bodyPr wrap="square" rtlCol="0">
            <a:spAutoFit/>
          </a:bodyPr>
          <a:lstStyle/>
          <a:p>
            <a:pPr algn="ctr"/>
            <a:r>
              <a:rPr lang="en-US" sz="2400" b="1" dirty="0"/>
              <a:t>2-Clique</a:t>
            </a:r>
          </a:p>
        </p:txBody>
      </p:sp>
      <p:sp>
        <p:nvSpPr>
          <p:cNvPr id="109" name="TextBox 108">
            <a:extLst>
              <a:ext uri="{FF2B5EF4-FFF2-40B4-BE49-F238E27FC236}">
                <a16:creationId xmlns:a16="http://schemas.microsoft.com/office/drawing/2014/main" id="{2947788E-A5AA-43DF-AE68-68EBE97C93DA}"/>
              </a:ext>
            </a:extLst>
          </p:cNvPr>
          <p:cNvSpPr txBox="1"/>
          <p:nvPr/>
        </p:nvSpPr>
        <p:spPr>
          <a:xfrm>
            <a:off x="2910510" y="4063126"/>
            <a:ext cx="1320209" cy="461665"/>
          </a:xfrm>
          <a:prstGeom prst="rect">
            <a:avLst/>
          </a:prstGeom>
          <a:noFill/>
        </p:spPr>
        <p:txBody>
          <a:bodyPr wrap="square" rtlCol="0">
            <a:spAutoFit/>
          </a:bodyPr>
          <a:lstStyle/>
          <a:p>
            <a:pPr algn="ctr"/>
            <a:r>
              <a:rPr lang="en-US" sz="2400" b="1" dirty="0"/>
              <a:t>3-Clique</a:t>
            </a:r>
          </a:p>
        </p:txBody>
      </p:sp>
      <p:sp>
        <p:nvSpPr>
          <p:cNvPr id="110" name="TextBox 109">
            <a:extLst>
              <a:ext uri="{FF2B5EF4-FFF2-40B4-BE49-F238E27FC236}">
                <a16:creationId xmlns:a16="http://schemas.microsoft.com/office/drawing/2014/main" id="{21B5E268-E0BA-495C-B935-70F53DFBEAA2}"/>
              </a:ext>
            </a:extLst>
          </p:cNvPr>
          <p:cNvSpPr txBox="1"/>
          <p:nvPr/>
        </p:nvSpPr>
        <p:spPr>
          <a:xfrm>
            <a:off x="5849034" y="4063125"/>
            <a:ext cx="1320209" cy="461665"/>
          </a:xfrm>
          <a:prstGeom prst="rect">
            <a:avLst/>
          </a:prstGeom>
          <a:noFill/>
        </p:spPr>
        <p:txBody>
          <a:bodyPr wrap="square" rtlCol="0">
            <a:spAutoFit/>
          </a:bodyPr>
          <a:lstStyle/>
          <a:p>
            <a:pPr algn="ctr"/>
            <a:r>
              <a:rPr lang="en-US" sz="2400" b="1" dirty="0"/>
              <a:t>4-Clique</a:t>
            </a:r>
          </a:p>
        </p:txBody>
      </p:sp>
      <p:sp>
        <p:nvSpPr>
          <p:cNvPr id="111" name="TextBox 110">
            <a:extLst>
              <a:ext uri="{FF2B5EF4-FFF2-40B4-BE49-F238E27FC236}">
                <a16:creationId xmlns:a16="http://schemas.microsoft.com/office/drawing/2014/main" id="{1982A6A2-054F-4D0D-A261-7C1BF72F965C}"/>
              </a:ext>
            </a:extLst>
          </p:cNvPr>
          <p:cNvSpPr txBox="1"/>
          <p:nvPr/>
        </p:nvSpPr>
        <p:spPr>
          <a:xfrm>
            <a:off x="8448366" y="4063125"/>
            <a:ext cx="1320209" cy="461665"/>
          </a:xfrm>
          <a:prstGeom prst="rect">
            <a:avLst/>
          </a:prstGeom>
          <a:noFill/>
        </p:spPr>
        <p:txBody>
          <a:bodyPr wrap="square" rtlCol="0">
            <a:spAutoFit/>
          </a:bodyPr>
          <a:lstStyle/>
          <a:p>
            <a:pPr algn="ctr"/>
            <a:r>
              <a:rPr lang="en-US" sz="2400" b="1" dirty="0"/>
              <a:t>5-Clique</a:t>
            </a:r>
          </a:p>
        </p:txBody>
      </p:sp>
    </p:spTree>
    <p:extLst>
      <p:ext uri="{BB962C8B-B14F-4D97-AF65-F5344CB8AC3E}">
        <p14:creationId xmlns:p14="http://schemas.microsoft.com/office/powerpoint/2010/main" val="3417005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9"/>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3"/>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5"/>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91"/>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8"/>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0"/>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1"/>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3">
                                            <p:txEl>
                                              <p:pRg st="7" end="7"/>
                                            </p:txEl>
                                          </p:spTgt>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17" grpId="0" animBg="1"/>
      <p:bldP spid="18" grpId="0" animBg="1"/>
      <p:bldP spid="19" grpId="0" animBg="1"/>
      <p:bldP spid="29" grpId="0" animBg="1"/>
      <p:bldP spid="30" grpId="0" animBg="1"/>
      <p:bldP spid="36" grpId="0" animBg="1"/>
      <p:bldP spid="55" grpId="0" animBg="1"/>
      <p:bldP spid="56" grpId="0" animBg="1"/>
      <p:bldP spid="57" grpId="0" animBg="1"/>
      <p:bldP spid="61" grpId="0" animBg="1"/>
      <p:bldP spid="65" grpId="0" animBg="1"/>
      <p:bldP spid="108" grpId="0"/>
      <p:bldP spid="109" grpId="0"/>
      <p:bldP spid="110" grpId="0"/>
      <p:bldP spid="11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Cliques are fully connected components </a:t>
                </a:r>
                <a:r>
                  <a:rPr lang="en-US" dirty="0"/>
                  <a:t>of a graph</a:t>
                </a:r>
              </a:p>
              <a:p>
                <a:r>
                  <a:rPr lang="en-US" dirty="0"/>
                  <a:t>Number of edges,</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Large </a:t>
                </a:r>
                <a14:m>
                  <m:oMath xmlns:m="http://schemas.openxmlformats.org/officeDocument/2006/math">
                    <m:r>
                      <a:rPr lang="en-US" b="0" i="1" smtClean="0">
                        <a:latin typeface="Cambria Math" panose="02040503050406030204" pitchFamily="18" charset="0"/>
                      </a:rPr>
                      <m:t>𝑛</m:t>
                    </m:r>
                  </m:oMath>
                </a14:m>
                <a:r>
                  <a:rPr lang="en-US" dirty="0"/>
                  <a:t> clique formation requires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oMath>
                </a14:m>
                <a:r>
                  <a:rPr lang="en-US" dirty="0"/>
                  <a:t> </a:t>
                </a:r>
              </a:p>
              <a:p>
                <a:r>
                  <a:rPr lang="en-US" dirty="0"/>
                  <a:t>For a </a:t>
                </a:r>
                <a:r>
                  <a:rPr lang="en-US" b="1" dirty="0"/>
                  <a:t>random graph </a:t>
                </a:r>
                <a:r>
                  <a:rPr lang="en-US" dirty="0"/>
                  <a:t>with </a:t>
                </a:r>
                <a14:m>
                  <m:oMath xmlns:m="http://schemas.openxmlformats.org/officeDocument/2006/math">
                    <m:r>
                      <a:rPr lang="en-US" b="0" i="1" smtClean="0">
                        <a:latin typeface="Cambria Math" panose="02040503050406030204" pitchFamily="18" charset="0"/>
                      </a:rPr>
                      <m:t>𝑛</m:t>
                    </m:r>
                  </m:oMath>
                </a14:m>
                <a:r>
                  <a:rPr lang="en-US" dirty="0"/>
                  <a:t> nodes and </a:t>
                </a:r>
                <a14:m>
                  <m:oMath xmlns:m="http://schemas.openxmlformats.org/officeDocument/2006/math">
                    <m:r>
                      <a:rPr lang="en-US" b="0" i="1" smtClean="0">
                        <a:latin typeface="Cambria Math" panose="02040503050406030204" pitchFamily="18" charset="0"/>
                      </a:rPr>
                      <m:t>𝑚</m:t>
                    </m:r>
                  </m:oMath>
                </a14:m>
                <a:r>
                  <a:rPr lang="en-US" dirty="0"/>
                  <a:t> edges, the probability that two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connected: </a:t>
                </a:r>
              </a:p>
              <a:p>
                <a:pPr marL="0" indent="0">
                  <a:buNone/>
                </a:pPr>
                <a14:m>
                  <m:oMathPara xmlns:m="http://schemas.openxmlformats.org/officeDocument/2006/math">
                    <m:o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e>
                      </m:d>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𝑚</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den>
                      </m:f>
                    </m:oMath>
                  </m:oMathPara>
                </a14:m>
                <a:endParaRPr lang="en-US" dirty="0"/>
              </a:p>
              <a:p>
                <a:r>
                  <a:rPr lang="en-US" dirty="0"/>
                  <a:t>For real-world </a:t>
                </a:r>
                <a:r>
                  <a:rPr lang="en-US" b="1" dirty="0"/>
                  <a:t>sparse networks</a:t>
                </a:r>
                <a14:m>
                  <m:oMath xmlns:m="http://schemas.openxmlformats.org/officeDocument/2006/math">
                    <m:r>
                      <a:rPr lang="en-US" b="1" i="0"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𝑗</m:t>
                            </m:r>
                          </m:sub>
                        </m:sSub>
                      </m:e>
                    </m:d>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r>
                  <a:rPr lang="en-US" dirty="0"/>
                  <a:t>, so large clique formation unlikely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468366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Probability of high-order cliques in sparse networks is very low   </a:t>
                </a:r>
              </a:p>
              <a:p>
                <a:r>
                  <a:rPr lang="en-US" dirty="0"/>
                  <a:t>K-core is the </a:t>
                </a:r>
                <a:r>
                  <a:rPr lang="en-US" b="1" dirty="0"/>
                  <a:t>part of a component with degree </a:t>
                </a:r>
                <a14:m>
                  <m:oMath xmlns:m="http://schemas.openxmlformats.org/officeDocument/2006/math">
                    <m:r>
                      <a:rPr lang="en-US" b="1" i="0" smtClean="0">
                        <a:latin typeface="Cambria Math" panose="02040503050406030204" pitchFamily="18" charset="0"/>
                        <a:ea typeface="Cambria Math" panose="02040503050406030204" pitchFamily="18" charset="0"/>
                      </a:rPr>
                      <m:t>&gt;</m:t>
                    </m:r>
                    <m:r>
                      <a:rPr lang="en-US" b="1" i="1" smtClean="0">
                        <a:latin typeface="Cambria Math" panose="02040503050406030204" pitchFamily="18" charset="0"/>
                        <a:ea typeface="Cambria Math" panose="02040503050406030204" pitchFamily="18" charset="0"/>
                      </a:rPr>
                      <m:t>𝒌</m:t>
                    </m:r>
                  </m:oMath>
                </a14:m>
                <a:endParaRPr lang="en-US" b="1" dirty="0">
                  <a:ea typeface="Cambria Math" panose="02040503050406030204" pitchFamily="18" charset="0"/>
                </a:endParaRPr>
              </a:p>
              <a:p>
                <a:pPr lvl="1"/>
                <a:r>
                  <a:rPr lang="en-US" dirty="0">
                    <a:ea typeface="Cambria Math" panose="02040503050406030204" pitchFamily="18" charset="0"/>
                  </a:rPr>
                  <a:t>Find k by the degree of the nodes</a:t>
                </a:r>
                <a:endParaRPr lang="en-US" b="1" dirty="0">
                  <a:ea typeface="Cambria Math" panose="02040503050406030204" pitchFamily="18" charset="0"/>
                </a:endParaRPr>
              </a:p>
              <a:p>
                <a:pPr lvl="1"/>
                <a:r>
                  <a:rPr lang="en-US" dirty="0">
                    <a:ea typeface="Cambria Math" panose="02040503050406030204" pitchFamily="18" charset="0"/>
                  </a:rPr>
                  <a:t>Computationally efficient</a:t>
                </a:r>
                <a:endParaRPr lang="en-US" dirty="0"/>
              </a:p>
              <a:p>
                <a:r>
                  <a:rPr lang="en-US" dirty="0"/>
                  <a:t>Existence of k-cores much less restrictive than some other centrality measures</a:t>
                </a:r>
              </a:p>
              <a:p>
                <a:r>
                  <a:rPr lang="en-US" dirty="0"/>
                  <a:t>High probability of finding k-cores with large k  </a:t>
                </a:r>
              </a:p>
              <a:p>
                <a:r>
                  <a:rPr lang="en-US" dirty="0"/>
                  <a:t>Larger k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denser core</a:t>
                </a:r>
              </a:p>
              <a:p>
                <a:r>
                  <a:rPr lang="en-US" dirty="0"/>
                  <a:t>High k core nodes are </a:t>
                </a:r>
                <a:r>
                  <a:rPr lang="en-US" b="1" dirty="0"/>
                  <a:t>highly connected </a:t>
                </a:r>
                <a:r>
                  <a:rPr lang="en-US" dirty="0"/>
                  <a:t>and </a:t>
                </a:r>
                <a:r>
                  <a:rPr lang="en-US" b="1" dirty="0"/>
                  <a:t>influential </a:t>
                </a:r>
                <a:r>
                  <a:rPr lang="en-US" dirty="0"/>
                  <a:t>in the network</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21334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39512" y="2002970"/>
            <a:ext cx="6806959" cy="3880759"/>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Example: k-cores of a simple network </a:t>
            </a:r>
          </a:p>
          <a:p>
            <a:r>
              <a:rPr lang="en-US" dirty="0"/>
              <a:t>Higher values of k correspond to nodes with higher </a:t>
            </a:r>
            <a:r>
              <a:rPr lang="en-US" b="1" dirty="0"/>
              <a:t>centrality</a:t>
            </a:r>
          </a:p>
          <a:p>
            <a:r>
              <a:rPr lang="en-US" dirty="0"/>
              <a:t>Subcommunities each can have a k-core</a:t>
            </a:r>
          </a:p>
          <a:p>
            <a:pPr marL="0" indent="0">
              <a:buNone/>
            </a:pPr>
            <a:endParaRPr lang="en-US" dirty="0"/>
          </a:p>
        </p:txBody>
      </p:sp>
      <p:pic>
        <p:nvPicPr>
          <p:cNvPr id="6" name="Picture 5">
            <a:extLst>
              <a:ext uri="{FF2B5EF4-FFF2-40B4-BE49-F238E27FC236}">
                <a16:creationId xmlns:a16="http://schemas.microsoft.com/office/drawing/2014/main" id="{6BBB9C1B-00A8-1CF7-DCE9-4423AE31362C}"/>
              </a:ext>
            </a:extLst>
          </p:cNvPr>
          <p:cNvPicPr>
            <a:picLocks noChangeAspect="1"/>
          </p:cNvPicPr>
          <p:nvPr/>
        </p:nvPicPr>
        <p:blipFill>
          <a:blip r:embed="rId2"/>
          <a:stretch>
            <a:fillRect/>
          </a:stretch>
        </p:blipFill>
        <p:spPr>
          <a:xfrm>
            <a:off x="7988085" y="198471"/>
            <a:ext cx="4145397" cy="6575901"/>
          </a:xfrm>
          <a:prstGeom prst="rect">
            <a:avLst/>
          </a:prstGeom>
        </p:spPr>
      </p:pic>
    </p:spTree>
    <p:extLst>
      <p:ext uri="{BB962C8B-B14F-4D97-AF65-F5344CB8AC3E}">
        <p14:creationId xmlns:p14="http://schemas.microsoft.com/office/powerpoint/2010/main" val="1496501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A5503-290A-89B2-9BAB-2EEB00B5A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14BCFE-3DD4-EBF7-A93A-F5FBF07448C2}"/>
              </a:ext>
            </a:extLst>
          </p:cNvPr>
          <p:cNvSpPr>
            <a:spLocks noGrp="1"/>
          </p:cNvSpPr>
          <p:nvPr>
            <p:ph type="title"/>
          </p:nvPr>
        </p:nvSpPr>
        <p:spPr>
          <a:xfrm>
            <a:off x="831850" y="1709738"/>
            <a:ext cx="10515600" cy="2282271"/>
          </a:xfrm>
        </p:spPr>
        <p:txBody>
          <a:bodyPr/>
          <a:lstStyle/>
          <a:p>
            <a:pPr algn="ctr"/>
            <a:r>
              <a:rPr lang="en-US" dirty="0"/>
              <a:t>Communities and Triangle Density</a:t>
            </a:r>
          </a:p>
        </p:txBody>
      </p:sp>
    </p:spTree>
    <p:extLst>
      <p:ext uri="{BB962C8B-B14F-4D97-AF65-F5344CB8AC3E}">
        <p14:creationId xmlns:p14="http://schemas.microsoft.com/office/powerpoint/2010/main" val="11953123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of community cores </a:t>
            </a:r>
          </a:p>
          <a:p>
            <a:r>
              <a:rPr lang="en-US" dirty="0"/>
              <a:t>Empirically, we expect when a person is connected to 2 other people, the other people are more likely to be connected to each other </a:t>
            </a:r>
          </a:p>
          <a:p>
            <a:r>
              <a:rPr lang="en-US" dirty="0"/>
              <a:t>In a random graph, two people connected to a common individual will only be connected to each other by random coincidence:  </a:t>
            </a:r>
          </a:p>
          <a:p>
            <a:endParaRPr lang="en-US" dirty="0"/>
          </a:p>
          <a:p>
            <a:endParaRPr lang="en-US" dirty="0"/>
          </a:p>
          <a:p>
            <a:r>
              <a:rPr lang="en-US" dirty="0"/>
              <a:t>In a community there is a high probability of completing the triangle of relationships or creating a </a:t>
            </a:r>
            <a:r>
              <a:rPr lang="en-US" b="1" dirty="0"/>
              <a:t>triad</a:t>
            </a:r>
            <a:r>
              <a:rPr lang="en-US" dirty="0"/>
              <a:t>:   </a:t>
            </a:r>
          </a:p>
        </p:txBody>
      </p:sp>
      <p:sp>
        <p:nvSpPr>
          <p:cNvPr id="4" name="Oval 3">
            <a:extLst>
              <a:ext uri="{FF2B5EF4-FFF2-40B4-BE49-F238E27FC236}">
                <a16:creationId xmlns:a16="http://schemas.microsoft.com/office/drawing/2014/main" id="{D35088B5-BF66-4208-8355-7664108086B5}"/>
              </a:ext>
            </a:extLst>
          </p:cNvPr>
          <p:cNvSpPr/>
          <p:nvPr/>
        </p:nvSpPr>
        <p:spPr>
          <a:xfrm>
            <a:off x="4680100" y="350874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C4F072E6-5877-4A5B-BC04-C6EC5B0CEFA2}"/>
              </a:ext>
            </a:extLst>
          </p:cNvPr>
          <p:cNvSpPr/>
          <p:nvPr/>
        </p:nvSpPr>
        <p:spPr>
          <a:xfrm>
            <a:off x="5131098" y="4170516"/>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C0D025E-9F81-4E37-9074-1A8BCAAFCBC6}"/>
              </a:ext>
            </a:extLst>
          </p:cNvPr>
          <p:cNvSpPr/>
          <p:nvPr/>
        </p:nvSpPr>
        <p:spPr>
          <a:xfrm>
            <a:off x="5623584" y="350342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B071E4B8-2457-428A-8F6B-4CA84915E022}"/>
              </a:ext>
            </a:extLst>
          </p:cNvPr>
          <p:cNvCxnSpPr>
            <a:cxnSpLocks/>
            <a:stCxn id="4" idx="4"/>
            <a:endCxn id="5" idx="1"/>
          </p:cNvCxnSpPr>
          <p:nvPr/>
        </p:nvCxnSpPr>
        <p:spPr>
          <a:xfrm>
            <a:off x="4794400" y="3721395"/>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7F04382-A796-44C7-830B-199A5F4730ED}"/>
              </a:ext>
            </a:extLst>
          </p:cNvPr>
          <p:cNvCxnSpPr>
            <a:cxnSpLocks/>
            <a:stCxn id="6" idx="4"/>
            <a:endCxn id="5" idx="7"/>
          </p:cNvCxnSpPr>
          <p:nvPr/>
        </p:nvCxnSpPr>
        <p:spPr>
          <a:xfrm flipH="1">
            <a:off x="5326220" y="3716078"/>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D6CAC7A1-215A-45F5-9C4E-AED0F3AB3E8E}"/>
              </a:ext>
            </a:extLst>
          </p:cNvPr>
          <p:cNvSpPr/>
          <p:nvPr/>
        </p:nvSpPr>
        <p:spPr>
          <a:xfrm>
            <a:off x="2588201" y="556444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0FC6A38-03C3-4F1E-9EC2-EAA5E5E09CC6}"/>
              </a:ext>
            </a:extLst>
          </p:cNvPr>
          <p:cNvSpPr/>
          <p:nvPr/>
        </p:nvSpPr>
        <p:spPr>
          <a:xfrm>
            <a:off x="3039199" y="622621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023907-0A98-403B-AC8F-BB971615BAE5}"/>
              </a:ext>
            </a:extLst>
          </p:cNvPr>
          <p:cNvSpPr/>
          <p:nvPr/>
        </p:nvSpPr>
        <p:spPr>
          <a:xfrm>
            <a:off x="3531685" y="555912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C5B5FCE1-3027-4640-8672-FFE866EAA4F5}"/>
              </a:ext>
            </a:extLst>
          </p:cNvPr>
          <p:cNvCxnSpPr>
            <a:cxnSpLocks/>
            <a:stCxn id="10" idx="6"/>
            <a:endCxn id="12" idx="2"/>
          </p:cNvCxnSpPr>
          <p:nvPr/>
        </p:nvCxnSpPr>
        <p:spPr>
          <a:xfrm flipV="1">
            <a:off x="2816801" y="5665454"/>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DB17EE9-E5E7-4B66-BA01-28F74475BF97}"/>
              </a:ext>
            </a:extLst>
          </p:cNvPr>
          <p:cNvCxnSpPr>
            <a:cxnSpLocks/>
            <a:stCxn id="10" idx="4"/>
            <a:endCxn id="11" idx="1"/>
          </p:cNvCxnSpPr>
          <p:nvPr/>
        </p:nvCxnSpPr>
        <p:spPr>
          <a:xfrm>
            <a:off x="2702501" y="577709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2F27F36-A6F9-465C-B077-32D0FCDC7493}"/>
              </a:ext>
            </a:extLst>
          </p:cNvPr>
          <p:cNvCxnSpPr>
            <a:cxnSpLocks/>
            <a:stCxn id="12" idx="4"/>
            <a:endCxn id="11" idx="7"/>
          </p:cNvCxnSpPr>
          <p:nvPr/>
        </p:nvCxnSpPr>
        <p:spPr>
          <a:xfrm flipH="1">
            <a:off x="3234321" y="577177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915BD261-E5F5-41E1-9683-09081392D62C}"/>
              </a:ext>
            </a:extLst>
          </p:cNvPr>
          <p:cNvSpPr/>
          <p:nvPr/>
        </p:nvSpPr>
        <p:spPr>
          <a:xfrm>
            <a:off x="8323177" y="552302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3FA619-7CBA-41FC-AA32-50764006202C}"/>
              </a:ext>
            </a:extLst>
          </p:cNvPr>
          <p:cNvSpPr/>
          <p:nvPr/>
        </p:nvSpPr>
        <p:spPr>
          <a:xfrm>
            <a:off x="8774175" y="618479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B3C81EA-A641-40D1-8425-742955C626CC}"/>
              </a:ext>
            </a:extLst>
          </p:cNvPr>
          <p:cNvSpPr/>
          <p:nvPr/>
        </p:nvSpPr>
        <p:spPr>
          <a:xfrm>
            <a:off x="9266661" y="551770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83459A39-6D2F-4DEE-B6FB-9712FC854B8C}"/>
              </a:ext>
            </a:extLst>
          </p:cNvPr>
          <p:cNvCxnSpPr>
            <a:cxnSpLocks/>
            <a:stCxn id="16" idx="6"/>
            <a:endCxn id="18" idx="2"/>
          </p:cNvCxnSpPr>
          <p:nvPr/>
        </p:nvCxnSpPr>
        <p:spPr>
          <a:xfrm flipV="1">
            <a:off x="8551777" y="5624034"/>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4D25D3F-5939-4364-91F9-3C168B70E730}"/>
              </a:ext>
            </a:extLst>
          </p:cNvPr>
          <p:cNvCxnSpPr>
            <a:cxnSpLocks/>
            <a:stCxn id="16" idx="4"/>
            <a:endCxn id="17" idx="1"/>
          </p:cNvCxnSpPr>
          <p:nvPr/>
        </p:nvCxnSpPr>
        <p:spPr>
          <a:xfrm>
            <a:off x="8437477" y="573567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F7A7C00-18F6-49B9-8803-8E04D148C03A}"/>
              </a:ext>
            </a:extLst>
          </p:cNvPr>
          <p:cNvCxnSpPr>
            <a:cxnSpLocks/>
            <a:stCxn id="18" idx="4"/>
            <a:endCxn id="17" idx="7"/>
          </p:cNvCxnSpPr>
          <p:nvPr/>
        </p:nvCxnSpPr>
        <p:spPr>
          <a:xfrm flipH="1">
            <a:off x="8969297" y="573035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CAA1A8E-C032-4099-88E2-A2C4C75EDC4E}"/>
              </a:ext>
            </a:extLst>
          </p:cNvPr>
          <p:cNvCxnSpPr>
            <a:cxnSpLocks/>
            <a:stCxn id="4" idx="6"/>
            <a:endCxn id="6" idx="2"/>
          </p:cNvCxnSpPr>
          <p:nvPr/>
        </p:nvCxnSpPr>
        <p:spPr>
          <a:xfrm flipV="1">
            <a:off x="4908700" y="3609753"/>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97900A5-88C3-4467-8EB4-4EC0CB87BAF5}"/>
              </a:ext>
            </a:extLst>
          </p:cNvPr>
          <p:cNvSpPr txBox="1"/>
          <p:nvPr/>
        </p:nvSpPr>
        <p:spPr>
          <a:xfrm>
            <a:off x="6422874" y="3370661"/>
            <a:ext cx="4247707" cy="830997"/>
          </a:xfrm>
          <a:prstGeom prst="rect">
            <a:avLst/>
          </a:prstGeom>
          <a:noFill/>
        </p:spPr>
        <p:txBody>
          <a:bodyPr wrap="square" rtlCol="0">
            <a:spAutoFit/>
          </a:bodyPr>
          <a:lstStyle/>
          <a:p>
            <a:r>
              <a:rPr lang="en-US" sz="2400" dirty="0"/>
              <a:t>Low probability of completing triangle in random graph </a:t>
            </a:r>
          </a:p>
        </p:txBody>
      </p:sp>
      <p:sp>
        <p:nvSpPr>
          <p:cNvPr id="26" name="TextBox 25">
            <a:extLst>
              <a:ext uri="{FF2B5EF4-FFF2-40B4-BE49-F238E27FC236}">
                <a16:creationId xmlns:a16="http://schemas.microsoft.com/office/drawing/2014/main" id="{764116C1-53E4-46DB-9709-D42725CAA6A6}"/>
              </a:ext>
            </a:extLst>
          </p:cNvPr>
          <p:cNvSpPr txBox="1"/>
          <p:nvPr/>
        </p:nvSpPr>
        <p:spPr>
          <a:xfrm>
            <a:off x="4097390" y="5794396"/>
            <a:ext cx="4247707" cy="830997"/>
          </a:xfrm>
          <a:prstGeom prst="rect">
            <a:avLst/>
          </a:prstGeom>
          <a:noFill/>
        </p:spPr>
        <p:txBody>
          <a:bodyPr wrap="square" rtlCol="0">
            <a:spAutoFit/>
          </a:bodyPr>
          <a:lstStyle/>
          <a:p>
            <a:r>
              <a:rPr lang="en-US" sz="2400" dirty="0"/>
              <a:t>High probability of completing triangle in community</a:t>
            </a:r>
          </a:p>
        </p:txBody>
      </p:sp>
      <p:sp>
        <p:nvSpPr>
          <p:cNvPr id="27" name="Arrow: Right 26">
            <a:extLst>
              <a:ext uri="{FF2B5EF4-FFF2-40B4-BE49-F238E27FC236}">
                <a16:creationId xmlns:a16="http://schemas.microsoft.com/office/drawing/2014/main" id="{FB6DB966-1815-4B49-BC1B-C3E0686B6A6A}"/>
              </a:ext>
            </a:extLst>
          </p:cNvPr>
          <p:cNvSpPr/>
          <p:nvPr/>
        </p:nvSpPr>
        <p:spPr>
          <a:xfrm>
            <a:off x="4194544" y="5550844"/>
            <a:ext cx="3838354" cy="212651"/>
          </a:xfrm>
          <a:prstGeom prst="rightArrow">
            <a:avLst/>
          </a:prstGeom>
          <a:solidFill>
            <a:schemeClr val="bg2">
              <a:lumMod val="9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611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animBg="1"/>
      <p:bldP spid="11" grpId="0" animBg="1"/>
      <p:bldP spid="12" grpId="0" animBg="1"/>
      <p:bldP spid="16" grpId="0" animBg="1"/>
      <p:bldP spid="17" grpId="0" animBg="1"/>
      <p:bldP spid="18" grpId="0" animBg="1"/>
      <p:bldP spid="25" grpId="0"/>
      <p:bldP spid="26" grpId="0"/>
      <p:bldP spid="27"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A relationship in a graph: if u is connected to w and v is connected to w the relationship is </a:t>
            </a:r>
            <a:r>
              <a:rPr lang="en-US" b="1" dirty="0"/>
              <a:t>transitive</a:t>
            </a:r>
            <a:r>
              <a:rPr lang="en-US" dirty="0"/>
              <a:t> if u is connected to v:</a:t>
            </a:r>
          </a:p>
          <a:p>
            <a:endParaRPr lang="en-US" dirty="0"/>
          </a:p>
          <a:p>
            <a:endParaRPr lang="en-US" dirty="0"/>
          </a:p>
          <a:p>
            <a:endParaRPr lang="en-US" dirty="0"/>
          </a:p>
          <a:p>
            <a:r>
              <a:rPr lang="en-US" dirty="0"/>
              <a:t>The human version of transitivity: the friend of my friend is my friend  </a:t>
            </a:r>
          </a:p>
          <a:p>
            <a:r>
              <a:rPr lang="en-US" dirty="0"/>
              <a:t>Density of triangle in a social graph is a measure of density  </a:t>
            </a:r>
          </a:p>
        </p:txBody>
      </p:sp>
      <p:sp>
        <p:nvSpPr>
          <p:cNvPr id="4" name="Oval 3">
            <a:extLst>
              <a:ext uri="{FF2B5EF4-FFF2-40B4-BE49-F238E27FC236}">
                <a16:creationId xmlns:a16="http://schemas.microsoft.com/office/drawing/2014/main" id="{3574C403-F818-48A7-8BEB-1E55F253B433}"/>
              </a:ext>
            </a:extLst>
          </p:cNvPr>
          <p:cNvSpPr/>
          <p:nvPr/>
        </p:nvSpPr>
        <p:spPr>
          <a:xfrm>
            <a:off x="4514747" y="2897660"/>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474DD6FA-B1D8-4DB0-92FD-B3B6675C06B1}"/>
              </a:ext>
            </a:extLst>
          </p:cNvPr>
          <p:cNvSpPr/>
          <p:nvPr/>
        </p:nvSpPr>
        <p:spPr>
          <a:xfrm>
            <a:off x="4965745" y="355943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3F19AD43-2DCE-4F83-8FE3-68AA1429521A}"/>
              </a:ext>
            </a:extLst>
          </p:cNvPr>
          <p:cNvSpPr/>
          <p:nvPr/>
        </p:nvSpPr>
        <p:spPr>
          <a:xfrm>
            <a:off x="5458231" y="2892343"/>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38430DF-01A3-4687-8064-D534CD541D24}"/>
              </a:ext>
            </a:extLst>
          </p:cNvPr>
          <p:cNvCxnSpPr>
            <a:cxnSpLocks/>
            <a:stCxn id="4" idx="6"/>
            <a:endCxn id="6" idx="2"/>
          </p:cNvCxnSpPr>
          <p:nvPr/>
        </p:nvCxnSpPr>
        <p:spPr>
          <a:xfrm flipV="1">
            <a:off x="4743347" y="2998669"/>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5613D1B-2AD0-40E4-98FD-FE546A860C29}"/>
              </a:ext>
            </a:extLst>
          </p:cNvPr>
          <p:cNvCxnSpPr>
            <a:cxnSpLocks/>
            <a:stCxn id="4" idx="4"/>
            <a:endCxn id="5" idx="1"/>
          </p:cNvCxnSpPr>
          <p:nvPr/>
        </p:nvCxnSpPr>
        <p:spPr>
          <a:xfrm>
            <a:off x="4629047" y="3110311"/>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CF38CF6-076E-4323-B467-1582AFE4938B}"/>
              </a:ext>
            </a:extLst>
          </p:cNvPr>
          <p:cNvCxnSpPr>
            <a:cxnSpLocks/>
            <a:stCxn id="6" idx="4"/>
            <a:endCxn id="5" idx="7"/>
          </p:cNvCxnSpPr>
          <p:nvPr/>
        </p:nvCxnSpPr>
        <p:spPr>
          <a:xfrm flipH="1">
            <a:off x="5160867" y="3104994"/>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C2DDE6-116D-4E33-ABF5-2776086A4238}"/>
              </a:ext>
            </a:extLst>
          </p:cNvPr>
          <p:cNvSpPr txBox="1"/>
          <p:nvPr/>
        </p:nvSpPr>
        <p:spPr>
          <a:xfrm>
            <a:off x="3952464" y="2737058"/>
            <a:ext cx="527901" cy="523220"/>
          </a:xfrm>
          <a:prstGeom prst="rect">
            <a:avLst/>
          </a:prstGeom>
          <a:noFill/>
        </p:spPr>
        <p:txBody>
          <a:bodyPr wrap="square" rtlCol="0">
            <a:spAutoFit/>
          </a:bodyPr>
          <a:lstStyle/>
          <a:p>
            <a:pPr algn="ctr"/>
            <a:r>
              <a:rPr lang="en-US" sz="2800" b="1" i="1" dirty="0"/>
              <a:t>u</a:t>
            </a:r>
          </a:p>
        </p:txBody>
      </p:sp>
      <p:sp>
        <p:nvSpPr>
          <p:cNvPr id="11" name="TextBox 10">
            <a:extLst>
              <a:ext uri="{FF2B5EF4-FFF2-40B4-BE49-F238E27FC236}">
                <a16:creationId xmlns:a16="http://schemas.microsoft.com/office/drawing/2014/main" id="{DF531998-6712-4C3A-8336-679281A3815D}"/>
              </a:ext>
            </a:extLst>
          </p:cNvPr>
          <p:cNvSpPr txBox="1"/>
          <p:nvPr/>
        </p:nvSpPr>
        <p:spPr>
          <a:xfrm>
            <a:off x="5684751" y="2686782"/>
            <a:ext cx="527901" cy="523220"/>
          </a:xfrm>
          <a:prstGeom prst="rect">
            <a:avLst/>
          </a:prstGeom>
          <a:noFill/>
        </p:spPr>
        <p:txBody>
          <a:bodyPr wrap="square" rtlCol="0">
            <a:spAutoFit/>
          </a:bodyPr>
          <a:lstStyle/>
          <a:p>
            <a:pPr algn="ctr"/>
            <a:r>
              <a:rPr lang="en-US" sz="2800" b="1" i="1" dirty="0"/>
              <a:t>v</a:t>
            </a:r>
          </a:p>
        </p:txBody>
      </p:sp>
      <p:sp>
        <p:nvSpPr>
          <p:cNvPr id="12" name="TextBox 11">
            <a:extLst>
              <a:ext uri="{FF2B5EF4-FFF2-40B4-BE49-F238E27FC236}">
                <a16:creationId xmlns:a16="http://schemas.microsoft.com/office/drawing/2014/main" id="{8DA2F49B-CAFD-4EBE-9483-A90341E70A1F}"/>
              </a:ext>
            </a:extLst>
          </p:cNvPr>
          <p:cNvSpPr txBox="1"/>
          <p:nvPr/>
        </p:nvSpPr>
        <p:spPr>
          <a:xfrm>
            <a:off x="4836838" y="3691582"/>
            <a:ext cx="527901" cy="523220"/>
          </a:xfrm>
          <a:prstGeom prst="rect">
            <a:avLst/>
          </a:prstGeom>
          <a:noFill/>
        </p:spPr>
        <p:txBody>
          <a:bodyPr wrap="square" rtlCol="0">
            <a:spAutoFit/>
          </a:bodyPr>
          <a:lstStyle/>
          <a:p>
            <a:pPr algn="ctr"/>
            <a:r>
              <a:rPr lang="en-US" sz="2800" b="1" i="1" dirty="0"/>
              <a:t>w</a:t>
            </a:r>
          </a:p>
        </p:txBody>
      </p:sp>
    </p:spTree>
    <p:extLst>
      <p:ext uri="{BB962C8B-B14F-4D97-AF65-F5344CB8AC3E}">
        <p14:creationId xmlns:p14="http://schemas.microsoft.com/office/powerpoint/2010/main" val="406394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p:bldP spid="11" grpId="0"/>
      <p:bldP spid="12"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5" y="1208868"/>
            <a:ext cx="4290193" cy="1991532"/>
          </a:xfrm>
        </p:spPr>
        <p:txBody>
          <a:bodyPr>
            <a:normAutofit/>
          </a:bodyPr>
          <a:lstStyle/>
          <a:p>
            <a:pPr marL="0" indent="0">
              <a:buNone/>
            </a:pPr>
            <a:r>
              <a:rPr lang="en-US" dirty="0"/>
              <a:t>Example: </a:t>
            </a:r>
            <a:r>
              <a:rPr lang="en-US" b="1" dirty="0"/>
              <a:t>Density of triangles </a:t>
            </a:r>
            <a:r>
              <a:rPr lang="en-US" dirty="0"/>
              <a:t>is an indicator of community cores, or influential nodes </a:t>
            </a:r>
          </a:p>
        </p:txBody>
      </p:sp>
      <p:pic>
        <p:nvPicPr>
          <p:cNvPr id="16" name="Picture 15">
            <a:extLst>
              <a:ext uri="{FF2B5EF4-FFF2-40B4-BE49-F238E27FC236}">
                <a16:creationId xmlns:a16="http://schemas.microsoft.com/office/drawing/2014/main" id="{E53E0393-7B64-9DFD-4165-485ACE93E63D}"/>
              </a:ext>
            </a:extLst>
          </p:cNvPr>
          <p:cNvPicPr>
            <a:picLocks noChangeAspect="1"/>
          </p:cNvPicPr>
          <p:nvPr/>
        </p:nvPicPr>
        <p:blipFill>
          <a:blip r:embed="rId2"/>
          <a:stretch>
            <a:fillRect/>
          </a:stretch>
        </p:blipFill>
        <p:spPr>
          <a:xfrm>
            <a:off x="4739356" y="1162775"/>
            <a:ext cx="6919244" cy="5549097"/>
          </a:xfrm>
          <a:prstGeom prst="rect">
            <a:avLst/>
          </a:prstGeom>
        </p:spPr>
      </p:pic>
    </p:spTree>
    <p:extLst>
      <p:ext uri="{BB962C8B-B14F-4D97-AF65-F5344CB8AC3E}">
        <p14:creationId xmlns:p14="http://schemas.microsoft.com/office/powerpoint/2010/main" val="429053652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Triangle density of a node,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oMath>
                </a14:m>
                <a:r>
                  <a:rPr lang="en-US" dirty="0"/>
                  <a:t>, is the number of triangles where the node is a </a:t>
                </a:r>
                <a:r>
                  <a:rPr lang="en-US" dirty="0" err="1"/>
                  <a:t>vertice</a:t>
                </a:r>
                <a:r>
                  <a:rPr lang="en-US" dirty="0"/>
                  <a:t> </a:t>
                </a:r>
              </a:p>
              <a:p>
                <a:r>
                  <a:rPr lang="en-US" dirty="0"/>
                  <a:t>Simple triangle density is a biased</a:t>
                </a:r>
              </a:p>
              <a:p>
                <a:pPr lvl="1"/>
                <a:r>
                  <a:rPr lang="en-US" dirty="0"/>
                  <a:t>Nodes with high degree have greater probability of having more triangles</a:t>
                </a:r>
              </a:p>
              <a:p>
                <a:r>
                  <a:rPr lang="en-US" dirty="0"/>
                  <a:t>Graph </a:t>
                </a:r>
                <a:r>
                  <a:rPr lang="en-US" b="1" dirty="0"/>
                  <a:t>clustering coefficient</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𝑖</m:t>
                        </m:r>
                      </m:sub>
                    </m:sSub>
                  </m:oMath>
                </a14:m>
                <a:r>
                  <a:rPr lang="en-US" b="1" dirty="0"/>
                  <a:t>, </a:t>
                </a:r>
                <a:r>
                  <a:rPr lang="en-US" dirty="0"/>
                  <a:t>adjusts triangle density for degree of node,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oMath>
                </a14:m>
                <a:endParaRPr lang="en-US" dirty="0"/>
              </a:p>
              <a:p>
                <a:r>
                  <a:rPr lang="en-US" dirty="0"/>
                  <a:t>Many possible adjustments have been proposed  </a:t>
                </a:r>
              </a:p>
              <a:p>
                <a:r>
                  <a:rPr lang="en-US" dirty="0" err="1">
                    <a:hlinkClick r:id="rId2"/>
                  </a:rPr>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3"/>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150397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Clustering Coefficient </a:t>
                </a:r>
                <a:r>
                  <a:rPr lang="en-US" dirty="0"/>
                  <a:t>is an indicator or community cores </a:t>
                </a:r>
              </a:p>
              <a:p>
                <a:r>
                  <a:rPr lang="en-US" dirty="0" err="1"/>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r>
                  <a:rPr lang="en-US" dirty="0"/>
                  <a:t>Can interpret the clustering coefficient as the fraction of edge pairs of node </a:t>
                </a:r>
                <a:r>
                  <a:rPr lang="en-US" i="1" dirty="0" err="1"/>
                  <a:t>i</a:t>
                </a:r>
                <a:r>
                  <a:rPr lang="en-US" dirty="0"/>
                  <a:t> that are part of a triad </a:t>
                </a:r>
              </a:p>
              <a:p>
                <a:r>
                  <a:rPr lang="en-US" dirty="0"/>
                  <a:t>Nodes with high clustering coefficients have high </a:t>
                </a:r>
                <a:r>
                  <a:rPr lang="en-US" b="1" dirty="0"/>
                  <a:t>transitive centrality </a:t>
                </a:r>
                <a:r>
                  <a:rPr lang="en-US" dirty="0"/>
                  <a:t>and are </a:t>
                </a:r>
                <a:r>
                  <a:rPr lang="en-US" b="1" dirty="0"/>
                  <a:t>influential </a:t>
                </a:r>
                <a:r>
                  <a:rPr lang="en-US" dirty="0"/>
                  <a:t>in the network</a:t>
                </a:r>
              </a:p>
              <a:p>
                <a:r>
                  <a:rPr lang="en-US" dirty="0"/>
                  <a:t>Clustering coefficient is efficient to compute – only requires triangle count and node degree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2"/>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718403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4009205" cy="1691495"/>
          </a:xfrm>
        </p:spPr>
        <p:txBody>
          <a:bodyPr>
            <a:normAutofit/>
          </a:bodyPr>
          <a:lstStyle/>
          <a:p>
            <a:pPr marL="0" indent="0">
              <a:buNone/>
            </a:pPr>
            <a:r>
              <a:rPr lang="en-US" dirty="0"/>
              <a:t>Example: </a:t>
            </a:r>
            <a:r>
              <a:rPr lang="en-US" b="1" dirty="0"/>
              <a:t>Clustering Coefficient </a:t>
            </a:r>
            <a:r>
              <a:rPr lang="en-US" dirty="0"/>
              <a:t>as an indicator of community cores or node influence</a:t>
            </a:r>
          </a:p>
          <a:p>
            <a:pPr marL="0" indent="0">
              <a:buNone/>
            </a:pPr>
            <a:endParaRPr lang="en-US" dirty="0"/>
          </a:p>
        </p:txBody>
      </p:sp>
      <p:pic>
        <p:nvPicPr>
          <p:cNvPr id="5" name="Picture 4">
            <a:extLst>
              <a:ext uri="{FF2B5EF4-FFF2-40B4-BE49-F238E27FC236}">
                <a16:creationId xmlns:a16="http://schemas.microsoft.com/office/drawing/2014/main" id="{F6D69209-5938-1109-A055-8BFA205B5696}"/>
              </a:ext>
            </a:extLst>
          </p:cNvPr>
          <p:cNvPicPr>
            <a:picLocks noChangeAspect="1"/>
          </p:cNvPicPr>
          <p:nvPr/>
        </p:nvPicPr>
        <p:blipFill>
          <a:blip r:embed="rId2"/>
          <a:stretch>
            <a:fillRect/>
          </a:stretch>
        </p:blipFill>
        <p:spPr>
          <a:xfrm>
            <a:off x="4871751" y="1052793"/>
            <a:ext cx="7172611" cy="5704824"/>
          </a:xfrm>
          <a:prstGeom prst="rect">
            <a:avLst/>
          </a:prstGeom>
        </p:spPr>
      </p:pic>
    </p:spTree>
    <p:extLst>
      <p:ext uri="{BB962C8B-B14F-4D97-AF65-F5344CB8AC3E}">
        <p14:creationId xmlns:p14="http://schemas.microsoft.com/office/powerpoint/2010/main" val="352396272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D18FF-BF45-BDF2-AD63-EA51960C5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83D0B5-A388-7C43-3E09-DFA0FC5B9497}"/>
              </a:ext>
            </a:extLst>
          </p:cNvPr>
          <p:cNvSpPr>
            <a:spLocks noGrp="1"/>
          </p:cNvSpPr>
          <p:nvPr>
            <p:ph type="title"/>
          </p:nvPr>
        </p:nvSpPr>
        <p:spPr>
          <a:xfrm>
            <a:off x="831850" y="1709738"/>
            <a:ext cx="10515600" cy="2282271"/>
          </a:xfrm>
        </p:spPr>
        <p:txBody>
          <a:bodyPr/>
          <a:lstStyle/>
          <a:p>
            <a:pPr algn="ctr"/>
            <a:r>
              <a:rPr lang="en-US" dirty="0"/>
              <a:t>Modularity in Communities</a:t>
            </a:r>
          </a:p>
        </p:txBody>
      </p:sp>
    </p:spTree>
    <p:extLst>
      <p:ext uri="{BB962C8B-B14F-4D97-AF65-F5344CB8AC3E}">
        <p14:creationId xmlns:p14="http://schemas.microsoft.com/office/powerpoint/2010/main" val="38685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Modularity</a:t>
            </a:r>
            <a:r>
              <a:rPr lang="en-US" dirty="0"/>
              <a:t> estimates the extent that edges concentrate in communities  </a:t>
            </a:r>
            <a:r>
              <a:rPr lang="en-US" b="1" dirty="0"/>
              <a:t> </a:t>
            </a:r>
            <a:endParaRPr lang="en-US" dirty="0"/>
          </a:p>
          <a:p>
            <a:r>
              <a:rPr lang="en-US" dirty="0"/>
              <a:t>Communities are groups of nodes with some common characteristics</a:t>
            </a:r>
          </a:p>
          <a:p>
            <a:r>
              <a:rPr lang="en-US" dirty="0"/>
              <a:t>Examples:</a:t>
            </a:r>
          </a:p>
          <a:p>
            <a:pPr lvl="1"/>
            <a:r>
              <a:rPr lang="en-US" dirty="0"/>
              <a:t>Members of an organization </a:t>
            </a:r>
          </a:p>
          <a:p>
            <a:pPr lvl="1"/>
            <a:r>
              <a:rPr lang="en-US" dirty="0"/>
              <a:t>Work collaborators</a:t>
            </a:r>
          </a:p>
          <a:p>
            <a:pPr lvl="1"/>
            <a:r>
              <a:rPr lang="en-US" dirty="0"/>
              <a:t>Animals in an ecosystem </a:t>
            </a:r>
          </a:p>
          <a:p>
            <a:pPr lvl="1"/>
            <a:r>
              <a:rPr lang="en-US" dirty="0"/>
              <a:t>…….</a:t>
            </a:r>
          </a:p>
          <a:p>
            <a:r>
              <a:rPr lang="en-US" dirty="0"/>
              <a:t>Empirically, the density of edges within communities is higher than a random graph  </a:t>
            </a:r>
          </a:p>
          <a:p>
            <a:r>
              <a:rPr lang="en-US" dirty="0"/>
              <a:t>Modularity is a metric to compare the connection in a community to a random network.    </a:t>
            </a:r>
          </a:p>
        </p:txBody>
      </p:sp>
    </p:spTree>
    <p:extLst>
      <p:ext uri="{BB962C8B-B14F-4D97-AF65-F5344CB8AC3E}">
        <p14:creationId xmlns:p14="http://schemas.microsoft.com/office/powerpoint/2010/main" val="2956619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943604"/>
          </a:xfrm>
        </p:spPr>
        <p:txBody>
          <a:bodyPr>
            <a:normAutofit/>
          </a:bodyPr>
          <a:lstStyle/>
          <a:p>
            <a:pPr marL="0" indent="0">
              <a:buNone/>
            </a:pPr>
            <a:r>
              <a:rPr lang="en-US" b="1" dirty="0"/>
              <a:t>Modularity</a:t>
            </a:r>
            <a:r>
              <a:rPr lang="en-US" dirty="0"/>
              <a:t> estimates the extent that edges concentrate in communities </a:t>
            </a:r>
          </a:p>
          <a:p>
            <a:pPr marL="0" indent="0">
              <a:buNone/>
            </a:pPr>
            <a:r>
              <a:rPr lang="en-US" sz="2400" dirty="0"/>
              <a:t>Example from Elliot Anders </a:t>
            </a:r>
            <a:r>
              <a:rPr lang="en-US" sz="2400" dirty="0">
                <a:hlinkClick r:id="rId2"/>
              </a:rPr>
              <a:t>blog post</a:t>
            </a:r>
            <a:r>
              <a:rPr lang="en-US" sz="2400" dirty="0"/>
              <a:t> on visualizing his Facebook friends</a:t>
            </a:r>
          </a:p>
        </p:txBody>
      </p:sp>
      <p:pic>
        <p:nvPicPr>
          <p:cNvPr id="7" name="Picture 6">
            <a:extLst>
              <a:ext uri="{FF2B5EF4-FFF2-40B4-BE49-F238E27FC236}">
                <a16:creationId xmlns:a16="http://schemas.microsoft.com/office/drawing/2014/main" id="{482A3B62-C674-EC1F-2530-3188194CE917}"/>
              </a:ext>
            </a:extLst>
          </p:cNvPr>
          <p:cNvPicPr>
            <a:picLocks noChangeAspect="1"/>
          </p:cNvPicPr>
          <p:nvPr/>
        </p:nvPicPr>
        <p:blipFill>
          <a:blip r:embed="rId3"/>
          <a:stretch>
            <a:fillRect/>
          </a:stretch>
        </p:blipFill>
        <p:spPr>
          <a:xfrm>
            <a:off x="1149535" y="2234448"/>
            <a:ext cx="10434636" cy="4521676"/>
          </a:xfrm>
          <a:prstGeom prst="rect">
            <a:avLst/>
          </a:prstGeom>
        </p:spPr>
      </p:pic>
    </p:spTree>
    <p:extLst>
      <p:ext uri="{BB962C8B-B14F-4D97-AF65-F5344CB8AC3E}">
        <p14:creationId xmlns:p14="http://schemas.microsoft.com/office/powerpoint/2010/main" val="35132079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4181" y="1007383"/>
                <a:ext cx="10776828" cy="5826642"/>
              </a:xfrm>
            </p:spPr>
            <p:txBody>
              <a:bodyPr>
                <a:normAutofit/>
              </a:bodyPr>
              <a:lstStyle/>
              <a:p>
                <a:pPr marL="0" indent="0">
                  <a:buNone/>
                </a:pPr>
                <a:r>
                  <a:rPr lang="en-US" b="1" dirty="0"/>
                  <a:t>Modularity</a:t>
                </a:r>
                <a:r>
                  <a:rPr lang="en-US" dirty="0"/>
                  <a:t> estimates the extent that edges concentrate in communities </a:t>
                </a:r>
              </a:p>
              <a:p>
                <a:r>
                  <a:rPr lang="en-US" dirty="0"/>
                  <a:t>Start with a set of two or more groups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2</m:t>
                            </m:r>
                          </m:sub>
                        </m:sSub>
                        <m:r>
                          <a:rPr lang="en-US" i="1">
                            <a:latin typeface="Cambria Math" panose="02040503050406030204" pitchFamily="18" charset="0"/>
                          </a:rPr>
                          <m:t>,</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𝑞</m:t>
                            </m:r>
                          </m:sub>
                        </m:sSub>
                      </m:e>
                    </m:d>
                  </m:oMath>
                </a14:m>
                <a:endParaRPr lang="en-US" dirty="0"/>
              </a:p>
              <a:p>
                <a:r>
                  <a:rPr lang="en-US" dirty="0"/>
                  <a:t>Express the number of edges within groups:  </a:t>
                </a:r>
              </a:p>
              <a:p>
                <a:pPr marL="0" indent="0">
                  <a:buNone/>
                </a:pPr>
                <a14:m>
                  <m:oMathPara xmlns:m="http://schemas.openxmlformats.org/officeDocument/2006/math">
                    <m:oMath>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𝑒</m:t>
                          </m:r>
                          <m:r>
                            <a:rPr lang="en-US" b="0" i="1" smtClean="0">
                              <a:latin typeface="Cambria Math" panose="02040503050406030204" pitchFamily="18" charset="0"/>
                            </a:rPr>
                            <m:t>𝑑𝑔𝑒𝑠</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sub>
                        <m:sup/>
                        <m:e>
                          <m:sSub>
                            <m:sSubPr>
                              <m:ctrlPr>
                                <a:rPr lang="en-US"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𝑗</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nary>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457200" lvl="1" indent="0">
                  <a:buNone/>
                </a:pPr>
                <a:r>
                  <a:rPr lang="en-US" dirty="0"/>
                  <a:t>Where</a:t>
                </a: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oMath>
                </a14:m>
                <a:r>
                  <a:rPr lang="en-US" dirty="0"/>
                  <a:t> </a:t>
                </a:r>
                <a:r>
                  <a:rPr lang="en-US" dirty="0" err="1"/>
                  <a:t>i,j</a:t>
                </a:r>
                <a:r>
                  <a:rPr lang="en-US" dirty="0"/>
                  <a:t> </a:t>
                </a:r>
                <a:r>
                  <a:rPr lang="en-US" dirty="0" err="1"/>
                  <a:t>th</a:t>
                </a:r>
                <a:r>
                  <a:rPr lang="en-US" dirty="0"/>
                  <a:t> element of the association matrix</a:t>
                </a:r>
              </a:p>
              <a:p>
                <a:pPr marL="457200" lvl="1" indent="0">
                  <a:buNone/>
                </a:pP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r>
                      <a:rPr lang="en-US" b="0" i="1" smtClean="0">
                        <a:latin typeface="Cambria Math" panose="02040503050406030204" pitchFamily="18" charset="0"/>
                      </a:rPr>
                      <m:t>=</m:t>
                    </m:r>
                  </m:oMath>
                </a14:m>
                <a:r>
                  <a:rPr lang="en-US" dirty="0"/>
                  <a:t> the </a:t>
                </a:r>
                <a:r>
                  <a:rPr lang="en-US" b="1" dirty="0" err="1"/>
                  <a:t>Kroneker</a:t>
                </a:r>
                <a:r>
                  <a:rPr lang="en-US" b="1" dirty="0"/>
                  <a:t>-delta function </a:t>
                </a:r>
                <a14:m>
                  <m:oMath xmlns:m="http://schemas.openxmlformats.org/officeDocument/2006/math">
                    <m:r>
                      <a:rPr lang="en-US" b="0" i="0" smtClean="0">
                        <a:latin typeface="Cambria Math" panose="02040503050406030204" pitchFamily="18" charset="0"/>
                      </a:rPr>
                      <m:t>=</m:t>
                    </m:r>
                    <m:d>
                      <m:dPr>
                        <m:begChr m:val="{"/>
                        <m:endChr m:val=""/>
                        <m:ctrlPr>
                          <a:rPr lang="en-US" i="1" smtClean="0">
                            <a:latin typeface="Cambria Math" panose="02040503050406030204" pitchFamily="18" charset="0"/>
                          </a:rPr>
                        </m:ctrlPr>
                      </m:dPr>
                      <m:e>
                        <m:eqArr>
                          <m:eqArrPr>
                            <m:ctrlPr>
                              <a:rPr lang="en-US" i="1" smtClean="0">
                                <a:latin typeface="Cambria Math" panose="02040503050406030204" pitchFamily="18" charset="0"/>
                              </a:rPr>
                            </m:ctrlPr>
                          </m:eqArrPr>
                          <m:e>
                            <m:r>
                              <a:rPr lang="en-US" b="0" i="1" smtClean="0">
                                <a:latin typeface="Cambria Math" panose="02040503050406030204" pitchFamily="18" charset="0"/>
                              </a:rPr>
                              <m:t>1 </m:t>
                            </m:r>
                            <m:r>
                              <a:rPr lang="en-US" b="0" i="1" smtClean="0">
                                <a:latin typeface="Cambria Math" panose="02040503050406030204" pitchFamily="18" charset="0"/>
                              </a:rPr>
                              <m:t>𝑖𝑖𝑓</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𝑔</m:t>
                                </m:r>
                              </m:e>
                              <m:sub>
                                <m:r>
                                  <a:rPr lang="en-US" i="1">
                                    <a:latin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e>
                          <m:e>
                            <m:r>
                              <a:rPr lang="en-US" b="0" i="1" smtClean="0">
                                <a:latin typeface="Cambria Math" panose="02040503050406030204" pitchFamily="18" charset="0"/>
                              </a:rPr>
                              <m:t>0 </m:t>
                            </m:r>
                            <m:r>
                              <a:rPr lang="en-US" b="0" i="1" smtClean="0">
                                <a:latin typeface="Cambria Math" panose="02040503050406030204" pitchFamily="18" charset="0"/>
                              </a:rPr>
                              <m:t>𝑜𝑡ℎ𝑒𝑟𝑤𝑖𝑠𝑒</m:t>
                            </m:r>
                          </m:e>
                        </m:eqArr>
                      </m:e>
                    </m:d>
                  </m:oMath>
                </a14:m>
                <a:r>
                  <a:rPr lang="en-US" dirty="0"/>
                  <a:t> </a:t>
                </a:r>
              </a:p>
              <a:p>
                <a:pPr marL="457200" lvl="1" indent="0">
                  <a:buNone/>
                </a:pPr>
                <a:r>
                  <a:rPr lang="en-US" dirty="0" err="1"/>
                  <a:t>Kroneker</a:t>
                </a:r>
                <a:r>
                  <a:rPr lang="en-US" dirty="0"/>
                  <a:t>-delta function is indicator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in the same group</a:t>
                </a:r>
              </a:p>
              <a:p>
                <a:pPr marL="457200" lvl="1" indent="0">
                  <a:buNone/>
                </a:pPr>
                <a:r>
                  <a:rPr lang="en-US" dirty="0"/>
                  <a:t>Factor of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oMath>
                </a14:m>
                <a:r>
                  <a:rPr lang="en-US" dirty="0"/>
                  <a:t> required for undirected graph to only count each edge once</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4181" y="1007383"/>
                <a:ext cx="10776828" cy="5826642"/>
              </a:xfrm>
              <a:blipFill>
                <a:blip r:embed="rId2"/>
                <a:stretch>
                  <a:fillRect l="-1188" t="-1674" r="-113"/>
                </a:stretch>
              </a:blipFill>
            </p:spPr>
            <p:txBody>
              <a:bodyPr/>
              <a:lstStyle/>
              <a:p>
                <a:r>
                  <a:rPr lang="en-US">
                    <a:noFill/>
                  </a:rPr>
                  <a:t> </a:t>
                </a:r>
              </a:p>
            </p:txBody>
          </p:sp>
        </mc:Fallback>
      </mc:AlternateContent>
    </p:spTree>
    <p:extLst>
      <p:ext uri="{BB962C8B-B14F-4D97-AF65-F5344CB8AC3E}">
        <p14:creationId xmlns:p14="http://schemas.microsoft.com/office/powerpoint/2010/main" val="178216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Consider a </a:t>
                </a:r>
                <a:r>
                  <a:rPr lang="en-US" b="1" dirty="0"/>
                  <a:t>random graph</a:t>
                </a:r>
                <a:r>
                  <a:rPr lang="en-US" dirty="0"/>
                  <a:t> with </a:t>
                </a:r>
                <a14:m>
                  <m:oMath xmlns:m="http://schemas.openxmlformats.org/officeDocument/2006/math">
                    <m:r>
                      <a:rPr lang="en-US" b="0" i="1" smtClean="0">
                        <a:latin typeface="Cambria Math" panose="02040503050406030204" pitchFamily="18" charset="0"/>
                      </a:rPr>
                      <m:t>𝑚</m:t>
                    </m:r>
                  </m:oMath>
                </a14:m>
                <a:r>
                  <a:rPr lang="en-US" dirty="0"/>
                  <a:t> edges and </a:t>
                </a:r>
                <a14:m>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𝑚</m:t>
                    </m:r>
                  </m:oMath>
                </a14:m>
                <a:r>
                  <a:rPr lang="en-US" dirty="0"/>
                  <a:t> endpoints </a:t>
                </a:r>
              </a:p>
              <a:p>
                <a:r>
                  <a:rPr lang="en-US" dirty="0"/>
                  <a:t>Expected number of edges on path from node,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i="1">
                            <a:latin typeface="Cambria Math" panose="02040503050406030204" pitchFamily="18" charset="0"/>
                          </a:rPr>
                          <m:t>𝑖</m:t>
                        </m:r>
                      </m:sub>
                    </m:sSub>
                  </m:oMath>
                </a14:m>
                <a:r>
                  <a:rPr lang="en-US" dirty="0"/>
                  <a:t> endpoints (degree) to node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𝑗</m:t>
                        </m:r>
                      </m:sub>
                    </m:sSub>
                  </m:oMath>
                </a14:m>
                <a:r>
                  <a:rPr lang="en-US" dirty="0"/>
                  <a:t> endpoints is: </a:t>
                </a:r>
              </a:p>
              <a:p>
                <a:pPr marL="0" indent="0">
                  <a:buNone/>
                </a:pPr>
                <a14:m>
                  <m:oMathPara xmlns:m="http://schemas.openxmlformats.org/officeDocument/2006/math">
                    <m:oMath>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𝑒𝑑𝑔𝑒𝑠</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d>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oMath>
                  </m:oMathPara>
                </a14:m>
                <a:endParaRPr lang="en-US" dirty="0"/>
              </a:p>
              <a:p>
                <a:r>
                  <a:rPr lang="en-US" dirty="0"/>
                  <a:t>Therefore, the expected number of edges in the groups is:  </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r>
                  <a:rPr lang="en-US" sz="2400" dirty="0"/>
                  <a:t>Factor of </a:t>
                </a:r>
                <a14:m>
                  <m:oMath xmlns:m="http://schemas.openxmlformats.org/officeDocument/2006/math">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oMath>
                </a14:m>
                <a:r>
                  <a:rPr lang="en-US" sz="2400" dirty="0"/>
                  <a:t> required for undirected graph to only count each edge once</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28428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We want the difference between number of edges in communities and expected number of edges for a random graph</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Normalizing for the number of edges, </a:t>
                </a:r>
                <a14:m>
                  <m:oMath xmlns:m="http://schemas.openxmlformats.org/officeDocument/2006/math">
                    <m:r>
                      <a:rPr lang="en-US" b="0" i="1" smtClean="0">
                        <a:latin typeface="Cambria Math" panose="02040503050406030204" pitchFamily="18" charset="0"/>
                      </a:rPr>
                      <m:t>𝑚</m:t>
                    </m:r>
                  </m:oMath>
                </a14:m>
                <a:r>
                  <a:rPr lang="en-US" dirty="0"/>
                  <a:t>, the </a:t>
                </a:r>
                <a:r>
                  <a:rPr lang="en-US" b="1" dirty="0"/>
                  <a:t>expected Modularity, </a:t>
                </a:r>
                <a14:m>
                  <m:oMath xmlns:m="http://schemas.openxmlformats.org/officeDocument/2006/math">
                    <m:r>
                      <a:rPr lang="en-US" b="1" i="1" smtClean="0">
                        <a:latin typeface="Cambria Math" panose="02040503050406030204" pitchFamily="18" charset="0"/>
                      </a:rPr>
                      <m:t>𝑸</m:t>
                    </m:r>
                  </m:oMath>
                </a14:m>
                <a:r>
                  <a:rPr lang="en-US" dirty="0"/>
                  <a:t>, of a graph is:</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r="-226"/>
                </a:stretch>
              </a:blipFill>
            </p:spPr>
            <p:txBody>
              <a:bodyPr/>
              <a:lstStyle/>
              <a:p>
                <a:r>
                  <a:rPr lang="en-US">
                    <a:noFill/>
                  </a:rPr>
                  <a:t> </a:t>
                </a:r>
              </a:p>
            </p:txBody>
          </p:sp>
        </mc:Fallback>
      </mc:AlternateContent>
    </p:spTree>
    <p:extLst>
      <p:ext uri="{BB962C8B-B14F-4D97-AF65-F5344CB8AC3E}">
        <p14:creationId xmlns:p14="http://schemas.microsoft.com/office/powerpoint/2010/main" val="3503197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9888"/>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How can we use modularity to identify communities in a network?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Want to find community assignments that maximize </a:t>
                </a:r>
                <a:r>
                  <a:rPr lang="en-US" i="1" dirty="0"/>
                  <a:t>Q</a:t>
                </a:r>
                <a:r>
                  <a:rPr lang="en-US" dirty="0"/>
                  <a:t> for the graph</a:t>
                </a:r>
              </a:p>
              <a:p>
                <a:r>
                  <a:rPr lang="en-US" dirty="0"/>
                  <a:t>But how? </a:t>
                </a:r>
              </a:p>
              <a:p>
                <a:r>
                  <a:rPr lang="en-US" dirty="0"/>
                  <a:t>Could try possible combinations of community assignments for nodes </a:t>
                </a:r>
              </a:p>
              <a:p>
                <a:pPr lvl="1"/>
                <a:r>
                  <a:rPr lang="en-US" dirty="0"/>
                  <a:t>Very </a:t>
                </a:r>
                <a:r>
                  <a:rPr lang="en-US" b="1" dirty="0"/>
                  <a:t>high computational complexity</a:t>
                </a:r>
                <a:r>
                  <a:rPr lang="en-US" dirty="0"/>
                  <a:t>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e>
                    </m:d>
                  </m:oMath>
                </a14:m>
                <a:r>
                  <a:rPr lang="en-US" dirty="0"/>
                  <a:t>!</a:t>
                </a:r>
              </a:p>
              <a:p>
                <a:pPr lvl="1"/>
                <a:r>
                  <a:rPr lang="en-US" dirty="0"/>
                  <a:t>Infeasible for all but tiny networks  </a:t>
                </a:r>
              </a:p>
              <a:p>
                <a:pPr lvl="1"/>
                <a:r>
                  <a:rPr lang="en-US" dirty="0"/>
                  <a:t>We say this is an </a:t>
                </a:r>
                <a:r>
                  <a:rPr lang="en-US" b="1" dirty="0"/>
                  <a:t>NP problem </a:t>
                </a:r>
                <a:r>
                  <a:rPr lang="en-US" dirty="0"/>
                  <a:t>– no known efficient exact algorithms! </a:t>
                </a:r>
              </a:p>
              <a:p>
                <a:r>
                  <a:rPr lang="en-US" dirty="0"/>
                  <a:t>We need a good heuristic!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1046681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Many heuristics for community search to maximize modularity</a:t>
            </a:r>
          </a:p>
          <a:p>
            <a:r>
              <a:rPr lang="en-US" dirty="0"/>
              <a:t>Methods that sample possible community assignments</a:t>
            </a:r>
          </a:p>
          <a:p>
            <a:pPr lvl="1"/>
            <a:r>
              <a:rPr lang="en-US" dirty="0"/>
              <a:t>Simulated annealing</a:t>
            </a:r>
          </a:p>
          <a:p>
            <a:pPr lvl="1"/>
            <a:r>
              <a:rPr lang="en-US" dirty="0"/>
              <a:t>Genetic algorithms </a:t>
            </a:r>
          </a:p>
          <a:p>
            <a:pPr lvl="1"/>
            <a:r>
              <a:rPr lang="en-US" dirty="0"/>
              <a:t>Generally, require significant computational power   </a:t>
            </a:r>
          </a:p>
          <a:p>
            <a:r>
              <a:rPr lang="en-US" dirty="0"/>
              <a:t>Optimization algorithms </a:t>
            </a:r>
          </a:p>
          <a:p>
            <a:pPr lvl="1"/>
            <a:r>
              <a:rPr lang="en-US" dirty="0"/>
              <a:t>Information theoretic loss function </a:t>
            </a:r>
          </a:p>
          <a:p>
            <a:pPr lvl="1"/>
            <a:r>
              <a:rPr lang="en-US" dirty="0"/>
              <a:t>Maximum likelihood methods </a:t>
            </a:r>
          </a:p>
          <a:p>
            <a:r>
              <a:rPr lang="en-US" b="1" dirty="0"/>
              <a:t>Greedy reallocation </a:t>
            </a:r>
            <a:r>
              <a:rPr lang="en-US" dirty="0"/>
              <a:t>of community assignments </a:t>
            </a:r>
          </a:p>
          <a:p>
            <a:r>
              <a:rPr lang="en-US" b="1" dirty="0"/>
              <a:t>Spectral Modularity </a:t>
            </a:r>
            <a:r>
              <a:rPr lang="en-US" dirty="0"/>
              <a:t>Maximization </a:t>
            </a:r>
          </a:p>
          <a:p>
            <a:endParaRPr lang="en-US" dirty="0"/>
          </a:p>
        </p:txBody>
      </p:sp>
    </p:spTree>
    <p:extLst>
      <p:ext uri="{BB962C8B-B14F-4D97-AF65-F5344CB8AC3E}">
        <p14:creationId xmlns:p14="http://schemas.microsoft.com/office/powerpoint/2010/main" val="3982950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D1A4C-A630-1922-B67D-67557E3EBB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A7030-0773-DC04-E04E-AD0EED1B0EC5}"/>
              </a:ext>
            </a:extLst>
          </p:cNvPr>
          <p:cNvSpPr>
            <a:spLocks noGrp="1"/>
          </p:cNvSpPr>
          <p:nvPr>
            <p:ph type="title"/>
          </p:nvPr>
        </p:nvSpPr>
        <p:spPr>
          <a:xfrm>
            <a:off x="831850" y="1709738"/>
            <a:ext cx="10515600" cy="2282271"/>
          </a:xfrm>
        </p:spPr>
        <p:txBody>
          <a:bodyPr/>
          <a:lstStyle/>
          <a:p>
            <a:pPr algn="ctr"/>
            <a:r>
              <a:rPr lang="en-US" dirty="0"/>
              <a:t>Greedy Modularity Search</a:t>
            </a:r>
          </a:p>
        </p:txBody>
      </p:sp>
    </p:spTree>
    <p:extLst>
      <p:ext uri="{BB962C8B-B14F-4D97-AF65-F5344CB8AC3E}">
        <p14:creationId xmlns:p14="http://schemas.microsoft.com/office/powerpoint/2010/main" val="265147172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Accept any allocation that improves modularity - </a:t>
            </a:r>
            <a:r>
              <a:rPr lang="en-US" b="1" dirty="0"/>
              <a:t>greedy</a:t>
            </a:r>
          </a:p>
          <a:p>
            <a:r>
              <a:rPr lang="en-US" b="1" dirty="0"/>
              <a:t>No backtracking </a:t>
            </a:r>
            <a:r>
              <a:rPr lang="en-US" dirty="0"/>
              <a:t>– all assignments depend on current state of community assignments </a:t>
            </a:r>
          </a:p>
          <a:p>
            <a:r>
              <a:rPr lang="en-US" dirty="0"/>
              <a:t>Dependent on initial partition of network </a:t>
            </a:r>
          </a:p>
          <a:p>
            <a:pPr marL="457200" lvl="1" indent="0">
              <a:buNone/>
            </a:pPr>
            <a:endParaRPr lang="en-US" dirty="0"/>
          </a:p>
          <a:p>
            <a:endParaRPr lang="en-US" dirty="0"/>
          </a:p>
        </p:txBody>
      </p:sp>
    </p:spTree>
    <p:extLst>
      <p:ext uri="{BB962C8B-B14F-4D97-AF65-F5344CB8AC3E}">
        <p14:creationId xmlns:p14="http://schemas.microsoft.com/office/powerpoint/2010/main" val="2375204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1324404" cy="5447426"/>
          </a:xfrm>
        </p:spPr>
        <p:txBody>
          <a:bodyPr>
            <a:normAutofit/>
          </a:bodyPr>
          <a:lstStyle/>
          <a:p>
            <a:pPr marL="0" indent="0">
              <a:buNone/>
            </a:pPr>
            <a:r>
              <a:rPr lang="en-US" dirty="0"/>
              <a:t>Greedy reallocation of community assignments </a:t>
            </a:r>
          </a:p>
          <a:p>
            <a:pPr marL="0" indent="0">
              <a:buNone/>
            </a:pPr>
            <a:r>
              <a:rPr lang="en-US" sz="2400" dirty="0">
                <a:latin typeface="Calibri Light" panose="020F0302020204030204" pitchFamily="34" charset="0"/>
                <a:cs typeface="Calibri Light" panose="020F0302020204030204" pitchFamily="34" charset="0"/>
              </a:rPr>
              <a:t>Procedure Division(Network):    </a:t>
            </a:r>
          </a:p>
          <a:p>
            <a:pPr marL="457200" lvl="1" indent="0">
              <a:buNone/>
            </a:pPr>
            <a:r>
              <a:rPr lang="en-US" dirty="0">
                <a:latin typeface="Calibri Light" panose="020F0302020204030204" pitchFamily="34" charset="0"/>
                <a:cs typeface="Calibri Light" panose="020F0302020204030204" pitchFamily="34" charset="0"/>
              </a:rPr>
              <a:t>C1, C2 &lt;- </a:t>
            </a:r>
            <a:r>
              <a:rPr lang="en-US" dirty="0" err="1">
                <a:latin typeface="Calibri Light" panose="020F0302020204030204" pitchFamily="34" charset="0"/>
                <a:cs typeface="Calibri Light" panose="020F0302020204030204" pitchFamily="34" charset="0"/>
              </a:rPr>
              <a:t>equal_division</a:t>
            </a:r>
            <a:r>
              <a:rPr lang="en-US" dirty="0">
                <a:latin typeface="Calibri Light" panose="020F0302020204030204" pitchFamily="34" charset="0"/>
                <a:cs typeface="Calibri Light" panose="020F0302020204030204" pitchFamily="34" charset="0"/>
              </a:rPr>
              <a:t> (Network)  # start with equal random division </a:t>
            </a:r>
          </a:p>
          <a:p>
            <a:pPr marL="457200" lvl="1" indent="0">
              <a:buNone/>
            </a:pPr>
            <a:r>
              <a:rPr lang="en-US" dirty="0">
                <a:latin typeface="Calibri Light" panose="020F0302020204030204" pitchFamily="34" charset="0"/>
                <a:cs typeface="Calibri Light" panose="020F0302020204030204" pitchFamily="34" charset="0"/>
              </a:rPr>
              <a:t>Network &lt;- </a:t>
            </a:r>
            <a:r>
              <a:rPr lang="en-US" dirty="0" err="1">
                <a:latin typeface="Calibri Light" panose="020F0302020204030204" pitchFamily="34" charset="0"/>
                <a:cs typeface="Calibri Light" panose="020F0302020204030204" pitchFamily="34" charset="0"/>
              </a:rPr>
              <a:t>community_assignments</a:t>
            </a:r>
            <a:r>
              <a:rPr lang="en-US" dirty="0">
                <a:latin typeface="Calibri Light" panose="020F0302020204030204" pitchFamily="34" charset="0"/>
                <a:cs typeface="Calibri Light" panose="020F0302020204030204" pitchFamily="34" charset="0"/>
              </a:rPr>
              <a:t>(C1, C2) # initial community assignments</a:t>
            </a:r>
          </a:p>
          <a:p>
            <a:pPr marL="457200" lvl="1" indent="0">
              <a:buNone/>
            </a:pPr>
            <a:r>
              <a:rPr lang="en-US" dirty="0">
                <a:latin typeface="Calibri Light" panose="020F0302020204030204" pitchFamily="34" charset="0"/>
                <a:cs typeface="Calibri Light" panose="020F0302020204030204" pitchFamily="34" charset="0"/>
              </a:rPr>
              <a:t>M &lt;- modularity(Network)  # initial modularity</a:t>
            </a:r>
          </a:p>
          <a:p>
            <a:pPr marL="457200" lvl="1" indent="0">
              <a:buNone/>
            </a:pPr>
            <a:r>
              <a:rPr lang="en-US" dirty="0">
                <a:latin typeface="Calibri Light" panose="020F0302020204030204" pitchFamily="34" charset="0"/>
                <a:cs typeface="Calibri Light" panose="020F0302020204030204" pitchFamily="34" charset="0"/>
              </a:rPr>
              <a:t>for n steps: </a:t>
            </a:r>
          </a:p>
          <a:p>
            <a:pPr marL="914400" lvl="2" indent="0">
              <a:buNone/>
            </a:pPr>
            <a:r>
              <a:rPr lang="en-US" sz="2400" dirty="0">
                <a:latin typeface="Calibri Light" panose="020F0302020204030204" pitchFamily="34" charset="0"/>
                <a:cs typeface="Calibri Light" panose="020F0302020204030204" pitchFamily="34" charset="0"/>
              </a:rPr>
              <a:t>node &lt;-  </a:t>
            </a:r>
            <a:r>
              <a:rPr lang="en-US" sz="2400" dirty="0" err="1">
                <a:latin typeface="Calibri Light" panose="020F0302020204030204" pitchFamily="34" charset="0"/>
                <a:cs typeface="Calibri Light" panose="020F0302020204030204" pitchFamily="34" charset="0"/>
              </a:rPr>
              <a:t>random_sample</a:t>
            </a:r>
            <a:r>
              <a:rPr lang="en-US" sz="2400" dirty="0">
                <a:latin typeface="Calibri Light" panose="020F0302020204030204" pitchFamily="34" charset="0"/>
                <a:cs typeface="Calibri Light" panose="020F0302020204030204" pitchFamily="34" charset="0"/>
              </a:rPr>
              <a:t>(Network) # sample node at random</a:t>
            </a:r>
          </a:p>
          <a:p>
            <a:pPr marL="914400" lvl="2" indent="0">
              <a:buNone/>
            </a:pP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&lt;- </a:t>
            </a:r>
            <a:r>
              <a:rPr lang="en-US" sz="2400" dirty="0" err="1">
                <a:latin typeface="Calibri Light" panose="020F0302020204030204" pitchFamily="34" charset="0"/>
                <a:cs typeface="Calibri Light" panose="020F0302020204030204" pitchFamily="34" charset="0"/>
              </a:rPr>
              <a:t>switch_community</a:t>
            </a:r>
            <a:r>
              <a:rPr lang="en-US" sz="2400" dirty="0">
                <a:latin typeface="Calibri Light" panose="020F0302020204030204" pitchFamily="34" charset="0"/>
                <a:cs typeface="Calibri Light" panose="020F0302020204030204" pitchFamily="34" charset="0"/>
              </a:rPr>
              <a:t>(node) # change assignment of node</a:t>
            </a:r>
          </a:p>
          <a:p>
            <a:pPr marL="914400" lvl="2" indent="0">
              <a:buNone/>
            </a:pP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&lt;- modularity(Network, </a:t>
            </a: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 measure modularity of assignment</a:t>
            </a:r>
          </a:p>
          <a:p>
            <a:pPr marL="914400" lvl="2" indent="0">
              <a:buNone/>
            </a:pPr>
            <a:r>
              <a:rPr lang="en-US" sz="2400" dirty="0">
                <a:latin typeface="Calibri Light" panose="020F0302020204030204" pitchFamily="34" charset="0"/>
                <a:cs typeface="Calibri Light" panose="020F0302020204030204" pitchFamily="34" charset="0"/>
              </a:rPr>
              <a:t>If </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&gt; M:  # greedy update of network</a:t>
            </a:r>
          </a:p>
          <a:p>
            <a:pPr marL="914400" lvl="2" indent="0">
              <a:buNone/>
            </a:pPr>
            <a:r>
              <a:rPr lang="en-US" sz="2400" dirty="0">
                <a:latin typeface="Calibri Light" panose="020F0302020204030204" pitchFamily="34" charset="0"/>
                <a:cs typeface="Calibri Light" panose="020F0302020204030204" pitchFamily="34" charset="0"/>
              </a:rPr>
              <a:t>     Network &lt;- </a:t>
            </a:r>
            <a:r>
              <a:rPr lang="en-US" sz="2400" dirty="0" err="1">
                <a:latin typeface="Calibri Light" panose="020F0302020204030204" pitchFamily="34" charset="0"/>
                <a:cs typeface="Calibri Light" panose="020F0302020204030204" pitchFamily="34" charset="0"/>
              </a:rPr>
              <a:t>community_assignments</a:t>
            </a:r>
            <a:r>
              <a:rPr lang="en-US" sz="2400" dirty="0">
                <a:latin typeface="Calibri Light" panose="020F0302020204030204" pitchFamily="34" charset="0"/>
                <a:cs typeface="Calibri Light" panose="020F0302020204030204" pitchFamily="34" charset="0"/>
              </a:rPr>
              <a:t>(</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a:t>
            </a:r>
          </a:p>
          <a:p>
            <a:pPr marL="914400" lvl="2" indent="0">
              <a:buNone/>
            </a:pPr>
            <a:r>
              <a:rPr lang="en-US" sz="2400" dirty="0">
                <a:latin typeface="Calibri Light" panose="020F0302020204030204" pitchFamily="34" charset="0"/>
                <a:cs typeface="Calibri Light" panose="020F0302020204030204" pitchFamily="34" charset="0"/>
              </a:rPr>
              <a:t>     M = </a:t>
            </a:r>
            <a:r>
              <a:rPr lang="en-US" sz="2400" dirty="0" err="1">
                <a:latin typeface="Calibri Light" panose="020F0302020204030204" pitchFamily="34" charset="0"/>
                <a:cs typeface="Calibri Light" panose="020F0302020204030204" pitchFamily="34" charset="0"/>
              </a:rPr>
              <a:t>M_temp</a:t>
            </a:r>
            <a:endParaRPr lang="en-US" sz="2400" dirty="0">
              <a:latin typeface="Calibri Light" panose="020F0302020204030204" pitchFamily="34" charset="0"/>
              <a:cs typeface="Calibri Light" panose="020F0302020204030204" pitchFamily="34" charset="0"/>
            </a:endParaRPr>
          </a:p>
          <a:p>
            <a:pPr marL="457200" lvl="1" indent="0">
              <a:buNone/>
            </a:pPr>
            <a:r>
              <a:rPr lang="en-US" dirty="0">
                <a:latin typeface="Calibri Light" panose="020F0302020204030204" pitchFamily="34" charset="0"/>
                <a:cs typeface="Calibri Light" panose="020F0302020204030204" pitchFamily="34" charset="0"/>
              </a:rPr>
              <a:t>return(network)</a:t>
            </a:r>
          </a:p>
          <a:p>
            <a:pPr marL="914400" lvl="2" indent="0">
              <a:buNone/>
            </a:pPr>
            <a:endParaRPr lang="en-US" dirty="0"/>
          </a:p>
          <a:p>
            <a:pPr marL="457200" lvl="1" indent="0">
              <a:buNone/>
            </a:pPr>
            <a:endParaRPr lang="en-US" dirty="0"/>
          </a:p>
          <a:p>
            <a:endParaRPr lang="en-US" dirty="0"/>
          </a:p>
        </p:txBody>
      </p:sp>
    </p:spTree>
    <p:extLst>
      <p:ext uri="{BB962C8B-B14F-4D97-AF65-F5344CB8AC3E}">
        <p14:creationId xmlns:p14="http://schemas.microsoft.com/office/powerpoint/2010/main" val="4815785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Requires computing modularity at each step</a:t>
                </a:r>
              </a:p>
              <a:p>
                <a:pPr lvl="1"/>
                <a:r>
                  <a:rPr lang="en-US" dirty="0"/>
                  <a:t>Can do incremental updates</a:t>
                </a:r>
              </a:p>
              <a:p>
                <a:pPr lvl="1"/>
                <a:r>
                  <a:rPr lang="en-US" dirty="0"/>
                  <a:t>Computationally intensive </a:t>
                </a:r>
              </a:p>
              <a:p>
                <a:r>
                  <a:rPr lang="en-US" dirty="0"/>
                  <a:t>Can recursively continue partitions of the components </a:t>
                </a:r>
              </a:p>
              <a:p>
                <a:pPr lvl="1"/>
                <a:r>
                  <a:rPr lang="en-US" dirty="0"/>
                  <a:t>Stopping criteria when modularity no longer increases  </a:t>
                </a:r>
              </a:p>
              <a:p>
                <a:r>
                  <a:rPr lang="en-US" dirty="0"/>
                  <a:t>Computational complexity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endParaRPr lang="en-US" dirty="0"/>
              </a:p>
              <a:p>
                <a:pPr marL="914400" lvl="2" indent="0">
                  <a:buNone/>
                </a:pPr>
                <a:endParaRPr lang="en-US" dirty="0"/>
              </a:p>
              <a:p>
                <a:pPr marL="457200" lvl="1" indent="0">
                  <a:buNone/>
                </a:pPr>
                <a:endParaRPr lang="en-US" dirty="0"/>
              </a:p>
              <a:p>
                <a:endParaRPr lang="en-US" dirty="0"/>
              </a:p>
            </p:txBody>
          </p:sp>
        </mc:Choice>
        <mc:Fallback>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4176574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8C505-AF4B-957C-CA98-44FDD8F66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91880-7EA1-0A90-77D5-659671D2A5F3}"/>
              </a:ext>
            </a:extLst>
          </p:cNvPr>
          <p:cNvSpPr>
            <a:spLocks noGrp="1"/>
          </p:cNvSpPr>
          <p:nvPr>
            <p:ph type="title"/>
          </p:nvPr>
        </p:nvSpPr>
        <p:spPr>
          <a:xfrm>
            <a:off x="831850" y="1709738"/>
            <a:ext cx="9918808" cy="2282271"/>
          </a:xfrm>
        </p:spPr>
        <p:txBody>
          <a:bodyPr/>
          <a:lstStyle/>
          <a:p>
            <a:pPr algn="ctr"/>
            <a:r>
              <a:rPr lang="en-US" dirty="0"/>
              <a:t>Community Search with Spectral Maximization</a:t>
            </a:r>
          </a:p>
        </p:txBody>
      </p:sp>
    </p:spTree>
    <p:extLst>
      <p:ext uri="{BB962C8B-B14F-4D97-AF65-F5344CB8AC3E}">
        <p14:creationId xmlns:p14="http://schemas.microsoft.com/office/powerpoint/2010/main" val="30810722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a:t>
                </a:r>
                <a:r>
                  <a:rPr lang="en-US" b="1" dirty="0"/>
                  <a:t>spectral decomposition </a:t>
                </a:r>
                <a:r>
                  <a:rPr lang="en-US" dirty="0"/>
                  <a:t>to maximize modularity</a:t>
                </a:r>
              </a:p>
              <a:p>
                <a:r>
                  <a:rPr lang="en-US" dirty="0"/>
                  <a:t>For binary partition of graph with </a:t>
                </a:r>
                <a:r>
                  <a:rPr lang="en-US" i="1" dirty="0"/>
                  <a:t>n</a:t>
                </a:r>
                <a:r>
                  <a:rPr lang="en-US" dirty="0"/>
                  <a:t> nodes, find vector,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𝑛</m:t>
                            </m:r>
                          </m:sub>
                        </m:sSub>
                      </m:e>
                    </m:d>
                  </m:oMath>
                </a14:m>
                <a:r>
                  <a:rPr lang="en-US" dirty="0"/>
                  <a:t>, that maximizes modularity,  where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is a binary indicator</a:t>
                </a:r>
              </a:p>
              <a:p>
                <a:pPr marL="0" indent="0">
                  <a:buNone/>
                </a:pPr>
                <a14:m>
                  <m:oMathPara xmlns:m="http://schemas.openxmlformats.org/officeDocument/2006/math">
                    <m:oMath>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𝑠</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m:t>
                      </m:r>
                      <m:d>
                        <m:dPr>
                          <m:begChr m:val="{"/>
                          <m:endChr m:val=""/>
                          <m:ctrlPr>
                            <a:rPr lang="en-US" b="0" i="1" smtClean="0">
                              <a:latin typeface="Cambria Math" panose="02040503050406030204" pitchFamily="18" charset="0"/>
                              <a:cs typeface="Segoe UI" panose="020B0502040204020203" pitchFamily="34" charset="0"/>
                            </a:rPr>
                          </m:ctrlPr>
                        </m:dPr>
                        <m:e>
                          <m:eqArr>
                            <m:eqArrPr>
                              <m:ctrlPr>
                                <a:rPr lang="en-US" b="0" i="1" smtClean="0">
                                  <a:latin typeface="Cambria Math" panose="02040503050406030204" pitchFamily="18" charset="0"/>
                                  <a:cs typeface="Segoe UI" panose="020B0502040204020203" pitchFamily="34" charset="0"/>
                                </a:rPr>
                              </m:ctrlPr>
                            </m:eqArrPr>
                            <m:e>
                              <m:r>
                                <a:rPr lang="en-US" b="0" i="1" smtClean="0">
                                  <a:latin typeface="Cambria Math" panose="02040503050406030204" pitchFamily="18" charset="0"/>
                                  <a:cs typeface="Segoe UI" panose="020B0502040204020203" pitchFamily="34" charset="0"/>
                                </a:rPr>
                                <m:t>+1, </m:t>
                              </m:r>
                              <m:r>
                                <a:rPr lang="en-US" b="0" i="1" smtClean="0">
                                  <a:latin typeface="Cambria Math" panose="02040503050406030204" pitchFamily="18" charset="0"/>
                                  <a:cs typeface="Segoe UI" panose="020B0502040204020203" pitchFamily="34" charset="0"/>
                                </a:rPr>
                                <m:t>𝑖𝑓</m:t>
                              </m:r>
                              <m:r>
                                <a:rPr lang="en-US" b="0" i="1" smtClean="0">
                                  <a:latin typeface="Cambria Math" panose="02040503050406030204" pitchFamily="18" charset="0"/>
                                  <a:cs typeface="Segoe UI" panose="020B0502040204020203" pitchFamily="34" charset="0"/>
                                </a:rPr>
                                <m:t> </m:t>
                              </m:r>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𝑛</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𝑖𝑛</m:t>
                              </m:r>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𝑔𝑟𝑜𝑢𝑝</m:t>
                              </m:r>
                              <m:r>
                                <a:rPr lang="en-US" b="0" i="1" smtClean="0">
                                  <a:latin typeface="Cambria Math" panose="02040503050406030204" pitchFamily="18" charset="0"/>
                                  <a:cs typeface="Segoe UI" panose="020B0502040204020203" pitchFamily="34" charset="0"/>
                                </a:rPr>
                                <m:t> 1</m:t>
                              </m:r>
                            </m:e>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1, </m:t>
                              </m:r>
                              <m:r>
                                <a:rPr lang="en-US" i="1">
                                  <a:latin typeface="Cambria Math" panose="02040503050406030204" pitchFamily="18" charset="0"/>
                                  <a:cs typeface="Segoe UI" panose="020B0502040204020203" pitchFamily="34" charset="0"/>
                                </a:rPr>
                                <m:t>𝑖𝑓</m:t>
                              </m:r>
                              <m:r>
                                <a:rPr lang="en-US" i="1">
                                  <a:latin typeface="Cambria Math" panose="02040503050406030204" pitchFamily="18" charset="0"/>
                                  <a:cs typeface="Segoe UI" panose="020B0502040204020203" pitchFamily="34" charset="0"/>
                                </a:rPr>
                                <m:t> </m:t>
                              </m:r>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cs typeface="Segoe UI" panose="020B0502040204020203" pitchFamily="34" charset="0"/>
                                    </a:rPr>
                                    <m:t>𝑛</m:t>
                                  </m:r>
                                </m:e>
                                <m:sub>
                                  <m:r>
                                    <a:rPr lang="en-US" i="1">
                                      <a:latin typeface="Cambria Math" panose="02040503050406030204" pitchFamily="18" charset="0"/>
                                      <a:cs typeface="Segoe UI" panose="020B0502040204020203" pitchFamily="34" charset="0"/>
                                    </a:rPr>
                                    <m:t>𝑖</m:t>
                                  </m:r>
                                </m:sub>
                              </m:sSub>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𝑖𝑛</m:t>
                              </m:r>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𝑔𝑟𝑜𝑢𝑝</m:t>
                              </m:r>
                              <m:r>
                                <a:rPr lang="en-US" i="1">
                                  <a:latin typeface="Cambria Math" panose="02040503050406030204" pitchFamily="18" charset="0"/>
                                  <a:cs typeface="Segoe UI" panose="020B0502040204020203" pitchFamily="34" charset="0"/>
                                </a:rPr>
                                <m:t> 2</m:t>
                              </m:r>
                            </m:e>
                          </m:eqArr>
                        </m:e>
                      </m:d>
                    </m:oMath>
                  </m:oMathPara>
                </a14:m>
                <a:endParaRPr lang="en-US" dirty="0">
                  <a:cs typeface="Segoe UI" panose="020B0502040204020203" pitchFamily="34" charset="0"/>
                </a:endParaRPr>
              </a:p>
              <a:p>
                <a:r>
                  <a:rPr lang="en-US" dirty="0"/>
                  <a:t>In matrix form, we can express modularity for a graph, </a:t>
                </a:r>
                <a:r>
                  <a:rPr lang="en-US" i="1" dirty="0"/>
                  <a:t>G</a:t>
                </a:r>
                <a:r>
                  <a:rPr lang="en-US" dirty="0"/>
                  <a:t>, as: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pPr marL="0" indent="0">
                  <a:buNone/>
                </a:pPr>
                <a:r>
                  <a:rPr lang="en-US" dirty="0"/>
                  <a:t>Where </a:t>
                </a:r>
                <a:r>
                  <a:rPr lang="en-US" i="1" dirty="0"/>
                  <a:t>B</a:t>
                </a:r>
                <a:r>
                  <a:rPr lang="en-US" dirty="0"/>
                  <a:t> is the </a:t>
                </a:r>
                <a:r>
                  <a:rPr lang="en-US" b="1" dirty="0"/>
                  <a:t>modularity matrix </a:t>
                </a:r>
                <a:r>
                  <a:rPr lang="en-US" dirty="0"/>
                  <a:t>with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oMath>
                  </m:oMathPara>
                </a14:m>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565"/>
                </a:stretch>
              </a:blipFill>
            </p:spPr>
            <p:txBody>
              <a:bodyPr/>
              <a:lstStyle/>
              <a:p>
                <a:r>
                  <a:rPr lang="en-US">
                    <a:noFill/>
                  </a:rPr>
                  <a:t> </a:t>
                </a:r>
              </a:p>
            </p:txBody>
          </p:sp>
        </mc:Fallback>
      </mc:AlternateContent>
    </p:spTree>
    <p:extLst>
      <p:ext uri="{BB962C8B-B14F-4D97-AF65-F5344CB8AC3E}">
        <p14:creationId xmlns:p14="http://schemas.microsoft.com/office/powerpoint/2010/main" val="2891424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We can express modularity for a graph, </a:t>
                </a:r>
                <a:r>
                  <a:rPr lang="en-US" i="1" dirty="0"/>
                  <a:t>G</a:t>
                </a:r>
                <a:r>
                  <a:rPr lang="en-US" dirty="0"/>
                  <a:t>, as: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Is a </a:t>
                </a:r>
                <a:r>
                  <a:rPr lang="en-US" b="1" dirty="0"/>
                  <a:t>discrete quadratic optimization </a:t>
                </a:r>
                <a:r>
                  <a:rPr lang="en-US" dirty="0"/>
                  <a:t>problem with binary valued </a:t>
                </a:r>
                <a:r>
                  <a:rPr lang="en-US" i="1" dirty="0"/>
                  <a:t>s</a:t>
                </a:r>
              </a:p>
              <a:p>
                <a:r>
                  <a:rPr lang="en-US" dirty="0"/>
                  <a:t>This is a computationally hard problem. </a:t>
                </a:r>
              </a:p>
              <a:p>
                <a:pPr lvl="1"/>
                <a:r>
                  <a:rPr lang="en-US" dirty="0"/>
                  <a:t>Exhaustive </a:t>
                </a:r>
                <a:r>
                  <a:rPr lang="en-US" b="1" dirty="0"/>
                  <a:t>combinatorial search </a:t>
                </a:r>
                <a:r>
                  <a:rPr lang="en-US" dirty="0"/>
                  <a:t>required for exact solution   </a:t>
                </a:r>
              </a:p>
              <a:p>
                <a:r>
                  <a:rPr lang="en-US" dirty="0"/>
                  <a:t>Transform discrete optimization problem to approximate continuous value problem </a:t>
                </a:r>
              </a:p>
              <a:p>
                <a:pPr lvl="1"/>
                <a:r>
                  <a:rPr lang="en-US" dirty="0"/>
                  <a:t>Know as a </a:t>
                </a:r>
                <a:r>
                  <a:rPr lang="en-US" b="1" dirty="0"/>
                  <a:t>relaxation method</a:t>
                </a:r>
              </a:p>
              <a:p>
                <a:pPr lvl="1"/>
                <a:r>
                  <a:rPr lang="en-US" dirty="0"/>
                  <a:t>Relax constraint on values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can take</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706543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Transform problem to approximate quadratic problem with relaxation method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Need to constrain the solution to limit approximate values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such that</a:t>
                </a:r>
              </a:p>
              <a:p>
                <a:pPr marL="0" indent="0">
                  <a:buNone/>
                </a:pPr>
                <a14:m>
                  <m:oMathPara xmlns:m="http://schemas.openxmlformats.org/officeDocument/2006/math">
                    <m:oMath>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r>
                            <a:rPr lang="en-US" b="0" i="1" smtClean="0">
                              <a:latin typeface="Cambria Math" panose="02040503050406030204" pitchFamily="18" charset="0"/>
                            </a:rPr>
                            <m:t>𝑛</m:t>
                          </m:r>
                        </m:e>
                      </m:nary>
                    </m:oMath>
                  </m:oMathPara>
                </a14:m>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931765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fontScale="92500" lnSpcReduction="20000"/>
              </a:bodyPr>
              <a:lstStyle/>
              <a:p>
                <a:pPr marL="0" indent="0">
                  <a:buNone/>
                </a:pPr>
                <a:r>
                  <a:rPr lang="en-US" dirty="0"/>
                  <a:t>Use spectral decomposition to maximize modularity</a:t>
                </a:r>
                <a:endParaRPr lang="en-US" dirty="0">
                  <a:cs typeface="Segoe UI" panose="020B0502040204020203" pitchFamily="34" charset="0"/>
                </a:endParaRPr>
              </a:p>
              <a:p>
                <a:r>
                  <a:rPr lang="en-US" dirty="0"/>
                  <a:t>The constrained problem:  </a:t>
                </a:r>
              </a:p>
              <a:p>
                <a:pPr marL="0" indent="0">
                  <a:buNone/>
                </a:pPr>
                <a14:m>
                  <m:oMathPara xmlns:m="http://schemas.openxmlformats.org/officeDocument/2006/math">
                    <m:oMath>
                      <m:func>
                        <m:funcPr>
                          <m:ctrlPr>
                            <a:rPr lang="en-US" i="1" smtClean="0">
                              <a:latin typeface="Cambria Math" panose="02040503050406030204" pitchFamily="18" charset="0"/>
                            </a:rPr>
                          </m:ctrlPr>
                        </m:funcPr>
                        <m:fName>
                          <m:limLow>
                            <m:limLowPr>
                              <m:ctrlPr>
                                <a:rPr lang="en-US" i="0"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𝑠</m:t>
                              </m:r>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up/>
                            <m:e>
                              <m:sSub>
                                <m:sSubPr>
                                  <m:ctrlPr>
                                    <a:rPr lang="en-US" i="1">
                                      <a:latin typeface="Cambria Math" panose="02040503050406030204" pitchFamily="18" charset="0"/>
                                    </a:rPr>
                                  </m:ctrlPr>
                                </m:sSubPr>
                                <m:e>
                                  <m:r>
                                    <a:rPr lang="en-US" i="1">
                                      <a:latin typeface="Cambria Math" panose="02040503050406030204" pitchFamily="18" charset="0"/>
                                    </a:rPr>
                                    <m:t>𝐵</m:t>
                                  </m:r>
                                </m:e>
                                <m:sub>
                                  <m: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r>
                                <a:rPr lang="en-US" b="0" i="1" smtClean="0">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𝑛</m:t>
                              </m:r>
                              <m:r>
                                <a:rPr lang="en-US" i="1">
                                  <a:latin typeface="Cambria Math" panose="02040503050406030204" pitchFamily="18" charset="0"/>
                                  <a:ea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m:rPr>
                                      <m:brk m:alnAt="7"/>
                                    </m:rPr>
                                    <a:rPr lang="en-US" i="1">
                                      <a:latin typeface="Cambria Math" panose="02040503050406030204" pitchFamily="18" charset="0"/>
                                      <a:ea typeface="Cambria Math" panose="02040503050406030204" pitchFamily="18" charset="0"/>
                                    </a:rPr>
                                    <m:t>𝑖</m:t>
                                  </m:r>
                                </m:sub>
                                <m:sup/>
                                <m:e>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𝑖</m:t>
                                      </m:r>
                                    </m:sub>
                                    <m:sup>
                                      <m:r>
                                        <a:rPr lang="en-US" i="1">
                                          <a:latin typeface="Cambria Math" panose="02040503050406030204" pitchFamily="18" charset="0"/>
                                          <a:ea typeface="Cambria Math" panose="02040503050406030204" pitchFamily="18" charset="0"/>
                                        </a:rPr>
                                        <m:t>2</m:t>
                                      </m:r>
                                    </m:sup>
                                  </m:sSubSup>
                                </m:e>
                              </m:nary>
                            </m:e>
                          </m:d>
                        </m:e>
                      </m:func>
                      <m:r>
                        <a:rPr lang="en-US" b="0" i="1" smtClean="0">
                          <a:latin typeface="Cambria Math" panose="02040503050406030204" pitchFamily="18" charset="0"/>
                        </a:rPr>
                        <m:t>,  </m:t>
                      </m:r>
                      <m:r>
                        <a:rPr lang="en-US" b="0" i="1" smtClean="0">
                          <a:latin typeface="Cambria Math" panose="02040503050406030204" pitchFamily="18" charset="0"/>
                        </a:rPr>
                        <m:t>𝑤ℎ𝑒𝑟𝑒</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𝑖𝑠</m:t>
                      </m:r>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𝑳𝒂𝒈𝒓𝒂𝒏𝒈𝒆</m:t>
                      </m:r>
                      <m:r>
                        <a:rPr lang="en-US" b="1"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𝒎𝒖𝒍𝒕𝒊𝒑𝒍𝒊𝒆𝒓</m:t>
                      </m:r>
                    </m:oMath>
                  </m:oMathPara>
                </a14:m>
                <a:endParaRPr lang="en-US" b="1" dirty="0"/>
              </a:p>
              <a:p>
                <a:r>
                  <a:rPr lang="en-US" dirty="0"/>
                  <a:t>The </a:t>
                </a:r>
                <a:r>
                  <a:rPr lang="en-US" b="1" dirty="0"/>
                  <a:t>constraint is not binding </a:t>
                </a:r>
                <a:r>
                  <a:rPr lang="en-US" dirty="0"/>
                  <a:t>when </a:t>
                </a:r>
                <a14:m>
                  <m:oMath xmlns:m="http://schemas.openxmlformats.org/officeDocument/2006/math">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Sup>
                          <m:sSubSupPr>
                            <m:ctrlPr>
                              <a:rPr lang="en-US" i="1">
                                <a:latin typeface="Cambria Math" panose="02040503050406030204" pitchFamily="18" charset="0"/>
                              </a:rPr>
                            </m:ctrlPr>
                          </m:sSubSupPr>
                          <m:e>
                            <m:r>
                              <a:rPr lang="en-US" i="1">
                                <a:latin typeface="Cambria Math" panose="02040503050406030204" pitchFamily="18" charset="0"/>
                              </a:rPr>
                              <m:t>𝑠</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i="1">
                            <a:latin typeface="Cambria Math" panose="02040503050406030204" pitchFamily="18" charset="0"/>
                          </a:rPr>
                          <m:t>=</m:t>
                        </m:r>
                        <m:r>
                          <a:rPr lang="en-US" i="1">
                            <a:latin typeface="Cambria Math" panose="02040503050406030204" pitchFamily="18" charset="0"/>
                          </a:rPr>
                          <m:t>𝑛</m:t>
                        </m:r>
                      </m:e>
                    </m:nary>
                  </m:oMath>
                </a14:m>
                <a:endParaRPr lang="en-US" dirty="0"/>
              </a:p>
              <a:p>
                <a:r>
                  <a:rPr lang="en-US" dirty="0"/>
                  <a:t>We can find the maximum by setting the derivative with respect to the community assignments to 0   </a:t>
                </a:r>
              </a:p>
              <a:p>
                <a:pPr marL="0" indent="0">
                  <a:buNone/>
                </a:pPr>
                <a14:m>
                  <m:oMathPara xmlns:m="http://schemas.openxmlformats.org/officeDocument/2006/math">
                    <m:oMath>
                      <m:f>
                        <m:fPr>
                          <m:ctrlPr>
                            <a:rPr lang="en-US" i="1" smtClean="0">
                              <a:latin typeface="Cambria Math" panose="02040503050406030204" pitchFamily="18" charset="0"/>
                            </a:rPr>
                          </m:ctrlPr>
                        </m:fPr>
                        <m:num>
                          <m:r>
                            <a:rPr lang="en-US" i="1" smtClean="0">
                              <a:latin typeface="Cambria Math" panose="02040503050406030204" pitchFamily="18" charset="0"/>
                            </a:rPr>
                            <m:t>𝜕</m:t>
                          </m:r>
                        </m:num>
                        <m:den>
                          <m:r>
                            <a:rPr lang="en-US"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den>
                      </m:f>
                      <m:d>
                        <m:dPr>
                          <m:begChr m:val="["/>
                          <m:endChr m:val="]"/>
                          <m:ctrlPr>
                            <a:rPr lang="en-US" b="0" i="1" smtClean="0">
                              <a:latin typeface="Cambria Math" panose="02040503050406030204" pitchFamily="18" charset="0"/>
                            </a:rPr>
                          </m:ctrlPr>
                        </m:dPr>
                        <m:e>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𝑘</m:t>
                                  </m:r>
                                </m:sub>
                              </m:sSub>
                              <m:r>
                                <a:rPr lang="en-US" b="0" i="1" smtClean="0">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m:rPr>
                                      <m:brk m:alnAt="7"/>
                                    </m:rPr>
                                    <a:rPr lang="en-US" b="0" i="1" smtClean="0">
                                      <a:latin typeface="Cambria Math" panose="02040503050406030204" pitchFamily="18" charset="0"/>
                                      <a:ea typeface="Cambria Math" panose="02040503050406030204" pitchFamily="18" charset="0"/>
                                    </a:rPr>
                                    <m:t>𝑖</m:t>
                                  </m:r>
                                </m:sub>
                                <m:sup/>
                                <m:e>
                                  <m:sSubSup>
                                    <m:sSubSupPr>
                                      <m:ctrlPr>
                                        <a:rPr lang="en-US" b="0" i="1" smtClean="0">
                                          <a:latin typeface="Cambria Math" panose="02040503050406030204" pitchFamily="18" charset="0"/>
                                          <a:ea typeface="Cambria Math" panose="02040503050406030204" pitchFamily="18" charset="0"/>
                                        </a:rPr>
                                      </m:ctrlPr>
                                    </m:sSubSup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𝑖</m:t>
                                      </m:r>
                                    </m:sub>
                                    <m:sup>
                                      <m:r>
                                        <a:rPr lang="en-US" b="0" i="1" smtClean="0">
                                          <a:latin typeface="Cambria Math" panose="02040503050406030204" pitchFamily="18" charset="0"/>
                                          <a:ea typeface="Cambria Math" panose="02040503050406030204" pitchFamily="18" charset="0"/>
                                        </a:rPr>
                                        <m:t>2</m:t>
                                      </m:r>
                                    </m:sup>
                                  </m:sSubSup>
                                </m:e>
                              </m:nary>
                            </m:e>
                          </m:d>
                        </m:e>
                      </m:d>
                      <m:r>
                        <a:rPr lang="en-US" b="0" i="1" smtClean="0">
                          <a:latin typeface="Cambria Math" panose="02040503050406030204" pitchFamily="18" charset="0"/>
                        </a:rPr>
                        <m:t>=0</m:t>
                      </m:r>
                    </m:oMath>
                  </m:oMathPara>
                </a14:m>
                <a:endParaRPr lang="en-US" b="0" dirty="0"/>
              </a:p>
              <a:p>
                <a:pPr marL="0" indent="0">
                  <a:buNone/>
                </a:pPr>
                <a:r>
                  <a:rPr lang="en-US" dirty="0"/>
                  <a:t>Or, in matrix notation:</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pPr marL="0" indent="0">
                  <a:buNone/>
                </a:pPr>
                <a:r>
                  <a:rPr lang="en-US" dirty="0"/>
                  <a:t>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016" t="-2905"/>
                </a:stretch>
              </a:blipFill>
            </p:spPr>
            <p:txBody>
              <a:bodyPr/>
              <a:lstStyle/>
              <a:p>
                <a:r>
                  <a:rPr lang="en-US">
                    <a:noFill/>
                  </a:rPr>
                  <a:t> </a:t>
                </a:r>
              </a:p>
            </p:txBody>
          </p:sp>
        </mc:Fallback>
      </mc:AlternateContent>
    </p:spTree>
    <p:extLst>
      <p:ext uri="{BB962C8B-B14F-4D97-AF65-F5344CB8AC3E}">
        <p14:creationId xmlns:p14="http://schemas.microsoft.com/office/powerpoint/2010/main" val="391842969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p>
              <a:p>
                <a:r>
                  <a:rPr lang="en-US" dirty="0"/>
                  <a:t>Recall eigenvalue decomposition of matrix </a:t>
                </a:r>
                <a:r>
                  <a:rPr lang="en-US" i="1" dirty="0"/>
                  <a:t>A</a:t>
                </a:r>
                <a:r>
                  <a:rPr lang="en-US" dirty="0"/>
                  <a:t>: </a:t>
                </a:r>
              </a:p>
              <a:p>
                <a:pPr marL="0" indent="0">
                  <a:buNone/>
                </a:pPr>
                <a14:m>
                  <m:oMathPara xmlns:m="http://schemas.openxmlformats.org/officeDocument/2006/math">
                    <m:o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𝑄</m:t>
                      </m:r>
                      <m:r>
                        <m:rPr>
                          <m:sty m:val="p"/>
                        </m:rPr>
                        <a:rPr lang="el-GR" i="1">
                          <a:latin typeface="Cambria Math" panose="02040503050406030204" pitchFamily="18" charset="0"/>
                          <a:ea typeface="Cambria Math" panose="02040503050406030204" pitchFamily="18" charset="0"/>
                          <a:cs typeface="Segoe UI" panose="020B0502040204020203" pitchFamily="34" charset="0"/>
                        </a:rPr>
                        <m:t>Λ</m:t>
                      </m:r>
                      <m:sSup>
                        <m:sSupPr>
                          <m:ctrlPr>
                            <a:rPr lang="en-US" i="1">
                              <a:latin typeface="Cambria Math" panose="02040503050406030204" pitchFamily="18" charset="0"/>
                              <a:ea typeface="Cambria Math" panose="02040503050406030204" pitchFamily="18" charset="0"/>
                              <a:cs typeface="Segoe UI" panose="020B0502040204020203" pitchFamily="34" charset="0"/>
                            </a:rPr>
                          </m:ctrlPr>
                        </m:sSupPr>
                        <m:e>
                          <m:r>
                            <a:rPr lang="en-US" i="1">
                              <a:latin typeface="Cambria Math" panose="02040503050406030204" pitchFamily="18" charset="0"/>
                              <a:ea typeface="Cambria Math" panose="02040503050406030204" pitchFamily="18" charset="0"/>
                              <a:cs typeface="Segoe UI" panose="020B0502040204020203" pitchFamily="34" charset="0"/>
                            </a:rPr>
                            <m:t>𝑄</m:t>
                          </m:r>
                        </m:e>
                        <m:sup>
                          <m:r>
                            <a:rPr lang="en-US" i="1">
                              <a:latin typeface="Cambria Math" panose="02040503050406030204" pitchFamily="18" charset="0"/>
                              <a:ea typeface="Cambria Math" panose="02040503050406030204" pitchFamily="18" charset="0"/>
                              <a:cs typeface="Segoe UI" panose="020B0502040204020203" pitchFamily="34" charset="0"/>
                            </a:rPr>
                            <m:t>𝑇</m:t>
                          </m:r>
                        </m:sup>
                      </m:sSup>
                    </m:oMath>
                  </m:oMathPara>
                </a14:m>
                <a:endParaRPr lang="en-US" dirty="0">
                  <a:ea typeface="Cambria Math" panose="02040503050406030204" pitchFamily="18" charset="0"/>
                  <a:cs typeface="Segoe UI" panose="020B0502040204020203" pitchFamily="34" charset="0"/>
                </a:endParaRPr>
              </a:p>
              <a:p>
                <a:pPr marL="0" indent="0">
                  <a:buNone/>
                </a:pPr>
                <a14:m>
                  <m:oMathPara xmlns:m="http://schemas.openxmlformats.org/officeDocument/2006/math">
                    <m:o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0</m:t>
                                </m:r>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r>
                                  <a:rPr lang="en-US" i="1">
                                    <a:latin typeface="Cambria Math" panose="02040503050406030204" pitchFamily="18" charset="0"/>
                                    <a:cs typeface="Segoe UI" panose="020B0502040204020203" pitchFamily="34" charset="0"/>
                                  </a:rPr>
                                  <m:t>0</m:t>
                                </m:r>
                              </m:e>
                              <m:e>
                                <m:r>
                                  <a:rPr lang="en-US" i="1">
                                    <a:latin typeface="Cambria Math" panose="02040503050406030204" pitchFamily="18" charset="0"/>
                                    <a:cs typeface="Segoe UI" panose="020B0502040204020203" pitchFamily="34" charset="0"/>
                                  </a:rPr>
                                  <m:t>⋯</m:t>
                                </m:r>
                              </m:e>
                              <m:e>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𝑛</m:t>
                                    </m:r>
                                  </m:sub>
                                </m:sSub>
                              </m:e>
                            </m:mr>
                          </m:m>
                        </m:e>
                      </m:d>
                      <m:sSup>
                        <m:sSupPr>
                          <m:ctrlPr>
                            <a:rPr lang="en-US" i="1">
                              <a:latin typeface="Cambria Math" panose="02040503050406030204" pitchFamily="18" charset="0"/>
                              <a:cs typeface="Segoe UI" panose="020B0502040204020203" pitchFamily="34" charset="0"/>
                            </a:rPr>
                          </m:ctrlPr>
                        </m:sSupPr>
                        <m:e>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e>
                        <m:sup/>
                      </m:sSup>
                    </m:oMath>
                  </m:oMathPara>
                </a14:m>
                <a:endParaRPr lang="en-US" dirty="0">
                  <a:cs typeface="Segoe UI" panose="020B0502040204020203" pitchFamily="34" charset="0"/>
                </a:endParaRPr>
              </a:p>
              <a:p>
                <a:r>
                  <a:rPr lang="en-US" dirty="0">
                    <a:cs typeface="Segoe UI" panose="020B0502040204020203" pitchFamily="34" charset="0"/>
                  </a:rPr>
                  <a:t>Magnitudes of n eigenvalues are ordered, </a:t>
                </a:r>
                <a14:m>
                  <m:oMath xmlns:m="http://schemas.openxmlformats.org/officeDocument/2006/math">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r>
                      <a:rPr lang="en-US" b="0" i="1" smtClean="0">
                        <a:latin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b="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2</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cs typeface="Segoe UI" panose="020B0502040204020203" pitchFamily="34" charset="0"/>
                  </a:rPr>
                  <a:t>…</a:t>
                </a:r>
                <a:r>
                  <a:rPr lang="en-US" dirty="0">
                    <a:ea typeface="Cambria Math" panose="02040503050406030204" pitchFamily="18" charset="0"/>
                    <a:cs typeface="Segoe UI" panose="020B0502040204020203" pitchFamily="34" charset="0"/>
                  </a:rPr>
                  <a:t> </a:t>
                </a:r>
                <a14:m>
                  <m:oMath xmlns:m="http://schemas.openxmlformats.org/officeDocument/2006/math">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ea typeface="Cambria Math" panose="02040503050406030204" pitchFamily="18" charset="0"/>
                    <a:cs typeface="Segoe UI" panose="020B0502040204020203" pitchFamily="34"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𝑛</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oMath>
                </a14:m>
                <a:endParaRPr lang="en-US" dirty="0">
                  <a:cs typeface="Segoe UI" panose="020B0502040204020203" pitchFamily="34" charset="0"/>
                </a:endParaRPr>
              </a:p>
              <a:p>
                <a:r>
                  <a:rPr lang="en-US" dirty="0">
                    <a:cs typeface="Segoe UI" panose="020B0502040204020203" pitchFamily="34" charset="0"/>
                  </a:rPr>
                  <a:t>Each of the n orthogonal </a:t>
                </a:r>
                <a:r>
                  <a:rPr lang="en-US">
                    <a:cs typeface="Segoe UI" panose="020B0502040204020203" pitchFamily="34" charset="0"/>
                  </a:rPr>
                  <a:t>and unit norm </a:t>
                </a:r>
                <a:r>
                  <a:rPr lang="en-US" dirty="0">
                    <a:cs typeface="Segoe UI" panose="020B0502040204020203" pitchFamily="34" charset="0"/>
                  </a:rPr>
                  <a:t>eigenvectors, </a:t>
                </a:r>
                <a14:m>
                  <m:oMath xmlns:m="http://schemas.openxmlformats.org/officeDocument/2006/math">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 </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𝑖</m:t>
                        </m:r>
                        <m:r>
                          <a:rPr lang="en-US" i="1">
                            <a:latin typeface="Cambria Math" panose="02040503050406030204" pitchFamily="18" charset="0"/>
                            <a:cs typeface="Segoe UI" panose="020B0502040204020203" pitchFamily="34" charset="0"/>
                          </a:rPr>
                          <m:t>)</m:t>
                        </m:r>
                      </m:sup>
                    </m:sSubSup>
                  </m:oMath>
                </a14:m>
                <a:r>
                  <a:rPr lang="en-US" dirty="0">
                    <a:cs typeface="Segoe UI" panose="020B0502040204020203" pitchFamily="34" charset="0"/>
                  </a:rPr>
                  <a:t>, are scaled by the corresponding eigenvalue,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𝑖</m:t>
                        </m:r>
                      </m:sub>
                    </m:sSub>
                  </m:oMath>
                </a14:m>
                <a:r>
                  <a:rPr lang="en-US" dirty="0">
                    <a:cs typeface="Segoe UI" panose="020B0502040204020203" pitchFamily="34" charset="0"/>
                  </a:rPr>
                  <a:t> </a:t>
                </a:r>
              </a:p>
              <a:p>
                <a:r>
                  <a:rPr lang="en-US" dirty="0">
                    <a:cs typeface="Segoe UI" panose="020B0502040204020203" pitchFamily="34" charset="0"/>
                  </a:rPr>
                  <a:t>The larger the eigenvalue the greater the contribution to reconstruction of matrix A</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1694"/>
                </a:stretch>
              </a:blipFill>
            </p:spPr>
            <p:txBody>
              <a:bodyPr/>
              <a:lstStyle/>
              <a:p>
                <a:r>
                  <a:rPr lang="en-US">
                    <a:noFill/>
                  </a:rPr>
                  <a:t> </a:t>
                </a:r>
              </a:p>
            </p:txBody>
          </p:sp>
        </mc:Fallback>
      </mc:AlternateContent>
    </p:spTree>
    <p:extLst>
      <p:ext uri="{BB962C8B-B14F-4D97-AF65-F5344CB8AC3E}">
        <p14:creationId xmlns:p14="http://schemas.microsoft.com/office/powerpoint/2010/main" val="1196737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Substituting into the modularity equation:  </a:t>
                </a:r>
              </a:p>
              <a:p>
                <a:pPr marL="0" indent="0">
                  <a:buNone/>
                </a:pPr>
                <a14:m>
                  <m:oMathPara xmlns:m="http://schemas.openxmlformats.org/officeDocument/2006/math">
                    <m:oMath>
                      <m:r>
                        <a:rPr lang="en-US" b="0" i="1" smtClean="0">
                          <a:latin typeface="Cambria Math" panose="02040503050406030204" pitchFamily="18" charset="0"/>
                          <a:ea typeface="Cambria Math" panose="02040503050406030204" pitchFamily="18" charset="0"/>
                        </a:rPr>
                        <m:t>𝑄</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4</m:t>
                          </m:r>
                          <m:r>
                            <a:rPr lang="en-US" b="0" i="1" smtClean="0">
                              <a:latin typeface="Cambria Math" panose="02040503050406030204" pitchFamily="18" charset="0"/>
                              <a:ea typeface="Cambria Math" panose="02040503050406030204" pitchFamily="18" charset="0"/>
                            </a:rPr>
                            <m:t>𝑚</m:t>
                          </m:r>
                        </m:den>
                      </m:f>
                      <m:r>
                        <a:rPr lang="en-US" b="0" i="1" smtClean="0">
                          <a:latin typeface="Cambria Math" panose="02040503050406030204" pitchFamily="18" charset="0"/>
                          <a:ea typeface="Cambria Math" panose="02040503050406030204" pitchFamily="18" charset="0"/>
                        </a:rPr>
                        <m:t>𝜆</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𝑇</m:t>
                          </m:r>
                        </m:sup>
                      </m:sSup>
                      <m:r>
                        <a:rPr lang="en-US" i="1">
                          <a:latin typeface="Cambria Math" panose="02040503050406030204" pitchFamily="18" charset="0"/>
                        </a:rPr>
                        <m:t>𝑠</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r>
                            <a:rPr lang="en-US" i="1">
                              <a:latin typeface="Cambria Math" panose="02040503050406030204" pitchFamily="18" charset="0"/>
                              <a:ea typeface="Cambria Math" panose="02040503050406030204" pitchFamily="18" charset="0"/>
                            </a:rPr>
                            <m:t>4</m:t>
                          </m:r>
                          <m:r>
                            <a:rPr lang="en-US" i="1">
                              <a:latin typeface="Cambria Math" panose="02040503050406030204" pitchFamily="18" charset="0"/>
                              <a:ea typeface="Cambria Math" panose="02040503050406030204" pitchFamily="18" charset="0"/>
                            </a:rPr>
                            <m:t>𝑚</m:t>
                          </m:r>
                        </m:den>
                      </m:f>
                      <m:r>
                        <a:rPr lang="en-US" i="1">
                          <a:latin typeface="Cambria Math" panose="02040503050406030204" pitchFamily="18" charset="0"/>
                          <a:ea typeface="Cambria Math" panose="02040503050406030204" pitchFamily="18" charset="0"/>
                        </a:rPr>
                        <m:t>𝜆</m:t>
                      </m:r>
                    </m:oMath>
                  </m:oMathPara>
                </a14:m>
                <a:endParaRPr lang="en-US" dirty="0">
                  <a:ea typeface="Cambria Math" panose="02040503050406030204" pitchFamily="18" charset="0"/>
                </a:endParaRPr>
              </a:p>
              <a:p>
                <a:r>
                  <a:rPr lang="en-US" b="0" i="1" dirty="0">
                    <a:ea typeface="Cambria Math" panose="02040503050406030204" pitchFamily="18" charset="0"/>
                  </a:rPr>
                  <a:t>Q</a:t>
                </a:r>
                <a:r>
                  <a:rPr lang="en-US" b="0" dirty="0">
                    <a:ea typeface="Cambria Math" panose="02040503050406030204" pitchFamily="18" charset="0"/>
                  </a:rPr>
                  <a:t> is maximized for the </a:t>
                </a:r>
                <a:r>
                  <a:rPr lang="en-US" b="1" dirty="0">
                    <a:ea typeface="Cambria Math" panose="02040503050406030204" pitchFamily="18" charset="0"/>
                  </a:rPr>
                  <a:t>eigenvector, </a:t>
                </a:r>
                <a14:m>
                  <m:oMath xmlns:m="http://schemas.openxmlformats.org/officeDocument/2006/math">
                    <m:r>
                      <a:rPr lang="en-US" b="1" i="1">
                        <a:latin typeface="Cambria Math" panose="02040503050406030204" pitchFamily="18" charset="0"/>
                      </a:rPr>
                      <m:t>𝒔</m:t>
                    </m:r>
                    <m:r>
                      <a:rPr lang="en-US" b="1" i="1" smtClean="0">
                        <a:latin typeface="Cambria Math" panose="02040503050406030204" pitchFamily="18" charset="0"/>
                      </a:rPr>
                      <m:t>,</m:t>
                    </m:r>
                  </m:oMath>
                </a14:m>
                <a:r>
                  <a:rPr lang="en-US" b="1" dirty="0">
                    <a:ea typeface="Cambria Math" panose="02040503050406030204" pitchFamily="18" charset="0"/>
                  </a:rPr>
                  <a:t> with the largest eigenvalue,</a:t>
                </a:r>
                <a:r>
                  <a:rPr lang="en-US" dirty="0">
                    <a:ea typeface="Cambria Math" panose="02040503050406030204" pitchFamily="18" charset="0"/>
                  </a:rPr>
                  <a:t> </a:t>
                </a:r>
                <a14:m>
                  <m:oMath xmlns:m="http://schemas.openxmlformats.org/officeDocument/2006/math">
                    <m:r>
                      <a:rPr lang="en-US" b="1" i="1">
                        <a:latin typeface="Cambria Math" panose="02040503050406030204" pitchFamily="18" charset="0"/>
                        <a:ea typeface="Cambria Math" panose="02040503050406030204" pitchFamily="18" charset="0"/>
                      </a:rPr>
                      <m:t>𝝀</m:t>
                    </m:r>
                  </m:oMath>
                </a14:m>
                <a:r>
                  <a:rPr lang="en-US" b="1" dirty="0">
                    <a:ea typeface="Cambria Math" panose="02040503050406030204" pitchFamily="18" charset="0"/>
                  </a:rPr>
                  <a:t> </a:t>
                </a:r>
              </a:p>
              <a:p>
                <a:r>
                  <a:rPr lang="en-US" dirty="0">
                    <a:ea typeface="Cambria Math" panose="02040503050406030204" pitchFamily="18" charset="0"/>
                  </a:rPr>
                  <a:t>Can recursively divide the graph components to find smaller communities</a:t>
                </a:r>
              </a:p>
              <a:p>
                <a:r>
                  <a:rPr lang="en-US" dirty="0">
                    <a:ea typeface="Cambria Math" panose="02040503050406030204" pitchFamily="18" charset="0"/>
                  </a:rPr>
                  <a:t>Is similar to min-cut algorithm using smallest non-zero eigenvalue</a:t>
                </a:r>
              </a:p>
            </p:txBody>
          </p:sp>
        </mc:Choice>
        <mc:Fallback>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904528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Need to find the eigenvector associated with the first (largest) eigenvalue  </a:t>
                </a:r>
              </a:p>
              <a:p>
                <a:r>
                  <a:rPr lang="en-US" dirty="0">
                    <a:ea typeface="Cambria Math" panose="02040503050406030204" pitchFamily="18" charset="0"/>
                  </a:rPr>
                  <a:t>Method known as the </a:t>
                </a:r>
                <a:r>
                  <a:rPr lang="en-US" b="1" dirty="0">
                    <a:hlinkClick r:id="rId2"/>
                  </a:rPr>
                  <a:t>Lanczos algorithm</a:t>
                </a:r>
                <a:r>
                  <a:rPr lang="en-US" dirty="0">
                    <a:ea typeface="Cambria Math" panose="02040503050406030204" pitchFamily="18" charset="0"/>
                    <a:hlinkClick r:id="rId2"/>
                  </a:rPr>
                  <a:t> </a:t>
                </a:r>
                <a:r>
                  <a:rPr lang="en-US" dirty="0">
                    <a:ea typeface="Cambria Math" panose="02040503050406030204" pitchFamily="18" charset="0"/>
                  </a:rPr>
                  <a:t>or </a:t>
                </a:r>
                <a:r>
                  <a:rPr lang="en-US" b="1" dirty="0">
                    <a:ea typeface="Cambria Math" panose="02040503050406030204" pitchFamily="18" charset="0"/>
                  </a:rPr>
                  <a:t>power iteration method</a:t>
                </a:r>
                <a:endParaRPr lang="en-US" dirty="0"/>
              </a:p>
              <a:p>
                <a:pPr lvl="1"/>
                <a:r>
                  <a:rPr lang="en-US" dirty="0">
                    <a:ea typeface="Cambria Math" panose="02040503050406030204" pitchFamily="18" charset="0"/>
                  </a:rPr>
                  <a:t>Massively </a:t>
                </a:r>
                <a:r>
                  <a:rPr lang="en-US" b="1" dirty="0">
                    <a:ea typeface="Cambria Math" panose="02040503050406030204" pitchFamily="18" charset="0"/>
                  </a:rPr>
                  <a:t>scale </a:t>
                </a:r>
                <a:r>
                  <a:rPr lang="en-US" b="1">
                    <a:ea typeface="Cambria Math" panose="02040503050406030204" pitchFamily="18" charset="0"/>
                  </a:rPr>
                  <a:t>with parallel </a:t>
                </a:r>
                <a:r>
                  <a:rPr lang="en-US" b="1" dirty="0">
                    <a:ea typeface="Cambria Math" panose="02040503050406030204" pitchFamily="18" charset="0"/>
                  </a:rPr>
                  <a:t>MapReduce!</a:t>
                </a:r>
                <a:r>
                  <a:rPr lang="en-US" dirty="0">
                    <a:ea typeface="Cambria Math" panose="02040503050406030204" pitchFamily="18" charset="0"/>
                  </a:rPr>
                  <a:t> </a:t>
                </a:r>
              </a:p>
              <a:p>
                <a:pPr lvl="1"/>
                <a:r>
                  <a:rPr lang="en-US" dirty="0">
                    <a:ea typeface="Cambria Math" panose="02040503050406030204" pitchFamily="18" charset="0"/>
                  </a:rPr>
                  <a:t>Efficient, computational complexity </a:t>
                </a:r>
                <a14:m>
                  <m:oMath xmlns:m="http://schemas.openxmlformats.org/officeDocument/2006/math">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𝑙𝑜𝑔</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e>
                        </m:d>
                      </m:e>
                    </m:d>
                  </m:oMath>
                </a14:m>
                <a:endParaRPr lang="en-US" dirty="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3"/>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294648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CCB5-9211-383C-317C-28CC584E2D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8458BC-CD0C-978E-41CD-53D9814EC9D1}"/>
              </a:ext>
            </a:extLst>
          </p:cNvPr>
          <p:cNvSpPr>
            <a:spLocks noGrp="1"/>
          </p:cNvSpPr>
          <p:nvPr>
            <p:ph type="title"/>
          </p:nvPr>
        </p:nvSpPr>
        <p:spPr>
          <a:xfrm>
            <a:off x="831850" y="1709738"/>
            <a:ext cx="10515600" cy="2282271"/>
          </a:xfrm>
        </p:spPr>
        <p:txBody>
          <a:bodyPr/>
          <a:lstStyle/>
          <a:p>
            <a:pPr algn="ctr"/>
            <a:r>
              <a:rPr lang="en-US" dirty="0"/>
              <a:t>Small World Networks</a:t>
            </a:r>
          </a:p>
        </p:txBody>
      </p:sp>
    </p:spTree>
    <p:extLst>
      <p:ext uri="{BB962C8B-B14F-4D97-AF65-F5344CB8AC3E}">
        <p14:creationId xmlns:p14="http://schemas.microsoft.com/office/powerpoint/2010/main" val="123598320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46DE2-E0A6-C555-29C5-D8F85B608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707011-F471-DC3A-42D8-55F1FDC52DB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301BADD1-26D2-3C19-FC86-45C5AD6658A2}"/>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Small world networks (SWNs)</a:t>
            </a:r>
            <a:r>
              <a:rPr lang="en-US" b="1" dirty="0"/>
              <a:t> </a:t>
            </a:r>
            <a:r>
              <a:rPr lang="en-US" dirty="0"/>
              <a:t>are a class of graph with unusually short distances between nodes    </a:t>
            </a:r>
          </a:p>
          <a:p>
            <a:r>
              <a:rPr lang="en-US" dirty="0"/>
              <a:t>Small world networks have low degree of separation between nodes </a:t>
            </a:r>
          </a:p>
          <a:p>
            <a:r>
              <a:rPr lang="en-US" dirty="0"/>
              <a:t>Small world networks comprise two types of edges   </a:t>
            </a:r>
          </a:p>
          <a:p>
            <a:pPr lvl="1"/>
            <a:r>
              <a:rPr lang="en-US" dirty="0"/>
              <a:t>Edges between near neighbors of a lattice network  </a:t>
            </a:r>
          </a:p>
          <a:p>
            <a:pPr lvl="1"/>
            <a:r>
              <a:rPr lang="en-US" dirty="0"/>
              <a:t>A small number of edges between distant nodes   </a:t>
            </a:r>
          </a:p>
          <a:p>
            <a:r>
              <a:rPr lang="en-US" dirty="0"/>
              <a:t>Small world networks have relatively few highly connected nodes or </a:t>
            </a:r>
            <a:r>
              <a:rPr lang="en-US" b="1" dirty="0"/>
              <a:t>hubs</a:t>
            </a:r>
          </a:p>
        </p:txBody>
      </p:sp>
    </p:spTree>
    <p:extLst>
      <p:ext uri="{BB962C8B-B14F-4D97-AF65-F5344CB8AC3E}">
        <p14:creationId xmlns:p14="http://schemas.microsoft.com/office/powerpoint/2010/main" val="227414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6DCD8-1B5C-5D98-FFDC-77D3B9A7A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A214F-30AC-A1F0-ABEB-573769604D98}"/>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8C1F0BE2-ED6C-DAEC-FC31-9789A296D2BC}"/>
              </a:ext>
            </a:extLst>
          </p:cNvPr>
          <p:cNvSpPr>
            <a:spLocks noGrp="1"/>
          </p:cNvSpPr>
          <p:nvPr>
            <p:ph idx="1"/>
          </p:nvPr>
        </p:nvSpPr>
        <p:spPr>
          <a:xfrm>
            <a:off x="775447" y="1208868"/>
            <a:ext cx="10515600" cy="5447426"/>
          </a:xfrm>
        </p:spPr>
        <p:txBody>
          <a:bodyPr>
            <a:normAutofit/>
          </a:bodyPr>
          <a:lstStyle/>
          <a:p>
            <a:pPr marL="0" indent="0">
              <a:buNone/>
            </a:pPr>
            <a:r>
              <a:rPr lang="en-US" dirty="0"/>
              <a:t>Examples of small world networks (SWNs)</a:t>
            </a:r>
          </a:p>
          <a:p>
            <a:r>
              <a:rPr lang="en-US" dirty="0"/>
              <a:t>Structure of the Internet</a:t>
            </a:r>
          </a:p>
          <a:p>
            <a:r>
              <a:rPr lang="en-US" dirty="0"/>
              <a:t>Airlines with hub and spoke network   </a:t>
            </a:r>
          </a:p>
          <a:p>
            <a:r>
              <a:rPr lang="en-US" dirty="0"/>
              <a:t>Similarity of documents and images</a:t>
            </a:r>
          </a:p>
          <a:p>
            <a:r>
              <a:rPr lang="en-US" dirty="0"/>
              <a:t>People in affiliated social groups    </a:t>
            </a:r>
          </a:p>
          <a:p>
            <a:r>
              <a:rPr lang="en-US" dirty="0"/>
              <a:t>Wildlife in ecosystem food webs  </a:t>
            </a:r>
          </a:p>
          <a:p>
            <a:r>
              <a:rPr lang="en-US" dirty="0"/>
              <a:t>Neurons in the human brain</a:t>
            </a:r>
          </a:p>
          <a:p>
            <a:r>
              <a:rPr lang="en-US" dirty="0"/>
              <a:t>Regulation of genetic transcription networks</a:t>
            </a:r>
          </a:p>
          <a:p>
            <a:r>
              <a:rPr lang="en-US" dirty="0" err="1"/>
              <a:t>Etc</a:t>
            </a:r>
            <a:r>
              <a:rPr lang="en-US" dirty="0"/>
              <a:t>…..</a:t>
            </a:r>
          </a:p>
          <a:p>
            <a:endParaRPr lang="en-US" dirty="0"/>
          </a:p>
        </p:txBody>
      </p:sp>
    </p:spTree>
    <p:extLst>
      <p:ext uri="{BB962C8B-B14F-4D97-AF65-F5344CB8AC3E}">
        <p14:creationId xmlns:p14="http://schemas.microsoft.com/office/powerpoint/2010/main" val="789383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33551-A9E6-184D-7C24-2C78EA607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0F8868-9EFF-572A-8172-336ED729141A}"/>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9A50240-16F3-ED4D-5379-D1B03D061857}"/>
                  </a:ext>
                </a:extLst>
              </p:cNvPr>
              <p:cNvSpPr>
                <a:spLocks noGrp="1"/>
              </p:cNvSpPr>
              <p:nvPr>
                <p:ph idx="1"/>
              </p:nvPr>
            </p:nvSpPr>
            <p:spPr>
              <a:xfrm>
                <a:off x="775447" y="1208868"/>
                <a:ext cx="10515600" cy="5447426"/>
              </a:xfrm>
            </p:spPr>
            <p:txBody>
              <a:bodyPr>
                <a:normAutofit/>
              </a:bodyPr>
              <a:lstStyle/>
              <a:p>
                <a:pPr marL="0" indent="0">
                  <a:buNone/>
                </a:pPr>
                <a:r>
                  <a:rPr lang="en-US" dirty="0"/>
                  <a:t>Properties of small world networks </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
                      <m:r>
                        <a:rPr lang="en-US" b="0" i="1" smtClean="0">
                          <a:latin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func>
                        <m:funcPr>
                          <m:ctrlPr>
                            <a:rPr lang="en-US" b="0" i="0"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log</m:t>
                          </m:r>
                        </m:fName>
                        <m:e>
                          <m:r>
                            <a:rPr lang="en-US" b="0" i="1" smtClean="0">
                              <a:latin typeface="Cambria Math" panose="02040503050406030204" pitchFamily="18" charset="0"/>
                              <a:ea typeface="Cambria Math" panose="02040503050406030204" pitchFamily="18" charset="0"/>
                            </a:rPr>
                            <m:t>𝑛</m:t>
                          </m:r>
                        </m:e>
                      </m:func>
                    </m:oMath>
                  </m:oMathPara>
                </a14:m>
                <a:endParaRPr lang="en-US" dirty="0"/>
              </a:p>
              <a:p>
                <a:r>
                  <a:rPr lang="en-US" dirty="0"/>
                  <a:t>SWNs have lower average distances between nodes compared to equivalent random graphs </a:t>
                </a:r>
                <a:endParaRPr lang="en-US" b="1" dirty="0"/>
              </a:p>
              <a:p>
                <a:r>
                  <a:rPr lang="en-US" dirty="0"/>
                  <a:t>SWNs have higher clustering coefficient compared to equivalent random graphs</a:t>
                </a:r>
              </a:p>
            </p:txBody>
          </p:sp>
        </mc:Choice>
        <mc:Fallback xmlns="">
          <p:sp>
            <p:nvSpPr>
              <p:cNvPr id="3" name="Content Placeholder 2">
                <a:extLst>
                  <a:ext uri="{FF2B5EF4-FFF2-40B4-BE49-F238E27FC236}">
                    <a16:creationId xmlns:a16="http://schemas.microsoft.com/office/drawing/2014/main" id="{19A50240-16F3-ED4D-5379-D1B03D061857}"/>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775752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AC2CB-9CFD-1278-4D4D-8236DEEFE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0B54-C986-31A4-BED3-840D21544F53}"/>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611E3B7-FC00-66A8-175F-38849FEE390E}"/>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a:pPr>
                <a:r>
                  <a:rPr lang="en-US" dirty="0"/>
                  <a:t>Small world coefficient, </a:t>
                </a:r>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compares the SWN to a random graph</a:t>
                </a:r>
              </a:p>
              <a:p>
                <a:pPr marL="0" indent="0">
                  <a:buNone/>
                </a:pPr>
                <a14:m>
                  <m:oMathPara xmlns:m="http://schemas.openxmlformats.org/officeDocument/2006/math">
                    <m:o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𝐶</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den>
                          </m:f>
                        </m:num>
                        <m:den>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𝐿</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𝑟</m:t>
                                  </m:r>
                                </m:sub>
                              </m:sSub>
                            </m:den>
                          </m:f>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a:t>
                </a:r>
              </a:p>
              <a:p>
                <a:pPr marL="457200" lvl="1" indent="0">
                  <a:buNone/>
                </a:pPr>
                <a14:m>
                  <m:oMathPara xmlns:m="http://schemas.openxmlformats.org/officeDocument/2006/math">
                    <m:o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 </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𝑐𝑙𝑢𝑠𝑡𝑒𝑟𝑖𝑛𝑔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𝑐𝑜𝑒𝑓𝑓𝑖𝑐𝑖𝑒𝑛𝑡</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𝑜𝑓</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𝑐𝑙𝑢𝑠𝑡𝑒𝑟𝑖𝑛𝑔</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𝑐𝑜𝑒𝑓𝑓𝑖𝑐𝑖𝑒𝑛𝑡</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 </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𝑎𝑣𝑒𝑟𝑎𝑔𝑒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𝑝𝑎𝑡ℎ</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𝑙𝑒𝑛𝑔𝑡ℎ</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𝑎𝑣𝑒𝑟𝑎𝑔𝑒</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𝑝𝑎𝑡ℎ</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𝑙𝑒𝑛𝑔𝑡ℎ</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endParaRPr lang="en-US" i="1" dirty="0">
                  <a:latin typeface="Cambria Math" panose="02040503050406030204" pitchFamily="18" charset="0"/>
                  <a:ea typeface="Cambria Math" panose="02040503050406030204" pitchFamily="18" charset="0"/>
                </a:endParaRPr>
              </a:p>
              <a:p>
                <a:pPr lvl="1"/>
                <a:r>
                  <a:rPr lang="en-US" dirty="0">
                    <a:ea typeface="Cambria Math" panose="02040503050406030204" pitchFamily="18" charset="0"/>
                  </a:rPr>
                  <a:t>If </a:t>
                </a:r>
                <a14:m>
                  <m:oMath xmlns:m="http://schemas.openxmlformats.org/officeDocument/2006/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&gt;1</m:t>
                    </m:r>
                  </m:oMath>
                </a14:m>
                <a:r>
                  <a:rPr lang="en-US" dirty="0">
                    <a:ea typeface="Cambria Math" panose="02040503050406030204" pitchFamily="18" charset="0"/>
                  </a:rPr>
                  <a:t> is SWN when </a:t>
                </a:r>
                <a14:m>
                  <m:oMath xmlns:m="http://schemas.openxmlformats.org/officeDocument/2006/math">
                    <m:r>
                      <a:rPr lang="en-US" b="0" i="1" smtClean="0">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&gt;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oMath>
                </a14:m>
                <a:r>
                  <a:rPr lang="en-US" dirty="0">
                    <a:ea typeface="Cambria Math" panose="02040503050406030204" pitchFamily="18"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oMath>
                </a14:m>
                <a:endParaRPr lang="en-US" dirty="0">
                  <a:ea typeface="Cambria Math" panose="02040503050406030204" pitchFamily="18" charset="0"/>
                </a:endParaRPr>
              </a:p>
              <a:p>
                <a:pPr lvl="1"/>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is biased by network size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2611E3B7-FC00-66A8-175F-38849FEE390E}"/>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1446059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E47B5-E569-C5B2-7001-B49940D063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AE2FEC-696E-BA23-B2DC-E9846E74BB4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4AB3CA0-1FD9-072C-5300-FC922829E4FD}"/>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startAt="2"/>
                </a:pPr>
                <a:r>
                  <a:rPr lang="en-US" dirty="0"/>
                  <a:t>Small world measure, </a:t>
                </a:r>
                <a14:m>
                  <m:oMath xmlns:m="http://schemas.openxmlformats.org/officeDocument/2006/math">
                    <m:r>
                      <a:rPr lang="en-US" i="1">
                        <a:latin typeface="Cambria Math" panose="02040503050406030204" pitchFamily="18" charset="0"/>
                        <a:ea typeface="Cambria Math" panose="02040503050406030204" pitchFamily="18" charset="0"/>
                      </a:rPr>
                      <m:t>𝜔</m:t>
                    </m:r>
                  </m:oMath>
                </a14:m>
                <a:r>
                  <a:rPr lang="en-US" dirty="0"/>
                  <a:t>, compares the SWN to a random graph</a:t>
                </a:r>
              </a:p>
              <a:p>
                <a:pPr marL="0" indent="0">
                  <a:buNone/>
                </a:pPr>
                <a14:m>
                  <m:oMathPara xmlns:m="http://schemas.openxmlformats.org/officeDocument/2006/math">
                    <m:oMath>
                      <m:r>
                        <a:rPr lang="en-US" b="0" i="1" smtClean="0">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𝐿</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den>
                      </m:f>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𝑙</m:t>
                              </m:r>
                            </m:sub>
                          </m:sSub>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oMath>
                </a14:m>
                <a:r>
                  <a:rPr lang="en-US" dirty="0">
                    <a:latin typeface="Cambria Math" panose="02040503050406030204" pitchFamily="18" charset="0"/>
                    <a:ea typeface="Cambria Math" panose="02040503050406030204" pitchFamily="18" charset="0"/>
                  </a:rPr>
                  <a:t> is the clustering coefficient of a random lattice network</a:t>
                </a:r>
                <a:endParaRPr lang="en-US" dirty="0"/>
              </a:p>
              <a:p>
                <a:pPr lvl="1"/>
                <a14:m>
                  <m:oMath xmlns:m="http://schemas.openxmlformats.org/officeDocument/2006/math">
                    <m:r>
                      <a:rPr lang="en-US" i="1">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≤1</m:t>
                    </m:r>
                  </m:oMath>
                </a14:m>
                <a:r>
                  <a:rPr lang="en-US" dirty="0"/>
                  <a:t>, larger magnitude indicates greater SWN characteristics compared to </a:t>
                </a:r>
                <a:r>
                  <a:rPr lang="en-US" dirty="0" err="1"/>
                  <a:t>equivelent</a:t>
                </a:r>
                <a:r>
                  <a:rPr lang="en-US" dirty="0"/>
                  <a:t> random networks</a:t>
                </a:r>
              </a:p>
              <a:p>
                <a:pPr marL="514350" indent="-514350">
                  <a:buFont typeface="+mj-lt"/>
                  <a:buAutoNum type="arabicPeriod" startAt="3"/>
                </a:pPr>
                <a:r>
                  <a:rPr lang="en-US" dirty="0"/>
                  <a:t>Small world index (SWI) compares the SWN to a random graph</a:t>
                </a:r>
              </a:p>
              <a:p>
                <a:pPr marL="0" indent="0">
                  <a:buNone/>
                </a:pPr>
                <a14:m>
                  <m:oMathPara xmlns:m="http://schemas.openxmlformats.org/officeDocument/2006/math">
                    <m:oMath>
                      <m:r>
                        <a:rPr lang="en-US" b="0" i="1" smtClean="0">
                          <a:latin typeface="Cambria Math" panose="02040503050406030204" pitchFamily="18" charset="0"/>
                        </a:rPr>
                        <m:t>𝑆𝑊𝐼</m:t>
                      </m:r>
                      <m:r>
                        <a:rPr lang="en-US" b="0" i="1" smtClean="0">
                          <a:latin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𝑙</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𝑙</m:t>
                              </m:r>
                            </m:sub>
                          </m:sSub>
                        </m:den>
                      </m:f>
                      <m:r>
                        <a:rPr lang="en-US"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den>
                      </m:f>
                    </m:oMath>
                  </m:oMathPara>
                </a14:m>
                <a:endParaRPr lang="en-US" dirty="0"/>
              </a:p>
              <a:p>
                <a:pPr marL="457200" lvl="1" indent="0">
                  <a:buNone/>
                </a:pP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𝑆𝑊𝐼</m:t>
                    </m:r>
                    <m:r>
                      <a:rPr lang="en-US" i="1">
                        <a:latin typeface="Cambria Math" panose="02040503050406030204" pitchFamily="18" charset="0"/>
                        <a:ea typeface="Cambria Math" panose="02040503050406030204" pitchFamily="18" charset="0"/>
                      </a:rPr>
                      <m:t>≤1</m:t>
                    </m:r>
                  </m:oMath>
                </a14:m>
                <a:r>
                  <a:rPr lang="en-US" dirty="0"/>
                  <a:t>, larger indicates greater SWN characteristics compared to comparable random networks</a:t>
                </a:r>
              </a:p>
            </p:txBody>
          </p:sp>
        </mc:Choice>
        <mc:Fallback xmlns="">
          <p:sp>
            <p:nvSpPr>
              <p:cNvPr id="3" name="Content Placeholder 2">
                <a:extLst>
                  <a:ext uri="{FF2B5EF4-FFF2-40B4-BE49-F238E27FC236}">
                    <a16:creationId xmlns:a16="http://schemas.microsoft.com/office/drawing/2014/main" id="{04AB3CA0-1FD9-072C-5300-FC922829E4FD}"/>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2018316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01673-E489-A5C7-6D81-8CF26602EF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3A756-9A4C-B2D8-14BE-03CF9296554B}"/>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2F0846-3A71-A4FD-DBCB-FEA807E1FDB1}"/>
                  </a:ext>
                </a:extLst>
              </p:cNvPr>
              <p:cNvSpPr>
                <a:spLocks noGrp="1"/>
              </p:cNvSpPr>
              <p:nvPr>
                <p:ph idx="1"/>
              </p:nvPr>
            </p:nvSpPr>
            <p:spPr>
              <a:xfrm>
                <a:off x="775446" y="1208867"/>
                <a:ext cx="5207343" cy="5231051"/>
              </a:xfrm>
            </p:spPr>
            <p:txBody>
              <a:bodyPr>
                <a:normAutofit/>
              </a:bodyPr>
              <a:lstStyle/>
              <a:p>
                <a:pPr marL="0" indent="0">
                  <a:buNone/>
                </a:pPr>
                <a:r>
                  <a:rPr lang="en-US" dirty="0"/>
                  <a:t>Examples of SWNs</a:t>
                </a:r>
              </a:p>
              <a:p>
                <a14:m>
                  <m:oMath xmlns:m="http://schemas.openxmlformats.org/officeDocument/2006/math">
                    <m:r>
                      <a:rPr lang="en-US" b="0" i="1" dirty="0" smtClean="0">
                        <a:latin typeface="Cambria Math" panose="02040503050406030204" pitchFamily="18" charset="0"/>
                      </a:rPr>
                      <m:t>𝑝</m:t>
                    </m:r>
                    <m:r>
                      <a:rPr lang="en-US" b="0" i="1" dirty="0" smtClean="0">
                        <a:latin typeface="Cambria Math" panose="02040503050406030204" pitchFamily="18" charset="0"/>
                      </a:rPr>
                      <m:t>=1</m:t>
                    </m:r>
                  </m:oMath>
                </a14:m>
                <a:r>
                  <a:rPr lang="en-US" dirty="0"/>
                  <a:t>, diameter of short-range connections</a:t>
                </a:r>
              </a:p>
              <a:p>
                <a14:m>
                  <m:oMath xmlns:m="http://schemas.openxmlformats.org/officeDocument/2006/math">
                    <m:r>
                      <a:rPr lang="en-US" b="0" i="1" smtClean="0">
                        <a:latin typeface="Cambria Math" panose="02040503050406030204" pitchFamily="18" charset="0"/>
                      </a:rPr>
                      <m:t>𝑞</m:t>
                    </m:r>
                  </m:oMath>
                </a14:m>
                <a:r>
                  <a:rPr lang="en-US" dirty="0"/>
                  <a:t> = number of long-range connections per node</a:t>
                </a:r>
              </a:p>
              <a:p>
                <a:r>
                  <a:rPr lang="en-US" dirty="0"/>
                  <a:t>SWG approaches fully connected graph as </a:t>
                </a:r>
                <a14:m>
                  <m:oMath xmlns:m="http://schemas.openxmlformats.org/officeDocument/2006/math">
                    <m:r>
                      <a:rPr lang="en-US" i="1">
                        <a:latin typeface="Cambria Math" panose="02040503050406030204" pitchFamily="18" charset="0"/>
                      </a:rPr>
                      <m:t>𝑞</m:t>
                    </m:r>
                  </m:oMath>
                </a14:m>
                <a:r>
                  <a:rPr lang="en-US" dirty="0"/>
                  <a:t> increases </a:t>
                </a:r>
              </a:p>
              <a:p>
                <a:pPr marL="0"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BC2F0846-3A71-A4FD-DBCB-FEA807E1FDB1}"/>
                  </a:ext>
                </a:extLst>
              </p:cNvPr>
              <p:cNvSpPr>
                <a:spLocks noGrp="1" noRot="1" noChangeAspect="1" noMove="1" noResize="1" noEditPoints="1" noAdjustHandles="1" noChangeArrowheads="1" noChangeShapeType="1" noTextEdit="1"/>
              </p:cNvSpPr>
              <p:nvPr>
                <p:ph idx="1"/>
              </p:nvPr>
            </p:nvSpPr>
            <p:spPr>
              <a:xfrm>
                <a:off x="775446" y="1208867"/>
                <a:ext cx="5207343" cy="5231051"/>
              </a:xfrm>
              <a:blipFill>
                <a:blip r:embed="rId2"/>
                <a:stretch>
                  <a:fillRect l="-2342" t="-1865" r="-3162"/>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9168BF0F-DEA3-D59E-75E9-8DF50FBBC097}"/>
              </a:ext>
            </a:extLst>
          </p:cNvPr>
          <p:cNvPicPr>
            <a:picLocks noChangeAspect="1"/>
          </p:cNvPicPr>
          <p:nvPr/>
        </p:nvPicPr>
        <p:blipFill>
          <a:blip r:embed="rId3"/>
          <a:stretch>
            <a:fillRect/>
          </a:stretch>
        </p:blipFill>
        <p:spPr>
          <a:xfrm>
            <a:off x="6149993" y="237959"/>
            <a:ext cx="5969286" cy="6520763"/>
          </a:xfrm>
          <a:prstGeom prst="rect">
            <a:avLst/>
          </a:prstGeom>
        </p:spPr>
      </p:pic>
    </p:spTree>
    <p:extLst>
      <p:ext uri="{BB962C8B-B14F-4D97-AF65-F5344CB8AC3E}">
        <p14:creationId xmlns:p14="http://schemas.microsoft.com/office/powerpoint/2010/main" val="121716525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5342-2F7F-FDFA-90C9-362D625EC1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A1F8A2-18F7-9E09-331A-5DB1048EA6AC}"/>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52CF008-D24F-1EAF-40E0-25CDB1D393F5}"/>
                  </a:ext>
                </a:extLst>
              </p:cNvPr>
              <p:cNvSpPr>
                <a:spLocks noGrp="1"/>
              </p:cNvSpPr>
              <p:nvPr>
                <p:ph idx="1"/>
              </p:nvPr>
            </p:nvSpPr>
            <p:spPr>
              <a:xfrm>
                <a:off x="775446" y="1208867"/>
                <a:ext cx="5270044" cy="5231051"/>
              </a:xfrm>
            </p:spPr>
            <p:txBody>
              <a:bodyPr>
                <a:normAutofit/>
              </a:bodyPr>
              <a:lstStyle/>
              <a:p>
                <a:pPr marL="0" indent="0">
                  <a:buNone/>
                </a:pPr>
                <a:r>
                  <a:rPr lang="en-US" dirty="0"/>
                  <a:t>Examples of SWNs</a:t>
                </a:r>
              </a:p>
              <a:p>
                <a:pPr marL="0" indent="0">
                  <a:buNone/>
                </a:pPr>
                <a:r>
                  <a:rPr lang="en-US" dirty="0"/>
                  <a:t>Examples of SWNs</a:t>
                </a:r>
              </a:p>
              <a:p>
                <a:r>
                  <a:rPr lang="en-US" dirty="0"/>
                  <a:t>q</a:t>
                </a:r>
                <a14:m>
                  <m:oMath xmlns:m="http://schemas.openxmlformats.org/officeDocument/2006/math">
                    <m:r>
                      <a:rPr lang="en-US" i="1" dirty="0">
                        <a:latin typeface="Cambria Math" panose="02040503050406030204" pitchFamily="18" charset="0"/>
                      </a:rPr>
                      <m:t>=</m:t>
                    </m:r>
                    <m:r>
                      <a:rPr lang="en-US" b="0" i="1" dirty="0" smtClean="0">
                        <a:latin typeface="Cambria Math" panose="02040503050406030204" pitchFamily="18" charset="0"/>
                      </a:rPr>
                      <m:t>2</m:t>
                    </m:r>
                  </m:oMath>
                </a14:m>
                <a:r>
                  <a:rPr lang="en-US" dirty="0"/>
                  <a:t>, number of long-range </a:t>
                </a:r>
              </a:p>
              <a:p>
                <a14:m>
                  <m:oMath xmlns:m="http://schemas.openxmlformats.org/officeDocument/2006/math">
                    <m:r>
                      <a:rPr lang="en-US" b="0" i="1" smtClean="0">
                        <a:latin typeface="Cambria Math" panose="02040503050406030204" pitchFamily="18" charset="0"/>
                      </a:rPr>
                      <m:t>𝑝</m:t>
                    </m:r>
                  </m:oMath>
                </a14:m>
                <a:r>
                  <a:rPr lang="en-US" dirty="0"/>
                  <a:t> diameter of short-range connections</a:t>
                </a:r>
              </a:p>
              <a:p>
                <a:r>
                  <a:rPr lang="en-US" dirty="0"/>
                  <a:t>SWG approaches fully connected graph as </a:t>
                </a:r>
                <a14:m>
                  <m:oMath xmlns:m="http://schemas.openxmlformats.org/officeDocument/2006/math">
                    <m:r>
                      <a:rPr lang="en-US" b="0" i="1" smtClean="0">
                        <a:latin typeface="Cambria Math" panose="02040503050406030204" pitchFamily="18" charset="0"/>
                      </a:rPr>
                      <m:t>𝑝</m:t>
                    </m:r>
                  </m:oMath>
                </a14:m>
                <a:r>
                  <a:rPr lang="en-US" dirty="0"/>
                  <a:t> increases </a:t>
                </a:r>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B52CF008-D24F-1EAF-40E0-25CDB1D393F5}"/>
                  </a:ext>
                </a:extLst>
              </p:cNvPr>
              <p:cNvSpPr>
                <a:spLocks noGrp="1" noRot="1" noChangeAspect="1" noMove="1" noResize="1" noEditPoints="1" noAdjustHandles="1" noChangeArrowheads="1" noChangeShapeType="1" noTextEdit="1"/>
              </p:cNvSpPr>
              <p:nvPr>
                <p:ph idx="1"/>
              </p:nvPr>
            </p:nvSpPr>
            <p:spPr>
              <a:xfrm>
                <a:off x="775446" y="1208867"/>
                <a:ext cx="5270044" cy="5231051"/>
              </a:xfrm>
              <a:blipFill>
                <a:blip r:embed="rId2"/>
                <a:stretch>
                  <a:fillRect l="-2312" t="-1865" r="-1850"/>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424E4738-57E7-D480-9B00-85D0CC8D911F}"/>
              </a:ext>
            </a:extLst>
          </p:cNvPr>
          <p:cNvPicPr>
            <a:picLocks noChangeAspect="1"/>
          </p:cNvPicPr>
          <p:nvPr/>
        </p:nvPicPr>
        <p:blipFill>
          <a:blip r:embed="rId3"/>
          <a:stretch>
            <a:fillRect/>
          </a:stretch>
        </p:blipFill>
        <p:spPr>
          <a:xfrm>
            <a:off x="6254621" y="418082"/>
            <a:ext cx="5874491" cy="6439918"/>
          </a:xfrm>
          <a:prstGeom prst="rect">
            <a:avLst/>
          </a:prstGeom>
        </p:spPr>
      </p:pic>
    </p:spTree>
    <p:extLst>
      <p:ext uri="{BB962C8B-B14F-4D97-AF65-F5344CB8AC3E}">
        <p14:creationId xmlns:p14="http://schemas.microsoft.com/office/powerpoint/2010/main" val="25331647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0A8D2-5689-53C2-2080-5C2AAEBFDC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30F751-4149-BFA3-30F2-41EE7BFAD5CD}"/>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0CDD66-F273-3DE1-77DF-EF3B22693739}"/>
                  </a:ext>
                </a:extLst>
              </p:cNvPr>
              <p:cNvSpPr>
                <a:spLocks noGrp="1"/>
              </p:cNvSpPr>
              <p:nvPr>
                <p:ph idx="1"/>
              </p:nvPr>
            </p:nvSpPr>
            <p:spPr>
              <a:xfrm>
                <a:off x="775446" y="2121408"/>
                <a:ext cx="5087471" cy="3208238"/>
              </a:xfrm>
            </p:spPr>
            <p:txBody>
              <a:bodyPr>
                <a:normAutofit/>
              </a:bodyPr>
              <a:lstStyle/>
              <a:p>
                <a:pPr marL="0" indent="0">
                  <a:buNone/>
                </a:pPr>
                <a:r>
                  <a:rPr lang="en-US" dirty="0"/>
                  <a:t>Examples of SWNs</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
                      <m:r>
                        <a:rPr lang="en-US" i="1">
                          <a:latin typeface="Cambria Math" panose="02040503050406030204" pitchFamily="18" charset="0"/>
                        </a:rPr>
                        <m:t>𝐿</m:t>
                      </m:r>
                      <m:r>
                        <a:rPr lang="en-US" i="1">
                          <a:latin typeface="Cambria Math" panose="02040503050406030204" pitchFamily="18" charset="0"/>
                          <a:ea typeface="Cambria Math" panose="02040503050406030204" pitchFamily="18" charset="0"/>
                        </a:rPr>
                        <m:t>∝</m:t>
                      </m:r>
                      <m:func>
                        <m:funcPr>
                          <m:ctrlPr>
                            <a:rPr lang="en-US">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log</m:t>
                          </m:r>
                        </m:fName>
                        <m:e>
                          <m:r>
                            <a:rPr lang="en-US" i="1">
                              <a:latin typeface="Cambria Math" panose="02040503050406030204" pitchFamily="18" charset="0"/>
                              <a:ea typeface="Cambria Math" panose="02040503050406030204" pitchFamily="18" charset="0"/>
                            </a:rPr>
                            <m:t>𝑛</m:t>
                          </m:r>
                        </m:e>
                      </m:func>
                    </m:oMath>
                  </m:oMathPara>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A40CDD66-F273-3DE1-77DF-EF3B22693739}"/>
                  </a:ext>
                </a:extLst>
              </p:cNvPr>
              <p:cNvSpPr>
                <a:spLocks noGrp="1" noRot="1" noChangeAspect="1" noMove="1" noResize="1" noEditPoints="1" noAdjustHandles="1" noChangeArrowheads="1" noChangeShapeType="1" noTextEdit="1"/>
              </p:cNvSpPr>
              <p:nvPr>
                <p:ph idx="1"/>
              </p:nvPr>
            </p:nvSpPr>
            <p:spPr>
              <a:xfrm>
                <a:off x="775446" y="2121408"/>
                <a:ext cx="5087471" cy="3208238"/>
              </a:xfrm>
              <a:blipFill>
                <a:blip r:embed="rId2"/>
                <a:stretch>
                  <a:fillRect l="-2395" t="-3042" r="-95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F948D3B8-BFE8-02E4-17DE-8DC298DB87D1}"/>
              </a:ext>
            </a:extLst>
          </p:cNvPr>
          <p:cNvPicPr>
            <a:picLocks noChangeAspect="1"/>
          </p:cNvPicPr>
          <p:nvPr/>
        </p:nvPicPr>
        <p:blipFill>
          <a:blip r:embed="rId3"/>
          <a:stretch>
            <a:fillRect/>
          </a:stretch>
        </p:blipFill>
        <p:spPr>
          <a:xfrm>
            <a:off x="6165374" y="519902"/>
            <a:ext cx="5955404" cy="5972973"/>
          </a:xfrm>
          <a:prstGeom prst="rect">
            <a:avLst/>
          </a:prstGeom>
        </p:spPr>
      </p:pic>
    </p:spTree>
    <p:extLst>
      <p:ext uri="{BB962C8B-B14F-4D97-AF65-F5344CB8AC3E}">
        <p14:creationId xmlns:p14="http://schemas.microsoft.com/office/powerpoint/2010/main" val="29793193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02970-E9CE-E7B6-7AAC-AAF25ECEA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93AA0F-6604-5BDA-5DF9-B96A888EC20D}"/>
              </a:ext>
            </a:extLst>
          </p:cNvPr>
          <p:cNvSpPr>
            <a:spLocks noGrp="1"/>
          </p:cNvSpPr>
          <p:nvPr>
            <p:ph type="title"/>
          </p:nvPr>
        </p:nvSpPr>
        <p:spPr>
          <a:xfrm>
            <a:off x="831850" y="1709738"/>
            <a:ext cx="10515600" cy="2282271"/>
          </a:xfrm>
        </p:spPr>
        <p:txBody>
          <a:bodyPr/>
          <a:lstStyle/>
          <a:p>
            <a:pPr algn="ctr"/>
            <a:r>
              <a:rPr lang="en-US" dirty="0"/>
              <a:t>Summary</a:t>
            </a:r>
          </a:p>
        </p:txBody>
      </p:sp>
    </p:spTree>
    <p:extLst>
      <p:ext uri="{BB962C8B-B14F-4D97-AF65-F5344CB8AC3E}">
        <p14:creationId xmlns:p14="http://schemas.microsoft.com/office/powerpoint/2010/main" val="24886216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Summary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Kratz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decomposition modularity</a:t>
            </a:r>
          </a:p>
          <a:p>
            <a:r>
              <a:rPr lang="en-US" dirty="0"/>
              <a:t>Many real-world networks are SWNs</a:t>
            </a:r>
          </a:p>
          <a:p>
            <a:endParaRPr lang="en-US" dirty="0"/>
          </a:p>
          <a:p>
            <a:endParaRPr lang="en-US" dirty="0"/>
          </a:p>
        </p:txBody>
      </p:sp>
    </p:spTree>
    <p:extLst>
      <p:ext uri="{BB962C8B-B14F-4D97-AF65-F5344CB8AC3E}">
        <p14:creationId xmlns:p14="http://schemas.microsoft.com/office/powerpoint/2010/main" val="33594072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22191</TotalTime>
  <Words>5181</Words>
  <Application>Microsoft Office PowerPoint</Application>
  <PresentationFormat>Widescreen</PresentationFormat>
  <Paragraphs>749</Paragraphs>
  <Slides>92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92</vt:i4>
      </vt:variant>
    </vt:vector>
  </HeadingPairs>
  <TitlesOfParts>
    <vt:vector size="99" baseType="lpstr">
      <vt:lpstr>Arial</vt:lpstr>
      <vt:lpstr>Calibri</vt:lpstr>
      <vt:lpstr>Calibri Light</vt:lpstr>
      <vt:lpstr>Cambria Math</vt:lpstr>
      <vt:lpstr>Segoe</vt:lpstr>
      <vt:lpstr>Segoe UI</vt:lpstr>
      <vt:lpstr>Office Theme</vt:lpstr>
      <vt:lpstr>CSCI E-96 Data Mining, Exploration and Discovery Graph Theory and  Social Network Analysis</vt:lpstr>
      <vt:lpstr>Main topics in this course </vt:lpstr>
      <vt:lpstr>Introduction to Graph Theory</vt:lpstr>
      <vt:lpstr>Graph algorithms are widely used for data mining</vt:lpstr>
      <vt:lpstr>Introduction to Graph Theory Terminology </vt:lpstr>
      <vt:lpstr>Introduction to Graph Theory Terminology</vt:lpstr>
      <vt:lpstr>Introduction to Graph Theory</vt:lpstr>
      <vt:lpstr>Introduction to Graph Theory</vt:lpstr>
      <vt:lpstr>Introduction to Graph Theory</vt:lpstr>
      <vt:lpstr>Introduction to Graph Theory</vt:lpstr>
      <vt:lpstr>Introduction to Graph Theory</vt:lpstr>
      <vt:lpstr>Random Graphs</vt:lpstr>
      <vt:lpstr>Random Graphs</vt:lpstr>
      <vt:lpstr>Random Graphs</vt:lpstr>
      <vt:lpstr>Random Graphs</vt:lpstr>
      <vt:lpstr>Random Graphs</vt:lpstr>
      <vt:lpstr>Introduction to Social Networks</vt:lpstr>
      <vt:lpstr>Introduction to Social Network Analysis</vt:lpstr>
      <vt:lpstr>Introduction to Social Network Analysis</vt:lpstr>
      <vt:lpstr>Introduction to Social Network Analysis</vt:lpstr>
      <vt:lpstr>Introduction to Social Network Analysis</vt:lpstr>
      <vt:lpstr>PowerPoint Presentation</vt:lpstr>
      <vt:lpstr>Introduction to Social Network Analysis</vt:lpstr>
      <vt:lpstr>Introduction to Social Network Analysis</vt:lpstr>
      <vt:lpstr>Introduction to Social Network Analysis</vt:lpstr>
      <vt:lpstr>Introduction to Social Network Analysis</vt:lpstr>
      <vt:lpstr>Pitfalls in Social Network Analysis</vt:lpstr>
      <vt:lpstr>Communities in Networks</vt:lpstr>
      <vt:lpstr>Finding Communities in Networks</vt:lpstr>
      <vt:lpstr>Centrality in Communities</vt:lpstr>
      <vt:lpstr>Centrality in Communities </vt:lpstr>
      <vt:lpstr>Centrality in Communities </vt:lpstr>
      <vt:lpstr>Finding Communities in Networks</vt:lpstr>
      <vt:lpstr>Kratz Centrality</vt:lpstr>
      <vt:lpstr>Kratz Centrality in Communities </vt:lpstr>
      <vt:lpstr>Kratz Centrality in Communities </vt:lpstr>
      <vt:lpstr>Kratz Centrality in Communities </vt:lpstr>
      <vt:lpstr>Breath-First Search and Distance-Based Centrality</vt:lpstr>
      <vt:lpstr>Distance-Based Centrality </vt:lpstr>
      <vt:lpstr>Finding Shortest Paths in Networks</vt:lpstr>
      <vt:lpstr>Breadth First Search Algorithm</vt:lpstr>
      <vt:lpstr>Breadth First Search Algorithm</vt:lpstr>
      <vt:lpstr>Breadth First Search Algorithm</vt:lpstr>
      <vt:lpstr>Closeness Centrality </vt:lpstr>
      <vt:lpstr>Betweenness of Social Network Communities  </vt:lpstr>
      <vt:lpstr>Betweenness Social Network Communities</vt:lpstr>
      <vt:lpstr>Betweenness of Social Networks </vt:lpstr>
      <vt:lpstr>Betweenness of Social Networks </vt:lpstr>
      <vt:lpstr>Betweenness of Social Networks </vt:lpstr>
      <vt:lpstr>Cliques and K-Cores</vt:lpstr>
      <vt:lpstr>Cliques and K-Cores</vt:lpstr>
      <vt:lpstr>Cliques and K-Cores</vt:lpstr>
      <vt:lpstr>Cliques and K-Cores</vt:lpstr>
      <vt:lpstr>Cliques and K-Cores</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Modularity in Communities</vt:lpstr>
      <vt:lpstr>Modularity of Communities  </vt:lpstr>
      <vt:lpstr>Modularity of Communities  </vt:lpstr>
      <vt:lpstr>Modularity of Communities  </vt:lpstr>
      <vt:lpstr>Modularity of Communities  </vt:lpstr>
      <vt:lpstr>Modularity of Communities  </vt:lpstr>
      <vt:lpstr>Modularity of Communities  </vt:lpstr>
      <vt:lpstr>Modularity of Communities  </vt:lpstr>
      <vt:lpstr>Greedy Modularity Search</vt:lpstr>
      <vt:lpstr>Greedy Modularity Search for Communities  </vt:lpstr>
      <vt:lpstr>Greedy Modularity Search for Communities  </vt:lpstr>
      <vt:lpstr>Greedy Modularity Search for Communities  </vt:lpstr>
      <vt:lpstr>Community Search with Spectral Maximization</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Summary</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 Elston</dc:creator>
  <cp:lastModifiedBy>Stephen Elston</cp:lastModifiedBy>
  <cp:revision>774</cp:revision>
  <dcterms:created xsi:type="dcterms:W3CDTF">2020-08-19T23:28:02Z</dcterms:created>
  <dcterms:modified xsi:type="dcterms:W3CDTF">2026-09-30T18:32:29Z</dcterms:modified>
</cp:coreProperties>
</file>