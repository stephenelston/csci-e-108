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4"/>
  </p:notesMasterIdLst>
  <p:sldIdLst>
    <p:sldId id="275" r:id="rId2"/>
    <p:sldId id="819" r:id="rId3"/>
    <p:sldId id="425" r:id="rId4"/>
    <p:sldId id="342" r:id="rId5"/>
    <p:sldId id="278" r:id="rId6"/>
    <p:sldId id="277" r:id="rId7"/>
    <p:sldId id="319" r:id="rId8"/>
    <p:sldId id="321" r:id="rId9"/>
    <p:sldId id="322" r:id="rId10"/>
    <p:sldId id="323" r:id="rId11"/>
    <p:sldId id="324" r:id="rId12"/>
    <p:sldId id="411" r:id="rId13"/>
    <p:sldId id="412" r:id="rId14"/>
    <p:sldId id="413" r:id="rId15"/>
    <p:sldId id="414" r:id="rId16"/>
    <p:sldId id="415" r:id="rId17"/>
    <p:sldId id="821" r:id="rId18"/>
    <p:sldId id="820" r:id="rId19"/>
    <p:sldId id="362" r:id="rId20"/>
    <p:sldId id="363" r:id="rId21"/>
    <p:sldId id="398" r:id="rId22"/>
    <p:sldId id="399" r:id="rId23"/>
    <p:sldId id="343" r:id="rId24"/>
    <p:sldId id="344" r:id="rId25"/>
    <p:sldId id="396" r:id="rId26"/>
    <p:sldId id="386" r:id="rId27"/>
    <p:sldId id="353" r:id="rId28"/>
    <p:sldId id="403" r:id="rId29"/>
    <p:sldId id="381" r:id="rId30"/>
    <p:sldId id="373" r:id="rId31"/>
    <p:sldId id="382" r:id="rId32"/>
    <p:sldId id="397" r:id="rId33"/>
    <p:sldId id="438" r:id="rId34"/>
    <p:sldId id="402" r:id="rId35"/>
    <p:sldId id="426" r:id="rId36"/>
    <p:sldId id="427" r:id="rId37"/>
    <p:sldId id="429" r:id="rId38"/>
    <p:sldId id="404" r:id="rId39"/>
    <p:sldId id="351" r:id="rId40"/>
    <p:sldId id="437" r:id="rId41"/>
    <p:sldId id="432" r:id="rId42"/>
    <p:sldId id="347" r:id="rId43"/>
    <p:sldId id="383" r:id="rId44"/>
    <p:sldId id="433" r:id="rId45"/>
    <p:sldId id="435" r:id="rId46"/>
    <p:sldId id="436" r:id="rId47"/>
    <p:sldId id="378" r:id="rId48"/>
    <p:sldId id="384" r:id="rId49"/>
    <p:sldId id="434" r:id="rId50"/>
    <p:sldId id="430" r:id="rId51"/>
    <p:sldId id="349" r:id="rId52"/>
    <p:sldId id="350" r:id="rId53"/>
    <p:sldId id="352" r:id="rId54"/>
    <p:sldId id="369" r:id="rId55"/>
    <p:sldId id="401" r:id="rId56"/>
    <p:sldId id="355" r:id="rId57"/>
    <p:sldId id="359" r:id="rId58"/>
    <p:sldId id="390" r:id="rId59"/>
    <p:sldId id="360" r:id="rId60"/>
    <p:sldId id="361" r:id="rId61"/>
    <p:sldId id="393" r:id="rId62"/>
    <p:sldId id="405" r:id="rId63"/>
    <p:sldId id="358" r:id="rId64"/>
    <p:sldId id="389" r:id="rId65"/>
    <p:sldId id="354" r:id="rId66"/>
    <p:sldId id="356" r:id="rId67"/>
    <p:sldId id="357" r:id="rId68"/>
    <p:sldId id="364" r:id="rId69"/>
    <p:sldId id="365" r:id="rId70"/>
    <p:sldId id="439" r:id="rId71"/>
    <p:sldId id="366" r:id="rId72"/>
    <p:sldId id="367" r:id="rId73"/>
    <p:sldId id="371" r:id="rId74"/>
    <p:sldId id="440" r:id="rId75"/>
    <p:sldId id="368" r:id="rId76"/>
    <p:sldId id="372" r:id="rId77"/>
    <p:sldId id="374" r:id="rId78"/>
    <p:sldId id="375" r:id="rId79"/>
    <p:sldId id="370" r:id="rId80"/>
    <p:sldId id="376" r:id="rId81"/>
    <p:sldId id="394" r:id="rId82"/>
    <p:sldId id="416" r:id="rId83"/>
    <p:sldId id="420" r:id="rId84"/>
    <p:sldId id="421" r:id="rId85"/>
    <p:sldId id="422" r:id="rId86"/>
    <p:sldId id="423" r:id="rId87"/>
    <p:sldId id="424" r:id="rId88"/>
    <p:sldId id="417" r:id="rId89"/>
    <p:sldId id="418" r:id="rId90"/>
    <p:sldId id="419" r:id="rId91"/>
    <p:sldId id="822" r:id="rId92"/>
    <p:sldId id="395" r:id="rId9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1" autoAdjust="0"/>
    <p:restoredTop sz="94660"/>
  </p:normalViewPr>
  <p:slideViewPr>
    <p:cSldViewPr snapToGrid="0">
      <p:cViewPr varScale="1">
        <p:scale>
          <a:sx n="77" d="100"/>
          <a:sy n="77" d="100"/>
        </p:scale>
        <p:origin x="432"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D7D09A-089B-49AD-9380-9EDF59B0FA35}" type="datetimeFigureOut">
              <a:rPr lang="en-US" smtClean="0"/>
              <a:t>10/13/2026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607A2E-B268-4E9D-8DE0-397499F5C20F}" type="slidenum">
              <a:rPr lang="en-US" smtClean="0"/>
              <a:t>‹#›</a:t>
            </a:fld>
            <a:endParaRPr lang="en-US"/>
          </a:p>
        </p:txBody>
      </p:sp>
    </p:spTree>
    <p:extLst>
      <p:ext uri="{BB962C8B-B14F-4D97-AF65-F5344CB8AC3E}">
        <p14:creationId xmlns:p14="http://schemas.microsoft.com/office/powerpoint/2010/main" val="28269909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08804-A071-4B92-B9AF-68425EDD7DC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A055CFA-9F4D-4829-BE6A-3070A58019B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9D527CF-2C12-402C-AD56-D9DEA7BDC8B5}"/>
              </a:ext>
            </a:extLst>
          </p:cNvPr>
          <p:cNvSpPr>
            <a:spLocks noGrp="1"/>
          </p:cNvSpPr>
          <p:nvPr>
            <p:ph type="dt" sz="half" idx="10"/>
          </p:nvPr>
        </p:nvSpPr>
        <p:spPr/>
        <p:txBody>
          <a:bodyPr/>
          <a:lstStyle/>
          <a:p>
            <a:fld id="{66F7C53C-E5B1-464F-8287-06D868EDC1EC}" type="datetimeFigureOut">
              <a:rPr lang="en-US" smtClean="0"/>
              <a:t>10/13/2026</a:t>
            </a:fld>
            <a:endParaRPr lang="en-US"/>
          </a:p>
        </p:txBody>
      </p:sp>
      <p:sp>
        <p:nvSpPr>
          <p:cNvPr id="5" name="Footer Placeholder 4">
            <a:extLst>
              <a:ext uri="{FF2B5EF4-FFF2-40B4-BE49-F238E27FC236}">
                <a16:creationId xmlns:a16="http://schemas.microsoft.com/office/drawing/2014/main" id="{300DF055-3FC3-4176-9A5B-321D0B4C81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437DE2-8AC7-47FA-B1CE-B05032BCCA8E}"/>
              </a:ext>
            </a:extLst>
          </p:cNvPr>
          <p:cNvSpPr>
            <a:spLocks noGrp="1"/>
          </p:cNvSpPr>
          <p:nvPr>
            <p:ph type="sldNum" sz="quarter" idx="12"/>
          </p:nvPr>
        </p:nvSpPr>
        <p:spPr/>
        <p:txBody>
          <a:bodyPr/>
          <a:lstStyle/>
          <a:p>
            <a:fld id="{F2132259-DE83-4734-84FD-B90D4D442179}" type="slidenum">
              <a:rPr lang="en-US" smtClean="0"/>
              <a:t>‹#›</a:t>
            </a:fld>
            <a:endParaRPr lang="en-US"/>
          </a:p>
        </p:txBody>
      </p:sp>
    </p:spTree>
    <p:extLst>
      <p:ext uri="{BB962C8B-B14F-4D97-AF65-F5344CB8AC3E}">
        <p14:creationId xmlns:p14="http://schemas.microsoft.com/office/powerpoint/2010/main" val="9150948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D64FE-8D94-451A-B9B1-2B3FC74AF8B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17FF242-1891-4C9F-B7CE-92975FAD2DD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1D6CB4-303C-46C9-B655-BB2D0C606585}"/>
              </a:ext>
            </a:extLst>
          </p:cNvPr>
          <p:cNvSpPr>
            <a:spLocks noGrp="1"/>
          </p:cNvSpPr>
          <p:nvPr>
            <p:ph type="dt" sz="half" idx="10"/>
          </p:nvPr>
        </p:nvSpPr>
        <p:spPr/>
        <p:txBody>
          <a:bodyPr/>
          <a:lstStyle/>
          <a:p>
            <a:fld id="{66F7C53C-E5B1-464F-8287-06D868EDC1EC}" type="datetimeFigureOut">
              <a:rPr lang="en-US" smtClean="0"/>
              <a:t>10/13/2026</a:t>
            </a:fld>
            <a:endParaRPr lang="en-US"/>
          </a:p>
        </p:txBody>
      </p:sp>
      <p:sp>
        <p:nvSpPr>
          <p:cNvPr id="5" name="Footer Placeholder 4">
            <a:extLst>
              <a:ext uri="{FF2B5EF4-FFF2-40B4-BE49-F238E27FC236}">
                <a16:creationId xmlns:a16="http://schemas.microsoft.com/office/drawing/2014/main" id="{CB368801-37C5-4EF3-9D1F-7DF93D47C1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0BC0C7-625C-4F1A-BC7F-916EE8241AFE}"/>
              </a:ext>
            </a:extLst>
          </p:cNvPr>
          <p:cNvSpPr>
            <a:spLocks noGrp="1"/>
          </p:cNvSpPr>
          <p:nvPr>
            <p:ph type="sldNum" sz="quarter" idx="12"/>
          </p:nvPr>
        </p:nvSpPr>
        <p:spPr/>
        <p:txBody>
          <a:bodyPr/>
          <a:lstStyle/>
          <a:p>
            <a:fld id="{F2132259-DE83-4734-84FD-B90D4D442179}" type="slidenum">
              <a:rPr lang="en-US" smtClean="0"/>
              <a:t>‹#›</a:t>
            </a:fld>
            <a:endParaRPr lang="en-US"/>
          </a:p>
        </p:txBody>
      </p:sp>
    </p:spTree>
    <p:extLst>
      <p:ext uri="{BB962C8B-B14F-4D97-AF65-F5344CB8AC3E}">
        <p14:creationId xmlns:p14="http://schemas.microsoft.com/office/powerpoint/2010/main" val="750765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A7B16-8045-4095-8759-74F7D5A2A61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00E91B0-988D-4C53-B62B-3F5F7E6EB3C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6C432A-4106-4ACA-BCA9-52BA2570DCDD}"/>
              </a:ext>
            </a:extLst>
          </p:cNvPr>
          <p:cNvSpPr>
            <a:spLocks noGrp="1"/>
          </p:cNvSpPr>
          <p:nvPr>
            <p:ph type="dt" sz="half" idx="10"/>
          </p:nvPr>
        </p:nvSpPr>
        <p:spPr/>
        <p:txBody>
          <a:bodyPr/>
          <a:lstStyle/>
          <a:p>
            <a:fld id="{66F7C53C-E5B1-464F-8287-06D868EDC1EC}" type="datetimeFigureOut">
              <a:rPr lang="en-US" smtClean="0"/>
              <a:t>10/13/2026</a:t>
            </a:fld>
            <a:endParaRPr lang="en-US"/>
          </a:p>
        </p:txBody>
      </p:sp>
      <p:sp>
        <p:nvSpPr>
          <p:cNvPr id="5" name="Footer Placeholder 4">
            <a:extLst>
              <a:ext uri="{FF2B5EF4-FFF2-40B4-BE49-F238E27FC236}">
                <a16:creationId xmlns:a16="http://schemas.microsoft.com/office/drawing/2014/main" id="{8F5563FB-6E91-45AA-AE40-4B2F1671D0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CE3080-B9FA-4646-A663-A4EB811BC371}"/>
              </a:ext>
            </a:extLst>
          </p:cNvPr>
          <p:cNvSpPr>
            <a:spLocks noGrp="1"/>
          </p:cNvSpPr>
          <p:nvPr>
            <p:ph type="sldNum" sz="quarter" idx="12"/>
          </p:nvPr>
        </p:nvSpPr>
        <p:spPr/>
        <p:txBody>
          <a:bodyPr/>
          <a:lstStyle/>
          <a:p>
            <a:fld id="{F2132259-DE83-4734-84FD-B90D4D442179}" type="slidenum">
              <a:rPr lang="en-US" smtClean="0"/>
              <a:t>‹#›</a:t>
            </a:fld>
            <a:endParaRPr lang="en-US"/>
          </a:p>
        </p:txBody>
      </p:sp>
    </p:spTree>
    <p:extLst>
      <p:ext uri="{BB962C8B-B14F-4D97-AF65-F5344CB8AC3E}">
        <p14:creationId xmlns:p14="http://schemas.microsoft.com/office/powerpoint/2010/main" val="1585147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F6E18-A428-4965-A6F9-1AF1823C30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68B806F-67CA-4311-8CB3-FCA25540797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D933BB0-DDC5-450A-A47C-E9DE166AA95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F903003-3ADF-413B-BBDC-52B36173BE5D}"/>
              </a:ext>
            </a:extLst>
          </p:cNvPr>
          <p:cNvSpPr>
            <a:spLocks noGrp="1"/>
          </p:cNvSpPr>
          <p:nvPr>
            <p:ph type="dt" sz="half" idx="10"/>
          </p:nvPr>
        </p:nvSpPr>
        <p:spPr/>
        <p:txBody>
          <a:bodyPr/>
          <a:lstStyle/>
          <a:p>
            <a:fld id="{66F7C53C-E5B1-464F-8287-06D868EDC1EC}" type="datetimeFigureOut">
              <a:rPr lang="en-US" smtClean="0"/>
              <a:t>10/13/2026</a:t>
            </a:fld>
            <a:endParaRPr lang="en-US"/>
          </a:p>
        </p:txBody>
      </p:sp>
      <p:sp>
        <p:nvSpPr>
          <p:cNvPr id="6" name="Footer Placeholder 5">
            <a:extLst>
              <a:ext uri="{FF2B5EF4-FFF2-40B4-BE49-F238E27FC236}">
                <a16:creationId xmlns:a16="http://schemas.microsoft.com/office/drawing/2014/main" id="{6C85880C-1EF7-4DD6-B019-B800FC9A26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36E7B67-C300-4A62-B7D5-8D154DA4AE12}"/>
              </a:ext>
            </a:extLst>
          </p:cNvPr>
          <p:cNvSpPr>
            <a:spLocks noGrp="1"/>
          </p:cNvSpPr>
          <p:nvPr>
            <p:ph type="sldNum" sz="quarter" idx="12"/>
          </p:nvPr>
        </p:nvSpPr>
        <p:spPr/>
        <p:txBody>
          <a:bodyPr/>
          <a:lstStyle/>
          <a:p>
            <a:fld id="{F2132259-DE83-4734-84FD-B90D4D442179}" type="slidenum">
              <a:rPr lang="en-US" smtClean="0"/>
              <a:t>‹#›</a:t>
            </a:fld>
            <a:endParaRPr lang="en-US"/>
          </a:p>
        </p:txBody>
      </p:sp>
    </p:spTree>
    <p:extLst>
      <p:ext uri="{BB962C8B-B14F-4D97-AF65-F5344CB8AC3E}">
        <p14:creationId xmlns:p14="http://schemas.microsoft.com/office/powerpoint/2010/main" val="159340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B030E-1B94-4EC6-B993-A4ECE79A428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3635279-9C17-4A5A-A2FE-A7B589285D3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5F2DCAC-1049-4688-8ADC-A271931C0BD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AFEFDB2-0EF3-49F7-94E8-A56EDCB2E18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FAABB9E-145F-4502-899D-F31A6A50D88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6D1219B-C450-402A-A88A-0F773AF17663}"/>
              </a:ext>
            </a:extLst>
          </p:cNvPr>
          <p:cNvSpPr>
            <a:spLocks noGrp="1"/>
          </p:cNvSpPr>
          <p:nvPr>
            <p:ph type="dt" sz="half" idx="10"/>
          </p:nvPr>
        </p:nvSpPr>
        <p:spPr/>
        <p:txBody>
          <a:bodyPr/>
          <a:lstStyle/>
          <a:p>
            <a:fld id="{66F7C53C-E5B1-464F-8287-06D868EDC1EC}" type="datetimeFigureOut">
              <a:rPr lang="en-US" smtClean="0"/>
              <a:t>10/13/2026</a:t>
            </a:fld>
            <a:endParaRPr lang="en-US"/>
          </a:p>
        </p:txBody>
      </p:sp>
      <p:sp>
        <p:nvSpPr>
          <p:cNvPr id="8" name="Footer Placeholder 7">
            <a:extLst>
              <a:ext uri="{FF2B5EF4-FFF2-40B4-BE49-F238E27FC236}">
                <a16:creationId xmlns:a16="http://schemas.microsoft.com/office/drawing/2014/main" id="{D28157EF-AC9A-4342-BDEF-5AA2E13FCF2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81E6CD9-C2CA-44F0-A634-1FED9858373C}"/>
              </a:ext>
            </a:extLst>
          </p:cNvPr>
          <p:cNvSpPr>
            <a:spLocks noGrp="1"/>
          </p:cNvSpPr>
          <p:nvPr>
            <p:ph type="sldNum" sz="quarter" idx="12"/>
          </p:nvPr>
        </p:nvSpPr>
        <p:spPr/>
        <p:txBody>
          <a:bodyPr/>
          <a:lstStyle/>
          <a:p>
            <a:fld id="{F2132259-DE83-4734-84FD-B90D4D442179}" type="slidenum">
              <a:rPr lang="en-US" smtClean="0"/>
              <a:t>‹#›</a:t>
            </a:fld>
            <a:endParaRPr lang="en-US"/>
          </a:p>
        </p:txBody>
      </p:sp>
    </p:spTree>
    <p:extLst>
      <p:ext uri="{BB962C8B-B14F-4D97-AF65-F5344CB8AC3E}">
        <p14:creationId xmlns:p14="http://schemas.microsoft.com/office/powerpoint/2010/main" val="21125054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5F051-BABB-4920-B92E-323A22B1149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635C63E-C311-430B-9E2E-A802B2A3AEF0}"/>
              </a:ext>
            </a:extLst>
          </p:cNvPr>
          <p:cNvSpPr>
            <a:spLocks noGrp="1"/>
          </p:cNvSpPr>
          <p:nvPr>
            <p:ph type="dt" sz="half" idx="10"/>
          </p:nvPr>
        </p:nvSpPr>
        <p:spPr/>
        <p:txBody>
          <a:bodyPr/>
          <a:lstStyle/>
          <a:p>
            <a:fld id="{66F7C53C-E5B1-464F-8287-06D868EDC1EC}" type="datetimeFigureOut">
              <a:rPr lang="en-US" smtClean="0"/>
              <a:t>10/13/2026</a:t>
            </a:fld>
            <a:endParaRPr lang="en-US"/>
          </a:p>
        </p:txBody>
      </p:sp>
      <p:sp>
        <p:nvSpPr>
          <p:cNvPr id="4" name="Footer Placeholder 3">
            <a:extLst>
              <a:ext uri="{FF2B5EF4-FFF2-40B4-BE49-F238E27FC236}">
                <a16:creationId xmlns:a16="http://schemas.microsoft.com/office/drawing/2014/main" id="{4C5EED7D-A47E-45C2-9C06-3AE5E75F545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42885F1-FDB9-40F5-A2DB-BA933D901F77}"/>
              </a:ext>
            </a:extLst>
          </p:cNvPr>
          <p:cNvSpPr>
            <a:spLocks noGrp="1"/>
          </p:cNvSpPr>
          <p:nvPr>
            <p:ph type="sldNum" sz="quarter" idx="12"/>
          </p:nvPr>
        </p:nvSpPr>
        <p:spPr/>
        <p:txBody>
          <a:bodyPr/>
          <a:lstStyle/>
          <a:p>
            <a:fld id="{F2132259-DE83-4734-84FD-B90D4D442179}" type="slidenum">
              <a:rPr lang="en-US" smtClean="0"/>
              <a:t>‹#›</a:t>
            </a:fld>
            <a:endParaRPr lang="en-US"/>
          </a:p>
        </p:txBody>
      </p:sp>
    </p:spTree>
    <p:extLst>
      <p:ext uri="{BB962C8B-B14F-4D97-AF65-F5344CB8AC3E}">
        <p14:creationId xmlns:p14="http://schemas.microsoft.com/office/powerpoint/2010/main" val="40142872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B99A557-C321-417E-A0CA-076652B9BCB5}"/>
              </a:ext>
            </a:extLst>
          </p:cNvPr>
          <p:cNvSpPr>
            <a:spLocks noGrp="1"/>
          </p:cNvSpPr>
          <p:nvPr>
            <p:ph type="dt" sz="half" idx="10"/>
          </p:nvPr>
        </p:nvSpPr>
        <p:spPr/>
        <p:txBody>
          <a:bodyPr/>
          <a:lstStyle/>
          <a:p>
            <a:fld id="{66F7C53C-E5B1-464F-8287-06D868EDC1EC}" type="datetimeFigureOut">
              <a:rPr lang="en-US" smtClean="0"/>
              <a:t>10/13/2026</a:t>
            </a:fld>
            <a:endParaRPr lang="en-US"/>
          </a:p>
        </p:txBody>
      </p:sp>
      <p:sp>
        <p:nvSpPr>
          <p:cNvPr id="3" name="Footer Placeholder 2">
            <a:extLst>
              <a:ext uri="{FF2B5EF4-FFF2-40B4-BE49-F238E27FC236}">
                <a16:creationId xmlns:a16="http://schemas.microsoft.com/office/drawing/2014/main" id="{3D686801-680C-4BCB-A9BA-B0E27D26EEB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4FEBD29-26F6-404C-9BE4-E6F6B29C5096}"/>
              </a:ext>
            </a:extLst>
          </p:cNvPr>
          <p:cNvSpPr>
            <a:spLocks noGrp="1"/>
          </p:cNvSpPr>
          <p:nvPr>
            <p:ph type="sldNum" sz="quarter" idx="12"/>
          </p:nvPr>
        </p:nvSpPr>
        <p:spPr/>
        <p:txBody>
          <a:bodyPr/>
          <a:lstStyle/>
          <a:p>
            <a:fld id="{F2132259-DE83-4734-84FD-B90D4D442179}" type="slidenum">
              <a:rPr lang="en-US" smtClean="0"/>
              <a:t>‹#›</a:t>
            </a:fld>
            <a:endParaRPr lang="en-US"/>
          </a:p>
        </p:txBody>
      </p:sp>
    </p:spTree>
    <p:extLst>
      <p:ext uri="{BB962C8B-B14F-4D97-AF65-F5344CB8AC3E}">
        <p14:creationId xmlns:p14="http://schemas.microsoft.com/office/powerpoint/2010/main" val="35863671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E398F-318B-4E07-8BDA-E601347EAF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F7DEEED-6A36-47DE-96F8-B47491A31F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CF9EE6E-839D-4213-A3CF-EAC924A619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3F9BE0-169F-4D0B-9E7F-469D236F7CB2}"/>
              </a:ext>
            </a:extLst>
          </p:cNvPr>
          <p:cNvSpPr>
            <a:spLocks noGrp="1"/>
          </p:cNvSpPr>
          <p:nvPr>
            <p:ph type="dt" sz="half" idx="10"/>
          </p:nvPr>
        </p:nvSpPr>
        <p:spPr/>
        <p:txBody>
          <a:bodyPr/>
          <a:lstStyle/>
          <a:p>
            <a:fld id="{66F7C53C-E5B1-464F-8287-06D868EDC1EC}" type="datetimeFigureOut">
              <a:rPr lang="en-US" smtClean="0"/>
              <a:t>10/13/2026</a:t>
            </a:fld>
            <a:endParaRPr lang="en-US"/>
          </a:p>
        </p:txBody>
      </p:sp>
      <p:sp>
        <p:nvSpPr>
          <p:cNvPr id="6" name="Footer Placeholder 5">
            <a:extLst>
              <a:ext uri="{FF2B5EF4-FFF2-40B4-BE49-F238E27FC236}">
                <a16:creationId xmlns:a16="http://schemas.microsoft.com/office/drawing/2014/main" id="{64CDC1E2-823B-441E-8CA6-7EB73C2B7D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B375350-4423-4556-AF38-780ABC9DF8A6}"/>
              </a:ext>
            </a:extLst>
          </p:cNvPr>
          <p:cNvSpPr>
            <a:spLocks noGrp="1"/>
          </p:cNvSpPr>
          <p:nvPr>
            <p:ph type="sldNum" sz="quarter" idx="12"/>
          </p:nvPr>
        </p:nvSpPr>
        <p:spPr/>
        <p:txBody>
          <a:bodyPr/>
          <a:lstStyle/>
          <a:p>
            <a:fld id="{F2132259-DE83-4734-84FD-B90D4D442179}" type="slidenum">
              <a:rPr lang="en-US" smtClean="0"/>
              <a:t>‹#›</a:t>
            </a:fld>
            <a:endParaRPr lang="en-US"/>
          </a:p>
        </p:txBody>
      </p:sp>
    </p:spTree>
    <p:extLst>
      <p:ext uri="{BB962C8B-B14F-4D97-AF65-F5344CB8AC3E}">
        <p14:creationId xmlns:p14="http://schemas.microsoft.com/office/powerpoint/2010/main" val="24048597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4F18A-F093-4A35-A1EF-BBB839E554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A220ECE-C950-43AA-8908-01545C17AB8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6846F7A-CD9E-405F-AF06-9BD9F0E747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20E242-540E-42A8-A1B5-A5F9FF267858}"/>
              </a:ext>
            </a:extLst>
          </p:cNvPr>
          <p:cNvSpPr>
            <a:spLocks noGrp="1"/>
          </p:cNvSpPr>
          <p:nvPr>
            <p:ph type="dt" sz="half" idx="10"/>
          </p:nvPr>
        </p:nvSpPr>
        <p:spPr/>
        <p:txBody>
          <a:bodyPr/>
          <a:lstStyle/>
          <a:p>
            <a:fld id="{66F7C53C-E5B1-464F-8287-06D868EDC1EC}" type="datetimeFigureOut">
              <a:rPr lang="en-US" smtClean="0"/>
              <a:t>10/13/2026</a:t>
            </a:fld>
            <a:endParaRPr lang="en-US"/>
          </a:p>
        </p:txBody>
      </p:sp>
      <p:sp>
        <p:nvSpPr>
          <p:cNvPr id="6" name="Footer Placeholder 5">
            <a:extLst>
              <a:ext uri="{FF2B5EF4-FFF2-40B4-BE49-F238E27FC236}">
                <a16:creationId xmlns:a16="http://schemas.microsoft.com/office/drawing/2014/main" id="{8A48117E-B658-4CA9-AC8C-E858462937A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92EBBFD-2C00-44D5-96D8-E5587C70D035}"/>
              </a:ext>
            </a:extLst>
          </p:cNvPr>
          <p:cNvSpPr>
            <a:spLocks noGrp="1"/>
          </p:cNvSpPr>
          <p:nvPr>
            <p:ph type="sldNum" sz="quarter" idx="12"/>
          </p:nvPr>
        </p:nvSpPr>
        <p:spPr/>
        <p:txBody>
          <a:bodyPr/>
          <a:lstStyle/>
          <a:p>
            <a:fld id="{F2132259-DE83-4734-84FD-B90D4D442179}" type="slidenum">
              <a:rPr lang="en-US" smtClean="0"/>
              <a:t>‹#›</a:t>
            </a:fld>
            <a:endParaRPr lang="en-US"/>
          </a:p>
        </p:txBody>
      </p:sp>
    </p:spTree>
    <p:extLst>
      <p:ext uri="{BB962C8B-B14F-4D97-AF65-F5344CB8AC3E}">
        <p14:creationId xmlns:p14="http://schemas.microsoft.com/office/powerpoint/2010/main" val="28538683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0F65D-3EE5-44AC-957C-DB198D650C8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EB429F-5A46-4CFD-A47A-3CE65CAF6FE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1800A6-AED8-468B-AF32-E4315378DA29}"/>
              </a:ext>
            </a:extLst>
          </p:cNvPr>
          <p:cNvSpPr>
            <a:spLocks noGrp="1"/>
          </p:cNvSpPr>
          <p:nvPr>
            <p:ph type="dt" sz="half" idx="10"/>
          </p:nvPr>
        </p:nvSpPr>
        <p:spPr/>
        <p:txBody>
          <a:bodyPr/>
          <a:lstStyle/>
          <a:p>
            <a:fld id="{66F7C53C-E5B1-464F-8287-06D868EDC1EC}" type="datetimeFigureOut">
              <a:rPr lang="en-US" smtClean="0"/>
              <a:t>10/13/2026</a:t>
            </a:fld>
            <a:endParaRPr lang="en-US"/>
          </a:p>
        </p:txBody>
      </p:sp>
      <p:sp>
        <p:nvSpPr>
          <p:cNvPr id="5" name="Footer Placeholder 4">
            <a:extLst>
              <a:ext uri="{FF2B5EF4-FFF2-40B4-BE49-F238E27FC236}">
                <a16:creationId xmlns:a16="http://schemas.microsoft.com/office/drawing/2014/main" id="{989A0147-4FCA-488E-AC17-A32F1CEAA5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F46397-E941-4EBF-BFF9-20FF3DDE87C7}"/>
              </a:ext>
            </a:extLst>
          </p:cNvPr>
          <p:cNvSpPr>
            <a:spLocks noGrp="1"/>
          </p:cNvSpPr>
          <p:nvPr>
            <p:ph type="sldNum" sz="quarter" idx="12"/>
          </p:nvPr>
        </p:nvSpPr>
        <p:spPr/>
        <p:txBody>
          <a:bodyPr/>
          <a:lstStyle/>
          <a:p>
            <a:fld id="{F2132259-DE83-4734-84FD-B90D4D442179}" type="slidenum">
              <a:rPr lang="en-US" smtClean="0"/>
              <a:t>‹#›</a:t>
            </a:fld>
            <a:endParaRPr lang="en-US"/>
          </a:p>
        </p:txBody>
      </p:sp>
    </p:spTree>
    <p:extLst>
      <p:ext uri="{BB962C8B-B14F-4D97-AF65-F5344CB8AC3E}">
        <p14:creationId xmlns:p14="http://schemas.microsoft.com/office/powerpoint/2010/main" val="5475411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585C7EA-397F-41CD-BF7A-DAB0760EDE7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4608832-A967-4BBC-B370-F9B8876E618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9DF700-3F70-488B-8A52-6A2F48A921DB}"/>
              </a:ext>
            </a:extLst>
          </p:cNvPr>
          <p:cNvSpPr>
            <a:spLocks noGrp="1"/>
          </p:cNvSpPr>
          <p:nvPr>
            <p:ph type="dt" sz="half" idx="10"/>
          </p:nvPr>
        </p:nvSpPr>
        <p:spPr/>
        <p:txBody>
          <a:bodyPr/>
          <a:lstStyle/>
          <a:p>
            <a:fld id="{66F7C53C-E5B1-464F-8287-06D868EDC1EC}" type="datetimeFigureOut">
              <a:rPr lang="en-US" smtClean="0"/>
              <a:t>10/13/2026</a:t>
            </a:fld>
            <a:endParaRPr lang="en-US"/>
          </a:p>
        </p:txBody>
      </p:sp>
      <p:sp>
        <p:nvSpPr>
          <p:cNvPr id="5" name="Footer Placeholder 4">
            <a:extLst>
              <a:ext uri="{FF2B5EF4-FFF2-40B4-BE49-F238E27FC236}">
                <a16:creationId xmlns:a16="http://schemas.microsoft.com/office/drawing/2014/main" id="{69FEBA5F-1D49-4923-852C-97DF291455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794C16-D0E5-4423-8BB9-F5F7F6868000}"/>
              </a:ext>
            </a:extLst>
          </p:cNvPr>
          <p:cNvSpPr>
            <a:spLocks noGrp="1"/>
          </p:cNvSpPr>
          <p:nvPr>
            <p:ph type="sldNum" sz="quarter" idx="12"/>
          </p:nvPr>
        </p:nvSpPr>
        <p:spPr/>
        <p:txBody>
          <a:bodyPr/>
          <a:lstStyle/>
          <a:p>
            <a:fld id="{F2132259-DE83-4734-84FD-B90D4D442179}" type="slidenum">
              <a:rPr lang="en-US" smtClean="0"/>
              <a:t>‹#›</a:t>
            </a:fld>
            <a:endParaRPr lang="en-US"/>
          </a:p>
        </p:txBody>
      </p:sp>
    </p:spTree>
    <p:extLst>
      <p:ext uri="{BB962C8B-B14F-4D97-AF65-F5344CB8AC3E}">
        <p14:creationId xmlns:p14="http://schemas.microsoft.com/office/powerpoint/2010/main" val="12221618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2E758AD-FB2B-4FD9-9028-DE0ADFE2030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2FBF206-F2A4-48F4-BD38-F7558694B6D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12B2E0-C620-48A1-AC6B-EEC63541674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6F7C53C-E5B1-464F-8287-06D868EDC1EC}" type="datetimeFigureOut">
              <a:rPr lang="en-US" smtClean="0"/>
              <a:t>10/13/2026</a:t>
            </a:fld>
            <a:endParaRPr lang="en-US"/>
          </a:p>
        </p:txBody>
      </p:sp>
      <p:sp>
        <p:nvSpPr>
          <p:cNvPr id="5" name="Footer Placeholder 4">
            <a:extLst>
              <a:ext uri="{FF2B5EF4-FFF2-40B4-BE49-F238E27FC236}">
                <a16:creationId xmlns:a16="http://schemas.microsoft.com/office/drawing/2014/main" id="{DF6F4425-4E37-4B18-937D-8599C8507B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75BD858-062B-4A7E-89EC-D889597B81B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132259-DE83-4734-84FD-B90D4D442179}" type="slidenum">
              <a:rPr lang="en-US" smtClean="0"/>
              <a:t>‹#›</a:t>
            </a:fld>
            <a:endParaRPr lang="en-US"/>
          </a:p>
        </p:txBody>
      </p:sp>
    </p:spTree>
    <p:extLst>
      <p:ext uri="{BB962C8B-B14F-4D97-AF65-F5344CB8AC3E}">
        <p14:creationId xmlns:p14="http://schemas.microsoft.com/office/powerpoint/2010/main" val="30607767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hyperlink" Target="https://snap.stanford.edu/class/cs224w-readings/erdos59random.pdf" TargetMode="External"/><Relationship Id="rId2" Type="http://schemas.openxmlformats.org/officeDocument/2006/relationships/hyperlink" Target="https://en.wikipedia.org/wiki/Random_graph" TargetMode="Externa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hyperlink" Target="https://en.wikipedia.org/wiki/Paul_Erd%C5%91s" TargetMode="External"/><Relationship Id="rId4" Type="http://schemas.openxmlformats.org/officeDocument/2006/relationships/hyperlink" Target="https://www.stat.cmu.edu/~brian/780/bibliography/09%20Other%20Models/Gilbert%20-%201959%20-%20Random%20graphs.pdf"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www.stat.cmu.edu/~brian/780/bibliography/09%20Other%20Models/Gilbert%20-%201959%20-%20Random%20graphs.pdf" TargetMode="External"/><Relationship Id="rId2" Type="http://schemas.openxmlformats.org/officeDocument/2006/relationships/hyperlink" Target="https://snap.stanford.edu/class/cs224w-readings/erdos59random.pdf" TargetMode="External"/><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hyperlink" Target="https://www.pnas.org/content/101/suppl_1/5200"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hyperlink" Target="https://academic.oup.com/jmammal/article/93/1/239/896437"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hyperlink" Target="https://academic.oup.com/jmammal/article/93/1/239/896437"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arxiv.org/pdf/2304.00501.pdf" TargetMode="External"/><Relationship Id="rId2" Type="http://schemas.openxmlformats.org/officeDocument/2006/relationships/hyperlink" Target="https://www.elsevier.com/products/scopus" TargetMode="Externa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0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hyperlink" Target="https://link.springer.com/article/10.1007/BF02289026" TargetMode="External"/><Relationship Id="rId2" Type="http://schemas.openxmlformats.org/officeDocument/2006/relationships/hyperlink" Target="https://en.wikipedia.org/wiki/Katz_centrality" TargetMode="Externa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https://aima.cs.berkeley.edu/"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s://www.thehindu.com/children/zuses-z3-the-worlds-first-programmable-computer/article68124622.ece"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s://networkx.org/documentation/stable/reference/algorithms/generated/networkx.algorithms.centrality.closeness_centrality.html" TargetMode="Externa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hyperlink" Target="https://sites.google.com/site/bsmithactivity3/betweenness-centrality"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71.png"/><Relationship Id="rId2" Type="http://schemas.openxmlformats.org/officeDocument/2006/relationships/image" Target="../media/image160.png"/><Relationship Id="rId1" Type="http://schemas.openxmlformats.org/officeDocument/2006/relationships/slideLayout" Target="../slideLayouts/slideLayout2.xml"/><Relationship Id="rId5" Type="http://schemas.openxmlformats.org/officeDocument/2006/relationships/image" Target="../media/image190.png"/><Relationship Id="rId4" Type="http://schemas.openxmlformats.org/officeDocument/2006/relationships/image" Target="../media/image180.png"/></Relationships>
</file>

<file path=ppt/slides/_rels/slide4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image" Target="../media/image25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32.png"/><Relationship Id="rId2" Type="http://schemas.openxmlformats.org/officeDocument/2006/relationships/hyperlink" Target="https://networkx.org/documentation/stable/reference/algorithms/generated/networkx.algorithms.cluster.clustering.html#networkx.algorithms.cluster.clustering" TargetMode="Externa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8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hyperlink" Target="https://ndres.me/post/facebook-graph-network/" TargetMode="Externa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3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30.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40.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2" Type="http://schemas.openxmlformats.org/officeDocument/2006/relationships/image" Target="../media/image312.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301.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322.png"/><Relationship Id="rId2" Type="http://schemas.openxmlformats.org/officeDocument/2006/relationships/hyperlink" Target="https://en.wikipedia.org/wiki/Lanczos_algorithm" TargetMode="Externa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2" Type="http://schemas.openxmlformats.org/officeDocument/2006/relationships/hyperlink" Target="https://en.wikipedia.org/wiki/Small-world_network" TargetMode="Externa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270.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310.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00.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20.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30.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EAD34-FE4D-4A41-82A2-223615631262}"/>
              </a:ext>
            </a:extLst>
          </p:cNvPr>
          <p:cNvSpPr>
            <a:spLocks noGrp="1"/>
          </p:cNvSpPr>
          <p:nvPr>
            <p:ph type="ctrTitle"/>
          </p:nvPr>
        </p:nvSpPr>
        <p:spPr>
          <a:xfrm>
            <a:off x="301659" y="695131"/>
            <a:ext cx="11693950" cy="3139961"/>
          </a:xfrm>
        </p:spPr>
        <p:txBody>
          <a:bodyPr>
            <a:normAutofit fontScale="90000"/>
          </a:bodyPr>
          <a:lstStyle/>
          <a:p>
            <a:r>
              <a:rPr lang="en-US" dirty="0">
                <a:latin typeface="+mn-lt"/>
              </a:rPr>
              <a:t>CSCI E-96</a:t>
            </a:r>
            <a:br>
              <a:rPr lang="en-US" dirty="0">
                <a:latin typeface="+mn-lt"/>
              </a:rPr>
            </a:br>
            <a:r>
              <a:rPr lang="en-US" dirty="0">
                <a:latin typeface="+mn-lt"/>
              </a:rPr>
              <a:t>Data Mining, Exploration and</a:t>
            </a:r>
            <a:br>
              <a:rPr lang="en-US" dirty="0">
                <a:latin typeface="+mn-lt"/>
              </a:rPr>
            </a:br>
            <a:r>
              <a:rPr lang="en-US" dirty="0">
                <a:latin typeface="+mn-lt"/>
              </a:rPr>
              <a:t>Discovery</a:t>
            </a:r>
            <a:br>
              <a:rPr lang="en-US" dirty="0">
                <a:latin typeface="+mn-lt"/>
              </a:rPr>
            </a:br>
            <a:r>
              <a:rPr lang="en-US" dirty="0">
                <a:latin typeface="+mn-lt"/>
              </a:rPr>
              <a:t>Graph Theory and </a:t>
            </a:r>
            <a:br>
              <a:rPr lang="en-US" dirty="0">
                <a:latin typeface="+mn-lt"/>
              </a:rPr>
            </a:br>
            <a:r>
              <a:rPr lang="en-US" dirty="0">
                <a:latin typeface="+mn-lt"/>
              </a:rPr>
              <a:t>Social Network Analysis</a:t>
            </a:r>
          </a:p>
        </p:txBody>
      </p:sp>
      <p:sp>
        <p:nvSpPr>
          <p:cNvPr id="3" name="Subtitle 2">
            <a:extLst>
              <a:ext uri="{FF2B5EF4-FFF2-40B4-BE49-F238E27FC236}">
                <a16:creationId xmlns:a16="http://schemas.microsoft.com/office/drawing/2014/main" id="{B25A855A-A2B4-41D5-81C1-CAA6D45AA9D5}"/>
              </a:ext>
            </a:extLst>
          </p:cNvPr>
          <p:cNvSpPr>
            <a:spLocks noGrp="1"/>
          </p:cNvSpPr>
          <p:nvPr>
            <p:ph type="subTitle" idx="1"/>
          </p:nvPr>
        </p:nvSpPr>
        <p:spPr>
          <a:xfrm>
            <a:off x="1523999" y="3835092"/>
            <a:ext cx="9144000" cy="494102"/>
          </a:xfrm>
        </p:spPr>
        <p:txBody>
          <a:bodyPr/>
          <a:lstStyle/>
          <a:p>
            <a:r>
              <a:rPr lang="en-US" dirty="0"/>
              <a:t>Steve Elston</a:t>
            </a:r>
          </a:p>
          <a:p>
            <a:endParaRPr lang="en-US" dirty="0"/>
          </a:p>
        </p:txBody>
      </p:sp>
      <p:pic>
        <p:nvPicPr>
          <p:cNvPr id="1026" name="Picture 2" descr="Image result for harvard extension school logo">
            <a:extLst>
              <a:ext uri="{FF2B5EF4-FFF2-40B4-BE49-F238E27FC236}">
                <a16:creationId xmlns:a16="http://schemas.microsoft.com/office/drawing/2014/main" id="{0512F5AD-ED64-4E88-80AB-F8D75DDF28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25950" y="4619819"/>
            <a:ext cx="3333750" cy="1371600"/>
          </a:xfrm>
          <a:prstGeom prst="rect">
            <a:avLst/>
          </a:prstGeom>
          <a:noFill/>
          <a:extLst>
            <a:ext uri="{909E8E84-426E-40DD-AFC4-6F175D3DCCD1}">
              <a14:hiddenFill xmlns:a14="http://schemas.microsoft.com/office/drawing/2010/main">
                <a:solidFill>
                  <a:srgbClr val="FFFFFF"/>
                </a:solidFill>
              </a14:hiddenFill>
            </a:ext>
          </a:extLst>
        </p:spPr>
      </p:pic>
      <p:sp>
        <p:nvSpPr>
          <p:cNvPr id="5" name="Subtitle 2">
            <a:extLst>
              <a:ext uri="{FF2B5EF4-FFF2-40B4-BE49-F238E27FC236}">
                <a16:creationId xmlns:a16="http://schemas.microsoft.com/office/drawing/2014/main" id="{8636C8FC-9C07-4DFA-B141-EBF94D41D6A9}"/>
              </a:ext>
            </a:extLst>
          </p:cNvPr>
          <p:cNvSpPr txBox="1">
            <a:spLocks/>
          </p:cNvSpPr>
          <p:nvPr/>
        </p:nvSpPr>
        <p:spPr>
          <a:xfrm>
            <a:off x="1524000" y="6363896"/>
            <a:ext cx="9144000" cy="49410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100" dirty="0"/>
              <a:t>Copyright 2021, 2022, 2023, 2024, 2025, 2026, Stephen F Elston. All rights reserved.</a:t>
            </a:r>
          </a:p>
          <a:p>
            <a:endParaRPr lang="en-US" dirty="0"/>
          </a:p>
        </p:txBody>
      </p:sp>
    </p:spTree>
    <p:extLst>
      <p:ext uri="{BB962C8B-B14F-4D97-AF65-F5344CB8AC3E}">
        <p14:creationId xmlns:p14="http://schemas.microsoft.com/office/powerpoint/2010/main" val="13650567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A9242-6F04-0255-B6E4-003EE805CF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C0B4EF-F7E3-7E82-AE6D-66E8ED303FDB}"/>
              </a:ext>
            </a:extLst>
          </p:cNvPr>
          <p:cNvSpPr>
            <a:spLocks noGrp="1"/>
          </p:cNvSpPr>
          <p:nvPr>
            <p:ph type="title"/>
          </p:nvPr>
        </p:nvSpPr>
        <p:spPr>
          <a:xfrm>
            <a:off x="916187" y="249623"/>
            <a:ext cx="10515600" cy="662230"/>
          </a:xfrm>
        </p:spPr>
        <p:txBody>
          <a:bodyPr>
            <a:normAutofit fontScale="90000"/>
          </a:bodyPr>
          <a:lstStyle/>
          <a:p>
            <a:r>
              <a:rPr lang="en-US" sz="4900" dirty="0">
                <a:latin typeface="+mn-lt"/>
              </a:rPr>
              <a:t>Main topics in this course</a:t>
            </a:r>
            <a:br>
              <a:rPr lang="en-US" sz="4000" dirty="0">
                <a:latin typeface="+mn-lt"/>
              </a:rPr>
            </a:br>
            <a:endParaRPr lang="en-US" sz="4000" dirty="0">
              <a:latin typeface="+mn-lt"/>
            </a:endParaRPr>
          </a:p>
        </p:txBody>
      </p:sp>
      <p:sp>
        <p:nvSpPr>
          <p:cNvPr id="3" name="Left Brace 2">
            <a:extLst>
              <a:ext uri="{FF2B5EF4-FFF2-40B4-BE49-F238E27FC236}">
                <a16:creationId xmlns:a16="http://schemas.microsoft.com/office/drawing/2014/main" id="{B43E0B5E-B811-4BBC-CEDF-97FC2AAC1766}"/>
              </a:ext>
            </a:extLst>
          </p:cNvPr>
          <p:cNvSpPr/>
          <p:nvPr/>
        </p:nvSpPr>
        <p:spPr>
          <a:xfrm>
            <a:off x="756889" y="1964356"/>
            <a:ext cx="225209" cy="1273261"/>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 name="TextBox 3">
            <a:extLst>
              <a:ext uri="{FF2B5EF4-FFF2-40B4-BE49-F238E27FC236}">
                <a16:creationId xmlns:a16="http://schemas.microsoft.com/office/drawing/2014/main" id="{77BB0425-4708-2E61-70FB-876C788A79E2}"/>
              </a:ext>
            </a:extLst>
          </p:cNvPr>
          <p:cNvSpPr txBox="1"/>
          <p:nvPr/>
        </p:nvSpPr>
        <p:spPr>
          <a:xfrm rot="16200000">
            <a:off x="-238228" y="2251765"/>
            <a:ext cx="1571596" cy="400110"/>
          </a:xfrm>
          <a:prstGeom prst="rect">
            <a:avLst/>
          </a:prstGeom>
          <a:noFill/>
        </p:spPr>
        <p:txBody>
          <a:bodyPr wrap="square" rtlCol="0">
            <a:spAutoFit/>
          </a:bodyPr>
          <a:lstStyle/>
          <a:p>
            <a:pPr algn="ctr"/>
            <a:r>
              <a:rPr lang="en-US" sz="2000" dirty="0"/>
              <a:t>Foundations </a:t>
            </a:r>
          </a:p>
        </p:txBody>
      </p:sp>
      <p:sp>
        <p:nvSpPr>
          <p:cNvPr id="5" name="Rectangle 4">
            <a:extLst>
              <a:ext uri="{FF2B5EF4-FFF2-40B4-BE49-F238E27FC236}">
                <a16:creationId xmlns:a16="http://schemas.microsoft.com/office/drawing/2014/main" id="{DAA42CDB-2EBC-28B2-6456-04829EC7EF48}"/>
              </a:ext>
            </a:extLst>
          </p:cNvPr>
          <p:cNvSpPr/>
          <p:nvPr/>
        </p:nvSpPr>
        <p:spPr>
          <a:xfrm>
            <a:off x="1259812" y="1983695"/>
            <a:ext cx="1951346" cy="125392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1. Hashing and K-V pair management </a:t>
            </a:r>
          </a:p>
        </p:txBody>
      </p:sp>
      <p:sp>
        <p:nvSpPr>
          <p:cNvPr id="6" name="Rectangle 5">
            <a:extLst>
              <a:ext uri="{FF2B5EF4-FFF2-40B4-BE49-F238E27FC236}">
                <a16:creationId xmlns:a16="http://schemas.microsoft.com/office/drawing/2014/main" id="{F5C7F060-78DB-AC42-6BFD-05BD50198440}"/>
              </a:ext>
            </a:extLst>
          </p:cNvPr>
          <p:cNvSpPr/>
          <p:nvPr/>
        </p:nvSpPr>
        <p:spPr>
          <a:xfrm>
            <a:off x="3740233" y="2021536"/>
            <a:ext cx="2157426" cy="117823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2. Distance and Similarity Metrics</a:t>
            </a:r>
          </a:p>
        </p:txBody>
      </p:sp>
      <p:sp>
        <p:nvSpPr>
          <p:cNvPr id="7" name="Rectangle 6">
            <a:extLst>
              <a:ext uri="{FF2B5EF4-FFF2-40B4-BE49-F238E27FC236}">
                <a16:creationId xmlns:a16="http://schemas.microsoft.com/office/drawing/2014/main" id="{F20B3888-4A09-E889-C7DE-5ECE32C17693}"/>
              </a:ext>
            </a:extLst>
          </p:cNvPr>
          <p:cNvSpPr/>
          <p:nvPr/>
        </p:nvSpPr>
        <p:spPr>
          <a:xfrm>
            <a:off x="6408020" y="2037908"/>
            <a:ext cx="2058805" cy="1213337"/>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3. Graph Algorithms</a:t>
            </a:r>
          </a:p>
        </p:txBody>
      </p:sp>
      <p:sp>
        <p:nvSpPr>
          <p:cNvPr id="8" name="Rectangle 7">
            <a:extLst>
              <a:ext uri="{FF2B5EF4-FFF2-40B4-BE49-F238E27FC236}">
                <a16:creationId xmlns:a16="http://schemas.microsoft.com/office/drawing/2014/main" id="{A234FC6E-068F-82BA-D948-0872902BF117}"/>
              </a:ext>
            </a:extLst>
          </p:cNvPr>
          <p:cNvSpPr/>
          <p:nvPr/>
        </p:nvSpPr>
        <p:spPr>
          <a:xfrm>
            <a:off x="1215334" y="3591320"/>
            <a:ext cx="2085982" cy="1074244"/>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2. Dimensionality Reduction</a:t>
            </a:r>
          </a:p>
        </p:txBody>
      </p:sp>
      <p:sp>
        <p:nvSpPr>
          <p:cNvPr id="10" name="Left Brace 9">
            <a:extLst>
              <a:ext uri="{FF2B5EF4-FFF2-40B4-BE49-F238E27FC236}">
                <a16:creationId xmlns:a16="http://schemas.microsoft.com/office/drawing/2014/main" id="{6B807C0C-B6B7-55FC-4A73-937C1A517C09}"/>
              </a:ext>
            </a:extLst>
          </p:cNvPr>
          <p:cNvSpPr/>
          <p:nvPr/>
        </p:nvSpPr>
        <p:spPr>
          <a:xfrm>
            <a:off x="865089" y="3571535"/>
            <a:ext cx="172578" cy="1094029"/>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a:extLst>
              <a:ext uri="{FF2B5EF4-FFF2-40B4-BE49-F238E27FC236}">
                <a16:creationId xmlns:a16="http://schemas.microsoft.com/office/drawing/2014/main" id="{CD0513D5-3561-EC84-E71B-4706879A90A1}"/>
              </a:ext>
            </a:extLst>
          </p:cNvPr>
          <p:cNvSpPr txBox="1"/>
          <p:nvPr/>
        </p:nvSpPr>
        <p:spPr>
          <a:xfrm rot="16200000">
            <a:off x="-286998" y="3724841"/>
            <a:ext cx="1571596" cy="707886"/>
          </a:xfrm>
          <a:prstGeom prst="rect">
            <a:avLst/>
          </a:prstGeom>
          <a:noFill/>
        </p:spPr>
        <p:txBody>
          <a:bodyPr wrap="square" rtlCol="0">
            <a:spAutoFit/>
          </a:bodyPr>
          <a:lstStyle/>
          <a:p>
            <a:pPr algn="ctr"/>
            <a:r>
              <a:rPr lang="en-US" sz="2000" dirty="0"/>
              <a:t>Core Algorithms</a:t>
            </a:r>
          </a:p>
        </p:txBody>
      </p:sp>
      <p:sp>
        <p:nvSpPr>
          <p:cNvPr id="12" name="Rectangle 11">
            <a:extLst>
              <a:ext uri="{FF2B5EF4-FFF2-40B4-BE49-F238E27FC236}">
                <a16:creationId xmlns:a16="http://schemas.microsoft.com/office/drawing/2014/main" id="{B042D63B-E913-3364-5865-54C574ED22CD}"/>
              </a:ext>
            </a:extLst>
          </p:cNvPr>
          <p:cNvSpPr/>
          <p:nvPr/>
        </p:nvSpPr>
        <p:spPr>
          <a:xfrm>
            <a:off x="1280175" y="5154275"/>
            <a:ext cx="1961804" cy="1264023"/>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3. Social Network Analysis</a:t>
            </a:r>
          </a:p>
        </p:txBody>
      </p:sp>
      <p:sp>
        <p:nvSpPr>
          <p:cNvPr id="14" name="Left Brace 13">
            <a:extLst>
              <a:ext uri="{FF2B5EF4-FFF2-40B4-BE49-F238E27FC236}">
                <a16:creationId xmlns:a16="http://schemas.microsoft.com/office/drawing/2014/main" id="{35E5DEDA-5FFD-FC06-5888-EB758D78C155}"/>
              </a:ext>
            </a:extLst>
          </p:cNvPr>
          <p:cNvSpPr/>
          <p:nvPr/>
        </p:nvSpPr>
        <p:spPr>
          <a:xfrm>
            <a:off x="858563" y="5154275"/>
            <a:ext cx="164275" cy="1264024"/>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TextBox 14">
            <a:extLst>
              <a:ext uri="{FF2B5EF4-FFF2-40B4-BE49-F238E27FC236}">
                <a16:creationId xmlns:a16="http://schemas.microsoft.com/office/drawing/2014/main" id="{3061D0C7-FA6D-00D7-CF2A-B875D7CF029B}"/>
              </a:ext>
            </a:extLst>
          </p:cNvPr>
          <p:cNvSpPr txBox="1"/>
          <p:nvPr/>
        </p:nvSpPr>
        <p:spPr>
          <a:xfrm rot="16200000">
            <a:off x="-322189" y="5405146"/>
            <a:ext cx="1571596" cy="707886"/>
          </a:xfrm>
          <a:prstGeom prst="rect">
            <a:avLst/>
          </a:prstGeom>
          <a:noFill/>
        </p:spPr>
        <p:txBody>
          <a:bodyPr wrap="square" rtlCol="0">
            <a:spAutoFit/>
          </a:bodyPr>
          <a:lstStyle/>
          <a:p>
            <a:pPr algn="ctr"/>
            <a:r>
              <a:rPr lang="en-US" sz="2000" dirty="0"/>
              <a:t>Taks </a:t>
            </a:r>
            <a:r>
              <a:rPr lang="en-US" sz="2000"/>
              <a:t>Speific </a:t>
            </a:r>
            <a:r>
              <a:rPr lang="en-US" sz="2000" dirty="0"/>
              <a:t>Algorithms</a:t>
            </a:r>
          </a:p>
        </p:txBody>
      </p:sp>
      <p:sp>
        <p:nvSpPr>
          <p:cNvPr id="16" name="Rectangle 15">
            <a:extLst>
              <a:ext uri="{FF2B5EF4-FFF2-40B4-BE49-F238E27FC236}">
                <a16:creationId xmlns:a16="http://schemas.microsoft.com/office/drawing/2014/main" id="{8BCB2792-FBF9-D76F-A378-7E6596D54E0F}"/>
              </a:ext>
            </a:extLst>
          </p:cNvPr>
          <p:cNvSpPr/>
          <p:nvPr/>
        </p:nvSpPr>
        <p:spPr>
          <a:xfrm>
            <a:off x="3811677" y="3631085"/>
            <a:ext cx="2085982" cy="10940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5. Similarity Search and NN Algorithms</a:t>
            </a:r>
          </a:p>
        </p:txBody>
      </p:sp>
      <p:sp>
        <p:nvSpPr>
          <p:cNvPr id="17" name="Rectangle 16">
            <a:extLst>
              <a:ext uri="{FF2B5EF4-FFF2-40B4-BE49-F238E27FC236}">
                <a16:creationId xmlns:a16="http://schemas.microsoft.com/office/drawing/2014/main" id="{9A8CAD2D-EC71-A5F3-683F-41BF65DE958F}"/>
              </a:ext>
            </a:extLst>
          </p:cNvPr>
          <p:cNvSpPr/>
          <p:nvPr/>
        </p:nvSpPr>
        <p:spPr>
          <a:xfrm>
            <a:off x="6408020" y="3640978"/>
            <a:ext cx="2038966" cy="1123564"/>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4. Online Algorithms</a:t>
            </a:r>
          </a:p>
        </p:txBody>
      </p:sp>
      <p:sp>
        <p:nvSpPr>
          <p:cNvPr id="18" name="Rectangle 17">
            <a:extLst>
              <a:ext uri="{FF2B5EF4-FFF2-40B4-BE49-F238E27FC236}">
                <a16:creationId xmlns:a16="http://schemas.microsoft.com/office/drawing/2014/main" id="{67EB3589-9BBE-D38D-C09A-C7A36757F4E1}"/>
              </a:ext>
            </a:extLst>
          </p:cNvPr>
          <p:cNvSpPr/>
          <p:nvPr/>
        </p:nvSpPr>
        <p:spPr>
          <a:xfrm>
            <a:off x="8985680" y="5155489"/>
            <a:ext cx="1894527" cy="126280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8. Clustering Algorithms</a:t>
            </a:r>
          </a:p>
        </p:txBody>
      </p:sp>
      <p:sp>
        <p:nvSpPr>
          <p:cNvPr id="20" name="Rectangle 19">
            <a:extLst>
              <a:ext uri="{FF2B5EF4-FFF2-40B4-BE49-F238E27FC236}">
                <a16:creationId xmlns:a16="http://schemas.microsoft.com/office/drawing/2014/main" id="{5C5EBFDB-140B-9B88-CE63-77419A11C6E4}"/>
              </a:ext>
            </a:extLst>
          </p:cNvPr>
          <p:cNvSpPr/>
          <p:nvPr/>
        </p:nvSpPr>
        <p:spPr>
          <a:xfrm>
            <a:off x="6470354" y="5154275"/>
            <a:ext cx="2016833" cy="124568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7. Recommender  Algorithms</a:t>
            </a:r>
          </a:p>
        </p:txBody>
      </p:sp>
      <p:sp>
        <p:nvSpPr>
          <p:cNvPr id="21" name="Rectangle 20">
            <a:extLst>
              <a:ext uri="{FF2B5EF4-FFF2-40B4-BE49-F238E27FC236}">
                <a16:creationId xmlns:a16="http://schemas.microsoft.com/office/drawing/2014/main" id="{69AB1FD0-27FA-3784-41E8-6432B45E080D}"/>
              </a:ext>
            </a:extLst>
          </p:cNvPr>
          <p:cNvSpPr/>
          <p:nvPr/>
        </p:nvSpPr>
        <p:spPr>
          <a:xfrm>
            <a:off x="3760595" y="5172609"/>
            <a:ext cx="2085981" cy="124568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6. Web/Document ranking and search</a:t>
            </a:r>
          </a:p>
        </p:txBody>
      </p:sp>
      <p:sp>
        <p:nvSpPr>
          <p:cNvPr id="22" name="Content Placeholder 2">
            <a:extLst>
              <a:ext uri="{FF2B5EF4-FFF2-40B4-BE49-F238E27FC236}">
                <a16:creationId xmlns:a16="http://schemas.microsoft.com/office/drawing/2014/main" id="{302608D4-DE73-B603-CD44-1D4BB221F2DE}"/>
              </a:ext>
            </a:extLst>
          </p:cNvPr>
          <p:cNvSpPr txBox="1">
            <a:spLocks/>
          </p:cNvSpPr>
          <p:nvPr/>
        </p:nvSpPr>
        <p:spPr>
          <a:xfrm>
            <a:off x="865089" y="797597"/>
            <a:ext cx="10515600" cy="85057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Graph algorithms are foundational for many data mining algorithms</a:t>
            </a:r>
          </a:p>
        </p:txBody>
      </p:sp>
    </p:spTree>
    <p:extLst>
      <p:ext uri="{BB962C8B-B14F-4D97-AF65-F5344CB8AC3E}">
        <p14:creationId xmlns:p14="http://schemas.microsoft.com/office/powerpoint/2010/main" val="5812348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5860F-6005-0C85-22AF-264CD7EBB3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976767-E59C-06A0-12E9-4B1CB9065704}"/>
              </a:ext>
            </a:extLst>
          </p:cNvPr>
          <p:cNvSpPr>
            <a:spLocks noGrp="1"/>
          </p:cNvSpPr>
          <p:nvPr>
            <p:ph type="title"/>
          </p:nvPr>
        </p:nvSpPr>
        <p:spPr>
          <a:xfrm>
            <a:off x="831850" y="1709739"/>
            <a:ext cx="10515600" cy="1838134"/>
          </a:xfrm>
        </p:spPr>
        <p:txBody>
          <a:bodyPr>
            <a:normAutofit/>
          </a:bodyPr>
          <a:lstStyle/>
          <a:p>
            <a:pPr algn="ctr"/>
            <a:r>
              <a:rPr lang="en-US" sz="3600" dirty="0">
                <a:latin typeface="+mn-lt"/>
              </a:rPr>
              <a:t>Introduction to Graph Theory</a:t>
            </a:r>
          </a:p>
        </p:txBody>
      </p:sp>
    </p:spTree>
    <p:extLst>
      <p:ext uri="{BB962C8B-B14F-4D97-AF65-F5344CB8AC3E}">
        <p14:creationId xmlns:p14="http://schemas.microsoft.com/office/powerpoint/2010/main" val="26095938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Graph algorithms are widely used for data mining</a:t>
            </a:r>
            <a:endParaRPr lang="en-US" dirty="0"/>
          </a:p>
        </p:txBody>
      </p:sp>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75447" y="1208868"/>
            <a:ext cx="10515600" cy="5447426"/>
          </a:xfrm>
        </p:spPr>
        <p:txBody>
          <a:bodyPr>
            <a:normAutofit/>
          </a:bodyPr>
          <a:lstStyle/>
          <a:p>
            <a:pPr marL="0" indent="0">
              <a:buNone/>
            </a:pPr>
            <a:r>
              <a:rPr lang="en-US" dirty="0"/>
              <a:t>Graph algorithms can be efficient and highly scalable  </a:t>
            </a:r>
          </a:p>
          <a:p>
            <a:r>
              <a:rPr lang="en-US" dirty="0"/>
              <a:t>Graphs are a natural choice of data structure in many cases</a:t>
            </a:r>
          </a:p>
          <a:p>
            <a:r>
              <a:rPr lang="en-US" dirty="0"/>
              <a:t>Applications include:</a:t>
            </a:r>
          </a:p>
          <a:p>
            <a:pPr lvl="1"/>
            <a:r>
              <a:rPr lang="en-US" dirty="0"/>
              <a:t>Dimensionality reduction</a:t>
            </a:r>
          </a:p>
          <a:p>
            <a:pPr lvl="1"/>
            <a:r>
              <a:rPr lang="en-US" dirty="0"/>
              <a:t>Social network analysis </a:t>
            </a:r>
          </a:p>
          <a:p>
            <a:pPr lvl="1"/>
            <a:r>
              <a:rPr lang="en-US" dirty="0"/>
              <a:t>Approximate nearest neighbor search</a:t>
            </a:r>
          </a:p>
          <a:p>
            <a:pPr lvl="1"/>
            <a:r>
              <a:rPr lang="en-US" dirty="0"/>
              <a:t>Recommender systems </a:t>
            </a:r>
          </a:p>
          <a:p>
            <a:pPr lvl="1"/>
            <a:r>
              <a:rPr lang="en-US" dirty="0"/>
              <a:t>Clustering models</a:t>
            </a:r>
          </a:p>
          <a:p>
            <a:pPr lvl="1"/>
            <a:r>
              <a:rPr lang="en-US" b="1" dirty="0"/>
              <a:t>Many more …</a:t>
            </a:r>
          </a:p>
          <a:p>
            <a:endParaRPr lang="en-US" dirty="0"/>
          </a:p>
          <a:p>
            <a:endParaRPr lang="en-US" dirty="0"/>
          </a:p>
        </p:txBody>
      </p:sp>
    </p:spTree>
    <p:extLst>
      <p:ext uri="{BB962C8B-B14F-4D97-AF65-F5344CB8AC3E}">
        <p14:creationId xmlns:p14="http://schemas.microsoft.com/office/powerpoint/2010/main" val="513003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2757D-9716-4C25-BA54-81C26D6EC04E}"/>
              </a:ext>
            </a:extLst>
          </p:cNvPr>
          <p:cNvSpPr>
            <a:spLocks noGrp="1"/>
          </p:cNvSpPr>
          <p:nvPr>
            <p:ph type="title"/>
          </p:nvPr>
        </p:nvSpPr>
        <p:spPr>
          <a:xfrm>
            <a:off x="838200" y="215696"/>
            <a:ext cx="10515600" cy="930682"/>
          </a:xfrm>
        </p:spPr>
        <p:txBody>
          <a:bodyPr>
            <a:normAutofit/>
          </a:bodyPr>
          <a:lstStyle/>
          <a:p>
            <a:r>
              <a:rPr lang="en-US" sz="4000" dirty="0">
                <a:latin typeface="+mn-lt"/>
              </a:rPr>
              <a:t>Introduction to Graph Theory Terminology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C502E2-3889-41D4-9A2E-D8C04ADE5184}"/>
                  </a:ext>
                </a:extLst>
              </p:cNvPr>
              <p:cNvSpPr>
                <a:spLocks noGrp="1"/>
              </p:cNvSpPr>
              <p:nvPr>
                <p:ph idx="1"/>
              </p:nvPr>
            </p:nvSpPr>
            <p:spPr>
              <a:xfrm>
                <a:off x="838200" y="1146378"/>
                <a:ext cx="10515600" cy="5536580"/>
              </a:xfrm>
            </p:spPr>
            <p:txBody>
              <a:bodyPr>
                <a:normAutofit lnSpcReduction="10000"/>
              </a:bodyPr>
              <a:lstStyle/>
              <a:p>
                <a:pPr marL="0" indent="0">
                  <a:buNone/>
                </a:pPr>
                <a:r>
                  <a:rPr lang="en-US" b="1" dirty="0"/>
                  <a:t>Graphs</a:t>
                </a:r>
                <a:r>
                  <a:rPr lang="en-US" dirty="0"/>
                  <a:t> are constructed from </a:t>
                </a:r>
                <a:r>
                  <a:rPr lang="en-US" b="1" dirty="0"/>
                  <a:t>nodes</a:t>
                </a:r>
                <a:r>
                  <a:rPr lang="en-US" dirty="0"/>
                  <a:t> or </a:t>
                </a:r>
                <a:r>
                  <a:rPr lang="en-US" b="1" dirty="0"/>
                  <a:t>vertices</a:t>
                </a:r>
                <a:r>
                  <a:rPr lang="en-US" dirty="0"/>
                  <a:t> connected by </a:t>
                </a:r>
                <a:r>
                  <a:rPr lang="en-US" b="1" dirty="0"/>
                  <a:t>edges </a:t>
                </a:r>
                <a:r>
                  <a:rPr lang="en-US" dirty="0"/>
                  <a:t>or</a:t>
                </a:r>
                <a:r>
                  <a:rPr lang="en-US" b="1" dirty="0"/>
                  <a:t> links</a:t>
                </a:r>
              </a:p>
              <a:p>
                <a:r>
                  <a:rPr lang="en-US" dirty="0"/>
                  <a:t>Formally, we say a </a:t>
                </a:r>
                <a:r>
                  <a:rPr lang="en-US" b="1" dirty="0"/>
                  <a:t>graph, </a:t>
                </a:r>
                <a14:m>
                  <m:oMath xmlns:m="http://schemas.openxmlformats.org/officeDocument/2006/math">
                    <m:r>
                      <a:rPr lang="en-US" b="1" i="1" smtClean="0">
                        <a:latin typeface="Cambria Math" panose="02040503050406030204" pitchFamily="18" charset="0"/>
                      </a:rPr>
                      <m:t>𝑮</m:t>
                    </m:r>
                    <m:r>
                      <a:rPr lang="en-US" b="1" i="1" smtClean="0">
                        <a:latin typeface="Cambria Math" panose="02040503050406030204" pitchFamily="18" charset="0"/>
                      </a:rPr>
                      <m:t>(</m:t>
                    </m:r>
                    <m:r>
                      <a:rPr lang="en-US" b="1" i="1" smtClean="0">
                        <a:latin typeface="Cambria Math" panose="02040503050406030204" pitchFamily="18" charset="0"/>
                      </a:rPr>
                      <m:t>𝑵</m:t>
                    </m:r>
                    <m:r>
                      <a:rPr lang="en-US" b="1" i="1" smtClean="0">
                        <a:latin typeface="Cambria Math" panose="02040503050406030204" pitchFamily="18" charset="0"/>
                      </a:rPr>
                      <m:t>,</m:t>
                    </m:r>
                    <m:r>
                      <a:rPr lang="en-US" b="1" i="1" smtClean="0">
                        <a:latin typeface="Cambria Math" panose="02040503050406030204" pitchFamily="18" charset="0"/>
                      </a:rPr>
                      <m:t>𝑬</m:t>
                    </m:r>
                    <m:r>
                      <a:rPr lang="en-US" b="1" i="1" smtClean="0">
                        <a:latin typeface="Cambria Math" panose="02040503050406030204" pitchFamily="18" charset="0"/>
                      </a:rPr>
                      <m:t>)</m:t>
                    </m:r>
                  </m:oMath>
                </a14:m>
                <a:r>
                  <a:rPr lang="en-US" b="1" dirty="0"/>
                  <a:t>, </a:t>
                </a:r>
                <a:r>
                  <a:rPr lang="en-US" dirty="0"/>
                  <a:t>is comprised of </a:t>
                </a:r>
                <a:r>
                  <a:rPr lang="en-US" b="1" dirty="0"/>
                  <a:t>nodes, </a:t>
                </a:r>
                <a14:m>
                  <m:oMath xmlns:m="http://schemas.openxmlformats.org/officeDocument/2006/math">
                    <m:r>
                      <a:rPr lang="en-US" b="1" i="1" smtClean="0">
                        <a:latin typeface="Cambria Math" panose="02040503050406030204" pitchFamily="18" charset="0"/>
                      </a:rPr>
                      <m:t>𝑵</m:t>
                    </m:r>
                  </m:oMath>
                </a14:m>
                <a:r>
                  <a:rPr lang="en-US" dirty="0"/>
                  <a:t>, connected by </a:t>
                </a:r>
                <a:r>
                  <a:rPr lang="en-US" b="1" dirty="0"/>
                  <a:t>edges or links, </a:t>
                </a:r>
                <a14:m>
                  <m:oMath xmlns:m="http://schemas.openxmlformats.org/officeDocument/2006/math">
                    <m:r>
                      <a:rPr lang="en-US" b="1" i="1" smtClean="0">
                        <a:latin typeface="Cambria Math" panose="02040503050406030204" pitchFamily="18" charset="0"/>
                      </a:rPr>
                      <m:t>𝑬</m:t>
                    </m:r>
                  </m:oMath>
                </a14:m>
                <a:endParaRPr lang="en-US" b="1" dirty="0"/>
              </a:p>
              <a:p>
                <a:r>
                  <a:rPr lang="en-US" b="1" dirty="0"/>
                  <a:t>Nodes</a:t>
                </a:r>
                <a:r>
                  <a:rPr lang="en-US" dirty="0"/>
                  <a:t> are unique entities within a graph </a:t>
                </a:r>
              </a:p>
              <a:p>
                <a:pPr lvl="1"/>
                <a:r>
                  <a:rPr lang="en-US" dirty="0"/>
                  <a:t>Nodes can have identifiers; e.g. numbers or names </a:t>
                </a:r>
              </a:p>
              <a:p>
                <a:pPr lvl="1"/>
                <a:r>
                  <a:rPr lang="en-US" dirty="0"/>
                  <a:t>Nodes can have properties, e.g. scalar and vector values, tables, unstructured values, hash buckets,… </a:t>
                </a:r>
              </a:p>
              <a:p>
                <a:pPr lvl="1"/>
                <a:r>
                  <a:rPr lang="en-US" dirty="0"/>
                  <a:t>e.g. web pages are nodes in a network  </a:t>
                </a:r>
              </a:p>
              <a:p>
                <a:r>
                  <a:rPr lang="en-US" b="1" dirty="0"/>
                  <a:t>Edges </a:t>
                </a:r>
                <a:r>
                  <a:rPr lang="en-US" dirty="0"/>
                  <a:t>or links connect pairs of nodes</a:t>
                </a:r>
              </a:p>
              <a:p>
                <a:pPr lvl="1"/>
                <a:r>
                  <a:rPr lang="en-US" dirty="0"/>
                  <a:t>Define edge</a:t>
                </a:r>
                <a14:m>
                  <m:oMath xmlns:m="http://schemas.openxmlformats.org/officeDocument/2006/math">
                    <m:r>
                      <a:rPr lang="en-US" b="0" i="1" smtClean="0">
                        <a:latin typeface="Cambria Math" panose="02040503050406030204" pitchFamily="18" charset="0"/>
                      </a:rPr>
                      <m:t> (</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rPr>
                      <m:t>)</m:t>
                    </m:r>
                  </m:oMath>
                </a14:m>
                <a:r>
                  <a:rPr lang="en-US" dirty="0"/>
                  <a:t> connecting nodes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𝑖</m:t>
                        </m:r>
                      </m:sub>
                    </m:sSub>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𝑗</m:t>
                        </m:r>
                      </m:sub>
                    </m:sSub>
                  </m:oMath>
                </a14:m>
                <a:endParaRPr lang="en-US" dirty="0"/>
              </a:p>
              <a:p>
                <a:pPr lvl="1"/>
                <a:r>
                  <a:rPr lang="en-US" dirty="0"/>
                  <a:t>Edges can be </a:t>
                </a:r>
                <a:r>
                  <a:rPr lang="en-US" b="1" dirty="0"/>
                  <a:t>unweighted</a:t>
                </a:r>
                <a:r>
                  <a:rPr lang="en-US" dirty="0"/>
                  <a:t> or </a:t>
                </a:r>
                <a:r>
                  <a:rPr lang="en-US" b="1" dirty="0"/>
                  <a:t>weighted </a:t>
                </a:r>
              </a:p>
              <a:p>
                <a:pPr lvl="1"/>
                <a:r>
                  <a:rPr lang="en-US" dirty="0"/>
                  <a:t>Edges can be </a:t>
                </a:r>
                <a:r>
                  <a:rPr lang="en-US" b="1" dirty="0"/>
                  <a:t>directed</a:t>
                </a:r>
                <a:r>
                  <a:rPr lang="en-US" dirty="0"/>
                  <a:t> or </a:t>
                </a:r>
                <a:r>
                  <a:rPr lang="en-US" b="1" dirty="0"/>
                  <a:t>undirected</a:t>
                </a:r>
                <a:r>
                  <a:rPr lang="en-US" dirty="0"/>
                  <a:t> </a:t>
                </a:r>
              </a:p>
              <a:p>
                <a:pPr lvl="1"/>
                <a:r>
                  <a:rPr lang="en-US" dirty="0"/>
                  <a:t>Nodes can have properties, e.g. weights  </a:t>
                </a:r>
              </a:p>
              <a:p>
                <a:pPr lvl="1"/>
                <a:endParaRPr lang="en-US" dirty="0"/>
              </a:p>
            </p:txBody>
          </p:sp>
        </mc:Choice>
        <mc:Fallback xmlns="">
          <p:sp>
            <p:nvSpPr>
              <p:cNvPr id="3" name="Content Placeholder 2">
                <a:extLst>
                  <a:ext uri="{FF2B5EF4-FFF2-40B4-BE49-F238E27FC236}">
                    <a16:creationId xmlns:a16="http://schemas.microsoft.com/office/drawing/2014/main" id="{D9C502E2-3889-41D4-9A2E-D8C04ADE5184}"/>
                  </a:ext>
                </a:extLst>
              </p:cNvPr>
              <p:cNvSpPr>
                <a:spLocks noGrp="1" noRot="1" noChangeAspect="1" noMove="1" noResize="1" noEditPoints="1" noAdjustHandles="1" noChangeArrowheads="1" noChangeShapeType="1" noTextEdit="1"/>
              </p:cNvSpPr>
              <p:nvPr>
                <p:ph idx="1"/>
              </p:nvPr>
            </p:nvSpPr>
            <p:spPr>
              <a:xfrm>
                <a:off x="838200" y="1146378"/>
                <a:ext cx="10515600" cy="5536580"/>
              </a:xfrm>
              <a:blipFill>
                <a:blip r:embed="rId2"/>
                <a:stretch>
                  <a:fillRect l="-1217" t="-2423" r="-696"/>
                </a:stretch>
              </a:blipFill>
            </p:spPr>
            <p:txBody>
              <a:bodyPr/>
              <a:lstStyle/>
              <a:p>
                <a:r>
                  <a:rPr lang="en-US">
                    <a:noFill/>
                  </a:rPr>
                  <a:t> </a:t>
                </a:r>
              </a:p>
            </p:txBody>
          </p:sp>
        </mc:Fallback>
      </mc:AlternateContent>
    </p:spTree>
    <p:extLst>
      <p:ext uri="{BB962C8B-B14F-4D97-AF65-F5344CB8AC3E}">
        <p14:creationId xmlns:p14="http://schemas.microsoft.com/office/powerpoint/2010/main" val="4081103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2757D-9716-4C25-BA54-81C26D6EC04E}"/>
              </a:ext>
            </a:extLst>
          </p:cNvPr>
          <p:cNvSpPr>
            <a:spLocks noGrp="1"/>
          </p:cNvSpPr>
          <p:nvPr>
            <p:ph type="title"/>
          </p:nvPr>
        </p:nvSpPr>
        <p:spPr>
          <a:xfrm>
            <a:off x="838200" y="215696"/>
            <a:ext cx="10515600" cy="930682"/>
          </a:xfrm>
        </p:spPr>
        <p:txBody>
          <a:bodyPr>
            <a:normAutofit/>
          </a:bodyPr>
          <a:lstStyle/>
          <a:p>
            <a:r>
              <a:rPr lang="en-US" sz="4000" dirty="0">
                <a:latin typeface="+mn-lt"/>
              </a:rPr>
              <a:t>Introduction to Graph Theory Terminology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C502E2-3889-41D4-9A2E-D8C04ADE5184}"/>
                  </a:ext>
                </a:extLst>
              </p:cNvPr>
              <p:cNvSpPr>
                <a:spLocks noGrp="1"/>
              </p:cNvSpPr>
              <p:nvPr>
                <p:ph idx="1"/>
              </p:nvPr>
            </p:nvSpPr>
            <p:spPr>
              <a:xfrm>
                <a:off x="838200" y="1146379"/>
                <a:ext cx="10515600" cy="5495926"/>
              </a:xfrm>
            </p:spPr>
            <p:txBody>
              <a:bodyPr>
                <a:normAutofit/>
              </a:bodyPr>
              <a:lstStyle/>
              <a:p>
                <a:pPr marL="0" indent="0">
                  <a:buNone/>
                </a:pPr>
                <a:r>
                  <a:rPr lang="en-US" b="1" dirty="0"/>
                  <a:t>Undirected graphs</a:t>
                </a:r>
                <a:r>
                  <a:rPr lang="en-US" dirty="0"/>
                  <a:t> are constructed from </a:t>
                </a:r>
                <a:r>
                  <a:rPr lang="en-US" b="1" dirty="0"/>
                  <a:t>nodes</a:t>
                </a:r>
                <a:r>
                  <a:rPr lang="en-US" dirty="0"/>
                  <a:t> or </a:t>
                </a:r>
                <a:r>
                  <a:rPr lang="en-US" b="1" dirty="0"/>
                  <a:t>vertices</a:t>
                </a:r>
                <a:r>
                  <a:rPr lang="en-US" dirty="0"/>
                  <a:t> connected by </a:t>
                </a:r>
                <a:r>
                  <a:rPr lang="en-US" b="1" dirty="0"/>
                  <a:t>undirected edges</a:t>
                </a:r>
              </a:p>
              <a:p>
                <a:r>
                  <a:rPr lang="en-US" dirty="0"/>
                  <a:t>An</a:t>
                </a:r>
                <a:r>
                  <a:rPr lang="en-US" b="1" dirty="0"/>
                  <a:t> undirected edge</a:t>
                </a:r>
                <a:r>
                  <a:rPr lang="en-US" dirty="0"/>
                  <a:t>, </a:t>
                </a:r>
                <a14:m>
                  <m:oMath xmlns:m="http://schemas.openxmlformats.org/officeDocument/2006/math">
                    <m:r>
                      <a:rPr lang="en-US" b="0" i="1" smtClean="0">
                        <a:latin typeface="Cambria Math" panose="02040503050406030204" pitchFamily="18" charset="0"/>
                      </a:rPr>
                      <m:t>𝑙</m:t>
                    </m:r>
                    <m:d>
                      <m:dPr>
                        <m:ctrlPr>
                          <a:rPr lang="en-US" b="0" i="1" smtClean="0">
                            <a:latin typeface="Cambria Math" panose="02040503050406030204" pitchFamily="18" charset="0"/>
                          </a:rPr>
                        </m:ctrlPr>
                      </m:dPr>
                      <m:e>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e>
                    </m:d>
                  </m:oMath>
                </a14:m>
                <a:r>
                  <a:rPr lang="en-US" dirty="0"/>
                  <a:t>, connects nodes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𝑖</m:t>
                        </m:r>
                      </m:sub>
                    </m:sSub>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𝑗</m:t>
                        </m:r>
                      </m:sub>
                    </m:sSub>
                  </m:oMath>
                </a14:m>
                <a:r>
                  <a:rPr lang="en-US" dirty="0"/>
                  <a:t> bidirectionally </a:t>
                </a:r>
              </a:p>
              <a:p>
                <a:r>
                  <a:rPr lang="en-US" dirty="0"/>
                  <a:t>Example: Facebook friends is a symmetric relationship </a:t>
                </a:r>
              </a:p>
              <a:p>
                <a:r>
                  <a:rPr lang="en-US" dirty="0"/>
                  <a:t>Example: A highway network allows travel in both directions  </a:t>
                </a:r>
              </a:p>
            </p:txBody>
          </p:sp>
        </mc:Choice>
        <mc:Fallback xmlns="">
          <p:sp>
            <p:nvSpPr>
              <p:cNvPr id="3" name="Content Placeholder 2">
                <a:extLst>
                  <a:ext uri="{FF2B5EF4-FFF2-40B4-BE49-F238E27FC236}">
                    <a16:creationId xmlns:a16="http://schemas.microsoft.com/office/drawing/2014/main" id="{D9C502E2-3889-41D4-9A2E-D8C04ADE5184}"/>
                  </a:ext>
                </a:extLst>
              </p:cNvPr>
              <p:cNvSpPr>
                <a:spLocks noGrp="1" noRot="1" noChangeAspect="1" noMove="1" noResize="1" noEditPoints="1" noAdjustHandles="1" noChangeArrowheads="1" noChangeShapeType="1" noTextEdit="1"/>
              </p:cNvSpPr>
              <p:nvPr>
                <p:ph idx="1"/>
              </p:nvPr>
            </p:nvSpPr>
            <p:spPr>
              <a:xfrm>
                <a:off x="838200" y="1146379"/>
                <a:ext cx="10515600" cy="5495926"/>
              </a:xfrm>
              <a:blipFill>
                <a:blip r:embed="rId2"/>
                <a:stretch>
                  <a:fillRect l="-1217" t="-1774"/>
                </a:stretch>
              </a:blipFill>
            </p:spPr>
            <p:txBody>
              <a:bodyPr/>
              <a:lstStyle/>
              <a:p>
                <a:r>
                  <a:rPr lang="en-US">
                    <a:noFill/>
                  </a:rPr>
                  <a:t> </a:t>
                </a:r>
              </a:p>
            </p:txBody>
          </p:sp>
        </mc:Fallback>
      </mc:AlternateContent>
    </p:spTree>
    <p:extLst>
      <p:ext uri="{BB962C8B-B14F-4D97-AF65-F5344CB8AC3E}">
        <p14:creationId xmlns:p14="http://schemas.microsoft.com/office/powerpoint/2010/main" val="443241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2757D-9716-4C25-BA54-81C26D6EC04E}"/>
              </a:ext>
            </a:extLst>
          </p:cNvPr>
          <p:cNvSpPr>
            <a:spLocks noGrp="1"/>
          </p:cNvSpPr>
          <p:nvPr>
            <p:ph type="title"/>
          </p:nvPr>
        </p:nvSpPr>
        <p:spPr>
          <a:xfrm>
            <a:off x="838200" y="215696"/>
            <a:ext cx="10515600" cy="930682"/>
          </a:xfrm>
        </p:spPr>
        <p:txBody>
          <a:bodyPr>
            <a:normAutofit/>
          </a:bodyPr>
          <a:lstStyle/>
          <a:p>
            <a:r>
              <a:rPr lang="en-US" sz="4000" dirty="0">
                <a:latin typeface="+mn-lt"/>
              </a:rPr>
              <a:t>Introduction to Graph Theory</a:t>
            </a:r>
          </a:p>
        </p:txBody>
      </p:sp>
      <p:sp>
        <p:nvSpPr>
          <p:cNvPr id="3" name="Content Placeholder 2">
            <a:extLst>
              <a:ext uri="{FF2B5EF4-FFF2-40B4-BE49-F238E27FC236}">
                <a16:creationId xmlns:a16="http://schemas.microsoft.com/office/drawing/2014/main" id="{D9C502E2-3889-41D4-9A2E-D8C04ADE5184}"/>
              </a:ext>
            </a:extLst>
          </p:cNvPr>
          <p:cNvSpPr>
            <a:spLocks noGrp="1"/>
          </p:cNvSpPr>
          <p:nvPr>
            <p:ph idx="1"/>
          </p:nvPr>
        </p:nvSpPr>
        <p:spPr>
          <a:xfrm>
            <a:off x="838200" y="1146379"/>
            <a:ext cx="10515600" cy="856817"/>
          </a:xfrm>
        </p:spPr>
        <p:txBody>
          <a:bodyPr>
            <a:normAutofit lnSpcReduction="10000"/>
          </a:bodyPr>
          <a:lstStyle/>
          <a:p>
            <a:pPr marL="0" indent="0">
              <a:buNone/>
            </a:pPr>
            <a:r>
              <a:rPr lang="en-US" b="1" dirty="0"/>
              <a:t>Directed graphs</a:t>
            </a:r>
            <a:r>
              <a:rPr lang="en-US" dirty="0"/>
              <a:t> are constructed from </a:t>
            </a:r>
            <a:r>
              <a:rPr lang="en-US" b="1" dirty="0"/>
              <a:t>nodes</a:t>
            </a:r>
            <a:r>
              <a:rPr lang="en-US" dirty="0"/>
              <a:t> or </a:t>
            </a:r>
            <a:r>
              <a:rPr lang="en-US" b="1" dirty="0"/>
              <a:t>vertices</a:t>
            </a:r>
            <a:r>
              <a:rPr lang="en-US" dirty="0"/>
              <a:t> connected by </a:t>
            </a:r>
            <a:r>
              <a:rPr lang="en-US" b="1" dirty="0"/>
              <a:t>directed edges</a:t>
            </a: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C9D1B286-A50E-29BB-C7D7-B06A74DE055B}"/>
                  </a:ext>
                </a:extLst>
              </p:cNvPr>
              <p:cNvSpPr txBox="1">
                <a:spLocks/>
              </p:cNvSpPr>
              <p:nvPr/>
            </p:nvSpPr>
            <p:spPr>
              <a:xfrm>
                <a:off x="838200" y="1976383"/>
                <a:ext cx="8027643" cy="479512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Networks are represented by an </a:t>
                </a:r>
                <a:r>
                  <a:rPr lang="en-US" b="1" dirty="0"/>
                  <a:t>association matrix</a:t>
                </a:r>
                <a:r>
                  <a:rPr lang="en-US" dirty="0"/>
                  <a:t>, </a:t>
                </a:r>
                <a14:m>
                  <m:oMath xmlns:m="http://schemas.openxmlformats.org/officeDocument/2006/math">
                    <m:r>
                      <a:rPr lang="en-US" i="1">
                        <a:latin typeface="Cambria Math" panose="02040503050406030204" pitchFamily="18" charset="0"/>
                      </a:rPr>
                      <m:t>𝐴</m:t>
                    </m:r>
                  </m:oMath>
                </a14:m>
                <a:endParaRPr lang="en-US" dirty="0"/>
              </a:p>
              <a:p>
                <a:r>
                  <a:rPr lang="en-US" dirty="0"/>
                  <a:t>Example; for small X network for row and column order [</a:t>
                </a:r>
                <a:r>
                  <a:rPr lang="en-US" dirty="0" err="1"/>
                  <a:t>Bob,Raj,Gigi,Asan,Mary</a:t>
                </a:r>
                <a:r>
                  <a:rPr lang="en-US" dirty="0"/>
                  <a:t>]: </a:t>
                </a:r>
              </a:p>
              <a:p>
                <a:pPr marL="0" indent="0">
                  <a:buNone/>
                </a:pPr>
                <a:endParaRPr lang="en-US" sz="1400" dirty="0"/>
              </a:p>
              <a:p>
                <a:pPr marL="0" indent="0">
                  <a:buNone/>
                </a:pPr>
                <a14:m>
                  <m:oMathPara xmlns:m="http://schemas.openxmlformats.org/officeDocument/2006/math">
                    <m:oMath>
                      <m:r>
                        <a:rPr lang="en-US" b="0" i="1" smtClean="0">
                          <a:latin typeface="Cambria Math" panose="02040503050406030204" pitchFamily="18" charset="0"/>
                        </a:rPr>
                        <m:t>𝐴</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3"/>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0</m:t>
                                </m:r>
                              </m:e>
                              <m:e>
                                <m:m>
                                  <m:mPr>
                                    <m:mcs>
                                      <m:mc>
                                        <m:mcPr>
                                          <m:count m:val="3"/>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0</m:t>
                                      </m:r>
                                    </m:e>
                                    <m:e>
                                      <m:r>
                                        <a:rPr lang="en-US" b="0" i="1" smtClean="0">
                                          <a:latin typeface="Cambria Math" panose="02040503050406030204" pitchFamily="18" charset="0"/>
                                        </a:rPr>
                                        <m:t>1</m:t>
                                      </m:r>
                                    </m:e>
                                  </m:mr>
                                </m:m>
                              </m:e>
                            </m:mr>
                            <m:mr>
                              <m:e>
                                <m:r>
                                  <a:rPr lang="en-US" b="0" i="1" smtClean="0">
                                    <a:latin typeface="Cambria Math" panose="02040503050406030204" pitchFamily="18" charset="0"/>
                                  </a:rPr>
                                  <m:t>1</m:t>
                                </m:r>
                              </m:e>
                              <m:e>
                                <m:r>
                                  <a:rPr lang="en-US" b="0" i="1" smtClean="0">
                                    <a:latin typeface="Cambria Math" panose="02040503050406030204" pitchFamily="18" charset="0"/>
                                  </a:rPr>
                                  <m:t>0</m:t>
                                </m:r>
                              </m:e>
                              <m:e>
                                <m:m>
                                  <m:mPr>
                                    <m:mcs>
                                      <m:mc>
                                        <m:mcPr>
                                          <m:count m:val="3"/>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a:rPr lang="en-US" b="0" i="1" smtClean="0">
                                          <a:latin typeface="Cambria Math" panose="02040503050406030204" pitchFamily="18" charset="0"/>
                                        </a:rPr>
                                        <m:t>0</m:t>
                                      </m:r>
                                    </m:e>
                                    <m:e>
                                      <m:r>
                                        <a:rPr lang="en-US" b="0" i="1" smtClean="0">
                                          <a:latin typeface="Cambria Math" panose="02040503050406030204" pitchFamily="18" charset="0"/>
                                        </a:rPr>
                                        <m:t>0</m:t>
                                      </m:r>
                                    </m:e>
                                  </m:mr>
                                </m:m>
                              </m:e>
                            </m:mr>
                            <m:mr>
                              <m:e>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1</m:t>
                                      </m:r>
                                    </m:e>
                                  </m:mr>
                                  <m:mr>
                                    <m:e>
                                      <m:r>
                                        <a:rPr lang="en-US" b="0" i="1" smtClean="0">
                                          <a:latin typeface="Cambria Math" panose="02040503050406030204" pitchFamily="18" charset="0"/>
                                        </a:rPr>
                                        <m:t>0</m:t>
                                      </m:r>
                                    </m:e>
                                  </m:mr>
                                  <m:mr>
                                    <m:e>
                                      <m:r>
                                        <a:rPr lang="en-US" b="0" i="1" smtClean="0">
                                          <a:latin typeface="Cambria Math" panose="02040503050406030204" pitchFamily="18" charset="0"/>
                                        </a:rPr>
                                        <m:t>0</m:t>
                                      </m:r>
                                    </m:e>
                                  </m:mr>
                                </m:m>
                              </m:e>
                              <m:e>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1</m:t>
                                      </m:r>
                                    </m:e>
                                  </m:mr>
                                  <m:mr>
                                    <m:e>
                                      <m:r>
                                        <a:rPr lang="en-US" b="0" i="1" smtClean="0">
                                          <a:latin typeface="Cambria Math" panose="02040503050406030204" pitchFamily="18" charset="0"/>
                                        </a:rPr>
                                        <m:t>0</m:t>
                                      </m:r>
                                    </m:e>
                                  </m:mr>
                                  <m:mr>
                                    <m:e>
                                      <m:r>
                                        <a:rPr lang="en-US" b="0" i="1" smtClean="0">
                                          <a:latin typeface="Cambria Math" panose="02040503050406030204" pitchFamily="18" charset="0"/>
                                        </a:rPr>
                                        <m:t>0</m:t>
                                      </m:r>
                                    </m:e>
                                  </m:mr>
                                </m:m>
                              </m:e>
                              <m:e>
                                <m:m>
                                  <m:mPr>
                                    <m:mcs>
                                      <m:mc>
                                        <m:mcPr>
                                          <m:count m:val="3"/>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0</m:t>
                                      </m:r>
                                    </m:e>
                                    <m:e>
                                      <m:r>
                                        <a:rPr lang="en-US" b="0" i="1" smtClean="0">
                                          <a:latin typeface="Cambria Math" panose="02040503050406030204" pitchFamily="18" charset="0"/>
                                        </a:rPr>
                                        <m:t>1</m:t>
                                      </m:r>
                                    </m:e>
                                    <m:e>
                                      <m:r>
                                        <a:rPr lang="en-US" b="0" i="1" smtClean="0">
                                          <a:latin typeface="Cambria Math" panose="02040503050406030204" pitchFamily="18" charset="0"/>
                                        </a:rPr>
                                        <m:t>0</m:t>
                                      </m:r>
                                    </m:e>
                                  </m:mr>
                                  <m:mr>
                                    <m:e>
                                      <m:r>
                                        <a:rPr lang="en-US" b="0" i="1" smtClean="0">
                                          <a:latin typeface="Cambria Math" panose="02040503050406030204" pitchFamily="18" charset="0"/>
                                        </a:rPr>
                                        <m:t>0</m:t>
                                      </m:r>
                                    </m:e>
                                    <m:e>
                                      <m:r>
                                        <a:rPr lang="en-US" b="0" i="1" smtClean="0">
                                          <a:latin typeface="Cambria Math" panose="02040503050406030204" pitchFamily="18" charset="0"/>
                                        </a:rPr>
                                        <m:t>0</m:t>
                                      </m:r>
                                    </m:e>
                                    <m:e>
                                      <m:r>
                                        <a:rPr lang="en-US" b="0" i="1" smtClean="0">
                                          <a:latin typeface="Cambria Math" panose="02040503050406030204" pitchFamily="18" charset="0"/>
                                        </a:rPr>
                                        <m:t>0</m:t>
                                      </m:r>
                                    </m:e>
                                  </m:mr>
                                  <m:mr>
                                    <m:e>
                                      <m:r>
                                        <a:rPr lang="en-US" b="0" i="1" smtClean="0">
                                          <a:latin typeface="Cambria Math" panose="02040503050406030204" pitchFamily="18" charset="0"/>
                                        </a:rPr>
                                        <m:t>1</m:t>
                                      </m:r>
                                    </m:e>
                                    <m:e>
                                      <m:r>
                                        <a:rPr lang="en-US" b="0" i="1" smtClean="0">
                                          <a:latin typeface="Cambria Math" panose="02040503050406030204" pitchFamily="18" charset="0"/>
                                        </a:rPr>
                                        <m:t>0</m:t>
                                      </m:r>
                                    </m:e>
                                    <m:e>
                                      <m:r>
                                        <a:rPr lang="en-US" b="0" i="1" smtClean="0">
                                          <a:latin typeface="Cambria Math" panose="02040503050406030204" pitchFamily="18" charset="0"/>
                                        </a:rPr>
                                        <m:t>0</m:t>
                                      </m:r>
                                    </m:e>
                                  </m:mr>
                                </m:m>
                              </m:e>
                            </m:mr>
                          </m:m>
                        </m:e>
                      </m:d>
                    </m:oMath>
                  </m:oMathPara>
                </a14:m>
                <a:endParaRPr lang="en-US" dirty="0"/>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r>
                      <a:rPr lang="en-US" b="0" i="1" smtClean="0">
                        <a:latin typeface="Cambria Math" panose="02040503050406030204" pitchFamily="18" charset="0"/>
                      </a:rPr>
                      <m:t>=1, </m:t>
                    </m:r>
                    <m:r>
                      <a:rPr lang="en-US" b="0" i="1" smtClean="0">
                        <a:latin typeface="Cambria Math" panose="02040503050406030204" pitchFamily="18" charset="0"/>
                      </a:rPr>
                      <m:t>𝑖𝑓𝑓</m:t>
                    </m:r>
                  </m:oMath>
                </a14:m>
                <a:r>
                  <a:rPr lang="en-US" dirty="0"/>
                  <a:t> directed edge from </a:t>
                </a:r>
                <a14:m>
                  <m:oMath xmlns:m="http://schemas.openxmlformats.org/officeDocument/2006/math">
                    <m:r>
                      <a:rPr lang="en-US" b="0" i="1" smtClean="0">
                        <a:latin typeface="Cambria Math" panose="02040503050406030204" pitchFamily="18" charset="0"/>
                      </a:rPr>
                      <m:t>𝑗</m:t>
                    </m:r>
                  </m:oMath>
                </a14:m>
                <a:r>
                  <a:rPr lang="en-US" dirty="0"/>
                  <a:t> to </a:t>
                </a:r>
                <a14:m>
                  <m:oMath xmlns:m="http://schemas.openxmlformats.org/officeDocument/2006/math">
                    <m:r>
                      <a:rPr lang="en-US" b="0" i="1" smtClean="0">
                        <a:latin typeface="Cambria Math" panose="02040503050406030204" pitchFamily="18" charset="0"/>
                      </a:rPr>
                      <m:t>𝑖</m:t>
                    </m:r>
                  </m:oMath>
                </a14:m>
                <a:r>
                  <a:rPr lang="en-US" dirty="0"/>
                  <a:t> </a:t>
                </a:r>
              </a:p>
              <a:p>
                <a:r>
                  <a:rPr lang="en-US" dirty="0"/>
                  <a:t>Directed graph association matrix is </a:t>
                </a:r>
                <a:r>
                  <a:rPr lang="en-US" b="1" dirty="0"/>
                  <a:t>asymmetric</a:t>
                </a:r>
                <a:r>
                  <a:rPr lang="en-US" dirty="0"/>
                  <a:t> since generally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Sub>
                    <m:r>
                      <a:rPr lang="en-US"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b="0" i="1" smtClean="0">
                            <a:latin typeface="Cambria Math" panose="02040503050406030204" pitchFamily="18" charset="0"/>
                          </a:rPr>
                          <m:t>𝑗</m:t>
                        </m:r>
                        <m:r>
                          <a:rPr lang="en-US" i="1">
                            <a:latin typeface="Cambria Math" panose="02040503050406030204" pitchFamily="18" charset="0"/>
                          </a:rPr>
                          <m:t>,</m:t>
                        </m:r>
                        <m:r>
                          <a:rPr lang="en-US" b="0" i="1" smtClean="0">
                            <a:latin typeface="Cambria Math" panose="02040503050406030204" pitchFamily="18" charset="0"/>
                          </a:rPr>
                          <m:t>𝑖</m:t>
                        </m:r>
                      </m:sub>
                    </m:sSub>
                  </m:oMath>
                </a14:m>
                <a:endParaRPr lang="en-US" dirty="0"/>
              </a:p>
              <a:p>
                <a:endParaRPr lang="en-US" dirty="0"/>
              </a:p>
            </p:txBody>
          </p:sp>
        </mc:Choice>
        <mc:Fallback xmlns="">
          <p:sp>
            <p:nvSpPr>
              <p:cNvPr id="4" name="Content Placeholder 2">
                <a:extLst>
                  <a:ext uri="{FF2B5EF4-FFF2-40B4-BE49-F238E27FC236}">
                    <a16:creationId xmlns:a16="http://schemas.microsoft.com/office/drawing/2014/main" id="{C9D1B286-A50E-29BB-C7D7-B06A74DE055B}"/>
                  </a:ext>
                </a:extLst>
              </p:cNvPr>
              <p:cNvSpPr txBox="1">
                <a:spLocks noRot="1" noChangeAspect="1" noMove="1" noResize="1" noEditPoints="1" noAdjustHandles="1" noChangeArrowheads="1" noChangeShapeType="1" noTextEdit="1"/>
              </p:cNvSpPr>
              <p:nvPr/>
            </p:nvSpPr>
            <p:spPr>
              <a:xfrm>
                <a:off x="838200" y="1976383"/>
                <a:ext cx="8027643" cy="4795120"/>
              </a:xfrm>
              <a:prstGeom prst="rect">
                <a:avLst/>
              </a:prstGeom>
              <a:blipFill>
                <a:blip r:embed="rId2"/>
                <a:stretch>
                  <a:fillRect l="-1596" t="-2795"/>
                </a:stretch>
              </a:blipFill>
            </p:spPr>
            <p:txBody>
              <a:bodyPr/>
              <a:lstStyle/>
              <a:p>
                <a:r>
                  <a:rPr lang="en-US">
                    <a:noFill/>
                  </a:rPr>
                  <a:t> </a:t>
                </a:r>
              </a:p>
            </p:txBody>
          </p:sp>
        </mc:Fallback>
      </mc:AlternateContent>
      <p:sp>
        <p:nvSpPr>
          <p:cNvPr id="5" name="Oval 4">
            <a:extLst>
              <a:ext uri="{FF2B5EF4-FFF2-40B4-BE49-F238E27FC236}">
                <a16:creationId xmlns:a16="http://schemas.microsoft.com/office/drawing/2014/main" id="{FA471341-5FEB-82C2-9469-65303EEFB2CC}"/>
              </a:ext>
            </a:extLst>
          </p:cNvPr>
          <p:cNvSpPr/>
          <p:nvPr/>
        </p:nvSpPr>
        <p:spPr>
          <a:xfrm>
            <a:off x="9419670" y="2625771"/>
            <a:ext cx="1053276" cy="957052"/>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Bob</a:t>
            </a:r>
          </a:p>
        </p:txBody>
      </p:sp>
      <p:sp>
        <p:nvSpPr>
          <p:cNvPr id="6" name="Oval 5">
            <a:extLst>
              <a:ext uri="{FF2B5EF4-FFF2-40B4-BE49-F238E27FC236}">
                <a16:creationId xmlns:a16="http://schemas.microsoft.com/office/drawing/2014/main" id="{356D8232-0A3F-67A8-98DA-406FFAD14F7D}"/>
              </a:ext>
            </a:extLst>
          </p:cNvPr>
          <p:cNvSpPr/>
          <p:nvPr/>
        </p:nvSpPr>
        <p:spPr>
          <a:xfrm>
            <a:off x="10902926" y="2116962"/>
            <a:ext cx="996778" cy="957051"/>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Raj</a:t>
            </a:r>
          </a:p>
        </p:txBody>
      </p:sp>
      <p:sp>
        <p:nvSpPr>
          <p:cNvPr id="7" name="Oval 6">
            <a:extLst>
              <a:ext uri="{FF2B5EF4-FFF2-40B4-BE49-F238E27FC236}">
                <a16:creationId xmlns:a16="http://schemas.microsoft.com/office/drawing/2014/main" id="{C0D29C6E-C7F0-44AA-65C5-1435927DC9EC}"/>
              </a:ext>
            </a:extLst>
          </p:cNvPr>
          <p:cNvSpPr/>
          <p:nvPr/>
        </p:nvSpPr>
        <p:spPr>
          <a:xfrm>
            <a:off x="9543699" y="4020500"/>
            <a:ext cx="1053276" cy="957052"/>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Mary</a:t>
            </a:r>
          </a:p>
        </p:txBody>
      </p:sp>
      <p:sp>
        <p:nvSpPr>
          <p:cNvPr id="9" name="Oval 8">
            <a:extLst>
              <a:ext uri="{FF2B5EF4-FFF2-40B4-BE49-F238E27FC236}">
                <a16:creationId xmlns:a16="http://schemas.microsoft.com/office/drawing/2014/main" id="{600CE6E5-2E51-DA2F-2354-011F21458123}"/>
              </a:ext>
            </a:extLst>
          </p:cNvPr>
          <p:cNvSpPr/>
          <p:nvPr/>
        </p:nvSpPr>
        <p:spPr>
          <a:xfrm>
            <a:off x="10845035" y="3662410"/>
            <a:ext cx="1053276" cy="957052"/>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Gigi</a:t>
            </a:r>
          </a:p>
        </p:txBody>
      </p:sp>
      <p:sp>
        <p:nvSpPr>
          <p:cNvPr id="10" name="Oval 9">
            <a:extLst>
              <a:ext uri="{FF2B5EF4-FFF2-40B4-BE49-F238E27FC236}">
                <a16:creationId xmlns:a16="http://schemas.microsoft.com/office/drawing/2014/main" id="{2015839D-CEF0-5DC5-C3C1-0303BF18F0F3}"/>
              </a:ext>
            </a:extLst>
          </p:cNvPr>
          <p:cNvSpPr/>
          <p:nvPr/>
        </p:nvSpPr>
        <p:spPr>
          <a:xfrm>
            <a:off x="10845035" y="4977552"/>
            <a:ext cx="1053276" cy="957052"/>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Asan</a:t>
            </a:r>
          </a:p>
        </p:txBody>
      </p:sp>
      <p:cxnSp>
        <p:nvCxnSpPr>
          <p:cNvPr id="12" name="Straight Connector 11">
            <a:extLst>
              <a:ext uri="{FF2B5EF4-FFF2-40B4-BE49-F238E27FC236}">
                <a16:creationId xmlns:a16="http://schemas.microsoft.com/office/drawing/2014/main" id="{610FF0E3-2F88-3699-999D-6A863C20BA86}"/>
              </a:ext>
            </a:extLst>
          </p:cNvPr>
          <p:cNvCxnSpPr>
            <a:cxnSpLocks/>
            <a:stCxn id="5" idx="7"/>
            <a:endCxn id="6" idx="2"/>
          </p:cNvCxnSpPr>
          <p:nvPr/>
        </p:nvCxnSpPr>
        <p:spPr>
          <a:xfrm flipV="1">
            <a:off x="10318697" y="2595488"/>
            <a:ext cx="584229" cy="17044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E66A233-C1CD-1A6A-D06D-FCBE3ADEAC79}"/>
              </a:ext>
            </a:extLst>
          </p:cNvPr>
          <p:cNvCxnSpPr>
            <a:cxnSpLocks/>
            <a:stCxn id="6" idx="4"/>
            <a:endCxn id="9" idx="0"/>
          </p:cNvCxnSpPr>
          <p:nvPr/>
        </p:nvCxnSpPr>
        <p:spPr>
          <a:xfrm flipH="1">
            <a:off x="11371673" y="3074013"/>
            <a:ext cx="29642" cy="588397"/>
          </a:xfrm>
          <a:prstGeom prst="line">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C3C4BD6-CA82-0C61-F0F2-B5A617A473D2}"/>
              </a:ext>
            </a:extLst>
          </p:cNvPr>
          <p:cNvCxnSpPr>
            <a:cxnSpLocks/>
            <a:stCxn id="9" idx="4"/>
            <a:endCxn id="10" idx="0"/>
          </p:cNvCxnSpPr>
          <p:nvPr/>
        </p:nvCxnSpPr>
        <p:spPr>
          <a:xfrm>
            <a:off x="11371673" y="4619462"/>
            <a:ext cx="0" cy="358090"/>
          </a:xfrm>
          <a:prstGeom prst="line">
            <a:avLst/>
          </a:prstGeom>
          <a:ln w="25400">
            <a:solidFill>
              <a:schemeClr val="tx1"/>
            </a:solidFill>
            <a:headEnd type="triangle" w="lg" len="med"/>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D259FBE-FF43-741B-88D6-584B3BC3AB2A}"/>
              </a:ext>
            </a:extLst>
          </p:cNvPr>
          <p:cNvCxnSpPr>
            <a:cxnSpLocks/>
            <a:stCxn id="7" idx="6"/>
            <a:endCxn id="9" idx="3"/>
          </p:cNvCxnSpPr>
          <p:nvPr/>
        </p:nvCxnSpPr>
        <p:spPr>
          <a:xfrm flipV="1">
            <a:off x="10596975" y="4479305"/>
            <a:ext cx="402309" cy="19721"/>
          </a:xfrm>
          <a:prstGeom prst="line">
            <a:avLst/>
          </a:prstGeom>
          <a:ln w="25400">
            <a:solidFill>
              <a:schemeClr val="tx1"/>
            </a:solidFill>
            <a:headEnd type="triangl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C67E1D8-B2B4-B696-CAC2-BF943F44B9FC}"/>
              </a:ext>
            </a:extLst>
          </p:cNvPr>
          <p:cNvCxnSpPr>
            <a:cxnSpLocks/>
            <a:stCxn id="7" idx="0"/>
            <a:endCxn id="5" idx="4"/>
          </p:cNvCxnSpPr>
          <p:nvPr/>
        </p:nvCxnSpPr>
        <p:spPr>
          <a:xfrm flipH="1" flipV="1">
            <a:off x="9946308" y="3582823"/>
            <a:ext cx="124029" cy="437677"/>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03E1252F-3CF3-8812-5A09-45CB63C0903A}"/>
              </a:ext>
            </a:extLst>
          </p:cNvPr>
          <p:cNvCxnSpPr>
            <a:cxnSpLocks/>
            <a:stCxn id="9" idx="2"/>
            <a:endCxn id="5" idx="5"/>
          </p:cNvCxnSpPr>
          <p:nvPr/>
        </p:nvCxnSpPr>
        <p:spPr>
          <a:xfrm flipH="1" flipV="1">
            <a:off x="10318697" y="3442666"/>
            <a:ext cx="526338" cy="69827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6353117F-EAD1-E0E7-CE04-41E7249C22A3}"/>
              </a:ext>
            </a:extLst>
          </p:cNvPr>
          <p:cNvCxnSpPr>
            <a:cxnSpLocks/>
            <a:stCxn id="5" idx="6"/>
            <a:endCxn id="9" idx="1"/>
          </p:cNvCxnSpPr>
          <p:nvPr/>
        </p:nvCxnSpPr>
        <p:spPr>
          <a:xfrm>
            <a:off x="10472946" y="3104297"/>
            <a:ext cx="526338" cy="69827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Freeform: Shape 29">
            <a:extLst>
              <a:ext uri="{FF2B5EF4-FFF2-40B4-BE49-F238E27FC236}">
                <a16:creationId xmlns:a16="http://schemas.microsoft.com/office/drawing/2014/main" id="{4F2AA076-C9EE-31D2-7C0E-DE4E4FF80A33}"/>
              </a:ext>
            </a:extLst>
          </p:cNvPr>
          <p:cNvSpPr/>
          <p:nvPr/>
        </p:nvSpPr>
        <p:spPr>
          <a:xfrm rot="1531544">
            <a:off x="8934100" y="2382063"/>
            <a:ext cx="715838" cy="952874"/>
          </a:xfrm>
          <a:custGeom>
            <a:avLst/>
            <a:gdLst>
              <a:gd name="connsiteX0" fmla="*/ 666411 w 715838"/>
              <a:gd name="connsiteY0" fmla="*/ 795085 h 952874"/>
              <a:gd name="connsiteX1" fmla="*/ 252460 w 715838"/>
              <a:gd name="connsiteY1" fmla="*/ 943366 h 952874"/>
              <a:gd name="connsiteX2" fmla="*/ 5325 w 715838"/>
              <a:gd name="connsiteY2" fmla="*/ 554129 h 952874"/>
              <a:gd name="connsiteX3" fmla="*/ 481060 w 715838"/>
              <a:gd name="connsiteY3" fmla="*/ 22788 h 952874"/>
              <a:gd name="connsiteX4" fmla="*/ 715838 w 715838"/>
              <a:gd name="connsiteY4" fmla="*/ 53680 h 9528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5838" h="952874">
                <a:moveTo>
                  <a:pt x="666411" y="795085"/>
                </a:moveTo>
                <a:cubicBezTo>
                  <a:pt x="514526" y="889305"/>
                  <a:pt x="362641" y="983525"/>
                  <a:pt x="252460" y="943366"/>
                </a:cubicBezTo>
                <a:cubicBezTo>
                  <a:pt x="142279" y="903207"/>
                  <a:pt x="-32775" y="707559"/>
                  <a:pt x="5325" y="554129"/>
                </a:cubicBezTo>
                <a:cubicBezTo>
                  <a:pt x="43425" y="400699"/>
                  <a:pt x="362641" y="106196"/>
                  <a:pt x="481060" y="22788"/>
                </a:cubicBezTo>
                <a:cubicBezTo>
                  <a:pt x="599479" y="-60620"/>
                  <a:pt x="688035" y="116493"/>
                  <a:pt x="715838" y="53680"/>
                </a:cubicBezTo>
              </a:path>
            </a:pathLst>
          </a:custGeom>
          <a:noFill/>
          <a:ln w="254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60252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3" end="3"/>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0" grpId="0" animBg="1"/>
      <p:bldP spid="3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2757D-9716-4C25-BA54-81C26D6EC04E}"/>
              </a:ext>
            </a:extLst>
          </p:cNvPr>
          <p:cNvSpPr>
            <a:spLocks noGrp="1"/>
          </p:cNvSpPr>
          <p:nvPr>
            <p:ph type="title"/>
          </p:nvPr>
        </p:nvSpPr>
        <p:spPr>
          <a:xfrm>
            <a:off x="838200" y="215696"/>
            <a:ext cx="10515600" cy="930682"/>
          </a:xfrm>
        </p:spPr>
        <p:txBody>
          <a:bodyPr>
            <a:normAutofit/>
          </a:bodyPr>
          <a:lstStyle/>
          <a:p>
            <a:r>
              <a:rPr lang="en-US" sz="4000" dirty="0">
                <a:latin typeface="+mn-lt"/>
              </a:rPr>
              <a:t>Introduction to Graph Theory</a:t>
            </a:r>
          </a:p>
        </p:txBody>
      </p:sp>
      <p:sp>
        <p:nvSpPr>
          <p:cNvPr id="3" name="Content Placeholder 2">
            <a:extLst>
              <a:ext uri="{FF2B5EF4-FFF2-40B4-BE49-F238E27FC236}">
                <a16:creationId xmlns:a16="http://schemas.microsoft.com/office/drawing/2014/main" id="{D9C502E2-3889-41D4-9A2E-D8C04ADE5184}"/>
              </a:ext>
            </a:extLst>
          </p:cNvPr>
          <p:cNvSpPr>
            <a:spLocks noGrp="1"/>
          </p:cNvSpPr>
          <p:nvPr>
            <p:ph idx="1"/>
          </p:nvPr>
        </p:nvSpPr>
        <p:spPr>
          <a:xfrm>
            <a:off x="838200" y="1146379"/>
            <a:ext cx="10515600" cy="856817"/>
          </a:xfrm>
        </p:spPr>
        <p:txBody>
          <a:bodyPr>
            <a:normAutofit lnSpcReduction="10000"/>
          </a:bodyPr>
          <a:lstStyle/>
          <a:p>
            <a:pPr marL="0" indent="0">
              <a:buNone/>
            </a:pPr>
            <a:r>
              <a:rPr lang="en-US" b="1" dirty="0"/>
              <a:t>Directed graphs</a:t>
            </a:r>
            <a:r>
              <a:rPr lang="en-US" dirty="0"/>
              <a:t> are constructed from </a:t>
            </a:r>
            <a:r>
              <a:rPr lang="en-US" b="1" dirty="0"/>
              <a:t>nodes</a:t>
            </a:r>
            <a:r>
              <a:rPr lang="en-US" dirty="0"/>
              <a:t> or </a:t>
            </a:r>
            <a:r>
              <a:rPr lang="en-US" b="1" dirty="0"/>
              <a:t>vertices</a:t>
            </a:r>
            <a:r>
              <a:rPr lang="en-US" dirty="0"/>
              <a:t> connected by </a:t>
            </a:r>
            <a:r>
              <a:rPr lang="en-US" b="1" dirty="0"/>
              <a:t>directed edges</a:t>
            </a: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C9D1B286-A50E-29BB-C7D7-B06A74DE055B}"/>
                  </a:ext>
                </a:extLst>
              </p:cNvPr>
              <p:cNvSpPr txBox="1">
                <a:spLocks/>
              </p:cNvSpPr>
              <p:nvPr/>
            </p:nvSpPr>
            <p:spPr>
              <a:xfrm>
                <a:off x="838200" y="1976383"/>
                <a:ext cx="8027643" cy="4795120"/>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Networks are represented by an </a:t>
                </a:r>
                <a:r>
                  <a:rPr lang="en-US" b="1" dirty="0"/>
                  <a:t>association matrix</a:t>
                </a:r>
                <a:r>
                  <a:rPr lang="en-US" dirty="0"/>
                  <a:t>, </a:t>
                </a:r>
                <a14:m>
                  <m:oMath xmlns:m="http://schemas.openxmlformats.org/officeDocument/2006/math">
                    <m:r>
                      <a:rPr lang="en-US" i="1">
                        <a:latin typeface="Cambria Math" panose="02040503050406030204" pitchFamily="18" charset="0"/>
                      </a:rPr>
                      <m:t>𝐴</m:t>
                    </m:r>
                  </m:oMath>
                </a14:m>
                <a:endParaRPr lang="en-US" dirty="0"/>
              </a:p>
              <a:p>
                <a:pPr marL="0" indent="0">
                  <a:buNone/>
                </a:pPr>
                <a:endParaRPr lang="en-US" sz="1400" dirty="0"/>
              </a:p>
              <a:p>
                <a:pPr marL="0" indent="0">
                  <a:buNone/>
                </a:pPr>
                <a14:m>
                  <m:oMathPara xmlns:m="http://schemas.openxmlformats.org/officeDocument/2006/math">
                    <m:oMath>
                      <m:r>
                        <a:rPr lang="en-US" b="0" i="1" smtClean="0">
                          <a:latin typeface="Cambria Math" panose="02040503050406030204" pitchFamily="18" charset="0"/>
                        </a:rPr>
                        <m:t>𝐴</m:t>
                      </m:r>
                      <m:r>
                        <a:rPr lang="en-US" b="0" i="1" smtClean="0">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3"/>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1</m:t>
                                </m:r>
                              </m:e>
                              <m:e>
                                <m:r>
                                  <a:rPr lang="en-US" i="1">
                                    <a:latin typeface="Cambria Math" panose="02040503050406030204" pitchFamily="18" charset="0"/>
                                  </a:rPr>
                                  <m:t>0</m:t>
                                </m:r>
                              </m:e>
                              <m:e>
                                <m:m>
                                  <m:mPr>
                                    <m:mcs>
                                      <m:mc>
                                        <m:mcPr>
                                          <m:count m:val="3"/>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1</m:t>
                                      </m:r>
                                    </m:e>
                                    <m:e>
                                      <m:r>
                                        <a:rPr lang="en-US" i="1">
                                          <a:latin typeface="Cambria Math" panose="02040503050406030204" pitchFamily="18" charset="0"/>
                                        </a:rPr>
                                        <m:t>0</m:t>
                                      </m:r>
                                    </m:e>
                                    <m:e>
                                      <m:r>
                                        <a:rPr lang="en-US" i="1">
                                          <a:latin typeface="Cambria Math" panose="02040503050406030204" pitchFamily="18" charset="0"/>
                                        </a:rPr>
                                        <m:t>1</m:t>
                                      </m:r>
                                    </m:e>
                                  </m:mr>
                                </m:m>
                              </m:e>
                            </m:mr>
                            <m:mr>
                              <m:e>
                                <m:r>
                                  <a:rPr lang="en-US" i="1">
                                    <a:latin typeface="Cambria Math" panose="02040503050406030204" pitchFamily="18" charset="0"/>
                                  </a:rPr>
                                  <m:t>1</m:t>
                                </m:r>
                              </m:e>
                              <m:e>
                                <m:r>
                                  <a:rPr lang="en-US" i="1">
                                    <a:latin typeface="Cambria Math" panose="02040503050406030204" pitchFamily="18" charset="0"/>
                                  </a:rPr>
                                  <m:t>0</m:t>
                                </m:r>
                              </m:e>
                              <m:e>
                                <m:m>
                                  <m:mPr>
                                    <m:mcs>
                                      <m:mc>
                                        <m:mcPr>
                                          <m:count m:val="3"/>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0</m:t>
                                      </m:r>
                                    </m:e>
                                    <m:e>
                                      <m:r>
                                        <a:rPr lang="en-US" i="1">
                                          <a:latin typeface="Cambria Math" panose="02040503050406030204" pitchFamily="18" charset="0"/>
                                        </a:rPr>
                                        <m:t>0</m:t>
                                      </m:r>
                                    </m:e>
                                    <m:e>
                                      <m:r>
                                        <a:rPr lang="en-US" i="1">
                                          <a:latin typeface="Cambria Math" panose="02040503050406030204" pitchFamily="18" charset="0"/>
                                        </a:rPr>
                                        <m:t>0</m:t>
                                      </m:r>
                                    </m:e>
                                  </m:mr>
                                </m:m>
                              </m:e>
                            </m:mr>
                            <m:mr>
                              <m:e>
                                <m:m>
                                  <m:mPr>
                                    <m:mcs>
                                      <m:mc>
                                        <m:mcPr>
                                          <m:count m:val="1"/>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1</m:t>
                                      </m:r>
                                    </m:e>
                                  </m:mr>
                                  <m:mr>
                                    <m:e>
                                      <m:r>
                                        <a:rPr lang="en-US" i="1">
                                          <a:latin typeface="Cambria Math" panose="02040503050406030204" pitchFamily="18" charset="0"/>
                                        </a:rPr>
                                        <m:t>0</m:t>
                                      </m:r>
                                    </m:e>
                                  </m:mr>
                                  <m:mr>
                                    <m:e>
                                      <m:r>
                                        <a:rPr lang="en-US" i="1">
                                          <a:latin typeface="Cambria Math" panose="02040503050406030204" pitchFamily="18" charset="0"/>
                                        </a:rPr>
                                        <m:t>0</m:t>
                                      </m:r>
                                    </m:e>
                                  </m:mr>
                                </m:m>
                              </m:e>
                              <m:e>
                                <m:m>
                                  <m:mPr>
                                    <m:mcs>
                                      <m:mc>
                                        <m:mcPr>
                                          <m:count m:val="1"/>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1</m:t>
                                      </m:r>
                                    </m:e>
                                  </m:mr>
                                  <m:mr>
                                    <m:e>
                                      <m:r>
                                        <a:rPr lang="en-US" i="1">
                                          <a:latin typeface="Cambria Math" panose="02040503050406030204" pitchFamily="18" charset="0"/>
                                        </a:rPr>
                                        <m:t>0</m:t>
                                      </m:r>
                                    </m:e>
                                  </m:mr>
                                  <m:mr>
                                    <m:e>
                                      <m:r>
                                        <a:rPr lang="en-US" i="1">
                                          <a:latin typeface="Cambria Math" panose="02040503050406030204" pitchFamily="18" charset="0"/>
                                        </a:rPr>
                                        <m:t>0</m:t>
                                      </m:r>
                                    </m:e>
                                  </m:mr>
                                </m:m>
                              </m:e>
                              <m:e>
                                <m:m>
                                  <m:mPr>
                                    <m:mcs>
                                      <m:mc>
                                        <m:mcPr>
                                          <m:count m:val="3"/>
                                          <m:mcJc m:val="center"/>
                                        </m:mcPr>
                                      </m:mc>
                                    </m:mcs>
                                    <m:ctrlPr>
                                      <a:rPr lang="en-US" i="1">
                                        <a:latin typeface="Cambria Math" panose="02040503050406030204" pitchFamily="18" charset="0"/>
                                      </a:rPr>
                                    </m:ctrlPr>
                                  </m:mPr>
                                  <m:mr>
                                    <m:e>
                                      <m:r>
                                        <a:rPr lang="en-US" i="1">
                                          <a:latin typeface="Cambria Math" panose="02040503050406030204" pitchFamily="18" charset="0"/>
                                        </a:rPr>
                                        <m:t>0</m:t>
                                      </m:r>
                                    </m:e>
                                    <m:e>
                                      <m:r>
                                        <a:rPr lang="en-US" i="1">
                                          <a:latin typeface="Cambria Math" panose="02040503050406030204" pitchFamily="18" charset="0"/>
                                        </a:rPr>
                                        <m:t>1</m:t>
                                      </m:r>
                                    </m:e>
                                    <m:e>
                                      <m:r>
                                        <a:rPr lang="en-US" i="1">
                                          <a:latin typeface="Cambria Math" panose="02040503050406030204" pitchFamily="18" charset="0"/>
                                        </a:rPr>
                                        <m:t>0</m:t>
                                      </m:r>
                                    </m:e>
                                  </m:mr>
                                  <m:mr>
                                    <m:e>
                                      <m:r>
                                        <a:rPr lang="en-US" i="1">
                                          <a:latin typeface="Cambria Math" panose="02040503050406030204" pitchFamily="18" charset="0"/>
                                        </a:rPr>
                                        <m:t>0</m:t>
                                      </m:r>
                                    </m:e>
                                    <m:e>
                                      <m:r>
                                        <a:rPr lang="en-US" i="1">
                                          <a:latin typeface="Cambria Math" panose="02040503050406030204" pitchFamily="18" charset="0"/>
                                        </a:rPr>
                                        <m:t>0</m:t>
                                      </m:r>
                                    </m:e>
                                    <m:e>
                                      <m:r>
                                        <a:rPr lang="en-US" i="1">
                                          <a:latin typeface="Cambria Math" panose="02040503050406030204" pitchFamily="18" charset="0"/>
                                        </a:rPr>
                                        <m:t>0</m:t>
                                      </m:r>
                                    </m:e>
                                  </m:mr>
                                  <m:mr>
                                    <m:e>
                                      <m:r>
                                        <a:rPr lang="en-US" i="1">
                                          <a:latin typeface="Cambria Math" panose="02040503050406030204" pitchFamily="18" charset="0"/>
                                        </a:rPr>
                                        <m:t>1</m:t>
                                      </m:r>
                                    </m:e>
                                    <m:e>
                                      <m:r>
                                        <a:rPr lang="en-US" i="1">
                                          <a:latin typeface="Cambria Math" panose="02040503050406030204" pitchFamily="18" charset="0"/>
                                        </a:rPr>
                                        <m:t>0</m:t>
                                      </m:r>
                                    </m:e>
                                    <m:e>
                                      <m:r>
                                        <a:rPr lang="en-US" i="1">
                                          <a:latin typeface="Cambria Math" panose="02040503050406030204" pitchFamily="18" charset="0"/>
                                        </a:rPr>
                                        <m:t>0</m:t>
                                      </m:r>
                                    </m:e>
                                  </m:mr>
                                </m:m>
                              </m:e>
                            </m:mr>
                          </m:m>
                        </m:e>
                      </m:d>
                    </m:oMath>
                  </m:oMathPara>
                </a14:m>
                <a:endParaRPr lang="en-US" dirty="0"/>
              </a:p>
              <a:p>
                <a:r>
                  <a:rPr lang="en-US" dirty="0"/>
                  <a:t>Example; Bob follows Gigi, Mary and himself, a </a:t>
                </a:r>
                <a:r>
                  <a:rPr lang="en-US" b="1" dirty="0"/>
                  <a:t>self loop</a:t>
                </a:r>
                <a:endParaRPr lang="en-US" dirty="0"/>
              </a:p>
              <a:p>
                <a:r>
                  <a:rPr lang="en-US" dirty="0"/>
                  <a:t>Example; Gigi follows Bob and Bob follows Gigi, two directed edges</a:t>
                </a:r>
              </a:p>
              <a:p>
                <a:r>
                  <a:rPr lang="en-US" dirty="0"/>
                  <a:t>Example; No one follows Asan, a </a:t>
                </a:r>
                <a:r>
                  <a:rPr lang="en-US" b="1" dirty="0"/>
                  <a:t>dead end </a:t>
                </a:r>
                <a:r>
                  <a:rPr lang="en-US" dirty="0"/>
                  <a:t>or </a:t>
                </a:r>
                <a:r>
                  <a:rPr lang="en-US" b="1" dirty="0"/>
                  <a:t>terminal node</a:t>
                </a:r>
              </a:p>
              <a:p>
                <a:endParaRPr lang="en-US" dirty="0"/>
              </a:p>
            </p:txBody>
          </p:sp>
        </mc:Choice>
        <mc:Fallback xmlns="">
          <p:sp>
            <p:nvSpPr>
              <p:cNvPr id="4" name="Content Placeholder 2">
                <a:extLst>
                  <a:ext uri="{FF2B5EF4-FFF2-40B4-BE49-F238E27FC236}">
                    <a16:creationId xmlns:a16="http://schemas.microsoft.com/office/drawing/2014/main" id="{C9D1B286-A50E-29BB-C7D7-B06A74DE055B}"/>
                  </a:ext>
                </a:extLst>
              </p:cNvPr>
              <p:cNvSpPr txBox="1">
                <a:spLocks noRot="1" noChangeAspect="1" noMove="1" noResize="1" noEditPoints="1" noAdjustHandles="1" noChangeArrowheads="1" noChangeShapeType="1" noTextEdit="1"/>
              </p:cNvSpPr>
              <p:nvPr/>
            </p:nvSpPr>
            <p:spPr>
              <a:xfrm>
                <a:off x="838200" y="1976383"/>
                <a:ext cx="8027643" cy="4795120"/>
              </a:xfrm>
              <a:prstGeom prst="rect">
                <a:avLst/>
              </a:prstGeom>
              <a:blipFill>
                <a:blip r:embed="rId2"/>
                <a:stretch>
                  <a:fillRect l="-1368" t="-1906"/>
                </a:stretch>
              </a:blipFill>
            </p:spPr>
            <p:txBody>
              <a:bodyPr/>
              <a:lstStyle/>
              <a:p>
                <a:r>
                  <a:rPr lang="en-US">
                    <a:noFill/>
                  </a:rPr>
                  <a:t> </a:t>
                </a:r>
              </a:p>
            </p:txBody>
          </p:sp>
        </mc:Fallback>
      </mc:AlternateContent>
      <p:sp>
        <p:nvSpPr>
          <p:cNvPr id="5" name="Oval 4">
            <a:extLst>
              <a:ext uri="{FF2B5EF4-FFF2-40B4-BE49-F238E27FC236}">
                <a16:creationId xmlns:a16="http://schemas.microsoft.com/office/drawing/2014/main" id="{FA471341-5FEB-82C2-9469-65303EEFB2CC}"/>
              </a:ext>
            </a:extLst>
          </p:cNvPr>
          <p:cNvSpPr/>
          <p:nvPr/>
        </p:nvSpPr>
        <p:spPr>
          <a:xfrm>
            <a:off x="9419670" y="2625771"/>
            <a:ext cx="1053276" cy="957052"/>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Bob</a:t>
            </a:r>
          </a:p>
        </p:txBody>
      </p:sp>
      <p:sp>
        <p:nvSpPr>
          <p:cNvPr id="6" name="Oval 5">
            <a:extLst>
              <a:ext uri="{FF2B5EF4-FFF2-40B4-BE49-F238E27FC236}">
                <a16:creationId xmlns:a16="http://schemas.microsoft.com/office/drawing/2014/main" id="{356D8232-0A3F-67A8-98DA-406FFAD14F7D}"/>
              </a:ext>
            </a:extLst>
          </p:cNvPr>
          <p:cNvSpPr/>
          <p:nvPr/>
        </p:nvSpPr>
        <p:spPr>
          <a:xfrm>
            <a:off x="10902926" y="2116962"/>
            <a:ext cx="996778" cy="957051"/>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Raj</a:t>
            </a:r>
          </a:p>
        </p:txBody>
      </p:sp>
      <p:sp>
        <p:nvSpPr>
          <p:cNvPr id="7" name="Oval 6">
            <a:extLst>
              <a:ext uri="{FF2B5EF4-FFF2-40B4-BE49-F238E27FC236}">
                <a16:creationId xmlns:a16="http://schemas.microsoft.com/office/drawing/2014/main" id="{C0D29C6E-C7F0-44AA-65C5-1435927DC9EC}"/>
              </a:ext>
            </a:extLst>
          </p:cNvPr>
          <p:cNvSpPr/>
          <p:nvPr/>
        </p:nvSpPr>
        <p:spPr>
          <a:xfrm>
            <a:off x="9543699" y="4020500"/>
            <a:ext cx="1053276" cy="957052"/>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Mary</a:t>
            </a:r>
          </a:p>
        </p:txBody>
      </p:sp>
      <p:sp>
        <p:nvSpPr>
          <p:cNvPr id="9" name="Oval 8">
            <a:extLst>
              <a:ext uri="{FF2B5EF4-FFF2-40B4-BE49-F238E27FC236}">
                <a16:creationId xmlns:a16="http://schemas.microsoft.com/office/drawing/2014/main" id="{600CE6E5-2E51-DA2F-2354-011F21458123}"/>
              </a:ext>
            </a:extLst>
          </p:cNvPr>
          <p:cNvSpPr/>
          <p:nvPr/>
        </p:nvSpPr>
        <p:spPr>
          <a:xfrm>
            <a:off x="10845035" y="3662410"/>
            <a:ext cx="1053276" cy="957052"/>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Gigi</a:t>
            </a:r>
          </a:p>
        </p:txBody>
      </p:sp>
      <p:sp>
        <p:nvSpPr>
          <p:cNvPr id="10" name="Oval 9">
            <a:extLst>
              <a:ext uri="{FF2B5EF4-FFF2-40B4-BE49-F238E27FC236}">
                <a16:creationId xmlns:a16="http://schemas.microsoft.com/office/drawing/2014/main" id="{2015839D-CEF0-5DC5-C3C1-0303BF18F0F3}"/>
              </a:ext>
            </a:extLst>
          </p:cNvPr>
          <p:cNvSpPr/>
          <p:nvPr/>
        </p:nvSpPr>
        <p:spPr>
          <a:xfrm>
            <a:off x="10845035" y="4977552"/>
            <a:ext cx="1053276" cy="957052"/>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Asan</a:t>
            </a:r>
          </a:p>
        </p:txBody>
      </p:sp>
      <p:cxnSp>
        <p:nvCxnSpPr>
          <p:cNvPr id="12" name="Straight Connector 11">
            <a:extLst>
              <a:ext uri="{FF2B5EF4-FFF2-40B4-BE49-F238E27FC236}">
                <a16:creationId xmlns:a16="http://schemas.microsoft.com/office/drawing/2014/main" id="{610FF0E3-2F88-3699-999D-6A863C20BA86}"/>
              </a:ext>
            </a:extLst>
          </p:cNvPr>
          <p:cNvCxnSpPr>
            <a:cxnSpLocks/>
            <a:stCxn id="5" idx="7"/>
            <a:endCxn id="6" idx="2"/>
          </p:cNvCxnSpPr>
          <p:nvPr/>
        </p:nvCxnSpPr>
        <p:spPr>
          <a:xfrm flipV="1">
            <a:off x="10318697" y="2595488"/>
            <a:ext cx="584229" cy="17044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E66A233-C1CD-1A6A-D06D-FCBE3ADEAC79}"/>
              </a:ext>
            </a:extLst>
          </p:cNvPr>
          <p:cNvCxnSpPr>
            <a:cxnSpLocks/>
            <a:stCxn id="6" idx="4"/>
            <a:endCxn id="9" idx="0"/>
          </p:cNvCxnSpPr>
          <p:nvPr/>
        </p:nvCxnSpPr>
        <p:spPr>
          <a:xfrm flipH="1">
            <a:off x="11371673" y="3074013"/>
            <a:ext cx="29642" cy="588397"/>
          </a:xfrm>
          <a:prstGeom prst="line">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C3C4BD6-CA82-0C61-F0F2-B5A617A473D2}"/>
              </a:ext>
            </a:extLst>
          </p:cNvPr>
          <p:cNvCxnSpPr>
            <a:cxnSpLocks/>
            <a:stCxn id="9" idx="4"/>
            <a:endCxn id="10" idx="0"/>
          </p:cNvCxnSpPr>
          <p:nvPr/>
        </p:nvCxnSpPr>
        <p:spPr>
          <a:xfrm>
            <a:off x="11371673" y="4619462"/>
            <a:ext cx="0" cy="358090"/>
          </a:xfrm>
          <a:prstGeom prst="line">
            <a:avLst/>
          </a:prstGeom>
          <a:ln w="25400">
            <a:solidFill>
              <a:schemeClr val="tx1"/>
            </a:solidFill>
            <a:headEnd type="triangle" w="lg" len="med"/>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D259FBE-FF43-741B-88D6-584B3BC3AB2A}"/>
              </a:ext>
            </a:extLst>
          </p:cNvPr>
          <p:cNvCxnSpPr>
            <a:cxnSpLocks/>
            <a:stCxn id="7" idx="6"/>
            <a:endCxn id="9" idx="3"/>
          </p:cNvCxnSpPr>
          <p:nvPr/>
        </p:nvCxnSpPr>
        <p:spPr>
          <a:xfrm flipV="1">
            <a:off x="10596975" y="4479305"/>
            <a:ext cx="402309" cy="19721"/>
          </a:xfrm>
          <a:prstGeom prst="line">
            <a:avLst/>
          </a:prstGeom>
          <a:ln w="25400">
            <a:solidFill>
              <a:schemeClr val="tx1"/>
            </a:solidFill>
            <a:headEnd type="triangl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C67E1D8-B2B4-B696-CAC2-BF943F44B9FC}"/>
              </a:ext>
            </a:extLst>
          </p:cNvPr>
          <p:cNvCxnSpPr>
            <a:cxnSpLocks/>
            <a:stCxn id="7" idx="0"/>
            <a:endCxn id="5" idx="4"/>
          </p:cNvCxnSpPr>
          <p:nvPr/>
        </p:nvCxnSpPr>
        <p:spPr>
          <a:xfrm flipH="1" flipV="1">
            <a:off x="9946308" y="3582823"/>
            <a:ext cx="124029" cy="437677"/>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03E1252F-3CF3-8812-5A09-45CB63C0903A}"/>
              </a:ext>
            </a:extLst>
          </p:cNvPr>
          <p:cNvCxnSpPr>
            <a:cxnSpLocks/>
            <a:stCxn id="9" idx="2"/>
            <a:endCxn id="5" idx="5"/>
          </p:cNvCxnSpPr>
          <p:nvPr/>
        </p:nvCxnSpPr>
        <p:spPr>
          <a:xfrm flipH="1" flipV="1">
            <a:off x="10318697" y="3442666"/>
            <a:ext cx="526338" cy="69827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6353117F-EAD1-E0E7-CE04-41E7249C22A3}"/>
              </a:ext>
            </a:extLst>
          </p:cNvPr>
          <p:cNvCxnSpPr>
            <a:cxnSpLocks/>
            <a:stCxn id="5" idx="6"/>
            <a:endCxn id="9" idx="1"/>
          </p:cNvCxnSpPr>
          <p:nvPr/>
        </p:nvCxnSpPr>
        <p:spPr>
          <a:xfrm>
            <a:off x="10472946" y="3104297"/>
            <a:ext cx="526338" cy="69827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Freeform: Shape 29">
            <a:extLst>
              <a:ext uri="{FF2B5EF4-FFF2-40B4-BE49-F238E27FC236}">
                <a16:creationId xmlns:a16="http://schemas.microsoft.com/office/drawing/2014/main" id="{4F2AA076-C9EE-31D2-7C0E-DE4E4FF80A33}"/>
              </a:ext>
            </a:extLst>
          </p:cNvPr>
          <p:cNvSpPr/>
          <p:nvPr/>
        </p:nvSpPr>
        <p:spPr>
          <a:xfrm rot="1531544">
            <a:off x="8934100" y="2382063"/>
            <a:ext cx="715838" cy="952874"/>
          </a:xfrm>
          <a:custGeom>
            <a:avLst/>
            <a:gdLst>
              <a:gd name="connsiteX0" fmla="*/ 666411 w 715838"/>
              <a:gd name="connsiteY0" fmla="*/ 795085 h 952874"/>
              <a:gd name="connsiteX1" fmla="*/ 252460 w 715838"/>
              <a:gd name="connsiteY1" fmla="*/ 943366 h 952874"/>
              <a:gd name="connsiteX2" fmla="*/ 5325 w 715838"/>
              <a:gd name="connsiteY2" fmla="*/ 554129 h 952874"/>
              <a:gd name="connsiteX3" fmla="*/ 481060 w 715838"/>
              <a:gd name="connsiteY3" fmla="*/ 22788 h 952874"/>
              <a:gd name="connsiteX4" fmla="*/ 715838 w 715838"/>
              <a:gd name="connsiteY4" fmla="*/ 53680 h 9528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5838" h="952874">
                <a:moveTo>
                  <a:pt x="666411" y="795085"/>
                </a:moveTo>
                <a:cubicBezTo>
                  <a:pt x="514526" y="889305"/>
                  <a:pt x="362641" y="983525"/>
                  <a:pt x="252460" y="943366"/>
                </a:cubicBezTo>
                <a:cubicBezTo>
                  <a:pt x="142279" y="903207"/>
                  <a:pt x="-32775" y="707559"/>
                  <a:pt x="5325" y="554129"/>
                </a:cubicBezTo>
                <a:cubicBezTo>
                  <a:pt x="43425" y="400699"/>
                  <a:pt x="362641" y="106196"/>
                  <a:pt x="481060" y="22788"/>
                </a:cubicBezTo>
                <a:cubicBezTo>
                  <a:pt x="599479" y="-60620"/>
                  <a:pt x="688035" y="116493"/>
                  <a:pt x="715838" y="53680"/>
                </a:cubicBezTo>
              </a:path>
            </a:pathLst>
          </a:custGeom>
          <a:noFill/>
          <a:ln w="254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43408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2757D-9716-4C25-BA54-81C26D6EC04E}"/>
              </a:ext>
            </a:extLst>
          </p:cNvPr>
          <p:cNvSpPr>
            <a:spLocks noGrp="1"/>
          </p:cNvSpPr>
          <p:nvPr>
            <p:ph type="title"/>
          </p:nvPr>
        </p:nvSpPr>
        <p:spPr>
          <a:xfrm>
            <a:off x="838200" y="215696"/>
            <a:ext cx="10515600" cy="930682"/>
          </a:xfrm>
        </p:spPr>
        <p:txBody>
          <a:bodyPr>
            <a:normAutofit/>
          </a:bodyPr>
          <a:lstStyle/>
          <a:p>
            <a:r>
              <a:rPr lang="en-US" sz="4000" dirty="0">
                <a:latin typeface="+mn-lt"/>
              </a:rPr>
              <a:t>Introduction to Graph Theory</a:t>
            </a:r>
          </a:p>
        </p:txBody>
      </p:sp>
      <p:sp>
        <p:nvSpPr>
          <p:cNvPr id="3" name="Content Placeholder 2">
            <a:extLst>
              <a:ext uri="{FF2B5EF4-FFF2-40B4-BE49-F238E27FC236}">
                <a16:creationId xmlns:a16="http://schemas.microsoft.com/office/drawing/2014/main" id="{D9C502E2-3889-41D4-9A2E-D8C04ADE5184}"/>
              </a:ext>
            </a:extLst>
          </p:cNvPr>
          <p:cNvSpPr>
            <a:spLocks noGrp="1"/>
          </p:cNvSpPr>
          <p:nvPr>
            <p:ph idx="1"/>
          </p:nvPr>
        </p:nvSpPr>
        <p:spPr>
          <a:xfrm>
            <a:off x="838200" y="1146379"/>
            <a:ext cx="10515600" cy="856817"/>
          </a:xfrm>
        </p:spPr>
        <p:txBody>
          <a:bodyPr>
            <a:normAutofit lnSpcReduction="10000"/>
          </a:bodyPr>
          <a:lstStyle/>
          <a:p>
            <a:pPr marL="0" indent="0">
              <a:buNone/>
            </a:pPr>
            <a:r>
              <a:rPr lang="en-US" b="1" dirty="0"/>
              <a:t>Directed graphs</a:t>
            </a:r>
            <a:r>
              <a:rPr lang="en-US" dirty="0"/>
              <a:t> are constructed from </a:t>
            </a:r>
            <a:r>
              <a:rPr lang="en-US" b="1" dirty="0"/>
              <a:t>nodes</a:t>
            </a:r>
            <a:r>
              <a:rPr lang="en-US" dirty="0"/>
              <a:t> or </a:t>
            </a:r>
            <a:r>
              <a:rPr lang="en-US" b="1" dirty="0"/>
              <a:t>vertices</a:t>
            </a:r>
            <a:r>
              <a:rPr lang="en-US" dirty="0"/>
              <a:t> connected by </a:t>
            </a:r>
            <a:r>
              <a:rPr lang="en-US" b="1" dirty="0"/>
              <a:t>directed edges</a:t>
            </a: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C9D1B286-A50E-29BB-C7D7-B06A74DE055B}"/>
                  </a:ext>
                </a:extLst>
              </p:cNvPr>
              <p:cNvSpPr txBox="1">
                <a:spLocks/>
              </p:cNvSpPr>
              <p:nvPr/>
            </p:nvSpPr>
            <p:spPr>
              <a:xfrm>
                <a:off x="838200" y="1976383"/>
                <a:ext cx="8027643" cy="47951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Networks are represented by an </a:t>
                </a:r>
                <a:r>
                  <a:rPr lang="en-US" b="1" dirty="0"/>
                  <a:t>association matrix</a:t>
                </a:r>
                <a:r>
                  <a:rPr lang="en-US" dirty="0"/>
                  <a:t>, </a:t>
                </a:r>
                <a14:m>
                  <m:oMath xmlns:m="http://schemas.openxmlformats.org/officeDocument/2006/math">
                    <m:r>
                      <a:rPr lang="en-US" i="1">
                        <a:latin typeface="Cambria Math" panose="02040503050406030204" pitchFamily="18" charset="0"/>
                      </a:rPr>
                      <m:t>𝐴</m:t>
                    </m:r>
                  </m:oMath>
                </a14:m>
                <a:endParaRPr lang="en-US" dirty="0"/>
              </a:p>
              <a:p>
                <a:pPr marL="0" indent="0">
                  <a:buNone/>
                </a:pPr>
                <a:endParaRPr lang="en-US" sz="1400" dirty="0"/>
              </a:p>
              <a:p>
                <a:pPr marL="0" indent="0">
                  <a:buNone/>
                </a:pPr>
                <a14:m>
                  <m:oMathPara xmlns:m="http://schemas.openxmlformats.org/officeDocument/2006/math">
                    <m:oMath>
                      <m:r>
                        <a:rPr lang="en-US" b="0" i="1" smtClean="0">
                          <a:latin typeface="Cambria Math" panose="02040503050406030204" pitchFamily="18" charset="0"/>
                        </a:rPr>
                        <m:t>𝐴</m:t>
                      </m:r>
                      <m:r>
                        <a:rPr lang="en-US" b="0" i="1" smtClean="0">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3"/>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1</m:t>
                                </m:r>
                              </m:e>
                              <m:e>
                                <m:r>
                                  <a:rPr lang="en-US" i="1">
                                    <a:latin typeface="Cambria Math" panose="02040503050406030204" pitchFamily="18" charset="0"/>
                                  </a:rPr>
                                  <m:t>0</m:t>
                                </m:r>
                              </m:e>
                              <m:e>
                                <m:m>
                                  <m:mPr>
                                    <m:mcs>
                                      <m:mc>
                                        <m:mcPr>
                                          <m:count m:val="3"/>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1</m:t>
                                      </m:r>
                                    </m:e>
                                    <m:e>
                                      <m:r>
                                        <a:rPr lang="en-US" i="1">
                                          <a:latin typeface="Cambria Math" panose="02040503050406030204" pitchFamily="18" charset="0"/>
                                        </a:rPr>
                                        <m:t>0</m:t>
                                      </m:r>
                                    </m:e>
                                    <m:e>
                                      <m:r>
                                        <a:rPr lang="en-US" i="1">
                                          <a:latin typeface="Cambria Math" panose="02040503050406030204" pitchFamily="18" charset="0"/>
                                        </a:rPr>
                                        <m:t>1</m:t>
                                      </m:r>
                                    </m:e>
                                  </m:mr>
                                </m:m>
                              </m:e>
                            </m:mr>
                            <m:mr>
                              <m:e>
                                <m:r>
                                  <a:rPr lang="en-US" i="1">
                                    <a:latin typeface="Cambria Math" panose="02040503050406030204" pitchFamily="18" charset="0"/>
                                  </a:rPr>
                                  <m:t>1</m:t>
                                </m:r>
                              </m:e>
                              <m:e>
                                <m:r>
                                  <a:rPr lang="en-US" i="1">
                                    <a:latin typeface="Cambria Math" panose="02040503050406030204" pitchFamily="18" charset="0"/>
                                  </a:rPr>
                                  <m:t>0</m:t>
                                </m:r>
                              </m:e>
                              <m:e>
                                <m:m>
                                  <m:mPr>
                                    <m:mcs>
                                      <m:mc>
                                        <m:mcPr>
                                          <m:count m:val="3"/>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0</m:t>
                                      </m:r>
                                    </m:e>
                                    <m:e>
                                      <m:r>
                                        <a:rPr lang="en-US" i="1">
                                          <a:latin typeface="Cambria Math" panose="02040503050406030204" pitchFamily="18" charset="0"/>
                                        </a:rPr>
                                        <m:t>0</m:t>
                                      </m:r>
                                    </m:e>
                                    <m:e>
                                      <m:r>
                                        <a:rPr lang="en-US" i="1">
                                          <a:latin typeface="Cambria Math" panose="02040503050406030204" pitchFamily="18" charset="0"/>
                                        </a:rPr>
                                        <m:t>0</m:t>
                                      </m:r>
                                    </m:e>
                                  </m:mr>
                                </m:m>
                              </m:e>
                            </m:mr>
                            <m:mr>
                              <m:e>
                                <m:m>
                                  <m:mPr>
                                    <m:mcs>
                                      <m:mc>
                                        <m:mcPr>
                                          <m:count m:val="1"/>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1</m:t>
                                      </m:r>
                                    </m:e>
                                  </m:mr>
                                  <m:mr>
                                    <m:e>
                                      <m:r>
                                        <a:rPr lang="en-US" i="1">
                                          <a:latin typeface="Cambria Math" panose="02040503050406030204" pitchFamily="18" charset="0"/>
                                        </a:rPr>
                                        <m:t>0</m:t>
                                      </m:r>
                                    </m:e>
                                  </m:mr>
                                  <m:mr>
                                    <m:e>
                                      <m:r>
                                        <a:rPr lang="en-US" i="1">
                                          <a:latin typeface="Cambria Math" panose="02040503050406030204" pitchFamily="18" charset="0"/>
                                        </a:rPr>
                                        <m:t>0</m:t>
                                      </m:r>
                                    </m:e>
                                  </m:mr>
                                </m:m>
                              </m:e>
                              <m:e>
                                <m:m>
                                  <m:mPr>
                                    <m:mcs>
                                      <m:mc>
                                        <m:mcPr>
                                          <m:count m:val="1"/>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1</m:t>
                                      </m:r>
                                    </m:e>
                                  </m:mr>
                                  <m:mr>
                                    <m:e>
                                      <m:r>
                                        <a:rPr lang="en-US" i="1">
                                          <a:latin typeface="Cambria Math" panose="02040503050406030204" pitchFamily="18" charset="0"/>
                                        </a:rPr>
                                        <m:t>0</m:t>
                                      </m:r>
                                    </m:e>
                                  </m:mr>
                                  <m:mr>
                                    <m:e>
                                      <m:r>
                                        <a:rPr lang="en-US" i="1">
                                          <a:latin typeface="Cambria Math" panose="02040503050406030204" pitchFamily="18" charset="0"/>
                                        </a:rPr>
                                        <m:t>0</m:t>
                                      </m:r>
                                    </m:e>
                                  </m:mr>
                                </m:m>
                              </m:e>
                              <m:e>
                                <m:m>
                                  <m:mPr>
                                    <m:mcs>
                                      <m:mc>
                                        <m:mcPr>
                                          <m:count m:val="3"/>
                                          <m:mcJc m:val="center"/>
                                        </m:mcPr>
                                      </m:mc>
                                    </m:mcs>
                                    <m:ctrlPr>
                                      <a:rPr lang="en-US" i="1">
                                        <a:latin typeface="Cambria Math" panose="02040503050406030204" pitchFamily="18" charset="0"/>
                                      </a:rPr>
                                    </m:ctrlPr>
                                  </m:mPr>
                                  <m:mr>
                                    <m:e>
                                      <m:r>
                                        <a:rPr lang="en-US" i="1">
                                          <a:latin typeface="Cambria Math" panose="02040503050406030204" pitchFamily="18" charset="0"/>
                                        </a:rPr>
                                        <m:t>0</m:t>
                                      </m:r>
                                    </m:e>
                                    <m:e>
                                      <m:r>
                                        <a:rPr lang="en-US" i="1">
                                          <a:latin typeface="Cambria Math" panose="02040503050406030204" pitchFamily="18" charset="0"/>
                                        </a:rPr>
                                        <m:t>1</m:t>
                                      </m:r>
                                    </m:e>
                                    <m:e>
                                      <m:r>
                                        <a:rPr lang="en-US" i="1">
                                          <a:latin typeface="Cambria Math" panose="02040503050406030204" pitchFamily="18" charset="0"/>
                                        </a:rPr>
                                        <m:t>0</m:t>
                                      </m:r>
                                    </m:e>
                                  </m:mr>
                                  <m:mr>
                                    <m:e>
                                      <m:r>
                                        <a:rPr lang="en-US" i="1">
                                          <a:latin typeface="Cambria Math" panose="02040503050406030204" pitchFamily="18" charset="0"/>
                                        </a:rPr>
                                        <m:t>0</m:t>
                                      </m:r>
                                    </m:e>
                                    <m:e>
                                      <m:r>
                                        <a:rPr lang="en-US" i="1">
                                          <a:latin typeface="Cambria Math" panose="02040503050406030204" pitchFamily="18" charset="0"/>
                                        </a:rPr>
                                        <m:t>0</m:t>
                                      </m:r>
                                    </m:e>
                                    <m:e>
                                      <m:r>
                                        <a:rPr lang="en-US" i="1">
                                          <a:latin typeface="Cambria Math" panose="02040503050406030204" pitchFamily="18" charset="0"/>
                                        </a:rPr>
                                        <m:t>0</m:t>
                                      </m:r>
                                    </m:e>
                                  </m:mr>
                                  <m:mr>
                                    <m:e>
                                      <m:r>
                                        <a:rPr lang="en-US" i="1">
                                          <a:latin typeface="Cambria Math" panose="02040503050406030204" pitchFamily="18" charset="0"/>
                                        </a:rPr>
                                        <m:t>1</m:t>
                                      </m:r>
                                    </m:e>
                                    <m:e>
                                      <m:r>
                                        <a:rPr lang="en-US" i="1">
                                          <a:latin typeface="Cambria Math" panose="02040503050406030204" pitchFamily="18" charset="0"/>
                                        </a:rPr>
                                        <m:t>0</m:t>
                                      </m:r>
                                    </m:e>
                                    <m:e>
                                      <m:r>
                                        <a:rPr lang="en-US" i="1">
                                          <a:latin typeface="Cambria Math" panose="02040503050406030204" pitchFamily="18" charset="0"/>
                                        </a:rPr>
                                        <m:t>0</m:t>
                                      </m:r>
                                    </m:e>
                                  </m:mr>
                                </m:m>
                              </m:e>
                            </m:mr>
                          </m:m>
                        </m:e>
                      </m:d>
                    </m:oMath>
                  </m:oMathPara>
                </a14:m>
                <a:endParaRPr lang="en-US" dirty="0"/>
              </a:p>
              <a:p>
                <a:r>
                  <a:rPr lang="en-US" dirty="0"/>
                  <a:t>Nodes in directed networks have an </a:t>
                </a:r>
                <a:r>
                  <a:rPr lang="en-US" b="1" dirty="0"/>
                  <a:t>in-degree</a:t>
                </a:r>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𝑖𝑛</m:t>
                        </m:r>
                      </m:sub>
                    </m:sSub>
                  </m:oMath>
                </a14:m>
                <a:r>
                  <a:rPr lang="en-US" b="1" dirty="0"/>
                  <a:t>, </a:t>
                </a:r>
                <a:r>
                  <a:rPr lang="en-US" dirty="0"/>
                  <a:t>the sum along rows of the association matrix</a:t>
                </a:r>
                <a:endParaRPr lang="en-US" b="1" dirty="0"/>
              </a:p>
              <a:p>
                <a:pPr marL="0" indent="0">
                  <a:buNone/>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𝑖𝑛</m:t>
                          </m:r>
                        </m:sub>
                      </m:sSub>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𝑖</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e>
                      </m:nary>
                    </m:oMath>
                  </m:oMathPara>
                </a14:m>
                <a:endParaRPr lang="en-US" dirty="0"/>
              </a:p>
              <a:p>
                <a:endParaRPr lang="en-US" dirty="0"/>
              </a:p>
            </p:txBody>
          </p:sp>
        </mc:Choice>
        <mc:Fallback xmlns="">
          <p:sp>
            <p:nvSpPr>
              <p:cNvPr id="4" name="Content Placeholder 2">
                <a:extLst>
                  <a:ext uri="{FF2B5EF4-FFF2-40B4-BE49-F238E27FC236}">
                    <a16:creationId xmlns:a16="http://schemas.microsoft.com/office/drawing/2014/main" id="{C9D1B286-A50E-29BB-C7D7-B06A74DE055B}"/>
                  </a:ext>
                </a:extLst>
              </p:cNvPr>
              <p:cNvSpPr txBox="1">
                <a:spLocks noRot="1" noChangeAspect="1" noMove="1" noResize="1" noEditPoints="1" noAdjustHandles="1" noChangeArrowheads="1" noChangeShapeType="1" noTextEdit="1"/>
              </p:cNvSpPr>
              <p:nvPr/>
            </p:nvSpPr>
            <p:spPr>
              <a:xfrm>
                <a:off x="838200" y="1976383"/>
                <a:ext cx="8027643" cy="4795120"/>
              </a:xfrm>
              <a:prstGeom prst="rect">
                <a:avLst/>
              </a:prstGeom>
              <a:blipFill>
                <a:blip r:embed="rId2"/>
                <a:stretch>
                  <a:fillRect l="-1596" t="-2033"/>
                </a:stretch>
              </a:blipFill>
            </p:spPr>
            <p:txBody>
              <a:bodyPr/>
              <a:lstStyle/>
              <a:p>
                <a:r>
                  <a:rPr lang="en-US">
                    <a:noFill/>
                  </a:rPr>
                  <a:t> </a:t>
                </a:r>
              </a:p>
            </p:txBody>
          </p:sp>
        </mc:Fallback>
      </mc:AlternateContent>
      <p:sp>
        <p:nvSpPr>
          <p:cNvPr id="5" name="Oval 4">
            <a:extLst>
              <a:ext uri="{FF2B5EF4-FFF2-40B4-BE49-F238E27FC236}">
                <a16:creationId xmlns:a16="http://schemas.microsoft.com/office/drawing/2014/main" id="{FA471341-5FEB-82C2-9469-65303EEFB2CC}"/>
              </a:ext>
            </a:extLst>
          </p:cNvPr>
          <p:cNvSpPr/>
          <p:nvPr/>
        </p:nvSpPr>
        <p:spPr>
          <a:xfrm>
            <a:off x="9419670" y="2625771"/>
            <a:ext cx="1053276" cy="957052"/>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Bob</a:t>
            </a:r>
          </a:p>
        </p:txBody>
      </p:sp>
      <p:sp>
        <p:nvSpPr>
          <p:cNvPr id="6" name="Oval 5">
            <a:extLst>
              <a:ext uri="{FF2B5EF4-FFF2-40B4-BE49-F238E27FC236}">
                <a16:creationId xmlns:a16="http://schemas.microsoft.com/office/drawing/2014/main" id="{356D8232-0A3F-67A8-98DA-406FFAD14F7D}"/>
              </a:ext>
            </a:extLst>
          </p:cNvPr>
          <p:cNvSpPr/>
          <p:nvPr/>
        </p:nvSpPr>
        <p:spPr>
          <a:xfrm>
            <a:off x="10902926" y="2116962"/>
            <a:ext cx="996778" cy="957051"/>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Raj</a:t>
            </a:r>
          </a:p>
        </p:txBody>
      </p:sp>
      <p:sp>
        <p:nvSpPr>
          <p:cNvPr id="7" name="Oval 6">
            <a:extLst>
              <a:ext uri="{FF2B5EF4-FFF2-40B4-BE49-F238E27FC236}">
                <a16:creationId xmlns:a16="http://schemas.microsoft.com/office/drawing/2014/main" id="{C0D29C6E-C7F0-44AA-65C5-1435927DC9EC}"/>
              </a:ext>
            </a:extLst>
          </p:cNvPr>
          <p:cNvSpPr/>
          <p:nvPr/>
        </p:nvSpPr>
        <p:spPr>
          <a:xfrm>
            <a:off x="9543699" y="4020500"/>
            <a:ext cx="1053276" cy="957052"/>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Mary</a:t>
            </a:r>
          </a:p>
        </p:txBody>
      </p:sp>
      <p:sp>
        <p:nvSpPr>
          <p:cNvPr id="9" name="Oval 8">
            <a:extLst>
              <a:ext uri="{FF2B5EF4-FFF2-40B4-BE49-F238E27FC236}">
                <a16:creationId xmlns:a16="http://schemas.microsoft.com/office/drawing/2014/main" id="{600CE6E5-2E51-DA2F-2354-011F21458123}"/>
              </a:ext>
            </a:extLst>
          </p:cNvPr>
          <p:cNvSpPr/>
          <p:nvPr/>
        </p:nvSpPr>
        <p:spPr>
          <a:xfrm>
            <a:off x="10845035" y="3662410"/>
            <a:ext cx="1053276" cy="957052"/>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Gigi</a:t>
            </a:r>
          </a:p>
        </p:txBody>
      </p:sp>
      <p:sp>
        <p:nvSpPr>
          <p:cNvPr id="10" name="Oval 9">
            <a:extLst>
              <a:ext uri="{FF2B5EF4-FFF2-40B4-BE49-F238E27FC236}">
                <a16:creationId xmlns:a16="http://schemas.microsoft.com/office/drawing/2014/main" id="{2015839D-CEF0-5DC5-C3C1-0303BF18F0F3}"/>
              </a:ext>
            </a:extLst>
          </p:cNvPr>
          <p:cNvSpPr/>
          <p:nvPr/>
        </p:nvSpPr>
        <p:spPr>
          <a:xfrm>
            <a:off x="10845035" y="4977552"/>
            <a:ext cx="1053276" cy="957052"/>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Asan</a:t>
            </a:r>
          </a:p>
        </p:txBody>
      </p:sp>
      <p:cxnSp>
        <p:nvCxnSpPr>
          <p:cNvPr id="12" name="Straight Connector 11">
            <a:extLst>
              <a:ext uri="{FF2B5EF4-FFF2-40B4-BE49-F238E27FC236}">
                <a16:creationId xmlns:a16="http://schemas.microsoft.com/office/drawing/2014/main" id="{610FF0E3-2F88-3699-999D-6A863C20BA86}"/>
              </a:ext>
            </a:extLst>
          </p:cNvPr>
          <p:cNvCxnSpPr>
            <a:cxnSpLocks/>
            <a:stCxn id="5" idx="7"/>
            <a:endCxn id="6" idx="2"/>
          </p:cNvCxnSpPr>
          <p:nvPr/>
        </p:nvCxnSpPr>
        <p:spPr>
          <a:xfrm flipV="1">
            <a:off x="10318697" y="2595488"/>
            <a:ext cx="584229" cy="17044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E66A233-C1CD-1A6A-D06D-FCBE3ADEAC79}"/>
              </a:ext>
            </a:extLst>
          </p:cNvPr>
          <p:cNvCxnSpPr>
            <a:cxnSpLocks/>
            <a:stCxn id="6" idx="4"/>
            <a:endCxn id="9" idx="0"/>
          </p:cNvCxnSpPr>
          <p:nvPr/>
        </p:nvCxnSpPr>
        <p:spPr>
          <a:xfrm flipH="1">
            <a:off x="11371673" y="3074013"/>
            <a:ext cx="29642" cy="588397"/>
          </a:xfrm>
          <a:prstGeom prst="line">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C3C4BD6-CA82-0C61-F0F2-B5A617A473D2}"/>
              </a:ext>
            </a:extLst>
          </p:cNvPr>
          <p:cNvCxnSpPr>
            <a:cxnSpLocks/>
            <a:stCxn id="9" idx="4"/>
            <a:endCxn id="10" idx="0"/>
          </p:cNvCxnSpPr>
          <p:nvPr/>
        </p:nvCxnSpPr>
        <p:spPr>
          <a:xfrm>
            <a:off x="11371673" y="4619462"/>
            <a:ext cx="0" cy="358090"/>
          </a:xfrm>
          <a:prstGeom prst="line">
            <a:avLst/>
          </a:prstGeom>
          <a:ln w="25400">
            <a:solidFill>
              <a:schemeClr val="tx1"/>
            </a:solidFill>
            <a:headEnd type="triangle" w="lg" len="med"/>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D259FBE-FF43-741B-88D6-584B3BC3AB2A}"/>
              </a:ext>
            </a:extLst>
          </p:cNvPr>
          <p:cNvCxnSpPr>
            <a:cxnSpLocks/>
            <a:stCxn id="7" idx="6"/>
            <a:endCxn id="9" idx="3"/>
          </p:cNvCxnSpPr>
          <p:nvPr/>
        </p:nvCxnSpPr>
        <p:spPr>
          <a:xfrm flipV="1">
            <a:off x="10596975" y="4479305"/>
            <a:ext cx="402309" cy="19721"/>
          </a:xfrm>
          <a:prstGeom prst="line">
            <a:avLst/>
          </a:prstGeom>
          <a:ln w="25400">
            <a:solidFill>
              <a:schemeClr val="tx1"/>
            </a:solidFill>
            <a:headEnd type="triangl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C67E1D8-B2B4-B696-CAC2-BF943F44B9FC}"/>
              </a:ext>
            </a:extLst>
          </p:cNvPr>
          <p:cNvCxnSpPr>
            <a:cxnSpLocks/>
            <a:stCxn id="7" idx="0"/>
            <a:endCxn id="5" idx="4"/>
          </p:cNvCxnSpPr>
          <p:nvPr/>
        </p:nvCxnSpPr>
        <p:spPr>
          <a:xfrm flipH="1" flipV="1">
            <a:off x="9946308" y="3582823"/>
            <a:ext cx="124029" cy="437677"/>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03E1252F-3CF3-8812-5A09-45CB63C0903A}"/>
              </a:ext>
            </a:extLst>
          </p:cNvPr>
          <p:cNvCxnSpPr>
            <a:cxnSpLocks/>
            <a:stCxn id="9" idx="2"/>
            <a:endCxn id="5" idx="5"/>
          </p:cNvCxnSpPr>
          <p:nvPr/>
        </p:nvCxnSpPr>
        <p:spPr>
          <a:xfrm flipH="1" flipV="1">
            <a:off x="10318697" y="3442666"/>
            <a:ext cx="526338" cy="69827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6353117F-EAD1-E0E7-CE04-41E7249C22A3}"/>
              </a:ext>
            </a:extLst>
          </p:cNvPr>
          <p:cNvCxnSpPr>
            <a:cxnSpLocks/>
            <a:stCxn id="5" idx="6"/>
            <a:endCxn id="9" idx="1"/>
          </p:cNvCxnSpPr>
          <p:nvPr/>
        </p:nvCxnSpPr>
        <p:spPr>
          <a:xfrm>
            <a:off x="10472946" y="3104297"/>
            <a:ext cx="526338" cy="69827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Freeform: Shape 29">
            <a:extLst>
              <a:ext uri="{FF2B5EF4-FFF2-40B4-BE49-F238E27FC236}">
                <a16:creationId xmlns:a16="http://schemas.microsoft.com/office/drawing/2014/main" id="{4F2AA076-C9EE-31D2-7C0E-DE4E4FF80A33}"/>
              </a:ext>
            </a:extLst>
          </p:cNvPr>
          <p:cNvSpPr/>
          <p:nvPr/>
        </p:nvSpPr>
        <p:spPr>
          <a:xfrm rot="1531544">
            <a:off x="8934100" y="2382063"/>
            <a:ext cx="715838" cy="952874"/>
          </a:xfrm>
          <a:custGeom>
            <a:avLst/>
            <a:gdLst>
              <a:gd name="connsiteX0" fmla="*/ 666411 w 715838"/>
              <a:gd name="connsiteY0" fmla="*/ 795085 h 952874"/>
              <a:gd name="connsiteX1" fmla="*/ 252460 w 715838"/>
              <a:gd name="connsiteY1" fmla="*/ 943366 h 952874"/>
              <a:gd name="connsiteX2" fmla="*/ 5325 w 715838"/>
              <a:gd name="connsiteY2" fmla="*/ 554129 h 952874"/>
              <a:gd name="connsiteX3" fmla="*/ 481060 w 715838"/>
              <a:gd name="connsiteY3" fmla="*/ 22788 h 952874"/>
              <a:gd name="connsiteX4" fmla="*/ 715838 w 715838"/>
              <a:gd name="connsiteY4" fmla="*/ 53680 h 9528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5838" h="952874">
                <a:moveTo>
                  <a:pt x="666411" y="795085"/>
                </a:moveTo>
                <a:cubicBezTo>
                  <a:pt x="514526" y="889305"/>
                  <a:pt x="362641" y="983525"/>
                  <a:pt x="252460" y="943366"/>
                </a:cubicBezTo>
                <a:cubicBezTo>
                  <a:pt x="142279" y="903207"/>
                  <a:pt x="-32775" y="707559"/>
                  <a:pt x="5325" y="554129"/>
                </a:cubicBezTo>
                <a:cubicBezTo>
                  <a:pt x="43425" y="400699"/>
                  <a:pt x="362641" y="106196"/>
                  <a:pt x="481060" y="22788"/>
                </a:cubicBezTo>
                <a:cubicBezTo>
                  <a:pt x="599479" y="-60620"/>
                  <a:pt x="688035" y="116493"/>
                  <a:pt x="715838" y="53680"/>
                </a:cubicBezTo>
              </a:path>
            </a:pathLst>
          </a:custGeom>
          <a:noFill/>
          <a:ln w="254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582525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2757D-9716-4C25-BA54-81C26D6EC04E}"/>
              </a:ext>
            </a:extLst>
          </p:cNvPr>
          <p:cNvSpPr>
            <a:spLocks noGrp="1"/>
          </p:cNvSpPr>
          <p:nvPr>
            <p:ph type="title"/>
          </p:nvPr>
        </p:nvSpPr>
        <p:spPr>
          <a:xfrm>
            <a:off x="838200" y="215696"/>
            <a:ext cx="10515600" cy="930682"/>
          </a:xfrm>
        </p:spPr>
        <p:txBody>
          <a:bodyPr>
            <a:normAutofit/>
          </a:bodyPr>
          <a:lstStyle/>
          <a:p>
            <a:r>
              <a:rPr lang="en-US" sz="4000" dirty="0">
                <a:latin typeface="+mn-lt"/>
              </a:rPr>
              <a:t>Introduction to Graph Theory</a:t>
            </a:r>
          </a:p>
        </p:txBody>
      </p:sp>
      <p:sp>
        <p:nvSpPr>
          <p:cNvPr id="3" name="Content Placeholder 2">
            <a:extLst>
              <a:ext uri="{FF2B5EF4-FFF2-40B4-BE49-F238E27FC236}">
                <a16:creationId xmlns:a16="http://schemas.microsoft.com/office/drawing/2014/main" id="{D9C502E2-3889-41D4-9A2E-D8C04ADE5184}"/>
              </a:ext>
            </a:extLst>
          </p:cNvPr>
          <p:cNvSpPr>
            <a:spLocks noGrp="1"/>
          </p:cNvSpPr>
          <p:nvPr>
            <p:ph idx="1"/>
          </p:nvPr>
        </p:nvSpPr>
        <p:spPr>
          <a:xfrm>
            <a:off x="838200" y="1146379"/>
            <a:ext cx="10515600" cy="856817"/>
          </a:xfrm>
        </p:spPr>
        <p:txBody>
          <a:bodyPr>
            <a:normAutofit lnSpcReduction="10000"/>
          </a:bodyPr>
          <a:lstStyle/>
          <a:p>
            <a:pPr marL="0" indent="0">
              <a:buNone/>
            </a:pPr>
            <a:r>
              <a:rPr lang="en-US" b="1" dirty="0"/>
              <a:t>Directed graphs</a:t>
            </a:r>
            <a:r>
              <a:rPr lang="en-US" dirty="0"/>
              <a:t> are constructed from </a:t>
            </a:r>
            <a:r>
              <a:rPr lang="en-US" b="1" dirty="0"/>
              <a:t>nodes</a:t>
            </a:r>
            <a:r>
              <a:rPr lang="en-US" dirty="0"/>
              <a:t> or </a:t>
            </a:r>
            <a:r>
              <a:rPr lang="en-US" b="1" dirty="0"/>
              <a:t>vertices</a:t>
            </a:r>
            <a:r>
              <a:rPr lang="en-US" dirty="0"/>
              <a:t> connected by </a:t>
            </a:r>
            <a:r>
              <a:rPr lang="en-US" b="1" dirty="0"/>
              <a:t>directed edges</a:t>
            </a: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C9D1B286-A50E-29BB-C7D7-B06A74DE055B}"/>
                  </a:ext>
                </a:extLst>
              </p:cNvPr>
              <p:cNvSpPr txBox="1">
                <a:spLocks/>
              </p:cNvSpPr>
              <p:nvPr/>
            </p:nvSpPr>
            <p:spPr>
              <a:xfrm>
                <a:off x="838200" y="1976383"/>
                <a:ext cx="8027643" cy="47951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Networks are represented by an </a:t>
                </a:r>
                <a:r>
                  <a:rPr lang="en-US" b="1" dirty="0"/>
                  <a:t>association matrix</a:t>
                </a:r>
                <a:r>
                  <a:rPr lang="en-US" dirty="0"/>
                  <a:t>, </a:t>
                </a:r>
                <a14:m>
                  <m:oMath xmlns:m="http://schemas.openxmlformats.org/officeDocument/2006/math">
                    <m:r>
                      <a:rPr lang="en-US" i="1">
                        <a:latin typeface="Cambria Math" panose="02040503050406030204" pitchFamily="18" charset="0"/>
                      </a:rPr>
                      <m:t>𝐴</m:t>
                    </m:r>
                  </m:oMath>
                </a14:m>
                <a:endParaRPr lang="en-US" dirty="0"/>
              </a:p>
              <a:p>
                <a:pPr marL="0" indent="0">
                  <a:buNone/>
                </a:pPr>
                <a:endParaRPr lang="en-US" sz="1400" dirty="0"/>
              </a:p>
              <a:p>
                <a:pPr marL="0" indent="0">
                  <a:buNone/>
                </a:pPr>
                <a14:m>
                  <m:oMathPara xmlns:m="http://schemas.openxmlformats.org/officeDocument/2006/math">
                    <m:oMath>
                      <m:r>
                        <a:rPr lang="en-US" b="0" i="1" smtClean="0">
                          <a:latin typeface="Cambria Math" panose="02040503050406030204" pitchFamily="18" charset="0"/>
                        </a:rPr>
                        <m:t>𝐴</m:t>
                      </m:r>
                      <m:r>
                        <a:rPr lang="en-US" b="0" i="1" smtClean="0">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3"/>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1</m:t>
                                </m:r>
                              </m:e>
                              <m:e>
                                <m:r>
                                  <a:rPr lang="en-US" i="1">
                                    <a:latin typeface="Cambria Math" panose="02040503050406030204" pitchFamily="18" charset="0"/>
                                  </a:rPr>
                                  <m:t>0</m:t>
                                </m:r>
                              </m:e>
                              <m:e>
                                <m:m>
                                  <m:mPr>
                                    <m:mcs>
                                      <m:mc>
                                        <m:mcPr>
                                          <m:count m:val="3"/>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1</m:t>
                                      </m:r>
                                    </m:e>
                                    <m:e>
                                      <m:r>
                                        <a:rPr lang="en-US" i="1">
                                          <a:latin typeface="Cambria Math" panose="02040503050406030204" pitchFamily="18" charset="0"/>
                                        </a:rPr>
                                        <m:t>0</m:t>
                                      </m:r>
                                    </m:e>
                                    <m:e>
                                      <m:r>
                                        <a:rPr lang="en-US" i="1">
                                          <a:latin typeface="Cambria Math" panose="02040503050406030204" pitchFamily="18" charset="0"/>
                                        </a:rPr>
                                        <m:t>1</m:t>
                                      </m:r>
                                    </m:e>
                                  </m:mr>
                                </m:m>
                              </m:e>
                            </m:mr>
                            <m:mr>
                              <m:e>
                                <m:r>
                                  <a:rPr lang="en-US" i="1">
                                    <a:latin typeface="Cambria Math" panose="02040503050406030204" pitchFamily="18" charset="0"/>
                                  </a:rPr>
                                  <m:t>1</m:t>
                                </m:r>
                              </m:e>
                              <m:e>
                                <m:r>
                                  <a:rPr lang="en-US" i="1">
                                    <a:latin typeface="Cambria Math" panose="02040503050406030204" pitchFamily="18" charset="0"/>
                                  </a:rPr>
                                  <m:t>0</m:t>
                                </m:r>
                              </m:e>
                              <m:e>
                                <m:m>
                                  <m:mPr>
                                    <m:mcs>
                                      <m:mc>
                                        <m:mcPr>
                                          <m:count m:val="3"/>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0</m:t>
                                      </m:r>
                                    </m:e>
                                    <m:e>
                                      <m:r>
                                        <a:rPr lang="en-US" i="1">
                                          <a:latin typeface="Cambria Math" panose="02040503050406030204" pitchFamily="18" charset="0"/>
                                        </a:rPr>
                                        <m:t>0</m:t>
                                      </m:r>
                                    </m:e>
                                    <m:e>
                                      <m:r>
                                        <a:rPr lang="en-US" i="1">
                                          <a:latin typeface="Cambria Math" panose="02040503050406030204" pitchFamily="18" charset="0"/>
                                        </a:rPr>
                                        <m:t>0</m:t>
                                      </m:r>
                                    </m:e>
                                  </m:mr>
                                </m:m>
                              </m:e>
                            </m:mr>
                            <m:mr>
                              <m:e>
                                <m:m>
                                  <m:mPr>
                                    <m:mcs>
                                      <m:mc>
                                        <m:mcPr>
                                          <m:count m:val="1"/>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1</m:t>
                                      </m:r>
                                    </m:e>
                                  </m:mr>
                                  <m:mr>
                                    <m:e>
                                      <m:r>
                                        <a:rPr lang="en-US" i="1">
                                          <a:latin typeface="Cambria Math" panose="02040503050406030204" pitchFamily="18" charset="0"/>
                                        </a:rPr>
                                        <m:t>0</m:t>
                                      </m:r>
                                    </m:e>
                                  </m:mr>
                                  <m:mr>
                                    <m:e>
                                      <m:r>
                                        <a:rPr lang="en-US" i="1">
                                          <a:latin typeface="Cambria Math" panose="02040503050406030204" pitchFamily="18" charset="0"/>
                                        </a:rPr>
                                        <m:t>0</m:t>
                                      </m:r>
                                    </m:e>
                                  </m:mr>
                                </m:m>
                              </m:e>
                              <m:e>
                                <m:m>
                                  <m:mPr>
                                    <m:mcs>
                                      <m:mc>
                                        <m:mcPr>
                                          <m:count m:val="1"/>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1</m:t>
                                      </m:r>
                                    </m:e>
                                  </m:mr>
                                  <m:mr>
                                    <m:e>
                                      <m:r>
                                        <a:rPr lang="en-US" i="1">
                                          <a:latin typeface="Cambria Math" panose="02040503050406030204" pitchFamily="18" charset="0"/>
                                        </a:rPr>
                                        <m:t>0</m:t>
                                      </m:r>
                                    </m:e>
                                  </m:mr>
                                  <m:mr>
                                    <m:e>
                                      <m:r>
                                        <a:rPr lang="en-US" i="1">
                                          <a:latin typeface="Cambria Math" panose="02040503050406030204" pitchFamily="18" charset="0"/>
                                        </a:rPr>
                                        <m:t>0</m:t>
                                      </m:r>
                                    </m:e>
                                  </m:mr>
                                </m:m>
                              </m:e>
                              <m:e>
                                <m:m>
                                  <m:mPr>
                                    <m:mcs>
                                      <m:mc>
                                        <m:mcPr>
                                          <m:count m:val="3"/>
                                          <m:mcJc m:val="center"/>
                                        </m:mcPr>
                                      </m:mc>
                                    </m:mcs>
                                    <m:ctrlPr>
                                      <a:rPr lang="en-US" i="1">
                                        <a:latin typeface="Cambria Math" panose="02040503050406030204" pitchFamily="18" charset="0"/>
                                      </a:rPr>
                                    </m:ctrlPr>
                                  </m:mPr>
                                  <m:mr>
                                    <m:e>
                                      <m:r>
                                        <a:rPr lang="en-US" i="1">
                                          <a:latin typeface="Cambria Math" panose="02040503050406030204" pitchFamily="18" charset="0"/>
                                        </a:rPr>
                                        <m:t>0</m:t>
                                      </m:r>
                                    </m:e>
                                    <m:e>
                                      <m:r>
                                        <a:rPr lang="en-US" i="1">
                                          <a:latin typeface="Cambria Math" panose="02040503050406030204" pitchFamily="18" charset="0"/>
                                        </a:rPr>
                                        <m:t>1</m:t>
                                      </m:r>
                                    </m:e>
                                    <m:e>
                                      <m:r>
                                        <a:rPr lang="en-US" i="1">
                                          <a:latin typeface="Cambria Math" panose="02040503050406030204" pitchFamily="18" charset="0"/>
                                        </a:rPr>
                                        <m:t>0</m:t>
                                      </m:r>
                                    </m:e>
                                  </m:mr>
                                  <m:mr>
                                    <m:e>
                                      <m:r>
                                        <a:rPr lang="en-US" i="1">
                                          <a:latin typeface="Cambria Math" panose="02040503050406030204" pitchFamily="18" charset="0"/>
                                        </a:rPr>
                                        <m:t>0</m:t>
                                      </m:r>
                                    </m:e>
                                    <m:e>
                                      <m:r>
                                        <a:rPr lang="en-US" i="1">
                                          <a:latin typeface="Cambria Math" panose="02040503050406030204" pitchFamily="18" charset="0"/>
                                        </a:rPr>
                                        <m:t>0</m:t>
                                      </m:r>
                                    </m:e>
                                    <m:e>
                                      <m:r>
                                        <a:rPr lang="en-US" i="1">
                                          <a:latin typeface="Cambria Math" panose="02040503050406030204" pitchFamily="18" charset="0"/>
                                        </a:rPr>
                                        <m:t>0</m:t>
                                      </m:r>
                                    </m:e>
                                  </m:mr>
                                  <m:mr>
                                    <m:e>
                                      <m:r>
                                        <a:rPr lang="en-US" i="1">
                                          <a:latin typeface="Cambria Math" panose="02040503050406030204" pitchFamily="18" charset="0"/>
                                        </a:rPr>
                                        <m:t>1</m:t>
                                      </m:r>
                                    </m:e>
                                    <m:e>
                                      <m:r>
                                        <a:rPr lang="en-US" i="1">
                                          <a:latin typeface="Cambria Math" panose="02040503050406030204" pitchFamily="18" charset="0"/>
                                        </a:rPr>
                                        <m:t>0</m:t>
                                      </m:r>
                                    </m:e>
                                    <m:e>
                                      <m:r>
                                        <a:rPr lang="en-US" i="1">
                                          <a:latin typeface="Cambria Math" panose="02040503050406030204" pitchFamily="18" charset="0"/>
                                        </a:rPr>
                                        <m:t>0</m:t>
                                      </m:r>
                                    </m:e>
                                  </m:mr>
                                </m:m>
                              </m:e>
                            </m:mr>
                          </m:m>
                        </m:e>
                      </m:d>
                    </m:oMath>
                  </m:oMathPara>
                </a14:m>
                <a:endParaRPr lang="en-US" dirty="0"/>
              </a:p>
              <a:p>
                <a:r>
                  <a:rPr lang="en-US" dirty="0"/>
                  <a:t>Nodes in directed networks have an </a:t>
                </a:r>
                <a:r>
                  <a:rPr lang="en-US" b="1" dirty="0"/>
                  <a:t>out-degree</a:t>
                </a:r>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𝑜𝑢𝑡</m:t>
                        </m:r>
                      </m:sub>
                    </m:sSub>
                  </m:oMath>
                </a14:m>
                <a:r>
                  <a:rPr lang="en-US" b="1" dirty="0"/>
                  <a:t>, </a:t>
                </a:r>
                <a:r>
                  <a:rPr lang="en-US" dirty="0"/>
                  <a:t>the sum along columns of the association matrix</a:t>
                </a:r>
                <a:endParaRPr lang="en-US" b="1" dirty="0"/>
              </a:p>
              <a:p>
                <a:pPr marL="0" indent="0">
                  <a:buNone/>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𝑜𝑢𝑡</m:t>
                          </m:r>
                        </m:sub>
                      </m:sSub>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𝑗</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e>
                      </m:nary>
                    </m:oMath>
                  </m:oMathPara>
                </a14:m>
                <a:endParaRPr lang="en-US" dirty="0"/>
              </a:p>
              <a:p>
                <a:endParaRPr lang="en-US" dirty="0"/>
              </a:p>
            </p:txBody>
          </p:sp>
        </mc:Choice>
        <mc:Fallback xmlns="">
          <p:sp>
            <p:nvSpPr>
              <p:cNvPr id="4" name="Content Placeholder 2">
                <a:extLst>
                  <a:ext uri="{FF2B5EF4-FFF2-40B4-BE49-F238E27FC236}">
                    <a16:creationId xmlns:a16="http://schemas.microsoft.com/office/drawing/2014/main" id="{C9D1B286-A50E-29BB-C7D7-B06A74DE055B}"/>
                  </a:ext>
                </a:extLst>
              </p:cNvPr>
              <p:cNvSpPr txBox="1">
                <a:spLocks noRot="1" noChangeAspect="1" noMove="1" noResize="1" noEditPoints="1" noAdjustHandles="1" noChangeArrowheads="1" noChangeShapeType="1" noTextEdit="1"/>
              </p:cNvSpPr>
              <p:nvPr/>
            </p:nvSpPr>
            <p:spPr>
              <a:xfrm>
                <a:off x="838200" y="1976383"/>
                <a:ext cx="8027643" cy="4795120"/>
              </a:xfrm>
              <a:prstGeom prst="rect">
                <a:avLst/>
              </a:prstGeom>
              <a:blipFill>
                <a:blip r:embed="rId2"/>
                <a:stretch>
                  <a:fillRect l="-1596" t="-2033"/>
                </a:stretch>
              </a:blipFill>
            </p:spPr>
            <p:txBody>
              <a:bodyPr/>
              <a:lstStyle/>
              <a:p>
                <a:r>
                  <a:rPr lang="en-US">
                    <a:noFill/>
                  </a:rPr>
                  <a:t> </a:t>
                </a:r>
              </a:p>
            </p:txBody>
          </p:sp>
        </mc:Fallback>
      </mc:AlternateContent>
      <p:sp>
        <p:nvSpPr>
          <p:cNvPr id="5" name="Oval 4">
            <a:extLst>
              <a:ext uri="{FF2B5EF4-FFF2-40B4-BE49-F238E27FC236}">
                <a16:creationId xmlns:a16="http://schemas.microsoft.com/office/drawing/2014/main" id="{FA471341-5FEB-82C2-9469-65303EEFB2CC}"/>
              </a:ext>
            </a:extLst>
          </p:cNvPr>
          <p:cNvSpPr/>
          <p:nvPr/>
        </p:nvSpPr>
        <p:spPr>
          <a:xfrm>
            <a:off x="9419670" y="2625771"/>
            <a:ext cx="1053276" cy="957052"/>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Bob</a:t>
            </a:r>
          </a:p>
        </p:txBody>
      </p:sp>
      <p:sp>
        <p:nvSpPr>
          <p:cNvPr id="6" name="Oval 5">
            <a:extLst>
              <a:ext uri="{FF2B5EF4-FFF2-40B4-BE49-F238E27FC236}">
                <a16:creationId xmlns:a16="http://schemas.microsoft.com/office/drawing/2014/main" id="{356D8232-0A3F-67A8-98DA-406FFAD14F7D}"/>
              </a:ext>
            </a:extLst>
          </p:cNvPr>
          <p:cNvSpPr/>
          <p:nvPr/>
        </p:nvSpPr>
        <p:spPr>
          <a:xfrm>
            <a:off x="10902926" y="2116962"/>
            <a:ext cx="996778" cy="957051"/>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Raj</a:t>
            </a:r>
          </a:p>
        </p:txBody>
      </p:sp>
      <p:sp>
        <p:nvSpPr>
          <p:cNvPr id="7" name="Oval 6">
            <a:extLst>
              <a:ext uri="{FF2B5EF4-FFF2-40B4-BE49-F238E27FC236}">
                <a16:creationId xmlns:a16="http://schemas.microsoft.com/office/drawing/2014/main" id="{C0D29C6E-C7F0-44AA-65C5-1435927DC9EC}"/>
              </a:ext>
            </a:extLst>
          </p:cNvPr>
          <p:cNvSpPr/>
          <p:nvPr/>
        </p:nvSpPr>
        <p:spPr>
          <a:xfrm>
            <a:off x="9543699" y="4020500"/>
            <a:ext cx="1053276" cy="957052"/>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Mary</a:t>
            </a:r>
          </a:p>
        </p:txBody>
      </p:sp>
      <p:sp>
        <p:nvSpPr>
          <p:cNvPr id="9" name="Oval 8">
            <a:extLst>
              <a:ext uri="{FF2B5EF4-FFF2-40B4-BE49-F238E27FC236}">
                <a16:creationId xmlns:a16="http://schemas.microsoft.com/office/drawing/2014/main" id="{600CE6E5-2E51-DA2F-2354-011F21458123}"/>
              </a:ext>
            </a:extLst>
          </p:cNvPr>
          <p:cNvSpPr/>
          <p:nvPr/>
        </p:nvSpPr>
        <p:spPr>
          <a:xfrm>
            <a:off x="10845035" y="3662410"/>
            <a:ext cx="1053276" cy="957052"/>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Gigi</a:t>
            </a:r>
          </a:p>
        </p:txBody>
      </p:sp>
      <p:sp>
        <p:nvSpPr>
          <p:cNvPr id="10" name="Oval 9">
            <a:extLst>
              <a:ext uri="{FF2B5EF4-FFF2-40B4-BE49-F238E27FC236}">
                <a16:creationId xmlns:a16="http://schemas.microsoft.com/office/drawing/2014/main" id="{2015839D-CEF0-5DC5-C3C1-0303BF18F0F3}"/>
              </a:ext>
            </a:extLst>
          </p:cNvPr>
          <p:cNvSpPr/>
          <p:nvPr/>
        </p:nvSpPr>
        <p:spPr>
          <a:xfrm>
            <a:off x="10845035" y="4977552"/>
            <a:ext cx="1053276" cy="957052"/>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Asan</a:t>
            </a:r>
          </a:p>
        </p:txBody>
      </p:sp>
      <p:cxnSp>
        <p:nvCxnSpPr>
          <p:cNvPr id="12" name="Straight Connector 11">
            <a:extLst>
              <a:ext uri="{FF2B5EF4-FFF2-40B4-BE49-F238E27FC236}">
                <a16:creationId xmlns:a16="http://schemas.microsoft.com/office/drawing/2014/main" id="{610FF0E3-2F88-3699-999D-6A863C20BA86}"/>
              </a:ext>
            </a:extLst>
          </p:cNvPr>
          <p:cNvCxnSpPr>
            <a:cxnSpLocks/>
            <a:stCxn id="5" idx="7"/>
            <a:endCxn id="6" idx="2"/>
          </p:cNvCxnSpPr>
          <p:nvPr/>
        </p:nvCxnSpPr>
        <p:spPr>
          <a:xfrm flipV="1">
            <a:off x="10318697" y="2595488"/>
            <a:ext cx="584229" cy="17044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E66A233-C1CD-1A6A-D06D-FCBE3ADEAC79}"/>
              </a:ext>
            </a:extLst>
          </p:cNvPr>
          <p:cNvCxnSpPr>
            <a:cxnSpLocks/>
            <a:stCxn id="6" idx="4"/>
            <a:endCxn id="9" idx="0"/>
          </p:cNvCxnSpPr>
          <p:nvPr/>
        </p:nvCxnSpPr>
        <p:spPr>
          <a:xfrm flipH="1">
            <a:off x="11371673" y="3074013"/>
            <a:ext cx="29642" cy="588397"/>
          </a:xfrm>
          <a:prstGeom prst="line">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C3C4BD6-CA82-0C61-F0F2-B5A617A473D2}"/>
              </a:ext>
            </a:extLst>
          </p:cNvPr>
          <p:cNvCxnSpPr>
            <a:cxnSpLocks/>
            <a:stCxn id="9" idx="4"/>
            <a:endCxn id="10" idx="0"/>
          </p:cNvCxnSpPr>
          <p:nvPr/>
        </p:nvCxnSpPr>
        <p:spPr>
          <a:xfrm>
            <a:off x="11371673" y="4619462"/>
            <a:ext cx="0" cy="358090"/>
          </a:xfrm>
          <a:prstGeom prst="line">
            <a:avLst/>
          </a:prstGeom>
          <a:ln w="25400">
            <a:solidFill>
              <a:schemeClr val="tx1"/>
            </a:solidFill>
            <a:headEnd type="triangle" w="lg" len="med"/>
            <a:tailEnd type="triangl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D259FBE-FF43-741B-88D6-584B3BC3AB2A}"/>
              </a:ext>
            </a:extLst>
          </p:cNvPr>
          <p:cNvCxnSpPr>
            <a:cxnSpLocks/>
            <a:stCxn id="7" idx="6"/>
            <a:endCxn id="9" idx="3"/>
          </p:cNvCxnSpPr>
          <p:nvPr/>
        </p:nvCxnSpPr>
        <p:spPr>
          <a:xfrm flipV="1">
            <a:off x="10596975" y="4479305"/>
            <a:ext cx="402309" cy="19721"/>
          </a:xfrm>
          <a:prstGeom prst="line">
            <a:avLst/>
          </a:prstGeom>
          <a:ln w="25400">
            <a:solidFill>
              <a:schemeClr val="tx1"/>
            </a:solidFill>
            <a:headEnd type="triangl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C67E1D8-B2B4-B696-CAC2-BF943F44B9FC}"/>
              </a:ext>
            </a:extLst>
          </p:cNvPr>
          <p:cNvCxnSpPr>
            <a:cxnSpLocks/>
            <a:stCxn id="7" idx="0"/>
            <a:endCxn id="5" idx="4"/>
          </p:cNvCxnSpPr>
          <p:nvPr/>
        </p:nvCxnSpPr>
        <p:spPr>
          <a:xfrm flipH="1" flipV="1">
            <a:off x="9946308" y="3582823"/>
            <a:ext cx="124029" cy="437677"/>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03E1252F-3CF3-8812-5A09-45CB63C0903A}"/>
              </a:ext>
            </a:extLst>
          </p:cNvPr>
          <p:cNvCxnSpPr>
            <a:cxnSpLocks/>
            <a:stCxn id="9" idx="2"/>
            <a:endCxn id="5" idx="5"/>
          </p:cNvCxnSpPr>
          <p:nvPr/>
        </p:nvCxnSpPr>
        <p:spPr>
          <a:xfrm flipH="1" flipV="1">
            <a:off x="10318697" y="3442666"/>
            <a:ext cx="526338" cy="69827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6353117F-EAD1-E0E7-CE04-41E7249C22A3}"/>
              </a:ext>
            </a:extLst>
          </p:cNvPr>
          <p:cNvCxnSpPr>
            <a:cxnSpLocks/>
            <a:stCxn id="5" idx="6"/>
            <a:endCxn id="9" idx="1"/>
          </p:cNvCxnSpPr>
          <p:nvPr/>
        </p:nvCxnSpPr>
        <p:spPr>
          <a:xfrm>
            <a:off x="10472946" y="3104297"/>
            <a:ext cx="526338" cy="69827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Freeform: Shape 29">
            <a:extLst>
              <a:ext uri="{FF2B5EF4-FFF2-40B4-BE49-F238E27FC236}">
                <a16:creationId xmlns:a16="http://schemas.microsoft.com/office/drawing/2014/main" id="{4F2AA076-C9EE-31D2-7C0E-DE4E4FF80A33}"/>
              </a:ext>
            </a:extLst>
          </p:cNvPr>
          <p:cNvSpPr/>
          <p:nvPr/>
        </p:nvSpPr>
        <p:spPr>
          <a:xfrm rot="1531544">
            <a:off x="8934100" y="2382063"/>
            <a:ext cx="715838" cy="952874"/>
          </a:xfrm>
          <a:custGeom>
            <a:avLst/>
            <a:gdLst>
              <a:gd name="connsiteX0" fmla="*/ 666411 w 715838"/>
              <a:gd name="connsiteY0" fmla="*/ 795085 h 952874"/>
              <a:gd name="connsiteX1" fmla="*/ 252460 w 715838"/>
              <a:gd name="connsiteY1" fmla="*/ 943366 h 952874"/>
              <a:gd name="connsiteX2" fmla="*/ 5325 w 715838"/>
              <a:gd name="connsiteY2" fmla="*/ 554129 h 952874"/>
              <a:gd name="connsiteX3" fmla="*/ 481060 w 715838"/>
              <a:gd name="connsiteY3" fmla="*/ 22788 h 952874"/>
              <a:gd name="connsiteX4" fmla="*/ 715838 w 715838"/>
              <a:gd name="connsiteY4" fmla="*/ 53680 h 9528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5838" h="952874">
                <a:moveTo>
                  <a:pt x="666411" y="795085"/>
                </a:moveTo>
                <a:cubicBezTo>
                  <a:pt x="514526" y="889305"/>
                  <a:pt x="362641" y="983525"/>
                  <a:pt x="252460" y="943366"/>
                </a:cubicBezTo>
                <a:cubicBezTo>
                  <a:pt x="142279" y="903207"/>
                  <a:pt x="-32775" y="707559"/>
                  <a:pt x="5325" y="554129"/>
                </a:cubicBezTo>
                <a:cubicBezTo>
                  <a:pt x="43425" y="400699"/>
                  <a:pt x="362641" y="106196"/>
                  <a:pt x="481060" y="22788"/>
                </a:cubicBezTo>
                <a:cubicBezTo>
                  <a:pt x="599479" y="-60620"/>
                  <a:pt x="688035" y="116493"/>
                  <a:pt x="715838" y="53680"/>
                </a:cubicBezTo>
              </a:path>
            </a:pathLst>
          </a:custGeom>
          <a:noFill/>
          <a:ln w="254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045889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2757D-9716-4C25-BA54-81C26D6EC04E}"/>
              </a:ext>
            </a:extLst>
          </p:cNvPr>
          <p:cNvSpPr>
            <a:spLocks noGrp="1"/>
          </p:cNvSpPr>
          <p:nvPr>
            <p:ph type="title"/>
          </p:nvPr>
        </p:nvSpPr>
        <p:spPr>
          <a:xfrm>
            <a:off x="838200" y="215696"/>
            <a:ext cx="10515600" cy="930682"/>
          </a:xfrm>
        </p:spPr>
        <p:txBody>
          <a:bodyPr>
            <a:normAutofit/>
          </a:bodyPr>
          <a:lstStyle/>
          <a:p>
            <a:r>
              <a:rPr lang="en-US" sz="4000" dirty="0">
                <a:latin typeface="+mn-lt"/>
              </a:rPr>
              <a:t>Introduction to Graph Theory</a:t>
            </a:r>
          </a:p>
        </p:txBody>
      </p:sp>
      <p:sp>
        <p:nvSpPr>
          <p:cNvPr id="3" name="Content Placeholder 2">
            <a:extLst>
              <a:ext uri="{FF2B5EF4-FFF2-40B4-BE49-F238E27FC236}">
                <a16:creationId xmlns:a16="http://schemas.microsoft.com/office/drawing/2014/main" id="{D9C502E2-3889-41D4-9A2E-D8C04ADE5184}"/>
              </a:ext>
            </a:extLst>
          </p:cNvPr>
          <p:cNvSpPr>
            <a:spLocks noGrp="1"/>
          </p:cNvSpPr>
          <p:nvPr>
            <p:ph idx="1"/>
          </p:nvPr>
        </p:nvSpPr>
        <p:spPr>
          <a:xfrm>
            <a:off x="838200" y="1146379"/>
            <a:ext cx="10515600" cy="856817"/>
          </a:xfrm>
        </p:spPr>
        <p:txBody>
          <a:bodyPr>
            <a:normAutofit lnSpcReduction="10000"/>
          </a:bodyPr>
          <a:lstStyle/>
          <a:p>
            <a:pPr marL="0" indent="0">
              <a:buNone/>
            </a:pPr>
            <a:r>
              <a:rPr lang="en-US" b="1" dirty="0"/>
              <a:t>Directed graphs</a:t>
            </a:r>
            <a:r>
              <a:rPr lang="en-US" dirty="0"/>
              <a:t> are constructed from </a:t>
            </a:r>
            <a:r>
              <a:rPr lang="en-US" b="1" dirty="0"/>
              <a:t>nodes</a:t>
            </a:r>
            <a:r>
              <a:rPr lang="en-US" dirty="0"/>
              <a:t> or </a:t>
            </a:r>
            <a:r>
              <a:rPr lang="en-US" b="1" dirty="0"/>
              <a:t>vertices</a:t>
            </a:r>
            <a:r>
              <a:rPr lang="en-US" dirty="0"/>
              <a:t> connected by </a:t>
            </a:r>
            <a:r>
              <a:rPr lang="en-US" b="1" dirty="0"/>
              <a:t>directed edges</a:t>
            </a: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C9D1B286-A50E-29BB-C7D7-B06A74DE055B}"/>
                  </a:ext>
                </a:extLst>
              </p:cNvPr>
              <p:cNvSpPr txBox="1">
                <a:spLocks/>
              </p:cNvSpPr>
              <p:nvPr/>
            </p:nvSpPr>
            <p:spPr>
              <a:xfrm>
                <a:off x="838200" y="1976383"/>
                <a:ext cx="8027643" cy="47951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Nodes in directed networks have an in-degree,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𝑘</m:t>
                        </m:r>
                      </m:e>
                      <m:sub>
                        <m:r>
                          <a:rPr lang="en-US" i="1">
                            <a:latin typeface="Cambria Math" panose="02040503050406030204" pitchFamily="18" charset="0"/>
                          </a:rPr>
                          <m:t>𝑖𝑛</m:t>
                        </m:r>
                      </m:sub>
                    </m:sSub>
                  </m:oMath>
                </a14:m>
                <a:r>
                  <a:rPr lang="en-US" b="1" dirty="0"/>
                  <a:t>,</a:t>
                </a:r>
                <a:r>
                  <a:rPr lang="en-US" dirty="0"/>
                  <a:t> and out-degree,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𝑜𝑢𝑡</m:t>
                        </m:r>
                      </m:sub>
                    </m:sSub>
                  </m:oMath>
                </a14:m>
                <a:r>
                  <a:rPr lang="en-US" b="1" dirty="0"/>
                  <a:t>, </a:t>
                </a:r>
                <a:endParaRPr lang="en-US" dirty="0"/>
              </a:p>
              <a:p>
                <a:r>
                  <a:rPr lang="en-US" dirty="0"/>
                  <a:t>Example; for Gigi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𝑘</m:t>
                        </m:r>
                      </m:e>
                      <m:sub>
                        <m:r>
                          <a:rPr lang="en-US" b="0" i="1" smtClean="0">
                            <a:latin typeface="Cambria Math" panose="02040503050406030204" pitchFamily="18" charset="0"/>
                          </a:rPr>
                          <m:t>𝑖𝑛</m:t>
                        </m:r>
                      </m:sub>
                    </m:sSub>
                    <m:r>
                      <a:rPr lang="en-US" b="0" i="1" smtClean="0">
                        <a:latin typeface="Cambria Math" panose="02040503050406030204" pitchFamily="18" charset="0"/>
                      </a:rPr>
                      <m:t>=3</m:t>
                    </m:r>
                  </m:oMath>
                </a14:m>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𝑜𝑢𝑡</m:t>
                        </m:r>
                      </m:sub>
                    </m:sSub>
                    <m:r>
                      <a:rPr lang="en-US" b="0" i="1" smtClean="0">
                        <a:latin typeface="Cambria Math" panose="02040503050406030204" pitchFamily="18" charset="0"/>
                      </a:rPr>
                      <m:t>=2</m:t>
                    </m:r>
                  </m:oMath>
                </a14:m>
                <a:endParaRPr lang="en-US" dirty="0"/>
              </a:p>
              <a:p>
                <a:r>
                  <a:rPr lang="en-US" dirty="0"/>
                  <a:t>Example; for Asan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𝑘</m:t>
                        </m:r>
                      </m:e>
                      <m:sub>
                        <m:r>
                          <a:rPr lang="en-US" b="0" i="1" smtClean="0">
                            <a:latin typeface="Cambria Math" panose="02040503050406030204" pitchFamily="18" charset="0"/>
                          </a:rPr>
                          <m:t>𝑖𝑛</m:t>
                        </m:r>
                      </m:sub>
                    </m:sSub>
                    <m:r>
                      <a:rPr lang="en-US" b="0" i="1" smtClean="0">
                        <a:latin typeface="Cambria Math" panose="02040503050406030204" pitchFamily="18" charset="0"/>
                      </a:rPr>
                      <m:t>=0</m:t>
                    </m:r>
                  </m:oMath>
                </a14:m>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𝑜𝑢𝑡</m:t>
                        </m:r>
                      </m:sub>
                    </m:sSub>
                    <m:r>
                      <a:rPr lang="en-US" b="0" i="1" smtClean="0">
                        <a:latin typeface="Cambria Math" panose="02040503050406030204" pitchFamily="18" charset="0"/>
                      </a:rPr>
                      <m:t>=1</m:t>
                    </m:r>
                  </m:oMath>
                </a14:m>
                <a:endParaRPr lang="en-US" dirty="0"/>
              </a:p>
              <a:p>
                <a:endParaRPr lang="en-US" dirty="0"/>
              </a:p>
              <a:p>
                <a:endParaRPr lang="en-US" dirty="0"/>
              </a:p>
            </p:txBody>
          </p:sp>
        </mc:Choice>
        <mc:Fallback xmlns="">
          <p:sp>
            <p:nvSpPr>
              <p:cNvPr id="4" name="Content Placeholder 2">
                <a:extLst>
                  <a:ext uri="{FF2B5EF4-FFF2-40B4-BE49-F238E27FC236}">
                    <a16:creationId xmlns:a16="http://schemas.microsoft.com/office/drawing/2014/main" id="{C9D1B286-A50E-29BB-C7D7-B06A74DE055B}"/>
                  </a:ext>
                </a:extLst>
              </p:cNvPr>
              <p:cNvSpPr txBox="1">
                <a:spLocks noRot="1" noChangeAspect="1" noMove="1" noResize="1" noEditPoints="1" noAdjustHandles="1" noChangeArrowheads="1" noChangeShapeType="1" noTextEdit="1"/>
              </p:cNvSpPr>
              <p:nvPr/>
            </p:nvSpPr>
            <p:spPr>
              <a:xfrm>
                <a:off x="838200" y="1976383"/>
                <a:ext cx="8027643" cy="4795120"/>
              </a:xfrm>
              <a:prstGeom prst="rect">
                <a:avLst/>
              </a:prstGeom>
              <a:blipFill>
                <a:blip r:embed="rId2"/>
                <a:stretch>
                  <a:fillRect l="-1596" t="-2033"/>
                </a:stretch>
              </a:blipFill>
            </p:spPr>
            <p:txBody>
              <a:bodyPr/>
              <a:lstStyle/>
              <a:p>
                <a:r>
                  <a:rPr lang="en-US">
                    <a:noFill/>
                  </a:rPr>
                  <a:t> </a:t>
                </a:r>
              </a:p>
            </p:txBody>
          </p:sp>
        </mc:Fallback>
      </mc:AlternateContent>
      <p:sp>
        <p:nvSpPr>
          <p:cNvPr id="5" name="Oval 4">
            <a:extLst>
              <a:ext uri="{FF2B5EF4-FFF2-40B4-BE49-F238E27FC236}">
                <a16:creationId xmlns:a16="http://schemas.microsoft.com/office/drawing/2014/main" id="{FA471341-5FEB-82C2-9469-65303EEFB2CC}"/>
              </a:ext>
            </a:extLst>
          </p:cNvPr>
          <p:cNvSpPr/>
          <p:nvPr/>
        </p:nvSpPr>
        <p:spPr>
          <a:xfrm>
            <a:off x="9419670" y="2625771"/>
            <a:ext cx="1053276" cy="957052"/>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Bob</a:t>
            </a:r>
          </a:p>
        </p:txBody>
      </p:sp>
      <p:sp>
        <p:nvSpPr>
          <p:cNvPr id="6" name="Oval 5">
            <a:extLst>
              <a:ext uri="{FF2B5EF4-FFF2-40B4-BE49-F238E27FC236}">
                <a16:creationId xmlns:a16="http://schemas.microsoft.com/office/drawing/2014/main" id="{356D8232-0A3F-67A8-98DA-406FFAD14F7D}"/>
              </a:ext>
            </a:extLst>
          </p:cNvPr>
          <p:cNvSpPr/>
          <p:nvPr/>
        </p:nvSpPr>
        <p:spPr>
          <a:xfrm>
            <a:off x="10902926" y="2116962"/>
            <a:ext cx="996778" cy="957051"/>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Raj</a:t>
            </a:r>
          </a:p>
        </p:txBody>
      </p:sp>
      <p:sp>
        <p:nvSpPr>
          <p:cNvPr id="7" name="Oval 6">
            <a:extLst>
              <a:ext uri="{FF2B5EF4-FFF2-40B4-BE49-F238E27FC236}">
                <a16:creationId xmlns:a16="http://schemas.microsoft.com/office/drawing/2014/main" id="{C0D29C6E-C7F0-44AA-65C5-1435927DC9EC}"/>
              </a:ext>
            </a:extLst>
          </p:cNvPr>
          <p:cNvSpPr/>
          <p:nvPr/>
        </p:nvSpPr>
        <p:spPr>
          <a:xfrm>
            <a:off x="9543699" y="4020500"/>
            <a:ext cx="1053276" cy="957052"/>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Mary</a:t>
            </a:r>
          </a:p>
        </p:txBody>
      </p:sp>
      <p:sp>
        <p:nvSpPr>
          <p:cNvPr id="9" name="Oval 8">
            <a:extLst>
              <a:ext uri="{FF2B5EF4-FFF2-40B4-BE49-F238E27FC236}">
                <a16:creationId xmlns:a16="http://schemas.microsoft.com/office/drawing/2014/main" id="{600CE6E5-2E51-DA2F-2354-011F21458123}"/>
              </a:ext>
            </a:extLst>
          </p:cNvPr>
          <p:cNvSpPr/>
          <p:nvPr/>
        </p:nvSpPr>
        <p:spPr>
          <a:xfrm>
            <a:off x="10845035" y="3662410"/>
            <a:ext cx="1053276" cy="957052"/>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Gigi</a:t>
            </a:r>
          </a:p>
        </p:txBody>
      </p:sp>
      <p:sp>
        <p:nvSpPr>
          <p:cNvPr id="10" name="Oval 9">
            <a:extLst>
              <a:ext uri="{FF2B5EF4-FFF2-40B4-BE49-F238E27FC236}">
                <a16:creationId xmlns:a16="http://schemas.microsoft.com/office/drawing/2014/main" id="{2015839D-CEF0-5DC5-C3C1-0303BF18F0F3}"/>
              </a:ext>
            </a:extLst>
          </p:cNvPr>
          <p:cNvSpPr/>
          <p:nvPr/>
        </p:nvSpPr>
        <p:spPr>
          <a:xfrm>
            <a:off x="10845035" y="4977552"/>
            <a:ext cx="1053276" cy="957052"/>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Asan</a:t>
            </a:r>
          </a:p>
        </p:txBody>
      </p:sp>
      <p:cxnSp>
        <p:nvCxnSpPr>
          <p:cNvPr id="12" name="Straight Connector 11">
            <a:extLst>
              <a:ext uri="{FF2B5EF4-FFF2-40B4-BE49-F238E27FC236}">
                <a16:creationId xmlns:a16="http://schemas.microsoft.com/office/drawing/2014/main" id="{610FF0E3-2F88-3699-999D-6A863C20BA86}"/>
              </a:ext>
            </a:extLst>
          </p:cNvPr>
          <p:cNvCxnSpPr>
            <a:cxnSpLocks/>
            <a:stCxn id="5" idx="7"/>
            <a:endCxn id="6" idx="2"/>
          </p:cNvCxnSpPr>
          <p:nvPr/>
        </p:nvCxnSpPr>
        <p:spPr>
          <a:xfrm flipV="1">
            <a:off x="10318697" y="2595488"/>
            <a:ext cx="584229" cy="17044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E66A233-C1CD-1A6A-D06D-FCBE3ADEAC79}"/>
              </a:ext>
            </a:extLst>
          </p:cNvPr>
          <p:cNvCxnSpPr>
            <a:cxnSpLocks/>
            <a:stCxn id="6" idx="4"/>
            <a:endCxn id="9" idx="0"/>
          </p:cNvCxnSpPr>
          <p:nvPr/>
        </p:nvCxnSpPr>
        <p:spPr>
          <a:xfrm flipH="1">
            <a:off x="11371673" y="3074013"/>
            <a:ext cx="29642" cy="588397"/>
          </a:xfrm>
          <a:prstGeom prst="line">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C3C4BD6-CA82-0C61-F0F2-B5A617A473D2}"/>
              </a:ext>
            </a:extLst>
          </p:cNvPr>
          <p:cNvCxnSpPr>
            <a:cxnSpLocks/>
            <a:stCxn id="9" idx="4"/>
            <a:endCxn id="10" idx="0"/>
          </p:cNvCxnSpPr>
          <p:nvPr/>
        </p:nvCxnSpPr>
        <p:spPr>
          <a:xfrm>
            <a:off x="11371673" y="4619462"/>
            <a:ext cx="0" cy="358090"/>
          </a:xfrm>
          <a:prstGeom prst="line">
            <a:avLst/>
          </a:prstGeom>
          <a:ln w="25400">
            <a:solidFill>
              <a:schemeClr val="tx1"/>
            </a:solidFill>
            <a:headEnd type="triangle" w="lg" len="med"/>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D259FBE-FF43-741B-88D6-584B3BC3AB2A}"/>
              </a:ext>
            </a:extLst>
          </p:cNvPr>
          <p:cNvCxnSpPr>
            <a:cxnSpLocks/>
            <a:stCxn id="7" idx="6"/>
            <a:endCxn id="9" idx="3"/>
          </p:cNvCxnSpPr>
          <p:nvPr/>
        </p:nvCxnSpPr>
        <p:spPr>
          <a:xfrm flipV="1">
            <a:off x="10596975" y="4479305"/>
            <a:ext cx="402309" cy="19721"/>
          </a:xfrm>
          <a:prstGeom prst="line">
            <a:avLst/>
          </a:prstGeom>
          <a:ln w="25400">
            <a:solidFill>
              <a:schemeClr val="tx1"/>
            </a:solidFill>
            <a:headEnd type="triangl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C67E1D8-B2B4-B696-CAC2-BF943F44B9FC}"/>
              </a:ext>
            </a:extLst>
          </p:cNvPr>
          <p:cNvCxnSpPr>
            <a:cxnSpLocks/>
            <a:stCxn id="7" idx="0"/>
            <a:endCxn id="5" idx="4"/>
          </p:cNvCxnSpPr>
          <p:nvPr/>
        </p:nvCxnSpPr>
        <p:spPr>
          <a:xfrm flipH="1" flipV="1">
            <a:off x="9946308" y="3582823"/>
            <a:ext cx="124029" cy="437677"/>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03E1252F-3CF3-8812-5A09-45CB63C0903A}"/>
              </a:ext>
            </a:extLst>
          </p:cNvPr>
          <p:cNvCxnSpPr>
            <a:cxnSpLocks/>
            <a:stCxn id="9" idx="2"/>
            <a:endCxn id="5" idx="5"/>
          </p:cNvCxnSpPr>
          <p:nvPr/>
        </p:nvCxnSpPr>
        <p:spPr>
          <a:xfrm flipH="1" flipV="1">
            <a:off x="10318697" y="3442666"/>
            <a:ext cx="526338" cy="69827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6353117F-EAD1-E0E7-CE04-41E7249C22A3}"/>
              </a:ext>
            </a:extLst>
          </p:cNvPr>
          <p:cNvCxnSpPr>
            <a:cxnSpLocks/>
            <a:stCxn id="5" idx="6"/>
            <a:endCxn id="9" idx="1"/>
          </p:cNvCxnSpPr>
          <p:nvPr/>
        </p:nvCxnSpPr>
        <p:spPr>
          <a:xfrm>
            <a:off x="10472946" y="3104297"/>
            <a:ext cx="526338" cy="69827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Freeform: Shape 29">
            <a:extLst>
              <a:ext uri="{FF2B5EF4-FFF2-40B4-BE49-F238E27FC236}">
                <a16:creationId xmlns:a16="http://schemas.microsoft.com/office/drawing/2014/main" id="{4F2AA076-C9EE-31D2-7C0E-DE4E4FF80A33}"/>
              </a:ext>
            </a:extLst>
          </p:cNvPr>
          <p:cNvSpPr/>
          <p:nvPr/>
        </p:nvSpPr>
        <p:spPr>
          <a:xfrm rot="1531544">
            <a:off x="8934100" y="2382063"/>
            <a:ext cx="715838" cy="952874"/>
          </a:xfrm>
          <a:custGeom>
            <a:avLst/>
            <a:gdLst>
              <a:gd name="connsiteX0" fmla="*/ 666411 w 715838"/>
              <a:gd name="connsiteY0" fmla="*/ 795085 h 952874"/>
              <a:gd name="connsiteX1" fmla="*/ 252460 w 715838"/>
              <a:gd name="connsiteY1" fmla="*/ 943366 h 952874"/>
              <a:gd name="connsiteX2" fmla="*/ 5325 w 715838"/>
              <a:gd name="connsiteY2" fmla="*/ 554129 h 952874"/>
              <a:gd name="connsiteX3" fmla="*/ 481060 w 715838"/>
              <a:gd name="connsiteY3" fmla="*/ 22788 h 952874"/>
              <a:gd name="connsiteX4" fmla="*/ 715838 w 715838"/>
              <a:gd name="connsiteY4" fmla="*/ 53680 h 9528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5838" h="952874">
                <a:moveTo>
                  <a:pt x="666411" y="795085"/>
                </a:moveTo>
                <a:cubicBezTo>
                  <a:pt x="514526" y="889305"/>
                  <a:pt x="362641" y="983525"/>
                  <a:pt x="252460" y="943366"/>
                </a:cubicBezTo>
                <a:cubicBezTo>
                  <a:pt x="142279" y="903207"/>
                  <a:pt x="-32775" y="707559"/>
                  <a:pt x="5325" y="554129"/>
                </a:cubicBezTo>
                <a:cubicBezTo>
                  <a:pt x="43425" y="400699"/>
                  <a:pt x="362641" y="106196"/>
                  <a:pt x="481060" y="22788"/>
                </a:cubicBezTo>
                <a:cubicBezTo>
                  <a:pt x="599479" y="-60620"/>
                  <a:pt x="688035" y="116493"/>
                  <a:pt x="715838" y="53680"/>
                </a:cubicBezTo>
              </a:path>
            </a:pathLst>
          </a:custGeom>
          <a:noFill/>
          <a:ln w="254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14461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319BF-275F-C7BD-23CC-E954FAB64E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1E5083-137B-CDC5-DD15-FD486D7256B3}"/>
              </a:ext>
            </a:extLst>
          </p:cNvPr>
          <p:cNvSpPr>
            <a:spLocks noGrp="1"/>
          </p:cNvSpPr>
          <p:nvPr>
            <p:ph type="title"/>
          </p:nvPr>
        </p:nvSpPr>
        <p:spPr>
          <a:xfrm>
            <a:off x="831850" y="1709738"/>
            <a:ext cx="10515600" cy="2282271"/>
          </a:xfrm>
        </p:spPr>
        <p:txBody>
          <a:bodyPr/>
          <a:lstStyle/>
          <a:p>
            <a:pPr algn="ctr"/>
            <a:r>
              <a:rPr lang="en-US" dirty="0"/>
              <a:t>Random Graphs</a:t>
            </a:r>
          </a:p>
        </p:txBody>
      </p:sp>
    </p:spTree>
    <p:extLst>
      <p:ext uri="{BB962C8B-B14F-4D97-AF65-F5344CB8AC3E}">
        <p14:creationId xmlns:p14="http://schemas.microsoft.com/office/powerpoint/2010/main" val="12181432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8291E-DCC6-4D60-2F40-7F70A1E570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95BE2E-CC50-EC93-CA4E-2D3585BD690D}"/>
              </a:ext>
            </a:extLst>
          </p:cNvPr>
          <p:cNvSpPr>
            <a:spLocks noGrp="1"/>
          </p:cNvSpPr>
          <p:nvPr>
            <p:ph type="title"/>
          </p:nvPr>
        </p:nvSpPr>
        <p:spPr>
          <a:xfrm>
            <a:off x="838200" y="365125"/>
            <a:ext cx="10515600" cy="620993"/>
          </a:xfrm>
        </p:spPr>
        <p:txBody>
          <a:bodyPr>
            <a:normAutofit fontScale="90000"/>
          </a:bodyPr>
          <a:lstStyle/>
          <a:p>
            <a:r>
              <a:rPr lang="en-US" dirty="0">
                <a:latin typeface="+mn-lt"/>
              </a:rPr>
              <a:t>Random Graphs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E494F8E-CC87-866C-400D-E3AE659E241B}"/>
                  </a:ext>
                </a:extLst>
              </p:cNvPr>
              <p:cNvSpPr>
                <a:spLocks noGrp="1"/>
              </p:cNvSpPr>
              <p:nvPr>
                <p:ph idx="1"/>
              </p:nvPr>
            </p:nvSpPr>
            <p:spPr>
              <a:xfrm>
                <a:off x="775447" y="1208868"/>
                <a:ext cx="10515600" cy="5447426"/>
              </a:xfrm>
            </p:spPr>
            <p:txBody>
              <a:bodyPr>
                <a:normAutofit/>
              </a:bodyPr>
              <a:lstStyle/>
              <a:p>
                <a:pPr marL="0" indent="0">
                  <a:buNone/>
                </a:pPr>
                <a:r>
                  <a:rPr lang="en-US" dirty="0"/>
                  <a:t>The properties of </a:t>
                </a:r>
                <a:r>
                  <a:rPr lang="en-US" b="1" dirty="0">
                    <a:hlinkClick r:id="rId2"/>
                  </a:rPr>
                  <a:t>random graphs </a:t>
                </a:r>
                <a:r>
                  <a:rPr lang="en-US" dirty="0"/>
                  <a:t>are useful benchmarks for real-world networks   </a:t>
                </a:r>
              </a:p>
              <a:p>
                <a:r>
                  <a:rPr lang="en-US" dirty="0"/>
                  <a:t>How can we define a random network or graph?</a:t>
                </a:r>
              </a:p>
              <a:p>
                <a:pPr lvl="1"/>
                <a:r>
                  <a:rPr lang="en-US" dirty="0"/>
                  <a:t>Graph is composed of </a:t>
                </a:r>
                <a14:m>
                  <m:oMath xmlns:m="http://schemas.openxmlformats.org/officeDocument/2006/math">
                    <m:r>
                      <a:rPr lang="en-US" i="1">
                        <a:latin typeface="Cambria Math" panose="02040503050406030204" pitchFamily="18" charset="0"/>
                      </a:rPr>
                      <m:t>𝑛</m:t>
                    </m:r>
                  </m:oMath>
                </a14:m>
                <a:r>
                  <a:rPr lang="en-US" dirty="0"/>
                  <a:t> nodes</a:t>
                </a:r>
              </a:p>
              <a:p>
                <a:pPr lvl="1"/>
                <a:r>
                  <a:rPr lang="en-US" dirty="0"/>
                  <a:t>Edges between nodes are randomly selected </a:t>
                </a:r>
              </a:p>
              <a:p>
                <a:r>
                  <a:rPr lang="en-US" dirty="0"/>
                  <a:t>Two widely used and nearly equivalent models   </a:t>
                </a:r>
              </a:p>
              <a:p>
                <a:pPr lvl="1"/>
                <a14:m>
                  <m:oMath xmlns:m="http://schemas.openxmlformats.org/officeDocument/2006/math">
                    <m:r>
                      <a:rPr lang="en-US" b="0" i="1" smtClean="0">
                        <a:latin typeface="Cambria Math" panose="02040503050406030204" pitchFamily="18" charset="0"/>
                      </a:rPr>
                      <m:t>𝐺</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𝑀</m:t>
                    </m:r>
                    <m:r>
                      <a:rPr lang="en-US" b="0" i="1" smtClean="0">
                        <a:latin typeface="Cambria Math" panose="02040503050406030204" pitchFamily="18" charset="0"/>
                      </a:rPr>
                      <m:t>)</m:t>
                    </m:r>
                  </m:oMath>
                </a14:m>
                <a:r>
                  <a:rPr lang="en-US" dirty="0"/>
                  <a:t>: sometimes referred to by the creators as the </a:t>
                </a:r>
                <a:r>
                  <a:rPr lang="en-US" dirty="0">
                    <a:hlinkClick r:id="rId3"/>
                  </a:rPr>
                  <a:t>Erdős–Rényi (1959) </a:t>
                </a:r>
                <a:r>
                  <a:rPr lang="en-US" dirty="0"/>
                  <a:t>model</a:t>
                </a:r>
              </a:p>
              <a:p>
                <a:pPr lvl="1"/>
                <a14:m>
                  <m:oMath xmlns:m="http://schemas.openxmlformats.org/officeDocument/2006/math">
                    <m:r>
                      <a:rPr lang="en-US" i="1">
                        <a:latin typeface="Cambria Math" panose="02040503050406030204" pitchFamily="18" charset="0"/>
                      </a:rPr>
                      <m:t>𝐺</m:t>
                    </m:r>
                    <m:r>
                      <a:rPr lang="en-US" i="1">
                        <a:latin typeface="Cambria Math" panose="02040503050406030204" pitchFamily="18" charset="0"/>
                      </a:rPr>
                      <m:t>(</m:t>
                    </m:r>
                    <m:r>
                      <a:rPr lang="en-US" i="1">
                        <a:latin typeface="Cambria Math" panose="02040503050406030204" pitchFamily="18" charset="0"/>
                      </a:rPr>
                      <m:t>𝑛</m:t>
                    </m:r>
                    <m:r>
                      <a:rPr lang="en-US" i="1">
                        <a:latin typeface="Cambria Math" panose="02040503050406030204" pitchFamily="18" charset="0"/>
                      </a:rPr>
                      <m:t>,</m:t>
                    </m:r>
                    <m:r>
                      <a:rPr lang="en-US" b="0" i="1" smtClean="0">
                        <a:latin typeface="Cambria Math" panose="02040503050406030204" pitchFamily="18" charset="0"/>
                      </a:rPr>
                      <m:t>𝑝</m:t>
                    </m:r>
                    <m:r>
                      <a:rPr lang="en-US" i="1">
                        <a:latin typeface="Cambria Math" panose="02040503050406030204" pitchFamily="18" charset="0"/>
                      </a:rPr>
                      <m:t>)</m:t>
                    </m:r>
                  </m:oMath>
                </a14:m>
                <a:r>
                  <a:rPr lang="en-US" dirty="0"/>
                  <a:t>: idependently proposed by </a:t>
                </a:r>
                <a:r>
                  <a:rPr lang="en-US" dirty="0">
                    <a:hlinkClick r:id="rId4"/>
                  </a:rPr>
                  <a:t>Gilbert (1959)</a:t>
                </a:r>
                <a:endParaRPr lang="en-US" dirty="0"/>
              </a:p>
              <a:p>
                <a:endParaRPr lang="en-US" dirty="0"/>
              </a:p>
              <a:p>
                <a:pPr marL="0" indent="0">
                  <a:buNone/>
                </a:pPr>
                <a:r>
                  <a:rPr lang="en-US" sz="1800" dirty="0"/>
                  <a:t>Hungarian born, </a:t>
                </a:r>
                <a:r>
                  <a:rPr lang="en-US" sz="1800" dirty="0">
                    <a:hlinkClick r:id="rId5"/>
                  </a:rPr>
                  <a:t>Paul Erdős </a:t>
                </a:r>
                <a:r>
                  <a:rPr lang="en-US" sz="1800" dirty="0"/>
                  <a:t>was one of the 20</a:t>
                </a:r>
                <a:r>
                  <a:rPr lang="en-US" sz="1800" baseline="30000" dirty="0"/>
                  <a:t>th</a:t>
                </a:r>
                <a:r>
                  <a:rPr lang="en-US" sz="1800" dirty="0"/>
                  <a:t> Century’s most creative mathematicians, (co)authoring over 500 papers. The highly eccentric Erdős lived most of his life as an itinerant, never holding a permanent position, and couch surfing in the homes of his many notable coauthors.   </a:t>
                </a:r>
              </a:p>
              <a:p>
                <a:endParaRPr lang="en-US" dirty="0"/>
              </a:p>
              <a:p>
                <a:pPr lvl="1"/>
                <a:endParaRPr lang="en-US" dirty="0"/>
              </a:p>
              <a:p>
                <a:pPr lvl="1"/>
                <a:endParaRPr lang="en-US" dirty="0"/>
              </a:p>
              <a:p>
                <a:endParaRPr lang="en-US" dirty="0"/>
              </a:p>
            </p:txBody>
          </p:sp>
        </mc:Choice>
        <mc:Fallback xmlns="">
          <p:sp>
            <p:nvSpPr>
              <p:cNvPr id="3" name="Content Placeholder 2">
                <a:extLst>
                  <a:ext uri="{FF2B5EF4-FFF2-40B4-BE49-F238E27FC236}">
                    <a16:creationId xmlns:a16="http://schemas.microsoft.com/office/drawing/2014/main" id="{AE494F8E-CC87-866C-400D-E3AE659E241B}"/>
                  </a:ext>
                </a:extLst>
              </p:cNvPr>
              <p:cNvSpPr>
                <a:spLocks noGrp="1" noRot="1" noChangeAspect="1" noMove="1" noResize="1" noEditPoints="1" noAdjustHandles="1" noChangeArrowheads="1" noChangeShapeType="1" noTextEdit="1"/>
              </p:cNvSpPr>
              <p:nvPr>
                <p:ph idx="1"/>
              </p:nvPr>
            </p:nvSpPr>
            <p:spPr>
              <a:xfrm>
                <a:off x="775447" y="1208868"/>
                <a:ext cx="10515600" cy="5447426"/>
              </a:xfrm>
              <a:blipFill>
                <a:blip r:embed="rId6"/>
                <a:stretch>
                  <a:fillRect l="-1159" t="-1790" r="-754"/>
                </a:stretch>
              </a:blipFill>
            </p:spPr>
            <p:txBody>
              <a:bodyPr/>
              <a:lstStyle/>
              <a:p>
                <a:r>
                  <a:rPr lang="en-US">
                    <a:noFill/>
                  </a:rPr>
                  <a:t> </a:t>
                </a:r>
              </a:p>
            </p:txBody>
          </p:sp>
        </mc:Fallback>
      </mc:AlternateContent>
    </p:spTree>
    <p:extLst>
      <p:ext uri="{BB962C8B-B14F-4D97-AF65-F5344CB8AC3E}">
        <p14:creationId xmlns:p14="http://schemas.microsoft.com/office/powerpoint/2010/main" val="4157767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FE117-92C1-AD8D-8F0F-9919DD432D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8E80E2-1F97-6B49-DE12-B6C0610355A4}"/>
              </a:ext>
            </a:extLst>
          </p:cNvPr>
          <p:cNvSpPr>
            <a:spLocks noGrp="1"/>
          </p:cNvSpPr>
          <p:nvPr>
            <p:ph type="title"/>
          </p:nvPr>
        </p:nvSpPr>
        <p:spPr>
          <a:xfrm>
            <a:off x="838200" y="365125"/>
            <a:ext cx="10515600" cy="620993"/>
          </a:xfrm>
        </p:spPr>
        <p:txBody>
          <a:bodyPr>
            <a:normAutofit fontScale="90000"/>
          </a:bodyPr>
          <a:lstStyle/>
          <a:p>
            <a:r>
              <a:rPr lang="en-US" dirty="0">
                <a:latin typeface="+mn-lt"/>
              </a:rPr>
              <a:t>Random Graphs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65524CE-2D50-B763-B942-9E6B3CAB3EBC}"/>
                  </a:ext>
                </a:extLst>
              </p:cNvPr>
              <p:cNvSpPr>
                <a:spLocks noGrp="1"/>
              </p:cNvSpPr>
              <p:nvPr>
                <p:ph idx="1"/>
              </p:nvPr>
            </p:nvSpPr>
            <p:spPr>
              <a:xfrm>
                <a:off x="775447" y="1208868"/>
                <a:ext cx="10515600" cy="5447426"/>
              </a:xfrm>
            </p:spPr>
            <p:txBody>
              <a:bodyPr>
                <a:normAutofit/>
              </a:bodyPr>
              <a:lstStyle/>
              <a:p>
                <a:pPr marL="0" indent="0">
                  <a:buNone/>
                </a:pPr>
                <a:r>
                  <a:rPr lang="en-US" dirty="0"/>
                  <a:t>Two widely used and nearly equivalent models   </a:t>
                </a:r>
              </a:p>
              <a:p>
                <a14:m>
                  <m:oMath xmlns:m="http://schemas.openxmlformats.org/officeDocument/2006/math">
                    <m:r>
                      <a:rPr lang="en-US" b="0" i="1" smtClean="0">
                        <a:latin typeface="Cambria Math" panose="02040503050406030204" pitchFamily="18" charset="0"/>
                      </a:rPr>
                      <m:t>𝐺</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𝑀</m:t>
                    </m:r>
                    <m:r>
                      <a:rPr lang="en-US" b="0" i="1" smtClean="0">
                        <a:latin typeface="Cambria Math" panose="02040503050406030204" pitchFamily="18" charset="0"/>
                      </a:rPr>
                      <m:t>)</m:t>
                    </m:r>
                  </m:oMath>
                </a14:m>
                <a:r>
                  <a:rPr lang="en-US" dirty="0"/>
                  <a:t>: sometimes referred to by the creators as the </a:t>
                </a:r>
                <a:r>
                  <a:rPr lang="en-US" dirty="0">
                    <a:hlinkClick r:id="rId2"/>
                  </a:rPr>
                  <a:t>Erdős–Rényi (1959) </a:t>
                </a:r>
                <a:r>
                  <a:rPr lang="en-US" dirty="0"/>
                  <a:t>model</a:t>
                </a:r>
              </a:p>
              <a:p>
                <a:pPr lvl="1"/>
                <a14:m>
                  <m:oMath xmlns:m="http://schemas.openxmlformats.org/officeDocument/2006/math">
                    <m:r>
                      <a:rPr lang="en-US" i="1">
                        <a:latin typeface="Cambria Math" panose="02040503050406030204" pitchFamily="18" charset="0"/>
                      </a:rPr>
                      <m:t>𝑀</m:t>
                    </m:r>
                  </m:oMath>
                </a14:m>
                <a:r>
                  <a:rPr lang="en-US" dirty="0"/>
                  <a:t> edges are randomly distributed connecting the </a:t>
                </a:r>
                <a14:m>
                  <m:oMath xmlns:m="http://schemas.openxmlformats.org/officeDocument/2006/math">
                    <m:r>
                      <a:rPr lang="en-US" i="1">
                        <a:latin typeface="Cambria Math" panose="02040503050406030204" pitchFamily="18" charset="0"/>
                      </a:rPr>
                      <m:t>𝑛</m:t>
                    </m:r>
                  </m:oMath>
                </a14:m>
                <a:r>
                  <a:rPr lang="en-US" dirty="0"/>
                  <a:t> nodes</a:t>
                </a:r>
              </a:p>
              <a:p>
                <a:pPr lvl="1"/>
                <a:r>
                  <a:rPr lang="en-US" dirty="0"/>
                  <a:t>As </a:t>
                </a:r>
                <a14:m>
                  <m:oMath xmlns:m="http://schemas.openxmlformats.org/officeDocument/2006/math">
                    <m:r>
                      <a:rPr lang="en-US" b="0" i="1" smtClean="0">
                        <a:latin typeface="Cambria Math" panose="02040503050406030204" pitchFamily="18" charset="0"/>
                      </a:rPr>
                      <m:t>𝑀</m:t>
                    </m:r>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2</m:t>
                        </m:r>
                      </m:den>
                    </m:f>
                  </m:oMath>
                </a14:m>
                <a:r>
                  <a:rPr lang="en-US" dirty="0"/>
                  <a:t> the graph becomes fully connected</a:t>
                </a:r>
              </a:p>
              <a:p>
                <a14:m>
                  <m:oMath xmlns:m="http://schemas.openxmlformats.org/officeDocument/2006/math">
                    <m:r>
                      <a:rPr lang="en-US" i="1">
                        <a:latin typeface="Cambria Math" panose="02040503050406030204" pitchFamily="18" charset="0"/>
                      </a:rPr>
                      <m:t>𝐺</m:t>
                    </m:r>
                    <m:r>
                      <a:rPr lang="en-US" i="1">
                        <a:latin typeface="Cambria Math" panose="02040503050406030204" pitchFamily="18" charset="0"/>
                      </a:rPr>
                      <m:t>(</m:t>
                    </m:r>
                    <m:r>
                      <a:rPr lang="en-US" i="1">
                        <a:latin typeface="Cambria Math" panose="02040503050406030204" pitchFamily="18" charset="0"/>
                      </a:rPr>
                      <m:t>𝑛</m:t>
                    </m:r>
                    <m:r>
                      <a:rPr lang="en-US" i="1">
                        <a:latin typeface="Cambria Math" panose="02040503050406030204" pitchFamily="18" charset="0"/>
                      </a:rPr>
                      <m:t>,</m:t>
                    </m:r>
                    <m:r>
                      <a:rPr lang="en-US" b="0" i="1" smtClean="0">
                        <a:latin typeface="Cambria Math" panose="02040503050406030204" pitchFamily="18" charset="0"/>
                      </a:rPr>
                      <m:t>𝑝</m:t>
                    </m:r>
                    <m:r>
                      <a:rPr lang="en-US" i="1">
                        <a:latin typeface="Cambria Math" panose="02040503050406030204" pitchFamily="18" charset="0"/>
                      </a:rPr>
                      <m:t>)</m:t>
                    </m:r>
                  </m:oMath>
                </a14:m>
                <a:r>
                  <a:rPr lang="en-US" dirty="0"/>
                  <a:t>: idependently proposed by </a:t>
                </a:r>
                <a:r>
                  <a:rPr lang="en-US" dirty="0">
                    <a:hlinkClick r:id="rId3"/>
                  </a:rPr>
                  <a:t>Gilbert (1959)</a:t>
                </a:r>
                <a:endParaRPr lang="en-US" dirty="0"/>
              </a:p>
              <a:p>
                <a:pPr lvl="1"/>
                <a:r>
                  <a:rPr lang="en-US" dirty="0"/>
                  <a:t>The probability of an edge connecting two nodes is </a:t>
                </a:r>
                <a14:m>
                  <m:oMath xmlns:m="http://schemas.openxmlformats.org/officeDocument/2006/math">
                    <m:r>
                      <a:rPr lang="en-US" i="1">
                        <a:latin typeface="Cambria Math" panose="02040503050406030204" pitchFamily="18" charset="0"/>
                      </a:rPr>
                      <m:t>𝑝</m:t>
                    </m:r>
                  </m:oMath>
                </a14:m>
                <a:endParaRPr lang="en-US" dirty="0"/>
              </a:p>
              <a:p>
                <a:pPr lvl="1"/>
                <a:r>
                  <a:rPr lang="en-US" dirty="0"/>
                  <a:t>As </a:t>
                </a:r>
                <a14:m>
                  <m:oMath xmlns:m="http://schemas.openxmlformats.org/officeDocument/2006/math">
                    <m:r>
                      <m:rPr>
                        <m:sty m:val="p"/>
                      </m:rPr>
                      <a:rPr lang="en-US" b="0" i="0" smtClean="0">
                        <a:latin typeface="Cambria Math" panose="02040503050406030204" pitchFamily="18" charset="0"/>
                        <a:ea typeface="Cambria Math" panose="02040503050406030204" pitchFamily="18" charset="0"/>
                      </a:rPr>
                      <m:t>p</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1.0</m:t>
                    </m:r>
                  </m:oMath>
                </a14:m>
                <a:r>
                  <a:rPr lang="en-US" dirty="0"/>
                  <a:t> the graph becomes fully connected</a:t>
                </a:r>
              </a:p>
              <a:p>
                <a:pPr marL="0" indent="0">
                  <a:buNone/>
                </a:pPr>
                <a:endParaRPr lang="en-US" dirty="0"/>
              </a:p>
              <a:p>
                <a:pPr lvl="1"/>
                <a:endParaRPr lang="en-US" dirty="0"/>
              </a:p>
              <a:p>
                <a:pPr lvl="1"/>
                <a:endParaRPr lang="en-US" dirty="0"/>
              </a:p>
              <a:p>
                <a:endParaRPr lang="en-US" dirty="0"/>
              </a:p>
            </p:txBody>
          </p:sp>
        </mc:Choice>
        <mc:Fallback xmlns="">
          <p:sp>
            <p:nvSpPr>
              <p:cNvPr id="3" name="Content Placeholder 2">
                <a:extLst>
                  <a:ext uri="{FF2B5EF4-FFF2-40B4-BE49-F238E27FC236}">
                    <a16:creationId xmlns:a16="http://schemas.microsoft.com/office/drawing/2014/main" id="{6F0F358C-32D2-8FFC-BF50-4210E9E7A288}"/>
                  </a:ext>
                </a:extLst>
              </p:cNvPr>
              <p:cNvSpPr>
                <a:spLocks noGrp="1" noRot="1" noChangeAspect="1" noMove="1" noResize="1" noEditPoints="1" noAdjustHandles="1" noChangeArrowheads="1" noChangeShapeType="1" noTextEdit="1"/>
              </p:cNvSpPr>
              <p:nvPr>
                <p:ph idx="1"/>
              </p:nvPr>
            </p:nvSpPr>
            <p:spPr>
              <a:xfrm>
                <a:off x="775447" y="1208868"/>
                <a:ext cx="10515600" cy="5447426"/>
              </a:xfrm>
              <a:blipFill>
                <a:blip r:embed="rId4"/>
                <a:stretch>
                  <a:fillRect l="-1159" t="-1790"/>
                </a:stretch>
              </a:blipFill>
            </p:spPr>
            <p:txBody>
              <a:bodyPr/>
              <a:lstStyle/>
              <a:p>
                <a:r>
                  <a:rPr lang="en-US">
                    <a:noFill/>
                  </a:rPr>
                  <a:t> </a:t>
                </a:r>
              </a:p>
            </p:txBody>
          </p:sp>
        </mc:Fallback>
      </mc:AlternateContent>
    </p:spTree>
    <p:extLst>
      <p:ext uri="{BB962C8B-B14F-4D97-AF65-F5344CB8AC3E}">
        <p14:creationId xmlns:p14="http://schemas.microsoft.com/office/powerpoint/2010/main" val="1694720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0F192F-2DE2-7CCF-6C23-2AF9A9ECD9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EB319A-96DB-A351-F40E-742395A3A856}"/>
              </a:ext>
            </a:extLst>
          </p:cNvPr>
          <p:cNvSpPr>
            <a:spLocks noGrp="1"/>
          </p:cNvSpPr>
          <p:nvPr>
            <p:ph type="title"/>
          </p:nvPr>
        </p:nvSpPr>
        <p:spPr>
          <a:xfrm>
            <a:off x="838200" y="365125"/>
            <a:ext cx="10515600" cy="620993"/>
          </a:xfrm>
        </p:spPr>
        <p:txBody>
          <a:bodyPr>
            <a:normAutofit fontScale="90000"/>
          </a:bodyPr>
          <a:lstStyle/>
          <a:p>
            <a:r>
              <a:rPr lang="en-US" dirty="0">
                <a:latin typeface="+mn-lt"/>
              </a:rPr>
              <a:t>Random Graphs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C84D6-73B5-EA1A-91F3-CFB748C9E308}"/>
                  </a:ext>
                </a:extLst>
              </p:cNvPr>
              <p:cNvSpPr>
                <a:spLocks noGrp="1"/>
              </p:cNvSpPr>
              <p:nvPr>
                <p:ph idx="1"/>
              </p:nvPr>
            </p:nvSpPr>
            <p:spPr>
              <a:xfrm>
                <a:off x="775447" y="1208868"/>
                <a:ext cx="10515600" cy="5447426"/>
              </a:xfrm>
            </p:spPr>
            <p:txBody>
              <a:bodyPr>
                <a:normAutofit/>
              </a:bodyPr>
              <a:lstStyle/>
              <a:p>
                <a:pPr marL="0" indent="0">
                  <a:buNone/>
                </a:pPr>
                <a:r>
                  <a:rPr lang="en-US" dirty="0"/>
                  <a:t>Two widely used and nearly equivalent models   </a:t>
                </a:r>
              </a:p>
              <a:p>
                <a14:m>
                  <m:oMath xmlns:m="http://schemas.openxmlformats.org/officeDocument/2006/math">
                    <m:r>
                      <a:rPr lang="en-US" b="0" i="1" smtClean="0">
                        <a:latin typeface="Cambria Math" panose="02040503050406030204" pitchFamily="18" charset="0"/>
                      </a:rPr>
                      <m:t>𝐺</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𝑀</m:t>
                    </m:r>
                    <m:r>
                      <a:rPr lang="en-US" b="0" i="1" smtClean="0">
                        <a:latin typeface="Cambria Math" panose="02040503050406030204" pitchFamily="18" charset="0"/>
                      </a:rPr>
                      <m:t>)</m:t>
                    </m:r>
                  </m:oMath>
                </a14:m>
                <a:r>
                  <a:rPr lang="en-US" dirty="0"/>
                  <a:t>: </a:t>
                </a:r>
                <a14:m>
                  <m:oMath xmlns:m="http://schemas.openxmlformats.org/officeDocument/2006/math">
                    <m:r>
                      <a:rPr lang="en-US" i="1">
                        <a:latin typeface="Cambria Math" panose="02040503050406030204" pitchFamily="18" charset="0"/>
                      </a:rPr>
                      <m:t>𝑀</m:t>
                    </m:r>
                  </m:oMath>
                </a14:m>
                <a:r>
                  <a:rPr lang="en-US" dirty="0"/>
                  <a:t> edges are randomly distributed connecting the </a:t>
                </a:r>
                <a14:m>
                  <m:oMath xmlns:m="http://schemas.openxmlformats.org/officeDocument/2006/math">
                    <m:r>
                      <a:rPr lang="en-US" i="1">
                        <a:latin typeface="Cambria Math" panose="02040503050406030204" pitchFamily="18" charset="0"/>
                      </a:rPr>
                      <m:t>𝑛</m:t>
                    </m:r>
                  </m:oMath>
                </a14:m>
                <a:r>
                  <a:rPr lang="en-US" dirty="0"/>
                  <a:t> nodes</a:t>
                </a:r>
              </a:p>
              <a:p>
                <a14:m>
                  <m:oMath xmlns:m="http://schemas.openxmlformats.org/officeDocument/2006/math">
                    <m:r>
                      <a:rPr lang="en-US" i="1">
                        <a:latin typeface="Cambria Math" panose="02040503050406030204" pitchFamily="18" charset="0"/>
                      </a:rPr>
                      <m:t>𝐺</m:t>
                    </m:r>
                    <m:r>
                      <a:rPr lang="en-US" i="1">
                        <a:latin typeface="Cambria Math" panose="02040503050406030204" pitchFamily="18" charset="0"/>
                      </a:rPr>
                      <m:t>(</m:t>
                    </m:r>
                    <m:r>
                      <a:rPr lang="en-US" i="1">
                        <a:latin typeface="Cambria Math" panose="02040503050406030204" pitchFamily="18" charset="0"/>
                      </a:rPr>
                      <m:t>𝑛</m:t>
                    </m:r>
                    <m:r>
                      <a:rPr lang="en-US" i="1">
                        <a:latin typeface="Cambria Math" panose="02040503050406030204" pitchFamily="18" charset="0"/>
                      </a:rPr>
                      <m:t>,</m:t>
                    </m:r>
                    <m:r>
                      <a:rPr lang="en-US" b="0" i="1" smtClean="0">
                        <a:latin typeface="Cambria Math" panose="02040503050406030204" pitchFamily="18" charset="0"/>
                      </a:rPr>
                      <m:t>𝑝</m:t>
                    </m:r>
                    <m:r>
                      <a:rPr lang="en-US" i="1">
                        <a:latin typeface="Cambria Math" panose="02040503050406030204" pitchFamily="18" charset="0"/>
                      </a:rPr>
                      <m:t>)</m:t>
                    </m:r>
                  </m:oMath>
                </a14:m>
                <a:r>
                  <a:rPr lang="en-US" dirty="0"/>
                  <a:t>: probability of an edge connecting two nodes is </a:t>
                </a:r>
                <a14:m>
                  <m:oMath xmlns:m="http://schemas.openxmlformats.org/officeDocument/2006/math">
                    <m:r>
                      <a:rPr lang="en-US" i="1">
                        <a:latin typeface="Cambria Math" panose="02040503050406030204" pitchFamily="18" charset="0"/>
                      </a:rPr>
                      <m:t>𝑝</m:t>
                    </m:r>
                  </m:oMath>
                </a14:m>
                <a:endParaRPr lang="en-US" dirty="0"/>
              </a:p>
              <a:p>
                <a:r>
                  <a:rPr lang="en-US" dirty="0"/>
                  <a:t>Limitations of these models</a:t>
                </a:r>
              </a:p>
              <a:p>
                <a:pPr lvl="1"/>
                <a:r>
                  <a:rPr lang="en-US" dirty="0"/>
                  <a:t>Theory is based on very large (infinite sized) graphs, so does not always translate to small graphs   </a:t>
                </a:r>
              </a:p>
              <a:p>
                <a:pPr lvl="1"/>
                <a:r>
                  <a:rPr lang="en-US" dirty="0"/>
                  <a:t>Small graphs are closer to fully connected  </a:t>
                </a:r>
              </a:p>
              <a:p>
                <a:pPr marL="457200" lvl="1" indent="0">
                  <a:buNone/>
                </a:pPr>
                <a:endParaRPr lang="en-US" dirty="0"/>
              </a:p>
              <a:p>
                <a:pPr marL="457200" lvl="1" indent="0">
                  <a:buNone/>
                </a:pPr>
                <a:r>
                  <a:rPr lang="en-US" dirty="0"/>
                  <a:t>Note: </a:t>
                </a:r>
                <a:r>
                  <a:rPr lang="en-US" dirty="0" err="1"/>
                  <a:t>NetworkX</a:t>
                </a:r>
                <a:r>
                  <a:rPr lang="en-US" dirty="0"/>
                  <a:t> does not support random graph generation with disconnected components  </a:t>
                </a:r>
              </a:p>
              <a:p>
                <a:pPr lvl="1"/>
                <a:endParaRPr lang="en-US" dirty="0"/>
              </a:p>
              <a:p>
                <a:pPr marL="0" indent="0">
                  <a:buNone/>
                </a:pPr>
                <a:endParaRPr lang="en-US" dirty="0"/>
              </a:p>
              <a:p>
                <a:pPr lvl="1"/>
                <a:endParaRPr lang="en-US" dirty="0"/>
              </a:p>
              <a:p>
                <a:pPr lvl="1"/>
                <a:endParaRPr lang="en-US" dirty="0"/>
              </a:p>
              <a:p>
                <a:endParaRPr lang="en-US" dirty="0"/>
              </a:p>
            </p:txBody>
          </p:sp>
        </mc:Choice>
        <mc:Fallback xmlns="">
          <p:sp>
            <p:nvSpPr>
              <p:cNvPr id="3" name="Content Placeholder 2">
                <a:extLst>
                  <a:ext uri="{FF2B5EF4-FFF2-40B4-BE49-F238E27FC236}">
                    <a16:creationId xmlns:a16="http://schemas.microsoft.com/office/drawing/2014/main" id="{F25C84D6-73B5-EA1A-91F3-CFB748C9E308}"/>
                  </a:ext>
                </a:extLst>
              </p:cNvPr>
              <p:cNvSpPr>
                <a:spLocks noGrp="1" noRot="1" noChangeAspect="1" noMove="1" noResize="1" noEditPoints="1" noAdjustHandles="1" noChangeArrowheads="1" noChangeShapeType="1" noTextEdit="1"/>
              </p:cNvSpPr>
              <p:nvPr>
                <p:ph idx="1"/>
              </p:nvPr>
            </p:nvSpPr>
            <p:spPr>
              <a:xfrm>
                <a:off x="775447" y="1208868"/>
                <a:ext cx="10515600" cy="5447426"/>
              </a:xfrm>
              <a:blipFill>
                <a:blip r:embed="rId2"/>
                <a:stretch>
                  <a:fillRect l="-1159" t="-1790" r="-232"/>
                </a:stretch>
              </a:blipFill>
            </p:spPr>
            <p:txBody>
              <a:bodyPr/>
              <a:lstStyle/>
              <a:p>
                <a:r>
                  <a:rPr lang="en-US">
                    <a:noFill/>
                  </a:rPr>
                  <a:t> </a:t>
                </a:r>
              </a:p>
            </p:txBody>
          </p:sp>
        </mc:Fallback>
      </mc:AlternateContent>
    </p:spTree>
    <p:extLst>
      <p:ext uri="{BB962C8B-B14F-4D97-AF65-F5344CB8AC3E}">
        <p14:creationId xmlns:p14="http://schemas.microsoft.com/office/powerpoint/2010/main" val="1694503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28237-F59E-69E3-6408-03BF55F852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F615E6-CB83-AB71-58A1-6269D3304B63}"/>
              </a:ext>
            </a:extLst>
          </p:cNvPr>
          <p:cNvSpPr>
            <a:spLocks noGrp="1"/>
          </p:cNvSpPr>
          <p:nvPr>
            <p:ph type="title"/>
          </p:nvPr>
        </p:nvSpPr>
        <p:spPr>
          <a:xfrm>
            <a:off x="838200" y="365125"/>
            <a:ext cx="10515600" cy="620993"/>
          </a:xfrm>
        </p:spPr>
        <p:txBody>
          <a:bodyPr>
            <a:normAutofit fontScale="90000"/>
          </a:bodyPr>
          <a:lstStyle/>
          <a:p>
            <a:r>
              <a:rPr lang="en-US" dirty="0">
                <a:latin typeface="+mn-lt"/>
              </a:rPr>
              <a:t>Random Graphs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EBC5044-020C-A5D3-1289-E2FDCAE81DE1}"/>
                  </a:ext>
                </a:extLst>
              </p:cNvPr>
              <p:cNvSpPr>
                <a:spLocks noGrp="1"/>
              </p:cNvSpPr>
              <p:nvPr>
                <p:ph idx="1"/>
              </p:nvPr>
            </p:nvSpPr>
            <p:spPr>
              <a:xfrm>
                <a:off x="775446" y="1208867"/>
                <a:ext cx="5087471" cy="5231051"/>
              </a:xfrm>
            </p:spPr>
            <p:txBody>
              <a:bodyPr>
                <a:normAutofit/>
              </a:bodyPr>
              <a:lstStyle/>
              <a:p>
                <a:pPr marL="0" indent="0">
                  <a:buNone/>
                </a:pPr>
                <a:r>
                  <a:rPr lang="en-US" dirty="0"/>
                  <a:t>Examples of random graphs</a:t>
                </a:r>
              </a:p>
              <a:p>
                <a:r>
                  <a:rPr lang="en-US" dirty="0"/>
                  <a:t>As number of edges increase random graph approaches fully connected:</a:t>
                </a:r>
              </a:p>
              <a:p>
                <a:pPr marL="0" indent="0">
                  <a:buNone/>
                </a:pPr>
                <a14:m>
                  <m:oMathPara xmlns:m="http://schemas.openxmlformats.org/officeDocument/2006/math">
                    <m:oMath>
                      <m:f>
                        <m:fPr>
                          <m:ctrlPr>
                            <a:rPr lang="en-US" b="0" i="1" smtClean="0">
                              <a:latin typeface="Cambria Math" panose="02040503050406030204" pitchFamily="18" charset="0"/>
                            </a:rPr>
                          </m:ctrlPr>
                        </m:fPr>
                        <m:num>
                          <m:r>
                            <a:rPr lang="en-US" b="0" i="1" smtClean="0">
                              <a:latin typeface="Cambria Math" panose="02040503050406030204" pitchFamily="18" charset="0"/>
                            </a:rPr>
                            <m:t>12(12−1)</m:t>
                          </m:r>
                        </m:num>
                        <m:den>
                          <m:r>
                            <a:rPr lang="en-US" b="0" i="1" smtClean="0">
                              <a:latin typeface="Cambria Math" panose="02040503050406030204" pitchFamily="18" charset="0"/>
                            </a:rPr>
                            <m:t>2</m:t>
                          </m:r>
                        </m:den>
                      </m:f>
                      <m:r>
                        <a:rPr lang="en-US" b="0" i="1" smtClean="0">
                          <a:latin typeface="Cambria Math" panose="02040503050406030204" pitchFamily="18" charset="0"/>
                        </a:rPr>
                        <m:t>=66 </m:t>
                      </m:r>
                      <m:r>
                        <a:rPr lang="en-US" b="0" i="1" smtClean="0">
                          <a:latin typeface="Cambria Math" panose="02040503050406030204" pitchFamily="18" charset="0"/>
                        </a:rPr>
                        <m:t>𝑒𝑑𝑔𝑒𝑠</m:t>
                      </m:r>
                    </m:oMath>
                  </m:oMathPara>
                </a14:m>
                <a:endParaRPr lang="en-US" dirty="0"/>
              </a:p>
              <a:p>
                <a:r>
                  <a:rPr lang="en-US" dirty="0"/>
                  <a:t>Increasing </a:t>
                </a:r>
                <a14:m>
                  <m:oMath xmlns:m="http://schemas.openxmlformats.org/officeDocument/2006/math">
                    <m:r>
                      <a:rPr lang="en-US" b="0" i="1" smtClean="0">
                        <a:latin typeface="Cambria Math" panose="02040503050406030204" pitchFamily="18" charset="0"/>
                      </a:rPr>
                      <m:t>𝑚</m:t>
                    </m:r>
                    <m:r>
                      <a:rPr lang="en-US" b="0" i="1" smtClean="0">
                        <a:latin typeface="Cambria Math" panose="02040503050406030204" pitchFamily="18" charset="0"/>
                        <a:ea typeface="Cambria Math" panose="02040503050406030204" pitchFamily="18" charset="0"/>
                      </a:rPr>
                      <m:t>→</m:t>
                    </m:r>
                  </m:oMath>
                </a14:m>
                <a:r>
                  <a:rPr lang="en-US" dirty="0"/>
                  <a:t> clustering coefficients </a:t>
                </a:r>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m:t>
                    </m:r>
                  </m:oMath>
                </a14:m>
                <a:endParaRPr lang="en-US" dirty="0"/>
              </a:p>
              <a:p>
                <a:r>
                  <a:rPr lang="en-US" dirty="0"/>
                  <a:t>Increasing </a:t>
                </a:r>
                <a14:m>
                  <m:oMath xmlns:m="http://schemas.openxmlformats.org/officeDocument/2006/math">
                    <m:r>
                      <a:rPr lang="en-US" i="1">
                        <a:latin typeface="Cambria Math" panose="02040503050406030204" pitchFamily="18" charset="0"/>
                      </a:rPr>
                      <m:t>𝑚</m:t>
                    </m:r>
                    <m:r>
                      <a:rPr lang="en-US" i="1">
                        <a:latin typeface="Cambria Math" panose="02040503050406030204" pitchFamily="18" charset="0"/>
                        <a:ea typeface="Cambria Math" panose="02040503050406030204" pitchFamily="18" charset="0"/>
                      </a:rPr>
                      <m:t>→</m:t>
                    </m:r>
                  </m:oMath>
                </a14:m>
                <a:r>
                  <a:rPr lang="en-US" dirty="0"/>
                  <a:t> average distance </a:t>
                </a:r>
                <a14:m>
                  <m:oMath xmlns:m="http://schemas.openxmlformats.org/officeDocument/2006/math">
                    <m:r>
                      <a:rPr lang="en-US" i="1">
                        <a:latin typeface="Cambria Math" panose="02040503050406030204" pitchFamily="18" charset="0"/>
                        <a:ea typeface="Cambria Math" panose="02040503050406030204" pitchFamily="18" charset="0"/>
                      </a:rPr>
                      <m:t>→1</m:t>
                    </m:r>
                  </m:oMath>
                </a14:m>
                <a:endParaRPr lang="en-US" dirty="0"/>
              </a:p>
              <a:p>
                <a:pPr marL="0" indent="0">
                  <a:buNone/>
                </a:pPr>
                <a:endParaRPr lang="en-US" dirty="0"/>
              </a:p>
              <a:p>
                <a:pPr lvl="1"/>
                <a:endParaRPr lang="en-US" dirty="0"/>
              </a:p>
              <a:p>
                <a:pPr lvl="1"/>
                <a:endParaRPr lang="en-US" dirty="0"/>
              </a:p>
              <a:p>
                <a:endParaRPr lang="en-US" dirty="0"/>
              </a:p>
            </p:txBody>
          </p:sp>
        </mc:Choice>
        <mc:Fallback xmlns="">
          <p:sp>
            <p:nvSpPr>
              <p:cNvPr id="3" name="Content Placeholder 2">
                <a:extLst>
                  <a:ext uri="{FF2B5EF4-FFF2-40B4-BE49-F238E27FC236}">
                    <a16:creationId xmlns:a16="http://schemas.microsoft.com/office/drawing/2014/main" id="{4EBC5044-020C-A5D3-1289-E2FDCAE81DE1}"/>
                  </a:ext>
                </a:extLst>
              </p:cNvPr>
              <p:cNvSpPr>
                <a:spLocks noGrp="1" noRot="1" noChangeAspect="1" noMove="1" noResize="1" noEditPoints="1" noAdjustHandles="1" noChangeArrowheads="1" noChangeShapeType="1" noTextEdit="1"/>
              </p:cNvSpPr>
              <p:nvPr>
                <p:ph idx="1"/>
              </p:nvPr>
            </p:nvSpPr>
            <p:spPr>
              <a:xfrm>
                <a:off x="775446" y="1208867"/>
                <a:ext cx="5087471" cy="5231051"/>
              </a:xfrm>
              <a:blipFill>
                <a:blip r:embed="rId2"/>
                <a:stretch>
                  <a:fillRect l="-2395" t="-1865" r="-599"/>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1B229452-AD8E-AA6C-A5B8-B1A397276B4D}"/>
              </a:ext>
            </a:extLst>
          </p:cNvPr>
          <p:cNvPicPr>
            <a:picLocks noChangeAspect="1"/>
          </p:cNvPicPr>
          <p:nvPr/>
        </p:nvPicPr>
        <p:blipFill>
          <a:blip r:embed="rId3"/>
          <a:stretch>
            <a:fillRect/>
          </a:stretch>
        </p:blipFill>
        <p:spPr>
          <a:xfrm>
            <a:off x="6032432" y="307961"/>
            <a:ext cx="6032048" cy="6403345"/>
          </a:xfrm>
          <a:prstGeom prst="rect">
            <a:avLst/>
          </a:prstGeom>
        </p:spPr>
      </p:pic>
    </p:spTree>
    <p:extLst>
      <p:ext uri="{BB962C8B-B14F-4D97-AF65-F5344CB8AC3E}">
        <p14:creationId xmlns:p14="http://schemas.microsoft.com/office/powerpoint/2010/main" val="1720961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278D0-4AAD-A687-ADDC-86CBF305FE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F2A7EB-F557-FD7D-A6A1-065798833F5B}"/>
              </a:ext>
            </a:extLst>
          </p:cNvPr>
          <p:cNvSpPr>
            <a:spLocks noGrp="1"/>
          </p:cNvSpPr>
          <p:nvPr>
            <p:ph type="title"/>
          </p:nvPr>
        </p:nvSpPr>
        <p:spPr>
          <a:xfrm>
            <a:off x="831850" y="1709738"/>
            <a:ext cx="10515600" cy="2282271"/>
          </a:xfrm>
        </p:spPr>
        <p:txBody>
          <a:bodyPr/>
          <a:lstStyle/>
          <a:p>
            <a:pPr algn="ctr"/>
            <a:r>
              <a:rPr lang="en-US" dirty="0"/>
              <a:t>Introduction to Social Networks</a:t>
            </a:r>
          </a:p>
        </p:txBody>
      </p:sp>
    </p:spTree>
    <p:extLst>
      <p:ext uri="{BB962C8B-B14F-4D97-AF65-F5344CB8AC3E}">
        <p14:creationId xmlns:p14="http://schemas.microsoft.com/office/powerpoint/2010/main" val="15454377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71F48-CF82-1F12-BC91-2294950308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56BE71-70B2-C447-3FBA-C5515884DEC9}"/>
              </a:ext>
            </a:extLst>
          </p:cNvPr>
          <p:cNvSpPr>
            <a:spLocks noGrp="1"/>
          </p:cNvSpPr>
          <p:nvPr>
            <p:ph type="title"/>
          </p:nvPr>
        </p:nvSpPr>
        <p:spPr>
          <a:xfrm>
            <a:off x="838200" y="365125"/>
            <a:ext cx="10515600" cy="620993"/>
          </a:xfrm>
        </p:spPr>
        <p:txBody>
          <a:bodyPr>
            <a:normAutofit fontScale="90000"/>
          </a:bodyPr>
          <a:lstStyle/>
          <a:p>
            <a:r>
              <a:rPr lang="en-US" dirty="0">
                <a:latin typeface="+mn-lt"/>
              </a:rPr>
              <a:t>Introduction to Social Network Analysis</a:t>
            </a:r>
            <a:endParaRPr lang="en-US" dirty="0"/>
          </a:p>
        </p:txBody>
      </p:sp>
      <p:sp>
        <p:nvSpPr>
          <p:cNvPr id="3" name="Content Placeholder 2">
            <a:extLst>
              <a:ext uri="{FF2B5EF4-FFF2-40B4-BE49-F238E27FC236}">
                <a16:creationId xmlns:a16="http://schemas.microsoft.com/office/drawing/2014/main" id="{4CCD4814-99D4-EBB0-C7A5-D489A979D4BC}"/>
              </a:ext>
            </a:extLst>
          </p:cNvPr>
          <p:cNvSpPr>
            <a:spLocks noGrp="1"/>
          </p:cNvSpPr>
          <p:nvPr>
            <p:ph idx="1"/>
          </p:nvPr>
        </p:nvSpPr>
        <p:spPr>
          <a:xfrm>
            <a:off x="775447" y="1208868"/>
            <a:ext cx="10515600" cy="5447426"/>
          </a:xfrm>
        </p:spPr>
        <p:txBody>
          <a:bodyPr>
            <a:normAutofit/>
          </a:bodyPr>
          <a:lstStyle/>
          <a:p>
            <a:pPr marL="0" indent="0">
              <a:buNone/>
            </a:pPr>
            <a:r>
              <a:rPr lang="en-US" dirty="0"/>
              <a:t>Social networks appear in many forms </a:t>
            </a:r>
          </a:p>
          <a:p>
            <a:r>
              <a:rPr lang="en-US" dirty="0"/>
              <a:t>Online social media  </a:t>
            </a:r>
          </a:p>
          <a:p>
            <a:r>
              <a:rPr lang="en-US" dirty="0"/>
              <a:t>Networks of collaborating people</a:t>
            </a:r>
          </a:p>
          <a:p>
            <a:r>
              <a:rPr lang="en-US" dirty="0"/>
              <a:t>People in clubs   </a:t>
            </a:r>
          </a:p>
          <a:p>
            <a:r>
              <a:rPr lang="en-US" dirty="0"/>
              <a:t>Political and business organizations  </a:t>
            </a:r>
          </a:p>
          <a:p>
            <a:r>
              <a:rPr lang="en-US" dirty="0"/>
              <a:t>Organisms in an ecosystem</a:t>
            </a:r>
          </a:p>
          <a:p>
            <a:r>
              <a:rPr lang="en-US" dirty="0"/>
              <a:t>Citations in research papers   </a:t>
            </a:r>
          </a:p>
          <a:p>
            <a:r>
              <a:rPr lang="en-US" b="1" dirty="0"/>
              <a:t>Many more …</a:t>
            </a:r>
          </a:p>
          <a:p>
            <a:endParaRPr lang="en-US" dirty="0"/>
          </a:p>
          <a:p>
            <a:endParaRPr lang="en-US" dirty="0"/>
          </a:p>
        </p:txBody>
      </p:sp>
    </p:spTree>
    <p:extLst>
      <p:ext uri="{BB962C8B-B14F-4D97-AF65-F5344CB8AC3E}">
        <p14:creationId xmlns:p14="http://schemas.microsoft.com/office/powerpoint/2010/main" val="3135753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Introduction to Social Network Analysis</a:t>
            </a:r>
            <a:endParaRPr lang="en-US" dirty="0"/>
          </a:p>
        </p:txBody>
      </p:sp>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75447" y="1208868"/>
            <a:ext cx="5661516" cy="5526858"/>
          </a:xfrm>
        </p:spPr>
        <p:txBody>
          <a:bodyPr>
            <a:normAutofit fontScale="92500" lnSpcReduction="20000"/>
          </a:bodyPr>
          <a:lstStyle/>
          <a:p>
            <a:pPr marL="0" indent="0">
              <a:buNone/>
            </a:pPr>
            <a:r>
              <a:rPr lang="en-US" dirty="0"/>
              <a:t>Social networks appear in many forms </a:t>
            </a:r>
          </a:p>
          <a:p>
            <a:r>
              <a:rPr lang="en-US" dirty="0"/>
              <a:t>Example: small network of co-authorship of scientific papers   </a:t>
            </a:r>
          </a:p>
          <a:p>
            <a:r>
              <a:rPr lang="en-US" dirty="0"/>
              <a:t>Relationships represented by </a:t>
            </a:r>
            <a:r>
              <a:rPr lang="en-US" b="1" dirty="0"/>
              <a:t>undirected graph </a:t>
            </a:r>
          </a:p>
          <a:p>
            <a:r>
              <a:rPr lang="en-US" dirty="0"/>
              <a:t>Relationship </a:t>
            </a:r>
            <a:r>
              <a:rPr lang="en-US" b="1" dirty="0"/>
              <a:t>communities</a:t>
            </a:r>
            <a:r>
              <a:rPr lang="en-US" dirty="0"/>
              <a:t> organize along discipline lines</a:t>
            </a:r>
          </a:p>
          <a:p>
            <a:pPr lvl="1"/>
            <a:r>
              <a:rPr lang="en-US" dirty="0"/>
              <a:t>Some community members are </a:t>
            </a:r>
            <a:r>
              <a:rPr lang="en-US" b="1" dirty="0"/>
              <a:t>strongly connected </a:t>
            </a:r>
          </a:p>
          <a:p>
            <a:pPr lvl="1"/>
            <a:r>
              <a:rPr lang="en-US" dirty="0"/>
              <a:t>Strongly connected members are said to be </a:t>
            </a:r>
            <a:r>
              <a:rPr lang="en-US" b="1" dirty="0"/>
              <a:t>influential </a:t>
            </a:r>
          </a:p>
          <a:p>
            <a:r>
              <a:rPr lang="en-US" dirty="0"/>
              <a:t>Few connections between communities</a:t>
            </a:r>
          </a:p>
          <a:p>
            <a:pPr marL="0" indent="0">
              <a:buNone/>
            </a:pPr>
            <a:endParaRPr lang="en-US" dirty="0"/>
          </a:p>
          <a:p>
            <a:pPr marL="0" indent="0">
              <a:buNone/>
            </a:pPr>
            <a:r>
              <a:rPr lang="en-US" sz="2000" dirty="0">
                <a:hlinkClick r:id="rId2"/>
              </a:rPr>
              <a:t>Credit: Neman, 2004, Proceedings of the National Academy of Sciences</a:t>
            </a:r>
            <a:endParaRPr lang="en-US" sz="2000" dirty="0"/>
          </a:p>
          <a:p>
            <a:endParaRPr lang="en-US" dirty="0"/>
          </a:p>
          <a:p>
            <a:endParaRPr lang="en-US" dirty="0"/>
          </a:p>
        </p:txBody>
      </p:sp>
      <p:pic>
        <p:nvPicPr>
          <p:cNvPr id="5" name="Picture 4">
            <a:extLst>
              <a:ext uri="{FF2B5EF4-FFF2-40B4-BE49-F238E27FC236}">
                <a16:creationId xmlns:a16="http://schemas.microsoft.com/office/drawing/2014/main" id="{B7303829-900A-40AC-89F5-A8ED8F2FF8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44233" y="1048855"/>
            <a:ext cx="4976640" cy="5449186"/>
          </a:xfrm>
          <a:prstGeom prst="rect">
            <a:avLst/>
          </a:prstGeom>
        </p:spPr>
      </p:pic>
    </p:spTree>
    <p:extLst>
      <p:ext uri="{BB962C8B-B14F-4D97-AF65-F5344CB8AC3E}">
        <p14:creationId xmlns:p14="http://schemas.microsoft.com/office/powerpoint/2010/main" val="4237847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Introduction to Social Network Analysis</a:t>
            </a:r>
            <a:endParaRPr lang="en-US" dirty="0"/>
          </a:p>
        </p:txBody>
      </p:sp>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312930" y="1267346"/>
            <a:ext cx="4933113" cy="5526858"/>
          </a:xfrm>
        </p:spPr>
        <p:txBody>
          <a:bodyPr>
            <a:normAutofit/>
          </a:bodyPr>
          <a:lstStyle/>
          <a:p>
            <a:pPr marL="0" indent="0">
              <a:buNone/>
            </a:pPr>
            <a:r>
              <a:rPr lang="en-US" dirty="0"/>
              <a:t>Social networks appear in many forms </a:t>
            </a:r>
          </a:p>
          <a:p>
            <a:r>
              <a:rPr lang="en-US" dirty="0"/>
              <a:t>Example: Association network of Bottlenose Dolphins at Port Stephens NSW Australia </a:t>
            </a:r>
          </a:p>
          <a:p>
            <a:pPr lvl="1"/>
            <a:r>
              <a:rPr lang="en-US" dirty="0"/>
              <a:t>Square = western population</a:t>
            </a:r>
          </a:p>
          <a:p>
            <a:pPr lvl="1"/>
            <a:r>
              <a:rPr lang="en-US" dirty="0"/>
              <a:t>Circle = eastern population</a:t>
            </a:r>
          </a:p>
          <a:p>
            <a:pPr marL="0" indent="0">
              <a:buNone/>
            </a:pPr>
            <a:r>
              <a:rPr lang="en-US" sz="2000" dirty="0">
                <a:hlinkClick r:id="rId2"/>
              </a:rPr>
              <a:t>Credit: </a:t>
            </a:r>
            <a:r>
              <a:rPr lang="en-US" sz="2000" dirty="0" err="1">
                <a:hlinkClick r:id="rId2"/>
              </a:rPr>
              <a:t>Wiszniewksi</a:t>
            </a:r>
            <a:r>
              <a:rPr lang="en-US" sz="2000" dirty="0">
                <a:hlinkClick r:id="rId2"/>
              </a:rPr>
              <a:t>, Brown and Moller, Journal of Mammalogy, 2012</a:t>
            </a:r>
            <a:endParaRPr lang="en-US" sz="2000" dirty="0"/>
          </a:p>
          <a:p>
            <a:endParaRPr lang="en-US" dirty="0"/>
          </a:p>
          <a:p>
            <a:endParaRPr lang="en-US" dirty="0"/>
          </a:p>
        </p:txBody>
      </p:sp>
      <p:pic>
        <p:nvPicPr>
          <p:cNvPr id="1026" name="Picture 2" descr="Social network of male bottlenose dolphins (Tursiops aduncus) in Port Stephens based on the association index (half-weight index [HWI]) for all years. Subgroup structure was identified using the modularity matrix technique that controls for data structure and gregariousness and is illustrated by different colors of the nodes. Community membership is represented by shape, where squares represent western males and circles represent eastern males. Line (edge) thickness running between 2 individuals is proportional to association strength and for clarity, lines are only displayed for association indices greater than 0.14 (twice the mean association index over all individuals).">
            <a:extLst>
              <a:ext uri="{FF2B5EF4-FFF2-40B4-BE49-F238E27FC236}">
                <a16:creationId xmlns:a16="http://schemas.microsoft.com/office/drawing/2014/main" id="{9F4C610F-A832-4326-B9B1-876BF101B6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71447" y="1378615"/>
            <a:ext cx="6775211" cy="51142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9289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Introduction to Social Network Analysis</a:t>
            </a:r>
            <a:endParaRPr lang="en-US" dirty="0"/>
          </a:p>
        </p:txBody>
      </p:sp>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312930" y="1267346"/>
            <a:ext cx="4933113" cy="5526858"/>
          </a:xfrm>
        </p:spPr>
        <p:txBody>
          <a:bodyPr>
            <a:normAutofit/>
          </a:bodyPr>
          <a:lstStyle/>
          <a:p>
            <a:pPr marL="0" indent="0">
              <a:buNone/>
            </a:pPr>
            <a:r>
              <a:rPr lang="en-US" dirty="0"/>
              <a:t>Social networks appear in many forms </a:t>
            </a:r>
          </a:p>
          <a:p>
            <a:r>
              <a:rPr lang="en-US" dirty="0"/>
              <a:t>Undirected </a:t>
            </a:r>
            <a:r>
              <a:rPr lang="en-US" b="1" dirty="0"/>
              <a:t>weighted graph </a:t>
            </a:r>
            <a:r>
              <a:rPr lang="en-US" dirty="0"/>
              <a:t>represents relationships between dolphins</a:t>
            </a:r>
          </a:p>
          <a:p>
            <a:pPr lvl="1"/>
            <a:r>
              <a:rPr lang="en-US" dirty="0"/>
              <a:t>Strength of relationship represented by edge weights  </a:t>
            </a:r>
          </a:p>
          <a:p>
            <a:r>
              <a:rPr lang="en-US" dirty="0"/>
              <a:t>Communities in </a:t>
            </a:r>
            <a:r>
              <a:rPr lang="en-US" b="1" dirty="0"/>
              <a:t>isolated graph components </a:t>
            </a:r>
          </a:p>
          <a:p>
            <a:pPr lvl="1"/>
            <a:r>
              <a:rPr lang="en-US" dirty="0"/>
              <a:t>Some sub-components within communities are weekly connected</a:t>
            </a:r>
          </a:p>
          <a:p>
            <a:pPr marL="0" indent="0">
              <a:buNone/>
            </a:pPr>
            <a:r>
              <a:rPr lang="en-US" sz="2000" dirty="0">
                <a:hlinkClick r:id="rId2"/>
              </a:rPr>
              <a:t>Credit: </a:t>
            </a:r>
            <a:r>
              <a:rPr lang="en-US" sz="2000" dirty="0" err="1">
                <a:hlinkClick r:id="rId2"/>
              </a:rPr>
              <a:t>Wiszniewksi</a:t>
            </a:r>
            <a:r>
              <a:rPr lang="en-US" sz="2000" dirty="0">
                <a:hlinkClick r:id="rId2"/>
              </a:rPr>
              <a:t>, Brown and Moller, Journal of Mammalogy, 2012</a:t>
            </a:r>
            <a:endParaRPr lang="en-US" sz="2000" dirty="0"/>
          </a:p>
          <a:p>
            <a:endParaRPr lang="en-US" dirty="0"/>
          </a:p>
          <a:p>
            <a:endParaRPr lang="en-US" dirty="0"/>
          </a:p>
        </p:txBody>
      </p:sp>
      <p:pic>
        <p:nvPicPr>
          <p:cNvPr id="1026" name="Picture 2" descr="Social network of male bottlenose dolphins (Tursiops aduncus) in Port Stephens based on the association index (half-weight index [HWI]) for all years. Subgroup structure was identified using the modularity matrix technique that controls for data structure and gregariousness and is illustrated by different colors of the nodes. Community membership is represented by shape, where squares represent western males and circles represent eastern males. Line (edge) thickness running between 2 individuals is proportional to association strength and for clarity, lines are only displayed for association indices greater than 0.14 (twice the mean association index over all individuals).">
            <a:extLst>
              <a:ext uri="{FF2B5EF4-FFF2-40B4-BE49-F238E27FC236}">
                <a16:creationId xmlns:a16="http://schemas.microsoft.com/office/drawing/2014/main" id="{9F4C610F-A832-4326-B9B1-876BF101B6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71447" y="1378615"/>
            <a:ext cx="6775211" cy="51142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8707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itle 1">
            <a:extLst>
              <a:ext uri="{FF2B5EF4-FFF2-40B4-BE49-F238E27FC236}">
                <a16:creationId xmlns:a16="http://schemas.microsoft.com/office/drawing/2014/main" id="{2EF7E482-DDF6-42BD-B5C5-66DB77A3AB7B}"/>
              </a:ext>
            </a:extLst>
          </p:cNvPr>
          <p:cNvSpPr txBox="1">
            <a:spLocks/>
          </p:cNvSpPr>
          <p:nvPr/>
        </p:nvSpPr>
        <p:spPr>
          <a:xfrm>
            <a:off x="458605" y="331471"/>
            <a:ext cx="11525250" cy="580268"/>
          </a:xfrm>
          <a:prstGeom prst="rect">
            <a:avLst/>
          </a:prstGeom>
        </p:spPr>
        <p:txBody>
          <a:bodyPr>
            <a:normAutofit fontScale="8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latin typeface="Segoe"/>
              </a:rPr>
              <a:t>Example of Network of Published Research Literature</a:t>
            </a:r>
          </a:p>
        </p:txBody>
      </p:sp>
      <p:sp>
        <p:nvSpPr>
          <p:cNvPr id="5" name="TextBox 4">
            <a:extLst>
              <a:ext uri="{FF2B5EF4-FFF2-40B4-BE49-F238E27FC236}">
                <a16:creationId xmlns:a16="http://schemas.microsoft.com/office/drawing/2014/main" id="{65663FFD-8C7F-449D-9139-3FFC72D683F2}"/>
              </a:ext>
            </a:extLst>
          </p:cNvPr>
          <p:cNvSpPr txBox="1"/>
          <p:nvPr/>
        </p:nvSpPr>
        <p:spPr>
          <a:xfrm>
            <a:off x="458605" y="1511603"/>
            <a:ext cx="3898935" cy="4524315"/>
          </a:xfrm>
          <a:prstGeom prst="rect">
            <a:avLst/>
          </a:prstGeom>
          <a:noFill/>
        </p:spPr>
        <p:txBody>
          <a:bodyPr wrap="square" rtlCol="0">
            <a:spAutoFit/>
          </a:bodyPr>
          <a:lstStyle/>
          <a:p>
            <a:r>
              <a:rPr lang="en-US" sz="2400" dirty="0"/>
              <a:t>Continued advances in the YOLO family of real-time object detectors has created a tangle of models and published literature! </a:t>
            </a:r>
          </a:p>
          <a:p>
            <a:pPr marL="457200" indent="-457200">
              <a:buFont typeface="Arial" panose="020B0604020202020204" pitchFamily="34" charset="0"/>
              <a:buChar char="•"/>
            </a:pPr>
            <a:r>
              <a:rPr lang="en-US" sz="2400" dirty="0"/>
              <a:t>Citation network created with </a:t>
            </a:r>
            <a:r>
              <a:rPr lang="en-US" sz="2400" dirty="0">
                <a:hlinkClick r:id="rId2"/>
              </a:rPr>
              <a:t>Scopus</a:t>
            </a:r>
            <a:endParaRPr lang="en-US" sz="2400" dirty="0"/>
          </a:p>
          <a:p>
            <a:pPr marL="457200" indent="-457200">
              <a:buFont typeface="Arial" panose="020B0604020202020204" pitchFamily="34" charset="0"/>
              <a:buChar char="•"/>
            </a:pPr>
            <a:r>
              <a:rPr lang="en-US" sz="2400" dirty="0"/>
              <a:t>Only a few papers are highly influential </a:t>
            </a:r>
          </a:p>
          <a:p>
            <a:pPr marL="457200" indent="-457200">
              <a:buFont typeface="Arial" panose="020B0604020202020204" pitchFamily="34" charset="0"/>
              <a:buChar char="•"/>
            </a:pPr>
            <a:r>
              <a:rPr lang="en-US" sz="2400" dirty="0"/>
              <a:t>From YOLO Architecture review paper, </a:t>
            </a:r>
            <a:r>
              <a:rPr lang="en-US" sz="2400" dirty="0" err="1">
                <a:hlinkClick r:id="rId3"/>
              </a:rPr>
              <a:t>Terven</a:t>
            </a:r>
            <a:r>
              <a:rPr lang="en-US" sz="2400" dirty="0">
                <a:hlinkClick r:id="rId3"/>
              </a:rPr>
              <a:t> and Cordova-Esparza, 2024 </a:t>
            </a:r>
            <a:endParaRPr lang="en-US" sz="2400" dirty="0"/>
          </a:p>
        </p:txBody>
      </p:sp>
      <p:pic>
        <p:nvPicPr>
          <p:cNvPr id="3" name="Picture 2">
            <a:extLst>
              <a:ext uri="{FF2B5EF4-FFF2-40B4-BE49-F238E27FC236}">
                <a16:creationId xmlns:a16="http://schemas.microsoft.com/office/drawing/2014/main" id="{44BB2A3E-EF36-3901-6655-52285B1B49F6}"/>
              </a:ext>
            </a:extLst>
          </p:cNvPr>
          <p:cNvPicPr>
            <a:picLocks noChangeAspect="1"/>
          </p:cNvPicPr>
          <p:nvPr/>
        </p:nvPicPr>
        <p:blipFill>
          <a:blip r:embed="rId4"/>
          <a:stretch>
            <a:fillRect/>
          </a:stretch>
        </p:blipFill>
        <p:spPr>
          <a:xfrm>
            <a:off x="4465817" y="1120390"/>
            <a:ext cx="7726183" cy="5566787"/>
          </a:xfrm>
          <a:prstGeom prst="rect">
            <a:avLst/>
          </a:prstGeom>
        </p:spPr>
      </p:pic>
    </p:spTree>
    <p:extLst>
      <p:ext uri="{BB962C8B-B14F-4D97-AF65-F5344CB8AC3E}">
        <p14:creationId xmlns:p14="http://schemas.microsoft.com/office/powerpoint/2010/main" val="2534547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Introduction to Social Network Analysis</a:t>
            </a:r>
            <a:endParaRPr lang="en-US" dirty="0"/>
          </a:p>
        </p:txBody>
      </p:sp>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75447" y="1208868"/>
            <a:ext cx="10515600" cy="5447426"/>
          </a:xfrm>
        </p:spPr>
        <p:txBody>
          <a:bodyPr>
            <a:normAutofit/>
          </a:bodyPr>
          <a:lstStyle/>
          <a:p>
            <a:pPr marL="0" indent="0">
              <a:buNone/>
            </a:pPr>
            <a:r>
              <a:rPr lang="en-US" dirty="0"/>
              <a:t>Analysis to determine </a:t>
            </a:r>
            <a:r>
              <a:rPr lang="en-US" b="1" dirty="0"/>
              <a:t>community structure</a:t>
            </a:r>
            <a:r>
              <a:rPr lang="en-US" dirty="0"/>
              <a:t> in networks </a:t>
            </a:r>
          </a:p>
          <a:p>
            <a:r>
              <a:rPr lang="en-US" dirty="0"/>
              <a:t>Discover regions of dense connections in the network, </a:t>
            </a:r>
            <a:r>
              <a:rPr lang="en-US" b="1" dirty="0"/>
              <a:t>cores</a:t>
            </a:r>
            <a:r>
              <a:rPr lang="en-US" dirty="0"/>
              <a:t> </a:t>
            </a:r>
          </a:p>
          <a:p>
            <a:r>
              <a:rPr lang="en-US" dirty="0"/>
              <a:t>Discover and </a:t>
            </a:r>
            <a:r>
              <a:rPr lang="en-US" b="1" dirty="0"/>
              <a:t>partition distinct communities </a:t>
            </a:r>
            <a:r>
              <a:rPr lang="en-US" dirty="0"/>
              <a:t>within the networks</a:t>
            </a:r>
          </a:p>
          <a:p>
            <a:r>
              <a:rPr lang="en-US" dirty="0"/>
              <a:t>Find </a:t>
            </a:r>
            <a:r>
              <a:rPr lang="en-US" b="1" dirty="0"/>
              <a:t>highly influential nodes </a:t>
            </a:r>
            <a:r>
              <a:rPr lang="en-US" dirty="0"/>
              <a:t>in the network</a:t>
            </a:r>
          </a:p>
          <a:p>
            <a:r>
              <a:rPr lang="en-US" dirty="0"/>
              <a:t>Community analysis is largely </a:t>
            </a:r>
            <a:r>
              <a:rPr lang="en-US" b="1" dirty="0"/>
              <a:t>unsupervised learning</a:t>
            </a:r>
          </a:p>
          <a:p>
            <a:pPr lvl="1"/>
            <a:r>
              <a:rPr lang="en-US" dirty="0"/>
              <a:t>Rarely know ground truth</a:t>
            </a:r>
          </a:p>
          <a:p>
            <a:pPr lvl="1"/>
            <a:r>
              <a:rPr lang="en-US" dirty="0"/>
              <a:t>Often requires some judgement or domain knowledge </a:t>
            </a:r>
          </a:p>
          <a:p>
            <a:pPr lvl="1"/>
            <a:r>
              <a:rPr lang="en-US" dirty="0"/>
              <a:t>Different models can provide different views and insights </a:t>
            </a:r>
          </a:p>
          <a:p>
            <a:endParaRPr lang="en-US" dirty="0"/>
          </a:p>
          <a:p>
            <a:endParaRPr lang="en-US" dirty="0"/>
          </a:p>
        </p:txBody>
      </p:sp>
    </p:spTree>
    <p:extLst>
      <p:ext uri="{BB962C8B-B14F-4D97-AF65-F5344CB8AC3E}">
        <p14:creationId xmlns:p14="http://schemas.microsoft.com/office/powerpoint/2010/main" val="1914518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Introduction to Social Network Analysis</a:t>
            </a:r>
            <a:endParaRPr lang="en-US" dirty="0"/>
          </a:p>
        </p:txBody>
      </p:sp>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75447" y="1208868"/>
            <a:ext cx="10515600" cy="5447426"/>
          </a:xfrm>
        </p:spPr>
        <p:txBody>
          <a:bodyPr>
            <a:normAutofit/>
          </a:bodyPr>
          <a:lstStyle/>
          <a:p>
            <a:pPr marL="0" indent="0">
              <a:buNone/>
            </a:pPr>
            <a:r>
              <a:rPr lang="en-US" dirty="0"/>
              <a:t>Some properties of social networks </a:t>
            </a:r>
          </a:p>
          <a:p>
            <a:r>
              <a:rPr lang="en-US" dirty="0"/>
              <a:t>Social networks can be partitioned into </a:t>
            </a:r>
            <a:r>
              <a:rPr lang="en-US" b="1" dirty="0"/>
              <a:t>communities</a:t>
            </a:r>
            <a:endParaRPr lang="en-US" dirty="0"/>
          </a:p>
          <a:p>
            <a:r>
              <a:rPr lang="en-US" dirty="0"/>
              <a:t>Communities are </a:t>
            </a:r>
            <a:r>
              <a:rPr lang="en-US" b="1" dirty="0"/>
              <a:t>assortative</a:t>
            </a:r>
          </a:p>
          <a:p>
            <a:pPr lvl="1"/>
            <a:r>
              <a:rPr lang="en-US" b="1" dirty="0"/>
              <a:t>Homophily</a:t>
            </a:r>
            <a:r>
              <a:rPr lang="en-US" dirty="0"/>
              <a:t> is tendency of similar entries to interact in a social network</a:t>
            </a:r>
          </a:p>
          <a:p>
            <a:pPr lvl="1"/>
            <a:r>
              <a:rPr lang="en-US" dirty="0"/>
              <a:t>Homophily leads to </a:t>
            </a:r>
            <a:r>
              <a:rPr lang="en-US" b="1" dirty="0"/>
              <a:t>stronger connections within communities</a:t>
            </a:r>
          </a:p>
          <a:p>
            <a:r>
              <a:rPr lang="en-US" dirty="0"/>
              <a:t>Communities have stronger (denser) connections between nodes</a:t>
            </a:r>
          </a:p>
          <a:p>
            <a:pPr lvl="1"/>
            <a:r>
              <a:rPr lang="en-US" dirty="0"/>
              <a:t>Weaker (fewer) connections between nodes of different communities </a:t>
            </a:r>
          </a:p>
          <a:p>
            <a:pPr lvl="1"/>
            <a:r>
              <a:rPr lang="en-US" dirty="0"/>
              <a:t>Nodes in the </a:t>
            </a:r>
            <a:r>
              <a:rPr lang="en-US" b="1" dirty="0"/>
              <a:t>core components </a:t>
            </a:r>
            <a:r>
              <a:rPr lang="en-US" dirty="0"/>
              <a:t>of communities have strongest connection</a:t>
            </a:r>
          </a:p>
          <a:p>
            <a:endParaRPr lang="en-US" dirty="0"/>
          </a:p>
          <a:p>
            <a:endParaRPr lang="en-US" dirty="0"/>
          </a:p>
        </p:txBody>
      </p:sp>
    </p:spTree>
    <p:extLst>
      <p:ext uri="{BB962C8B-B14F-4D97-AF65-F5344CB8AC3E}">
        <p14:creationId xmlns:p14="http://schemas.microsoft.com/office/powerpoint/2010/main" val="204664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Introduction to Social Network Analysis</a:t>
            </a:r>
            <a:endParaRPr lang="en-US" dirty="0"/>
          </a:p>
        </p:txBody>
      </p:sp>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75447" y="1208868"/>
            <a:ext cx="10515600" cy="5447426"/>
          </a:xfrm>
        </p:spPr>
        <p:txBody>
          <a:bodyPr>
            <a:normAutofit/>
          </a:bodyPr>
          <a:lstStyle/>
          <a:p>
            <a:pPr marL="0" indent="0">
              <a:buNone/>
            </a:pPr>
            <a:r>
              <a:rPr lang="en-US" dirty="0"/>
              <a:t>Some properties of social networks </a:t>
            </a:r>
          </a:p>
          <a:p>
            <a:r>
              <a:rPr lang="en-US" dirty="0"/>
              <a:t>Most social networks are </a:t>
            </a:r>
            <a:r>
              <a:rPr lang="en-US" b="1" dirty="0"/>
              <a:t>undirected</a:t>
            </a:r>
            <a:r>
              <a:rPr lang="en-US" dirty="0"/>
              <a:t>    </a:t>
            </a:r>
          </a:p>
          <a:p>
            <a:pPr lvl="1"/>
            <a:r>
              <a:rPr lang="en-US" dirty="0"/>
              <a:t>Friends know each other   </a:t>
            </a:r>
          </a:p>
          <a:p>
            <a:pPr lvl="1"/>
            <a:r>
              <a:rPr lang="en-US" dirty="0"/>
              <a:t>Work colleagues know each other  </a:t>
            </a:r>
          </a:p>
          <a:p>
            <a:pPr lvl="1"/>
            <a:r>
              <a:rPr lang="en-US" dirty="0"/>
              <a:t>Members of a small club have a high number of mutual connections  </a:t>
            </a:r>
          </a:p>
          <a:p>
            <a:r>
              <a:rPr lang="en-US" dirty="0"/>
              <a:t>But, some social networks are </a:t>
            </a:r>
            <a:r>
              <a:rPr lang="en-US" b="1" dirty="0"/>
              <a:t>directed</a:t>
            </a:r>
            <a:r>
              <a:rPr lang="en-US" dirty="0"/>
              <a:t>    </a:t>
            </a:r>
          </a:p>
          <a:p>
            <a:pPr lvl="1"/>
            <a:r>
              <a:rPr lang="en-US" dirty="0"/>
              <a:t>I can follow someone on X, but they need not follow me    </a:t>
            </a:r>
          </a:p>
          <a:p>
            <a:pPr lvl="1"/>
            <a:r>
              <a:rPr lang="en-US" dirty="0"/>
              <a:t>Organisms in an environment have asymmetric relationship, e.g. predator-prey  </a:t>
            </a:r>
          </a:p>
          <a:p>
            <a:r>
              <a:rPr lang="en-US" dirty="0"/>
              <a:t>We focus on undirected social networks here  </a:t>
            </a:r>
          </a:p>
          <a:p>
            <a:endParaRPr lang="en-US" dirty="0"/>
          </a:p>
          <a:p>
            <a:endParaRPr lang="en-US" dirty="0"/>
          </a:p>
        </p:txBody>
      </p:sp>
    </p:spTree>
    <p:extLst>
      <p:ext uri="{BB962C8B-B14F-4D97-AF65-F5344CB8AC3E}">
        <p14:creationId xmlns:p14="http://schemas.microsoft.com/office/powerpoint/2010/main" val="473746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Introduction to Social Network Analysis</a:t>
            </a:r>
            <a:endParaRPr lang="en-US" dirty="0"/>
          </a:p>
        </p:txBody>
      </p:sp>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75447" y="1208868"/>
            <a:ext cx="10515600" cy="5447426"/>
          </a:xfrm>
        </p:spPr>
        <p:txBody>
          <a:bodyPr>
            <a:normAutofit/>
          </a:bodyPr>
          <a:lstStyle/>
          <a:p>
            <a:pPr marL="0" indent="0">
              <a:buNone/>
            </a:pPr>
            <a:r>
              <a:rPr lang="en-US" dirty="0"/>
              <a:t>Many methods to find communities in social networks  </a:t>
            </a:r>
          </a:p>
          <a:p>
            <a:r>
              <a:rPr lang="en-US" dirty="0"/>
              <a:t>Communities defined by </a:t>
            </a:r>
            <a:r>
              <a:rPr lang="en-US" b="1" dirty="0"/>
              <a:t>high connectivity   </a:t>
            </a:r>
          </a:p>
          <a:p>
            <a:r>
              <a:rPr lang="en-US" dirty="0"/>
              <a:t>Can find communities by the </a:t>
            </a:r>
            <a:r>
              <a:rPr lang="en-US" b="1" dirty="0"/>
              <a:t>centrality</a:t>
            </a:r>
            <a:r>
              <a:rPr lang="en-US" dirty="0"/>
              <a:t> or </a:t>
            </a:r>
            <a:r>
              <a:rPr lang="en-US" b="1" dirty="0"/>
              <a:t>influence</a:t>
            </a:r>
            <a:r>
              <a:rPr lang="en-US" dirty="0"/>
              <a:t> of nodes:    </a:t>
            </a:r>
          </a:p>
          <a:p>
            <a:pPr lvl="1"/>
            <a:r>
              <a:rPr lang="en-US" dirty="0"/>
              <a:t>Katz centrality   </a:t>
            </a:r>
          </a:p>
          <a:p>
            <a:pPr lvl="1"/>
            <a:r>
              <a:rPr lang="en-US" dirty="0"/>
              <a:t>Closeness centrality  </a:t>
            </a:r>
          </a:p>
          <a:p>
            <a:pPr lvl="1"/>
            <a:r>
              <a:rPr lang="en-US" dirty="0"/>
              <a:t>K-Cores   </a:t>
            </a:r>
          </a:p>
          <a:p>
            <a:pPr lvl="1"/>
            <a:r>
              <a:rPr lang="en-US" dirty="0"/>
              <a:t>Triangle density and clustering  </a:t>
            </a:r>
          </a:p>
          <a:p>
            <a:r>
              <a:rPr lang="en-US" dirty="0"/>
              <a:t>Partition communities by betweenness </a:t>
            </a:r>
          </a:p>
          <a:p>
            <a:r>
              <a:rPr lang="en-US" dirty="0"/>
              <a:t>Find communities by </a:t>
            </a:r>
            <a:r>
              <a:rPr lang="en-US" b="1" dirty="0"/>
              <a:t>modularity</a:t>
            </a:r>
            <a:r>
              <a:rPr lang="en-US" dirty="0"/>
              <a:t> of groups of nodes</a:t>
            </a:r>
          </a:p>
          <a:p>
            <a:pPr lvl="1"/>
            <a:r>
              <a:rPr lang="en-US" dirty="0"/>
              <a:t>Greedy algorithms  </a:t>
            </a:r>
          </a:p>
          <a:p>
            <a:pPr lvl="1"/>
            <a:r>
              <a:rPr lang="en-US" dirty="0"/>
              <a:t>Spectral modularity decomposition</a:t>
            </a:r>
          </a:p>
          <a:p>
            <a:endParaRPr lang="en-US" dirty="0"/>
          </a:p>
          <a:p>
            <a:endParaRPr lang="en-US" dirty="0"/>
          </a:p>
        </p:txBody>
      </p:sp>
    </p:spTree>
    <p:extLst>
      <p:ext uri="{BB962C8B-B14F-4D97-AF65-F5344CB8AC3E}">
        <p14:creationId xmlns:p14="http://schemas.microsoft.com/office/powerpoint/2010/main" val="4287135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Pitfalls in Social Network Analysis</a:t>
            </a:r>
            <a:endParaRPr lang="en-US" dirty="0"/>
          </a:p>
        </p:txBody>
      </p:sp>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75447" y="1208868"/>
            <a:ext cx="10515600" cy="5447426"/>
          </a:xfrm>
        </p:spPr>
        <p:txBody>
          <a:bodyPr>
            <a:normAutofit/>
          </a:bodyPr>
          <a:lstStyle/>
          <a:p>
            <a:pPr marL="0" indent="0">
              <a:buNone/>
            </a:pPr>
            <a:r>
              <a:rPr lang="en-US" dirty="0"/>
              <a:t>Unsupervised learning of community structure has pitfalls </a:t>
            </a:r>
          </a:p>
          <a:p>
            <a:r>
              <a:rPr lang="en-US" dirty="0"/>
              <a:t>No hard definitions or thresholds</a:t>
            </a:r>
          </a:p>
          <a:p>
            <a:pPr lvl="1"/>
            <a:r>
              <a:rPr lang="en-US" dirty="0"/>
              <a:t>How can you define dense connections? </a:t>
            </a:r>
          </a:p>
          <a:p>
            <a:pPr lvl="1"/>
            <a:r>
              <a:rPr lang="en-US" dirty="0"/>
              <a:t>How dense is a core? </a:t>
            </a:r>
          </a:p>
          <a:p>
            <a:r>
              <a:rPr lang="en-US" dirty="0"/>
              <a:t>How many communities are there? </a:t>
            </a:r>
          </a:p>
          <a:p>
            <a:pPr lvl="1"/>
            <a:r>
              <a:rPr lang="en-US" dirty="0"/>
              <a:t>Communities may have </a:t>
            </a:r>
            <a:r>
              <a:rPr lang="en-US" b="1" dirty="0"/>
              <a:t>subcommunities</a:t>
            </a:r>
            <a:r>
              <a:rPr lang="en-US" dirty="0"/>
              <a:t>   </a:t>
            </a:r>
          </a:p>
          <a:p>
            <a:r>
              <a:rPr lang="en-US" dirty="0"/>
              <a:t>Communities may overlap – not independent or unique</a:t>
            </a:r>
          </a:p>
          <a:p>
            <a:pPr lvl="1"/>
            <a:r>
              <a:rPr lang="en-US" dirty="0"/>
              <a:t>Example: members of two clubs </a:t>
            </a:r>
          </a:p>
          <a:p>
            <a:pPr lvl="1"/>
            <a:r>
              <a:rPr lang="en-US" dirty="0"/>
              <a:t>Example: people in occupations and members of political parties</a:t>
            </a:r>
          </a:p>
          <a:p>
            <a:pPr lvl="1"/>
            <a:r>
              <a:rPr lang="en-US" dirty="0"/>
              <a:t>Effect of criminal network on victims   </a:t>
            </a:r>
          </a:p>
          <a:p>
            <a:r>
              <a:rPr lang="en-US" dirty="0"/>
              <a:t>Evaluation is never fully objective </a:t>
            </a:r>
          </a:p>
          <a:p>
            <a:endParaRPr lang="en-US" dirty="0"/>
          </a:p>
        </p:txBody>
      </p:sp>
    </p:spTree>
    <p:extLst>
      <p:ext uri="{BB962C8B-B14F-4D97-AF65-F5344CB8AC3E}">
        <p14:creationId xmlns:p14="http://schemas.microsoft.com/office/powerpoint/2010/main" val="2047908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0FE35-2CA5-69B2-BE9C-D5B150C049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E240C4-1845-926E-3746-8AA99FF5A95E}"/>
              </a:ext>
            </a:extLst>
          </p:cNvPr>
          <p:cNvSpPr>
            <a:spLocks noGrp="1"/>
          </p:cNvSpPr>
          <p:nvPr>
            <p:ph type="title"/>
          </p:nvPr>
        </p:nvSpPr>
        <p:spPr>
          <a:xfrm>
            <a:off x="831850" y="1709738"/>
            <a:ext cx="10515600" cy="2282271"/>
          </a:xfrm>
        </p:spPr>
        <p:txBody>
          <a:bodyPr/>
          <a:lstStyle/>
          <a:p>
            <a:pPr algn="ctr"/>
            <a:r>
              <a:rPr lang="en-US" dirty="0"/>
              <a:t>Communities in Networks</a:t>
            </a:r>
          </a:p>
        </p:txBody>
      </p:sp>
    </p:spTree>
    <p:extLst>
      <p:ext uri="{BB962C8B-B14F-4D97-AF65-F5344CB8AC3E}">
        <p14:creationId xmlns:p14="http://schemas.microsoft.com/office/powerpoint/2010/main" val="37978971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Finding Communities in Networks</a:t>
            </a:r>
            <a:endParaRPr lang="en-US" dirty="0"/>
          </a:p>
        </p:txBody>
      </p:sp>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75447" y="1208868"/>
            <a:ext cx="10515600" cy="5447426"/>
          </a:xfrm>
        </p:spPr>
        <p:txBody>
          <a:bodyPr>
            <a:normAutofit/>
          </a:bodyPr>
          <a:lstStyle/>
          <a:p>
            <a:pPr marL="0" indent="0">
              <a:buNone/>
            </a:pPr>
            <a:r>
              <a:rPr lang="en-US" dirty="0"/>
              <a:t>Social networks are organized in </a:t>
            </a:r>
            <a:r>
              <a:rPr lang="en-US" b="1" dirty="0"/>
              <a:t>communities</a:t>
            </a:r>
            <a:r>
              <a:rPr lang="en-US" dirty="0"/>
              <a:t>  </a:t>
            </a:r>
          </a:p>
          <a:p>
            <a:r>
              <a:rPr lang="en-US" dirty="0"/>
              <a:t>Communities are strongly connected </a:t>
            </a:r>
          </a:p>
          <a:p>
            <a:pPr lvl="1"/>
            <a:r>
              <a:rPr lang="en-US" dirty="0"/>
              <a:t>A random graph has uniform distribution of the edges </a:t>
            </a:r>
          </a:p>
          <a:p>
            <a:pPr lvl="1"/>
            <a:r>
              <a:rPr lang="en-US" dirty="0"/>
              <a:t>A graph of communities has regions of </a:t>
            </a:r>
            <a:r>
              <a:rPr lang="en-US" b="1" dirty="0"/>
              <a:t>dense connections  </a:t>
            </a:r>
          </a:p>
          <a:p>
            <a:pPr lvl="1"/>
            <a:r>
              <a:rPr lang="en-US" b="1" dirty="0"/>
              <a:t>Few connections </a:t>
            </a:r>
            <a:r>
              <a:rPr lang="en-US" dirty="0"/>
              <a:t>between communities</a:t>
            </a:r>
          </a:p>
          <a:p>
            <a:pPr lvl="1"/>
            <a:r>
              <a:rPr lang="en-US" dirty="0"/>
              <a:t>Core nodes are said to exhibit </a:t>
            </a:r>
            <a:r>
              <a:rPr lang="en-US" b="1" dirty="0"/>
              <a:t>high clustering</a:t>
            </a:r>
          </a:p>
          <a:p>
            <a:r>
              <a:rPr lang="en-US" dirty="0"/>
              <a:t>Communities are built around highly influential nodes </a:t>
            </a:r>
          </a:p>
          <a:p>
            <a:pPr lvl="1"/>
            <a:r>
              <a:rPr lang="en-US" b="1" dirty="0"/>
              <a:t>High centrality </a:t>
            </a:r>
            <a:r>
              <a:rPr lang="en-US" dirty="0"/>
              <a:t>nodes at the core of communities</a:t>
            </a:r>
          </a:p>
          <a:p>
            <a:pPr lvl="1"/>
            <a:r>
              <a:rPr lang="en-US" dirty="0"/>
              <a:t>Can use several measures of centrality  </a:t>
            </a:r>
          </a:p>
          <a:p>
            <a:pPr lvl="1"/>
            <a:r>
              <a:rPr lang="en-US" dirty="0"/>
              <a:t>Example; K-cores represent nodes at center of communities  </a:t>
            </a:r>
          </a:p>
          <a:p>
            <a:pPr lvl="1"/>
            <a:endParaRPr lang="en-US" dirty="0"/>
          </a:p>
          <a:p>
            <a:endParaRPr lang="en-US" dirty="0"/>
          </a:p>
          <a:p>
            <a:endParaRPr lang="en-US" dirty="0"/>
          </a:p>
          <a:p>
            <a:endParaRPr lang="en-US" dirty="0"/>
          </a:p>
        </p:txBody>
      </p:sp>
    </p:spTree>
    <p:extLst>
      <p:ext uri="{BB962C8B-B14F-4D97-AF65-F5344CB8AC3E}">
        <p14:creationId xmlns:p14="http://schemas.microsoft.com/office/powerpoint/2010/main" val="590577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Centrality in Communities</a:t>
            </a:r>
            <a:endParaRPr lang="en-US" dirty="0"/>
          </a:p>
        </p:txBody>
      </p:sp>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75447" y="1208868"/>
            <a:ext cx="10515600" cy="5447426"/>
          </a:xfrm>
        </p:spPr>
        <p:txBody>
          <a:bodyPr>
            <a:normAutofit/>
          </a:bodyPr>
          <a:lstStyle/>
          <a:p>
            <a:pPr marL="0" indent="0">
              <a:buNone/>
            </a:pPr>
            <a:r>
              <a:rPr lang="en-US" dirty="0"/>
              <a:t>Find highly connected nodes at center or core of communities </a:t>
            </a:r>
          </a:p>
          <a:p>
            <a:r>
              <a:rPr lang="en-US" dirty="0"/>
              <a:t>These highly connected nodes are </a:t>
            </a:r>
            <a:r>
              <a:rPr lang="en-US" b="1" dirty="0"/>
              <a:t>influential</a:t>
            </a:r>
            <a:r>
              <a:rPr lang="en-US" dirty="0"/>
              <a:t> in the community</a:t>
            </a:r>
          </a:p>
          <a:p>
            <a:r>
              <a:rPr lang="en-US" dirty="0"/>
              <a:t>Consider the spread of information in a social network </a:t>
            </a:r>
          </a:p>
          <a:p>
            <a:pPr lvl="1"/>
            <a:r>
              <a:rPr lang="en-US" dirty="0"/>
              <a:t>Messages with the information travel from node to node </a:t>
            </a:r>
          </a:p>
          <a:p>
            <a:pPr lvl="1"/>
            <a:r>
              <a:rPr lang="en-US" dirty="0"/>
              <a:t>Nodes with stronger connections to the community disseminate messages more effectively  </a:t>
            </a:r>
          </a:p>
          <a:p>
            <a:pPr lvl="1"/>
            <a:r>
              <a:rPr lang="en-US" dirty="0"/>
              <a:t>These strongly connected nodes are considered </a:t>
            </a:r>
            <a:r>
              <a:rPr lang="en-US" b="1" dirty="0"/>
              <a:t>influential </a:t>
            </a:r>
          </a:p>
          <a:p>
            <a:r>
              <a:rPr lang="en-US" dirty="0"/>
              <a:t>We measure a node’s influence in a social network by its </a:t>
            </a:r>
            <a:r>
              <a:rPr lang="en-US" b="1" dirty="0"/>
              <a:t>centrality</a:t>
            </a:r>
          </a:p>
          <a:p>
            <a:endParaRPr lang="en-US" dirty="0"/>
          </a:p>
        </p:txBody>
      </p:sp>
    </p:spTree>
    <p:extLst>
      <p:ext uri="{BB962C8B-B14F-4D97-AF65-F5344CB8AC3E}">
        <p14:creationId xmlns:p14="http://schemas.microsoft.com/office/powerpoint/2010/main" val="1778958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Centrality in Communities </a:t>
            </a:r>
            <a:endParaRPr lang="en-US" dirty="0"/>
          </a:p>
        </p:txBody>
      </p:sp>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75447" y="1208868"/>
            <a:ext cx="10515600" cy="5447426"/>
          </a:xfrm>
        </p:spPr>
        <p:txBody>
          <a:bodyPr>
            <a:normAutofit/>
          </a:bodyPr>
          <a:lstStyle/>
          <a:p>
            <a:pPr marL="0" indent="0">
              <a:buNone/>
            </a:pPr>
            <a:r>
              <a:rPr lang="en-US" b="1" dirty="0"/>
              <a:t>Centrality</a:t>
            </a:r>
            <a:r>
              <a:rPr lang="en-US" dirty="0"/>
              <a:t> is the ability of a node to exert influence on the network</a:t>
            </a:r>
          </a:p>
          <a:p>
            <a:r>
              <a:rPr lang="en-US" b="1" dirty="0"/>
              <a:t>Cores</a:t>
            </a:r>
            <a:r>
              <a:rPr lang="en-US" dirty="0"/>
              <a:t> are densely connected groups of nodes </a:t>
            </a:r>
          </a:p>
          <a:p>
            <a:r>
              <a:rPr lang="en-US" dirty="0"/>
              <a:t>Core nodes have </a:t>
            </a:r>
            <a:r>
              <a:rPr lang="en-US" b="1" dirty="0"/>
              <a:t>high centrality </a:t>
            </a:r>
          </a:p>
          <a:p>
            <a:r>
              <a:rPr lang="en-US" b="1" dirty="0"/>
              <a:t>Katz centrality </a:t>
            </a:r>
            <a:r>
              <a:rPr lang="en-US" dirty="0"/>
              <a:t>is an example of a centrally metric</a:t>
            </a:r>
            <a:endParaRPr lang="en-US" b="1" dirty="0"/>
          </a:p>
          <a:p>
            <a:pPr lvl="1"/>
            <a:r>
              <a:rPr lang="en-US" dirty="0"/>
              <a:t>Katz centrality is equivalent to the probability of visiting a node during a </a:t>
            </a:r>
            <a:r>
              <a:rPr lang="en-US" b="1" dirty="0"/>
              <a:t>random walk </a:t>
            </a:r>
            <a:r>
              <a:rPr lang="en-US" dirty="0"/>
              <a:t>on the graph </a:t>
            </a:r>
          </a:p>
          <a:p>
            <a:pPr lvl="1"/>
            <a:r>
              <a:rPr lang="en-US" dirty="0"/>
              <a:t>Katz centrality is applicable to directed or undirected graphs</a:t>
            </a:r>
          </a:p>
          <a:p>
            <a:r>
              <a:rPr lang="en-US" b="1" dirty="0"/>
              <a:t>Closeness centrality </a:t>
            </a:r>
            <a:r>
              <a:rPr lang="en-US" dirty="0"/>
              <a:t>is the </a:t>
            </a:r>
            <a:r>
              <a:rPr lang="en-US" b="1" dirty="0"/>
              <a:t>average inverse distance </a:t>
            </a:r>
            <a:r>
              <a:rPr lang="en-US" dirty="0"/>
              <a:t>from a node to all other nodes in a graph component </a:t>
            </a:r>
          </a:p>
          <a:p>
            <a:r>
              <a:rPr lang="en-US" dirty="0"/>
              <a:t>Different centrality measures are sensitive to different aspects of the network!</a:t>
            </a:r>
          </a:p>
          <a:p>
            <a:endParaRPr lang="en-US" dirty="0"/>
          </a:p>
          <a:p>
            <a:endParaRPr lang="en-US" dirty="0"/>
          </a:p>
        </p:txBody>
      </p:sp>
    </p:spTree>
    <p:extLst>
      <p:ext uri="{BB962C8B-B14F-4D97-AF65-F5344CB8AC3E}">
        <p14:creationId xmlns:p14="http://schemas.microsoft.com/office/powerpoint/2010/main" val="2364912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Centrality in Communities </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75447" y="1208868"/>
                <a:ext cx="10515600" cy="5447426"/>
              </a:xfrm>
            </p:spPr>
            <p:txBody>
              <a:bodyPr>
                <a:normAutofit/>
              </a:bodyPr>
              <a:lstStyle/>
              <a:p>
                <a:pPr marL="0" indent="0">
                  <a:buNone/>
                </a:pPr>
                <a:r>
                  <a:rPr lang="en-US" b="1" dirty="0"/>
                  <a:t>Centrality</a:t>
                </a:r>
                <a:r>
                  <a:rPr lang="en-US" dirty="0"/>
                  <a:t> is the ability of a node to exert influence on the network</a:t>
                </a:r>
              </a:p>
              <a:p>
                <a:r>
                  <a:rPr lang="en-US" b="1" dirty="0"/>
                  <a:t>Cores</a:t>
                </a:r>
                <a:r>
                  <a:rPr lang="en-US" dirty="0"/>
                  <a:t> are densely connected groups of nodes </a:t>
                </a:r>
              </a:p>
              <a:p>
                <a:r>
                  <a:rPr lang="en-US" b="1" dirty="0"/>
                  <a:t>Fully connected </a:t>
                </a:r>
                <a:r>
                  <a:rPr lang="en-US" dirty="0"/>
                  <a:t>portions of graphs are called </a:t>
                </a:r>
                <a:r>
                  <a:rPr lang="en-US" b="1" dirty="0"/>
                  <a:t>cliques</a:t>
                </a:r>
                <a:r>
                  <a:rPr lang="en-US" dirty="0"/>
                  <a:t> </a:t>
                </a:r>
              </a:p>
              <a:p>
                <a:r>
                  <a:rPr lang="en-US" dirty="0"/>
                  <a:t>Nodes that are vertices of many </a:t>
                </a:r>
                <a:r>
                  <a:rPr lang="en-US" b="1" dirty="0"/>
                  <a:t>triad</a:t>
                </a:r>
                <a:r>
                  <a:rPr lang="en-US" dirty="0"/>
                  <a:t> (triangle) relationships exhibit </a:t>
                </a:r>
                <a:r>
                  <a:rPr lang="en-US" b="1" dirty="0"/>
                  <a:t>clustering   </a:t>
                </a:r>
              </a:p>
              <a:p>
                <a:pPr lvl="1"/>
                <a:r>
                  <a:rPr lang="en-US" dirty="0"/>
                  <a:t>Don’t confuse graph clustering with other types of ‘clustering’, e.g. K-means</a:t>
                </a:r>
              </a:p>
              <a:p>
                <a:r>
                  <a:rPr lang="en-US" b="1" dirty="0"/>
                  <a:t>K-cores</a:t>
                </a:r>
                <a:r>
                  <a:rPr lang="en-US" dirty="0"/>
                  <a:t> are dense regions of nodes with degree </a:t>
                </a:r>
                <a14:m>
                  <m:oMath xmlns:m="http://schemas.openxmlformats.org/officeDocument/2006/math">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𝑘</m:t>
                    </m:r>
                  </m:oMath>
                </a14:m>
                <a:endParaRPr lang="en-US" dirty="0"/>
              </a:p>
              <a:p>
                <a:endParaRPr lang="en-US" dirty="0"/>
              </a:p>
              <a:p>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CA03134D-F068-4BC9-B038-F3D5CBDDE3F9}"/>
                  </a:ext>
                </a:extLst>
              </p:cNvPr>
              <p:cNvSpPr>
                <a:spLocks noGrp="1" noRot="1" noChangeAspect="1" noMove="1" noResize="1" noEditPoints="1" noAdjustHandles="1" noChangeArrowheads="1" noChangeShapeType="1" noTextEdit="1"/>
              </p:cNvSpPr>
              <p:nvPr>
                <p:ph idx="1"/>
              </p:nvPr>
            </p:nvSpPr>
            <p:spPr>
              <a:xfrm>
                <a:off x="775447" y="1208868"/>
                <a:ext cx="10515600" cy="5447426"/>
              </a:xfrm>
              <a:blipFill>
                <a:blip r:embed="rId2"/>
                <a:stretch>
                  <a:fillRect l="-1159" t="-1790"/>
                </a:stretch>
              </a:blipFill>
            </p:spPr>
            <p:txBody>
              <a:bodyPr/>
              <a:lstStyle/>
              <a:p>
                <a:r>
                  <a:rPr lang="en-US">
                    <a:noFill/>
                  </a:rPr>
                  <a:t> </a:t>
                </a:r>
              </a:p>
            </p:txBody>
          </p:sp>
        </mc:Fallback>
      </mc:AlternateContent>
    </p:spTree>
    <p:extLst>
      <p:ext uri="{BB962C8B-B14F-4D97-AF65-F5344CB8AC3E}">
        <p14:creationId xmlns:p14="http://schemas.microsoft.com/office/powerpoint/2010/main" val="1903352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BA7D6-B1DF-45AD-FAAD-8668239F49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4E8AF1-D970-4B76-2D30-5E1DD3977DE6}"/>
              </a:ext>
            </a:extLst>
          </p:cNvPr>
          <p:cNvSpPr>
            <a:spLocks noGrp="1"/>
          </p:cNvSpPr>
          <p:nvPr>
            <p:ph type="title"/>
          </p:nvPr>
        </p:nvSpPr>
        <p:spPr>
          <a:xfrm>
            <a:off x="838200" y="365125"/>
            <a:ext cx="10515600" cy="620993"/>
          </a:xfrm>
        </p:spPr>
        <p:txBody>
          <a:bodyPr>
            <a:normAutofit fontScale="90000"/>
          </a:bodyPr>
          <a:lstStyle/>
          <a:p>
            <a:r>
              <a:rPr lang="en-US" dirty="0">
                <a:latin typeface="+mn-lt"/>
              </a:rPr>
              <a:t>Finding Communities in Networks</a:t>
            </a:r>
            <a:endParaRPr lang="en-US" dirty="0"/>
          </a:p>
        </p:txBody>
      </p:sp>
      <p:sp>
        <p:nvSpPr>
          <p:cNvPr id="3" name="Content Placeholder 2">
            <a:extLst>
              <a:ext uri="{FF2B5EF4-FFF2-40B4-BE49-F238E27FC236}">
                <a16:creationId xmlns:a16="http://schemas.microsoft.com/office/drawing/2014/main" id="{E01DAEC8-E4B7-37C0-5AFE-485786786AFD}"/>
              </a:ext>
            </a:extLst>
          </p:cNvPr>
          <p:cNvSpPr>
            <a:spLocks noGrp="1"/>
          </p:cNvSpPr>
          <p:nvPr>
            <p:ph idx="1"/>
          </p:nvPr>
        </p:nvSpPr>
        <p:spPr>
          <a:xfrm>
            <a:off x="775447" y="1208868"/>
            <a:ext cx="10515600" cy="5447426"/>
          </a:xfrm>
        </p:spPr>
        <p:txBody>
          <a:bodyPr>
            <a:normAutofit/>
          </a:bodyPr>
          <a:lstStyle/>
          <a:p>
            <a:pPr marL="0" indent="0">
              <a:buNone/>
            </a:pPr>
            <a:r>
              <a:rPr lang="en-US" dirty="0"/>
              <a:t>Social networks are organized in </a:t>
            </a:r>
            <a:r>
              <a:rPr lang="en-US" b="1" dirty="0"/>
              <a:t>communities</a:t>
            </a:r>
            <a:r>
              <a:rPr lang="en-US" dirty="0"/>
              <a:t>  </a:t>
            </a:r>
          </a:p>
          <a:p>
            <a:r>
              <a:rPr lang="en-US" dirty="0"/>
              <a:t>Betweenness and modularity used to partition graphs into community components</a:t>
            </a:r>
          </a:p>
          <a:p>
            <a:r>
              <a:rPr lang="en-US" b="1" dirty="0"/>
              <a:t>Betweenness</a:t>
            </a:r>
            <a:r>
              <a:rPr lang="en-US" dirty="0"/>
              <a:t> measures the extent certain nodes and edges are on path between other nodes  </a:t>
            </a:r>
          </a:p>
          <a:p>
            <a:pPr lvl="1"/>
            <a:r>
              <a:rPr lang="en-US" dirty="0"/>
              <a:t>Betweenness is low within highly connected communities </a:t>
            </a:r>
          </a:p>
          <a:p>
            <a:pPr lvl="1"/>
            <a:r>
              <a:rPr lang="en-US" dirty="0"/>
              <a:t>Betweenness is high between communities </a:t>
            </a:r>
          </a:p>
          <a:p>
            <a:r>
              <a:rPr lang="en-US" b="1" dirty="0"/>
              <a:t>Modularity</a:t>
            </a:r>
            <a:r>
              <a:rPr lang="en-US" dirty="0"/>
              <a:t> measures the weights (density) of edges compared to random graph </a:t>
            </a:r>
          </a:p>
          <a:p>
            <a:pPr lvl="1"/>
            <a:r>
              <a:rPr lang="en-US" dirty="0"/>
              <a:t>Communities have high modularity </a:t>
            </a:r>
          </a:p>
          <a:p>
            <a:pPr lvl="1"/>
            <a:r>
              <a:rPr lang="en-US" dirty="0"/>
              <a:t>Use modularity to search for communities </a:t>
            </a:r>
          </a:p>
          <a:p>
            <a:endParaRPr lang="en-US" dirty="0"/>
          </a:p>
          <a:p>
            <a:endParaRPr lang="en-US" dirty="0"/>
          </a:p>
          <a:p>
            <a:endParaRPr lang="en-US" dirty="0"/>
          </a:p>
        </p:txBody>
      </p:sp>
    </p:spTree>
    <p:extLst>
      <p:ext uri="{BB962C8B-B14F-4D97-AF65-F5344CB8AC3E}">
        <p14:creationId xmlns:p14="http://schemas.microsoft.com/office/powerpoint/2010/main" val="2738987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98FC70-52A9-72D3-6D56-74EFD8D5CF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B4FF1B-9233-2100-695A-04B2DDDFEBD4}"/>
              </a:ext>
            </a:extLst>
          </p:cNvPr>
          <p:cNvSpPr>
            <a:spLocks noGrp="1"/>
          </p:cNvSpPr>
          <p:nvPr>
            <p:ph type="title"/>
          </p:nvPr>
        </p:nvSpPr>
        <p:spPr>
          <a:xfrm>
            <a:off x="831850" y="1709738"/>
            <a:ext cx="10515600" cy="2282271"/>
          </a:xfrm>
        </p:spPr>
        <p:txBody>
          <a:bodyPr/>
          <a:lstStyle/>
          <a:p>
            <a:pPr algn="ctr"/>
            <a:r>
              <a:rPr lang="en-US" dirty="0"/>
              <a:t>Katz Centrality</a:t>
            </a:r>
          </a:p>
        </p:txBody>
      </p:sp>
    </p:spTree>
    <p:extLst>
      <p:ext uri="{BB962C8B-B14F-4D97-AF65-F5344CB8AC3E}">
        <p14:creationId xmlns:p14="http://schemas.microsoft.com/office/powerpoint/2010/main" val="14771652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B68D8-3E8E-49D9-CCB4-F234CFA071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415FF8-A31D-AD65-6584-BD9B26A0D2A6}"/>
              </a:ext>
            </a:extLst>
          </p:cNvPr>
          <p:cNvSpPr>
            <a:spLocks noGrp="1"/>
          </p:cNvSpPr>
          <p:nvPr>
            <p:ph type="title"/>
          </p:nvPr>
        </p:nvSpPr>
        <p:spPr>
          <a:xfrm>
            <a:off x="838200" y="365125"/>
            <a:ext cx="10515600" cy="620993"/>
          </a:xfrm>
        </p:spPr>
        <p:txBody>
          <a:bodyPr>
            <a:normAutofit fontScale="90000"/>
          </a:bodyPr>
          <a:lstStyle/>
          <a:p>
            <a:r>
              <a:rPr lang="en-US" dirty="0">
                <a:latin typeface="+mn-lt"/>
              </a:rPr>
              <a:t>Katz Centrality in Communities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ABB9CE7-A05E-7635-2CF8-8624C82AFB38}"/>
                  </a:ext>
                </a:extLst>
              </p:cNvPr>
              <p:cNvSpPr>
                <a:spLocks noGrp="1"/>
              </p:cNvSpPr>
              <p:nvPr>
                <p:ph idx="1"/>
              </p:nvPr>
            </p:nvSpPr>
            <p:spPr>
              <a:xfrm>
                <a:off x="775447" y="1208868"/>
                <a:ext cx="10515600" cy="5447426"/>
              </a:xfrm>
            </p:spPr>
            <p:txBody>
              <a:bodyPr>
                <a:normAutofit/>
              </a:bodyPr>
              <a:lstStyle/>
              <a:p>
                <a:pPr marL="0" indent="0">
                  <a:buNone/>
                </a:pPr>
                <a:r>
                  <a:rPr lang="en-US" b="1" dirty="0">
                    <a:hlinkClick r:id="rId2"/>
                  </a:rPr>
                  <a:t>Katz Centrality</a:t>
                </a:r>
                <a:r>
                  <a:rPr lang="en-US" dirty="0">
                    <a:hlinkClick r:id="rId2"/>
                  </a:rPr>
                  <a:t> </a:t>
                </a:r>
                <a:r>
                  <a:rPr lang="en-US" dirty="0"/>
                  <a:t>a simple measure of centrality  </a:t>
                </a:r>
              </a:p>
              <a:p>
                <a:r>
                  <a:rPr lang="en-US" dirty="0">
                    <a:hlinkClick r:id="rId3"/>
                  </a:rPr>
                  <a:t>Katz (1953) </a:t>
                </a:r>
                <a:r>
                  <a:rPr lang="en-US" dirty="0"/>
                  <a:t>proposed a simple measure of centrality.  </a:t>
                </a:r>
              </a:p>
              <a:p>
                <a:r>
                  <a:rPr lang="en-US" b="1" dirty="0"/>
                  <a:t>Eigenvector centrality</a:t>
                </a:r>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oMath>
                </a14:m>
                <a:r>
                  <a:rPr lang="en-US" dirty="0"/>
                  <a:t>,</a:t>
                </a:r>
                <a:r>
                  <a:rPr lang="en-US" b="1" dirty="0"/>
                  <a:t> </a:t>
                </a:r>
                <a:r>
                  <a:rPr lang="en-US" dirty="0"/>
                  <a:t>defines the centrality of a node, </a:t>
                </a:r>
                <a14:m>
                  <m:oMath xmlns:m="http://schemas.openxmlformats.org/officeDocument/2006/math">
                    <m:r>
                      <a:rPr lang="en-US" b="0" i="1" smtClean="0">
                        <a:latin typeface="Cambria Math" panose="02040503050406030204" pitchFamily="18" charset="0"/>
                      </a:rPr>
                      <m:t>𝑖</m:t>
                    </m:r>
                  </m:oMath>
                </a14:m>
                <a:r>
                  <a:rPr lang="en-US" dirty="0"/>
                  <a:t>, can be expressed as the sum of the contributions of neighboring node centralities:</a:t>
                </a:r>
              </a:p>
              <a:p>
                <a:pPr marL="0" indent="0">
                  <a:buNone/>
                </a:pPr>
                <a14:m>
                  <m:oMathPara xmlns:m="http://schemas.openxmlformats.org/officeDocument/2006/math">
                    <m:o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𝜅</m:t>
                          </m:r>
                        </m:den>
                      </m:f>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𝑗</m:t>
                          </m:r>
                          <m:r>
                            <a:rPr lang="en-US" b="0" i="1" smtClean="0">
                              <a:latin typeface="Cambria Math" panose="02040503050406030204" pitchFamily="18" charset="0"/>
                            </a:rPr>
                            <m:t>=</m:t>
                          </m:r>
                          <m:r>
                            <m:rPr>
                              <m:brk m:alnAt="23"/>
                            </m:rPr>
                            <a:rPr lang="en-US" b="0" i="1" smtClean="0">
                              <a:latin typeface="Cambria Math" panose="02040503050406030204" pitchFamily="18" charset="0"/>
                            </a:rPr>
                            <m:t>1</m:t>
                          </m:r>
                        </m:sub>
                        <m:sup>
                          <m:r>
                            <a:rPr lang="en-US" b="0" i="1" smtClean="0">
                              <a:latin typeface="Cambria Math" panose="02040503050406030204" pitchFamily="18" charset="0"/>
                            </a:rPr>
                            <m:t>𝑛</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e>
                      </m:nary>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𝑗</m:t>
                          </m:r>
                        </m:sub>
                      </m:sSub>
                    </m:oMath>
                  </m:oMathPara>
                </a14:m>
                <a:endParaRPr lang="en-US" dirty="0"/>
              </a:p>
              <a:p>
                <a:r>
                  <a:rPr lang="en-US" dirty="0"/>
                  <a:t>In matrix notation:</a:t>
                </a:r>
              </a:p>
              <a:p>
                <a:pPr marL="0" indent="0">
                  <a:buNone/>
                </a:pPr>
                <a14:m>
                  <m:oMathPara xmlns:m="http://schemas.openxmlformats.org/officeDocument/2006/math">
                    <m:oMath>
                      <m:r>
                        <a:rPr lang="en-US" b="0" i="1" smtClean="0">
                          <a:latin typeface="Cambria Math" panose="02040503050406030204" pitchFamily="18" charset="0"/>
                        </a:rPr>
                        <m:t>𝐴𝑥</m:t>
                      </m:r>
                      <m:r>
                        <a:rPr lang="en-US" b="0" i="1" smtClean="0">
                          <a:latin typeface="Cambria Math" panose="02040503050406030204" pitchFamily="18" charset="0"/>
                        </a:rPr>
                        <m:t>=</m:t>
                      </m:r>
                      <m:r>
                        <a:rPr lang="en-US" i="1">
                          <a:latin typeface="Cambria Math" panose="02040503050406030204" pitchFamily="18" charset="0"/>
                          <a:ea typeface="Cambria Math" panose="02040503050406030204" pitchFamily="18" charset="0"/>
                        </a:rPr>
                        <m:t>𝜅</m:t>
                      </m:r>
                      <m:r>
                        <a:rPr lang="en-US" b="0" i="1" smtClean="0">
                          <a:latin typeface="Cambria Math" panose="02040503050406030204" pitchFamily="18" charset="0"/>
                        </a:rPr>
                        <m:t>𝑥</m:t>
                      </m:r>
                    </m:oMath>
                  </m:oMathPara>
                </a14:m>
                <a:endParaRPr lang="en-US" dirty="0"/>
              </a:p>
              <a:p>
                <a:pPr marL="457200" lvl="1" indent="0">
                  <a:buNone/>
                </a:pPr>
                <a:r>
                  <a:rPr lang="en-US" dirty="0"/>
                  <a:t>Where: </a:t>
                </a:r>
              </a:p>
              <a:p>
                <a:pPr marL="457200" lvl="1" indent="0">
                  <a:buNone/>
                </a:pPr>
                <a14:m>
                  <m:oMath xmlns:m="http://schemas.openxmlformats.org/officeDocument/2006/math">
                    <m:r>
                      <a:rPr lang="en-US" i="1">
                        <a:latin typeface="Cambria Math" panose="02040503050406030204" pitchFamily="18" charset="0"/>
                        <a:ea typeface="Cambria Math" panose="02040503050406030204" pitchFamily="18" charset="0"/>
                      </a:rPr>
                      <m:t>𝜅</m:t>
                    </m:r>
                  </m:oMath>
                </a14:m>
                <a:r>
                  <a:rPr lang="en-US" dirty="0"/>
                  <a:t> is the largest eigenvalue of </a:t>
                </a:r>
                <a14:m>
                  <m:oMath xmlns:m="http://schemas.openxmlformats.org/officeDocument/2006/math">
                    <m:r>
                      <a:rPr lang="en-US" i="1">
                        <a:latin typeface="Cambria Math" panose="02040503050406030204" pitchFamily="18" charset="0"/>
                      </a:rPr>
                      <m:t>𝐴</m:t>
                    </m:r>
                  </m:oMath>
                </a14:m>
                <a:endParaRPr lang="en-US" dirty="0"/>
              </a:p>
              <a:p>
                <a:pPr marL="457200" lvl="1" indent="0">
                  <a:buNone/>
                </a:pPr>
                <a14:m>
                  <m:oMath xmlns:m="http://schemas.openxmlformats.org/officeDocument/2006/math">
                    <m:r>
                      <a:rPr lang="en-US" i="1">
                        <a:latin typeface="Cambria Math" panose="02040503050406030204" pitchFamily="18" charset="0"/>
                      </a:rPr>
                      <m:t>𝑥</m:t>
                    </m:r>
                  </m:oMath>
                </a14:m>
                <a:r>
                  <a:rPr lang="en-US" dirty="0"/>
                  <a:t> is the eigenvector of </a:t>
                </a:r>
                <a14:m>
                  <m:oMath xmlns:m="http://schemas.openxmlformats.org/officeDocument/2006/math">
                    <m:r>
                      <a:rPr lang="en-US" i="1">
                        <a:latin typeface="Cambria Math" panose="02040503050406030204" pitchFamily="18" charset="0"/>
                      </a:rPr>
                      <m:t>𝐴</m:t>
                    </m:r>
                  </m:oMath>
                </a14:m>
                <a:r>
                  <a:rPr lang="en-US" dirty="0"/>
                  <a:t> for the largest eigenvalue</a:t>
                </a:r>
              </a:p>
              <a:p>
                <a:endParaRPr lang="en-US" dirty="0"/>
              </a:p>
              <a:p>
                <a:endParaRPr lang="en-US" dirty="0"/>
              </a:p>
              <a:p>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8ABB9CE7-A05E-7635-2CF8-8624C82AFB38}"/>
                  </a:ext>
                </a:extLst>
              </p:cNvPr>
              <p:cNvSpPr>
                <a:spLocks noGrp="1" noRot="1" noChangeAspect="1" noMove="1" noResize="1" noEditPoints="1" noAdjustHandles="1" noChangeArrowheads="1" noChangeShapeType="1" noTextEdit="1"/>
              </p:cNvSpPr>
              <p:nvPr>
                <p:ph idx="1"/>
              </p:nvPr>
            </p:nvSpPr>
            <p:spPr>
              <a:xfrm>
                <a:off x="775447" y="1208868"/>
                <a:ext cx="10515600" cy="5447426"/>
              </a:xfrm>
              <a:blipFill>
                <a:blip r:embed="rId4"/>
                <a:stretch>
                  <a:fillRect l="-1159" t="-1790" b="-2237"/>
                </a:stretch>
              </a:blipFill>
            </p:spPr>
            <p:txBody>
              <a:bodyPr/>
              <a:lstStyle/>
              <a:p>
                <a:r>
                  <a:rPr lang="en-US">
                    <a:noFill/>
                  </a:rPr>
                  <a:t> </a:t>
                </a:r>
              </a:p>
            </p:txBody>
          </p:sp>
        </mc:Fallback>
      </mc:AlternateContent>
    </p:spTree>
    <p:extLst>
      <p:ext uri="{BB962C8B-B14F-4D97-AF65-F5344CB8AC3E}">
        <p14:creationId xmlns:p14="http://schemas.microsoft.com/office/powerpoint/2010/main" val="997532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317F2-4CCC-33A9-EFC5-CEBBBC2FB9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81533B-6C29-0C32-9380-8D2F62F29E4D}"/>
              </a:ext>
            </a:extLst>
          </p:cNvPr>
          <p:cNvSpPr>
            <a:spLocks noGrp="1"/>
          </p:cNvSpPr>
          <p:nvPr>
            <p:ph type="title"/>
          </p:nvPr>
        </p:nvSpPr>
        <p:spPr>
          <a:xfrm>
            <a:off x="838200" y="365125"/>
            <a:ext cx="10515600" cy="620993"/>
          </a:xfrm>
        </p:spPr>
        <p:txBody>
          <a:bodyPr>
            <a:normAutofit fontScale="90000"/>
          </a:bodyPr>
          <a:lstStyle/>
          <a:p>
            <a:r>
              <a:rPr lang="en-US" dirty="0">
                <a:latin typeface="+mn-lt"/>
              </a:rPr>
              <a:t>Katz Centrality in Communities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A159714-BC2D-BB4B-D0CC-5D69DA37D844}"/>
                  </a:ext>
                </a:extLst>
              </p:cNvPr>
              <p:cNvSpPr>
                <a:spLocks noGrp="1"/>
              </p:cNvSpPr>
              <p:nvPr>
                <p:ph idx="1"/>
              </p:nvPr>
            </p:nvSpPr>
            <p:spPr>
              <a:xfrm>
                <a:off x="775447" y="1208868"/>
                <a:ext cx="10515600" cy="5447426"/>
              </a:xfrm>
            </p:spPr>
            <p:txBody>
              <a:bodyPr>
                <a:normAutofit lnSpcReduction="10000"/>
              </a:bodyPr>
              <a:lstStyle/>
              <a:p>
                <a:pPr marL="0" indent="0">
                  <a:buNone/>
                </a:pPr>
                <a:r>
                  <a:rPr lang="en-US" b="1" dirty="0"/>
                  <a:t>Katz Centrality</a:t>
                </a:r>
                <a:r>
                  <a:rPr lang="en-US" dirty="0"/>
                  <a:t> a simple measure of centrality  </a:t>
                </a:r>
              </a:p>
              <a:p>
                <a:r>
                  <a:rPr lang="en-US" b="1" dirty="0"/>
                  <a:t>Eigenvector centrality</a:t>
                </a:r>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oMath>
                </a14:m>
                <a:r>
                  <a:rPr lang="en-US" dirty="0"/>
                  <a:t>,</a:t>
                </a:r>
                <a:r>
                  <a:rPr lang="en-US" b="1" dirty="0"/>
                  <a:t> </a:t>
                </a:r>
                <a:r>
                  <a:rPr lang="en-US" dirty="0"/>
                  <a:t>defines the centrality of a node, </a:t>
                </a:r>
                <a14:m>
                  <m:oMath xmlns:m="http://schemas.openxmlformats.org/officeDocument/2006/math">
                    <m:r>
                      <a:rPr lang="en-US" b="0" i="1" smtClean="0">
                        <a:latin typeface="Cambria Math" panose="02040503050406030204" pitchFamily="18" charset="0"/>
                      </a:rPr>
                      <m:t>𝑖</m:t>
                    </m:r>
                  </m:oMath>
                </a14:m>
                <a:r>
                  <a:rPr lang="en-US" dirty="0"/>
                  <a:t>, can be expressed as the sum of the contributions of neighboring node centralities:</a:t>
                </a:r>
              </a:p>
              <a:p>
                <a:pPr marL="0" indent="0">
                  <a:buNone/>
                </a:pPr>
                <a14:m>
                  <m:oMathPara xmlns:m="http://schemas.openxmlformats.org/officeDocument/2006/math">
                    <m:oMath>
                      <m:r>
                        <a:rPr lang="en-US" b="0" i="1" smtClean="0">
                          <a:latin typeface="Cambria Math" panose="02040503050406030204" pitchFamily="18" charset="0"/>
                        </a:rPr>
                        <m:t>𝐴𝑥</m:t>
                      </m:r>
                      <m:r>
                        <a:rPr lang="en-US" b="0" i="1" smtClean="0">
                          <a:latin typeface="Cambria Math" panose="02040503050406030204" pitchFamily="18" charset="0"/>
                        </a:rPr>
                        <m:t>=</m:t>
                      </m:r>
                      <m:r>
                        <a:rPr lang="en-US" i="1">
                          <a:latin typeface="Cambria Math" panose="02040503050406030204" pitchFamily="18" charset="0"/>
                          <a:ea typeface="Cambria Math" panose="02040503050406030204" pitchFamily="18" charset="0"/>
                        </a:rPr>
                        <m:t>𝜅</m:t>
                      </m:r>
                      <m:r>
                        <a:rPr lang="en-US" b="0" i="1" smtClean="0">
                          <a:latin typeface="Cambria Math" panose="02040503050406030204" pitchFamily="18" charset="0"/>
                        </a:rPr>
                        <m:t>𝑥</m:t>
                      </m:r>
                    </m:oMath>
                  </m:oMathPara>
                </a14:m>
                <a:endParaRPr lang="en-US" dirty="0"/>
              </a:p>
              <a:p>
                <a:r>
                  <a:rPr lang="en-US" b="1" dirty="0"/>
                  <a:t>Katz centrality </a:t>
                </a:r>
                <a:r>
                  <a:rPr lang="en-US" dirty="0"/>
                  <a:t>generalizes eigenvector centrality by adding constant centrality to all nodes, </a:t>
                </a:r>
                <a14:m>
                  <m:oMath xmlns:m="http://schemas.openxmlformats.org/officeDocument/2006/math">
                    <m:r>
                      <a:rPr lang="en-US" i="1" smtClean="0">
                        <a:latin typeface="Cambria Math" panose="02040503050406030204" pitchFamily="18" charset="0"/>
                        <a:ea typeface="Cambria Math" panose="02040503050406030204" pitchFamily="18" charset="0"/>
                      </a:rPr>
                      <m:t>𝛽</m:t>
                    </m:r>
                  </m:oMath>
                </a14:m>
                <a:endParaRPr lang="en-US" dirty="0"/>
              </a:p>
              <a:p>
                <a:pPr marL="0" indent="0">
                  <a:buNone/>
                </a:pPr>
                <a14:m>
                  <m:oMathPara xmlns:m="http://schemas.openxmlformats.org/officeDocument/2006/math">
                    <m:oMath>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𝐴𝑥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r>
                        <a:rPr lang="en-US" b="1" i="1" smtClean="0">
                          <a:latin typeface="Cambria Math" panose="02040503050406030204" pitchFamily="18" charset="0"/>
                          <a:ea typeface="Cambria Math" panose="02040503050406030204" pitchFamily="18" charset="0"/>
                        </a:rPr>
                        <m:t>𝟏</m:t>
                      </m:r>
                    </m:oMath>
                  </m:oMathPara>
                </a14:m>
                <a:endParaRPr lang="en-US" b="1" dirty="0"/>
              </a:p>
              <a:p>
                <a:pPr marL="457200" lvl="1" indent="0">
                  <a:buNone/>
                </a:pPr>
                <a:r>
                  <a:rPr lang="en-US" dirty="0"/>
                  <a:t>Where, </a:t>
                </a:r>
                <a14:m>
                  <m:oMath xmlns:m="http://schemas.openxmlformats.org/officeDocument/2006/math">
                    <m:r>
                      <a:rPr lang="en-US" b="1" i="1">
                        <a:latin typeface="Cambria Math" panose="02040503050406030204" pitchFamily="18" charset="0"/>
                        <a:ea typeface="Cambria Math" panose="02040503050406030204" pitchFamily="18" charset="0"/>
                      </a:rPr>
                      <m:t>𝟏</m:t>
                    </m:r>
                    <m:r>
                      <a:rPr lang="en-US" b="0" i="1"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1,1,1,…1</m:t>
                        </m:r>
                      </m:e>
                    </m:d>
                  </m:oMath>
                </a14:m>
                <a:r>
                  <a:rPr lang="en-US" dirty="0"/>
                  <a:t> is a vector of all 1s</a:t>
                </a:r>
              </a:p>
              <a:p>
                <a:r>
                  <a:rPr lang="en-US" dirty="0"/>
                  <a:t>Simplify by setting </a:t>
                </a:r>
                <a14:m>
                  <m:oMath xmlns:m="http://schemas.openxmlformats.org/officeDocument/2006/math">
                    <m:r>
                      <a:rPr lang="en-US" i="1">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=1</m:t>
                    </m:r>
                  </m:oMath>
                </a14:m>
                <a:endParaRPr lang="en-US" b="0" dirty="0">
                  <a:ea typeface="Cambria Math" panose="02040503050406030204" pitchFamily="18" charset="0"/>
                </a:endParaRPr>
              </a:p>
              <a:p>
                <a:pPr marL="0" indent="0">
                  <a:buNone/>
                </a:pPr>
                <a14:m>
                  <m:oMathPara xmlns:m="http://schemas.openxmlformats.org/officeDocument/2006/math">
                    <m:oMath>
                      <m:r>
                        <a:rPr lang="en-US" b="0" i="1" smtClean="0">
                          <a:latin typeface="Cambria Math" panose="02040503050406030204" pitchFamily="18" charset="0"/>
                        </a:rPr>
                        <m:t>𝑥</m:t>
                      </m:r>
                      <m:r>
                        <a:rPr lang="en-US" b="0" i="1" smtClean="0">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𝐼</m:t>
                              </m:r>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𝛼</m:t>
                              </m:r>
                              <m:r>
                                <a:rPr lang="en-US" i="1">
                                  <a:latin typeface="Cambria Math" panose="02040503050406030204" pitchFamily="18" charset="0"/>
                                  <a:ea typeface="Cambria Math" panose="02040503050406030204" pitchFamily="18" charset="0"/>
                                </a:rPr>
                                <m:t>𝐴</m:t>
                              </m:r>
                            </m:e>
                          </m:d>
                        </m:e>
                        <m:sup>
                          <m:r>
                            <a:rPr lang="en-US" b="0" i="1" smtClean="0">
                              <a:latin typeface="Cambria Math" panose="02040503050406030204" pitchFamily="18" charset="0"/>
                            </a:rPr>
                            <m:t>−1</m:t>
                          </m:r>
                        </m:sup>
                      </m:sSup>
                      <m:r>
                        <a:rPr lang="en-US" b="1" i="1">
                          <a:latin typeface="Cambria Math" panose="02040503050406030204" pitchFamily="18" charset="0"/>
                          <a:ea typeface="Cambria Math" panose="02040503050406030204" pitchFamily="18" charset="0"/>
                        </a:rPr>
                        <m:t>𝟏</m:t>
                      </m:r>
                    </m:oMath>
                  </m:oMathPara>
                </a14:m>
                <a:endParaRPr lang="en-US" dirty="0"/>
              </a:p>
              <a:p>
                <a:r>
                  <a:rPr lang="en-US" dirty="0"/>
                  <a:t>Katz centrality closing related to the famous </a:t>
                </a:r>
                <a:r>
                  <a:rPr lang="en-US" b="1" dirty="0"/>
                  <a:t>PageRank web search algorithm</a:t>
                </a:r>
              </a:p>
              <a:p>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9A159714-BC2D-BB4B-D0CC-5D69DA37D844}"/>
                  </a:ext>
                </a:extLst>
              </p:cNvPr>
              <p:cNvSpPr>
                <a:spLocks noGrp="1" noRot="1" noChangeAspect="1" noMove="1" noResize="1" noEditPoints="1" noAdjustHandles="1" noChangeArrowheads="1" noChangeShapeType="1" noTextEdit="1"/>
              </p:cNvSpPr>
              <p:nvPr>
                <p:ph idx="1"/>
              </p:nvPr>
            </p:nvSpPr>
            <p:spPr>
              <a:xfrm>
                <a:off x="775447" y="1208868"/>
                <a:ext cx="10515600" cy="5447426"/>
              </a:xfrm>
              <a:blipFill>
                <a:blip r:embed="rId2"/>
                <a:stretch>
                  <a:fillRect l="-1159" t="-2461"/>
                </a:stretch>
              </a:blipFill>
            </p:spPr>
            <p:txBody>
              <a:bodyPr/>
              <a:lstStyle/>
              <a:p>
                <a:r>
                  <a:rPr lang="en-US">
                    <a:noFill/>
                  </a:rPr>
                  <a:t> </a:t>
                </a:r>
              </a:p>
            </p:txBody>
          </p:sp>
        </mc:Fallback>
      </mc:AlternateContent>
    </p:spTree>
    <p:extLst>
      <p:ext uri="{BB962C8B-B14F-4D97-AF65-F5344CB8AC3E}">
        <p14:creationId xmlns:p14="http://schemas.microsoft.com/office/powerpoint/2010/main" val="2970643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F7541-8E81-4150-C024-57C342256C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74BA1E-4A51-804F-7F78-5BC5CAFCACB4}"/>
              </a:ext>
            </a:extLst>
          </p:cNvPr>
          <p:cNvSpPr>
            <a:spLocks noGrp="1"/>
          </p:cNvSpPr>
          <p:nvPr>
            <p:ph type="title"/>
          </p:nvPr>
        </p:nvSpPr>
        <p:spPr>
          <a:xfrm>
            <a:off x="838200" y="365125"/>
            <a:ext cx="10515600" cy="620993"/>
          </a:xfrm>
        </p:spPr>
        <p:txBody>
          <a:bodyPr>
            <a:normAutofit fontScale="90000"/>
          </a:bodyPr>
          <a:lstStyle/>
          <a:p>
            <a:r>
              <a:rPr lang="en-US" dirty="0">
                <a:latin typeface="+mn-lt"/>
              </a:rPr>
              <a:t>Katz Centrality in Communities </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CFEDDB9-5BBC-3AD9-8701-AB20F4665CB4}"/>
                  </a:ext>
                </a:extLst>
              </p:cNvPr>
              <p:cNvSpPr>
                <a:spLocks noGrp="1"/>
              </p:cNvSpPr>
              <p:nvPr>
                <p:ph idx="1"/>
              </p:nvPr>
            </p:nvSpPr>
            <p:spPr>
              <a:xfrm>
                <a:off x="775447" y="1208868"/>
                <a:ext cx="10515600" cy="5447426"/>
              </a:xfrm>
            </p:spPr>
            <p:txBody>
              <a:bodyPr>
                <a:normAutofit lnSpcReduction="10000"/>
              </a:bodyPr>
              <a:lstStyle/>
              <a:p>
                <a:pPr marL="0" indent="0">
                  <a:buNone/>
                </a:pPr>
                <a:r>
                  <a:rPr lang="en-US" b="1" dirty="0"/>
                  <a:t>Katz Centrality</a:t>
                </a:r>
                <a:r>
                  <a:rPr lang="en-US" dirty="0"/>
                  <a:t> a simple measure of centrality  </a:t>
                </a:r>
              </a:p>
              <a:p>
                <a:r>
                  <a:rPr lang="en-US" b="1" dirty="0"/>
                  <a:t>Katz centrality </a:t>
                </a:r>
                <a:r>
                  <a:rPr lang="en-US" dirty="0"/>
                  <a:t>generalizes eigenvector centrality by adding constant centrality to all nodes </a:t>
                </a:r>
              </a:p>
              <a:p>
                <a:pPr marL="0" indent="0">
                  <a:buNone/>
                </a:pPr>
                <a14:m>
                  <m:oMathPara xmlns:m="http://schemas.openxmlformats.org/officeDocument/2006/math">
                    <m:oMath>
                      <m:r>
                        <a:rPr lang="en-US" b="0" i="1" smtClean="0">
                          <a:latin typeface="Cambria Math" panose="02040503050406030204" pitchFamily="18" charset="0"/>
                        </a:rPr>
                        <m:t>𝑥</m:t>
                      </m:r>
                      <m:r>
                        <a:rPr lang="en-US" b="0" i="1" smtClean="0">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𝐼</m:t>
                              </m:r>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𝛼</m:t>
                              </m:r>
                              <m:r>
                                <a:rPr lang="en-US" i="1">
                                  <a:latin typeface="Cambria Math" panose="02040503050406030204" pitchFamily="18" charset="0"/>
                                  <a:ea typeface="Cambria Math" panose="02040503050406030204" pitchFamily="18" charset="0"/>
                                </a:rPr>
                                <m:t>𝐴</m:t>
                              </m:r>
                            </m:e>
                          </m:d>
                        </m:e>
                        <m:sup>
                          <m:r>
                            <a:rPr lang="en-US" b="0" i="1" smtClean="0">
                              <a:latin typeface="Cambria Math" panose="02040503050406030204" pitchFamily="18" charset="0"/>
                            </a:rPr>
                            <m:t>−1</m:t>
                          </m:r>
                        </m:sup>
                      </m:sSup>
                      <m:r>
                        <a:rPr lang="en-US" b="1" i="1">
                          <a:latin typeface="Cambria Math" panose="02040503050406030204" pitchFamily="18" charset="0"/>
                          <a:ea typeface="Cambria Math" panose="02040503050406030204" pitchFamily="18" charset="0"/>
                        </a:rPr>
                        <m:t>𝟏</m:t>
                      </m:r>
                    </m:oMath>
                  </m:oMathPara>
                </a14:m>
                <a:endParaRPr lang="en-US" dirty="0"/>
              </a:p>
              <a:p>
                <a:r>
                  <a:rPr lang="en-US" dirty="0"/>
                  <a:t>We can write the above in terms of the characteristic equation</a:t>
                </a:r>
              </a:p>
              <a:p>
                <a:pPr marL="0" indent="0">
                  <a:buNone/>
                </a:pPr>
                <a14:m>
                  <m:oMathPara xmlns:m="http://schemas.openxmlformats.org/officeDocument/2006/math">
                    <m:oMath>
                      <m:r>
                        <a:rPr lang="en-US" b="0" i="1" smtClean="0">
                          <a:latin typeface="Cambria Math" panose="02040503050406030204" pitchFamily="18" charset="0"/>
                        </a:rPr>
                        <m:t>𝑑𝑒𝑡</m:t>
                      </m:r>
                      <m:d>
                        <m:dPr>
                          <m:ctrlPr>
                            <a:rPr lang="en-US" b="0" i="1" smtClean="0">
                              <a:latin typeface="Cambria Math" panose="02040503050406030204" pitchFamily="18" charset="0"/>
                              <a:ea typeface="Cambria Math" panose="02040503050406030204" pitchFamily="18" charset="0"/>
                            </a:rPr>
                          </m:ctrlPr>
                        </m:dPr>
                        <m:e>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𝛼</m:t>
                              </m:r>
                            </m:e>
                            <m:sup>
                              <m:r>
                                <a:rPr lang="en-US" b="0" i="1" smtClean="0">
                                  <a:latin typeface="Cambria Math" panose="02040503050406030204" pitchFamily="18" charset="0"/>
                                </a:rPr>
                                <m:t>−1</m:t>
                              </m:r>
                            </m:sup>
                          </m:sSup>
                          <m:r>
                            <a:rPr lang="en-US" b="0" i="1" smtClean="0">
                              <a:latin typeface="Cambria Math" panose="02040503050406030204" pitchFamily="18" charset="0"/>
                            </a:rPr>
                            <m:t>𝐼</m:t>
                          </m:r>
                          <m:r>
                            <a:rPr lang="en-US" b="0" i="1" smtClean="0">
                              <a:latin typeface="Cambria Math" panose="02040503050406030204" pitchFamily="18" charset="0"/>
                            </a:rPr>
                            <m:t>−</m:t>
                          </m:r>
                          <m:r>
                            <a:rPr lang="en-US" b="0" i="1" smtClean="0">
                              <a:latin typeface="Cambria Math" panose="02040503050406030204" pitchFamily="18" charset="0"/>
                            </a:rPr>
                            <m:t>𝐴</m:t>
                          </m:r>
                        </m:e>
                      </m:d>
                      <m:r>
                        <a:rPr lang="en-US" b="0" i="1" smtClean="0">
                          <a:latin typeface="Cambria Math" panose="02040503050406030204" pitchFamily="18" charset="0"/>
                        </a:rPr>
                        <m:t>=0</m:t>
                      </m:r>
                    </m:oMath>
                  </m:oMathPara>
                </a14:m>
                <a:endParaRPr lang="en-US" b="0" dirty="0"/>
              </a:p>
              <a:p>
                <a:pPr marL="457200" lvl="1" indent="0">
                  <a:buNone/>
                </a:pPr>
                <a:r>
                  <a:rPr lang="en-US" dirty="0"/>
                  <a:t>We must set </a:t>
                </a:r>
                <a14:m>
                  <m:oMath xmlns:m="http://schemas.openxmlformats.org/officeDocument/2006/math">
                    <m:r>
                      <a:rPr lang="en-US" b="0" i="1" smtClean="0">
                        <a:latin typeface="Cambria Math" panose="02040503050406030204" pitchFamily="18" charset="0"/>
                      </a:rPr>
                      <m:t>0</m:t>
                    </m:r>
                    <m:r>
                      <a:rPr lang="en-US" i="1">
                        <a:latin typeface="Cambria Math" panose="02040503050406030204" pitchFamily="18" charset="0"/>
                        <a:ea typeface="Cambria Math" panose="02040503050406030204" pitchFamily="18" charset="0"/>
                      </a:rPr>
                      <m:t>&lt;</m:t>
                    </m:r>
                    <m:r>
                      <a:rPr lang="en-US" b="0" i="1" smtClean="0">
                        <a:latin typeface="Cambria Math" panose="02040503050406030204" pitchFamily="18" charset="0"/>
                        <a:ea typeface="Cambria Math" panose="02040503050406030204" pitchFamily="18" charset="0"/>
                      </a:rPr>
                      <m:t>𝛼</m:t>
                    </m:r>
                    <m:r>
                      <a:rPr lang="en-US" i="1">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𝜅</m:t>
                            </m:r>
                          </m:e>
                          <m:sub>
                            <m:r>
                              <a:rPr lang="en-US" b="0" i="1" smtClean="0">
                                <a:latin typeface="Cambria Math" panose="02040503050406030204" pitchFamily="18" charset="0"/>
                                <a:ea typeface="Cambria Math" panose="02040503050406030204" pitchFamily="18" charset="0"/>
                              </a:rPr>
                              <m:t>1</m:t>
                            </m:r>
                          </m:sub>
                        </m:sSub>
                      </m:den>
                    </m:f>
                  </m:oMath>
                </a14:m>
                <a:r>
                  <a:rPr lang="en-US" dirty="0"/>
                  <a:t> for the solution to converge</a:t>
                </a:r>
              </a:p>
              <a:p>
                <a:pPr marL="457200" lvl="1" indent="0">
                  <a:buNone/>
                </a:pPr>
                <a:r>
                  <a:rPr lang="en-US" dirty="0"/>
                  <a:t>Where,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𝜅</m:t>
                        </m:r>
                      </m:e>
                      <m:sub>
                        <m:r>
                          <a:rPr lang="en-US" i="1">
                            <a:latin typeface="Cambria Math" panose="02040503050406030204" pitchFamily="18" charset="0"/>
                            <a:ea typeface="Cambria Math" panose="02040503050406030204" pitchFamily="18" charset="0"/>
                          </a:rPr>
                          <m:t>1</m:t>
                        </m:r>
                      </m:sub>
                    </m:sSub>
                  </m:oMath>
                </a14:m>
                <a:r>
                  <a:rPr lang="en-US" dirty="0"/>
                  <a:t> is the largest eigenvalue </a:t>
                </a:r>
              </a:p>
              <a:p>
                <a14:m>
                  <m:oMath xmlns:m="http://schemas.openxmlformats.org/officeDocument/2006/math">
                    <m:r>
                      <a:rPr lang="en-US" i="1">
                        <a:latin typeface="Cambria Math" panose="02040503050406030204" pitchFamily="18" charset="0"/>
                        <a:ea typeface="Cambria Math" panose="02040503050406030204" pitchFamily="18" charset="0"/>
                      </a:rPr>
                      <m:t>𝛼</m:t>
                    </m:r>
                  </m:oMath>
                </a14:m>
                <a:r>
                  <a:rPr lang="en-US" dirty="0"/>
                  <a:t> is a trade off parameter between constant and eigenvector centrality</a:t>
                </a:r>
              </a:p>
              <a:p>
                <a:pPr marL="457200" lvl="1" indent="0">
                  <a:buNone/>
                </a:pPr>
                <a14:m>
                  <m:oMath xmlns:m="http://schemas.openxmlformats.org/officeDocument/2006/math">
                    <m:r>
                      <a:rPr lang="en-US" i="1">
                        <a:latin typeface="Cambria Math" panose="02040503050406030204" pitchFamily="18" charset="0"/>
                        <a:ea typeface="Cambria Math" panose="02040503050406030204" pitchFamily="18" charset="0"/>
                      </a:rPr>
                      <m:t>𝛼</m:t>
                    </m:r>
                    <m:r>
                      <a:rPr lang="en-US" i="1">
                        <a:latin typeface="Cambria Math" panose="02040503050406030204" pitchFamily="18" charset="0"/>
                        <a:ea typeface="Cambria Math" panose="02040503050406030204" pitchFamily="18" charset="0"/>
                      </a:rPr>
                      <m:t>→0</m:t>
                    </m:r>
                  </m:oMath>
                </a14:m>
                <a:r>
                  <a:rPr lang="en-US" dirty="0"/>
                  <a:t> gives constant centrality </a:t>
                </a:r>
              </a:p>
              <a:p>
                <a:pPr marL="457200" lvl="1" indent="0">
                  <a:buNone/>
                </a:pPr>
                <a14:m>
                  <m:oMath xmlns:m="http://schemas.openxmlformats.org/officeDocument/2006/math">
                    <m:r>
                      <a:rPr lang="en-US" i="1">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1</m:t>
                        </m:r>
                      </m:num>
                      <m:den>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𝜅</m:t>
                            </m:r>
                          </m:e>
                          <m:sub>
                            <m:r>
                              <a:rPr lang="en-US" i="1">
                                <a:latin typeface="Cambria Math" panose="02040503050406030204" pitchFamily="18" charset="0"/>
                                <a:ea typeface="Cambria Math" panose="02040503050406030204" pitchFamily="18" charset="0"/>
                              </a:rPr>
                              <m:t>1</m:t>
                            </m:r>
                          </m:sub>
                        </m:sSub>
                      </m:den>
                    </m:f>
                  </m:oMath>
                </a14:m>
                <a:r>
                  <a:rPr lang="en-US" dirty="0"/>
                  <a:t> is eigenvector centrality </a:t>
                </a:r>
              </a:p>
              <a:p>
                <a:endParaRPr lang="en-US" dirty="0"/>
              </a:p>
              <a:p>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5CFEDDB9-5BBC-3AD9-8701-AB20F4665CB4}"/>
                  </a:ext>
                </a:extLst>
              </p:cNvPr>
              <p:cNvSpPr>
                <a:spLocks noGrp="1" noRot="1" noChangeAspect="1" noMove="1" noResize="1" noEditPoints="1" noAdjustHandles="1" noChangeArrowheads="1" noChangeShapeType="1" noTextEdit="1"/>
              </p:cNvSpPr>
              <p:nvPr>
                <p:ph idx="1"/>
              </p:nvPr>
            </p:nvSpPr>
            <p:spPr>
              <a:xfrm>
                <a:off x="775447" y="1208868"/>
                <a:ext cx="10515600" cy="5447426"/>
              </a:xfrm>
              <a:blipFill>
                <a:blip r:embed="rId2"/>
                <a:stretch>
                  <a:fillRect l="-1159" t="-2461"/>
                </a:stretch>
              </a:blipFill>
            </p:spPr>
            <p:txBody>
              <a:bodyPr/>
              <a:lstStyle/>
              <a:p>
                <a:r>
                  <a:rPr lang="en-US">
                    <a:noFill/>
                  </a:rPr>
                  <a:t> </a:t>
                </a:r>
              </a:p>
            </p:txBody>
          </p:sp>
        </mc:Fallback>
      </mc:AlternateContent>
    </p:spTree>
    <p:extLst>
      <p:ext uri="{BB962C8B-B14F-4D97-AF65-F5344CB8AC3E}">
        <p14:creationId xmlns:p14="http://schemas.microsoft.com/office/powerpoint/2010/main" val="2880501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02F75-A11B-47F5-B422-EE44091376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499EFF-F889-26E4-6AAB-428EFEEFA996}"/>
              </a:ext>
            </a:extLst>
          </p:cNvPr>
          <p:cNvSpPr>
            <a:spLocks noGrp="1"/>
          </p:cNvSpPr>
          <p:nvPr>
            <p:ph type="title"/>
          </p:nvPr>
        </p:nvSpPr>
        <p:spPr>
          <a:xfrm>
            <a:off x="831850" y="1709738"/>
            <a:ext cx="10515600" cy="2282271"/>
          </a:xfrm>
        </p:spPr>
        <p:txBody>
          <a:bodyPr/>
          <a:lstStyle/>
          <a:p>
            <a:pPr algn="ctr"/>
            <a:r>
              <a:rPr lang="en-US" dirty="0"/>
              <a:t>Breath-First Search and Distance-Based Centrality</a:t>
            </a:r>
          </a:p>
        </p:txBody>
      </p:sp>
    </p:spTree>
    <p:extLst>
      <p:ext uri="{BB962C8B-B14F-4D97-AF65-F5344CB8AC3E}">
        <p14:creationId xmlns:p14="http://schemas.microsoft.com/office/powerpoint/2010/main" val="15795623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Distance-Based Centrality </a:t>
            </a:r>
            <a:endParaRPr lang="en-US" dirty="0"/>
          </a:p>
        </p:txBody>
      </p:sp>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75447" y="1208868"/>
            <a:ext cx="10515600" cy="5447426"/>
          </a:xfrm>
        </p:spPr>
        <p:txBody>
          <a:bodyPr>
            <a:normAutofit/>
          </a:bodyPr>
          <a:lstStyle/>
          <a:p>
            <a:pPr marL="0" indent="0">
              <a:buNone/>
            </a:pPr>
            <a:r>
              <a:rPr lang="en-US" dirty="0"/>
              <a:t>Measures of distance are natural and intuitive centrality metrics </a:t>
            </a:r>
          </a:p>
          <a:p>
            <a:r>
              <a:rPr lang="en-US" dirty="0"/>
              <a:t>Closeness centrality measures average closeness of a node to other nodes in a network </a:t>
            </a:r>
          </a:p>
          <a:p>
            <a:pPr lvl="1"/>
            <a:r>
              <a:rPr lang="en-US" dirty="0"/>
              <a:t>Closeness measured by inverse distance on shortest path</a:t>
            </a:r>
          </a:p>
          <a:p>
            <a:r>
              <a:rPr lang="en-US" dirty="0"/>
              <a:t>Betweenness centrality measures the number of shortest paths between nodes in a network </a:t>
            </a:r>
          </a:p>
          <a:p>
            <a:pPr lvl="1"/>
            <a:r>
              <a:rPr lang="en-US" dirty="0"/>
              <a:t>Can measure betweenness at nodes or on edges   </a:t>
            </a:r>
          </a:p>
          <a:p>
            <a:r>
              <a:rPr lang="en-US" dirty="0"/>
              <a:t>Both metrics based on algorithms to find shorted paths and compute distances between nodes in a graph</a:t>
            </a:r>
          </a:p>
          <a:p>
            <a:pPr lvl="1"/>
            <a:r>
              <a:rPr lang="en-US" dirty="0"/>
              <a:t>Generally, use breath first search algorithms </a:t>
            </a:r>
          </a:p>
          <a:p>
            <a:endParaRPr lang="en-US" dirty="0"/>
          </a:p>
        </p:txBody>
      </p:sp>
    </p:spTree>
    <p:extLst>
      <p:ext uri="{BB962C8B-B14F-4D97-AF65-F5344CB8AC3E}">
        <p14:creationId xmlns:p14="http://schemas.microsoft.com/office/powerpoint/2010/main" val="382209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804CF-0BD3-8BCE-13C2-0649C9E847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2BC081-F1B0-164E-7EFE-9DF4F1D07488}"/>
              </a:ext>
            </a:extLst>
          </p:cNvPr>
          <p:cNvSpPr>
            <a:spLocks noGrp="1"/>
          </p:cNvSpPr>
          <p:nvPr>
            <p:ph type="title"/>
          </p:nvPr>
        </p:nvSpPr>
        <p:spPr>
          <a:xfrm>
            <a:off x="838200" y="365125"/>
            <a:ext cx="10515600" cy="620993"/>
          </a:xfrm>
        </p:spPr>
        <p:txBody>
          <a:bodyPr>
            <a:normAutofit fontScale="90000"/>
          </a:bodyPr>
          <a:lstStyle/>
          <a:p>
            <a:r>
              <a:rPr lang="en-US" dirty="0">
                <a:latin typeface="+mn-lt"/>
              </a:rPr>
              <a:t>Finding Shortest Paths in Networks</a:t>
            </a:r>
            <a:endParaRPr lang="en-US" dirty="0"/>
          </a:p>
        </p:txBody>
      </p:sp>
      <p:sp>
        <p:nvSpPr>
          <p:cNvPr id="3" name="Content Placeholder 2">
            <a:extLst>
              <a:ext uri="{FF2B5EF4-FFF2-40B4-BE49-F238E27FC236}">
                <a16:creationId xmlns:a16="http://schemas.microsoft.com/office/drawing/2014/main" id="{E4EFA2AE-9B06-BCD4-EFD9-4A0D884CC4EE}"/>
              </a:ext>
            </a:extLst>
          </p:cNvPr>
          <p:cNvSpPr>
            <a:spLocks noGrp="1"/>
          </p:cNvSpPr>
          <p:nvPr>
            <p:ph idx="1"/>
          </p:nvPr>
        </p:nvSpPr>
        <p:spPr>
          <a:xfrm>
            <a:off x="775447" y="1208868"/>
            <a:ext cx="10515600" cy="5447426"/>
          </a:xfrm>
        </p:spPr>
        <p:txBody>
          <a:bodyPr>
            <a:normAutofit/>
          </a:bodyPr>
          <a:lstStyle/>
          <a:p>
            <a:pPr marL="0" indent="0">
              <a:buNone/>
            </a:pPr>
            <a:r>
              <a:rPr lang="en-US" dirty="0"/>
              <a:t>Finding shortest paths in networks requires a search</a:t>
            </a:r>
          </a:p>
          <a:p>
            <a:r>
              <a:rPr lang="en-US" dirty="0"/>
              <a:t>Path search is computationally intensive for large graphs! </a:t>
            </a:r>
          </a:p>
          <a:p>
            <a:r>
              <a:rPr lang="en-US" dirty="0"/>
              <a:t>Two general approaches to path search</a:t>
            </a:r>
          </a:p>
          <a:p>
            <a:pPr lvl="1"/>
            <a:r>
              <a:rPr lang="en-US" dirty="0"/>
              <a:t>Depth first</a:t>
            </a:r>
          </a:p>
          <a:p>
            <a:pPr lvl="1"/>
            <a:r>
              <a:rPr lang="en-US" b="1" dirty="0"/>
              <a:t>Breath first</a:t>
            </a:r>
          </a:p>
          <a:p>
            <a:r>
              <a:rPr lang="en-US" dirty="0"/>
              <a:t>Path search analogous to database searching algorithm</a:t>
            </a:r>
          </a:p>
          <a:p>
            <a:pPr lvl="1"/>
            <a:r>
              <a:rPr lang="en-US" dirty="0"/>
              <a:t>e.g. B-tree search</a:t>
            </a:r>
          </a:p>
          <a:p>
            <a:r>
              <a:rPr lang="en-US" dirty="0"/>
              <a:t>Searching graphs</a:t>
            </a:r>
          </a:p>
          <a:p>
            <a:pPr lvl="1"/>
            <a:r>
              <a:rPr lang="en-US" dirty="0"/>
              <a:t>Find distances </a:t>
            </a:r>
          </a:p>
          <a:p>
            <a:pPr lvl="1"/>
            <a:r>
              <a:rPr lang="en-US" dirty="0"/>
              <a:t>Distance can be edge weight</a:t>
            </a:r>
          </a:p>
          <a:p>
            <a:pPr lvl="1"/>
            <a:r>
              <a:rPr lang="en-US" dirty="0"/>
              <a:t>Compute shortest paths</a:t>
            </a:r>
          </a:p>
          <a:p>
            <a:pPr lvl="1"/>
            <a:r>
              <a:rPr lang="en-US" dirty="0"/>
              <a:t>Discover connectivity  </a:t>
            </a:r>
          </a:p>
          <a:p>
            <a:endParaRPr lang="en-US" dirty="0"/>
          </a:p>
        </p:txBody>
      </p:sp>
    </p:spTree>
    <p:extLst>
      <p:ext uri="{BB962C8B-B14F-4D97-AF65-F5344CB8AC3E}">
        <p14:creationId xmlns:p14="http://schemas.microsoft.com/office/powerpoint/2010/main" val="441581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67C51-08AD-19C4-7A64-4FB5F52025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AC4124-2213-17F4-CAD6-B6EE61763349}"/>
              </a:ext>
            </a:extLst>
          </p:cNvPr>
          <p:cNvSpPr>
            <a:spLocks noGrp="1"/>
          </p:cNvSpPr>
          <p:nvPr>
            <p:ph type="title"/>
          </p:nvPr>
        </p:nvSpPr>
        <p:spPr>
          <a:xfrm>
            <a:off x="838200" y="365125"/>
            <a:ext cx="10515600" cy="620993"/>
          </a:xfrm>
        </p:spPr>
        <p:txBody>
          <a:bodyPr>
            <a:normAutofit fontScale="90000"/>
          </a:bodyPr>
          <a:lstStyle/>
          <a:p>
            <a:r>
              <a:rPr lang="en-US" dirty="0">
                <a:latin typeface="+mn-lt"/>
              </a:rPr>
              <a:t>Breadth First Search Algorithm</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293132E-D45C-B555-A719-C12D77FAE3C4}"/>
                  </a:ext>
                </a:extLst>
              </p:cNvPr>
              <p:cNvSpPr>
                <a:spLocks noGrp="1"/>
              </p:cNvSpPr>
              <p:nvPr>
                <p:ph idx="1"/>
              </p:nvPr>
            </p:nvSpPr>
            <p:spPr>
              <a:xfrm>
                <a:off x="775447" y="1208868"/>
                <a:ext cx="10515600" cy="5447426"/>
              </a:xfrm>
            </p:spPr>
            <p:txBody>
              <a:bodyPr>
                <a:normAutofit fontScale="92500" lnSpcReduction="10000"/>
              </a:bodyPr>
              <a:lstStyle/>
              <a:p>
                <a:pPr marL="0" indent="0">
                  <a:buNone/>
                </a:pPr>
                <a:r>
                  <a:rPr lang="en-US" dirty="0"/>
                  <a:t>How can we search a graph to find paths</a:t>
                </a:r>
              </a:p>
              <a:p>
                <a:r>
                  <a:rPr lang="en-US" dirty="0"/>
                  <a:t>Depth first search</a:t>
                </a:r>
              </a:p>
              <a:p>
                <a:pPr marL="914400" lvl="1" indent="-457200">
                  <a:buFont typeface="+mj-lt"/>
                  <a:buAutoNum type="arabicPeriod"/>
                </a:pPr>
                <a:r>
                  <a:rPr lang="en-US" dirty="0"/>
                  <a:t>Recursively search nearest neighbors to the ends of the graph </a:t>
                </a:r>
              </a:p>
              <a:p>
                <a:pPr marL="914400" lvl="1" indent="-457200">
                  <a:buFont typeface="+mj-lt"/>
                  <a:buAutoNum type="arabicPeriod"/>
                </a:pPr>
                <a:r>
                  <a:rPr lang="en-US" dirty="0"/>
                  <a:t>Algorithm terminates when all nodes searched</a:t>
                </a:r>
              </a:p>
              <a:p>
                <a:r>
                  <a:rPr lang="en-US" dirty="0"/>
                  <a:t>Breadth first search </a:t>
                </a:r>
              </a:p>
              <a:p>
                <a:pPr marL="914400" lvl="1" indent="-457200">
                  <a:buFont typeface="+mj-lt"/>
                  <a:buAutoNum type="arabicPeriod"/>
                </a:pPr>
                <a:r>
                  <a:rPr lang="en-US" dirty="0"/>
                  <a:t>Start at a node; the </a:t>
                </a:r>
                <a:r>
                  <a:rPr lang="en-US" b="1" dirty="0"/>
                  <a:t>root</a:t>
                </a:r>
                <a:r>
                  <a:rPr lang="en-US" dirty="0"/>
                  <a:t> </a:t>
                </a:r>
              </a:p>
              <a:p>
                <a:pPr marL="914400" lvl="1" indent="-457200">
                  <a:buFont typeface="+mj-lt"/>
                  <a:buAutoNum type="arabicPeriod"/>
                </a:pPr>
                <a:r>
                  <a:rPr lang="en-US" dirty="0"/>
                  <a:t>Find nodes within distance d to root </a:t>
                </a:r>
              </a:p>
              <a:p>
                <a:pPr marL="914400" lvl="1" indent="-457200">
                  <a:buFont typeface="+mj-lt"/>
                  <a:buAutoNum type="arabicPeriod"/>
                </a:pPr>
                <a:r>
                  <a:rPr lang="en-US" dirty="0"/>
                  <a:t>Create queue of nodes at distance d + 1 </a:t>
                </a:r>
              </a:p>
              <a:p>
                <a:pPr marL="914400" lvl="1" indent="-457200">
                  <a:buFont typeface="+mj-lt"/>
                  <a:buAutoNum type="arabicPeriod"/>
                </a:pPr>
                <a:r>
                  <a:rPr lang="en-US" dirty="0"/>
                  <a:t>Find nodes within distance d of new nodes in queue</a:t>
                </a:r>
              </a:p>
              <a:p>
                <a:pPr marL="914400" lvl="1" indent="-457200">
                  <a:buFont typeface="+mj-lt"/>
                  <a:buAutoNum type="arabicPeriod"/>
                </a:pPr>
                <a:r>
                  <a:rPr lang="en-US" dirty="0"/>
                  <a:t>Repeat steps 3 and 4 until end of graph discovered; empty queue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a:t>
                </a:r>
                <a:r>
                  <a:rPr lang="en-US" b="1" dirty="0"/>
                  <a:t>stopping condition </a:t>
                </a:r>
              </a:p>
              <a:p>
                <a:r>
                  <a:rPr lang="en-US" dirty="0"/>
                  <a:t>For an broad introduction to solving problems by searching see Chapter 3 of </a:t>
                </a:r>
                <a:r>
                  <a:rPr lang="en-US" dirty="0">
                    <a:hlinkClick r:id="rId2"/>
                  </a:rPr>
                  <a:t>Artificial Intelligence, a modern approach, 4</a:t>
                </a:r>
                <a:r>
                  <a:rPr lang="en-US" baseline="30000" dirty="0">
                    <a:hlinkClick r:id="rId2"/>
                  </a:rPr>
                  <a:t>th</a:t>
                </a:r>
                <a:r>
                  <a:rPr lang="en-US" dirty="0">
                    <a:hlinkClick r:id="rId2"/>
                  </a:rPr>
                  <a:t> edition, Russell and Norvig, Pearson, 2021</a:t>
                </a:r>
                <a:r>
                  <a:rPr lang="en-US" dirty="0"/>
                  <a:t>  </a:t>
                </a:r>
              </a:p>
              <a:p>
                <a:endParaRPr lang="en-US" dirty="0"/>
              </a:p>
            </p:txBody>
          </p:sp>
        </mc:Choice>
        <mc:Fallback xmlns="">
          <p:sp>
            <p:nvSpPr>
              <p:cNvPr id="3" name="Content Placeholder 2">
                <a:extLst>
                  <a:ext uri="{FF2B5EF4-FFF2-40B4-BE49-F238E27FC236}">
                    <a16:creationId xmlns:a16="http://schemas.microsoft.com/office/drawing/2014/main" id="{1293132E-D45C-B555-A719-C12D77FAE3C4}"/>
                  </a:ext>
                </a:extLst>
              </p:cNvPr>
              <p:cNvSpPr>
                <a:spLocks noGrp="1" noRot="1" noChangeAspect="1" noMove="1" noResize="1" noEditPoints="1" noAdjustHandles="1" noChangeArrowheads="1" noChangeShapeType="1" noTextEdit="1"/>
              </p:cNvSpPr>
              <p:nvPr>
                <p:ph idx="1"/>
              </p:nvPr>
            </p:nvSpPr>
            <p:spPr>
              <a:xfrm>
                <a:off x="775447" y="1208868"/>
                <a:ext cx="10515600" cy="5447426"/>
              </a:xfrm>
              <a:blipFill>
                <a:blip r:embed="rId3"/>
                <a:stretch>
                  <a:fillRect l="-1043" t="-2237"/>
                </a:stretch>
              </a:blipFill>
            </p:spPr>
            <p:txBody>
              <a:bodyPr/>
              <a:lstStyle/>
              <a:p>
                <a:r>
                  <a:rPr lang="en-US">
                    <a:noFill/>
                  </a:rPr>
                  <a:t> </a:t>
                </a:r>
              </a:p>
            </p:txBody>
          </p:sp>
        </mc:Fallback>
      </mc:AlternateContent>
    </p:spTree>
    <p:extLst>
      <p:ext uri="{BB962C8B-B14F-4D97-AF65-F5344CB8AC3E}">
        <p14:creationId xmlns:p14="http://schemas.microsoft.com/office/powerpoint/2010/main" val="497944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Oval 20">
            <a:extLst>
              <a:ext uri="{FF2B5EF4-FFF2-40B4-BE49-F238E27FC236}">
                <a16:creationId xmlns:a16="http://schemas.microsoft.com/office/drawing/2014/main" id="{8279F19B-0604-4039-9C42-D50903454E49}"/>
              </a:ext>
            </a:extLst>
          </p:cNvPr>
          <p:cNvSpPr/>
          <p:nvPr/>
        </p:nvSpPr>
        <p:spPr>
          <a:xfrm>
            <a:off x="8186869" y="1962631"/>
            <a:ext cx="2820793" cy="2591647"/>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FEF281AF-DDF8-4B05-B723-F283F327EA20}"/>
              </a:ext>
            </a:extLst>
          </p:cNvPr>
          <p:cNvSpPr/>
          <p:nvPr/>
        </p:nvSpPr>
        <p:spPr>
          <a:xfrm>
            <a:off x="8761430" y="2554728"/>
            <a:ext cx="1759486" cy="1528174"/>
          </a:xfrm>
          <a:prstGeom prst="ellipse">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6F5B43F-30E5-44BC-9892-41A17370D307}"/>
              </a:ext>
            </a:extLst>
          </p:cNvPr>
          <p:cNvSpPr/>
          <p:nvPr/>
        </p:nvSpPr>
        <p:spPr>
          <a:xfrm>
            <a:off x="9338929" y="2961576"/>
            <a:ext cx="669851" cy="627859"/>
          </a:xfrm>
          <a:prstGeom prst="ellipse">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Breadth First Search Algorithm</a:t>
            </a:r>
            <a:endParaRPr lang="en-US" dirty="0"/>
          </a:p>
        </p:txBody>
      </p:sp>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359935" y="1323753"/>
            <a:ext cx="6033977" cy="5355054"/>
          </a:xfrm>
        </p:spPr>
        <p:txBody>
          <a:bodyPr>
            <a:normAutofit/>
          </a:bodyPr>
          <a:lstStyle/>
          <a:p>
            <a:pPr marL="0" indent="0">
              <a:buNone/>
            </a:pPr>
            <a:r>
              <a:rPr lang="en-US" dirty="0"/>
              <a:t>Basic breadth first search algorithm</a:t>
            </a:r>
          </a:p>
          <a:p>
            <a:r>
              <a:rPr lang="en-US" dirty="0"/>
              <a:t>Start with </a:t>
            </a:r>
            <a:r>
              <a:rPr lang="en-US" b="1" dirty="0"/>
              <a:t>root node</a:t>
            </a:r>
            <a:r>
              <a:rPr lang="en-US" dirty="0"/>
              <a:t> on graph at distance 0</a:t>
            </a:r>
          </a:p>
          <a:p>
            <a:r>
              <a:rPr lang="en-US" dirty="0"/>
              <a:t>Find nodes at distance d from the root</a:t>
            </a:r>
          </a:p>
          <a:p>
            <a:r>
              <a:rPr lang="en-US" dirty="0"/>
              <a:t>Find nodes at distance d = 1 </a:t>
            </a:r>
          </a:p>
          <a:p>
            <a:r>
              <a:rPr lang="en-US" dirty="0"/>
              <a:t>Find nodes at distance d = 2</a:t>
            </a:r>
          </a:p>
          <a:p>
            <a:r>
              <a:rPr lang="en-US" dirty="0"/>
              <a:t>Continue until the</a:t>
            </a:r>
            <a:r>
              <a:rPr lang="en-US" b="1" dirty="0"/>
              <a:t> termination condition is reached</a:t>
            </a:r>
          </a:p>
          <a:p>
            <a:pPr lvl="1"/>
            <a:r>
              <a:rPr lang="en-US" dirty="0"/>
              <a:t>End nodes of the graph</a:t>
            </a:r>
          </a:p>
          <a:p>
            <a:pPr lvl="1"/>
            <a:r>
              <a:rPr lang="en-US" dirty="0"/>
              <a:t>Maximum depth</a:t>
            </a:r>
          </a:p>
          <a:p>
            <a:endParaRPr lang="en-US" dirty="0"/>
          </a:p>
          <a:p>
            <a:endParaRPr lang="en-US" dirty="0"/>
          </a:p>
        </p:txBody>
      </p:sp>
      <p:sp>
        <p:nvSpPr>
          <p:cNvPr id="4" name="Oval 3">
            <a:extLst>
              <a:ext uri="{FF2B5EF4-FFF2-40B4-BE49-F238E27FC236}">
                <a16:creationId xmlns:a16="http://schemas.microsoft.com/office/drawing/2014/main" id="{7D55DE25-0850-4004-AC21-0B092D9C1DFF}"/>
              </a:ext>
            </a:extLst>
          </p:cNvPr>
          <p:cNvSpPr/>
          <p:nvPr/>
        </p:nvSpPr>
        <p:spPr>
          <a:xfrm>
            <a:off x="9037674" y="3040912"/>
            <a:ext cx="111642" cy="956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64DDF697-FAA7-4139-B6B7-70044DA62CEC}"/>
              </a:ext>
            </a:extLst>
          </p:cNvPr>
          <p:cNvSpPr/>
          <p:nvPr/>
        </p:nvSpPr>
        <p:spPr>
          <a:xfrm>
            <a:off x="9618034" y="3205716"/>
            <a:ext cx="111642" cy="956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AF452263-033A-4418-9FB7-11A4497D3F39}"/>
              </a:ext>
            </a:extLst>
          </p:cNvPr>
          <p:cNvSpPr/>
          <p:nvPr/>
        </p:nvSpPr>
        <p:spPr>
          <a:xfrm>
            <a:off x="8514907" y="2996609"/>
            <a:ext cx="111642" cy="956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5BC60716-917E-4AD0-ABC8-99803D6C6CC9}"/>
              </a:ext>
            </a:extLst>
          </p:cNvPr>
          <p:cNvSpPr/>
          <p:nvPr/>
        </p:nvSpPr>
        <p:spPr>
          <a:xfrm>
            <a:off x="8981853" y="2603621"/>
            <a:ext cx="111642" cy="956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26B6DBC0-54A2-4088-A0E7-A39959909EB4}"/>
              </a:ext>
            </a:extLst>
          </p:cNvPr>
          <p:cNvSpPr/>
          <p:nvPr/>
        </p:nvSpPr>
        <p:spPr>
          <a:xfrm>
            <a:off x="9389057" y="3794929"/>
            <a:ext cx="111642" cy="956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0EAFF20D-D3AC-44D6-9B07-F6695654D1CE}"/>
              </a:ext>
            </a:extLst>
          </p:cNvPr>
          <p:cNvSpPr/>
          <p:nvPr/>
        </p:nvSpPr>
        <p:spPr>
          <a:xfrm>
            <a:off x="9973338" y="2834929"/>
            <a:ext cx="111642" cy="956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6F24BF03-1D55-487F-8C97-30D67DFDB53C}"/>
              </a:ext>
            </a:extLst>
          </p:cNvPr>
          <p:cNvSpPr/>
          <p:nvPr/>
        </p:nvSpPr>
        <p:spPr>
          <a:xfrm>
            <a:off x="7956696" y="3040912"/>
            <a:ext cx="111642" cy="956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45FB7EE9-95C6-4D3E-AB12-E7D0F2B6F5F6}"/>
              </a:ext>
            </a:extLst>
          </p:cNvPr>
          <p:cNvSpPr/>
          <p:nvPr/>
        </p:nvSpPr>
        <p:spPr>
          <a:xfrm>
            <a:off x="9091048" y="1636761"/>
            <a:ext cx="111642" cy="956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33DCBD6-0694-4C1F-9EC7-E8B4515BB164}"/>
              </a:ext>
            </a:extLst>
          </p:cNvPr>
          <p:cNvSpPr/>
          <p:nvPr/>
        </p:nvSpPr>
        <p:spPr>
          <a:xfrm>
            <a:off x="8296939" y="2310340"/>
            <a:ext cx="111642" cy="956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DA9C2216-BF11-4499-AB35-A08B26050393}"/>
              </a:ext>
            </a:extLst>
          </p:cNvPr>
          <p:cNvSpPr/>
          <p:nvPr/>
        </p:nvSpPr>
        <p:spPr>
          <a:xfrm>
            <a:off x="10207268" y="4245611"/>
            <a:ext cx="111642" cy="956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88D574BE-6F88-428C-8604-81099D3F95A3}"/>
              </a:ext>
            </a:extLst>
          </p:cNvPr>
          <p:cNvSpPr/>
          <p:nvPr/>
        </p:nvSpPr>
        <p:spPr>
          <a:xfrm>
            <a:off x="8516590" y="3828762"/>
            <a:ext cx="111642" cy="956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0B2EF76F-D915-4F50-8508-B44273C2940E}"/>
              </a:ext>
            </a:extLst>
          </p:cNvPr>
          <p:cNvSpPr/>
          <p:nvPr/>
        </p:nvSpPr>
        <p:spPr>
          <a:xfrm>
            <a:off x="10797730" y="3029940"/>
            <a:ext cx="111642" cy="956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E70D5669-9951-4C64-9601-8B2F794AA8C8}"/>
              </a:ext>
            </a:extLst>
          </p:cNvPr>
          <p:cNvSpPr/>
          <p:nvPr/>
        </p:nvSpPr>
        <p:spPr>
          <a:xfrm>
            <a:off x="9415190" y="4342569"/>
            <a:ext cx="111642" cy="956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5A910F8-FCA0-454E-B06B-DFED55CD131C}"/>
              </a:ext>
            </a:extLst>
          </p:cNvPr>
          <p:cNvSpPr/>
          <p:nvPr/>
        </p:nvSpPr>
        <p:spPr>
          <a:xfrm>
            <a:off x="6980275" y="2134902"/>
            <a:ext cx="111642" cy="956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F35FA785-24B5-428D-9294-168ADDAF1D68}"/>
              </a:ext>
            </a:extLst>
          </p:cNvPr>
          <p:cNvSpPr/>
          <p:nvPr/>
        </p:nvSpPr>
        <p:spPr>
          <a:xfrm>
            <a:off x="8514907" y="1370409"/>
            <a:ext cx="111642" cy="956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DA200B61-8AFC-49A4-9565-E2721FC42941}"/>
              </a:ext>
            </a:extLst>
          </p:cNvPr>
          <p:cNvSpPr/>
          <p:nvPr/>
        </p:nvSpPr>
        <p:spPr>
          <a:xfrm>
            <a:off x="10254590" y="2295061"/>
            <a:ext cx="111642" cy="956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Connector 23">
            <a:extLst>
              <a:ext uri="{FF2B5EF4-FFF2-40B4-BE49-F238E27FC236}">
                <a16:creationId xmlns:a16="http://schemas.microsoft.com/office/drawing/2014/main" id="{5E96D8DD-3452-456B-9BBF-AE62174A2571}"/>
              </a:ext>
            </a:extLst>
          </p:cNvPr>
          <p:cNvCxnSpPr>
            <a:stCxn id="4" idx="0"/>
            <a:endCxn id="7" idx="4"/>
          </p:cNvCxnSpPr>
          <p:nvPr/>
        </p:nvCxnSpPr>
        <p:spPr>
          <a:xfrm flipH="1" flipV="1">
            <a:off x="9037674" y="2699314"/>
            <a:ext cx="55821" cy="34159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FEE4A90-965D-49B3-A34A-8F5A0230D122}"/>
              </a:ext>
            </a:extLst>
          </p:cNvPr>
          <p:cNvCxnSpPr>
            <a:cxnSpLocks/>
            <a:stCxn id="5" idx="0"/>
            <a:endCxn id="4" idx="7"/>
          </p:cNvCxnSpPr>
          <p:nvPr/>
        </p:nvCxnSpPr>
        <p:spPr>
          <a:xfrm flipH="1" flipV="1">
            <a:off x="9132966" y="3054926"/>
            <a:ext cx="540889" cy="15079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6505ACC0-ABFF-4BB7-8E3A-2983204140FC}"/>
              </a:ext>
            </a:extLst>
          </p:cNvPr>
          <p:cNvCxnSpPr>
            <a:cxnSpLocks/>
            <a:stCxn id="4" idx="7"/>
            <a:endCxn id="6" idx="0"/>
          </p:cNvCxnSpPr>
          <p:nvPr/>
        </p:nvCxnSpPr>
        <p:spPr>
          <a:xfrm flipH="1" flipV="1">
            <a:off x="8570728" y="2996609"/>
            <a:ext cx="562238" cy="5831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06D327F9-631C-4A74-A504-2F4D34965F3E}"/>
              </a:ext>
            </a:extLst>
          </p:cNvPr>
          <p:cNvCxnSpPr>
            <a:cxnSpLocks/>
            <a:endCxn id="5" idx="7"/>
          </p:cNvCxnSpPr>
          <p:nvPr/>
        </p:nvCxnSpPr>
        <p:spPr>
          <a:xfrm flipV="1">
            <a:off x="9441025" y="3219730"/>
            <a:ext cx="272301" cy="5949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92EFCAD-7A9C-40B6-BC2A-E1FCACAD86AE}"/>
              </a:ext>
            </a:extLst>
          </p:cNvPr>
          <p:cNvCxnSpPr>
            <a:cxnSpLocks/>
            <a:stCxn id="5" idx="6"/>
            <a:endCxn id="9" idx="4"/>
          </p:cNvCxnSpPr>
          <p:nvPr/>
        </p:nvCxnSpPr>
        <p:spPr>
          <a:xfrm flipV="1">
            <a:off x="9729676" y="2930622"/>
            <a:ext cx="299483" cy="3229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6DE5B621-BA63-44CD-BA57-76D74C3648C9}"/>
              </a:ext>
            </a:extLst>
          </p:cNvPr>
          <p:cNvCxnSpPr>
            <a:cxnSpLocks/>
            <a:stCxn id="7" idx="0"/>
            <a:endCxn id="11" idx="0"/>
          </p:cNvCxnSpPr>
          <p:nvPr/>
        </p:nvCxnSpPr>
        <p:spPr>
          <a:xfrm flipV="1">
            <a:off x="9037674" y="1636761"/>
            <a:ext cx="109195" cy="96686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E204E5D0-2604-4274-8A0D-3D2B63ADFAEA}"/>
              </a:ext>
            </a:extLst>
          </p:cNvPr>
          <p:cNvCxnSpPr>
            <a:cxnSpLocks/>
            <a:stCxn id="7" idx="4"/>
            <a:endCxn id="12" idx="5"/>
          </p:cNvCxnSpPr>
          <p:nvPr/>
        </p:nvCxnSpPr>
        <p:spPr>
          <a:xfrm flipH="1" flipV="1">
            <a:off x="8392231" y="2392019"/>
            <a:ext cx="645443" cy="30729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9F39E99-9F09-4FC8-B4CD-03A20ECBF312}"/>
              </a:ext>
            </a:extLst>
          </p:cNvPr>
          <p:cNvCxnSpPr>
            <a:cxnSpLocks/>
            <a:stCxn id="6" idx="7"/>
            <a:endCxn id="10" idx="7"/>
          </p:cNvCxnSpPr>
          <p:nvPr/>
        </p:nvCxnSpPr>
        <p:spPr>
          <a:xfrm flipH="1">
            <a:off x="8051988" y="3010623"/>
            <a:ext cx="558211" cy="4430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ADCE6DC5-2A75-4586-A834-A6E245CAC6C3}"/>
              </a:ext>
            </a:extLst>
          </p:cNvPr>
          <p:cNvCxnSpPr>
            <a:cxnSpLocks/>
            <a:stCxn id="9" idx="7"/>
            <a:endCxn id="22" idx="3"/>
          </p:cNvCxnSpPr>
          <p:nvPr/>
        </p:nvCxnSpPr>
        <p:spPr>
          <a:xfrm flipV="1">
            <a:off x="10068630" y="2376740"/>
            <a:ext cx="202310" cy="47220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76A80237-5BB8-49B0-AF15-E65E8656B710}"/>
              </a:ext>
            </a:extLst>
          </p:cNvPr>
          <p:cNvCxnSpPr>
            <a:cxnSpLocks/>
            <a:stCxn id="9" idx="7"/>
            <a:endCxn id="15" idx="0"/>
          </p:cNvCxnSpPr>
          <p:nvPr/>
        </p:nvCxnSpPr>
        <p:spPr>
          <a:xfrm>
            <a:off x="10068630" y="2848943"/>
            <a:ext cx="784921" cy="18099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EDA1F596-5E42-4307-9EEF-770971F08AC5}"/>
              </a:ext>
            </a:extLst>
          </p:cNvPr>
          <p:cNvCxnSpPr>
            <a:cxnSpLocks/>
            <a:stCxn id="11" idx="7"/>
          </p:cNvCxnSpPr>
          <p:nvPr/>
        </p:nvCxnSpPr>
        <p:spPr>
          <a:xfrm flipH="1" flipV="1">
            <a:off x="8529044" y="1406585"/>
            <a:ext cx="657296" cy="24419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85920334-22D2-44E8-AC0A-154717CAF8BB}"/>
              </a:ext>
            </a:extLst>
          </p:cNvPr>
          <p:cNvCxnSpPr>
            <a:cxnSpLocks/>
            <a:stCxn id="12" idx="5"/>
            <a:endCxn id="17" idx="6"/>
          </p:cNvCxnSpPr>
          <p:nvPr/>
        </p:nvCxnSpPr>
        <p:spPr>
          <a:xfrm flipH="1" flipV="1">
            <a:off x="7091917" y="2182749"/>
            <a:ext cx="1300314" cy="20927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2AE838E9-1273-4310-96E9-7A372F43456F}"/>
              </a:ext>
            </a:extLst>
          </p:cNvPr>
          <p:cNvCxnSpPr>
            <a:cxnSpLocks/>
            <a:stCxn id="8" idx="4"/>
          </p:cNvCxnSpPr>
          <p:nvPr/>
        </p:nvCxnSpPr>
        <p:spPr>
          <a:xfrm>
            <a:off x="9444878" y="3890622"/>
            <a:ext cx="14792" cy="50067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E1F404C3-A842-47A8-87EB-0B2C6F814133}"/>
              </a:ext>
            </a:extLst>
          </p:cNvPr>
          <p:cNvCxnSpPr>
            <a:cxnSpLocks/>
            <a:stCxn id="8" idx="5"/>
          </p:cNvCxnSpPr>
          <p:nvPr/>
        </p:nvCxnSpPr>
        <p:spPr>
          <a:xfrm>
            <a:off x="9484349" y="3876608"/>
            <a:ext cx="744198" cy="45000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DB99DB2F-0984-43F3-8451-941F5A53EC45}"/>
              </a:ext>
            </a:extLst>
          </p:cNvPr>
          <p:cNvCxnSpPr>
            <a:cxnSpLocks/>
            <a:stCxn id="14" idx="7"/>
            <a:endCxn id="8" idx="4"/>
          </p:cNvCxnSpPr>
          <p:nvPr/>
        </p:nvCxnSpPr>
        <p:spPr>
          <a:xfrm>
            <a:off x="8611882" y="3842776"/>
            <a:ext cx="832996" cy="4784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9933EA55-BC31-47B1-8201-FC14DACCBA30}"/>
              </a:ext>
            </a:extLst>
          </p:cNvPr>
          <p:cNvCxnSpPr>
            <a:cxnSpLocks/>
            <a:endCxn id="18" idx="0"/>
          </p:cNvCxnSpPr>
          <p:nvPr/>
        </p:nvCxnSpPr>
        <p:spPr>
          <a:xfrm flipH="1">
            <a:off x="8570728" y="826788"/>
            <a:ext cx="281119" cy="543621"/>
          </a:xfrm>
          <a:prstGeom prst="line">
            <a:avLst/>
          </a:prstGeom>
          <a:ln w="38100">
            <a:prstDash val="sysDash"/>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8201F3E0-9904-45C4-91DE-80E77EA02254}"/>
              </a:ext>
            </a:extLst>
          </p:cNvPr>
          <p:cNvCxnSpPr>
            <a:cxnSpLocks/>
            <a:stCxn id="22" idx="0"/>
          </p:cNvCxnSpPr>
          <p:nvPr/>
        </p:nvCxnSpPr>
        <p:spPr>
          <a:xfrm flipH="1" flipV="1">
            <a:off x="9536450" y="1613771"/>
            <a:ext cx="773961" cy="681290"/>
          </a:xfrm>
          <a:prstGeom prst="line">
            <a:avLst/>
          </a:prstGeom>
          <a:ln w="38100">
            <a:prstDash val="sysDash"/>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0E94B3BE-5D3A-4E2D-A388-318AF31B03ED}"/>
              </a:ext>
            </a:extLst>
          </p:cNvPr>
          <p:cNvCxnSpPr>
            <a:cxnSpLocks/>
            <a:endCxn id="22" idx="7"/>
          </p:cNvCxnSpPr>
          <p:nvPr/>
        </p:nvCxnSpPr>
        <p:spPr>
          <a:xfrm flipH="1">
            <a:off x="10349882" y="1866860"/>
            <a:ext cx="810248" cy="442215"/>
          </a:xfrm>
          <a:prstGeom prst="line">
            <a:avLst/>
          </a:prstGeom>
          <a:ln w="38100">
            <a:prstDash val="sysDash"/>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20DC4E36-7998-4DF1-9FF8-51BFCE34577A}"/>
              </a:ext>
            </a:extLst>
          </p:cNvPr>
          <p:cNvCxnSpPr>
            <a:cxnSpLocks/>
            <a:endCxn id="15" idx="5"/>
          </p:cNvCxnSpPr>
          <p:nvPr/>
        </p:nvCxnSpPr>
        <p:spPr>
          <a:xfrm flipH="1" flipV="1">
            <a:off x="10893022" y="3111619"/>
            <a:ext cx="523138" cy="633374"/>
          </a:xfrm>
          <a:prstGeom prst="line">
            <a:avLst/>
          </a:prstGeom>
          <a:ln w="38100">
            <a:prstDash val="sysDash"/>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507030B6-F07F-4040-9D74-5021F2A56B09}"/>
              </a:ext>
            </a:extLst>
          </p:cNvPr>
          <p:cNvCxnSpPr>
            <a:cxnSpLocks/>
            <a:endCxn id="13" idx="7"/>
          </p:cNvCxnSpPr>
          <p:nvPr/>
        </p:nvCxnSpPr>
        <p:spPr>
          <a:xfrm flipH="1" flipV="1">
            <a:off x="10302560" y="4259625"/>
            <a:ext cx="947060" cy="816760"/>
          </a:xfrm>
          <a:prstGeom prst="line">
            <a:avLst/>
          </a:prstGeom>
          <a:ln w="38100">
            <a:prstDash val="sysDash"/>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78DCB22B-10B9-451D-809E-021F3A10E308}"/>
              </a:ext>
            </a:extLst>
          </p:cNvPr>
          <p:cNvCxnSpPr>
            <a:cxnSpLocks/>
            <a:endCxn id="16" idx="5"/>
          </p:cNvCxnSpPr>
          <p:nvPr/>
        </p:nvCxnSpPr>
        <p:spPr>
          <a:xfrm flipH="1" flipV="1">
            <a:off x="9510482" y="4424248"/>
            <a:ext cx="1276308" cy="1012462"/>
          </a:xfrm>
          <a:prstGeom prst="line">
            <a:avLst/>
          </a:prstGeom>
          <a:ln w="38100">
            <a:prstDash val="sysDash"/>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1A4C3351-2717-40A4-97FE-BD0B4EBCB4A5}"/>
              </a:ext>
            </a:extLst>
          </p:cNvPr>
          <p:cNvCxnSpPr>
            <a:cxnSpLocks/>
          </p:cNvCxnSpPr>
          <p:nvPr/>
        </p:nvCxnSpPr>
        <p:spPr>
          <a:xfrm flipV="1">
            <a:off x="9313033" y="4391298"/>
            <a:ext cx="127992" cy="867042"/>
          </a:xfrm>
          <a:prstGeom prst="line">
            <a:avLst/>
          </a:prstGeom>
          <a:ln w="38100">
            <a:prstDash val="sysDash"/>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CE8CAEC2-365A-4B35-B037-C1041284EEAB}"/>
              </a:ext>
            </a:extLst>
          </p:cNvPr>
          <p:cNvCxnSpPr>
            <a:cxnSpLocks/>
            <a:endCxn id="14" idx="3"/>
          </p:cNvCxnSpPr>
          <p:nvPr/>
        </p:nvCxnSpPr>
        <p:spPr>
          <a:xfrm flipV="1">
            <a:off x="8119643" y="3910441"/>
            <a:ext cx="413297" cy="662907"/>
          </a:xfrm>
          <a:prstGeom prst="line">
            <a:avLst/>
          </a:prstGeom>
          <a:ln w="38100">
            <a:prstDash val="sysDash"/>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BEA940D9-C5F1-49E2-89FD-E3FE1A4BDCF9}"/>
              </a:ext>
            </a:extLst>
          </p:cNvPr>
          <p:cNvCxnSpPr>
            <a:cxnSpLocks/>
            <a:endCxn id="14" idx="0"/>
          </p:cNvCxnSpPr>
          <p:nvPr/>
        </p:nvCxnSpPr>
        <p:spPr>
          <a:xfrm>
            <a:off x="7373149" y="3504919"/>
            <a:ext cx="1199262" cy="323843"/>
          </a:xfrm>
          <a:prstGeom prst="line">
            <a:avLst/>
          </a:prstGeom>
          <a:ln w="38100">
            <a:prstDash val="sysDash"/>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3F70AEC0-33A2-4E8E-8F40-A271AA831652}"/>
              </a:ext>
            </a:extLst>
          </p:cNvPr>
          <p:cNvCxnSpPr>
            <a:cxnSpLocks/>
            <a:endCxn id="10" idx="2"/>
          </p:cNvCxnSpPr>
          <p:nvPr/>
        </p:nvCxnSpPr>
        <p:spPr>
          <a:xfrm>
            <a:off x="6803710" y="2848943"/>
            <a:ext cx="1152986" cy="239816"/>
          </a:xfrm>
          <a:prstGeom prst="line">
            <a:avLst/>
          </a:prstGeom>
          <a:ln w="38100">
            <a:prstDash val="sysDash"/>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07AFF5CC-B819-484B-A26E-40F2FAFEBB8E}"/>
              </a:ext>
            </a:extLst>
          </p:cNvPr>
          <p:cNvCxnSpPr>
            <a:cxnSpLocks/>
            <a:endCxn id="17" idx="4"/>
          </p:cNvCxnSpPr>
          <p:nvPr/>
        </p:nvCxnSpPr>
        <p:spPr>
          <a:xfrm>
            <a:off x="6922239" y="1466102"/>
            <a:ext cx="113857" cy="764493"/>
          </a:xfrm>
          <a:prstGeom prst="line">
            <a:avLst/>
          </a:prstGeom>
          <a:ln w="38100">
            <a:prstDash val="sysDash"/>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D8742C85-56C0-4044-976E-517D3AECEB06}"/>
              </a:ext>
            </a:extLst>
          </p:cNvPr>
          <p:cNvCxnSpPr>
            <a:cxnSpLocks/>
            <a:stCxn id="17" idx="7"/>
            <a:endCxn id="18" idx="1"/>
          </p:cNvCxnSpPr>
          <p:nvPr/>
        </p:nvCxnSpPr>
        <p:spPr>
          <a:xfrm flipV="1">
            <a:off x="7075567" y="1384423"/>
            <a:ext cx="1455690" cy="764493"/>
          </a:xfrm>
          <a:prstGeom prst="line">
            <a:avLst/>
          </a:prstGeom>
          <a:ln w="38100">
            <a:prstDash val="sysDash"/>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49A62C37-3647-4033-91AC-047DF1928C4A}"/>
              </a:ext>
            </a:extLst>
          </p:cNvPr>
          <p:cNvCxnSpPr>
            <a:cxnSpLocks/>
            <a:stCxn id="14" idx="0"/>
            <a:endCxn id="16" idx="4"/>
          </p:cNvCxnSpPr>
          <p:nvPr/>
        </p:nvCxnSpPr>
        <p:spPr>
          <a:xfrm>
            <a:off x="8572411" y="3828762"/>
            <a:ext cx="898600" cy="609500"/>
          </a:xfrm>
          <a:prstGeom prst="line">
            <a:avLst/>
          </a:prstGeom>
          <a:ln w="38100">
            <a:prstDash val="sysDash"/>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7E3931B0-11E1-46D6-9B67-6D0329EEDCC6}"/>
              </a:ext>
            </a:extLst>
          </p:cNvPr>
          <p:cNvSpPr txBox="1"/>
          <p:nvPr/>
        </p:nvSpPr>
        <p:spPr>
          <a:xfrm>
            <a:off x="9612419" y="3544937"/>
            <a:ext cx="660300" cy="400110"/>
          </a:xfrm>
          <a:prstGeom prst="rect">
            <a:avLst/>
          </a:prstGeom>
          <a:noFill/>
        </p:spPr>
        <p:txBody>
          <a:bodyPr wrap="square" rtlCol="0">
            <a:spAutoFit/>
          </a:bodyPr>
          <a:lstStyle/>
          <a:p>
            <a:pPr algn="ctr"/>
            <a:r>
              <a:rPr lang="en-US" sz="2000" dirty="0"/>
              <a:t>D=1</a:t>
            </a:r>
          </a:p>
        </p:txBody>
      </p:sp>
      <p:sp>
        <p:nvSpPr>
          <p:cNvPr id="52" name="TextBox 51">
            <a:extLst>
              <a:ext uri="{FF2B5EF4-FFF2-40B4-BE49-F238E27FC236}">
                <a16:creationId xmlns:a16="http://schemas.microsoft.com/office/drawing/2014/main" id="{C64CE75C-9DEA-4AB1-B9C5-1D31ACE42FE3}"/>
              </a:ext>
            </a:extLst>
          </p:cNvPr>
          <p:cNvSpPr txBox="1"/>
          <p:nvPr/>
        </p:nvSpPr>
        <p:spPr>
          <a:xfrm>
            <a:off x="10138654" y="3801168"/>
            <a:ext cx="660300" cy="400110"/>
          </a:xfrm>
          <a:prstGeom prst="rect">
            <a:avLst/>
          </a:prstGeom>
          <a:noFill/>
        </p:spPr>
        <p:txBody>
          <a:bodyPr wrap="square" rtlCol="0">
            <a:spAutoFit/>
          </a:bodyPr>
          <a:lstStyle/>
          <a:p>
            <a:pPr algn="ctr"/>
            <a:r>
              <a:rPr lang="en-US" sz="2000" dirty="0"/>
              <a:t>D=2</a:t>
            </a:r>
          </a:p>
        </p:txBody>
      </p:sp>
      <p:sp>
        <p:nvSpPr>
          <p:cNvPr id="53" name="TextBox 52">
            <a:extLst>
              <a:ext uri="{FF2B5EF4-FFF2-40B4-BE49-F238E27FC236}">
                <a16:creationId xmlns:a16="http://schemas.microsoft.com/office/drawing/2014/main" id="{B93815A5-848C-45C8-B5FD-5E57DF59DF2A}"/>
              </a:ext>
            </a:extLst>
          </p:cNvPr>
          <p:cNvSpPr txBox="1"/>
          <p:nvPr/>
        </p:nvSpPr>
        <p:spPr>
          <a:xfrm>
            <a:off x="9636549" y="3214107"/>
            <a:ext cx="319526" cy="400110"/>
          </a:xfrm>
          <a:prstGeom prst="rect">
            <a:avLst/>
          </a:prstGeom>
          <a:noFill/>
        </p:spPr>
        <p:txBody>
          <a:bodyPr wrap="square" rtlCol="0">
            <a:spAutoFit/>
          </a:bodyPr>
          <a:lstStyle/>
          <a:p>
            <a:pPr algn="ctr"/>
            <a:r>
              <a:rPr lang="en-US" sz="2000" dirty="0"/>
              <a:t>0</a:t>
            </a:r>
          </a:p>
        </p:txBody>
      </p:sp>
    </p:spTree>
    <p:extLst>
      <p:ext uri="{BB962C8B-B14F-4D97-AF65-F5344CB8AC3E}">
        <p14:creationId xmlns:p14="http://schemas.microsoft.com/office/powerpoint/2010/main" val="3382683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9"/>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2"/>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5"/>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8"/>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1"/>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44"/>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48"/>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51"/>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55"/>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58"/>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61"/>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64"/>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68"/>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77"/>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80"/>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83"/>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86"/>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90"/>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93"/>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95"/>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99"/>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102"/>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105"/>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108"/>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111"/>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114"/>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19"/>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53"/>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3">
                                            <p:txEl>
                                              <p:pRg st="3" end="3"/>
                                            </p:txEl>
                                          </p:spTgt>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23"/>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20"/>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3">
                                            <p:txEl>
                                              <p:pRg st="4" end="4"/>
                                            </p:txEl>
                                          </p:spTgt>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21"/>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52"/>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3">
                                            <p:txEl>
                                              <p:pRg st="5" end="5"/>
                                            </p:txEl>
                                          </p:spTgt>
                                        </p:tgtEl>
                                        <p:attrNameLst>
                                          <p:attrName>style.visibility</p:attrName>
                                        </p:attrNameLst>
                                      </p:cBhvr>
                                      <p:to>
                                        <p:strVal val="visible"/>
                                      </p:to>
                                    </p:set>
                                  </p:childTnLst>
                                </p:cTn>
                              </p:par>
                              <p:par>
                                <p:cTn id="123" presetID="1" presetClass="entr" presetSubtype="0" fill="hold" nodeType="withEffect">
                                  <p:stCondLst>
                                    <p:cond delay="0"/>
                                  </p:stCondLst>
                                  <p:childTnLst>
                                    <p:set>
                                      <p:cBhvr>
                                        <p:cTn id="124" dur="1" fill="hold">
                                          <p:stCondLst>
                                            <p:cond delay="0"/>
                                          </p:stCondLst>
                                        </p:cTn>
                                        <p:tgtEl>
                                          <p:spTgt spid="3">
                                            <p:txEl>
                                              <p:pRg st="6" end="6"/>
                                            </p:txEl>
                                          </p:spTgt>
                                        </p:tgtEl>
                                        <p:attrNameLst>
                                          <p:attrName>style.visibility</p:attrName>
                                        </p:attrNameLst>
                                      </p:cBhvr>
                                      <p:to>
                                        <p:strVal val="visible"/>
                                      </p:to>
                                    </p:set>
                                  </p:childTnLst>
                                </p:cTn>
                              </p:par>
                              <p:par>
                                <p:cTn id="125" presetID="1" presetClass="entr" presetSubtype="0" fill="hold" nodeType="withEffect">
                                  <p:stCondLst>
                                    <p:cond delay="0"/>
                                  </p:stCondLst>
                                  <p:childTnLst>
                                    <p:set>
                                      <p:cBhvr>
                                        <p:cTn id="1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0" grpId="0" animBg="1"/>
      <p:bldP spid="19"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22" grpId="0" animBg="1"/>
      <p:bldP spid="23" grpId="0"/>
      <p:bldP spid="52" grpId="0"/>
      <p:bldP spid="53"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Breadth First Search Algorithm</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59949" y="986118"/>
                <a:ext cx="10515600" cy="5447426"/>
              </a:xfrm>
            </p:spPr>
            <p:txBody>
              <a:bodyPr>
                <a:normAutofit/>
              </a:bodyPr>
              <a:lstStyle/>
              <a:p>
                <a:pPr marL="0" indent="0">
                  <a:buNone/>
                </a:pPr>
                <a:r>
                  <a:rPr lang="en-US" dirty="0"/>
                  <a:t>Breadth first search is widely used</a:t>
                </a:r>
              </a:p>
              <a:p>
                <a:r>
                  <a:rPr lang="en-US" dirty="0"/>
                  <a:t>Relatively slow with complexity </a:t>
                </a:r>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e>
                    </m:d>
                  </m:oMath>
                </a14:m>
                <a:endParaRPr lang="en-US" dirty="0"/>
              </a:p>
              <a:p>
                <a:r>
                  <a:rPr lang="en-US" dirty="0"/>
                  <a:t>Build a table of distances </a:t>
                </a:r>
              </a:p>
              <a:p>
                <a:r>
                  <a:rPr lang="en-US" dirty="0"/>
                  <a:t>Find shortest paths from distances </a:t>
                </a:r>
              </a:p>
              <a:p>
                <a:pPr lvl="1"/>
                <a:r>
                  <a:rPr lang="en-US" dirty="0"/>
                  <a:t>Tree has only one shortest path </a:t>
                </a:r>
              </a:p>
              <a:p>
                <a:pPr lvl="1"/>
                <a:r>
                  <a:rPr lang="en-US" dirty="0"/>
                  <a:t>A general graph can have multiple shortest paths </a:t>
                </a:r>
              </a:p>
              <a:p>
                <a:r>
                  <a:rPr lang="en-US" dirty="0"/>
                  <a:t>Originally developed by Konrad </a:t>
                </a:r>
                <a:r>
                  <a:rPr lang="en-US" dirty="0" err="1"/>
                  <a:t>Zuse</a:t>
                </a:r>
                <a:r>
                  <a:rPr lang="en-US" dirty="0"/>
                  <a:t>, a computer science pioneer </a:t>
                </a:r>
              </a:p>
              <a:p>
                <a:pPr lvl="1"/>
                <a:r>
                  <a:rPr lang="en-US" dirty="0"/>
                  <a:t>1945 PhD dissertation was rejected, supposedly for unpaid fees </a:t>
                </a:r>
              </a:p>
              <a:p>
                <a:pPr lvl="1"/>
                <a:r>
                  <a:rPr lang="en-US" dirty="0" err="1">
                    <a:hlinkClick r:id="rId2"/>
                  </a:rPr>
                  <a:t>Zuse</a:t>
                </a:r>
                <a:r>
                  <a:rPr lang="en-US" dirty="0">
                    <a:hlinkClick r:id="rId2"/>
                  </a:rPr>
                  <a:t> Created the world’s first programmable computer. The Z3, in 1941</a:t>
                </a:r>
                <a:r>
                  <a:rPr lang="en-US" dirty="0"/>
                  <a:t> </a:t>
                </a:r>
              </a:p>
              <a:p>
                <a:endParaRPr lang="en-US" dirty="0"/>
              </a:p>
              <a:p>
                <a:endParaRPr lang="en-US" dirty="0"/>
              </a:p>
            </p:txBody>
          </p:sp>
        </mc:Choice>
        <mc:Fallback xmlns="">
          <p:sp>
            <p:nvSpPr>
              <p:cNvPr id="3" name="Content Placeholder 2">
                <a:extLst>
                  <a:ext uri="{FF2B5EF4-FFF2-40B4-BE49-F238E27FC236}">
                    <a16:creationId xmlns:a16="http://schemas.microsoft.com/office/drawing/2014/main" id="{CA03134D-F068-4BC9-B038-F3D5CBDDE3F9}"/>
                  </a:ext>
                </a:extLst>
              </p:cNvPr>
              <p:cNvSpPr>
                <a:spLocks noGrp="1" noRot="1" noChangeAspect="1" noMove="1" noResize="1" noEditPoints="1" noAdjustHandles="1" noChangeArrowheads="1" noChangeShapeType="1" noTextEdit="1"/>
              </p:cNvSpPr>
              <p:nvPr>
                <p:ph idx="1"/>
              </p:nvPr>
            </p:nvSpPr>
            <p:spPr>
              <a:xfrm>
                <a:off x="759949" y="986118"/>
                <a:ext cx="10515600" cy="5447426"/>
              </a:xfrm>
              <a:blipFill>
                <a:blip r:embed="rId3"/>
                <a:stretch>
                  <a:fillRect l="-1217" t="-1904"/>
                </a:stretch>
              </a:blipFill>
            </p:spPr>
            <p:txBody>
              <a:bodyPr/>
              <a:lstStyle/>
              <a:p>
                <a:r>
                  <a:rPr lang="en-US">
                    <a:noFill/>
                  </a:rPr>
                  <a:t> </a:t>
                </a:r>
              </a:p>
            </p:txBody>
          </p:sp>
        </mc:Fallback>
      </mc:AlternateContent>
    </p:spTree>
    <p:extLst>
      <p:ext uri="{BB962C8B-B14F-4D97-AF65-F5344CB8AC3E}">
        <p14:creationId xmlns:p14="http://schemas.microsoft.com/office/powerpoint/2010/main" val="123349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A57F9-C874-AF15-E761-7CD7A24C24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3D6D65-74C2-64B0-9389-C75D392B2CD6}"/>
              </a:ext>
            </a:extLst>
          </p:cNvPr>
          <p:cNvSpPr>
            <a:spLocks noGrp="1"/>
          </p:cNvSpPr>
          <p:nvPr>
            <p:ph type="title"/>
          </p:nvPr>
        </p:nvSpPr>
        <p:spPr>
          <a:xfrm>
            <a:off x="838200" y="365125"/>
            <a:ext cx="10515600" cy="620993"/>
          </a:xfrm>
        </p:spPr>
        <p:txBody>
          <a:bodyPr>
            <a:normAutofit fontScale="90000"/>
          </a:bodyPr>
          <a:lstStyle/>
          <a:p>
            <a:r>
              <a:rPr lang="en-US" dirty="0">
                <a:latin typeface="+mn-lt"/>
              </a:rPr>
              <a:t>Closeness Centrality </a:t>
            </a:r>
            <a:endParaRPr lang="en-US" dirty="0"/>
          </a:p>
        </p:txBody>
      </p:sp>
      <p:sp>
        <p:nvSpPr>
          <p:cNvPr id="3" name="Content Placeholder 2">
            <a:extLst>
              <a:ext uri="{FF2B5EF4-FFF2-40B4-BE49-F238E27FC236}">
                <a16:creationId xmlns:a16="http://schemas.microsoft.com/office/drawing/2014/main" id="{77749327-C1A0-5789-54CD-624C82874528}"/>
              </a:ext>
            </a:extLst>
          </p:cNvPr>
          <p:cNvSpPr>
            <a:spLocks noGrp="1"/>
          </p:cNvSpPr>
          <p:nvPr>
            <p:ph idx="1"/>
          </p:nvPr>
        </p:nvSpPr>
        <p:spPr>
          <a:xfrm>
            <a:off x="759949" y="986118"/>
            <a:ext cx="10515600" cy="1002831"/>
          </a:xfrm>
        </p:spPr>
        <p:txBody>
          <a:bodyPr>
            <a:normAutofit/>
          </a:bodyPr>
          <a:lstStyle/>
          <a:p>
            <a:pPr marL="0" indent="0">
              <a:buNone/>
            </a:pPr>
            <a:r>
              <a:rPr lang="en-US" dirty="0"/>
              <a:t>Closeness centrality measures average closeness of a node to other nodes in a network </a:t>
            </a:r>
          </a:p>
          <a:p>
            <a:pPr marL="0" indent="0">
              <a:buNone/>
            </a:pPr>
            <a:endParaRPr lang="en-US" dirty="0"/>
          </a:p>
          <a:p>
            <a:endParaRPr lang="en-US" dirty="0"/>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BBE53EDD-D577-7DF8-A96A-114739D74883}"/>
                  </a:ext>
                </a:extLst>
              </p:cNvPr>
              <p:cNvSpPr txBox="1">
                <a:spLocks/>
              </p:cNvSpPr>
              <p:nvPr/>
            </p:nvSpPr>
            <p:spPr>
              <a:xfrm>
                <a:off x="759949" y="1892769"/>
                <a:ext cx="5231067" cy="477150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Several formulations used to compute closeness centrality  </a:t>
                </a:r>
              </a:p>
              <a:p>
                <a:r>
                  <a:rPr lang="en-US" dirty="0" err="1">
                    <a:hlinkClick r:id="rId2"/>
                  </a:rPr>
                  <a:t>NetworkX</a:t>
                </a:r>
                <a:r>
                  <a:rPr lang="en-US" dirty="0"/>
                  <a:t> uses the following formulation for the closeness centrality of node </a:t>
                </a:r>
                <a14:m>
                  <m:oMath xmlns:m="http://schemas.openxmlformats.org/officeDocument/2006/math">
                    <m:r>
                      <a:rPr lang="en-US" i="1">
                        <a:latin typeface="Cambria Math" panose="02040503050406030204" pitchFamily="18" charset="0"/>
                      </a:rPr>
                      <m:t>𝑢</m:t>
                    </m:r>
                  </m:oMath>
                </a14:m>
                <a:r>
                  <a:rPr lang="en-US" dirty="0"/>
                  <a:t>    </a:t>
                </a:r>
              </a:p>
              <a:p>
                <a:pPr marL="0" indent="0">
                  <a:buFont typeface="Arial" panose="020B0604020202020204" pitchFamily="34" charset="0"/>
                  <a:buNone/>
                </a:pPr>
                <a14:m>
                  <m:oMathPara xmlns:m="http://schemas.openxmlformats.org/officeDocument/2006/math">
                    <m:oMath>
                      <m:r>
                        <a:rPr lang="en-US" i="1" smtClean="0">
                          <a:latin typeface="Cambria Math" panose="02040503050406030204" pitchFamily="18" charset="0"/>
                        </a:rPr>
                        <m:t>𝐶</m:t>
                      </m:r>
                      <m:d>
                        <m:dPr>
                          <m:ctrlPr>
                            <a:rPr lang="en-US" i="1" smtClean="0">
                              <a:latin typeface="Cambria Math" panose="02040503050406030204" pitchFamily="18" charset="0"/>
                            </a:rPr>
                          </m:ctrlPr>
                        </m:dPr>
                        <m:e>
                          <m:r>
                            <a:rPr lang="en-US" i="1" smtClean="0">
                              <a:latin typeface="Cambria Math" panose="02040503050406030204" pitchFamily="18" charset="0"/>
                            </a:rPr>
                            <m:t>𝑢</m:t>
                          </m:r>
                        </m:e>
                      </m:d>
                      <m:r>
                        <a:rPr lang="en-US" i="1" smtClean="0">
                          <a:latin typeface="Cambria Math" panose="02040503050406030204" pitchFamily="18" charset="0"/>
                        </a:rPr>
                        <m:t>= </m:t>
                      </m:r>
                      <m:f>
                        <m:fPr>
                          <m:ctrlPr>
                            <a:rPr lang="en-US" i="1" smtClean="0">
                              <a:latin typeface="Cambria Math" panose="02040503050406030204" pitchFamily="18" charset="0"/>
                            </a:rPr>
                          </m:ctrlPr>
                        </m:fPr>
                        <m:num>
                          <m:r>
                            <a:rPr lang="en-US" i="1" smtClean="0">
                              <a:latin typeface="Cambria Math" panose="02040503050406030204" pitchFamily="18" charset="0"/>
                            </a:rPr>
                            <m:t>𝑛</m:t>
                          </m:r>
                          <m:r>
                            <a:rPr lang="en-US" i="1" smtClean="0">
                              <a:latin typeface="Cambria Math" panose="02040503050406030204" pitchFamily="18" charset="0"/>
                            </a:rPr>
                            <m:t>−1</m:t>
                          </m:r>
                        </m:num>
                        <m:den>
                          <m:nary>
                            <m:naryPr>
                              <m:chr m:val="∑"/>
                              <m:supHide m:val="on"/>
                              <m:ctrlPr>
                                <a:rPr lang="en-US" i="1" smtClean="0">
                                  <a:latin typeface="Cambria Math" panose="02040503050406030204" pitchFamily="18" charset="0"/>
                                </a:rPr>
                              </m:ctrlPr>
                            </m:naryPr>
                            <m:sub>
                              <m:r>
                                <m:rPr>
                                  <m:brk m:alnAt="7"/>
                                </m:rPr>
                                <a:rPr lang="en-US" i="1" smtClean="0">
                                  <a:latin typeface="Cambria Math" panose="02040503050406030204" pitchFamily="18" charset="0"/>
                                </a:rPr>
                                <m:t>𝑣</m:t>
                              </m:r>
                              <m:r>
                                <a:rPr lang="en-US" i="1" smtClean="0">
                                  <a:latin typeface="Cambria Math" panose="02040503050406030204" pitchFamily="18" charset="0"/>
                                  <a:ea typeface="Cambria Math" panose="02040503050406030204" pitchFamily="18" charset="0"/>
                                </a:rPr>
                                <m:t>≠</m:t>
                              </m:r>
                              <m:r>
                                <a:rPr lang="en-US" i="1" smtClean="0">
                                  <a:latin typeface="Cambria Math" panose="02040503050406030204" pitchFamily="18" charset="0"/>
                                  <a:ea typeface="Cambria Math" panose="02040503050406030204" pitchFamily="18" charset="0"/>
                                </a:rPr>
                                <m:t>𝑢</m:t>
                              </m:r>
                            </m:sub>
                            <m:sup/>
                            <m:e>
                              <m:r>
                                <a:rPr lang="en-US" i="1" smtClean="0">
                                  <a:latin typeface="Cambria Math" panose="02040503050406030204" pitchFamily="18" charset="0"/>
                                </a:rPr>
                                <m:t>𝑑</m:t>
                              </m:r>
                              <m:r>
                                <a:rPr lang="en-US" i="1" smtClean="0">
                                  <a:latin typeface="Cambria Math" panose="02040503050406030204" pitchFamily="18" charset="0"/>
                                </a:rPr>
                                <m:t>(</m:t>
                              </m:r>
                              <m:r>
                                <a:rPr lang="en-US" i="1" smtClean="0">
                                  <a:latin typeface="Cambria Math" panose="02040503050406030204" pitchFamily="18" charset="0"/>
                                </a:rPr>
                                <m:t>𝑢</m:t>
                              </m:r>
                              <m:r>
                                <a:rPr lang="en-US" i="1" smtClean="0">
                                  <a:latin typeface="Cambria Math" panose="02040503050406030204" pitchFamily="18" charset="0"/>
                                </a:rPr>
                                <m:t>,</m:t>
                              </m:r>
                              <m:r>
                                <a:rPr lang="en-US" i="1" smtClean="0">
                                  <a:latin typeface="Cambria Math" panose="02040503050406030204" pitchFamily="18" charset="0"/>
                                </a:rPr>
                                <m:t>𝑣</m:t>
                              </m:r>
                              <m:r>
                                <a:rPr lang="en-US" i="1" smtClean="0">
                                  <a:latin typeface="Cambria Math" panose="02040503050406030204" pitchFamily="18" charset="0"/>
                                </a:rPr>
                                <m:t>)</m:t>
                              </m:r>
                            </m:e>
                          </m:nary>
                        </m:den>
                      </m:f>
                    </m:oMath>
                  </m:oMathPara>
                </a14:m>
                <a:endParaRPr lang="en-US" dirty="0"/>
              </a:p>
              <a:p>
                <a:pPr marL="457200" lvl="1" indent="0">
                  <a:buFont typeface="Arial" panose="020B0604020202020204" pitchFamily="34" charset="0"/>
                  <a:buNone/>
                </a:pPr>
                <a:r>
                  <a:rPr lang="en-US" dirty="0"/>
                  <a:t>Where, </a:t>
                </a:r>
                <a14:m>
                  <m:oMath xmlns:m="http://schemas.openxmlformats.org/officeDocument/2006/math">
                    <m:r>
                      <a:rPr lang="en-US" i="1">
                        <a:latin typeface="Cambria Math" panose="02040503050406030204" pitchFamily="18" charset="0"/>
                      </a:rPr>
                      <m:t>𝑑</m:t>
                    </m:r>
                    <m:r>
                      <a:rPr lang="en-US" i="1">
                        <a:latin typeface="Cambria Math" panose="02040503050406030204" pitchFamily="18" charset="0"/>
                      </a:rPr>
                      <m:t>(</m:t>
                    </m:r>
                    <m:r>
                      <a:rPr lang="en-US" i="1">
                        <a:latin typeface="Cambria Math" panose="02040503050406030204" pitchFamily="18" charset="0"/>
                      </a:rPr>
                      <m:t>𝑢</m:t>
                    </m:r>
                    <m:r>
                      <a:rPr lang="en-US" i="1">
                        <a:latin typeface="Cambria Math" panose="02040503050406030204" pitchFamily="18" charset="0"/>
                      </a:rPr>
                      <m:t>,</m:t>
                    </m:r>
                    <m:r>
                      <a:rPr lang="en-US" i="1">
                        <a:latin typeface="Cambria Math" panose="02040503050406030204" pitchFamily="18" charset="0"/>
                      </a:rPr>
                      <m:t>𝑣</m:t>
                    </m:r>
                    <m:r>
                      <a:rPr lang="en-US" i="1">
                        <a:latin typeface="Cambria Math" panose="02040503050406030204" pitchFamily="18" charset="0"/>
                      </a:rPr>
                      <m:t>)</m:t>
                    </m:r>
                  </m:oMath>
                </a14:m>
                <a:r>
                  <a:rPr lang="en-US" dirty="0"/>
                  <a:t> is the shortest path distance between node </a:t>
                </a:r>
                <a14:m>
                  <m:oMath xmlns:m="http://schemas.openxmlformats.org/officeDocument/2006/math">
                    <m:r>
                      <a:rPr lang="en-US" i="1">
                        <a:latin typeface="Cambria Math" panose="02040503050406030204" pitchFamily="18" charset="0"/>
                      </a:rPr>
                      <m:t>𝑢</m:t>
                    </m:r>
                  </m:oMath>
                </a14:m>
                <a:r>
                  <a:rPr lang="en-US" dirty="0"/>
                  <a:t> and another node </a:t>
                </a:r>
                <a14:m>
                  <m:oMath xmlns:m="http://schemas.openxmlformats.org/officeDocument/2006/math">
                    <m:r>
                      <a:rPr lang="en-US" i="1" smtClean="0">
                        <a:latin typeface="Cambria Math" panose="02040503050406030204" pitchFamily="18" charset="0"/>
                      </a:rPr>
                      <m:t>𝑣</m:t>
                    </m:r>
                  </m:oMath>
                </a14:m>
                <a:r>
                  <a:rPr lang="en-US" dirty="0"/>
                  <a:t> </a:t>
                </a:r>
              </a:p>
              <a:p>
                <a:pPr marL="0" indent="0">
                  <a:buFont typeface="Arial" panose="020B0604020202020204" pitchFamily="34" charset="0"/>
                  <a:buNone/>
                </a:pPr>
                <a:endParaRPr lang="en-US" dirty="0"/>
              </a:p>
              <a:p>
                <a:endParaRPr lang="en-US" dirty="0"/>
              </a:p>
            </p:txBody>
          </p:sp>
        </mc:Choice>
        <mc:Fallback xmlns="">
          <p:sp>
            <p:nvSpPr>
              <p:cNvPr id="4" name="Content Placeholder 2">
                <a:extLst>
                  <a:ext uri="{FF2B5EF4-FFF2-40B4-BE49-F238E27FC236}">
                    <a16:creationId xmlns:a16="http://schemas.microsoft.com/office/drawing/2014/main" id="{BBE53EDD-D577-7DF8-A96A-114739D74883}"/>
                  </a:ext>
                </a:extLst>
              </p:cNvPr>
              <p:cNvSpPr txBox="1">
                <a:spLocks noRot="1" noChangeAspect="1" noMove="1" noResize="1" noEditPoints="1" noAdjustHandles="1" noChangeArrowheads="1" noChangeShapeType="1" noTextEdit="1"/>
              </p:cNvSpPr>
              <p:nvPr/>
            </p:nvSpPr>
            <p:spPr>
              <a:xfrm>
                <a:off x="759949" y="1892769"/>
                <a:ext cx="5231067" cy="4771502"/>
              </a:xfrm>
              <a:prstGeom prst="rect">
                <a:avLst/>
              </a:prstGeom>
              <a:blipFill>
                <a:blip r:embed="rId3"/>
                <a:stretch>
                  <a:fillRect l="-2098" t="-2043"/>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608F6DE3-E25A-A916-A528-2E15B8AB9B99}"/>
              </a:ext>
            </a:extLst>
          </p:cNvPr>
          <p:cNvPicPr>
            <a:picLocks noChangeAspect="1"/>
          </p:cNvPicPr>
          <p:nvPr/>
        </p:nvPicPr>
        <p:blipFill>
          <a:blip r:embed="rId4"/>
          <a:stretch>
            <a:fillRect/>
          </a:stretch>
        </p:blipFill>
        <p:spPr>
          <a:xfrm>
            <a:off x="5991016" y="1557579"/>
            <a:ext cx="6200984" cy="5106692"/>
          </a:xfrm>
          <a:prstGeom prst="rect">
            <a:avLst/>
          </a:prstGeom>
        </p:spPr>
      </p:pic>
    </p:spTree>
    <p:extLst>
      <p:ext uri="{BB962C8B-B14F-4D97-AF65-F5344CB8AC3E}">
        <p14:creationId xmlns:p14="http://schemas.microsoft.com/office/powerpoint/2010/main" val="3651203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E9D12-7E8D-9977-3BE7-D547B7B090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7C9861-146F-6CAC-8763-540378CE9F50}"/>
              </a:ext>
            </a:extLst>
          </p:cNvPr>
          <p:cNvSpPr>
            <a:spLocks noGrp="1"/>
          </p:cNvSpPr>
          <p:nvPr>
            <p:ph type="title"/>
          </p:nvPr>
        </p:nvSpPr>
        <p:spPr>
          <a:xfrm>
            <a:off x="838200" y="365125"/>
            <a:ext cx="10515600" cy="620993"/>
          </a:xfrm>
        </p:spPr>
        <p:txBody>
          <a:bodyPr>
            <a:normAutofit fontScale="90000"/>
          </a:bodyPr>
          <a:lstStyle/>
          <a:p>
            <a:r>
              <a:rPr lang="en-US" dirty="0">
                <a:latin typeface="+mn-lt"/>
              </a:rPr>
              <a:t>Betweenness of Social Network Communities  </a:t>
            </a:r>
            <a:endParaRPr lang="en-US" dirty="0"/>
          </a:p>
        </p:txBody>
      </p:sp>
      <p:sp>
        <p:nvSpPr>
          <p:cNvPr id="3" name="Content Placeholder 2">
            <a:extLst>
              <a:ext uri="{FF2B5EF4-FFF2-40B4-BE49-F238E27FC236}">
                <a16:creationId xmlns:a16="http://schemas.microsoft.com/office/drawing/2014/main" id="{FF7CA5C4-127F-A9F3-13CE-75AB0A916057}"/>
              </a:ext>
            </a:extLst>
          </p:cNvPr>
          <p:cNvSpPr>
            <a:spLocks noGrp="1"/>
          </p:cNvSpPr>
          <p:nvPr>
            <p:ph idx="1"/>
          </p:nvPr>
        </p:nvSpPr>
        <p:spPr>
          <a:xfrm>
            <a:off x="278969" y="1208868"/>
            <a:ext cx="10962468" cy="5447426"/>
          </a:xfrm>
        </p:spPr>
        <p:txBody>
          <a:bodyPr>
            <a:normAutofit/>
          </a:bodyPr>
          <a:lstStyle/>
          <a:p>
            <a:pPr marL="0" indent="0">
              <a:buNone/>
            </a:pPr>
            <a:r>
              <a:rPr lang="en-US" dirty="0"/>
              <a:t>Betweenness measures the number of paths between parts of a graph </a:t>
            </a:r>
          </a:p>
          <a:p>
            <a:r>
              <a:rPr lang="en-US" dirty="0"/>
              <a:t>Betweenness is the </a:t>
            </a:r>
            <a:r>
              <a:rPr lang="en-US" b="1" dirty="0"/>
              <a:t>number of pairwise shortest paths </a:t>
            </a:r>
            <a:r>
              <a:rPr lang="en-US" dirty="0"/>
              <a:t>passing though part of a graph</a:t>
            </a:r>
          </a:p>
          <a:p>
            <a:r>
              <a:rPr lang="en-US" dirty="0"/>
              <a:t>Expect high betweenness between communities – few possible paths</a:t>
            </a:r>
          </a:p>
          <a:p>
            <a:r>
              <a:rPr lang="en-US" b="1" dirty="0"/>
              <a:t>Node betweenness </a:t>
            </a:r>
            <a:r>
              <a:rPr lang="en-US" dirty="0"/>
              <a:t>is the number of pairwise shortest paths passing through a given node in the graph </a:t>
            </a:r>
          </a:p>
          <a:p>
            <a:r>
              <a:rPr lang="en-US" b="1" dirty="0"/>
              <a:t>Edge betweenness </a:t>
            </a:r>
            <a:r>
              <a:rPr lang="en-US" dirty="0"/>
              <a:t>is the number of pairwise shortest paths passing through a given edge in the graph</a:t>
            </a:r>
          </a:p>
          <a:p>
            <a:pPr marL="0" indent="0">
              <a:buNone/>
            </a:pPr>
            <a:endParaRPr lang="en-US" dirty="0"/>
          </a:p>
          <a:p>
            <a:pPr marL="0" indent="0">
              <a:buNone/>
            </a:pPr>
            <a:endParaRPr lang="en-US" dirty="0"/>
          </a:p>
          <a:p>
            <a:pPr marL="0" indent="0">
              <a:buNone/>
            </a:pPr>
            <a:endParaRPr lang="en-US" dirty="0"/>
          </a:p>
          <a:p>
            <a:endParaRPr lang="en-US" dirty="0"/>
          </a:p>
          <a:p>
            <a:endParaRPr lang="en-US" dirty="0"/>
          </a:p>
        </p:txBody>
      </p:sp>
    </p:spTree>
    <p:extLst>
      <p:ext uri="{BB962C8B-B14F-4D97-AF65-F5344CB8AC3E}">
        <p14:creationId xmlns:p14="http://schemas.microsoft.com/office/powerpoint/2010/main" val="3099587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8E2C1-51E4-EAEE-3ACA-05FF3F8E08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268CBF-6084-8482-5E63-472DD053F442}"/>
              </a:ext>
            </a:extLst>
          </p:cNvPr>
          <p:cNvSpPr>
            <a:spLocks noGrp="1"/>
          </p:cNvSpPr>
          <p:nvPr>
            <p:ph type="title"/>
          </p:nvPr>
        </p:nvSpPr>
        <p:spPr>
          <a:xfrm>
            <a:off x="838200" y="365125"/>
            <a:ext cx="10515600" cy="620993"/>
          </a:xfrm>
        </p:spPr>
        <p:txBody>
          <a:bodyPr>
            <a:normAutofit fontScale="90000"/>
          </a:bodyPr>
          <a:lstStyle/>
          <a:p>
            <a:r>
              <a:rPr lang="en-US" dirty="0">
                <a:latin typeface="+mn-lt"/>
              </a:rPr>
              <a:t>Betweenness Social Network Communities</a:t>
            </a:r>
            <a:endParaRPr lang="en-US" dirty="0"/>
          </a:p>
        </p:txBody>
      </p:sp>
      <p:sp>
        <p:nvSpPr>
          <p:cNvPr id="3" name="Content Placeholder 2">
            <a:extLst>
              <a:ext uri="{FF2B5EF4-FFF2-40B4-BE49-F238E27FC236}">
                <a16:creationId xmlns:a16="http://schemas.microsoft.com/office/drawing/2014/main" id="{78415E34-BEC7-AB78-6D68-794C6F28B92D}"/>
              </a:ext>
            </a:extLst>
          </p:cNvPr>
          <p:cNvSpPr>
            <a:spLocks noGrp="1"/>
          </p:cNvSpPr>
          <p:nvPr>
            <p:ph idx="1"/>
          </p:nvPr>
        </p:nvSpPr>
        <p:spPr>
          <a:xfrm>
            <a:off x="278969" y="1208868"/>
            <a:ext cx="5109275" cy="5447426"/>
          </a:xfrm>
        </p:spPr>
        <p:txBody>
          <a:bodyPr>
            <a:normAutofit/>
          </a:bodyPr>
          <a:lstStyle/>
          <a:p>
            <a:pPr marL="0" indent="0">
              <a:buNone/>
            </a:pPr>
            <a:r>
              <a:rPr lang="en-US" dirty="0"/>
              <a:t>Betweenness measures the number </a:t>
            </a:r>
            <a:r>
              <a:rPr lang="en-US"/>
              <a:t>of paths </a:t>
            </a:r>
            <a:r>
              <a:rPr lang="en-US" dirty="0"/>
              <a:t>between parts of a graph </a:t>
            </a:r>
          </a:p>
          <a:p>
            <a:r>
              <a:rPr lang="en-US" dirty="0"/>
              <a:t>Example: a single node is on path between members of two communities  </a:t>
            </a:r>
          </a:p>
          <a:p>
            <a:r>
              <a:rPr lang="en-US" dirty="0"/>
              <a:t>Can use betweenness to separate communities </a:t>
            </a:r>
          </a:p>
          <a:p>
            <a:pPr marL="0" indent="0">
              <a:buNone/>
            </a:pPr>
            <a:endParaRPr lang="en-US" dirty="0"/>
          </a:p>
          <a:p>
            <a:pPr marL="0" indent="0">
              <a:buNone/>
            </a:pPr>
            <a:r>
              <a:rPr lang="en-US" sz="1800" dirty="0"/>
              <a:t>Source: </a:t>
            </a:r>
            <a:r>
              <a:rPr lang="en-US" sz="1800" dirty="0">
                <a:hlinkClick r:id="rId2"/>
              </a:rPr>
              <a:t>bsmithactivity3</a:t>
            </a:r>
            <a:endParaRPr lang="en-US" sz="1800" dirty="0"/>
          </a:p>
          <a:p>
            <a:pPr marL="0" indent="0">
              <a:buNone/>
            </a:pPr>
            <a:endParaRPr lang="en-US" dirty="0"/>
          </a:p>
          <a:p>
            <a:endParaRPr lang="en-US" dirty="0"/>
          </a:p>
          <a:p>
            <a:endParaRPr lang="en-US" dirty="0"/>
          </a:p>
        </p:txBody>
      </p:sp>
      <p:pic>
        <p:nvPicPr>
          <p:cNvPr id="2052" name="Picture 4">
            <a:extLst>
              <a:ext uri="{FF2B5EF4-FFF2-40B4-BE49-F238E27FC236}">
                <a16:creationId xmlns:a16="http://schemas.microsoft.com/office/drawing/2014/main" id="{2C3219DB-5946-0DBB-7D0A-309D4EFF1E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99898" y="1208868"/>
            <a:ext cx="6269584" cy="54474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0142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5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Betweenness of Social Networks </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516611" y="1208868"/>
                <a:ext cx="6892396" cy="5447426"/>
              </a:xfrm>
            </p:spPr>
            <p:txBody>
              <a:bodyPr>
                <a:normAutofit/>
              </a:bodyPr>
              <a:lstStyle/>
              <a:p>
                <a:pPr marL="0" indent="0">
                  <a:buNone/>
                </a:pPr>
                <a:r>
                  <a:rPr lang="en-US" dirty="0"/>
                  <a:t>Betweenness centrality found by summing distances while traversing a graph </a:t>
                </a:r>
              </a:p>
              <a:p>
                <a:r>
                  <a:rPr lang="en-US" dirty="0"/>
                  <a:t>For graph with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𝑛</m:t>
                        </m:r>
                      </m:e>
                      <m:sub>
                        <m:r>
                          <a:rPr lang="en-US" b="0" i="1" smtClean="0">
                            <a:latin typeface="Cambria Math" panose="02040503050406030204" pitchFamily="18" charset="0"/>
                          </a:rPr>
                          <m:t>𝑠𝑡</m:t>
                        </m:r>
                      </m:sub>
                      <m:sup>
                        <m:r>
                          <a:rPr lang="en-US" b="0" i="1" smtClean="0">
                            <a:latin typeface="Cambria Math" panose="02040503050406030204" pitchFamily="18" charset="0"/>
                          </a:rPr>
                          <m:t>𝑖</m:t>
                        </m:r>
                      </m:sup>
                    </m:sSubSup>
                  </m:oMath>
                </a14:m>
                <a:r>
                  <a:rPr lang="en-US" dirty="0"/>
                  <a:t> the number of shortest paths though node </a:t>
                </a:r>
                <a:r>
                  <a:rPr lang="en-US" i="1" dirty="0" err="1"/>
                  <a:t>i</a:t>
                </a:r>
                <a:r>
                  <a:rPr lang="en-US" dirty="0"/>
                  <a:t>, a</a:t>
                </a:r>
                <a14:m>
                  <m:oMath xmlns:m="http://schemas.openxmlformats.org/officeDocument/2006/math">
                    <m:r>
                      <m:rPr>
                        <m:sty m:val="p"/>
                      </m:rPr>
                      <a:rPr lang="en-US" b="0" i="0" smtClean="0">
                        <a:latin typeface="Cambria Math" panose="02040503050406030204" pitchFamily="18" charset="0"/>
                      </a:rPr>
                      <m:t>nd</m:t>
                    </m:r>
                    <m:r>
                      <a:rPr lang="en-US" b="0" i="0"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𝑠𝑡</m:t>
                        </m:r>
                      </m:sub>
                    </m:sSub>
                    <m:r>
                      <a:rPr lang="en-US" b="0" i="1" smtClean="0">
                        <a:latin typeface="Cambria Math" panose="02040503050406030204" pitchFamily="18" charset="0"/>
                      </a:rPr>
                      <m:t> </m:t>
                    </m:r>
                  </m:oMath>
                </a14:m>
                <a:r>
                  <a:rPr lang="en-US" dirty="0"/>
                  <a:t>total </a:t>
                </a:r>
                <a:r>
                  <a:rPr lang="en-US"/>
                  <a:t>number of shortest </a:t>
                </a:r>
                <a:r>
                  <a:rPr lang="en-US" dirty="0"/>
                  <a:t>paths, </a:t>
                </a:r>
                <a:r>
                  <a:rPr lang="en-US" b="1" dirty="0"/>
                  <a:t>betweenness centrality: </a:t>
                </a:r>
              </a:p>
              <a:p>
                <a:pPr marL="0" indent="0">
                  <a:buNone/>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𝑖</m:t>
                          </m:r>
                        </m:sub>
                      </m:sSub>
                      <m:r>
                        <a:rPr lang="en-US" b="0" i="1" smtClean="0">
                          <a:latin typeface="Cambria Math" panose="02040503050406030204" pitchFamily="18" charset="0"/>
                        </a:rPr>
                        <m:t>=</m:t>
                      </m:r>
                      <m:f>
                        <m:fPr>
                          <m:ctrlPr>
                            <a:rPr lang="en-US" i="1">
                              <a:latin typeface="Cambria Math" panose="02040503050406030204" pitchFamily="18" charset="0"/>
                            </a:rPr>
                          </m:ctrlPr>
                        </m:fPr>
                        <m:num>
                          <m:sSubSup>
                            <m:sSubSupPr>
                              <m:ctrlPr>
                                <a:rPr lang="en-US" i="1">
                                  <a:latin typeface="Cambria Math" panose="02040503050406030204" pitchFamily="18" charset="0"/>
                                </a:rPr>
                              </m:ctrlPr>
                            </m:sSubSupPr>
                            <m:e>
                              <m:r>
                                <a:rPr lang="en-US" i="1">
                                  <a:latin typeface="Cambria Math" panose="02040503050406030204" pitchFamily="18" charset="0"/>
                                </a:rPr>
                                <m:t>𝑛</m:t>
                              </m:r>
                            </m:e>
                            <m:sub>
                              <m:r>
                                <a:rPr lang="en-US" i="1">
                                  <a:latin typeface="Cambria Math" panose="02040503050406030204" pitchFamily="18" charset="0"/>
                                </a:rPr>
                                <m:t>𝑠𝑡</m:t>
                              </m:r>
                            </m:sub>
                            <m:sup>
                              <m:r>
                                <a:rPr lang="en-US" i="1">
                                  <a:latin typeface="Cambria Math" panose="02040503050406030204" pitchFamily="18" charset="0"/>
                                </a:rPr>
                                <m:t>𝑖</m:t>
                              </m:r>
                            </m:sup>
                          </m:sSubSup>
                        </m:num>
                        <m:den>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𝑠𝑡</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𝑠𝑡</m:t>
                              </m:r>
                            </m:sub>
                          </m:sSub>
                        </m:den>
                      </m:f>
                      <m:nary>
                        <m:naryPr>
                          <m:chr m:val="∑"/>
                          <m:limLoc m:val="subSup"/>
                          <m:supHide m:val="on"/>
                          <m:ctrlPr>
                            <a:rPr lang="en-US" b="0" i="1" smtClean="0">
                              <a:latin typeface="Cambria Math" panose="02040503050406030204" pitchFamily="18" charset="0"/>
                            </a:rPr>
                          </m:ctrlPr>
                        </m:naryPr>
                        <m:sub>
                          <m:r>
                            <m:rPr>
                              <m:brk m:alnAt="9"/>
                            </m:rPr>
                            <a:rPr lang="en-US" b="0" i="1" smtClean="0">
                              <a:latin typeface="Cambria Math" panose="02040503050406030204" pitchFamily="18" charset="0"/>
                            </a:rPr>
                            <m:t>𝑠</m:t>
                          </m:r>
                          <m:r>
                            <a:rPr lang="en-US" b="0" i="1" smtClean="0">
                              <a:latin typeface="Cambria Math" panose="02040503050406030204" pitchFamily="18" charset="0"/>
                            </a:rPr>
                            <m:t>𝑡</m:t>
                          </m:r>
                        </m:sub>
                        <m:sup/>
                        <m:e>
                          <m:sSubSup>
                            <m:sSubSupPr>
                              <m:ctrlPr>
                                <a:rPr lang="en-US" i="1">
                                  <a:latin typeface="Cambria Math" panose="02040503050406030204" pitchFamily="18" charset="0"/>
                                </a:rPr>
                              </m:ctrlPr>
                            </m:sSubSupPr>
                            <m:e>
                              <m:r>
                                <a:rPr lang="en-US" i="1">
                                  <a:latin typeface="Cambria Math" panose="02040503050406030204" pitchFamily="18" charset="0"/>
                                </a:rPr>
                                <m:t>𝑛</m:t>
                              </m:r>
                            </m:e>
                            <m:sub>
                              <m:r>
                                <a:rPr lang="en-US" b="0" i="1" smtClean="0">
                                  <a:latin typeface="Cambria Math" panose="02040503050406030204" pitchFamily="18" charset="0"/>
                                </a:rPr>
                                <m:t> </m:t>
                              </m:r>
                            </m:sub>
                            <m:sup>
                              <m:r>
                                <a:rPr lang="en-US" i="1">
                                  <a:latin typeface="Cambria Math" panose="02040503050406030204" pitchFamily="18" charset="0"/>
                                </a:rPr>
                                <m:t>𝑖</m:t>
                              </m:r>
                            </m:sup>
                          </m:sSubSup>
                        </m:e>
                      </m:nary>
                    </m:oMath>
                  </m:oMathPara>
                </a14:m>
                <a:endParaRPr lang="en-US" dirty="0"/>
              </a:p>
              <a:p>
                <a:r>
                  <a:rPr lang="en-US" dirty="0"/>
                  <a:t>Example: start with a graph</a:t>
                </a:r>
              </a:p>
              <a:p>
                <a:r>
                  <a:rPr lang="en-US" dirty="0"/>
                  <a:t>Nodes or edges have distances 1 in this case</a:t>
                </a:r>
              </a:p>
              <a:p>
                <a:r>
                  <a:rPr lang="en-US" dirty="0"/>
                  <a:t>Find betweenness along shortest paths to a node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𝑛</m:t>
                        </m:r>
                      </m:e>
                      <m:sub>
                        <m:r>
                          <a:rPr lang="en-US" i="1">
                            <a:latin typeface="Cambria Math" panose="02040503050406030204" pitchFamily="18" charset="0"/>
                          </a:rPr>
                          <m:t> </m:t>
                        </m:r>
                      </m:sub>
                      <m:sup>
                        <m:r>
                          <a:rPr lang="en-US" i="1">
                            <a:latin typeface="Cambria Math" panose="02040503050406030204" pitchFamily="18" charset="0"/>
                          </a:rPr>
                          <m:t>𝑖</m:t>
                        </m:r>
                      </m:sup>
                    </m:sSubSup>
                  </m:oMath>
                </a14:m>
                <a:r>
                  <a:rPr lang="en-US" dirty="0"/>
                  <a:t>  </a:t>
                </a:r>
              </a:p>
              <a:p>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CA03134D-F068-4BC9-B038-F3D5CBDDE3F9}"/>
                  </a:ext>
                </a:extLst>
              </p:cNvPr>
              <p:cNvSpPr>
                <a:spLocks noGrp="1" noRot="1" noChangeAspect="1" noMove="1" noResize="1" noEditPoints="1" noAdjustHandles="1" noChangeArrowheads="1" noChangeShapeType="1" noTextEdit="1"/>
              </p:cNvSpPr>
              <p:nvPr>
                <p:ph idx="1"/>
              </p:nvPr>
            </p:nvSpPr>
            <p:spPr>
              <a:xfrm>
                <a:off x="516611" y="1208868"/>
                <a:ext cx="6892396" cy="5447426"/>
              </a:xfrm>
              <a:blipFill>
                <a:blip r:embed="rId2"/>
                <a:stretch>
                  <a:fillRect l="-1858" t="-1790" r="-177"/>
                </a:stretch>
              </a:blipFill>
            </p:spPr>
            <p:txBody>
              <a:bodyPr/>
              <a:lstStyle/>
              <a:p>
                <a:r>
                  <a:rPr lang="en-US">
                    <a:noFill/>
                  </a:rPr>
                  <a:t> </a:t>
                </a:r>
              </a:p>
            </p:txBody>
          </p:sp>
        </mc:Fallback>
      </mc:AlternateContent>
      <p:sp>
        <p:nvSpPr>
          <p:cNvPr id="4" name="Oval 3">
            <a:extLst>
              <a:ext uri="{FF2B5EF4-FFF2-40B4-BE49-F238E27FC236}">
                <a16:creationId xmlns:a16="http://schemas.microsoft.com/office/drawing/2014/main" id="{1DD10ED4-E26E-401A-BC6D-EE1165960B84}"/>
              </a:ext>
            </a:extLst>
          </p:cNvPr>
          <p:cNvSpPr/>
          <p:nvPr/>
        </p:nvSpPr>
        <p:spPr>
          <a:xfrm>
            <a:off x="9065781" y="1524000"/>
            <a:ext cx="289302" cy="26347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FB06FF23-840F-4EBA-BCB9-3F7E0FABFAB3}"/>
              </a:ext>
            </a:extLst>
          </p:cNvPr>
          <p:cNvSpPr/>
          <p:nvPr/>
        </p:nvSpPr>
        <p:spPr>
          <a:xfrm>
            <a:off x="8223706" y="2761282"/>
            <a:ext cx="289302" cy="26347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385C253-591A-4766-A3D5-F45B08999E40}"/>
              </a:ext>
            </a:extLst>
          </p:cNvPr>
          <p:cNvSpPr/>
          <p:nvPr/>
        </p:nvSpPr>
        <p:spPr>
          <a:xfrm>
            <a:off x="10199740" y="2761282"/>
            <a:ext cx="289302" cy="26347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3F255610-E372-4703-83DD-7A7AC600F670}"/>
              </a:ext>
            </a:extLst>
          </p:cNvPr>
          <p:cNvSpPr/>
          <p:nvPr/>
        </p:nvSpPr>
        <p:spPr>
          <a:xfrm>
            <a:off x="8241788" y="4161295"/>
            <a:ext cx="289302" cy="26347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6C59ACA9-FD68-4BB3-8770-6F2B3D5A04DF}"/>
              </a:ext>
            </a:extLst>
          </p:cNvPr>
          <p:cNvSpPr/>
          <p:nvPr/>
        </p:nvSpPr>
        <p:spPr>
          <a:xfrm>
            <a:off x="10222988" y="4161295"/>
            <a:ext cx="289302" cy="26347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061F4553-B6C5-4CD9-BE29-D5377C69A85E}"/>
              </a:ext>
            </a:extLst>
          </p:cNvPr>
          <p:cNvSpPr/>
          <p:nvPr/>
        </p:nvSpPr>
        <p:spPr>
          <a:xfrm>
            <a:off x="9355083" y="5414074"/>
            <a:ext cx="289302" cy="26347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A7308080-E4B9-42CC-844D-37D2783F9D7C}"/>
              </a:ext>
            </a:extLst>
          </p:cNvPr>
          <p:cNvSpPr/>
          <p:nvPr/>
        </p:nvSpPr>
        <p:spPr>
          <a:xfrm>
            <a:off x="11429273" y="5414073"/>
            <a:ext cx="289302" cy="26347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A0FAB1E5-E57A-48DE-86BE-00E41C08A849}"/>
              </a:ext>
            </a:extLst>
          </p:cNvPr>
          <p:cNvCxnSpPr>
            <a:stCxn id="9" idx="1"/>
            <a:endCxn id="7" idx="5"/>
          </p:cNvCxnSpPr>
          <p:nvPr/>
        </p:nvCxnSpPr>
        <p:spPr>
          <a:xfrm flipH="1" flipV="1">
            <a:off x="8488723" y="4386182"/>
            <a:ext cx="908727" cy="1066476"/>
          </a:xfrm>
          <a:prstGeom prst="straightConnector1">
            <a:avLst/>
          </a:prstGeom>
          <a:ln w="50800">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id="{E57CE33D-345D-4089-964D-838CFA747E11}"/>
              </a:ext>
            </a:extLst>
          </p:cNvPr>
          <p:cNvCxnSpPr>
            <a:cxnSpLocks/>
            <a:stCxn id="7" idx="0"/>
            <a:endCxn id="5" idx="4"/>
          </p:cNvCxnSpPr>
          <p:nvPr/>
        </p:nvCxnSpPr>
        <p:spPr>
          <a:xfrm flipH="1" flipV="1">
            <a:off x="8368357" y="3024753"/>
            <a:ext cx="18082" cy="1136542"/>
          </a:xfrm>
          <a:prstGeom prst="straightConnector1">
            <a:avLst/>
          </a:prstGeom>
          <a:ln w="50800">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CE5789DA-8191-43B0-8590-4FA7CCDC5E9E}"/>
              </a:ext>
            </a:extLst>
          </p:cNvPr>
          <p:cNvCxnSpPr>
            <a:cxnSpLocks/>
            <a:stCxn id="5" idx="0"/>
            <a:endCxn id="4" idx="3"/>
          </p:cNvCxnSpPr>
          <p:nvPr/>
        </p:nvCxnSpPr>
        <p:spPr>
          <a:xfrm flipV="1">
            <a:off x="8368357" y="1748887"/>
            <a:ext cx="739791" cy="1012395"/>
          </a:xfrm>
          <a:prstGeom prst="straightConnector1">
            <a:avLst/>
          </a:prstGeom>
          <a:ln w="50800">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4F75CE8B-8BAB-4134-A187-86954B3DB3C1}"/>
              </a:ext>
            </a:extLst>
          </p:cNvPr>
          <p:cNvCxnSpPr>
            <a:cxnSpLocks/>
            <a:stCxn id="10" idx="1"/>
            <a:endCxn id="8" idx="5"/>
          </p:cNvCxnSpPr>
          <p:nvPr/>
        </p:nvCxnSpPr>
        <p:spPr>
          <a:xfrm flipH="1" flipV="1">
            <a:off x="10469923" y="4386182"/>
            <a:ext cx="1001717" cy="1066475"/>
          </a:xfrm>
          <a:prstGeom prst="straightConnector1">
            <a:avLst/>
          </a:prstGeom>
          <a:ln w="50800">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CDAA9D4C-91E7-4D88-9B5A-1B4F76E249D1}"/>
              </a:ext>
            </a:extLst>
          </p:cNvPr>
          <p:cNvCxnSpPr>
            <a:cxnSpLocks/>
            <a:stCxn id="9" idx="7"/>
            <a:endCxn id="8" idx="3"/>
          </p:cNvCxnSpPr>
          <p:nvPr/>
        </p:nvCxnSpPr>
        <p:spPr>
          <a:xfrm flipV="1">
            <a:off x="9602018" y="4386182"/>
            <a:ext cx="663337" cy="1066476"/>
          </a:xfrm>
          <a:prstGeom prst="straightConnector1">
            <a:avLst/>
          </a:prstGeom>
          <a:ln w="50800">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08D44DDA-4C10-4F89-A435-627F295260CE}"/>
              </a:ext>
            </a:extLst>
          </p:cNvPr>
          <p:cNvCxnSpPr>
            <a:cxnSpLocks/>
            <a:stCxn id="8" idx="0"/>
            <a:endCxn id="6" idx="4"/>
          </p:cNvCxnSpPr>
          <p:nvPr/>
        </p:nvCxnSpPr>
        <p:spPr>
          <a:xfrm flipH="1" flipV="1">
            <a:off x="10344391" y="3024753"/>
            <a:ext cx="23248" cy="1136542"/>
          </a:xfrm>
          <a:prstGeom prst="straightConnector1">
            <a:avLst/>
          </a:prstGeom>
          <a:ln w="50800">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1432364A-B30B-4606-B8DA-7B21DFC0F2D9}"/>
              </a:ext>
            </a:extLst>
          </p:cNvPr>
          <p:cNvCxnSpPr>
            <a:cxnSpLocks/>
            <a:stCxn id="6" idx="0"/>
            <a:endCxn id="4" idx="5"/>
          </p:cNvCxnSpPr>
          <p:nvPr/>
        </p:nvCxnSpPr>
        <p:spPr>
          <a:xfrm flipH="1" flipV="1">
            <a:off x="9312716" y="1748887"/>
            <a:ext cx="1031675" cy="1012395"/>
          </a:xfrm>
          <a:prstGeom prst="straightConnector1">
            <a:avLst/>
          </a:prstGeom>
          <a:ln w="50800">
            <a:tailEnd type="triangle"/>
          </a:ln>
        </p:spPr>
        <p:style>
          <a:lnRef idx="1">
            <a:schemeClr val="dk1"/>
          </a:lnRef>
          <a:fillRef idx="0">
            <a:schemeClr val="dk1"/>
          </a:fillRef>
          <a:effectRef idx="0">
            <a:schemeClr val="dk1"/>
          </a:effectRef>
          <a:fontRef idx="minor">
            <a:schemeClr val="tx1"/>
          </a:fontRef>
        </p:style>
      </p:cxnSp>
      <p:sp>
        <p:nvSpPr>
          <p:cNvPr id="32" name="TextBox 31">
            <a:extLst>
              <a:ext uri="{FF2B5EF4-FFF2-40B4-BE49-F238E27FC236}">
                <a16:creationId xmlns:a16="http://schemas.microsoft.com/office/drawing/2014/main" id="{B8DB6065-F2FA-4B68-ADEF-F68ED62598F3}"/>
              </a:ext>
            </a:extLst>
          </p:cNvPr>
          <p:cNvSpPr txBox="1"/>
          <p:nvPr/>
        </p:nvSpPr>
        <p:spPr>
          <a:xfrm>
            <a:off x="8608074" y="5303492"/>
            <a:ext cx="542441" cy="461665"/>
          </a:xfrm>
          <a:prstGeom prst="rect">
            <a:avLst/>
          </a:prstGeom>
          <a:noFill/>
        </p:spPr>
        <p:txBody>
          <a:bodyPr wrap="square" rtlCol="0">
            <a:spAutoFit/>
          </a:bodyPr>
          <a:lstStyle/>
          <a:p>
            <a:pPr algn="ctr"/>
            <a:r>
              <a:rPr lang="en-US" sz="2400" dirty="0"/>
              <a:t>1</a:t>
            </a:r>
          </a:p>
        </p:txBody>
      </p:sp>
      <p:sp>
        <p:nvSpPr>
          <p:cNvPr id="33" name="TextBox 32">
            <a:extLst>
              <a:ext uri="{FF2B5EF4-FFF2-40B4-BE49-F238E27FC236}">
                <a16:creationId xmlns:a16="http://schemas.microsoft.com/office/drawing/2014/main" id="{3CF0E72D-34CB-43B6-9202-6ACE1AA0DB9C}"/>
              </a:ext>
            </a:extLst>
          </p:cNvPr>
          <p:cNvSpPr txBox="1"/>
          <p:nvPr/>
        </p:nvSpPr>
        <p:spPr>
          <a:xfrm>
            <a:off x="10808303" y="5303492"/>
            <a:ext cx="542441" cy="461665"/>
          </a:xfrm>
          <a:prstGeom prst="rect">
            <a:avLst/>
          </a:prstGeom>
          <a:noFill/>
        </p:spPr>
        <p:txBody>
          <a:bodyPr wrap="square" rtlCol="0">
            <a:spAutoFit/>
          </a:bodyPr>
          <a:lstStyle/>
          <a:p>
            <a:pPr algn="ctr"/>
            <a:r>
              <a:rPr lang="en-US" sz="2400" dirty="0"/>
              <a:t>1</a:t>
            </a:r>
          </a:p>
        </p:txBody>
      </p:sp>
      <p:sp>
        <p:nvSpPr>
          <p:cNvPr id="34" name="TextBox 33">
            <a:extLst>
              <a:ext uri="{FF2B5EF4-FFF2-40B4-BE49-F238E27FC236}">
                <a16:creationId xmlns:a16="http://schemas.microsoft.com/office/drawing/2014/main" id="{B90ECAE6-A880-48E3-BBC7-A20ABC9714A7}"/>
              </a:ext>
            </a:extLst>
          </p:cNvPr>
          <p:cNvSpPr txBox="1"/>
          <p:nvPr/>
        </p:nvSpPr>
        <p:spPr>
          <a:xfrm>
            <a:off x="9614679" y="4031420"/>
            <a:ext cx="542441" cy="461665"/>
          </a:xfrm>
          <a:prstGeom prst="rect">
            <a:avLst/>
          </a:prstGeom>
          <a:noFill/>
        </p:spPr>
        <p:txBody>
          <a:bodyPr wrap="square" rtlCol="0">
            <a:spAutoFit/>
          </a:bodyPr>
          <a:lstStyle/>
          <a:p>
            <a:pPr algn="ctr"/>
            <a:r>
              <a:rPr lang="en-US" sz="2400" dirty="0"/>
              <a:t>1</a:t>
            </a:r>
          </a:p>
        </p:txBody>
      </p:sp>
      <p:sp>
        <p:nvSpPr>
          <p:cNvPr id="35" name="TextBox 34">
            <a:extLst>
              <a:ext uri="{FF2B5EF4-FFF2-40B4-BE49-F238E27FC236}">
                <a16:creationId xmlns:a16="http://schemas.microsoft.com/office/drawing/2014/main" id="{690198ED-2B76-47CD-81ED-8654C6BF11AD}"/>
              </a:ext>
            </a:extLst>
          </p:cNvPr>
          <p:cNvSpPr txBox="1"/>
          <p:nvPr/>
        </p:nvSpPr>
        <p:spPr>
          <a:xfrm>
            <a:off x="7778636" y="4062197"/>
            <a:ext cx="542441" cy="461665"/>
          </a:xfrm>
          <a:prstGeom prst="rect">
            <a:avLst/>
          </a:prstGeom>
          <a:noFill/>
        </p:spPr>
        <p:txBody>
          <a:bodyPr wrap="square" rtlCol="0">
            <a:spAutoFit/>
          </a:bodyPr>
          <a:lstStyle/>
          <a:p>
            <a:pPr algn="ctr"/>
            <a:r>
              <a:rPr lang="en-US" sz="2400" dirty="0"/>
              <a:t>1</a:t>
            </a:r>
          </a:p>
        </p:txBody>
      </p:sp>
      <p:sp>
        <p:nvSpPr>
          <p:cNvPr id="36" name="TextBox 35">
            <a:extLst>
              <a:ext uri="{FF2B5EF4-FFF2-40B4-BE49-F238E27FC236}">
                <a16:creationId xmlns:a16="http://schemas.microsoft.com/office/drawing/2014/main" id="{CC11F1AA-4334-4710-B5BA-B86B2D5281CE}"/>
              </a:ext>
            </a:extLst>
          </p:cNvPr>
          <p:cNvSpPr txBox="1"/>
          <p:nvPr/>
        </p:nvSpPr>
        <p:spPr>
          <a:xfrm>
            <a:off x="8943086" y="1020165"/>
            <a:ext cx="542441" cy="461665"/>
          </a:xfrm>
          <a:prstGeom prst="rect">
            <a:avLst/>
          </a:prstGeom>
          <a:noFill/>
        </p:spPr>
        <p:txBody>
          <a:bodyPr wrap="square" rtlCol="0">
            <a:spAutoFit/>
          </a:bodyPr>
          <a:lstStyle/>
          <a:p>
            <a:pPr algn="ctr"/>
            <a:r>
              <a:rPr lang="en-US" sz="2400" b="1" dirty="0"/>
              <a:t>s</a:t>
            </a:r>
          </a:p>
        </p:txBody>
      </p:sp>
      <p:sp>
        <p:nvSpPr>
          <p:cNvPr id="37" name="TextBox 36">
            <a:extLst>
              <a:ext uri="{FF2B5EF4-FFF2-40B4-BE49-F238E27FC236}">
                <a16:creationId xmlns:a16="http://schemas.microsoft.com/office/drawing/2014/main" id="{D540374E-3A83-4113-98CD-201D293E276A}"/>
              </a:ext>
            </a:extLst>
          </p:cNvPr>
          <p:cNvSpPr txBox="1"/>
          <p:nvPr/>
        </p:nvSpPr>
        <p:spPr>
          <a:xfrm>
            <a:off x="9596597" y="2648766"/>
            <a:ext cx="542441" cy="461665"/>
          </a:xfrm>
          <a:prstGeom prst="rect">
            <a:avLst/>
          </a:prstGeom>
          <a:noFill/>
        </p:spPr>
        <p:txBody>
          <a:bodyPr wrap="square" rtlCol="0">
            <a:spAutoFit/>
          </a:bodyPr>
          <a:lstStyle/>
          <a:p>
            <a:pPr algn="ctr"/>
            <a:r>
              <a:rPr lang="en-US" sz="2400" dirty="0"/>
              <a:t>1</a:t>
            </a:r>
          </a:p>
        </p:txBody>
      </p:sp>
      <p:sp>
        <p:nvSpPr>
          <p:cNvPr id="28" name="TextBox 27">
            <a:extLst>
              <a:ext uri="{FF2B5EF4-FFF2-40B4-BE49-F238E27FC236}">
                <a16:creationId xmlns:a16="http://schemas.microsoft.com/office/drawing/2014/main" id="{68ADF6B1-60B4-43C4-AC7D-DF41D262DC60}"/>
              </a:ext>
            </a:extLst>
          </p:cNvPr>
          <p:cNvSpPr txBox="1"/>
          <p:nvPr/>
        </p:nvSpPr>
        <p:spPr>
          <a:xfrm>
            <a:off x="7757466" y="2829275"/>
            <a:ext cx="542441" cy="461665"/>
          </a:xfrm>
          <a:prstGeom prst="rect">
            <a:avLst/>
          </a:prstGeom>
          <a:noFill/>
        </p:spPr>
        <p:txBody>
          <a:bodyPr wrap="square" rtlCol="0">
            <a:spAutoFit/>
          </a:bodyPr>
          <a:lstStyle/>
          <a:p>
            <a:pPr algn="ctr"/>
            <a:r>
              <a:rPr lang="en-US" sz="2400" dirty="0"/>
              <a:t>1</a:t>
            </a:r>
          </a:p>
        </p:txBody>
      </p:sp>
    </p:spTree>
    <p:extLst>
      <p:ext uri="{BB962C8B-B14F-4D97-AF65-F5344CB8AC3E}">
        <p14:creationId xmlns:p14="http://schemas.microsoft.com/office/powerpoint/2010/main" val="2104284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4" end="4"/>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4"/>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32" grpId="0"/>
      <p:bldP spid="33" grpId="0"/>
      <p:bldP spid="34" grpId="0"/>
      <p:bldP spid="35" grpId="0"/>
      <p:bldP spid="36" grpId="0"/>
      <p:bldP spid="37" grpId="0"/>
      <p:bldP spid="28"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Betweenness of Social Networks </a:t>
            </a:r>
            <a:endParaRPr lang="en-US" dirty="0"/>
          </a:p>
        </p:txBody>
      </p:sp>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75447" y="1208868"/>
            <a:ext cx="6325068" cy="5447426"/>
          </a:xfrm>
        </p:spPr>
        <p:txBody>
          <a:bodyPr>
            <a:normAutofit/>
          </a:bodyPr>
          <a:lstStyle/>
          <a:p>
            <a:pPr marL="0" indent="0">
              <a:buNone/>
            </a:pPr>
            <a:r>
              <a:rPr lang="en-US" dirty="0"/>
              <a:t>Betweenness centrality found by summing distances while traversing a graph </a:t>
            </a:r>
          </a:p>
          <a:p>
            <a:r>
              <a:rPr lang="en-US" dirty="0"/>
              <a:t>Starting with the most distant nodes</a:t>
            </a:r>
          </a:p>
          <a:p>
            <a:r>
              <a:rPr lang="en-US" dirty="0"/>
              <a:t>Sum distances </a:t>
            </a:r>
          </a:p>
          <a:p>
            <a:r>
              <a:rPr lang="en-US" dirty="0"/>
              <a:t>If multiple paths, divide distance (weight) between paths</a:t>
            </a:r>
          </a:p>
          <a:p>
            <a:r>
              <a:rPr lang="en-US" dirty="0"/>
              <a:t>Continue summing until reaching </a:t>
            </a:r>
            <a:r>
              <a:rPr lang="en-US" i="1" dirty="0"/>
              <a:t>s</a:t>
            </a:r>
          </a:p>
          <a:p>
            <a:endParaRPr lang="en-US" dirty="0"/>
          </a:p>
          <a:p>
            <a:endParaRPr lang="en-US" dirty="0"/>
          </a:p>
        </p:txBody>
      </p:sp>
      <p:sp>
        <p:nvSpPr>
          <p:cNvPr id="4" name="Oval 3">
            <a:extLst>
              <a:ext uri="{FF2B5EF4-FFF2-40B4-BE49-F238E27FC236}">
                <a16:creationId xmlns:a16="http://schemas.microsoft.com/office/drawing/2014/main" id="{1DD10ED4-E26E-401A-BC6D-EE1165960B84}"/>
              </a:ext>
            </a:extLst>
          </p:cNvPr>
          <p:cNvSpPr/>
          <p:nvPr/>
        </p:nvSpPr>
        <p:spPr>
          <a:xfrm>
            <a:off x="9008630" y="1489953"/>
            <a:ext cx="289302" cy="26347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FB06FF23-840F-4EBA-BCB9-3F7E0FABFAB3}"/>
              </a:ext>
            </a:extLst>
          </p:cNvPr>
          <p:cNvSpPr/>
          <p:nvPr/>
        </p:nvSpPr>
        <p:spPr>
          <a:xfrm>
            <a:off x="8166555" y="2727235"/>
            <a:ext cx="289302" cy="26347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385C253-591A-4766-A3D5-F45B08999E40}"/>
              </a:ext>
            </a:extLst>
          </p:cNvPr>
          <p:cNvSpPr/>
          <p:nvPr/>
        </p:nvSpPr>
        <p:spPr>
          <a:xfrm>
            <a:off x="10142589" y="2727235"/>
            <a:ext cx="289302" cy="26347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3F255610-E372-4703-83DD-7A7AC600F670}"/>
              </a:ext>
            </a:extLst>
          </p:cNvPr>
          <p:cNvSpPr/>
          <p:nvPr/>
        </p:nvSpPr>
        <p:spPr>
          <a:xfrm>
            <a:off x="8184637" y="4127248"/>
            <a:ext cx="289302" cy="26347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6C59ACA9-FD68-4BB3-8770-6F2B3D5A04DF}"/>
              </a:ext>
            </a:extLst>
          </p:cNvPr>
          <p:cNvSpPr/>
          <p:nvPr/>
        </p:nvSpPr>
        <p:spPr>
          <a:xfrm>
            <a:off x="10165837" y="4127248"/>
            <a:ext cx="289302" cy="26347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061F4553-B6C5-4CD9-BE29-D5377C69A85E}"/>
              </a:ext>
            </a:extLst>
          </p:cNvPr>
          <p:cNvSpPr/>
          <p:nvPr/>
        </p:nvSpPr>
        <p:spPr>
          <a:xfrm>
            <a:off x="9297932" y="5380027"/>
            <a:ext cx="289302" cy="26347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A7308080-E4B9-42CC-844D-37D2783F9D7C}"/>
              </a:ext>
            </a:extLst>
          </p:cNvPr>
          <p:cNvSpPr/>
          <p:nvPr/>
        </p:nvSpPr>
        <p:spPr>
          <a:xfrm>
            <a:off x="11372122" y="5380026"/>
            <a:ext cx="289302" cy="26347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A0FAB1E5-E57A-48DE-86BE-00E41C08A849}"/>
              </a:ext>
            </a:extLst>
          </p:cNvPr>
          <p:cNvCxnSpPr>
            <a:stCxn id="9" idx="1"/>
            <a:endCxn id="7" idx="5"/>
          </p:cNvCxnSpPr>
          <p:nvPr/>
        </p:nvCxnSpPr>
        <p:spPr>
          <a:xfrm flipH="1" flipV="1">
            <a:off x="8431572" y="4352135"/>
            <a:ext cx="908727" cy="1066476"/>
          </a:xfrm>
          <a:prstGeom prst="straightConnector1">
            <a:avLst/>
          </a:prstGeom>
          <a:ln w="50800">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id="{E57CE33D-345D-4089-964D-838CFA747E11}"/>
              </a:ext>
            </a:extLst>
          </p:cNvPr>
          <p:cNvCxnSpPr>
            <a:cxnSpLocks/>
            <a:stCxn id="7" idx="0"/>
            <a:endCxn id="5" idx="4"/>
          </p:cNvCxnSpPr>
          <p:nvPr/>
        </p:nvCxnSpPr>
        <p:spPr>
          <a:xfrm flipH="1" flipV="1">
            <a:off x="8311206" y="2990706"/>
            <a:ext cx="18082" cy="1136542"/>
          </a:xfrm>
          <a:prstGeom prst="straightConnector1">
            <a:avLst/>
          </a:prstGeom>
          <a:ln w="50800">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CE5789DA-8191-43B0-8590-4FA7CCDC5E9E}"/>
              </a:ext>
            </a:extLst>
          </p:cNvPr>
          <p:cNvCxnSpPr>
            <a:cxnSpLocks/>
            <a:stCxn id="5" idx="0"/>
            <a:endCxn id="4" idx="3"/>
          </p:cNvCxnSpPr>
          <p:nvPr/>
        </p:nvCxnSpPr>
        <p:spPr>
          <a:xfrm flipV="1">
            <a:off x="8311206" y="1714840"/>
            <a:ext cx="739791" cy="1012395"/>
          </a:xfrm>
          <a:prstGeom prst="straightConnector1">
            <a:avLst/>
          </a:prstGeom>
          <a:ln w="50800">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4F75CE8B-8BAB-4134-A187-86954B3DB3C1}"/>
              </a:ext>
            </a:extLst>
          </p:cNvPr>
          <p:cNvCxnSpPr>
            <a:cxnSpLocks/>
            <a:stCxn id="10" idx="1"/>
            <a:endCxn id="8" idx="5"/>
          </p:cNvCxnSpPr>
          <p:nvPr/>
        </p:nvCxnSpPr>
        <p:spPr>
          <a:xfrm flipH="1" flipV="1">
            <a:off x="10412772" y="4352135"/>
            <a:ext cx="1001717" cy="1066475"/>
          </a:xfrm>
          <a:prstGeom prst="straightConnector1">
            <a:avLst/>
          </a:prstGeom>
          <a:ln w="50800">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CDAA9D4C-91E7-4D88-9B5A-1B4F76E249D1}"/>
              </a:ext>
            </a:extLst>
          </p:cNvPr>
          <p:cNvCxnSpPr>
            <a:cxnSpLocks/>
            <a:stCxn id="9" idx="7"/>
            <a:endCxn id="8" idx="3"/>
          </p:cNvCxnSpPr>
          <p:nvPr/>
        </p:nvCxnSpPr>
        <p:spPr>
          <a:xfrm flipV="1">
            <a:off x="9544867" y="4352135"/>
            <a:ext cx="663337" cy="1066476"/>
          </a:xfrm>
          <a:prstGeom prst="straightConnector1">
            <a:avLst/>
          </a:prstGeom>
          <a:ln w="50800">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08D44DDA-4C10-4F89-A435-627F295260CE}"/>
              </a:ext>
            </a:extLst>
          </p:cNvPr>
          <p:cNvCxnSpPr>
            <a:cxnSpLocks/>
            <a:stCxn id="8" idx="0"/>
            <a:endCxn id="6" idx="4"/>
          </p:cNvCxnSpPr>
          <p:nvPr/>
        </p:nvCxnSpPr>
        <p:spPr>
          <a:xfrm flipH="1" flipV="1">
            <a:off x="10287240" y="2990706"/>
            <a:ext cx="23248" cy="1136542"/>
          </a:xfrm>
          <a:prstGeom prst="straightConnector1">
            <a:avLst/>
          </a:prstGeom>
          <a:ln w="50800">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1432364A-B30B-4606-B8DA-7B21DFC0F2D9}"/>
              </a:ext>
            </a:extLst>
          </p:cNvPr>
          <p:cNvCxnSpPr>
            <a:cxnSpLocks/>
            <a:stCxn id="6" idx="0"/>
            <a:endCxn id="4" idx="5"/>
          </p:cNvCxnSpPr>
          <p:nvPr/>
        </p:nvCxnSpPr>
        <p:spPr>
          <a:xfrm flipH="1" flipV="1">
            <a:off x="9255565" y="1714840"/>
            <a:ext cx="1031675" cy="1012395"/>
          </a:xfrm>
          <a:prstGeom prst="straightConnector1">
            <a:avLst/>
          </a:prstGeom>
          <a:ln w="50800">
            <a:tailEnd type="triangle"/>
          </a:ln>
        </p:spPr>
        <p:style>
          <a:lnRef idx="1">
            <a:schemeClr val="dk1"/>
          </a:lnRef>
          <a:fillRef idx="0">
            <a:schemeClr val="dk1"/>
          </a:fillRef>
          <a:effectRef idx="0">
            <a:schemeClr val="dk1"/>
          </a:effectRef>
          <a:fontRef idx="minor">
            <a:schemeClr val="tx1"/>
          </a:fontRef>
        </p:style>
      </p:cxnSp>
      <p:sp>
        <p:nvSpPr>
          <p:cNvPr id="32" name="TextBox 31">
            <a:extLst>
              <a:ext uri="{FF2B5EF4-FFF2-40B4-BE49-F238E27FC236}">
                <a16:creationId xmlns:a16="http://schemas.microsoft.com/office/drawing/2014/main" id="{B8DB6065-F2FA-4B68-ADEF-F68ED62598F3}"/>
              </a:ext>
            </a:extLst>
          </p:cNvPr>
          <p:cNvSpPr txBox="1"/>
          <p:nvPr/>
        </p:nvSpPr>
        <p:spPr>
          <a:xfrm>
            <a:off x="8550923" y="5269445"/>
            <a:ext cx="542441" cy="461665"/>
          </a:xfrm>
          <a:prstGeom prst="rect">
            <a:avLst/>
          </a:prstGeom>
          <a:noFill/>
        </p:spPr>
        <p:txBody>
          <a:bodyPr wrap="square" rtlCol="0">
            <a:spAutoFit/>
          </a:bodyPr>
          <a:lstStyle/>
          <a:p>
            <a:pPr algn="ctr"/>
            <a:r>
              <a:rPr lang="en-US" sz="2400" dirty="0"/>
              <a:t>1</a:t>
            </a:r>
          </a:p>
        </p:txBody>
      </p:sp>
      <p:sp>
        <p:nvSpPr>
          <p:cNvPr id="33" name="TextBox 32">
            <a:extLst>
              <a:ext uri="{FF2B5EF4-FFF2-40B4-BE49-F238E27FC236}">
                <a16:creationId xmlns:a16="http://schemas.microsoft.com/office/drawing/2014/main" id="{3CF0E72D-34CB-43B6-9202-6ACE1AA0DB9C}"/>
              </a:ext>
            </a:extLst>
          </p:cNvPr>
          <p:cNvSpPr txBox="1"/>
          <p:nvPr/>
        </p:nvSpPr>
        <p:spPr>
          <a:xfrm>
            <a:off x="10751152" y="5269445"/>
            <a:ext cx="542441" cy="461665"/>
          </a:xfrm>
          <a:prstGeom prst="rect">
            <a:avLst/>
          </a:prstGeom>
          <a:noFill/>
        </p:spPr>
        <p:txBody>
          <a:bodyPr wrap="square" rtlCol="0">
            <a:spAutoFit/>
          </a:bodyPr>
          <a:lstStyle/>
          <a:p>
            <a:pPr algn="ctr"/>
            <a:r>
              <a:rPr lang="en-US" sz="2400" dirty="0"/>
              <a:t>1</a:t>
            </a:r>
          </a:p>
        </p:txBody>
      </p:sp>
      <p:sp>
        <p:nvSpPr>
          <p:cNvPr id="34" name="TextBox 33">
            <a:extLst>
              <a:ext uri="{FF2B5EF4-FFF2-40B4-BE49-F238E27FC236}">
                <a16:creationId xmlns:a16="http://schemas.microsoft.com/office/drawing/2014/main" id="{B90ECAE6-A880-48E3-BBC7-A20ABC9714A7}"/>
              </a:ext>
            </a:extLst>
          </p:cNvPr>
          <p:cNvSpPr txBox="1"/>
          <p:nvPr/>
        </p:nvSpPr>
        <p:spPr>
          <a:xfrm>
            <a:off x="9557528" y="3997373"/>
            <a:ext cx="542441" cy="461665"/>
          </a:xfrm>
          <a:prstGeom prst="rect">
            <a:avLst/>
          </a:prstGeom>
          <a:noFill/>
        </p:spPr>
        <p:txBody>
          <a:bodyPr wrap="square" rtlCol="0">
            <a:spAutoFit/>
          </a:bodyPr>
          <a:lstStyle/>
          <a:p>
            <a:pPr algn="ctr"/>
            <a:r>
              <a:rPr lang="en-US" sz="2400" dirty="0"/>
              <a:t>1</a:t>
            </a:r>
          </a:p>
        </p:txBody>
      </p:sp>
      <p:sp>
        <p:nvSpPr>
          <p:cNvPr id="35" name="TextBox 34">
            <a:extLst>
              <a:ext uri="{FF2B5EF4-FFF2-40B4-BE49-F238E27FC236}">
                <a16:creationId xmlns:a16="http://schemas.microsoft.com/office/drawing/2014/main" id="{690198ED-2B76-47CD-81ED-8654C6BF11AD}"/>
              </a:ext>
            </a:extLst>
          </p:cNvPr>
          <p:cNvSpPr txBox="1"/>
          <p:nvPr/>
        </p:nvSpPr>
        <p:spPr>
          <a:xfrm>
            <a:off x="7721485" y="4028150"/>
            <a:ext cx="542441" cy="461665"/>
          </a:xfrm>
          <a:prstGeom prst="rect">
            <a:avLst/>
          </a:prstGeom>
          <a:noFill/>
        </p:spPr>
        <p:txBody>
          <a:bodyPr wrap="square" rtlCol="0">
            <a:spAutoFit/>
          </a:bodyPr>
          <a:lstStyle/>
          <a:p>
            <a:pPr algn="ctr"/>
            <a:r>
              <a:rPr lang="en-US" sz="2400" dirty="0"/>
              <a:t>1</a:t>
            </a:r>
          </a:p>
        </p:txBody>
      </p:sp>
      <p:sp>
        <p:nvSpPr>
          <p:cNvPr id="36" name="TextBox 35">
            <a:extLst>
              <a:ext uri="{FF2B5EF4-FFF2-40B4-BE49-F238E27FC236}">
                <a16:creationId xmlns:a16="http://schemas.microsoft.com/office/drawing/2014/main" id="{CC11F1AA-4334-4710-B5BA-B86B2D5281CE}"/>
              </a:ext>
            </a:extLst>
          </p:cNvPr>
          <p:cNvSpPr txBox="1"/>
          <p:nvPr/>
        </p:nvSpPr>
        <p:spPr>
          <a:xfrm>
            <a:off x="8885935" y="986118"/>
            <a:ext cx="542441" cy="461665"/>
          </a:xfrm>
          <a:prstGeom prst="rect">
            <a:avLst/>
          </a:prstGeom>
          <a:noFill/>
        </p:spPr>
        <p:txBody>
          <a:bodyPr wrap="square" rtlCol="0">
            <a:spAutoFit/>
          </a:bodyPr>
          <a:lstStyle/>
          <a:p>
            <a:pPr algn="ctr"/>
            <a:r>
              <a:rPr lang="en-US" sz="2400" b="1" dirty="0"/>
              <a:t>s</a:t>
            </a:r>
          </a:p>
        </p:txBody>
      </p:sp>
      <p:sp>
        <p:nvSpPr>
          <p:cNvPr id="37" name="TextBox 36">
            <a:extLst>
              <a:ext uri="{FF2B5EF4-FFF2-40B4-BE49-F238E27FC236}">
                <a16:creationId xmlns:a16="http://schemas.microsoft.com/office/drawing/2014/main" id="{D540374E-3A83-4113-98CD-201D293E276A}"/>
              </a:ext>
            </a:extLst>
          </p:cNvPr>
          <p:cNvSpPr txBox="1"/>
          <p:nvPr/>
        </p:nvSpPr>
        <p:spPr>
          <a:xfrm>
            <a:off x="9539446" y="2614719"/>
            <a:ext cx="542441" cy="461665"/>
          </a:xfrm>
          <a:prstGeom prst="rect">
            <a:avLst/>
          </a:prstGeom>
          <a:noFill/>
        </p:spPr>
        <p:txBody>
          <a:bodyPr wrap="square" rtlCol="0">
            <a:spAutoFit/>
          </a:bodyPr>
          <a:lstStyle/>
          <a:p>
            <a:pPr algn="ctr"/>
            <a:r>
              <a:rPr lang="en-US" sz="2400" dirty="0"/>
              <a:t>1</a:t>
            </a: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5FFFC57A-F5A9-4D2C-B57E-6DC2B9166E1F}"/>
                  </a:ext>
                </a:extLst>
              </p:cNvPr>
              <p:cNvSpPr txBox="1"/>
              <p:nvPr/>
            </p:nvSpPr>
            <p:spPr>
              <a:xfrm>
                <a:off x="8741156" y="3809501"/>
                <a:ext cx="542441" cy="783804"/>
              </a:xfrm>
              <a:prstGeom prst="rect">
                <a:avLst/>
              </a:prstGeom>
              <a:noFill/>
            </p:spPr>
            <p:txBody>
              <a:bodyPr wrap="square" rtlCol="0">
                <a:spAutoFit/>
              </a:bodyPr>
              <a:lstStyle/>
              <a:p>
                <a:pPr algn="ctr"/>
                <a14:m>
                  <m:oMathPara xmlns:m="http://schemas.openxmlformats.org/officeDocument/2006/math">
                    <m:oMath>
                      <m:f>
                        <m:fPr>
                          <m:ctrlPr>
                            <a:rPr lang="en-US" sz="2400" b="0" i="1" dirty="0" smtClean="0">
                              <a:latin typeface="Cambria Math" panose="02040503050406030204" pitchFamily="18" charset="0"/>
                            </a:rPr>
                          </m:ctrlPr>
                        </m:fPr>
                        <m:num>
                          <m:r>
                            <a:rPr lang="en-US" sz="2400" b="0" i="1" dirty="0" smtClean="0">
                              <a:latin typeface="Cambria Math" panose="02040503050406030204" pitchFamily="18" charset="0"/>
                            </a:rPr>
                            <m:t>3</m:t>
                          </m:r>
                        </m:num>
                        <m:den>
                          <m:r>
                            <a:rPr lang="en-US" sz="2400" b="0" i="1" dirty="0" smtClean="0">
                              <a:latin typeface="Cambria Math" panose="02040503050406030204" pitchFamily="18" charset="0"/>
                            </a:rPr>
                            <m:t>2</m:t>
                          </m:r>
                        </m:den>
                      </m:f>
                    </m:oMath>
                  </m:oMathPara>
                </a14:m>
                <a:endParaRPr lang="en-US" sz="2400" dirty="0"/>
              </a:p>
            </p:txBody>
          </p:sp>
        </mc:Choice>
        <mc:Fallback xmlns="">
          <p:sp>
            <p:nvSpPr>
              <p:cNvPr id="38" name="TextBox 37">
                <a:extLst>
                  <a:ext uri="{FF2B5EF4-FFF2-40B4-BE49-F238E27FC236}">
                    <a16:creationId xmlns:a16="http://schemas.microsoft.com/office/drawing/2014/main" id="{5FFFC57A-F5A9-4D2C-B57E-6DC2B9166E1F}"/>
                  </a:ext>
                </a:extLst>
              </p:cNvPr>
              <p:cNvSpPr txBox="1">
                <a:spLocks noRot="1" noChangeAspect="1" noMove="1" noResize="1" noEditPoints="1" noAdjustHandles="1" noChangeArrowheads="1" noChangeShapeType="1" noTextEdit="1"/>
              </p:cNvSpPr>
              <p:nvPr/>
            </p:nvSpPr>
            <p:spPr>
              <a:xfrm>
                <a:off x="8741156" y="3809501"/>
                <a:ext cx="542441" cy="783804"/>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0C58BAE9-CD90-4863-BBB1-7071626167C5}"/>
                  </a:ext>
                </a:extLst>
              </p:cNvPr>
              <p:cNvSpPr txBox="1"/>
              <p:nvPr/>
            </p:nvSpPr>
            <p:spPr>
              <a:xfrm>
                <a:off x="10724295" y="3808850"/>
                <a:ext cx="542441" cy="815673"/>
              </a:xfrm>
              <a:prstGeom prst="rect">
                <a:avLst/>
              </a:prstGeom>
              <a:noFill/>
            </p:spPr>
            <p:txBody>
              <a:bodyPr wrap="square" rtlCol="0">
                <a:spAutoFit/>
              </a:bodyPr>
              <a:lstStyle/>
              <a:p>
                <a:pPr algn="ctr"/>
                <a14:m>
                  <m:oMathPara xmlns:m="http://schemas.openxmlformats.org/officeDocument/2006/math">
                    <m:oMath>
                      <m:f>
                        <m:fPr>
                          <m:ctrlPr>
                            <a:rPr lang="en-US" sz="2400" b="0" i="1" dirty="0" smtClean="0">
                              <a:latin typeface="Cambria Math" panose="02040503050406030204" pitchFamily="18" charset="0"/>
                            </a:rPr>
                          </m:ctrlPr>
                        </m:fPr>
                        <m:num>
                          <m:r>
                            <a:rPr lang="en-US" sz="2400" b="0" i="1" dirty="0" smtClean="0">
                              <a:latin typeface="Cambria Math" panose="02040503050406030204" pitchFamily="18" charset="0"/>
                            </a:rPr>
                            <m:t>5</m:t>
                          </m:r>
                        </m:num>
                        <m:den>
                          <m:r>
                            <a:rPr lang="en-US" sz="2400" b="0" i="1" dirty="0" smtClean="0">
                              <a:latin typeface="Cambria Math" panose="02040503050406030204" pitchFamily="18" charset="0"/>
                            </a:rPr>
                            <m:t>2</m:t>
                          </m:r>
                        </m:den>
                      </m:f>
                    </m:oMath>
                  </m:oMathPara>
                </a14:m>
                <a:endParaRPr lang="en-US" sz="2400" dirty="0"/>
              </a:p>
            </p:txBody>
          </p:sp>
        </mc:Choice>
        <mc:Fallback xmlns="">
          <p:sp>
            <p:nvSpPr>
              <p:cNvPr id="39" name="TextBox 38">
                <a:extLst>
                  <a:ext uri="{FF2B5EF4-FFF2-40B4-BE49-F238E27FC236}">
                    <a16:creationId xmlns:a16="http://schemas.microsoft.com/office/drawing/2014/main" id="{0C58BAE9-CD90-4863-BBB1-7071626167C5}"/>
                  </a:ext>
                </a:extLst>
              </p:cNvPr>
              <p:cNvSpPr txBox="1">
                <a:spLocks noRot="1" noChangeAspect="1" noMove="1" noResize="1" noEditPoints="1" noAdjustHandles="1" noChangeArrowheads="1" noChangeShapeType="1" noTextEdit="1"/>
              </p:cNvSpPr>
              <p:nvPr/>
            </p:nvSpPr>
            <p:spPr>
              <a:xfrm>
                <a:off x="10724295" y="3808850"/>
                <a:ext cx="542441" cy="815673"/>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C5F3F7C9-1A1B-465F-8C41-CAC5F14DCB88}"/>
                  </a:ext>
                </a:extLst>
              </p:cNvPr>
              <p:cNvSpPr txBox="1"/>
              <p:nvPr/>
            </p:nvSpPr>
            <p:spPr>
              <a:xfrm>
                <a:off x="10515841" y="2437714"/>
                <a:ext cx="542441" cy="781368"/>
              </a:xfrm>
              <a:prstGeom prst="rect">
                <a:avLst/>
              </a:prstGeom>
              <a:noFill/>
            </p:spPr>
            <p:txBody>
              <a:bodyPr wrap="square" rtlCol="0">
                <a:spAutoFit/>
              </a:bodyPr>
              <a:lstStyle/>
              <a:p>
                <a:pPr algn="ctr"/>
                <a14:m>
                  <m:oMathPara xmlns:m="http://schemas.openxmlformats.org/officeDocument/2006/math">
                    <m:oMath>
                      <m:f>
                        <m:fPr>
                          <m:ctrlPr>
                            <a:rPr lang="en-US" sz="2400" b="0" i="1" dirty="0" smtClean="0">
                              <a:latin typeface="Cambria Math" panose="02040503050406030204" pitchFamily="18" charset="0"/>
                            </a:rPr>
                          </m:ctrlPr>
                        </m:fPr>
                        <m:num>
                          <m:r>
                            <a:rPr lang="en-US" sz="2400" b="0" i="1" dirty="0" smtClean="0">
                              <a:latin typeface="Cambria Math" panose="02040503050406030204" pitchFamily="18" charset="0"/>
                            </a:rPr>
                            <m:t>7</m:t>
                          </m:r>
                        </m:num>
                        <m:den>
                          <m:r>
                            <a:rPr lang="en-US" sz="2400" b="0" i="1" dirty="0" smtClean="0">
                              <a:latin typeface="Cambria Math" panose="02040503050406030204" pitchFamily="18" charset="0"/>
                            </a:rPr>
                            <m:t>2</m:t>
                          </m:r>
                        </m:den>
                      </m:f>
                    </m:oMath>
                  </m:oMathPara>
                </a14:m>
                <a:endParaRPr lang="en-US" sz="2400" dirty="0"/>
              </a:p>
            </p:txBody>
          </p:sp>
        </mc:Choice>
        <mc:Fallback xmlns="">
          <p:sp>
            <p:nvSpPr>
              <p:cNvPr id="40" name="TextBox 39">
                <a:extLst>
                  <a:ext uri="{FF2B5EF4-FFF2-40B4-BE49-F238E27FC236}">
                    <a16:creationId xmlns:a16="http://schemas.microsoft.com/office/drawing/2014/main" id="{C5F3F7C9-1A1B-465F-8C41-CAC5F14DCB88}"/>
                  </a:ext>
                </a:extLst>
              </p:cNvPr>
              <p:cNvSpPr txBox="1">
                <a:spLocks noRot="1" noChangeAspect="1" noMove="1" noResize="1" noEditPoints="1" noAdjustHandles="1" noChangeArrowheads="1" noChangeShapeType="1" noTextEdit="1"/>
              </p:cNvSpPr>
              <p:nvPr/>
            </p:nvSpPr>
            <p:spPr>
              <a:xfrm>
                <a:off x="10515841" y="2437714"/>
                <a:ext cx="542441" cy="781368"/>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1B2990C9-3243-43EC-A09F-12228B07C3CE}"/>
                  </a:ext>
                </a:extLst>
              </p:cNvPr>
              <p:cNvSpPr txBox="1"/>
              <p:nvPr/>
            </p:nvSpPr>
            <p:spPr>
              <a:xfrm>
                <a:off x="8574675" y="2491583"/>
                <a:ext cx="542441" cy="783804"/>
              </a:xfrm>
              <a:prstGeom prst="rect">
                <a:avLst/>
              </a:prstGeom>
              <a:noFill/>
            </p:spPr>
            <p:txBody>
              <a:bodyPr wrap="square" rtlCol="0">
                <a:spAutoFit/>
              </a:bodyPr>
              <a:lstStyle/>
              <a:p>
                <a:pPr algn="ctr"/>
                <a14:m>
                  <m:oMathPara xmlns:m="http://schemas.openxmlformats.org/officeDocument/2006/math">
                    <m:oMath>
                      <m:f>
                        <m:fPr>
                          <m:ctrlPr>
                            <a:rPr lang="en-US" sz="2400" b="0" i="1" dirty="0" smtClean="0">
                              <a:latin typeface="Cambria Math" panose="02040503050406030204" pitchFamily="18" charset="0"/>
                            </a:rPr>
                          </m:ctrlPr>
                        </m:fPr>
                        <m:num>
                          <m:r>
                            <a:rPr lang="en-US" sz="2400" b="0" i="1" dirty="0" smtClean="0">
                              <a:latin typeface="Cambria Math" panose="02040503050406030204" pitchFamily="18" charset="0"/>
                            </a:rPr>
                            <m:t>5</m:t>
                          </m:r>
                        </m:num>
                        <m:den>
                          <m:r>
                            <a:rPr lang="en-US" sz="2400" b="0" i="1" dirty="0" smtClean="0">
                              <a:latin typeface="Cambria Math" panose="02040503050406030204" pitchFamily="18" charset="0"/>
                            </a:rPr>
                            <m:t>2</m:t>
                          </m:r>
                        </m:den>
                      </m:f>
                    </m:oMath>
                  </m:oMathPara>
                </a14:m>
                <a:endParaRPr lang="en-US" sz="2400" dirty="0"/>
              </a:p>
            </p:txBody>
          </p:sp>
        </mc:Choice>
        <mc:Fallback xmlns="">
          <p:sp>
            <p:nvSpPr>
              <p:cNvPr id="41" name="TextBox 40">
                <a:extLst>
                  <a:ext uri="{FF2B5EF4-FFF2-40B4-BE49-F238E27FC236}">
                    <a16:creationId xmlns:a16="http://schemas.microsoft.com/office/drawing/2014/main" id="{1B2990C9-3243-43EC-A09F-12228B07C3CE}"/>
                  </a:ext>
                </a:extLst>
              </p:cNvPr>
              <p:cNvSpPr txBox="1">
                <a:spLocks noRot="1" noChangeAspect="1" noMove="1" noResize="1" noEditPoints="1" noAdjustHandles="1" noChangeArrowheads="1" noChangeShapeType="1" noTextEdit="1"/>
              </p:cNvSpPr>
              <p:nvPr/>
            </p:nvSpPr>
            <p:spPr>
              <a:xfrm>
                <a:off x="8574675" y="2491583"/>
                <a:ext cx="542441" cy="783804"/>
              </a:xfrm>
              <a:prstGeom prst="rect">
                <a:avLst/>
              </a:prstGeom>
              <a:blipFill>
                <a:blip r:embed="rId5"/>
                <a:stretch>
                  <a:fillRect/>
                </a:stretch>
              </a:blipFill>
            </p:spPr>
            <p:txBody>
              <a:bodyPr/>
              <a:lstStyle/>
              <a:p>
                <a:r>
                  <a:rPr lang="en-US">
                    <a:noFill/>
                  </a:rPr>
                  <a:t> </a:t>
                </a:r>
              </a:p>
            </p:txBody>
          </p:sp>
        </mc:Fallback>
      </mc:AlternateContent>
      <p:sp>
        <p:nvSpPr>
          <p:cNvPr id="28" name="TextBox 27">
            <a:extLst>
              <a:ext uri="{FF2B5EF4-FFF2-40B4-BE49-F238E27FC236}">
                <a16:creationId xmlns:a16="http://schemas.microsoft.com/office/drawing/2014/main" id="{68ADF6B1-60B4-43C4-AC7D-DF41D262DC60}"/>
              </a:ext>
            </a:extLst>
          </p:cNvPr>
          <p:cNvSpPr txBox="1"/>
          <p:nvPr/>
        </p:nvSpPr>
        <p:spPr>
          <a:xfrm>
            <a:off x="7700315" y="2795228"/>
            <a:ext cx="542441" cy="461665"/>
          </a:xfrm>
          <a:prstGeom prst="rect">
            <a:avLst/>
          </a:prstGeom>
          <a:noFill/>
        </p:spPr>
        <p:txBody>
          <a:bodyPr wrap="square" rtlCol="0">
            <a:spAutoFit/>
          </a:bodyPr>
          <a:lstStyle/>
          <a:p>
            <a:pPr algn="ctr"/>
            <a:r>
              <a:rPr lang="en-US" sz="2400" dirty="0"/>
              <a:t>1</a:t>
            </a:r>
          </a:p>
        </p:txBody>
      </p:sp>
    </p:spTree>
    <p:extLst>
      <p:ext uri="{BB962C8B-B14F-4D97-AF65-F5344CB8AC3E}">
        <p14:creationId xmlns:p14="http://schemas.microsoft.com/office/powerpoint/2010/main" val="2382090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9" grpId="0"/>
      <p:bldP spid="40" grpId="0"/>
      <p:bldP spid="41"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A3F747-8121-68C5-E10E-3B7A3A9382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809CE5-CDEA-5E3B-84E4-0292FBB52622}"/>
              </a:ext>
            </a:extLst>
          </p:cNvPr>
          <p:cNvSpPr>
            <a:spLocks noGrp="1"/>
          </p:cNvSpPr>
          <p:nvPr>
            <p:ph type="title"/>
          </p:nvPr>
        </p:nvSpPr>
        <p:spPr>
          <a:xfrm>
            <a:off x="838200" y="365125"/>
            <a:ext cx="10515600" cy="620993"/>
          </a:xfrm>
        </p:spPr>
        <p:txBody>
          <a:bodyPr>
            <a:normAutofit fontScale="90000"/>
          </a:bodyPr>
          <a:lstStyle/>
          <a:p>
            <a:r>
              <a:rPr lang="en-US" dirty="0">
                <a:latin typeface="+mn-lt"/>
              </a:rPr>
              <a:t>Betweenness of Social Networks </a:t>
            </a:r>
            <a:endParaRPr lang="en-US" dirty="0"/>
          </a:p>
        </p:txBody>
      </p:sp>
      <p:sp>
        <p:nvSpPr>
          <p:cNvPr id="3" name="Content Placeholder 2">
            <a:extLst>
              <a:ext uri="{FF2B5EF4-FFF2-40B4-BE49-F238E27FC236}">
                <a16:creationId xmlns:a16="http://schemas.microsoft.com/office/drawing/2014/main" id="{B3C9307C-7E45-1373-357C-52D27F2518FF}"/>
              </a:ext>
            </a:extLst>
          </p:cNvPr>
          <p:cNvSpPr>
            <a:spLocks noGrp="1"/>
          </p:cNvSpPr>
          <p:nvPr>
            <p:ph idx="1"/>
          </p:nvPr>
        </p:nvSpPr>
        <p:spPr>
          <a:xfrm>
            <a:off x="775447" y="2314414"/>
            <a:ext cx="5217231" cy="4241369"/>
          </a:xfrm>
        </p:spPr>
        <p:txBody>
          <a:bodyPr>
            <a:normAutofit/>
          </a:bodyPr>
          <a:lstStyle/>
          <a:p>
            <a:r>
              <a:rPr lang="en-US" dirty="0"/>
              <a:t>Betweenness can be computed for both nodes and edges</a:t>
            </a:r>
          </a:p>
          <a:p>
            <a:r>
              <a:rPr lang="en-US" dirty="0"/>
              <a:t>High betweenness nodes and edges lie between communities </a:t>
            </a:r>
          </a:p>
          <a:p>
            <a:endParaRPr lang="en-US" dirty="0"/>
          </a:p>
          <a:p>
            <a:endParaRPr lang="en-US" dirty="0"/>
          </a:p>
        </p:txBody>
      </p:sp>
      <p:pic>
        <p:nvPicPr>
          <p:cNvPr id="14" name="Picture 13">
            <a:extLst>
              <a:ext uri="{FF2B5EF4-FFF2-40B4-BE49-F238E27FC236}">
                <a16:creationId xmlns:a16="http://schemas.microsoft.com/office/drawing/2014/main" id="{BB351C4F-B45E-FADB-5EB2-922437753ABE}"/>
              </a:ext>
            </a:extLst>
          </p:cNvPr>
          <p:cNvPicPr>
            <a:picLocks noChangeAspect="1"/>
          </p:cNvPicPr>
          <p:nvPr/>
        </p:nvPicPr>
        <p:blipFill>
          <a:blip r:embed="rId2"/>
          <a:stretch>
            <a:fillRect/>
          </a:stretch>
        </p:blipFill>
        <p:spPr>
          <a:xfrm>
            <a:off x="6199323" y="1838679"/>
            <a:ext cx="5992678" cy="4977991"/>
          </a:xfrm>
          <a:prstGeom prst="rect">
            <a:avLst/>
          </a:prstGeom>
        </p:spPr>
      </p:pic>
      <p:sp>
        <p:nvSpPr>
          <p:cNvPr id="15" name="Content Placeholder 2">
            <a:extLst>
              <a:ext uri="{FF2B5EF4-FFF2-40B4-BE49-F238E27FC236}">
                <a16:creationId xmlns:a16="http://schemas.microsoft.com/office/drawing/2014/main" id="{8B86F25C-10DB-6240-8268-185CEA5E6429}"/>
              </a:ext>
            </a:extLst>
          </p:cNvPr>
          <p:cNvSpPr txBox="1">
            <a:spLocks/>
          </p:cNvSpPr>
          <p:nvPr/>
        </p:nvSpPr>
        <p:spPr>
          <a:xfrm>
            <a:off x="609600" y="1260528"/>
            <a:ext cx="10515600" cy="85279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Betweenness centrality found by summing distances while traversing a graph </a:t>
            </a:r>
          </a:p>
        </p:txBody>
      </p:sp>
    </p:spTree>
    <p:extLst>
      <p:ext uri="{BB962C8B-B14F-4D97-AF65-F5344CB8AC3E}">
        <p14:creationId xmlns:p14="http://schemas.microsoft.com/office/powerpoint/2010/main" val="1002702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4FA98-1458-8C4C-0082-9D3C0E6909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F26731-C312-9E89-3137-ACD78BAB9D08}"/>
              </a:ext>
            </a:extLst>
          </p:cNvPr>
          <p:cNvSpPr>
            <a:spLocks noGrp="1"/>
          </p:cNvSpPr>
          <p:nvPr>
            <p:ph type="title"/>
          </p:nvPr>
        </p:nvSpPr>
        <p:spPr>
          <a:xfrm>
            <a:off x="831850" y="1709738"/>
            <a:ext cx="10515600" cy="2282271"/>
          </a:xfrm>
        </p:spPr>
        <p:txBody>
          <a:bodyPr/>
          <a:lstStyle/>
          <a:p>
            <a:pPr algn="ctr"/>
            <a:r>
              <a:rPr lang="en-US" dirty="0"/>
              <a:t>Cliques and K-Cores</a:t>
            </a:r>
          </a:p>
        </p:txBody>
      </p:sp>
    </p:spTree>
    <p:extLst>
      <p:ext uri="{BB962C8B-B14F-4D97-AF65-F5344CB8AC3E}">
        <p14:creationId xmlns:p14="http://schemas.microsoft.com/office/powerpoint/2010/main" val="285932409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Cliques and K-Cores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75447" y="1208868"/>
                <a:ext cx="10515600" cy="5447426"/>
              </a:xfrm>
            </p:spPr>
            <p:txBody>
              <a:bodyPr>
                <a:normAutofit lnSpcReduction="10000"/>
              </a:bodyPr>
              <a:lstStyle/>
              <a:p>
                <a:pPr marL="0" indent="0">
                  <a:buNone/>
                </a:pPr>
                <a:r>
                  <a:rPr lang="en-US" b="1" dirty="0"/>
                  <a:t>Cliques are fully connected regions </a:t>
                </a:r>
                <a:r>
                  <a:rPr lang="en-US" dirty="0"/>
                  <a:t>of a graph</a:t>
                </a:r>
              </a:p>
              <a:p>
                <a:r>
                  <a:rPr lang="en-US" dirty="0"/>
                  <a:t>Each node is connected to all neighbors in a clique</a:t>
                </a:r>
              </a:p>
              <a:p>
                <a:r>
                  <a:rPr lang="en-US" dirty="0"/>
                  <a:t>Examples of cliques</a:t>
                </a:r>
              </a:p>
              <a:p>
                <a:endParaRPr lang="en-US" dirty="0"/>
              </a:p>
              <a:p>
                <a:endParaRPr lang="en-US" dirty="0"/>
              </a:p>
              <a:p>
                <a:endParaRPr lang="en-US" dirty="0"/>
              </a:p>
              <a:p>
                <a:endParaRPr lang="en-US" dirty="0"/>
              </a:p>
              <a:p>
                <a:r>
                  <a:rPr lang="en-US" dirty="0"/>
                  <a:t>Number of edges, </a:t>
                </a:r>
                <a14:m>
                  <m:oMath xmlns:m="http://schemas.openxmlformats.org/officeDocument/2006/math">
                    <m:r>
                      <a:rPr lang="en-US" b="0" i="1" smtClean="0">
                        <a:latin typeface="Cambria Math" panose="02040503050406030204" pitchFamily="18" charset="0"/>
                      </a:rPr>
                      <m:t>𝑚</m:t>
                    </m:r>
                  </m:oMath>
                </a14:m>
                <a:r>
                  <a:rPr lang="en-US" dirty="0"/>
                  <a:t>, required to form an undirected clique from </a:t>
                </a:r>
                <a14:m>
                  <m:oMath xmlns:m="http://schemas.openxmlformats.org/officeDocument/2006/math">
                    <m:r>
                      <a:rPr lang="en-US" b="0" i="1" smtClean="0">
                        <a:latin typeface="Cambria Math" panose="02040503050406030204" pitchFamily="18" charset="0"/>
                      </a:rPr>
                      <m:t>𝑛</m:t>
                    </m:r>
                  </m:oMath>
                </a14:m>
                <a:r>
                  <a:rPr lang="en-US" b="0" i="1" dirty="0">
                    <a:latin typeface="Cambria Math" panose="02040503050406030204" pitchFamily="18" charset="0"/>
                  </a:rPr>
                  <a:t> </a:t>
                </a:r>
                <a:r>
                  <a:rPr lang="en-US" b="0" dirty="0"/>
                  <a:t>nodes:</a:t>
                </a:r>
                <a:r>
                  <a:rPr lang="en-US" b="0" i="1" dirty="0">
                    <a:latin typeface="Cambria Math" panose="02040503050406030204" pitchFamily="18" charset="0"/>
                  </a:rPr>
                  <a:t> </a:t>
                </a:r>
              </a:p>
              <a:p>
                <a:pPr marL="0" indent="0">
                  <a:buNone/>
                </a:pPr>
                <a:r>
                  <a:rPr lang="en-US" b="0" dirty="0"/>
                  <a:t>		</a:t>
                </a:r>
                <a14:m>
                  <m:oMath xmlns:m="http://schemas.openxmlformats.org/officeDocument/2006/math">
                    <m:r>
                      <a:rPr lang="en-US" b="0" i="1" smtClean="0">
                        <a:latin typeface="Cambria Math" panose="02040503050406030204" pitchFamily="18" charset="0"/>
                      </a:rPr>
                      <m:t>𝑚</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𝑛</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−1</m:t>
                            </m:r>
                          </m:e>
                        </m:d>
                      </m:num>
                      <m:den>
                        <m:r>
                          <a:rPr lang="en-US" b="0" i="1" smtClean="0">
                            <a:latin typeface="Cambria Math" panose="02040503050406030204" pitchFamily="18" charset="0"/>
                          </a:rPr>
                          <m:t>2</m:t>
                        </m:r>
                      </m:den>
                    </m:f>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𝑂</m:t>
                    </m:r>
                    <m:d>
                      <m:dPr>
                        <m:ctrlPr>
                          <a:rPr lang="en-US" b="0" i="1" smtClean="0">
                            <a:latin typeface="Cambria Math" panose="02040503050406030204" pitchFamily="18" charset="0"/>
                            <a:ea typeface="Cambria Math" panose="02040503050406030204" pitchFamily="18" charset="0"/>
                          </a:rPr>
                        </m:ctrlPr>
                      </m:dPr>
                      <m:e>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𝑛</m:t>
                            </m:r>
                          </m:e>
                          <m:sup>
                            <m:r>
                              <a:rPr lang="en-US" b="0" i="1" smtClean="0">
                                <a:latin typeface="Cambria Math" panose="02040503050406030204" pitchFamily="18" charset="0"/>
                                <a:ea typeface="Cambria Math" panose="02040503050406030204" pitchFamily="18" charset="0"/>
                              </a:rPr>
                              <m:t>2</m:t>
                            </m:r>
                          </m:sup>
                        </m:sSup>
                      </m:e>
                    </m:d>
                  </m:oMath>
                </a14:m>
                <a:r>
                  <a:rPr lang="en-US" dirty="0"/>
                  <a:t> </a:t>
                </a:r>
              </a:p>
              <a:p>
                <a:r>
                  <a:rPr lang="en-US" dirty="0"/>
                  <a:t>For order of clique </a:t>
                </a:r>
                <a14:m>
                  <m:oMath xmlns:m="http://schemas.openxmlformats.org/officeDocument/2006/math">
                    <m:r>
                      <a:rPr lang="en-US" b="0" i="1" smtClean="0">
                        <a:latin typeface="Cambria Math" panose="02040503050406030204" pitchFamily="18" charset="0"/>
                        <a:ea typeface="Cambria Math" panose="02040503050406030204" pitchFamily="18" charset="0"/>
                      </a:rPr>
                      <m:t>≥3</m:t>
                    </m:r>
                  </m:oMath>
                </a14:m>
                <a:r>
                  <a:rPr lang="en-US" dirty="0"/>
                  <a:t> the </a:t>
                </a:r>
                <a:r>
                  <a:rPr lang="en-US" b="1" dirty="0"/>
                  <a:t>nodes are vertices of triangles</a:t>
                </a:r>
              </a:p>
            </p:txBody>
          </p:sp>
        </mc:Choice>
        <mc:Fallback xmlns="">
          <p:sp>
            <p:nvSpPr>
              <p:cNvPr id="3" name="Content Placeholder 2">
                <a:extLst>
                  <a:ext uri="{FF2B5EF4-FFF2-40B4-BE49-F238E27FC236}">
                    <a16:creationId xmlns:a16="http://schemas.microsoft.com/office/drawing/2014/main" id="{CA03134D-F068-4BC9-B038-F3D5CBDDE3F9}"/>
                  </a:ext>
                </a:extLst>
              </p:cNvPr>
              <p:cNvSpPr>
                <a:spLocks noGrp="1" noRot="1" noChangeAspect="1" noMove="1" noResize="1" noEditPoints="1" noAdjustHandles="1" noChangeArrowheads="1" noChangeShapeType="1" noTextEdit="1"/>
              </p:cNvSpPr>
              <p:nvPr>
                <p:ph idx="1"/>
              </p:nvPr>
            </p:nvSpPr>
            <p:spPr>
              <a:xfrm>
                <a:off x="775447" y="1208868"/>
                <a:ext cx="10515600" cy="5447426"/>
              </a:xfrm>
              <a:blipFill>
                <a:blip r:embed="rId2"/>
                <a:stretch>
                  <a:fillRect l="-1159" t="-2461"/>
                </a:stretch>
              </a:blipFill>
            </p:spPr>
            <p:txBody>
              <a:bodyPr/>
              <a:lstStyle/>
              <a:p>
                <a:r>
                  <a:rPr lang="en-US">
                    <a:noFill/>
                  </a:rPr>
                  <a:t> </a:t>
                </a:r>
              </a:p>
            </p:txBody>
          </p:sp>
        </mc:Fallback>
      </mc:AlternateContent>
      <p:sp>
        <p:nvSpPr>
          <p:cNvPr id="4" name="Oval 3">
            <a:extLst>
              <a:ext uri="{FF2B5EF4-FFF2-40B4-BE49-F238E27FC236}">
                <a16:creationId xmlns:a16="http://schemas.microsoft.com/office/drawing/2014/main" id="{40BD03B8-59B3-4D9A-884E-B28099BA3AE9}"/>
              </a:ext>
            </a:extLst>
          </p:cNvPr>
          <p:cNvSpPr/>
          <p:nvPr/>
        </p:nvSpPr>
        <p:spPr>
          <a:xfrm>
            <a:off x="3058635" y="2939902"/>
            <a:ext cx="228600" cy="21265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04CFB4D1-BDFC-4546-BFE6-86090502AB1F}"/>
              </a:ext>
            </a:extLst>
          </p:cNvPr>
          <p:cNvSpPr/>
          <p:nvPr/>
        </p:nvSpPr>
        <p:spPr>
          <a:xfrm>
            <a:off x="3509633" y="3601674"/>
            <a:ext cx="228600" cy="21265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A0BFBFA-7010-4402-80CF-5A2DD21FAB98}"/>
              </a:ext>
            </a:extLst>
          </p:cNvPr>
          <p:cNvSpPr/>
          <p:nvPr/>
        </p:nvSpPr>
        <p:spPr>
          <a:xfrm>
            <a:off x="4002119" y="2934585"/>
            <a:ext cx="228600" cy="21265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09B590CC-B673-438E-A534-FACF0C6CA0F9}"/>
              </a:ext>
            </a:extLst>
          </p:cNvPr>
          <p:cNvCxnSpPr>
            <a:cxnSpLocks/>
            <a:stCxn id="4" idx="6"/>
            <a:endCxn id="6" idx="2"/>
          </p:cNvCxnSpPr>
          <p:nvPr/>
        </p:nvCxnSpPr>
        <p:spPr>
          <a:xfrm flipV="1">
            <a:off x="3287235" y="3040911"/>
            <a:ext cx="714884" cy="531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40E4BDB-9DAE-4118-A532-06FA2B3B75B9}"/>
              </a:ext>
            </a:extLst>
          </p:cNvPr>
          <p:cNvCxnSpPr>
            <a:cxnSpLocks/>
            <a:stCxn id="4" idx="4"/>
            <a:endCxn id="5" idx="1"/>
          </p:cNvCxnSpPr>
          <p:nvPr/>
        </p:nvCxnSpPr>
        <p:spPr>
          <a:xfrm>
            <a:off x="3172935" y="3152553"/>
            <a:ext cx="370176" cy="48026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622F482-CE2E-4B36-8CEF-F822774254C5}"/>
              </a:ext>
            </a:extLst>
          </p:cNvPr>
          <p:cNvCxnSpPr>
            <a:cxnSpLocks/>
            <a:stCxn id="6" idx="4"/>
            <a:endCxn id="5" idx="7"/>
          </p:cNvCxnSpPr>
          <p:nvPr/>
        </p:nvCxnSpPr>
        <p:spPr>
          <a:xfrm flipH="1">
            <a:off x="3704755" y="3147236"/>
            <a:ext cx="411664" cy="48558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E7BE59D5-06E1-4466-B5FD-778173DCE4F0}"/>
              </a:ext>
            </a:extLst>
          </p:cNvPr>
          <p:cNvSpPr/>
          <p:nvPr/>
        </p:nvSpPr>
        <p:spPr>
          <a:xfrm>
            <a:off x="5923097" y="2939902"/>
            <a:ext cx="228600" cy="21265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EDA23E0A-C81C-472D-B828-4E5816EBD4BF}"/>
              </a:ext>
            </a:extLst>
          </p:cNvPr>
          <p:cNvSpPr/>
          <p:nvPr/>
        </p:nvSpPr>
        <p:spPr>
          <a:xfrm>
            <a:off x="5923097" y="3677399"/>
            <a:ext cx="228600" cy="21265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8EF2B8C5-EE98-4F40-B302-049F65EA8202}"/>
              </a:ext>
            </a:extLst>
          </p:cNvPr>
          <p:cNvSpPr/>
          <p:nvPr/>
        </p:nvSpPr>
        <p:spPr>
          <a:xfrm>
            <a:off x="6866581" y="2934585"/>
            <a:ext cx="228600" cy="21265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4B020F90-3904-4ECE-BD12-F5478593670D}"/>
              </a:ext>
            </a:extLst>
          </p:cNvPr>
          <p:cNvCxnSpPr>
            <a:cxnSpLocks/>
            <a:stCxn id="17" idx="6"/>
            <a:endCxn id="19" idx="2"/>
          </p:cNvCxnSpPr>
          <p:nvPr/>
        </p:nvCxnSpPr>
        <p:spPr>
          <a:xfrm flipV="1">
            <a:off x="6151697" y="3040911"/>
            <a:ext cx="714884" cy="531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0793BE1-3413-4564-8FB3-4DE87DBB01C1}"/>
              </a:ext>
            </a:extLst>
          </p:cNvPr>
          <p:cNvCxnSpPr>
            <a:cxnSpLocks/>
            <a:stCxn id="17" idx="4"/>
            <a:endCxn id="18" idx="0"/>
          </p:cNvCxnSpPr>
          <p:nvPr/>
        </p:nvCxnSpPr>
        <p:spPr>
          <a:xfrm>
            <a:off x="6037397" y="3152553"/>
            <a:ext cx="0" cy="52484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694E58B-219D-4193-A294-BF83CCA61760}"/>
              </a:ext>
            </a:extLst>
          </p:cNvPr>
          <p:cNvCxnSpPr>
            <a:cxnSpLocks/>
            <a:stCxn id="19" idx="3"/>
            <a:endCxn id="18" idx="7"/>
          </p:cNvCxnSpPr>
          <p:nvPr/>
        </p:nvCxnSpPr>
        <p:spPr>
          <a:xfrm flipH="1">
            <a:off x="6118219" y="3116094"/>
            <a:ext cx="781840" cy="59244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Oval 28">
            <a:extLst>
              <a:ext uri="{FF2B5EF4-FFF2-40B4-BE49-F238E27FC236}">
                <a16:creationId xmlns:a16="http://schemas.microsoft.com/office/drawing/2014/main" id="{63281E21-48BC-406D-B496-DB6BA8A35E3D}"/>
              </a:ext>
            </a:extLst>
          </p:cNvPr>
          <p:cNvSpPr/>
          <p:nvPr/>
        </p:nvSpPr>
        <p:spPr>
          <a:xfrm>
            <a:off x="1337019" y="3030277"/>
            <a:ext cx="228600" cy="21265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FFE9A829-D9CD-41F6-94C3-8464548E892C}"/>
              </a:ext>
            </a:extLst>
          </p:cNvPr>
          <p:cNvSpPr/>
          <p:nvPr/>
        </p:nvSpPr>
        <p:spPr>
          <a:xfrm>
            <a:off x="1337019" y="3731059"/>
            <a:ext cx="228600" cy="21265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1" name="Straight Connector 30">
            <a:extLst>
              <a:ext uri="{FF2B5EF4-FFF2-40B4-BE49-F238E27FC236}">
                <a16:creationId xmlns:a16="http://schemas.microsoft.com/office/drawing/2014/main" id="{264B782D-6D7B-4BC4-83FA-47ABAF1C8136}"/>
              </a:ext>
            </a:extLst>
          </p:cNvPr>
          <p:cNvCxnSpPr>
            <a:cxnSpLocks/>
            <a:stCxn id="29" idx="4"/>
            <a:endCxn id="30" idx="0"/>
          </p:cNvCxnSpPr>
          <p:nvPr/>
        </p:nvCxnSpPr>
        <p:spPr>
          <a:xfrm>
            <a:off x="1451319" y="3242928"/>
            <a:ext cx="0" cy="48813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Oval 35">
            <a:extLst>
              <a:ext uri="{FF2B5EF4-FFF2-40B4-BE49-F238E27FC236}">
                <a16:creationId xmlns:a16="http://schemas.microsoft.com/office/drawing/2014/main" id="{300B5CA6-D056-404B-A294-7BB6637DFFC7}"/>
              </a:ext>
            </a:extLst>
          </p:cNvPr>
          <p:cNvSpPr/>
          <p:nvPr/>
        </p:nvSpPr>
        <p:spPr>
          <a:xfrm>
            <a:off x="6883320" y="3672411"/>
            <a:ext cx="228600" cy="21265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 name="Straight Connector 40">
            <a:extLst>
              <a:ext uri="{FF2B5EF4-FFF2-40B4-BE49-F238E27FC236}">
                <a16:creationId xmlns:a16="http://schemas.microsoft.com/office/drawing/2014/main" id="{C9CAF639-5DFA-46EB-A029-C48C014AE169}"/>
              </a:ext>
            </a:extLst>
          </p:cNvPr>
          <p:cNvCxnSpPr>
            <a:cxnSpLocks/>
            <a:stCxn id="17" idx="5"/>
            <a:endCxn id="36" idx="1"/>
          </p:cNvCxnSpPr>
          <p:nvPr/>
        </p:nvCxnSpPr>
        <p:spPr>
          <a:xfrm>
            <a:off x="6118219" y="3121411"/>
            <a:ext cx="798579" cy="58214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13E14D44-3995-4900-B54A-19DC9F3D233B}"/>
              </a:ext>
            </a:extLst>
          </p:cNvPr>
          <p:cNvCxnSpPr>
            <a:cxnSpLocks/>
            <a:stCxn id="19" idx="4"/>
            <a:endCxn id="36" idx="0"/>
          </p:cNvCxnSpPr>
          <p:nvPr/>
        </p:nvCxnSpPr>
        <p:spPr>
          <a:xfrm>
            <a:off x="6980881" y="3147236"/>
            <a:ext cx="16739" cy="52517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3960C35E-9D98-441F-9738-A1E2BA59D81B}"/>
              </a:ext>
            </a:extLst>
          </p:cNvPr>
          <p:cNvCxnSpPr>
            <a:cxnSpLocks/>
            <a:stCxn id="18" idx="6"/>
            <a:endCxn id="36" idx="2"/>
          </p:cNvCxnSpPr>
          <p:nvPr/>
        </p:nvCxnSpPr>
        <p:spPr>
          <a:xfrm flipV="1">
            <a:off x="6151697" y="3778737"/>
            <a:ext cx="731623" cy="49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5" name="Oval 54">
            <a:extLst>
              <a:ext uri="{FF2B5EF4-FFF2-40B4-BE49-F238E27FC236}">
                <a16:creationId xmlns:a16="http://schemas.microsoft.com/office/drawing/2014/main" id="{E397948C-357E-4BF0-A63F-F6233E211A85}"/>
              </a:ext>
            </a:extLst>
          </p:cNvPr>
          <p:cNvSpPr/>
          <p:nvPr/>
        </p:nvSpPr>
        <p:spPr>
          <a:xfrm>
            <a:off x="8637880" y="2618911"/>
            <a:ext cx="228600" cy="21265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8905EF05-CD8A-4D0A-AB16-E89ECDB2A4AB}"/>
              </a:ext>
            </a:extLst>
          </p:cNvPr>
          <p:cNvSpPr/>
          <p:nvPr/>
        </p:nvSpPr>
        <p:spPr>
          <a:xfrm>
            <a:off x="8334066" y="3323002"/>
            <a:ext cx="228600" cy="21265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52E697D6-D95F-4976-84F4-932ECD5B9B94}"/>
              </a:ext>
            </a:extLst>
          </p:cNvPr>
          <p:cNvSpPr/>
          <p:nvPr/>
        </p:nvSpPr>
        <p:spPr>
          <a:xfrm>
            <a:off x="9483022" y="2608279"/>
            <a:ext cx="228600" cy="21265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8" name="Straight Connector 57">
            <a:extLst>
              <a:ext uri="{FF2B5EF4-FFF2-40B4-BE49-F238E27FC236}">
                <a16:creationId xmlns:a16="http://schemas.microsoft.com/office/drawing/2014/main" id="{DCFAB3CF-E6E9-48BD-9054-3D0753036ABD}"/>
              </a:ext>
            </a:extLst>
          </p:cNvPr>
          <p:cNvCxnSpPr>
            <a:cxnSpLocks/>
            <a:stCxn id="55" idx="6"/>
            <a:endCxn id="57" idx="2"/>
          </p:cNvCxnSpPr>
          <p:nvPr/>
        </p:nvCxnSpPr>
        <p:spPr>
          <a:xfrm flipV="1">
            <a:off x="8866480" y="2714605"/>
            <a:ext cx="616542" cy="1063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7D71769F-2B8D-41AF-BAD9-1F4A0F1E1439}"/>
              </a:ext>
            </a:extLst>
          </p:cNvPr>
          <p:cNvCxnSpPr>
            <a:cxnSpLocks/>
            <a:stCxn id="55" idx="3"/>
            <a:endCxn id="56" idx="0"/>
          </p:cNvCxnSpPr>
          <p:nvPr/>
        </p:nvCxnSpPr>
        <p:spPr>
          <a:xfrm flipH="1">
            <a:off x="8448366" y="2800420"/>
            <a:ext cx="222992" cy="52258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73F463B8-F779-40FC-B8DB-1591AC2A43E2}"/>
              </a:ext>
            </a:extLst>
          </p:cNvPr>
          <p:cNvCxnSpPr>
            <a:cxnSpLocks/>
            <a:stCxn id="57" idx="3"/>
            <a:endCxn id="56" idx="7"/>
          </p:cNvCxnSpPr>
          <p:nvPr/>
        </p:nvCxnSpPr>
        <p:spPr>
          <a:xfrm flipH="1">
            <a:off x="8529188" y="2789788"/>
            <a:ext cx="987312" cy="56435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Oval 60">
            <a:extLst>
              <a:ext uri="{FF2B5EF4-FFF2-40B4-BE49-F238E27FC236}">
                <a16:creationId xmlns:a16="http://schemas.microsoft.com/office/drawing/2014/main" id="{0D7144E3-E798-4B8D-A142-2309B4AC062B}"/>
              </a:ext>
            </a:extLst>
          </p:cNvPr>
          <p:cNvSpPr/>
          <p:nvPr/>
        </p:nvSpPr>
        <p:spPr>
          <a:xfrm>
            <a:off x="9129339" y="3715109"/>
            <a:ext cx="228600" cy="21265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2" name="Straight Connector 61">
            <a:extLst>
              <a:ext uri="{FF2B5EF4-FFF2-40B4-BE49-F238E27FC236}">
                <a16:creationId xmlns:a16="http://schemas.microsoft.com/office/drawing/2014/main" id="{4CF949D5-B284-4402-9510-960303ADDEB0}"/>
              </a:ext>
            </a:extLst>
          </p:cNvPr>
          <p:cNvCxnSpPr>
            <a:cxnSpLocks/>
            <a:stCxn id="55" idx="4"/>
            <a:endCxn id="61" idx="1"/>
          </p:cNvCxnSpPr>
          <p:nvPr/>
        </p:nvCxnSpPr>
        <p:spPr>
          <a:xfrm>
            <a:off x="8752180" y="2831562"/>
            <a:ext cx="410637" cy="91468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3BE28FD0-0D18-4766-85B7-74F445D9157F}"/>
              </a:ext>
            </a:extLst>
          </p:cNvPr>
          <p:cNvCxnSpPr>
            <a:cxnSpLocks/>
            <a:stCxn id="57" idx="4"/>
            <a:endCxn id="61" idx="0"/>
          </p:cNvCxnSpPr>
          <p:nvPr/>
        </p:nvCxnSpPr>
        <p:spPr>
          <a:xfrm flipH="1">
            <a:off x="9243639" y="2820930"/>
            <a:ext cx="353683" cy="89417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4E5E2882-FBBD-429B-BE63-53EFC4D058D5}"/>
              </a:ext>
            </a:extLst>
          </p:cNvPr>
          <p:cNvCxnSpPr>
            <a:cxnSpLocks/>
            <a:stCxn id="56" idx="5"/>
            <a:endCxn id="61" idx="2"/>
          </p:cNvCxnSpPr>
          <p:nvPr/>
        </p:nvCxnSpPr>
        <p:spPr>
          <a:xfrm>
            <a:off x="8529188" y="3504511"/>
            <a:ext cx="600151" cy="31692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Oval 64">
            <a:extLst>
              <a:ext uri="{FF2B5EF4-FFF2-40B4-BE49-F238E27FC236}">
                <a16:creationId xmlns:a16="http://schemas.microsoft.com/office/drawing/2014/main" id="{539A91B0-E54B-4F19-BB7D-BC2745A84836}"/>
              </a:ext>
            </a:extLst>
          </p:cNvPr>
          <p:cNvSpPr/>
          <p:nvPr/>
        </p:nvSpPr>
        <p:spPr>
          <a:xfrm>
            <a:off x="9839510" y="3327514"/>
            <a:ext cx="228600" cy="21265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4" name="Straight Connector 83">
            <a:extLst>
              <a:ext uri="{FF2B5EF4-FFF2-40B4-BE49-F238E27FC236}">
                <a16:creationId xmlns:a16="http://schemas.microsoft.com/office/drawing/2014/main" id="{39348C27-FC44-4E4C-8F00-4DF7EF9C3CC9}"/>
              </a:ext>
            </a:extLst>
          </p:cNvPr>
          <p:cNvCxnSpPr>
            <a:cxnSpLocks/>
            <a:stCxn id="57" idx="5"/>
            <a:endCxn id="65" idx="0"/>
          </p:cNvCxnSpPr>
          <p:nvPr/>
        </p:nvCxnSpPr>
        <p:spPr>
          <a:xfrm>
            <a:off x="9678144" y="2789788"/>
            <a:ext cx="275666" cy="53772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F280DEF3-58DC-4E75-B915-E895CD12FA11}"/>
              </a:ext>
            </a:extLst>
          </p:cNvPr>
          <p:cNvCxnSpPr>
            <a:cxnSpLocks/>
            <a:stCxn id="55" idx="6"/>
            <a:endCxn id="65" idx="1"/>
          </p:cNvCxnSpPr>
          <p:nvPr/>
        </p:nvCxnSpPr>
        <p:spPr>
          <a:xfrm>
            <a:off x="8866480" y="2725237"/>
            <a:ext cx="1006508" cy="63341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0ACC78D9-9D69-45FB-B240-3F717C2C3F39}"/>
              </a:ext>
            </a:extLst>
          </p:cNvPr>
          <p:cNvCxnSpPr>
            <a:cxnSpLocks/>
            <a:stCxn id="56" idx="2"/>
            <a:endCxn id="65" idx="2"/>
          </p:cNvCxnSpPr>
          <p:nvPr/>
        </p:nvCxnSpPr>
        <p:spPr>
          <a:xfrm>
            <a:off x="8334066" y="3429328"/>
            <a:ext cx="1505444" cy="451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FA184986-DA60-476F-8688-A8E037A8D65C}"/>
              </a:ext>
            </a:extLst>
          </p:cNvPr>
          <p:cNvCxnSpPr>
            <a:cxnSpLocks/>
            <a:stCxn id="61" idx="6"/>
            <a:endCxn id="65" idx="3"/>
          </p:cNvCxnSpPr>
          <p:nvPr/>
        </p:nvCxnSpPr>
        <p:spPr>
          <a:xfrm flipV="1">
            <a:off x="9357939" y="3509023"/>
            <a:ext cx="515049" cy="31241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8" name="TextBox 107">
            <a:extLst>
              <a:ext uri="{FF2B5EF4-FFF2-40B4-BE49-F238E27FC236}">
                <a16:creationId xmlns:a16="http://schemas.microsoft.com/office/drawing/2014/main" id="{899CAF9A-ED1D-4907-BF33-DFF34733905C}"/>
              </a:ext>
            </a:extLst>
          </p:cNvPr>
          <p:cNvSpPr txBox="1"/>
          <p:nvPr/>
        </p:nvSpPr>
        <p:spPr>
          <a:xfrm>
            <a:off x="731874" y="4063126"/>
            <a:ext cx="1320209" cy="461665"/>
          </a:xfrm>
          <a:prstGeom prst="rect">
            <a:avLst/>
          </a:prstGeom>
          <a:noFill/>
        </p:spPr>
        <p:txBody>
          <a:bodyPr wrap="square" rtlCol="0">
            <a:spAutoFit/>
          </a:bodyPr>
          <a:lstStyle/>
          <a:p>
            <a:pPr algn="ctr"/>
            <a:r>
              <a:rPr lang="en-US" sz="2400" b="1" dirty="0"/>
              <a:t>2-Clique</a:t>
            </a:r>
          </a:p>
        </p:txBody>
      </p:sp>
      <p:sp>
        <p:nvSpPr>
          <p:cNvPr id="109" name="TextBox 108">
            <a:extLst>
              <a:ext uri="{FF2B5EF4-FFF2-40B4-BE49-F238E27FC236}">
                <a16:creationId xmlns:a16="http://schemas.microsoft.com/office/drawing/2014/main" id="{2947788E-A5AA-43DF-AE68-68EBE97C93DA}"/>
              </a:ext>
            </a:extLst>
          </p:cNvPr>
          <p:cNvSpPr txBox="1"/>
          <p:nvPr/>
        </p:nvSpPr>
        <p:spPr>
          <a:xfrm>
            <a:off x="2910510" y="4063126"/>
            <a:ext cx="1320209" cy="461665"/>
          </a:xfrm>
          <a:prstGeom prst="rect">
            <a:avLst/>
          </a:prstGeom>
          <a:noFill/>
        </p:spPr>
        <p:txBody>
          <a:bodyPr wrap="square" rtlCol="0">
            <a:spAutoFit/>
          </a:bodyPr>
          <a:lstStyle/>
          <a:p>
            <a:pPr algn="ctr"/>
            <a:r>
              <a:rPr lang="en-US" sz="2400" b="1" dirty="0"/>
              <a:t>3-Clique</a:t>
            </a:r>
          </a:p>
        </p:txBody>
      </p:sp>
      <p:sp>
        <p:nvSpPr>
          <p:cNvPr id="110" name="TextBox 109">
            <a:extLst>
              <a:ext uri="{FF2B5EF4-FFF2-40B4-BE49-F238E27FC236}">
                <a16:creationId xmlns:a16="http://schemas.microsoft.com/office/drawing/2014/main" id="{21B5E268-E0BA-495C-B935-70F53DFBEAA2}"/>
              </a:ext>
            </a:extLst>
          </p:cNvPr>
          <p:cNvSpPr txBox="1"/>
          <p:nvPr/>
        </p:nvSpPr>
        <p:spPr>
          <a:xfrm>
            <a:off x="5849034" y="4063125"/>
            <a:ext cx="1320209" cy="461665"/>
          </a:xfrm>
          <a:prstGeom prst="rect">
            <a:avLst/>
          </a:prstGeom>
          <a:noFill/>
        </p:spPr>
        <p:txBody>
          <a:bodyPr wrap="square" rtlCol="0">
            <a:spAutoFit/>
          </a:bodyPr>
          <a:lstStyle/>
          <a:p>
            <a:pPr algn="ctr"/>
            <a:r>
              <a:rPr lang="en-US" sz="2400" b="1" dirty="0"/>
              <a:t>4-Clique</a:t>
            </a:r>
          </a:p>
        </p:txBody>
      </p:sp>
      <p:sp>
        <p:nvSpPr>
          <p:cNvPr id="111" name="TextBox 110">
            <a:extLst>
              <a:ext uri="{FF2B5EF4-FFF2-40B4-BE49-F238E27FC236}">
                <a16:creationId xmlns:a16="http://schemas.microsoft.com/office/drawing/2014/main" id="{1982A6A2-054F-4D0D-A261-7C1BF72F965C}"/>
              </a:ext>
            </a:extLst>
          </p:cNvPr>
          <p:cNvSpPr txBox="1"/>
          <p:nvPr/>
        </p:nvSpPr>
        <p:spPr>
          <a:xfrm>
            <a:off x="8448366" y="4063125"/>
            <a:ext cx="1320209" cy="461665"/>
          </a:xfrm>
          <a:prstGeom prst="rect">
            <a:avLst/>
          </a:prstGeom>
          <a:noFill/>
        </p:spPr>
        <p:txBody>
          <a:bodyPr wrap="square" rtlCol="0">
            <a:spAutoFit/>
          </a:bodyPr>
          <a:lstStyle/>
          <a:p>
            <a:pPr algn="ctr"/>
            <a:r>
              <a:rPr lang="en-US" sz="2400" b="1" dirty="0"/>
              <a:t>5-Clique</a:t>
            </a:r>
          </a:p>
        </p:txBody>
      </p:sp>
    </p:spTree>
    <p:extLst>
      <p:ext uri="{BB962C8B-B14F-4D97-AF65-F5344CB8AC3E}">
        <p14:creationId xmlns:p14="http://schemas.microsoft.com/office/powerpoint/2010/main" val="3417005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1"/>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7"/>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58"/>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59"/>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60"/>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1"/>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62"/>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63"/>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64"/>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65"/>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84"/>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88"/>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91"/>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95"/>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08"/>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09"/>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110"/>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11"/>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3">
                                            <p:txEl>
                                              <p:pRg st="7" end="7"/>
                                            </p:txEl>
                                          </p:spTgt>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17" grpId="0" animBg="1"/>
      <p:bldP spid="18" grpId="0" animBg="1"/>
      <p:bldP spid="19" grpId="0" animBg="1"/>
      <p:bldP spid="29" grpId="0" animBg="1"/>
      <p:bldP spid="30" grpId="0" animBg="1"/>
      <p:bldP spid="36" grpId="0" animBg="1"/>
      <p:bldP spid="55" grpId="0" animBg="1"/>
      <p:bldP spid="56" grpId="0" animBg="1"/>
      <p:bldP spid="57" grpId="0" animBg="1"/>
      <p:bldP spid="61" grpId="0" animBg="1"/>
      <p:bldP spid="65" grpId="0" animBg="1"/>
      <p:bldP spid="108" grpId="0"/>
      <p:bldP spid="109" grpId="0"/>
      <p:bldP spid="110" grpId="0"/>
      <p:bldP spid="111"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Cliques and K-Cores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75447" y="1208868"/>
                <a:ext cx="10515600" cy="5447426"/>
              </a:xfrm>
            </p:spPr>
            <p:txBody>
              <a:bodyPr>
                <a:normAutofit/>
              </a:bodyPr>
              <a:lstStyle/>
              <a:p>
                <a:pPr marL="0" indent="0">
                  <a:buNone/>
                </a:pPr>
                <a:r>
                  <a:rPr lang="en-US" b="1" dirty="0"/>
                  <a:t>Cliques are fully connected components </a:t>
                </a:r>
                <a:r>
                  <a:rPr lang="en-US" dirty="0"/>
                  <a:t>of a graph</a:t>
                </a:r>
              </a:p>
              <a:p>
                <a:r>
                  <a:rPr lang="en-US" dirty="0"/>
                  <a:t>Number of edges,</a:t>
                </a:r>
                <a14:m>
                  <m:oMath xmlns:m="http://schemas.openxmlformats.org/officeDocument/2006/math">
                    <m:r>
                      <a:rPr lang="en-US" b="0" i="1" smtClean="0">
                        <a:latin typeface="Cambria Math" panose="02040503050406030204" pitchFamily="18" charset="0"/>
                      </a:rPr>
                      <m:t>𝑚</m:t>
                    </m:r>
                  </m:oMath>
                </a14:m>
                <a:r>
                  <a:rPr lang="en-US" dirty="0"/>
                  <a:t>, required to form an undirected clique from </a:t>
                </a:r>
                <a14:m>
                  <m:oMath xmlns:m="http://schemas.openxmlformats.org/officeDocument/2006/math">
                    <m:r>
                      <a:rPr lang="en-US" b="0" i="1" smtClean="0">
                        <a:latin typeface="Cambria Math" panose="02040503050406030204" pitchFamily="18" charset="0"/>
                      </a:rPr>
                      <m:t>𝑛</m:t>
                    </m:r>
                  </m:oMath>
                </a14:m>
                <a:r>
                  <a:rPr lang="en-US" b="0" i="1" dirty="0">
                    <a:latin typeface="Cambria Math" panose="02040503050406030204" pitchFamily="18" charset="0"/>
                  </a:rPr>
                  <a:t> </a:t>
                </a:r>
                <a:r>
                  <a:rPr lang="en-US" b="0" dirty="0"/>
                  <a:t>nodes</a:t>
                </a:r>
                <a:r>
                  <a:rPr lang="en-US" b="0" i="1" dirty="0">
                    <a:latin typeface="Cambria Math" panose="02040503050406030204" pitchFamily="18" charset="0"/>
                  </a:rPr>
                  <a:t> </a:t>
                </a:r>
              </a:p>
              <a:p>
                <a:pPr marL="0" indent="0">
                  <a:buNone/>
                </a:pPr>
                <a:r>
                  <a:rPr lang="en-US" b="0" dirty="0"/>
                  <a:t>		</a:t>
                </a:r>
                <a14:m>
                  <m:oMath xmlns:m="http://schemas.openxmlformats.org/officeDocument/2006/math">
                    <m:r>
                      <a:rPr lang="en-US" b="0" i="1" smtClean="0">
                        <a:latin typeface="Cambria Math" panose="02040503050406030204" pitchFamily="18" charset="0"/>
                      </a:rPr>
                      <m:t>𝑚</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𝑛</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−1</m:t>
                            </m:r>
                          </m:e>
                        </m:d>
                      </m:num>
                      <m:den>
                        <m:r>
                          <a:rPr lang="en-US" b="0" i="1" smtClean="0">
                            <a:latin typeface="Cambria Math" panose="02040503050406030204" pitchFamily="18" charset="0"/>
                          </a:rPr>
                          <m:t>2</m:t>
                        </m:r>
                      </m:den>
                    </m:f>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𝑂</m:t>
                    </m:r>
                    <m:d>
                      <m:dPr>
                        <m:ctrlPr>
                          <a:rPr lang="en-US" b="0" i="1" smtClean="0">
                            <a:latin typeface="Cambria Math" panose="02040503050406030204" pitchFamily="18" charset="0"/>
                            <a:ea typeface="Cambria Math" panose="02040503050406030204" pitchFamily="18" charset="0"/>
                          </a:rPr>
                        </m:ctrlPr>
                      </m:dPr>
                      <m:e>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𝑛</m:t>
                            </m:r>
                          </m:e>
                          <m:sup>
                            <m:r>
                              <a:rPr lang="en-US" b="0" i="1" smtClean="0">
                                <a:latin typeface="Cambria Math" panose="02040503050406030204" pitchFamily="18" charset="0"/>
                                <a:ea typeface="Cambria Math" panose="02040503050406030204" pitchFamily="18" charset="0"/>
                              </a:rPr>
                              <m:t>2</m:t>
                            </m:r>
                          </m:sup>
                        </m:sSup>
                      </m:e>
                    </m:d>
                  </m:oMath>
                </a14:m>
                <a:r>
                  <a:rPr lang="en-US" dirty="0"/>
                  <a:t> </a:t>
                </a:r>
              </a:p>
              <a:p>
                <a:r>
                  <a:rPr lang="en-US" dirty="0"/>
                  <a:t>Large </a:t>
                </a:r>
                <a14:m>
                  <m:oMath xmlns:m="http://schemas.openxmlformats.org/officeDocument/2006/math">
                    <m:r>
                      <a:rPr lang="en-US" b="0" i="1" smtClean="0">
                        <a:latin typeface="Cambria Math" panose="02040503050406030204" pitchFamily="18" charset="0"/>
                      </a:rPr>
                      <m:t>𝑛</m:t>
                    </m:r>
                  </m:oMath>
                </a14:m>
                <a:r>
                  <a:rPr lang="en-US" dirty="0"/>
                  <a:t> clique formation requires </a:t>
                </a:r>
                <a14:m>
                  <m:oMath xmlns:m="http://schemas.openxmlformats.org/officeDocument/2006/math">
                    <m:r>
                      <a:rPr lang="en-US" b="0" i="1" smtClean="0">
                        <a:latin typeface="Cambria Math" panose="02040503050406030204" pitchFamily="18" charset="0"/>
                      </a:rPr>
                      <m:t>𝑚</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𝑛</m:t>
                    </m:r>
                  </m:oMath>
                </a14:m>
                <a:r>
                  <a:rPr lang="en-US" dirty="0"/>
                  <a:t> </a:t>
                </a:r>
              </a:p>
              <a:p>
                <a:r>
                  <a:rPr lang="en-US" dirty="0"/>
                  <a:t>For a </a:t>
                </a:r>
                <a:r>
                  <a:rPr lang="en-US" b="1" dirty="0"/>
                  <a:t>random graph </a:t>
                </a:r>
                <a:r>
                  <a:rPr lang="en-US" dirty="0"/>
                  <a:t>with </a:t>
                </a:r>
                <a14:m>
                  <m:oMath xmlns:m="http://schemas.openxmlformats.org/officeDocument/2006/math">
                    <m:r>
                      <a:rPr lang="en-US" b="0" i="1" smtClean="0">
                        <a:latin typeface="Cambria Math" panose="02040503050406030204" pitchFamily="18" charset="0"/>
                      </a:rPr>
                      <m:t>𝑛</m:t>
                    </m:r>
                  </m:oMath>
                </a14:m>
                <a:r>
                  <a:rPr lang="en-US" dirty="0"/>
                  <a:t> nodes and </a:t>
                </a:r>
                <a14:m>
                  <m:oMath xmlns:m="http://schemas.openxmlformats.org/officeDocument/2006/math">
                    <m:r>
                      <a:rPr lang="en-US" b="0" i="1" smtClean="0">
                        <a:latin typeface="Cambria Math" panose="02040503050406030204" pitchFamily="18" charset="0"/>
                      </a:rPr>
                      <m:t>𝑚</m:t>
                    </m:r>
                  </m:oMath>
                </a14:m>
                <a:r>
                  <a:rPr lang="en-US" dirty="0"/>
                  <a:t> edges, the probability that two nodes,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𝑖</m:t>
                        </m:r>
                      </m:sub>
                    </m:sSub>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𝑗</m:t>
                        </m:r>
                      </m:sub>
                    </m:sSub>
                  </m:oMath>
                </a14:m>
                <a:r>
                  <a:rPr lang="en-US" dirty="0"/>
                  <a:t>, are connected: </a:t>
                </a:r>
              </a:p>
              <a:p>
                <a:pPr marL="0" indent="0">
                  <a:buNone/>
                </a:pPr>
                <a14:m>
                  <m:oMathPara xmlns:m="http://schemas.openxmlformats.org/officeDocument/2006/math">
                    <m:oMath>
                      <m:r>
                        <a:rPr lang="en-US" b="0" i="1" smtClean="0">
                          <a:latin typeface="Cambria Math" panose="02040503050406030204" pitchFamily="18" charset="0"/>
                        </a:rPr>
                        <m:t>𝑃</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𝑖</m:t>
                              </m:r>
                            </m:sub>
                          </m:sSub>
                          <m:r>
                            <a:rPr lang="en-US" i="1">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𝑗</m:t>
                              </m:r>
                            </m:sub>
                          </m:sSub>
                        </m:e>
                      </m:d>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r>
                            <a:rPr lang="en-US" b="0" i="1" smtClean="0">
                              <a:latin typeface="Cambria Math" panose="02040503050406030204" pitchFamily="18" charset="0"/>
                            </a:rPr>
                            <m:t>𝑚</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den>
                      </m:f>
                    </m:oMath>
                  </m:oMathPara>
                </a14:m>
                <a:endParaRPr lang="en-US" dirty="0"/>
              </a:p>
              <a:p>
                <a:r>
                  <a:rPr lang="en-US" dirty="0"/>
                  <a:t>For real-world </a:t>
                </a:r>
                <a:r>
                  <a:rPr lang="en-US" b="1" dirty="0"/>
                  <a:t>sparse networks</a:t>
                </a:r>
                <a14:m>
                  <m:oMath xmlns:m="http://schemas.openxmlformats.org/officeDocument/2006/math">
                    <m:r>
                      <a:rPr lang="en-US" b="1" i="0" smtClean="0">
                        <a:latin typeface="Cambria Math" panose="02040503050406030204" pitchFamily="18" charset="0"/>
                      </a:rPr>
                      <m:t> </m:t>
                    </m:r>
                    <m:r>
                      <a:rPr lang="en-US" i="1">
                        <a:latin typeface="Cambria Math" panose="02040503050406030204" pitchFamily="18" charset="0"/>
                      </a:rPr>
                      <m:t>𝑃</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1">
                                <a:latin typeface="Cambria Math" panose="02040503050406030204" pitchFamily="18" charset="0"/>
                              </a:rPr>
                              <m:t>𝑖</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1">
                                <a:latin typeface="Cambria Math" panose="02040503050406030204" pitchFamily="18" charset="0"/>
                              </a:rPr>
                              <m:t>𝑗</m:t>
                            </m:r>
                          </m:sub>
                        </m:sSub>
                      </m:e>
                    </m:d>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m:t>
                    </m:r>
                  </m:oMath>
                </a14:m>
                <a:r>
                  <a:rPr lang="en-US" dirty="0"/>
                  <a:t>, so large clique formation unlikely </a:t>
                </a:r>
              </a:p>
            </p:txBody>
          </p:sp>
        </mc:Choice>
        <mc:Fallback xmlns="">
          <p:sp>
            <p:nvSpPr>
              <p:cNvPr id="3" name="Content Placeholder 2">
                <a:extLst>
                  <a:ext uri="{FF2B5EF4-FFF2-40B4-BE49-F238E27FC236}">
                    <a16:creationId xmlns:a16="http://schemas.microsoft.com/office/drawing/2014/main" id="{CA03134D-F068-4BC9-B038-F3D5CBDDE3F9}"/>
                  </a:ext>
                </a:extLst>
              </p:cNvPr>
              <p:cNvSpPr>
                <a:spLocks noGrp="1" noRot="1" noChangeAspect="1" noMove="1" noResize="1" noEditPoints="1" noAdjustHandles="1" noChangeArrowheads="1" noChangeShapeType="1" noTextEdit="1"/>
              </p:cNvSpPr>
              <p:nvPr>
                <p:ph idx="1"/>
              </p:nvPr>
            </p:nvSpPr>
            <p:spPr>
              <a:xfrm>
                <a:off x="775447" y="1208868"/>
                <a:ext cx="10515600" cy="5447426"/>
              </a:xfrm>
              <a:blipFill>
                <a:blip r:embed="rId2"/>
                <a:stretch>
                  <a:fillRect l="-1159" t="-1790"/>
                </a:stretch>
              </a:blipFill>
            </p:spPr>
            <p:txBody>
              <a:bodyPr/>
              <a:lstStyle/>
              <a:p>
                <a:r>
                  <a:rPr lang="en-US">
                    <a:noFill/>
                  </a:rPr>
                  <a:t> </a:t>
                </a:r>
              </a:p>
            </p:txBody>
          </p:sp>
        </mc:Fallback>
      </mc:AlternateContent>
    </p:spTree>
    <p:extLst>
      <p:ext uri="{BB962C8B-B14F-4D97-AF65-F5344CB8AC3E}">
        <p14:creationId xmlns:p14="http://schemas.microsoft.com/office/powerpoint/2010/main" val="1468366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Cliques and K-Cores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75447" y="1208868"/>
                <a:ext cx="10515600" cy="5447426"/>
              </a:xfrm>
            </p:spPr>
            <p:txBody>
              <a:bodyPr>
                <a:normAutofit/>
              </a:bodyPr>
              <a:lstStyle/>
              <a:p>
                <a:pPr marL="0" indent="0">
                  <a:buNone/>
                </a:pPr>
                <a:r>
                  <a:rPr lang="en-US" b="1" dirty="0"/>
                  <a:t>K-cores</a:t>
                </a:r>
                <a:r>
                  <a:rPr lang="en-US" dirty="0"/>
                  <a:t> are a way to identify dense parts of communities </a:t>
                </a:r>
                <a:r>
                  <a:rPr lang="en-US" b="1" dirty="0"/>
                  <a:t> </a:t>
                </a:r>
                <a:endParaRPr lang="en-US" dirty="0"/>
              </a:p>
              <a:p>
                <a:r>
                  <a:rPr lang="en-US" dirty="0"/>
                  <a:t>Probability of high-order cliques in sparse networks is very low   </a:t>
                </a:r>
              </a:p>
              <a:p>
                <a:r>
                  <a:rPr lang="en-US" dirty="0"/>
                  <a:t>K-core is the </a:t>
                </a:r>
                <a:r>
                  <a:rPr lang="en-US" b="1" dirty="0"/>
                  <a:t>part of a component with degree </a:t>
                </a:r>
                <a14:m>
                  <m:oMath xmlns:m="http://schemas.openxmlformats.org/officeDocument/2006/math">
                    <m:r>
                      <a:rPr lang="en-US" b="1" i="0" smtClean="0">
                        <a:latin typeface="Cambria Math" panose="02040503050406030204" pitchFamily="18" charset="0"/>
                        <a:ea typeface="Cambria Math" panose="02040503050406030204" pitchFamily="18" charset="0"/>
                      </a:rPr>
                      <m:t>&gt;</m:t>
                    </m:r>
                    <m:r>
                      <a:rPr lang="en-US" b="1" i="1" smtClean="0">
                        <a:latin typeface="Cambria Math" panose="02040503050406030204" pitchFamily="18" charset="0"/>
                        <a:ea typeface="Cambria Math" panose="02040503050406030204" pitchFamily="18" charset="0"/>
                      </a:rPr>
                      <m:t>𝒌</m:t>
                    </m:r>
                  </m:oMath>
                </a14:m>
                <a:endParaRPr lang="en-US" b="1" dirty="0">
                  <a:ea typeface="Cambria Math" panose="02040503050406030204" pitchFamily="18" charset="0"/>
                </a:endParaRPr>
              </a:p>
              <a:p>
                <a:pPr lvl="1"/>
                <a:r>
                  <a:rPr lang="en-US" dirty="0">
                    <a:ea typeface="Cambria Math" panose="02040503050406030204" pitchFamily="18" charset="0"/>
                  </a:rPr>
                  <a:t>Find k by the degree of the nodes</a:t>
                </a:r>
                <a:endParaRPr lang="en-US" b="1" dirty="0">
                  <a:ea typeface="Cambria Math" panose="02040503050406030204" pitchFamily="18" charset="0"/>
                </a:endParaRPr>
              </a:p>
              <a:p>
                <a:pPr lvl="1"/>
                <a:r>
                  <a:rPr lang="en-US" dirty="0">
                    <a:ea typeface="Cambria Math" panose="02040503050406030204" pitchFamily="18" charset="0"/>
                  </a:rPr>
                  <a:t>Computationally efficient</a:t>
                </a:r>
                <a:endParaRPr lang="en-US" dirty="0"/>
              </a:p>
              <a:p>
                <a:r>
                  <a:rPr lang="en-US" dirty="0"/>
                  <a:t>Existence of k-cores much less restrictive than some other centrality measures</a:t>
                </a:r>
              </a:p>
              <a:p>
                <a:r>
                  <a:rPr lang="en-US" dirty="0"/>
                  <a:t>High probability of finding k-cores with large k  </a:t>
                </a:r>
              </a:p>
              <a:p>
                <a:r>
                  <a:rPr lang="en-US" dirty="0"/>
                  <a:t>Larger k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denser core</a:t>
                </a:r>
              </a:p>
              <a:p>
                <a:r>
                  <a:rPr lang="en-US" dirty="0"/>
                  <a:t>High k core nodes are </a:t>
                </a:r>
                <a:r>
                  <a:rPr lang="en-US" b="1" dirty="0"/>
                  <a:t>highly connected </a:t>
                </a:r>
                <a:r>
                  <a:rPr lang="en-US" dirty="0"/>
                  <a:t>and </a:t>
                </a:r>
                <a:r>
                  <a:rPr lang="en-US" b="1" dirty="0"/>
                  <a:t>influential </a:t>
                </a:r>
                <a:r>
                  <a:rPr lang="en-US" dirty="0"/>
                  <a:t>in the network</a:t>
                </a:r>
              </a:p>
            </p:txBody>
          </p:sp>
        </mc:Choice>
        <mc:Fallback xmlns="">
          <p:sp>
            <p:nvSpPr>
              <p:cNvPr id="3" name="Content Placeholder 2">
                <a:extLst>
                  <a:ext uri="{FF2B5EF4-FFF2-40B4-BE49-F238E27FC236}">
                    <a16:creationId xmlns:a16="http://schemas.microsoft.com/office/drawing/2014/main" id="{CA03134D-F068-4BC9-B038-F3D5CBDDE3F9}"/>
                  </a:ext>
                </a:extLst>
              </p:cNvPr>
              <p:cNvSpPr>
                <a:spLocks noGrp="1" noRot="1" noChangeAspect="1" noMove="1" noResize="1" noEditPoints="1" noAdjustHandles="1" noChangeArrowheads="1" noChangeShapeType="1" noTextEdit="1"/>
              </p:cNvSpPr>
              <p:nvPr>
                <p:ph idx="1"/>
              </p:nvPr>
            </p:nvSpPr>
            <p:spPr>
              <a:xfrm>
                <a:off x="775447" y="1208868"/>
                <a:ext cx="10515600" cy="5447426"/>
              </a:xfrm>
              <a:blipFill>
                <a:blip r:embed="rId2"/>
                <a:stretch>
                  <a:fillRect l="-1159" t="-1790"/>
                </a:stretch>
              </a:blipFill>
            </p:spPr>
            <p:txBody>
              <a:bodyPr/>
              <a:lstStyle/>
              <a:p>
                <a:r>
                  <a:rPr lang="en-US">
                    <a:noFill/>
                  </a:rPr>
                  <a:t> </a:t>
                </a:r>
              </a:p>
            </p:txBody>
          </p:sp>
        </mc:Fallback>
      </mc:AlternateContent>
    </p:spTree>
    <p:extLst>
      <p:ext uri="{BB962C8B-B14F-4D97-AF65-F5344CB8AC3E}">
        <p14:creationId xmlns:p14="http://schemas.microsoft.com/office/powerpoint/2010/main" val="121334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Cliques and K-Cores</a:t>
            </a:r>
            <a:endParaRPr lang="en-US" dirty="0"/>
          </a:p>
        </p:txBody>
      </p:sp>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339512" y="2002970"/>
            <a:ext cx="6806959" cy="3880759"/>
          </a:xfrm>
        </p:spPr>
        <p:txBody>
          <a:bodyPr>
            <a:normAutofit/>
          </a:bodyPr>
          <a:lstStyle/>
          <a:p>
            <a:pPr marL="0" indent="0">
              <a:buNone/>
            </a:pPr>
            <a:r>
              <a:rPr lang="en-US" b="1" dirty="0"/>
              <a:t>K-cores</a:t>
            </a:r>
            <a:r>
              <a:rPr lang="en-US" dirty="0"/>
              <a:t> are a way to identify dense parts of communities </a:t>
            </a:r>
            <a:r>
              <a:rPr lang="en-US" b="1" dirty="0"/>
              <a:t> </a:t>
            </a:r>
            <a:endParaRPr lang="en-US" dirty="0"/>
          </a:p>
          <a:p>
            <a:r>
              <a:rPr lang="en-US" dirty="0"/>
              <a:t>Example: k-cores of a simple network </a:t>
            </a:r>
          </a:p>
          <a:p>
            <a:r>
              <a:rPr lang="en-US" dirty="0"/>
              <a:t>Higher values of k correspond to nodes with higher </a:t>
            </a:r>
            <a:r>
              <a:rPr lang="en-US" b="1" dirty="0"/>
              <a:t>centrality</a:t>
            </a:r>
          </a:p>
          <a:p>
            <a:r>
              <a:rPr lang="en-US" dirty="0"/>
              <a:t>Subcommunities each can have a k-core</a:t>
            </a:r>
          </a:p>
          <a:p>
            <a:pPr marL="0" indent="0">
              <a:buNone/>
            </a:pPr>
            <a:endParaRPr lang="en-US" dirty="0"/>
          </a:p>
        </p:txBody>
      </p:sp>
      <p:pic>
        <p:nvPicPr>
          <p:cNvPr id="6" name="Picture 5">
            <a:extLst>
              <a:ext uri="{FF2B5EF4-FFF2-40B4-BE49-F238E27FC236}">
                <a16:creationId xmlns:a16="http://schemas.microsoft.com/office/drawing/2014/main" id="{6BBB9C1B-00A8-1CF7-DCE9-4423AE31362C}"/>
              </a:ext>
            </a:extLst>
          </p:cNvPr>
          <p:cNvPicPr>
            <a:picLocks noChangeAspect="1"/>
          </p:cNvPicPr>
          <p:nvPr/>
        </p:nvPicPr>
        <p:blipFill>
          <a:blip r:embed="rId2"/>
          <a:stretch>
            <a:fillRect/>
          </a:stretch>
        </p:blipFill>
        <p:spPr>
          <a:xfrm>
            <a:off x="7988085" y="198471"/>
            <a:ext cx="4145397" cy="6575901"/>
          </a:xfrm>
          <a:prstGeom prst="rect">
            <a:avLst/>
          </a:prstGeom>
        </p:spPr>
      </p:pic>
    </p:spTree>
    <p:extLst>
      <p:ext uri="{BB962C8B-B14F-4D97-AF65-F5344CB8AC3E}">
        <p14:creationId xmlns:p14="http://schemas.microsoft.com/office/powerpoint/2010/main" val="1496501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A5503-290A-89B2-9BAB-2EEB00B5AA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14BCFE-3DD4-EBF7-A93A-F5FBF07448C2}"/>
              </a:ext>
            </a:extLst>
          </p:cNvPr>
          <p:cNvSpPr>
            <a:spLocks noGrp="1"/>
          </p:cNvSpPr>
          <p:nvPr>
            <p:ph type="title"/>
          </p:nvPr>
        </p:nvSpPr>
        <p:spPr>
          <a:xfrm>
            <a:off x="831850" y="1709738"/>
            <a:ext cx="10515600" cy="2282271"/>
          </a:xfrm>
        </p:spPr>
        <p:txBody>
          <a:bodyPr/>
          <a:lstStyle/>
          <a:p>
            <a:pPr algn="ctr"/>
            <a:r>
              <a:rPr lang="en-US" dirty="0"/>
              <a:t>Communities and Triangle Density</a:t>
            </a:r>
          </a:p>
        </p:txBody>
      </p:sp>
    </p:spTree>
    <p:extLst>
      <p:ext uri="{BB962C8B-B14F-4D97-AF65-F5344CB8AC3E}">
        <p14:creationId xmlns:p14="http://schemas.microsoft.com/office/powerpoint/2010/main" val="119531231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Communities and Triangle Density</a:t>
            </a:r>
            <a:endParaRPr lang="en-US" dirty="0"/>
          </a:p>
        </p:txBody>
      </p:sp>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91394" y="1208868"/>
            <a:ext cx="10792777" cy="5447426"/>
          </a:xfrm>
        </p:spPr>
        <p:txBody>
          <a:bodyPr>
            <a:normAutofit/>
          </a:bodyPr>
          <a:lstStyle/>
          <a:p>
            <a:pPr marL="0" indent="0">
              <a:buNone/>
            </a:pPr>
            <a:r>
              <a:rPr lang="en-US" b="1" dirty="0"/>
              <a:t>Density of triangles </a:t>
            </a:r>
            <a:r>
              <a:rPr lang="en-US" dirty="0"/>
              <a:t>is an indicator of community cores </a:t>
            </a:r>
          </a:p>
          <a:p>
            <a:r>
              <a:rPr lang="en-US" dirty="0"/>
              <a:t>Empirically, we expect when a person is connected to 2 other people, the other people are more likely to be connected to each other </a:t>
            </a:r>
          </a:p>
          <a:p>
            <a:r>
              <a:rPr lang="en-US" dirty="0"/>
              <a:t>In a random graph, two people connected to a common individual will only be connected to each other by random coincidence:  </a:t>
            </a:r>
          </a:p>
          <a:p>
            <a:endParaRPr lang="en-US" dirty="0"/>
          </a:p>
          <a:p>
            <a:endParaRPr lang="en-US" dirty="0"/>
          </a:p>
          <a:p>
            <a:r>
              <a:rPr lang="en-US" dirty="0"/>
              <a:t>In a community there is a high probability of completing the triangle of relationships or creating a </a:t>
            </a:r>
            <a:r>
              <a:rPr lang="en-US" b="1" dirty="0"/>
              <a:t>triad</a:t>
            </a:r>
            <a:r>
              <a:rPr lang="en-US" dirty="0"/>
              <a:t>:   </a:t>
            </a:r>
          </a:p>
        </p:txBody>
      </p:sp>
      <p:sp>
        <p:nvSpPr>
          <p:cNvPr id="4" name="Oval 3">
            <a:extLst>
              <a:ext uri="{FF2B5EF4-FFF2-40B4-BE49-F238E27FC236}">
                <a16:creationId xmlns:a16="http://schemas.microsoft.com/office/drawing/2014/main" id="{D35088B5-BF66-4208-8355-7664108086B5}"/>
              </a:ext>
            </a:extLst>
          </p:cNvPr>
          <p:cNvSpPr/>
          <p:nvPr/>
        </p:nvSpPr>
        <p:spPr>
          <a:xfrm>
            <a:off x="4680100" y="3508744"/>
            <a:ext cx="228600" cy="21265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C4F072E6-5877-4A5B-BC04-C6EC5B0CEFA2}"/>
              </a:ext>
            </a:extLst>
          </p:cNvPr>
          <p:cNvSpPr/>
          <p:nvPr/>
        </p:nvSpPr>
        <p:spPr>
          <a:xfrm>
            <a:off x="5131098" y="4170516"/>
            <a:ext cx="228600" cy="21265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AC0D025E-9F81-4E37-9074-1A8BCAAFCBC6}"/>
              </a:ext>
            </a:extLst>
          </p:cNvPr>
          <p:cNvSpPr/>
          <p:nvPr/>
        </p:nvSpPr>
        <p:spPr>
          <a:xfrm>
            <a:off x="5623584" y="3503427"/>
            <a:ext cx="228600" cy="21265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B071E4B8-2457-428A-8F6B-4CA84915E022}"/>
              </a:ext>
            </a:extLst>
          </p:cNvPr>
          <p:cNvCxnSpPr>
            <a:cxnSpLocks/>
            <a:stCxn id="4" idx="4"/>
            <a:endCxn id="5" idx="1"/>
          </p:cNvCxnSpPr>
          <p:nvPr/>
        </p:nvCxnSpPr>
        <p:spPr>
          <a:xfrm>
            <a:off x="4794400" y="3721395"/>
            <a:ext cx="370176" cy="48026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B7F04382-A796-44C7-830B-199A5F4730ED}"/>
              </a:ext>
            </a:extLst>
          </p:cNvPr>
          <p:cNvCxnSpPr>
            <a:cxnSpLocks/>
            <a:stCxn id="6" idx="4"/>
            <a:endCxn id="5" idx="7"/>
          </p:cNvCxnSpPr>
          <p:nvPr/>
        </p:nvCxnSpPr>
        <p:spPr>
          <a:xfrm flipH="1">
            <a:off x="5326220" y="3716078"/>
            <a:ext cx="411664" cy="48558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D6CAC7A1-215A-45F5-9C4E-AED0F3AB3E8E}"/>
              </a:ext>
            </a:extLst>
          </p:cNvPr>
          <p:cNvSpPr/>
          <p:nvPr/>
        </p:nvSpPr>
        <p:spPr>
          <a:xfrm>
            <a:off x="2588201" y="5564445"/>
            <a:ext cx="228600" cy="21265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10FC6A38-03C3-4F1E-9EC2-EAA5E5E09CC6}"/>
              </a:ext>
            </a:extLst>
          </p:cNvPr>
          <p:cNvSpPr/>
          <p:nvPr/>
        </p:nvSpPr>
        <p:spPr>
          <a:xfrm>
            <a:off x="3039199" y="6226217"/>
            <a:ext cx="228600" cy="21265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2C023907-0A98-403B-AC8F-BB971615BAE5}"/>
              </a:ext>
            </a:extLst>
          </p:cNvPr>
          <p:cNvSpPr/>
          <p:nvPr/>
        </p:nvSpPr>
        <p:spPr>
          <a:xfrm>
            <a:off x="3531685" y="5559128"/>
            <a:ext cx="228600" cy="21265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C5B5FCE1-3027-4640-8672-FFE866EAA4F5}"/>
              </a:ext>
            </a:extLst>
          </p:cNvPr>
          <p:cNvCxnSpPr>
            <a:cxnSpLocks/>
            <a:stCxn id="10" idx="6"/>
            <a:endCxn id="12" idx="2"/>
          </p:cNvCxnSpPr>
          <p:nvPr/>
        </p:nvCxnSpPr>
        <p:spPr>
          <a:xfrm flipV="1">
            <a:off x="2816801" y="5665454"/>
            <a:ext cx="714884" cy="5317"/>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DB17EE9-E5E7-4B66-BA01-28F74475BF97}"/>
              </a:ext>
            </a:extLst>
          </p:cNvPr>
          <p:cNvCxnSpPr>
            <a:cxnSpLocks/>
            <a:stCxn id="10" idx="4"/>
            <a:endCxn id="11" idx="1"/>
          </p:cNvCxnSpPr>
          <p:nvPr/>
        </p:nvCxnSpPr>
        <p:spPr>
          <a:xfrm>
            <a:off x="2702501" y="5777096"/>
            <a:ext cx="370176" cy="48026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2F27F36-A6F9-465C-B077-32D0FCDC7493}"/>
              </a:ext>
            </a:extLst>
          </p:cNvPr>
          <p:cNvCxnSpPr>
            <a:cxnSpLocks/>
            <a:stCxn id="12" idx="4"/>
            <a:endCxn id="11" idx="7"/>
          </p:cNvCxnSpPr>
          <p:nvPr/>
        </p:nvCxnSpPr>
        <p:spPr>
          <a:xfrm flipH="1">
            <a:off x="3234321" y="5771779"/>
            <a:ext cx="411664" cy="48558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915BD261-E5F5-41E1-9683-09081392D62C}"/>
              </a:ext>
            </a:extLst>
          </p:cNvPr>
          <p:cNvSpPr/>
          <p:nvPr/>
        </p:nvSpPr>
        <p:spPr>
          <a:xfrm>
            <a:off x="8323177" y="5523025"/>
            <a:ext cx="228600" cy="21265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DF3FA619-7CBA-41FC-AA32-50764006202C}"/>
              </a:ext>
            </a:extLst>
          </p:cNvPr>
          <p:cNvSpPr/>
          <p:nvPr/>
        </p:nvSpPr>
        <p:spPr>
          <a:xfrm>
            <a:off x="8774175" y="6184797"/>
            <a:ext cx="228600" cy="21265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FB3C81EA-A641-40D1-8425-742955C626CC}"/>
              </a:ext>
            </a:extLst>
          </p:cNvPr>
          <p:cNvSpPr/>
          <p:nvPr/>
        </p:nvSpPr>
        <p:spPr>
          <a:xfrm>
            <a:off x="9266661" y="5517708"/>
            <a:ext cx="228600" cy="21265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83459A39-6D2F-4DEE-B6FB-9712FC854B8C}"/>
              </a:ext>
            </a:extLst>
          </p:cNvPr>
          <p:cNvCxnSpPr>
            <a:cxnSpLocks/>
            <a:stCxn id="16" idx="6"/>
            <a:endCxn id="18" idx="2"/>
          </p:cNvCxnSpPr>
          <p:nvPr/>
        </p:nvCxnSpPr>
        <p:spPr>
          <a:xfrm flipV="1">
            <a:off x="8551777" y="5624034"/>
            <a:ext cx="714884" cy="531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4D25D3F-5939-4364-91F9-3C168B70E730}"/>
              </a:ext>
            </a:extLst>
          </p:cNvPr>
          <p:cNvCxnSpPr>
            <a:cxnSpLocks/>
            <a:stCxn id="16" idx="4"/>
            <a:endCxn id="17" idx="1"/>
          </p:cNvCxnSpPr>
          <p:nvPr/>
        </p:nvCxnSpPr>
        <p:spPr>
          <a:xfrm>
            <a:off x="8437477" y="5735676"/>
            <a:ext cx="370176" cy="48026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CF7A7C00-18F6-49B9-8803-8E04D148C03A}"/>
              </a:ext>
            </a:extLst>
          </p:cNvPr>
          <p:cNvCxnSpPr>
            <a:cxnSpLocks/>
            <a:stCxn id="18" idx="4"/>
            <a:endCxn id="17" idx="7"/>
          </p:cNvCxnSpPr>
          <p:nvPr/>
        </p:nvCxnSpPr>
        <p:spPr>
          <a:xfrm flipH="1">
            <a:off x="8969297" y="5730359"/>
            <a:ext cx="411664" cy="48558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CAA1A8E-C032-4099-88E2-A2C4C75EDC4E}"/>
              </a:ext>
            </a:extLst>
          </p:cNvPr>
          <p:cNvCxnSpPr>
            <a:cxnSpLocks/>
            <a:stCxn id="4" idx="6"/>
            <a:endCxn id="6" idx="2"/>
          </p:cNvCxnSpPr>
          <p:nvPr/>
        </p:nvCxnSpPr>
        <p:spPr>
          <a:xfrm flipV="1">
            <a:off x="4908700" y="3609753"/>
            <a:ext cx="714884" cy="5317"/>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797900A5-88C3-4467-8EB4-4EC0CB87BAF5}"/>
              </a:ext>
            </a:extLst>
          </p:cNvPr>
          <p:cNvSpPr txBox="1"/>
          <p:nvPr/>
        </p:nvSpPr>
        <p:spPr>
          <a:xfrm>
            <a:off x="6422874" y="3370661"/>
            <a:ext cx="4247707" cy="830997"/>
          </a:xfrm>
          <a:prstGeom prst="rect">
            <a:avLst/>
          </a:prstGeom>
          <a:noFill/>
        </p:spPr>
        <p:txBody>
          <a:bodyPr wrap="square" rtlCol="0">
            <a:spAutoFit/>
          </a:bodyPr>
          <a:lstStyle/>
          <a:p>
            <a:r>
              <a:rPr lang="en-US" sz="2400" dirty="0"/>
              <a:t>Low probability of completing triangle in random graph </a:t>
            </a:r>
          </a:p>
        </p:txBody>
      </p:sp>
      <p:sp>
        <p:nvSpPr>
          <p:cNvPr id="26" name="TextBox 25">
            <a:extLst>
              <a:ext uri="{FF2B5EF4-FFF2-40B4-BE49-F238E27FC236}">
                <a16:creationId xmlns:a16="http://schemas.microsoft.com/office/drawing/2014/main" id="{764116C1-53E4-46DB-9709-D42725CAA6A6}"/>
              </a:ext>
            </a:extLst>
          </p:cNvPr>
          <p:cNvSpPr txBox="1"/>
          <p:nvPr/>
        </p:nvSpPr>
        <p:spPr>
          <a:xfrm>
            <a:off x="4097390" y="5794396"/>
            <a:ext cx="4247707" cy="830997"/>
          </a:xfrm>
          <a:prstGeom prst="rect">
            <a:avLst/>
          </a:prstGeom>
          <a:noFill/>
        </p:spPr>
        <p:txBody>
          <a:bodyPr wrap="square" rtlCol="0">
            <a:spAutoFit/>
          </a:bodyPr>
          <a:lstStyle/>
          <a:p>
            <a:r>
              <a:rPr lang="en-US" sz="2400" dirty="0"/>
              <a:t>High probability of completing triangle in community</a:t>
            </a:r>
          </a:p>
        </p:txBody>
      </p:sp>
      <p:sp>
        <p:nvSpPr>
          <p:cNvPr id="27" name="Arrow: Right 26">
            <a:extLst>
              <a:ext uri="{FF2B5EF4-FFF2-40B4-BE49-F238E27FC236}">
                <a16:creationId xmlns:a16="http://schemas.microsoft.com/office/drawing/2014/main" id="{FB6DB966-1815-4B49-BC1B-C3E0686B6A6A}"/>
              </a:ext>
            </a:extLst>
          </p:cNvPr>
          <p:cNvSpPr/>
          <p:nvPr/>
        </p:nvSpPr>
        <p:spPr>
          <a:xfrm>
            <a:off x="4194544" y="5550844"/>
            <a:ext cx="3838354" cy="212651"/>
          </a:xfrm>
          <a:prstGeom prst="rightArrow">
            <a:avLst/>
          </a:prstGeom>
          <a:solidFill>
            <a:schemeClr val="bg2">
              <a:lumMod val="9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5611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9"/>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0"/>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5" grpId="0" animBg="1"/>
      <p:bldP spid="6" grpId="0" animBg="1"/>
      <p:bldP spid="10" grpId="0" animBg="1"/>
      <p:bldP spid="11" grpId="0" animBg="1"/>
      <p:bldP spid="12" grpId="0" animBg="1"/>
      <p:bldP spid="16" grpId="0" animBg="1"/>
      <p:bldP spid="17" grpId="0" animBg="1"/>
      <p:bldP spid="18" grpId="0" animBg="1"/>
      <p:bldP spid="25" grpId="0"/>
      <p:bldP spid="26" grpId="0"/>
      <p:bldP spid="27"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Communities and Triangle Density</a:t>
            </a:r>
            <a:endParaRPr lang="en-US" dirty="0"/>
          </a:p>
        </p:txBody>
      </p:sp>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91394" y="1208868"/>
            <a:ext cx="10792777" cy="5447426"/>
          </a:xfrm>
        </p:spPr>
        <p:txBody>
          <a:bodyPr>
            <a:normAutofit/>
          </a:bodyPr>
          <a:lstStyle/>
          <a:p>
            <a:pPr marL="0" indent="0">
              <a:buNone/>
            </a:pPr>
            <a:r>
              <a:rPr lang="en-US" b="1" dirty="0"/>
              <a:t>Density of triangles </a:t>
            </a:r>
            <a:r>
              <a:rPr lang="en-US" dirty="0"/>
              <a:t>is an indicator or community cores </a:t>
            </a:r>
          </a:p>
          <a:p>
            <a:r>
              <a:rPr lang="en-US" dirty="0"/>
              <a:t>A relationship in a graph: if u is connected to w and v is connected to w the relationship is </a:t>
            </a:r>
            <a:r>
              <a:rPr lang="en-US" b="1" dirty="0"/>
              <a:t>transitive</a:t>
            </a:r>
            <a:r>
              <a:rPr lang="en-US" dirty="0"/>
              <a:t> if u is connected to v:</a:t>
            </a:r>
          </a:p>
          <a:p>
            <a:endParaRPr lang="en-US" dirty="0"/>
          </a:p>
          <a:p>
            <a:endParaRPr lang="en-US" dirty="0"/>
          </a:p>
          <a:p>
            <a:endParaRPr lang="en-US" dirty="0"/>
          </a:p>
          <a:p>
            <a:r>
              <a:rPr lang="en-US" dirty="0"/>
              <a:t>The human version of transitivity: the friend of my friend is my friend  </a:t>
            </a:r>
          </a:p>
          <a:p>
            <a:r>
              <a:rPr lang="en-US" dirty="0"/>
              <a:t>Density of triangle in a social graph is a measure of density  </a:t>
            </a:r>
          </a:p>
        </p:txBody>
      </p:sp>
      <p:sp>
        <p:nvSpPr>
          <p:cNvPr id="4" name="Oval 3">
            <a:extLst>
              <a:ext uri="{FF2B5EF4-FFF2-40B4-BE49-F238E27FC236}">
                <a16:creationId xmlns:a16="http://schemas.microsoft.com/office/drawing/2014/main" id="{3574C403-F818-48A7-8BEB-1E55F253B433}"/>
              </a:ext>
            </a:extLst>
          </p:cNvPr>
          <p:cNvSpPr/>
          <p:nvPr/>
        </p:nvSpPr>
        <p:spPr>
          <a:xfrm>
            <a:off x="4514747" y="2897660"/>
            <a:ext cx="228600" cy="21265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474DD6FA-B1D8-4DB0-92FD-B3B6675C06B1}"/>
              </a:ext>
            </a:extLst>
          </p:cNvPr>
          <p:cNvSpPr/>
          <p:nvPr/>
        </p:nvSpPr>
        <p:spPr>
          <a:xfrm>
            <a:off x="4965745" y="3559432"/>
            <a:ext cx="228600" cy="21265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3F19AD43-2DCE-4F83-8FE3-68AA1429521A}"/>
              </a:ext>
            </a:extLst>
          </p:cNvPr>
          <p:cNvSpPr/>
          <p:nvPr/>
        </p:nvSpPr>
        <p:spPr>
          <a:xfrm>
            <a:off x="5458231" y="2892343"/>
            <a:ext cx="228600" cy="21265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838430DF-01A3-4687-8064-D534CD541D24}"/>
              </a:ext>
            </a:extLst>
          </p:cNvPr>
          <p:cNvCxnSpPr>
            <a:cxnSpLocks/>
            <a:stCxn id="4" idx="6"/>
            <a:endCxn id="6" idx="2"/>
          </p:cNvCxnSpPr>
          <p:nvPr/>
        </p:nvCxnSpPr>
        <p:spPr>
          <a:xfrm flipV="1">
            <a:off x="4743347" y="2998669"/>
            <a:ext cx="714884" cy="531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5613D1B-2AD0-40E4-98FD-FE546A860C29}"/>
              </a:ext>
            </a:extLst>
          </p:cNvPr>
          <p:cNvCxnSpPr>
            <a:cxnSpLocks/>
            <a:stCxn id="4" idx="4"/>
            <a:endCxn id="5" idx="1"/>
          </p:cNvCxnSpPr>
          <p:nvPr/>
        </p:nvCxnSpPr>
        <p:spPr>
          <a:xfrm>
            <a:off x="4629047" y="3110311"/>
            <a:ext cx="370176" cy="48026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CF38CF6-076E-4323-B467-1582AFE4938B}"/>
              </a:ext>
            </a:extLst>
          </p:cNvPr>
          <p:cNvCxnSpPr>
            <a:cxnSpLocks/>
            <a:stCxn id="6" idx="4"/>
            <a:endCxn id="5" idx="7"/>
          </p:cNvCxnSpPr>
          <p:nvPr/>
        </p:nvCxnSpPr>
        <p:spPr>
          <a:xfrm flipH="1">
            <a:off x="5160867" y="3104994"/>
            <a:ext cx="411664" cy="48558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04C2DDE6-116D-4E33-ABF5-2776086A4238}"/>
              </a:ext>
            </a:extLst>
          </p:cNvPr>
          <p:cNvSpPr txBox="1"/>
          <p:nvPr/>
        </p:nvSpPr>
        <p:spPr>
          <a:xfrm>
            <a:off x="3952464" y="2737058"/>
            <a:ext cx="527901" cy="523220"/>
          </a:xfrm>
          <a:prstGeom prst="rect">
            <a:avLst/>
          </a:prstGeom>
          <a:noFill/>
        </p:spPr>
        <p:txBody>
          <a:bodyPr wrap="square" rtlCol="0">
            <a:spAutoFit/>
          </a:bodyPr>
          <a:lstStyle/>
          <a:p>
            <a:pPr algn="ctr"/>
            <a:r>
              <a:rPr lang="en-US" sz="2800" b="1" i="1" dirty="0"/>
              <a:t>u</a:t>
            </a:r>
          </a:p>
        </p:txBody>
      </p:sp>
      <p:sp>
        <p:nvSpPr>
          <p:cNvPr id="11" name="TextBox 10">
            <a:extLst>
              <a:ext uri="{FF2B5EF4-FFF2-40B4-BE49-F238E27FC236}">
                <a16:creationId xmlns:a16="http://schemas.microsoft.com/office/drawing/2014/main" id="{DF531998-6712-4C3A-8336-679281A3815D}"/>
              </a:ext>
            </a:extLst>
          </p:cNvPr>
          <p:cNvSpPr txBox="1"/>
          <p:nvPr/>
        </p:nvSpPr>
        <p:spPr>
          <a:xfrm>
            <a:off x="5684751" y="2686782"/>
            <a:ext cx="527901" cy="523220"/>
          </a:xfrm>
          <a:prstGeom prst="rect">
            <a:avLst/>
          </a:prstGeom>
          <a:noFill/>
        </p:spPr>
        <p:txBody>
          <a:bodyPr wrap="square" rtlCol="0">
            <a:spAutoFit/>
          </a:bodyPr>
          <a:lstStyle/>
          <a:p>
            <a:pPr algn="ctr"/>
            <a:r>
              <a:rPr lang="en-US" sz="2800" b="1" i="1" dirty="0"/>
              <a:t>v</a:t>
            </a:r>
          </a:p>
        </p:txBody>
      </p:sp>
      <p:sp>
        <p:nvSpPr>
          <p:cNvPr id="12" name="TextBox 11">
            <a:extLst>
              <a:ext uri="{FF2B5EF4-FFF2-40B4-BE49-F238E27FC236}">
                <a16:creationId xmlns:a16="http://schemas.microsoft.com/office/drawing/2014/main" id="{8DA2F49B-CAFD-4EBE-9483-A90341E70A1F}"/>
              </a:ext>
            </a:extLst>
          </p:cNvPr>
          <p:cNvSpPr txBox="1"/>
          <p:nvPr/>
        </p:nvSpPr>
        <p:spPr>
          <a:xfrm>
            <a:off x="4836838" y="3691582"/>
            <a:ext cx="527901" cy="523220"/>
          </a:xfrm>
          <a:prstGeom prst="rect">
            <a:avLst/>
          </a:prstGeom>
          <a:noFill/>
        </p:spPr>
        <p:txBody>
          <a:bodyPr wrap="square" rtlCol="0">
            <a:spAutoFit/>
          </a:bodyPr>
          <a:lstStyle/>
          <a:p>
            <a:pPr algn="ctr"/>
            <a:r>
              <a:rPr lang="en-US" sz="2800" b="1" i="1" dirty="0"/>
              <a:t>w</a:t>
            </a:r>
          </a:p>
        </p:txBody>
      </p:sp>
    </p:spTree>
    <p:extLst>
      <p:ext uri="{BB962C8B-B14F-4D97-AF65-F5344CB8AC3E}">
        <p14:creationId xmlns:p14="http://schemas.microsoft.com/office/powerpoint/2010/main" val="406394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5" grpId="0" animBg="1"/>
      <p:bldP spid="6" grpId="0" animBg="1"/>
      <p:bldP spid="10" grpId="0"/>
      <p:bldP spid="11" grpId="0"/>
      <p:bldP spid="12"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Communities and Triangle Density</a:t>
            </a:r>
            <a:endParaRPr lang="en-US" dirty="0"/>
          </a:p>
        </p:txBody>
      </p:sp>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91395" y="1208868"/>
            <a:ext cx="4290193" cy="1991532"/>
          </a:xfrm>
        </p:spPr>
        <p:txBody>
          <a:bodyPr>
            <a:normAutofit/>
          </a:bodyPr>
          <a:lstStyle/>
          <a:p>
            <a:pPr marL="0" indent="0">
              <a:buNone/>
            </a:pPr>
            <a:r>
              <a:rPr lang="en-US" dirty="0"/>
              <a:t>Example: </a:t>
            </a:r>
            <a:r>
              <a:rPr lang="en-US" b="1" dirty="0"/>
              <a:t>Density of triangles </a:t>
            </a:r>
            <a:r>
              <a:rPr lang="en-US" dirty="0"/>
              <a:t>is an indicator of community cores, or influential nodes </a:t>
            </a:r>
          </a:p>
        </p:txBody>
      </p:sp>
      <p:pic>
        <p:nvPicPr>
          <p:cNvPr id="16" name="Picture 15">
            <a:extLst>
              <a:ext uri="{FF2B5EF4-FFF2-40B4-BE49-F238E27FC236}">
                <a16:creationId xmlns:a16="http://schemas.microsoft.com/office/drawing/2014/main" id="{E53E0393-7B64-9DFD-4165-485ACE93E63D}"/>
              </a:ext>
            </a:extLst>
          </p:cNvPr>
          <p:cNvPicPr>
            <a:picLocks noChangeAspect="1"/>
          </p:cNvPicPr>
          <p:nvPr/>
        </p:nvPicPr>
        <p:blipFill>
          <a:blip r:embed="rId2"/>
          <a:stretch>
            <a:fillRect/>
          </a:stretch>
        </p:blipFill>
        <p:spPr>
          <a:xfrm>
            <a:off x="4739356" y="1162775"/>
            <a:ext cx="6919244" cy="5549097"/>
          </a:xfrm>
          <a:prstGeom prst="rect">
            <a:avLst/>
          </a:prstGeom>
        </p:spPr>
      </p:pic>
    </p:spTree>
    <p:extLst>
      <p:ext uri="{BB962C8B-B14F-4D97-AF65-F5344CB8AC3E}">
        <p14:creationId xmlns:p14="http://schemas.microsoft.com/office/powerpoint/2010/main" val="429053652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Communities and Triangle Density</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91394" y="1208868"/>
                <a:ext cx="10792777" cy="5447426"/>
              </a:xfrm>
            </p:spPr>
            <p:txBody>
              <a:bodyPr>
                <a:normAutofit/>
              </a:bodyPr>
              <a:lstStyle/>
              <a:p>
                <a:pPr marL="0" indent="0">
                  <a:buNone/>
                </a:pPr>
                <a:r>
                  <a:rPr lang="en-US" b="1" dirty="0"/>
                  <a:t>Density of triangles </a:t>
                </a:r>
                <a:r>
                  <a:rPr lang="en-US" dirty="0"/>
                  <a:t>is an indicator or community cores </a:t>
                </a:r>
              </a:p>
              <a:p>
                <a:r>
                  <a:rPr lang="en-US" dirty="0"/>
                  <a:t>Triangle density of a node, </a:t>
                </a:r>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𝑖</m:t>
                            </m:r>
                          </m:sub>
                        </m:sSub>
                      </m:e>
                    </m:d>
                  </m:oMath>
                </a14:m>
                <a:r>
                  <a:rPr lang="en-US" dirty="0"/>
                  <a:t>, is the number of triangles where the node is a </a:t>
                </a:r>
                <a:r>
                  <a:rPr lang="en-US" dirty="0" err="1"/>
                  <a:t>vertice</a:t>
                </a:r>
                <a:r>
                  <a:rPr lang="en-US" dirty="0"/>
                  <a:t> </a:t>
                </a:r>
              </a:p>
              <a:p>
                <a:r>
                  <a:rPr lang="en-US" dirty="0"/>
                  <a:t>Simple triangle density is a biased</a:t>
                </a:r>
              </a:p>
              <a:p>
                <a:pPr lvl="1"/>
                <a:r>
                  <a:rPr lang="en-US" dirty="0"/>
                  <a:t>Nodes with high degree have greater probability of having more triangles</a:t>
                </a:r>
              </a:p>
              <a:p>
                <a:r>
                  <a:rPr lang="en-US" dirty="0"/>
                  <a:t>Graph </a:t>
                </a:r>
                <a:r>
                  <a:rPr lang="en-US" b="1" dirty="0"/>
                  <a:t>clustering coefficient</a:t>
                </a:r>
                <a:r>
                  <a:rPr lang="en-US" dirty="0"/>
                  <a:t> ,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𝑖</m:t>
                        </m:r>
                      </m:sub>
                    </m:sSub>
                  </m:oMath>
                </a14:m>
                <a:r>
                  <a:rPr lang="en-US" b="1" dirty="0"/>
                  <a:t>, </a:t>
                </a:r>
                <a:r>
                  <a:rPr lang="en-US" dirty="0"/>
                  <a:t>adjusts triangle density for degree of node,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𝑖</m:t>
                        </m:r>
                      </m:sub>
                    </m:sSub>
                  </m:oMath>
                </a14:m>
                <a:endParaRPr lang="en-US" dirty="0"/>
              </a:p>
              <a:p>
                <a:r>
                  <a:rPr lang="en-US" dirty="0"/>
                  <a:t>Many possible adjustments have been proposed  </a:t>
                </a:r>
              </a:p>
              <a:p>
                <a:r>
                  <a:rPr lang="en-US" dirty="0" err="1">
                    <a:hlinkClick r:id="rId2"/>
                  </a:rPr>
                  <a:t>NetworkX</a:t>
                </a:r>
                <a:r>
                  <a:rPr lang="en-US" dirty="0"/>
                  <a:t> computes the clustering coefficient of node </a:t>
                </a:r>
                <a:r>
                  <a:rPr lang="en-US" i="1" dirty="0" err="1"/>
                  <a:t>i</a:t>
                </a:r>
                <a:r>
                  <a:rPr lang="en-US" dirty="0"/>
                  <a:t> as: </a:t>
                </a:r>
              </a:p>
              <a:p>
                <a:pPr marL="0" indent="0">
                  <a:buNone/>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𝑖</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𝑖</m:t>
                                  </m:r>
                                </m:sub>
                              </m:sSub>
                            </m:e>
                          </m:d>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𝑖</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𝑖</m:t>
                                  </m:r>
                                </m:sub>
                              </m:sSub>
                              <m:r>
                                <a:rPr lang="en-US" b="0" i="1" smtClean="0">
                                  <a:latin typeface="Cambria Math" panose="02040503050406030204" pitchFamily="18" charset="0"/>
                                </a:rPr>
                                <m:t>−1</m:t>
                              </m:r>
                            </m:e>
                          </m:d>
                        </m:den>
                      </m:f>
                    </m:oMath>
                  </m:oMathPara>
                </a14:m>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CA03134D-F068-4BC9-B038-F3D5CBDDE3F9}"/>
                  </a:ext>
                </a:extLst>
              </p:cNvPr>
              <p:cNvSpPr>
                <a:spLocks noGrp="1" noRot="1" noChangeAspect="1" noMove="1" noResize="1" noEditPoints="1" noAdjustHandles="1" noChangeArrowheads="1" noChangeShapeType="1" noTextEdit="1"/>
              </p:cNvSpPr>
              <p:nvPr>
                <p:ph idx="1"/>
              </p:nvPr>
            </p:nvSpPr>
            <p:spPr>
              <a:xfrm>
                <a:off x="791394" y="1208868"/>
                <a:ext cx="10792777" cy="5447426"/>
              </a:xfrm>
              <a:blipFill>
                <a:blip r:embed="rId3"/>
                <a:stretch>
                  <a:fillRect l="-1186" t="-1790"/>
                </a:stretch>
              </a:blipFill>
            </p:spPr>
            <p:txBody>
              <a:bodyPr/>
              <a:lstStyle/>
              <a:p>
                <a:r>
                  <a:rPr lang="en-US">
                    <a:noFill/>
                  </a:rPr>
                  <a:t> </a:t>
                </a:r>
              </a:p>
            </p:txBody>
          </p:sp>
        </mc:Fallback>
      </mc:AlternateContent>
    </p:spTree>
    <p:extLst>
      <p:ext uri="{BB962C8B-B14F-4D97-AF65-F5344CB8AC3E}">
        <p14:creationId xmlns:p14="http://schemas.microsoft.com/office/powerpoint/2010/main" val="1503970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Communities and Triangle Density</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91394" y="1208868"/>
                <a:ext cx="10792777" cy="5447426"/>
              </a:xfrm>
            </p:spPr>
            <p:txBody>
              <a:bodyPr>
                <a:normAutofit/>
              </a:bodyPr>
              <a:lstStyle/>
              <a:p>
                <a:pPr marL="0" indent="0">
                  <a:buNone/>
                </a:pPr>
                <a:r>
                  <a:rPr lang="en-US" b="1" dirty="0"/>
                  <a:t>Clustering Coefficient </a:t>
                </a:r>
                <a:r>
                  <a:rPr lang="en-US" dirty="0"/>
                  <a:t>is an indicator or community cores </a:t>
                </a:r>
              </a:p>
              <a:p>
                <a:r>
                  <a:rPr lang="en-US" dirty="0" err="1"/>
                  <a:t>NetworkX</a:t>
                </a:r>
                <a:r>
                  <a:rPr lang="en-US" dirty="0"/>
                  <a:t> computes the clustering coefficient of node </a:t>
                </a:r>
                <a:r>
                  <a:rPr lang="en-US" i="1" dirty="0" err="1"/>
                  <a:t>i</a:t>
                </a:r>
                <a:r>
                  <a:rPr lang="en-US" dirty="0"/>
                  <a:t> as: </a:t>
                </a:r>
              </a:p>
              <a:p>
                <a:pPr marL="0" indent="0">
                  <a:buNone/>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𝑖</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𝑖</m:t>
                                  </m:r>
                                </m:sub>
                              </m:sSub>
                            </m:e>
                          </m:d>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𝑖</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𝑖</m:t>
                                  </m:r>
                                </m:sub>
                              </m:sSub>
                              <m:r>
                                <a:rPr lang="en-US" b="0" i="1" smtClean="0">
                                  <a:latin typeface="Cambria Math" panose="02040503050406030204" pitchFamily="18" charset="0"/>
                                </a:rPr>
                                <m:t>−1</m:t>
                              </m:r>
                            </m:e>
                          </m:d>
                        </m:den>
                      </m:f>
                    </m:oMath>
                  </m:oMathPara>
                </a14:m>
                <a:endParaRPr lang="en-US" dirty="0"/>
              </a:p>
              <a:p>
                <a:r>
                  <a:rPr lang="en-US" dirty="0"/>
                  <a:t>Can interpret the clustering coefficient as the fraction of edge pairs of node </a:t>
                </a:r>
                <a:r>
                  <a:rPr lang="en-US" i="1" dirty="0" err="1"/>
                  <a:t>i</a:t>
                </a:r>
                <a:r>
                  <a:rPr lang="en-US" dirty="0"/>
                  <a:t> that are part of a triad </a:t>
                </a:r>
              </a:p>
              <a:p>
                <a:r>
                  <a:rPr lang="en-US" dirty="0"/>
                  <a:t>Nodes with high clustering coefficients have high </a:t>
                </a:r>
                <a:r>
                  <a:rPr lang="en-US" b="1" dirty="0"/>
                  <a:t>transitive centrality </a:t>
                </a:r>
                <a:r>
                  <a:rPr lang="en-US" dirty="0"/>
                  <a:t>and are </a:t>
                </a:r>
                <a:r>
                  <a:rPr lang="en-US" b="1" dirty="0"/>
                  <a:t>influential </a:t>
                </a:r>
                <a:r>
                  <a:rPr lang="en-US" dirty="0"/>
                  <a:t>in the network</a:t>
                </a:r>
              </a:p>
              <a:p>
                <a:r>
                  <a:rPr lang="en-US" dirty="0"/>
                  <a:t>Clustering coefficient is efficient to compute – only requires triangle count and node degree  </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CA03134D-F068-4BC9-B038-F3D5CBDDE3F9}"/>
                  </a:ext>
                </a:extLst>
              </p:cNvPr>
              <p:cNvSpPr>
                <a:spLocks noGrp="1" noRot="1" noChangeAspect="1" noMove="1" noResize="1" noEditPoints="1" noAdjustHandles="1" noChangeArrowheads="1" noChangeShapeType="1" noTextEdit="1"/>
              </p:cNvSpPr>
              <p:nvPr>
                <p:ph idx="1"/>
              </p:nvPr>
            </p:nvSpPr>
            <p:spPr>
              <a:xfrm>
                <a:off x="791394" y="1208868"/>
                <a:ext cx="10792777" cy="5447426"/>
              </a:xfrm>
              <a:blipFill>
                <a:blip r:embed="rId2"/>
                <a:stretch>
                  <a:fillRect l="-1186" t="-1790"/>
                </a:stretch>
              </a:blipFill>
            </p:spPr>
            <p:txBody>
              <a:bodyPr/>
              <a:lstStyle/>
              <a:p>
                <a:r>
                  <a:rPr lang="en-US">
                    <a:noFill/>
                  </a:rPr>
                  <a:t> </a:t>
                </a:r>
              </a:p>
            </p:txBody>
          </p:sp>
        </mc:Fallback>
      </mc:AlternateContent>
    </p:spTree>
    <p:extLst>
      <p:ext uri="{BB962C8B-B14F-4D97-AF65-F5344CB8AC3E}">
        <p14:creationId xmlns:p14="http://schemas.microsoft.com/office/powerpoint/2010/main" val="718403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Communities and Triangle Density</a:t>
            </a:r>
            <a:endParaRPr lang="en-US" dirty="0"/>
          </a:p>
        </p:txBody>
      </p:sp>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91394" y="1208868"/>
            <a:ext cx="4009205" cy="1691495"/>
          </a:xfrm>
        </p:spPr>
        <p:txBody>
          <a:bodyPr>
            <a:normAutofit/>
          </a:bodyPr>
          <a:lstStyle/>
          <a:p>
            <a:pPr marL="0" indent="0">
              <a:buNone/>
            </a:pPr>
            <a:r>
              <a:rPr lang="en-US" dirty="0"/>
              <a:t>Example: </a:t>
            </a:r>
            <a:r>
              <a:rPr lang="en-US" b="1" dirty="0"/>
              <a:t>Clustering Coefficient </a:t>
            </a:r>
            <a:r>
              <a:rPr lang="en-US" dirty="0"/>
              <a:t>as an indicator of community cores or node influence</a:t>
            </a:r>
          </a:p>
          <a:p>
            <a:pPr marL="0" indent="0">
              <a:buNone/>
            </a:pPr>
            <a:endParaRPr lang="en-US" dirty="0"/>
          </a:p>
        </p:txBody>
      </p:sp>
      <p:pic>
        <p:nvPicPr>
          <p:cNvPr id="5" name="Picture 4">
            <a:extLst>
              <a:ext uri="{FF2B5EF4-FFF2-40B4-BE49-F238E27FC236}">
                <a16:creationId xmlns:a16="http://schemas.microsoft.com/office/drawing/2014/main" id="{F6D69209-5938-1109-A055-8BFA205B5696}"/>
              </a:ext>
            </a:extLst>
          </p:cNvPr>
          <p:cNvPicPr>
            <a:picLocks noChangeAspect="1"/>
          </p:cNvPicPr>
          <p:nvPr/>
        </p:nvPicPr>
        <p:blipFill>
          <a:blip r:embed="rId2"/>
          <a:stretch>
            <a:fillRect/>
          </a:stretch>
        </p:blipFill>
        <p:spPr>
          <a:xfrm>
            <a:off x="4871751" y="1052793"/>
            <a:ext cx="7172611" cy="5704824"/>
          </a:xfrm>
          <a:prstGeom prst="rect">
            <a:avLst/>
          </a:prstGeom>
        </p:spPr>
      </p:pic>
    </p:spTree>
    <p:extLst>
      <p:ext uri="{BB962C8B-B14F-4D97-AF65-F5344CB8AC3E}">
        <p14:creationId xmlns:p14="http://schemas.microsoft.com/office/powerpoint/2010/main" val="352396272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D18FF-BF45-BDF2-AD63-EA51960C57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83D0B5-A388-7C43-3E09-DFA0FC5B9497}"/>
              </a:ext>
            </a:extLst>
          </p:cNvPr>
          <p:cNvSpPr>
            <a:spLocks noGrp="1"/>
          </p:cNvSpPr>
          <p:nvPr>
            <p:ph type="title"/>
          </p:nvPr>
        </p:nvSpPr>
        <p:spPr>
          <a:xfrm>
            <a:off x="831850" y="1709738"/>
            <a:ext cx="10515600" cy="2282271"/>
          </a:xfrm>
        </p:spPr>
        <p:txBody>
          <a:bodyPr/>
          <a:lstStyle/>
          <a:p>
            <a:pPr algn="ctr"/>
            <a:r>
              <a:rPr lang="en-US" dirty="0"/>
              <a:t>Modularity in Communities</a:t>
            </a:r>
          </a:p>
        </p:txBody>
      </p:sp>
    </p:spTree>
    <p:extLst>
      <p:ext uri="{BB962C8B-B14F-4D97-AF65-F5344CB8AC3E}">
        <p14:creationId xmlns:p14="http://schemas.microsoft.com/office/powerpoint/2010/main" val="3868556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Modularity of Communities  </a:t>
            </a:r>
            <a:endParaRPr lang="en-US" dirty="0"/>
          </a:p>
        </p:txBody>
      </p:sp>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91394" y="1208868"/>
            <a:ext cx="10792777" cy="5447426"/>
          </a:xfrm>
        </p:spPr>
        <p:txBody>
          <a:bodyPr>
            <a:normAutofit/>
          </a:bodyPr>
          <a:lstStyle/>
          <a:p>
            <a:pPr marL="0" indent="0">
              <a:buNone/>
            </a:pPr>
            <a:r>
              <a:rPr lang="en-US" b="1" dirty="0"/>
              <a:t>Modularity</a:t>
            </a:r>
            <a:r>
              <a:rPr lang="en-US" dirty="0"/>
              <a:t> estimates the extent that edges concentrate in communities  </a:t>
            </a:r>
            <a:r>
              <a:rPr lang="en-US" b="1" dirty="0"/>
              <a:t> </a:t>
            </a:r>
            <a:endParaRPr lang="en-US" dirty="0"/>
          </a:p>
          <a:p>
            <a:r>
              <a:rPr lang="en-US" dirty="0"/>
              <a:t>Communities are groups of nodes with some common characteristics</a:t>
            </a:r>
          </a:p>
          <a:p>
            <a:r>
              <a:rPr lang="en-US" dirty="0"/>
              <a:t>Examples:</a:t>
            </a:r>
          </a:p>
          <a:p>
            <a:pPr lvl="1"/>
            <a:r>
              <a:rPr lang="en-US" dirty="0"/>
              <a:t>Members of an organization </a:t>
            </a:r>
          </a:p>
          <a:p>
            <a:pPr lvl="1"/>
            <a:r>
              <a:rPr lang="en-US" dirty="0"/>
              <a:t>Work collaborators</a:t>
            </a:r>
          </a:p>
          <a:p>
            <a:pPr lvl="1"/>
            <a:r>
              <a:rPr lang="en-US" dirty="0"/>
              <a:t>Animals in an ecosystem </a:t>
            </a:r>
          </a:p>
          <a:p>
            <a:pPr lvl="1"/>
            <a:r>
              <a:rPr lang="en-US" dirty="0"/>
              <a:t>…….</a:t>
            </a:r>
          </a:p>
          <a:p>
            <a:r>
              <a:rPr lang="en-US" dirty="0"/>
              <a:t>Empirically, the density of edges within communities is higher than a random graph  </a:t>
            </a:r>
          </a:p>
          <a:p>
            <a:r>
              <a:rPr lang="en-US" dirty="0"/>
              <a:t>Modularity is a metric to compare the connection in a community to a random network.    </a:t>
            </a:r>
          </a:p>
        </p:txBody>
      </p:sp>
    </p:spTree>
    <p:extLst>
      <p:ext uri="{BB962C8B-B14F-4D97-AF65-F5344CB8AC3E}">
        <p14:creationId xmlns:p14="http://schemas.microsoft.com/office/powerpoint/2010/main" val="2956619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Modularity of Communities  </a:t>
            </a:r>
            <a:endParaRPr lang="en-US" dirty="0"/>
          </a:p>
        </p:txBody>
      </p:sp>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91394" y="1208868"/>
            <a:ext cx="10792777" cy="943604"/>
          </a:xfrm>
        </p:spPr>
        <p:txBody>
          <a:bodyPr>
            <a:normAutofit/>
          </a:bodyPr>
          <a:lstStyle/>
          <a:p>
            <a:pPr marL="0" indent="0">
              <a:buNone/>
            </a:pPr>
            <a:r>
              <a:rPr lang="en-US" b="1" dirty="0"/>
              <a:t>Modularity</a:t>
            </a:r>
            <a:r>
              <a:rPr lang="en-US" dirty="0"/>
              <a:t> estimates the extent that edges concentrate in communities </a:t>
            </a:r>
          </a:p>
          <a:p>
            <a:pPr marL="0" indent="0">
              <a:buNone/>
            </a:pPr>
            <a:r>
              <a:rPr lang="en-US" sz="2400" dirty="0"/>
              <a:t>Example from Elliot Anders </a:t>
            </a:r>
            <a:r>
              <a:rPr lang="en-US" sz="2400" dirty="0">
                <a:hlinkClick r:id="rId2"/>
              </a:rPr>
              <a:t>blog post</a:t>
            </a:r>
            <a:r>
              <a:rPr lang="en-US" sz="2400" dirty="0"/>
              <a:t> on visualizing his Facebook friends</a:t>
            </a:r>
          </a:p>
        </p:txBody>
      </p:sp>
      <p:pic>
        <p:nvPicPr>
          <p:cNvPr id="7" name="Picture 6">
            <a:extLst>
              <a:ext uri="{FF2B5EF4-FFF2-40B4-BE49-F238E27FC236}">
                <a16:creationId xmlns:a16="http://schemas.microsoft.com/office/drawing/2014/main" id="{482A3B62-C674-EC1F-2530-3188194CE917}"/>
              </a:ext>
            </a:extLst>
          </p:cNvPr>
          <p:cNvPicPr>
            <a:picLocks noChangeAspect="1"/>
          </p:cNvPicPr>
          <p:nvPr/>
        </p:nvPicPr>
        <p:blipFill>
          <a:blip r:embed="rId3"/>
          <a:stretch>
            <a:fillRect/>
          </a:stretch>
        </p:blipFill>
        <p:spPr>
          <a:xfrm>
            <a:off x="1149535" y="2234448"/>
            <a:ext cx="10434636" cy="4521676"/>
          </a:xfrm>
          <a:prstGeom prst="rect">
            <a:avLst/>
          </a:prstGeom>
        </p:spPr>
      </p:pic>
    </p:spTree>
    <p:extLst>
      <p:ext uri="{BB962C8B-B14F-4D97-AF65-F5344CB8AC3E}">
        <p14:creationId xmlns:p14="http://schemas.microsoft.com/office/powerpoint/2010/main" val="351320791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Modularity of Communities  </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54181" y="1007383"/>
                <a:ext cx="10776828" cy="5826642"/>
              </a:xfrm>
            </p:spPr>
            <p:txBody>
              <a:bodyPr>
                <a:normAutofit/>
              </a:bodyPr>
              <a:lstStyle/>
              <a:p>
                <a:pPr marL="0" indent="0">
                  <a:buNone/>
                </a:pPr>
                <a:r>
                  <a:rPr lang="en-US" b="1" dirty="0"/>
                  <a:t>Modularity</a:t>
                </a:r>
                <a:r>
                  <a:rPr lang="en-US" dirty="0"/>
                  <a:t> estimates the extent that edges concentrate in communities </a:t>
                </a:r>
              </a:p>
              <a:p>
                <a:r>
                  <a:rPr lang="en-US" dirty="0"/>
                  <a:t>Start with a set of two or more groups </a:t>
                </a:r>
                <a14:m>
                  <m:oMath xmlns:m="http://schemas.openxmlformats.org/officeDocument/2006/math">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b="0" i="1" smtClean="0">
                                <a:latin typeface="Cambria Math" panose="02040503050406030204" pitchFamily="18" charset="0"/>
                              </a:rPr>
                              <m:t>2</m:t>
                            </m:r>
                          </m:sub>
                        </m:sSub>
                        <m:r>
                          <a:rPr lang="en-US" i="1">
                            <a:latin typeface="Cambria Math" panose="02040503050406030204" pitchFamily="18" charset="0"/>
                          </a:rPr>
                          <m:t>,</m:t>
                        </m:r>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b="0" i="1" smtClean="0">
                                <a:latin typeface="Cambria Math" panose="02040503050406030204" pitchFamily="18" charset="0"/>
                              </a:rPr>
                              <m:t>𝑞</m:t>
                            </m:r>
                          </m:sub>
                        </m:sSub>
                      </m:e>
                    </m:d>
                  </m:oMath>
                </a14:m>
                <a:endParaRPr lang="en-US" dirty="0"/>
              </a:p>
              <a:p>
                <a:r>
                  <a:rPr lang="en-US" dirty="0"/>
                  <a:t>Express the number of edges within groups:  </a:t>
                </a:r>
              </a:p>
              <a:p>
                <a:pPr marL="0" indent="0">
                  <a:buNone/>
                </a:pPr>
                <a14:m>
                  <m:oMathPara xmlns:m="http://schemas.openxmlformats.org/officeDocument/2006/math">
                    <m:oMath>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𝑒</m:t>
                          </m:r>
                          <m:r>
                            <a:rPr lang="en-US" b="0" i="1" smtClean="0">
                              <a:latin typeface="Cambria Math" panose="02040503050406030204" pitchFamily="18" charset="0"/>
                            </a:rPr>
                            <m:t>𝑑𝑔𝑒𝑠</m:t>
                          </m:r>
                          <m:r>
                            <a:rPr lang="en-US" b="0" i="1" smtClean="0">
                              <a:latin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𝐺</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rPr>
                            <m:t>)</m:t>
                          </m:r>
                        </m:sub>
                        <m:sup/>
                        <m:e>
                          <m:sSub>
                            <m:sSubPr>
                              <m:ctrlPr>
                                <a:rPr lang="en-US" i="1" smtClean="0">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𝛿</m:t>
                              </m:r>
                            </m:e>
                            <m:sub>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b="0" i="1" smtClean="0">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b="0" i="1" smtClean="0">
                                      <a:latin typeface="Cambria Math" panose="02040503050406030204" pitchFamily="18" charset="0"/>
                                    </a:rPr>
                                    <m:t>𝑗</m:t>
                                  </m:r>
                                </m:sub>
                              </m:sSub>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nary>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𝛿</m:t>
                              </m:r>
                            </m:e>
                            <m:sub>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𝑗</m:t>
                                  </m:r>
                                </m:sub>
                              </m:sSub>
                            </m:sub>
                          </m:sSub>
                        </m:e>
                      </m:nary>
                    </m:oMath>
                  </m:oMathPara>
                </a14:m>
                <a:endParaRPr lang="en-US" dirty="0"/>
              </a:p>
              <a:p>
                <a:pPr marL="457200" lvl="1" indent="0">
                  <a:buNone/>
                </a:pPr>
                <a:r>
                  <a:rPr lang="en-US" dirty="0"/>
                  <a:t>Where</a:t>
                </a:r>
              </a:p>
              <a:p>
                <a:pPr marL="457200" lvl="1" indent="0">
                  <a:buNone/>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Sub>
                    <m:r>
                      <a:rPr lang="en-US" b="0" i="1" smtClean="0">
                        <a:latin typeface="Cambria Math" panose="02040503050406030204" pitchFamily="18" charset="0"/>
                      </a:rPr>
                      <m:t>=</m:t>
                    </m:r>
                  </m:oMath>
                </a14:m>
                <a:r>
                  <a:rPr lang="en-US" dirty="0"/>
                  <a:t> </a:t>
                </a:r>
                <a:r>
                  <a:rPr lang="en-US" dirty="0" err="1"/>
                  <a:t>i,j</a:t>
                </a:r>
                <a:r>
                  <a:rPr lang="en-US" dirty="0"/>
                  <a:t> </a:t>
                </a:r>
                <a:r>
                  <a:rPr lang="en-US" dirty="0" err="1"/>
                  <a:t>th</a:t>
                </a:r>
                <a:r>
                  <a:rPr lang="en-US" dirty="0"/>
                  <a:t> element of the association matrix</a:t>
                </a:r>
              </a:p>
              <a:p>
                <a:pPr marL="457200" lvl="1" indent="0">
                  <a:buNone/>
                </a:pP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𝛿</m:t>
                        </m:r>
                      </m:e>
                      <m:sub>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𝑗</m:t>
                            </m:r>
                          </m:sub>
                        </m:sSub>
                      </m:sub>
                    </m:sSub>
                    <m:r>
                      <a:rPr lang="en-US" b="0" i="1" smtClean="0">
                        <a:latin typeface="Cambria Math" panose="02040503050406030204" pitchFamily="18" charset="0"/>
                      </a:rPr>
                      <m:t>=</m:t>
                    </m:r>
                  </m:oMath>
                </a14:m>
                <a:r>
                  <a:rPr lang="en-US" dirty="0"/>
                  <a:t> the </a:t>
                </a:r>
                <a:r>
                  <a:rPr lang="en-US" b="1" dirty="0" err="1"/>
                  <a:t>Kroneker</a:t>
                </a:r>
                <a:r>
                  <a:rPr lang="en-US" b="1" dirty="0"/>
                  <a:t>-delta function </a:t>
                </a:r>
                <a14:m>
                  <m:oMath xmlns:m="http://schemas.openxmlformats.org/officeDocument/2006/math">
                    <m:r>
                      <a:rPr lang="en-US" b="0" i="0" smtClean="0">
                        <a:latin typeface="Cambria Math" panose="02040503050406030204" pitchFamily="18" charset="0"/>
                      </a:rPr>
                      <m:t>=</m:t>
                    </m:r>
                    <m:d>
                      <m:dPr>
                        <m:begChr m:val="{"/>
                        <m:endChr m:val=""/>
                        <m:ctrlPr>
                          <a:rPr lang="en-US" i="1" smtClean="0">
                            <a:latin typeface="Cambria Math" panose="02040503050406030204" pitchFamily="18" charset="0"/>
                          </a:rPr>
                        </m:ctrlPr>
                      </m:dPr>
                      <m:e>
                        <m:eqArr>
                          <m:eqArrPr>
                            <m:ctrlPr>
                              <a:rPr lang="en-US" i="1" smtClean="0">
                                <a:latin typeface="Cambria Math" panose="02040503050406030204" pitchFamily="18" charset="0"/>
                              </a:rPr>
                            </m:ctrlPr>
                          </m:eqArrPr>
                          <m:e>
                            <m:r>
                              <a:rPr lang="en-US" b="0" i="1" smtClean="0">
                                <a:latin typeface="Cambria Math" panose="02040503050406030204" pitchFamily="18" charset="0"/>
                              </a:rPr>
                              <m:t>1 </m:t>
                            </m:r>
                            <m:r>
                              <a:rPr lang="en-US" b="0" i="1" smtClean="0">
                                <a:latin typeface="Cambria Math" panose="02040503050406030204" pitchFamily="18" charset="0"/>
                              </a:rPr>
                              <m:t>𝑖𝑖𝑓</m:t>
                            </m:r>
                            <m:sSub>
                              <m:sSubPr>
                                <m:ctrlPr>
                                  <a:rPr lang="en-US" b="0" i="1" smtClean="0">
                                    <a:latin typeface="Cambria Math" panose="02040503050406030204" pitchFamily="18" charset="0"/>
                                  </a:rPr>
                                </m:ctrlPr>
                              </m:sSubPr>
                              <m:e>
                                <m:r>
                                  <a:rPr lang="en-US" b="0" i="1" smtClean="0">
                                    <a:latin typeface="Cambria Math" panose="02040503050406030204" pitchFamily="18" charset="0"/>
                                  </a:rPr>
                                  <m:t> </m:t>
                                </m:r>
                                <m:r>
                                  <a:rPr lang="en-US" i="1">
                                    <a:latin typeface="Cambria Math" panose="02040503050406030204" pitchFamily="18" charset="0"/>
                                  </a:rPr>
                                  <m:t>𝑔</m:t>
                                </m:r>
                              </m:e>
                              <m:sub>
                                <m:r>
                                  <a:rPr lang="en-US" i="1">
                                    <a:latin typeface="Cambria Math" panose="02040503050406030204" pitchFamily="18" charset="0"/>
                                  </a:rPr>
                                  <m:t>𝑖</m:t>
                                </m:r>
                              </m:sub>
                            </m:sSub>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𝑗</m:t>
                                </m:r>
                              </m:sub>
                            </m:sSub>
                          </m:e>
                          <m:e>
                            <m:r>
                              <a:rPr lang="en-US" b="0" i="1" smtClean="0">
                                <a:latin typeface="Cambria Math" panose="02040503050406030204" pitchFamily="18" charset="0"/>
                              </a:rPr>
                              <m:t>0 </m:t>
                            </m:r>
                            <m:r>
                              <a:rPr lang="en-US" b="0" i="1" smtClean="0">
                                <a:latin typeface="Cambria Math" panose="02040503050406030204" pitchFamily="18" charset="0"/>
                              </a:rPr>
                              <m:t>𝑜𝑡ℎ𝑒𝑟𝑤𝑖𝑠𝑒</m:t>
                            </m:r>
                          </m:e>
                        </m:eqArr>
                      </m:e>
                    </m:d>
                  </m:oMath>
                </a14:m>
                <a:r>
                  <a:rPr lang="en-US" dirty="0"/>
                  <a:t> </a:t>
                </a:r>
              </a:p>
              <a:p>
                <a:pPr marL="457200" lvl="1" indent="0">
                  <a:buNone/>
                </a:pPr>
                <a:r>
                  <a:rPr lang="en-US" dirty="0" err="1"/>
                  <a:t>Kroneker</a:t>
                </a:r>
                <a:r>
                  <a:rPr lang="en-US" dirty="0"/>
                  <a:t>-delta function is indicator nodes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𝑖</m:t>
                        </m:r>
                      </m:sub>
                    </m:sSub>
                  </m:oMath>
                </a14:m>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𝑗</m:t>
                        </m:r>
                      </m:sub>
                    </m:sSub>
                  </m:oMath>
                </a14:m>
                <a:r>
                  <a:rPr lang="en-US" dirty="0"/>
                  <a:t> are in the same group</a:t>
                </a:r>
              </a:p>
              <a:p>
                <a:pPr marL="457200" lvl="1" indent="0">
                  <a:buNone/>
                </a:pPr>
                <a:r>
                  <a:rPr lang="en-US" dirty="0"/>
                  <a:t>Factor of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oMath>
                </a14:m>
                <a:r>
                  <a:rPr lang="en-US" dirty="0"/>
                  <a:t> required for undirected graph to only count each edge once</a:t>
                </a:r>
              </a:p>
            </p:txBody>
          </p:sp>
        </mc:Choice>
        <mc:Fallback xmlns="">
          <p:sp>
            <p:nvSpPr>
              <p:cNvPr id="3" name="Content Placeholder 2">
                <a:extLst>
                  <a:ext uri="{FF2B5EF4-FFF2-40B4-BE49-F238E27FC236}">
                    <a16:creationId xmlns:a16="http://schemas.microsoft.com/office/drawing/2014/main" id="{CA03134D-F068-4BC9-B038-F3D5CBDDE3F9}"/>
                  </a:ext>
                </a:extLst>
              </p:cNvPr>
              <p:cNvSpPr>
                <a:spLocks noGrp="1" noRot="1" noChangeAspect="1" noMove="1" noResize="1" noEditPoints="1" noAdjustHandles="1" noChangeArrowheads="1" noChangeShapeType="1" noTextEdit="1"/>
              </p:cNvSpPr>
              <p:nvPr>
                <p:ph idx="1"/>
              </p:nvPr>
            </p:nvSpPr>
            <p:spPr>
              <a:xfrm>
                <a:off x="754181" y="1007383"/>
                <a:ext cx="10776828" cy="5826642"/>
              </a:xfrm>
              <a:blipFill>
                <a:blip r:embed="rId2"/>
                <a:stretch>
                  <a:fillRect l="-1188" t="-1674" r="-113"/>
                </a:stretch>
              </a:blipFill>
            </p:spPr>
            <p:txBody>
              <a:bodyPr/>
              <a:lstStyle/>
              <a:p>
                <a:r>
                  <a:rPr lang="en-US">
                    <a:noFill/>
                  </a:rPr>
                  <a:t> </a:t>
                </a:r>
              </a:p>
            </p:txBody>
          </p:sp>
        </mc:Fallback>
      </mc:AlternateContent>
    </p:spTree>
    <p:extLst>
      <p:ext uri="{BB962C8B-B14F-4D97-AF65-F5344CB8AC3E}">
        <p14:creationId xmlns:p14="http://schemas.microsoft.com/office/powerpoint/2010/main" val="1782165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Modularity of Communities  </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75447" y="1208868"/>
                <a:ext cx="10792776" cy="5447426"/>
              </a:xfrm>
            </p:spPr>
            <p:txBody>
              <a:bodyPr>
                <a:normAutofit/>
              </a:bodyPr>
              <a:lstStyle/>
              <a:p>
                <a:pPr marL="0" indent="0">
                  <a:buNone/>
                </a:pPr>
                <a:r>
                  <a:rPr lang="en-US" b="1" dirty="0"/>
                  <a:t>Modularity</a:t>
                </a:r>
                <a:r>
                  <a:rPr lang="en-US" dirty="0"/>
                  <a:t> estimates the extent that edges concentrate in communities </a:t>
                </a:r>
              </a:p>
              <a:p>
                <a:r>
                  <a:rPr lang="en-US" dirty="0"/>
                  <a:t>Consider a </a:t>
                </a:r>
                <a:r>
                  <a:rPr lang="en-US" b="1" dirty="0"/>
                  <a:t>random graph</a:t>
                </a:r>
                <a:r>
                  <a:rPr lang="en-US" dirty="0"/>
                  <a:t> with </a:t>
                </a:r>
                <a14:m>
                  <m:oMath xmlns:m="http://schemas.openxmlformats.org/officeDocument/2006/math">
                    <m:r>
                      <a:rPr lang="en-US" b="0" i="1" smtClean="0">
                        <a:latin typeface="Cambria Math" panose="02040503050406030204" pitchFamily="18" charset="0"/>
                      </a:rPr>
                      <m:t>𝑚</m:t>
                    </m:r>
                  </m:oMath>
                </a14:m>
                <a:r>
                  <a:rPr lang="en-US" dirty="0"/>
                  <a:t> edges and </a:t>
                </a:r>
                <a14:m>
                  <m:oMath xmlns:m="http://schemas.openxmlformats.org/officeDocument/2006/math">
                    <m:r>
                      <a:rPr lang="en-US" b="0" i="1" smtClean="0">
                        <a:latin typeface="Cambria Math" panose="02040503050406030204" pitchFamily="18" charset="0"/>
                      </a:rPr>
                      <m:t>2</m:t>
                    </m:r>
                    <m:r>
                      <a:rPr lang="en-US" b="0" i="1" smtClean="0">
                        <a:latin typeface="Cambria Math" panose="02040503050406030204" pitchFamily="18" charset="0"/>
                      </a:rPr>
                      <m:t>𝑚</m:t>
                    </m:r>
                  </m:oMath>
                </a14:m>
                <a:r>
                  <a:rPr lang="en-US" dirty="0"/>
                  <a:t> endpoints </a:t>
                </a:r>
              </a:p>
              <a:p>
                <a:r>
                  <a:rPr lang="en-US" dirty="0"/>
                  <a:t>Expected number of edges on path from node,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𝑖</m:t>
                        </m:r>
                      </m:sub>
                    </m:sSub>
                  </m:oMath>
                </a14:m>
                <a:r>
                  <a:rPr lang="en-US" dirty="0"/>
                  <a:t>, with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i="1">
                            <a:latin typeface="Cambria Math" panose="02040503050406030204" pitchFamily="18" charset="0"/>
                          </a:rPr>
                          <m:t>𝑖</m:t>
                        </m:r>
                      </m:sub>
                    </m:sSub>
                  </m:oMath>
                </a14:m>
                <a:r>
                  <a:rPr lang="en-US" dirty="0"/>
                  <a:t> endpoints (degree) to node ,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b="0" i="1" smtClean="0">
                            <a:latin typeface="Cambria Math" panose="02040503050406030204" pitchFamily="18" charset="0"/>
                          </a:rPr>
                          <m:t>𝑗</m:t>
                        </m:r>
                      </m:sub>
                    </m:sSub>
                  </m:oMath>
                </a14:m>
                <a:r>
                  <a:rPr lang="en-US" dirty="0"/>
                  <a:t>, with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𝑘</m:t>
                        </m:r>
                      </m:e>
                      <m:sub>
                        <m:r>
                          <a:rPr lang="en-US" b="0" i="1" smtClean="0">
                            <a:latin typeface="Cambria Math" panose="02040503050406030204" pitchFamily="18" charset="0"/>
                          </a:rPr>
                          <m:t>𝑗</m:t>
                        </m:r>
                      </m:sub>
                    </m:sSub>
                  </m:oMath>
                </a14:m>
                <a:r>
                  <a:rPr lang="en-US" dirty="0"/>
                  <a:t> endpoints is: </a:t>
                </a:r>
              </a:p>
              <a:p>
                <a:pPr marL="0" indent="0">
                  <a:buNone/>
                </a:pPr>
                <a14:m>
                  <m:oMathPara xmlns:m="http://schemas.openxmlformats.org/officeDocument/2006/math">
                    <m:oMath>
                      <m:r>
                        <a:rPr lang="en-US" b="0" i="1" smtClean="0">
                          <a:latin typeface="Cambria Math" panose="02040503050406030204" pitchFamily="18" charset="0"/>
                        </a:rPr>
                        <m:t>𝐸</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𝑒𝑑𝑔𝑒𝑠</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e>
                      </m:d>
                      <m:r>
                        <a:rPr lang="en-US" b="0" i="1" smtClean="0">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𝑘</m:t>
                              </m:r>
                            </m:e>
                            <m:sub>
                              <m:r>
                                <a:rPr lang="en-US" i="1">
                                  <a:latin typeface="Cambria Math" panose="02040503050406030204" pitchFamily="18" charset="0"/>
                                </a:rPr>
                                <m:t>𝑖</m:t>
                              </m:r>
                            </m:sub>
                          </m:sSub>
                          <m:sSub>
                            <m:sSubPr>
                              <m:ctrlPr>
                                <a:rPr lang="en-US" i="1">
                                  <a:latin typeface="Cambria Math" panose="02040503050406030204" pitchFamily="18" charset="0"/>
                                </a:rPr>
                              </m:ctrlPr>
                            </m:sSubPr>
                            <m:e>
                              <m:r>
                                <a:rPr lang="en-US" i="1">
                                  <a:latin typeface="Cambria Math" panose="02040503050406030204" pitchFamily="18" charset="0"/>
                                </a:rPr>
                                <m:t>𝑘</m:t>
                              </m:r>
                            </m:e>
                            <m:sub>
                              <m:r>
                                <a:rPr lang="en-US" i="1">
                                  <a:latin typeface="Cambria Math" panose="02040503050406030204" pitchFamily="18" charset="0"/>
                                </a:rPr>
                                <m:t>𝑗</m:t>
                              </m:r>
                            </m:sub>
                          </m:sSub>
                        </m:num>
                        <m:den>
                          <m:r>
                            <a:rPr lang="en-US" i="1">
                              <a:latin typeface="Cambria Math" panose="02040503050406030204" pitchFamily="18" charset="0"/>
                            </a:rPr>
                            <m:t>2</m:t>
                          </m:r>
                          <m:r>
                            <a:rPr lang="en-US" i="1">
                              <a:latin typeface="Cambria Math" panose="02040503050406030204" pitchFamily="18" charset="0"/>
                            </a:rPr>
                            <m:t>𝑚</m:t>
                          </m:r>
                        </m:den>
                      </m:f>
                    </m:oMath>
                  </m:oMathPara>
                </a14:m>
                <a:endParaRPr lang="en-US" dirty="0"/>
              </a:p>
              <a:p>
                <a:r>
                  <a:rPr lang="en-US" dirty="0"/>
                  <a:t>Therefore, the expected number of edges in the groups is:  </a:t>
                </a:r>
              </a:p>
              <a:p>
                <a:pPr marL="0" indent="0">
                  <a:buNone/>
                </a:pPr>
                <a14:m>
                  <m:oMathPara xmlns:m="http://schemas.openxmlformats.org/officeDocument/2006/math">
                    <m:oMath>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up/>
                        <m:e>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𝑖</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𝑗</m:t>
                                  </m:r>
                                </m:sub>
                              </m:sSub>
                            </m:num>
                            <m:den>
                              <m:r>
                                <a:rPr lang="en-US" b="0" i="1" smtClean="0">
                                  <a:latin typeface="Cambria Math" panose="02040503050406030204" pitchFamily="18" charset="0"/>
                                </a:rPr>
                                <m:t>2</m:t>
                              </m:r>
                              <m:r>
                                <a:rPr lang="en-US" b="0" i="1" smtClean="0">
                                  <a:latin typeface="Cambria Math" panose="02040503050406030204" pitchFamily="18" charset="0"/>
                                </a:rPr>
                                <m:t>𝑚</m:t>
                              </m:r>
                            </m:den>
                          </m:f>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𝛿</m:t>
                              </m:r>
                            </m:e>
                            <m:sub>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𝑗</m:t>
                                  </m:r>
                                </m:sub>
                              </m:sSub>
                            </m:sub>
                          </m:sSub>
                        </m:e>
                      </m:nary>
                    </m:oMath>
                  </m:oMathPara>
                </a14:m>
                <a:endParaRPr lang="en-US" dirty="0"/>
              </a:p>
              <a:p>
                <a:pPr marL="0" indent="0">
                  <a:buNone/>
                </a:pPr>
                <a:r>
                  <a:rPr lang="en-US" sz="2400" dirty="0"/>
                  <a:t>Factor of </a:t>
                </a:r>
                <a14:m>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2</m:t>
                        </m:r>
                      </m:den>
                    </m:f>
                  </m:oMath>
                </a14:m>
                <a:r>
                  <a:rPr lang="en-US" sz="2400" dirty="0"/>
                  <a:t> required for undirected graph to only count each edge once</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CA03134D-F068-4BC9-B038-F3D5CBDDE3F9}"/>
                  </a:ext>
                </a:extLst>
              </p:cNvPr>
              <p:cNvSpPr>
                <a:spLocks noGrp="1" noRot="1" noChangeAspect="1" noMove="1" noResize="1" noEditPoints="1" noAdjustHandles="1" noChangeArrowheads="1" noChangeShapeType="1" noTextEdit="1"/>
              </p:cNvSpPr>
              <p:nvPr>
                <p:ph idx="1"/>
              </p:nvPr>
            </p:nvSpPr>
            <p:spPr>
              <a:xfrm>
                <a:off x="775447" y="1208868"/>
                <a:ext cx="10792776" cy="5447426"/>
              </a:xfrm>
              <a:blipFill>
                <a:blip r:embed="rId2"/>
                <a:stretch>
                  <a:fillRect l="-1129" t="-1790"/>
                </a:stretch>
              </a:blipFill>
            </p:spPr>
            <p:txBody>
              <a:bodyPr/>
              <a:lstStyle/>
              <a:p>
                <a:r>
                  <a:rPr lang="en-US">
                    <a:noFill/>
                  </a:rPr>
                  <a:t> </a:t>
                </a:r>
              </a:p>
            </p:txBody>
          </p:sp>
        </mc:Fallback>
      </mc:AlternateContent>
    </p:spTree>
    <p:extLst>
      <p:ext uri="{BB962C8B-B14F-4D97-AF65-F5344CB8AC3E}">
        <p14:creationId xmlns:p14="http://schemas.microsoft.com/office/powerpoint/2010/main" val="284284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Modularity of Communities  </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75447" y="1208868"/>
                <a:ext cx="10792776" cy="5447426"/>
              </a:xfrm>
            </p:spPr>
            <p:txBody>
              <a:bodyPr>
                <a:normAutofit/>
              </a:bodyPr>
              <a:lstStyle/>
              <a:p>
                <a:pPr marL="0" indent="0">
                  <a:buNone/>
                </a:pPr>
                <a:r>
                  <a:rPr lang="en-US" b="1" dirty="0"/>
                  <a:t>Modularity</a:t>
                </a:r>
                <a:r>
                  <a:rPr lang="en-US" dirty="0"/>
                  <a:t> estimates the extent that edges concentrate in communities </a:t>
                </a:r>
              </a:p>
              <a:p>
                <a:r>
                  <a:rPr lang="en-US" dirty="0"/>
                  <a:t>We want the difference between number of edges in communities and expected number of edges for a random graph</a:t>
                </a:r>
              </a:p>
              <a:p>
                <a:pPr marL="0" indent="0">
                  <a:buNone/>
                </a:pPr>
                <a14:m>
                  <m:oMathPara xmlns:m="http://schemas.openxmlformats.org/officeDocument/2006/math">
                    <m:oMath>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nary>
                        <m:naryPr>
                          <m:chr m:val="∑"/>
                          <m:supHide m:val="on"/>
                          <m:ctrlPr>
                            <a:rPr lang="en-US" i="1">
                              <a:latin typeface="Cambria Math" panose="02040503050406030204" pitchFamily="18" charset="0"/>
                            </a:rPr>
                          </m:ctrlPr>
                        </m:naryPr>
                        <m:sub>
                          <m:r>
                            <m:rPr>
                              <m:brk m:alnAt="7"/>
                            </m:rP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up/>
                        <m:e>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Sub>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𝛿</m:t>
                              </m:r>
                            </m:e>
                            <m:sub>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𝑗</m:t>
                                  </m:r>
                                </m:sub>
                              </m:sSub>
                            </m:sub>
                          </m:sSub>
                        </m:e>
                      </m:nary>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up/>
                        <m:e>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𝑖</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𝑗</m:t>
                                  </m:r>
                                </m:sub>
                              </m:sSub>
                            </m:num>
                            <m:den>
                              <m:r>
                                <a:rPr lang="en-US" b="0" i="1" smtClean="0">
                                  <a:latin typeface="Cambria Math" panose="02040503050406030204" pitchFamily="18" charset="0"/>
                                </a:rPr>
                                <m:t>2</m:t>
                              </m:r>
                              <m:r>
                                <a:rPr lang="en-US" b="0" i="1" smtClean="0">
                                  <a:latin typeface="Cambria Math" panose="02040503050406030204" pitchFamily="18" charset="0"/>
                                </a:rPr>
                                <m:t>𝑚</m:t>
                              </m:r>
                            </m:den>
                          </m:f>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𝛿</m:t>
                              </m:r>
                            </m:e>
                            <m:sub>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𝑗</m:t>
                                  </m:r>
                                </m:sub>
                              </m:sSub>
                            </m:sub>
                          </m:sSub>
                        </m:e>
                      </m:nary>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m:t>
                          </m:r>
                        </m:den>
                      </m:f>
                      <m:nary>
                        <m:naryPr>
                          <m:chr m:val="∑"/>
                          <m:supHide m:val="on"/>
                          <m:ctrlPr>
                            <a:rPr lang="en-US" i="1">
                              <a:latin typeface="Cambria Math" panose="02040503050406030204" pitchFamily="18" charset="0"/>
                            </a:rPr>
                          </m:ctrlPr>
                        </m:naryPr>
                        <m:sub>
                          <m:r>
                            <m:rPr>
                              <m:brk m:alnAt="7"/>
                            </m:rP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up/>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Sub>
                              <m:r>
                                <a:rPr lang="en-US" b="0" i="1" smtClean="0">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𝑘</m:t>
                                      </m:r>
                                    </m:e>
                                    <m:sub>
                                      <m:r>
                                        <a:rPr lang="en-US" i="1">
                                          <a:latin typeface="Cambria Math" panose="02040503050406030204" pitchFamily="18" charset="0"/>
                                        </a:rPr>
                                        <m:t>𝑖</m:t>
                                      </m:r>
                                    </m:sub>
                                  </m:sSub>
                                  <m:sSub>
                                    <m:sSubPr>
                                      <m:ctrlPr>
                                        <a:rPr lang="en-US" i="1">
                                          <a:latin typeface="Cambria Math" panose="02040503050406030204" pitchFamily="18" charset="0"/>
                                        </a:rPr>
                                      </m:ctrlPr>
                                    </m:sSubPr>
                                    <m:e>
                                      <m:r>
                                        <a:rPr lang="en-US" i="1">
                                          <a:latin typeface="Cambria Math" panose="02040503050406030204" pitchFamily="18" charset="0"/>
                                        </a:rPr>
                                        <m:t>𝑘</m:t>
                                      </m:r>
                                    </m:e>
                                    <m:sub>
                                      <m:r>
                                        <a:rPr lang="en-US" i="1">
                                          <a:latin typeface="Cambria Math" panose="02040503050406030204" pitchFamily="18" charset="0"/>
                                        </a:rPr>
                                        <m:t>𝑗</m:t>
                                      </m:r>
                                    </m:sub>
                                  </m:sSub>
                                </m:num>
                                <m:den>
                                  <m:r>
                                    <a:rPr lang="en-US" i="1">
                                      <a:latin typeface="Cambria Math" panose="02040503050406030204" pitchFamily="18" charset="0"/>
                                    </a:rPr>
                                    <m:t>2</m:t>
                                  </m:r>
                                  <m:r>
                                    <a:rPr lang="en-US" i="1">
                                      <a:latin typeface="Cambria Math" panose="02040503050406030204" pitchFamily="18" charset="0"/>
                                    </a:rPr>
                                    <m:t>𝑚</m:t>
                                  </m:r>
                                </m:den>
                              </m:f>
                            </m:e>
                          </m:d>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𝛿</m:t>
                              </m:r>
                            </m:e>
                            <m:sub>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𝑗</m:t>
                                  </m:r>
                                </m:sub>
                              </m:sSub>
                            </m:sub>
                          </m:sSub>
                        </m:e>
                      </m:nary>
                    </m:oMath>
                  </m:oMathPara>
                </a14:m>
                <a:endParaRPr lang="en-US" dirty="0"/>
              </a:p>
              <a:p>
                <a:r>
                  <a:rPr lang="en-US" dirty="0"/>
                  <a:t>Normalizing for the number of edges, </a:t>
                </a:r>
                <a14:m>
                  <m:oMath xmlns:m="http://schemas.openxmlformats.org/officeDocument/2006/math">
                    <m:r>
                      <a:rPr lang="en-US" b="0" i="1" smtClean="0">
                        <a:latin typeface="Cambria Math" panose="02040503050406030204" pitchFamily="18" charset="0"/>
                      </a:rPr>
                      <m:t>𝑚</m:t>
                    </m:r>
                  </m:oMath>
                </a14:m>
                <a:r>
                  <a:rPr lang="en-US" dirty="0"/>
                  <a:t>, the </a:t>
                </a:r>
                <a:r>
                  <a:rPr lang="en-US" b="1" dirty="0"/>
                  <a:t>expected Modularity, </a:t>
                </a:r>
                <a14:m>
                  <m:oMath xmlns:m="http://schemas.openxmlformats.org/officeDocument/2006/math">
                    <m:r>
                      <a:rPr lang="en-US" b="1" i="1" smtClean="0">
                        <a:latin typeface="Cambria Math" panose="02040503050406030204" pitchFamily="18" charset="0"/>
                      </a:rPr>
                      <m:t>𝑸</m:t>
                    </m:r>
                  </m:oMath>
                </a14:m>
                <a:r>
                  <a:rPr lang="en-US" dirty="0"/>
                  <a:t>, of a graph is:</a:t>
                </a:r>
              </a:p>
              <a:p>
                <a:pPr marL="0" indent="0">
                  <a:buNone/>
                </a:pPr>
                <a14:m>
                  <m:oMathPara xmlns:m="http://schemas.openxmlformats.org/officeDocument/2006/math">
                    <m:oMath>
                      <m:r>
                        <a:rPr lang="en-US" b="0" i="1" smtClean="0">
                          <a:latin typeface="Cambria Math" panose="02040503050406030204" pitchFamily="18" charset="0"/>
                        </a:rPr>
                        <m:t>𝑄</m:t>
                      </m:r>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m:t>
                          </m:r>
                          <m:r>
                            <a:rPr lang="en-US" b="0" i="1" smtClean="0">
                              <a:latin typeface="Cambria Math" panose="02040503050406030204" pitchFamily="18" charset="0"/>
                            </a:rPr>
                            <m:t>𝑚</m:t>
                          </m:r>
                        </m:den>
                      </m:f>
                      <m:nary>
                        <m:naryPr>
                          <m:chr m:val="∑"/>
                          <m:supHide m:val="on"/>
                          <m:ctrlPr>
                            <a:rPr lang="en-US" i="1">
                              <a:latin typeface="Cambria Math" panose="02040503050406030204" pitchFamily="18" charset="0"/>
                            </a:rPr>
                          </m:ctrlPr>
                        </m:naryPr>
                        <m:sub>
                          <m:r>
                            <m:rPr>
                              <m:brk m:alnAt="7"/>
                            </m:rP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up/>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Sub>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𝑘</m:t>
                                      </m:r>
                                    </m:e>
                                    <m:sub>
                                      <m:r>
                                        <a:rPr lang="en-US" i="1">
                                          <a:latin typeface="Cambria Math" panose="02040503050406030204" pitchFamily="18" charset="0"/>
                                        </a:rPr>
                                        <m:t>𝑖</m:t>
                                      </m:r>
                                    </m:sub>
                                  </m:sSub>
                                  <m:sSub>
                                    <m:sSubPr>
                                      <m:ctrlPr>
                                        <a:rPr lang="en-US" i="1">
                                          <a:latin typeface="Cambria Math" panose="02040503050406030204" pitchFamily="18" charset="0"/>
                                        </a:rPr>
                                      </m:ctrlPr>
                                    </m:sSubPr>
                                    <m:e>
                                      <m:r>
                                        <a:rPr lang="en-US" i="1">
                                          <a:latin typeface="Cambria Math" panose="02040503050406030204" pitchFamily="18" charset="0"/>
                                        </a:rPr>
                                        <m:t>𝑘</m:t>
                                      </m:r>
                                    </m:e>
                                    <m:sub>
                                      <m:r>
                                        <a:rPr lang="en-US" i="1">
                                          <a:latin typeface="Cambria Math" panose="02040503050406030204" pitchFamily="18" charset="0"/>
                                        </a:rPr>
                                        <m:t>𝑗</m:t>
                                      </m:r>
                                    </m:sub>
                                  </m:sSub>
                                </m:num>
                                <m:den>
                                  <m:r>
                                    <a:rPr lang="en-US" i="1">
                                      <a:latin typeface="Cambria Math" panose="02040503050406030204" pitchFamily="18" charset="0"/>
                                    </a:rPr>
                                    <m:t>2</m:t>
                                  </m:r>
                                  <m:r>
                                    <a:rPr lang="en-US" i="1">
                                      <a:latin typeface="Cambria Math" panose="02040503050406030204" pitchFamily="18" charset="0"/>
                                    </a:rPr>
                                    <m:t>𝑚</m:t>
                                  </m:r>
                                </m:den>
                              </m:f>
                            </m:e>
                          </m:d>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𝛿</m:t>
                              </m:r>
                            </m:e>
                            <m:sub>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𝑗</m:t>
                                  </m:r>
                                </m:sub>
                              </m:sSub>
                            </m:sub>
                          </m:sSub>
                        </m:e>
                      </m:nary>
                    </m:oMath>
                  </m:oMathPara>
                </a14:m>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CA03134D-F068-4BC9-B038-F3D5CBDDE3F9}"/>
                  </a:ext>
                </a:extLst>
              </p:cNvPr>
              <p:cNvSpPr>
                <a:spLocks noGrp="1" noRot="1" noChangeAspect="1" noMove="1" noResize="1" noEditPoints="1" noAdjustHandles="1" noChangeArrowheads="1" noChangeShapeType="1" noTextEdit="1"/>
              </p:cNvSpPr>
              <p:nvPr>
                <p:ph idx="1"/>
              </p:nvPr>
            </p:nvSpPr>
            <p:spPr>
              <a:xfrm>
                <a:off x="775447" y="1208868"/>
                <a:ext cx="10792776" cy="5447426"/>
              </a:xfrm>
              <a:blipFill>
                <a:blip r:embed="rId2"/>
                <a:stretch>
                  <a:fillRect l="-1129" t="-1790" r="-226"/>
                </a:stretch>
              </a:blipFill>
            </p:spPr>
            <p:txBody>
              <a:bodyPr/>
              <a:lstStyle/>
              <a:p>
                <a:r>
                  <a:rPr lang="en-US">
                    <a:noFill/>
                  </a:rPr>
                  <a:t> </a:t>
                </a:r>
              </a:p>
            </p:txBody>
          </p:sp>
        </mc:Fallback>
      </mc:AlternateContent>
    </p:spTree>
    <p:extLst>
      <p:ext uri="{BB962C8B-B14F-4D97-AF65-F5344CB8AC3E}">
        <p14:creationId xmlns:p14="http://schemas.microsoft.com/office/powerpoint/2010/main" val="3503197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9888"/>
            <a:ext cx="10515600" cy="620993"/>
          </a:xfrm>
        </p:spPr>
        <p:txBody>
          <a:bodyPr>
            <a:normAutofit fontScale="90000"/>
          </a:bodyPr>
          <a:lstStyle/>
          <a:p>
            <a:r>
              <a:rPr lang="en-US" dirty="0">
                <a:latin typeface="+mn-lt"/>
              </a:rPr>
              <a:t>Modularity of Communities  </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75447" y="1208868"/>
                <a:ext cx="10792776" cy="5447426"/>
              </a:xfrm>
            </p:spPr>
            <p:txBody>
              <a:bodyPr>
                <a:normAutofit/>
              </a:bodyPr>
              <a:lstStyle/>
              <a:p>
                <a:pPr marL="0" indent="0">
                  <a:buNone/>
                </a:pPr>
                <a:r>
                  <a:rPr lang="en-US" b="1" dirty="0"/>
                  <a:t>Modularity</a:t>
                </a:r>
                <a:r>
                  <a:rPr lang="en-US" dirty="0"/>
                  <a:t> estimates the extent that edges concentrate in communities </a:t>
                </a:r>
              </a:p>
              <a:p>
                <a:r>
                  <a:rPr lang="en-US" dirty="0"/>
                  <a:t>How can we use modularity to identify communities in a network? </a:t>
                </a:r>
              </a:p>
              <a:p>
                <a:pPr marL="0" indent="0">
                  <a:buNone/>
                </a:pPr>
                <a14:m>
                  <m:oMathPara xmlns:m="http://schemas.openxmlformats.org/officeDocument/2006/math">
                    <m:oMath>
                      <m:r>
                        <a:rPr lang="en-US" b="0" i="1" smtClean="0">
                          <a:latin typeface="Cambria Math" panose="02040503050406030204" pitchFamily="18" charset="0"/>
                        </a:rPr>
                        <m:t>𝑄</m:t>
                      </m:r>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m:t>
                          </m:r>
                          <m:r>
                            <a:rPr lang="en-US" b="0" i="1" smtClean="0">
                              <a:latin typeface="Cambria Math" panose="02040503050406030204" pitchFamily="18" charset="0"/>
                            </a:rPr>
                            <m:t>𝑚</m:t>
                          </m:r>
                        </m:den>
                      </m:f>
                      <m:nary>
                        <m:naryPr>
                          <m:chr m:val="∑"/>
                          <m:supHide m:val="on"/>
                          <m:ctrlPr>
                            <a:rPr lang="en-US" i="1">
                              <a:latin typeface="Cambria Math" panose="02040503050406030204" pitchFamily="18" charset="0"/>
                            </a:rPr>
                          </m:ctrlPr>
                        </m:naryPr>
                        <m:sub>
                          <m:r>
                            <m:rPr>
                              <m:brk m:alnAt="7"/>
                            </m:rP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up/>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Sub>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𝑘</m:t>
                                      </m:r>
                                    </m:e>
                                    <m:sub>
                                      <m:r>
                                        <a:rPr lang="en-US" i="1">
                                          <a:latin typeface="Cambria Math" panose="02040503050406030204" pitchFamily="18" charset="0"/>
                                        </a:rPr>
                                        <m:t>𝑖</m:t>
                                      </m:r>
                                    </m:sub>
                                  </m:sSub>
                                  <m:sSub>
                                    <m:sSubPr>
                                      <m:ctrlPr>
                                        <a:rPr lang="en-US" i="1">
                                          <a:latin typeface="Cambria Math" panose="02040503050406030204" pitchFamily="18" charset="0"/>
                                        </a:rPr>
                                      </m:ctrlPr>
                                    </m:sSubPr>
                                    <m:e>
                                      <m:r>
                                        <a:rPr lang="en-US" i="1">
                                          <a:latin typeface="Cambria Math" panose="02040503050406030204" pitchFamily="18" charset="0"/>
                                        </a:rPr>
                                        <m:t>𝑘</m:t>
                                      </m:r>
                                    </m:e>
                                    <m:sub>
                                      <m:r>
                                        <a:rPr lang="en-US" i="1">
                                          <a:latin typeface="Cambria Math" panose="02040503050406030204" pitchFamily="18" charset="0"/>
                                        </a:rPr>
                                        <m:t>𝑗</m:t>
                                      </m:r>
                                    </m:sub>
                                  </m:sSub>
                                </m:num>
                                <m:den>
                                  <m:r>
                                    <a:rPr lang="en-US" i="1">
                                      <a:latin typeface="Cambria Math" panose="02040503050406030204" pitchFamily="18" charset="0"/>
                                    </a:rPr>
                                    <m:t>2</m:t>
                                  </m:r>
                                  <m:r>
                                    <a:rPr lang="en-US" i="1">
                                      <a:latin typeface="Cambria Math" panose="02040503050406030204" pitchFamily="18" charset="0"/>
                                    </a:rPr>
                                    <m:t>𝑚</m:t>
                                  </m:r>
                                </m:den>
                              </m:f>
                            </m:e>
                          </m:d>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𝛿</m:t>
                              </m:r>
                            </m:e>
                            <m:sub>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𝑗</m:t>
                                  </m:r>
                                </m:sub>
                              </m:sSub>
                            </m:sub>
                          </m:sSub>
                        </m:e>
                      </m:nary>
                    </m:oMath>
                  </m:oMathPara>
                </a14:m>
                <a:endParaRPr lang="en-US" dirty="0"/>
              </a:p>
              <a:p>
                <a:r>
                  <a:rPr lang="en-US" dirty="0"/>
                  <a:t>Want to find community assignments that maximize </a:t>
                </a:r>
                <a:r>
                  <a:rPr lang="en-US" i="1" dirty="0"/>
                  <a:t>Q</a:t>
                </a:r>
                <a:r>
                  <a:rPr lang="en-US" dirty="0"/>
                  <a:t> for the graph</a:t>
                </a:r>
              </a:p>
              <a:p>
                <a:r>
                  <a:rPr lang="en-US" dirty="0"/>
                  <a:t>But how? </a:t>
                </a:r>
              </a:p>
              <a:p>
                <a:r>
                  <a:rPr lang="en-US" dirty="0"/>
                  <a:t>Could try possible combinations of community assignments for nodes </a:t>
                </a:r>
              </a:p>
              <a:p>
                <a:pPr lvl="1"/>
                <a:r>
                  <a:rPr lang="en-US" dirty="0"/>
                  <a:t>Very </a:t>
                </a:r>
                <a:r>
                  <a:rPr lang="en-US" b="1" dirty="0"/>
                  <a:t>high computational complexity</a:t>
                </a:r>
                <a:r>
                  <a:rPr lang="en-US" dirty="0"/>
                  <a:t> </a:t>
                </a:r>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sup>
                        </m:sSup>
                      </m:e>
                    </m:d>
                  </m:oMath>
                </a14:m>
                <a:r>
                  <a:rPr lang="en-US" dirty="0"/>
                  <a:t>!</a:t>
                </a:r>
              </a:p>
              <a:p>
                <a:pPr lvl="1"/>
                <a:r>
                  <a:rPr lang="en-US" dirty="0"/>
                  <a:t>Infeasible for all but tiny networks  </a:t>
                </a:r>
              </a:p>
              <a:p>
                <a:pPr lvl="1"/>
                <a:r>
                  <a:rPr lang="en-US" dirty="0"/>
                  <a:t>We say this is an </a:t>
                </a:r>
                <a:r>
                  <a:rPr lang="en-US" b="1" dirty="0"/>
                  <a:t>NP problem </a:t>
                </a:r>
                <a:r>
                  <a:rPr lang="en-US" dirty="0"/>
                  <a:t>– no known efficient exact algorithms! </a:t>
                </a:r>
              </a:p>
              <a:p>
                <a:r>
                  <a:rPr lang="en-US" dirty="0"/>
                  <a:t>We need a good heuristic! </a:t>
                </a:r>
              </a:p>
            </p:txBody>
          </p:sp>
        </mc:Choice>
        <mc:Fallback xmlns="">
          <p:sp>
            <p:nvSpPr>
              <p:cNvPr id="3" name="Content Placeholder 2">
                <a:extLst>
                  <a:ext uri="{FF2B5EF4-FFF2-40B4-BE49-F238E27FC236}">
                    <a16:creationId xmlns:a16="http://schemas.microsoft.com/office/drawing/2014/main" id="{CA03134D-F068-4BC9-B038-F3D5CBDDE3F9}"/>
                  </a:ext>
                </a:extLst>
              </p:cNvPr>
              <p:cNvSpPr>
                <a:spLocks noGrp="1" noRot="1" noChangeAspect="1" noMove="1" noResize="1" noEditPoints="1" noAdjustHandles="1" noChangeArrowheads="1" noChangeShapeType="1" noTextEdit="1"/>
              </p:cNvSpPr>
              <p:nvPr>
                <p:ph idx="1"/>
              </p:nvPr>
            </p:nvSpPr>
            <p:spPr>
              <a:xfrm>
                <a:off x="775447" y="1208868"/>
                <a:ext cx="10792776" cy="5447426"/>
              </a:xfrm>
              <a:blipFill>
                <a:blip r:embed="rId2"/>
                <a:stretch>
                  <a:fillRect l="-1129" t="-1790"/>
                </a:stretch>
              </a:blipFill>
            </p:spPr>
            <p:txBody>
              <a:bodyPr/>
              <a:lstStyle/>
              <a:p>
                <a:r>
                  <a:rPr lang="en-US">
                    <a:noFill/>
                  </a:rPr>
                  <a:t> </a:t>
                </a:r>
              </a:p>
            </p:txBody>
          </p:sp>
        </mc:Fallback>
      </mc:AlternateContent>
    </p:spTree>
    <p:extLst>
      <p:ext uri="{BB962C8B-B14F-4D97-AF65-F5344CB8AC3E}">
        <p14:creationId xmlns:p14="http://schemas.microsoft.com/office/powerpoint/2010/main" val="1046681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Modularity of Communities  </a:t>
            </a:r>
            <a:endParaRPr lang="en-US" dirty="0"/>
          </a:p>
        </p:txBody>
      </p:sp>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75447" y="1208868"/>
            <a:ext cx="10792776" cy="5447426"/>
          </a:xfrm>
        </p:spPr>
        <p:txBody>
          <a:bodyPr>
            <a:normAutofit/>
          </a:bodyPr>
          <a:lstStyle/>
          <a:p>
            <a:pPr marL="0" indent="0">
              <a:buNone/>
            </a:pPr>
            <a:r>
              <a:rPr lang="en-US" dirty="0"/>
              <a:t>Many heuristics for community search to maximize modularity</a:t>
            </a:r>
          </a:p>
          <a:p>
            <a:r>
              <a:rPr lang="en-US" dirty="0"/>
              <a:t>Methods that sample possible community assignments</a:t>
            </a:r>
          </a:p>
          <a:p>
            <a:pPr lvl="1"/>
            <a:r>
              <a:rPr lang="en-US" dirty="0"/>
              <a:t>Simulated annealing</a:t>
            </a:r>
          </a:p>
          <a:p>
            <a:pPr lvl="1"/>
            <a:r>
              <a:rPr lang="en-US" dirty="0"/>
              <a:t>Genetic algorithms </a:t>
            </a:r>
          </a:p>
          <a:p>
            <a:pPr lvl="1"/>
            <a:r>
              <a:rPr lang="en-US" dirty="0"/>
              <a:t>Generally, require significant computational power   </a:t>
            </a:r>
          </a:p>
          <a:p>
            <a:r>
              <a:rPr lang="en-US" dirty="0"/>
              <a:t>Optimization algorithms </a:t>
            </a:r>
          </a:p>
          <a:p>
            <a:pPr lvl="1"/>
            <a:r>
              <a:rPr lang="en-US" dirty="0"/>
              <a:t>Information theoretic loss function </a:t>
            </a:r>
          </a:p>
          <a:p>
            <a:pPr lvl="1"/>
            <a:r>
              <a:rPr lang="en-US" dirty="0"/>
              <a:t>Maximum likelihood methods </a:t>
            </a:r>
          </a:p>
          <a:p>
            <a:r>
              <a:rPr lang="en-US" b="1" dirty="0"/>
              <a:t>Greedy reallocation </a:t>
            </a:r>
            <a:r>
              <a:rPr lang="en-US" dirty="0"/>
              <a:t>of community assignments </a:t>
            </a:r>
          </a:p>
          <a:p>
            <a:r>
              <a:rPr lang="en-US" b="1" dirty="0"/>
              <a:t>Spectral Modularity </a:t>
            </a:r>
            <a:r>
              <a:rPr lang="en-US" dirty="0"/>
              <a:t>Maximization </a:t>
            </a:r>
          </a:p>
          <a:p>
            <a:endParaRPr lang="en-US" dirty="0"/>
          </a:p>
        </p:txBody>
      </p:sp>
    </p:spTree>
    <p:extLst>
      <p:ext uri="{BB962C8B-B14F-4D97-AF65-F5344CB8AC3E}">
        <p14:creationId xmlns:p14="http://schemas.microsoft.com/office/powerpoint/2010/main" val="3982950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D1A4C-A630-1922-B67D-67557E3EBB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4A7030-0773-DC04-E04E-AD0EED1B0EC5}"/>
              </a:ext>
            </a:extLst>
          </p:cNvPr>
          <p:cNvSpPr>
            <a:spLocks noGrp="1"/>
          </p:cNvSpPr>
          <p:nvPr>
            <p:ph type="title"/>
          </p:nvPr>
        </p:nvSpPr>
        <p:spPr>
          <a:xfrm>
            <a:off x="831850" y="1709738"/>
            <a:ext cx="10515600" cy="2282271"/>
          </a:xfrm>
        </p:spPr>
        <p:txBody>
          <a:bodyPr/>
          <a:lstStyle/>
          <a:p>
            <a:pPr algn="ctr"/>
            <a:r>
              <a:rPr lang="en-US" dirty="0"/>
              <a:t>Greedy Modularity Search</a:t>
            </a:r>
          </a:p>
        </p:txBody>
      </p:sp>
    </p:spTree>
    <p:extLst>
      <p:ext uri="{BB962C8B-B14F-4D97-AF65-F5344CB8AC3E}">
        <p14:creationId xmlns:p14="http://schemas.microsoft.com/office/powerpoint/2010/main" val="265147172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Greedy Modularity Search for Communities  </a:t>
            </a:r>
            <a:endParaRPr lang="en-US" dirty="0"/>
          </a:p>
        </p:txBody>
      </p:sp>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75447" y="1208868"/>
            <a:ext cx="10792776" cy="5447426"/>
          </a:xfrm>
        </p:spPr>
        <p:txBody>
          <a:bodyPr>
            <a:normAutofit/>
          </a:bodyPr>
          <a:lstStyle/>
          <a:p>
            <a:pPr marL="0" indent="0">
              <a:buNone/>
            </a:pPr>
            <a:r>
              <a:rPr lang="en-US" dirty="0"/>
              <a:t>Greedy reallocation of community assignments </a:t>
            </a:r>
          </a:p>
          <a:p>
            <a:r>
              <a:rPr lang="en-US" dirty="0"/>
              <a:t>Greedy algorithm may never find optimal solution </a:t>
            </a:r>
          </a:p>
          <a:p>
            <a:r>
              <a:rPr lang="en-US" dirty="0"/>
              <a:t>Accept any allocation that improves modularity - </a:t>
            </a:r>
            <a:r>
              <a:rPr lang="en-US" b="1" dirty="0"/>
              <a:t>greedy</a:t>
            </a:r>
          </a:p>
          <a:p>
            <a:r>
              <a:rPr lang="en-US" b="1" dirty="0"/>
              <a:t>No backtracking </a:t>
            </a:r>
            <a:r>
              <a:rPr lang="en-US" dirty="0"/>
              <a:t>– all assignments depend on current state of community assignments </a:t>
            </a:r>
          </a:p>
          <a:p>
            <a:r>
              <a:rPr lang="en-US" dirty="0"/>
              <a:t>Dependent on initial partition of network </a:t>
            </a:r>
          </a:p>
          <a:p>
            <a:pPr marL="457200" lvl="1" indent="0">
              <a:buNone/>
            </a:pPr>
            <a:endParaRPr lang="en-US" dirty="0"/>
          </a:p>
          <a:p>
            <a:endParaRPr lang="en-US" dirty="0"/>
          </a:p>
        </p:txBody>
      </p:sp>
    </p:spTree>
    <p:extLst>
      <p:ext uri="{BB962C8B-B14F-4D97-AF65-F5344CB8AC3E}">
        <p14:creationId xmlns:p14="http://schemas.microsoft.com/office/powerpoint/2010/main" val="2375204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Greedy Modularity Search for Communities  </a:t>
            </a:r>
            <a:endParaRPr lang="en-US" dirty="0"/>
          </a:p>
        </p:txBody>
      </p:sp>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75447" y="1208868"/>
            <a:ext cx="11324404" cy="5447426"/>
          </a:xfrm>
        </p:spPr>
        <p:txBody>
          <a:bodyPr>
            <a:normAutofit/>
          </a:bodyPr>
          <a:lstStyle/>
          <a:p>
            <a:pPr marL="0" indent="0">
              <a:buNone/>
            </a:pPr>
            <a:r>
              <a:rPr lang="en-US" dirty="0"/>
              <a:t>Greedy reallocation of community assignments </a:t>
            </a:r>
          </a:p>
          <a:p>
            <a:pPr marL="0" indent="0">
              <a:buNone/>
            </a:pPr>
            <a:r>
              <a:rPr lang="en-US" sz="2400" dirty="0">
                <a:latin typeface="Calibri Light" panose="020F0302020204030204" pitchFamily="34" charset="0"/>
                <a:cs typeface="Calibri Light" panose="020F0302020204030204" pitchFamily="34" charset="0"/>
              </a:rPr>
              <a:t>Procedure Division(Network):    </a:t>
            </a:r>
          </a:p>
          <a:p>
            <a:pPr marL="457200" lvl="1" indent="0">
              <a:buNone/>
            </a:pPr>
            <a:r>
              <a:rPr lang="en-US" dirty="0">
                <a:latin typeface="Calibri Light" panose="020F0302020204030204" pitchFamily="34" charset="0"/>
                <a:cs typeface="Calibri Light" panose="020F0302020204030204" pitchFamily="34" charset="0"/>
              </a:rPr>
              <a:t>C1, C2 &lt;- </a:t>
            </a:r>
            <a:r>
              <a:rPr lang="en-US" dirty="0" err="1">
                <a:latin typeface="Calibri Light" panose="020F0302020204030204" pitchFamily="34" charset="0"/>
                <a:cs typeface="Calibri Light" panose="020F0302020204030204" pitchFamily="34" charset="0"/>
              </a:rPr>
              <a:t>equal_division</a:t>
            </a:r>
            <a:r>
              <a:rPr lang="en-US" dirty="0">
                <a:latin typeface="Calibri Light" panose="020F0302020204030204" pitchFamily="34" charset="0"/>
                <a:cs typeface="Calibri Light" panose="020F0302020204030204" pitchFamily="34" charset="0"/>
              </a:rPr>
              <a:t> (Network)  # start with equal random division </a:t>
            </a:r>
          </a:p>
          <a:p>
            <a:pPr marL="457200" lvl="1" indent="0">
              <a:buNone/>
            </a:pPr>
            <a:r>
              <a:rPr lang="en-US" dirty="0">
                <a:latin typeface="Calibri Light" panose="020F0302020204030204" pitchFamily="34" charset="0"/>
                <a:cs typeface="Calibri Light" panose="020F0302020204030204" pitchFamily="34" charset="0"/>
              </a:rPr>
              <a:t>Network &lt;- </a:t>
            </a:r>
            <a:r>
              <a:rPr lang="en-US" dirty="0" err="1">
                <a:latin typeface="Calibri Light" panose="020F0302020204030204" pitchFamily="34" charset="0"/>
                <a:cs typeface="Calibri Light" panose="020F0302020204030204" pitchFamily="34" charset="0"/>
              </a:rPr>
              <a:t>community_assignments</a:t>
            </a:r>
            <a:r>
              <a:rPr lang="en-US" dirty="0">
                <a:latin typeface="Calibri Light" panose="020F0302020204030204" pitchFamily="34" charset="0"/>
                <a:cs typeface="Calibri Light" panose="020F0302020204030204" pitchFamily="34" charset="0"/>
              </a:rPr>
              <a:t>(C1, C2) # initial community assignments</a:t>
            </a:r>
          </a:p>
          <a:p>
            <a:pPr marL="457200" lvl="1" indent="0">
              <a:buNone/>
            </a:pPr>
            <a:r>
              <a:rPr lang="en-US" dirty="0">
                <a:latin typeface="Calibri Light" panose="020F0302020204030204" pitchFamily="34" charset="0"/>
                <a:cs typeface="Calibri Light" panose="020F0302020204030204" pitchFamily="34" charset="0"/>
              </a:rPr>
              <a:t>M &lt;- modularity(Network)  # initial modularity</a:t>
            </a:r>
          </a:p>
          <a:p>
            <a:pPr marL="457200" lvl="1" indent="0">
              <a:buNone/>
            </a:pPr>
            <a:r>
              <a:rPr lang="en-US" dirty="0">
                <a:latin typeface="Calibri Light" panose="020F0302020204030204" pitchFamily="34" charset="0"/>
                <a:cs typeface="Calibri Light" panose="020F0302020204030204" pitchFamily="34" charset="0"/>
              </a:rPr>
              <a:t>for n steps: </a:t>
            </a:r>
          </a:p>
          <a:p>
            <a:pPr marL="914400" lvl="2" indent="0">
              <a:buNone/>
            </a:pPr>
            <a:r>
              <a:rPr lang="en-US" sz="2400" dirty="0">
                <a:latin typeface="Calibri Light" panose="020F0302020204030204" pitchFamily="34" charset="0"/>
                <a:cs typeface="Calibri Light" panose="020F0302020204030204" pitchFamily="34" charset="0"/>
              </a:rPr>
              <a:t>node &lt;-  </a:t>
            </a:r>
            <a:r>
              <a:rPr lang="en-US" sz="2400" dirty="0" err="1">
                <a:latin typeface="Calibri Light" panose="020F0302020204030204" pitchFamily="34" charset="0"/>
                <a:cs typeface="Calibri Light" panose="020F0302020204030204" pitchFamily="34" charset="0"/>
              </a:rPr>
              <a:t>random_sample</a:t>
            </a:r>
            <a:r>
              <a:rPr lang="en-US" sz="2400" dirty="0">
                <a:latin typeface="Calibri Light" panose="020F0302020204030204" pitchFamily="34" charset="0"/>
                <a:cs typeface="Calibri Light" panose="020F0302020204030204" pitchFamily="34" charset="0"/>
              </a:rPr>
              <a:t>(Network) # sample node at random</a:t>
            </a:r>
          </a:p>
          <a:p>
            <a:pPr marL="914400" lvl="2" indent="0">
              <a:buNone/>
            </a:pPr>
            <a:r>
              <a:rPr lang="en-US" sz="2400" dirty="0" err="1">
                <a:latin typeface="Calibri Light" panose="020F0302020204030204" pitchFamily="34" charset="0"/>
                <a:cs typeface="Calibri Light" panose="020F0302020204030204" pitchFamily="34" charset="0"/>
              </a:rPr>
              <a:t>node_temp</a:t>
            </a:r>
            <a:r>
              <a:rPr lang="en-US" sz="2400" dirty="0">
                <a:latin typeface="Calibri Light" panose="020F0302020204030204" pitchFamily="34" charset="0"/>
                <a:cs typeface="Calibri Light" panose="020F0302020204030204" pitchFamily="34" charset="0"/>
              </a:rPr>
              <a:t> &lt;- </a:t>
            </a:r>
            <a:r>
              <a:rPr lang="en-US" sz="2400" dirty="0" err="1">
                <a:latin typeface="Calibri Light" panose="020F0302020204030204" pitchFamily="34" charset="0"/>
                <a:cs typeface="Calibri Light" panose="020F0302020204030204" pitchFamily="34" charset="0"/>
              </a:rPr>
              <a:t>switch_community</a:t>
            </a:r>
            <a:r>
              <a:rPr lang="en-US" sz="2400" dirty="0">
                <a:latin typeface="Calibri Light" panose="020F0302020204030204" pitchFamily="34" charset="0"/>
                <a:cs typeface="Calibri Light" panose="020F0302020204030204" pitchFamily="34" charset="0"/>
              </a:rPr>
              <a:t>(node) # change assignment of node</a:t>
            </a:r>
          </a:p>
          <a:p>
            <a:pPr marL="914400" lvl="2" indent="0">
              <a:buNone/>
            </a:pPr>
            <a:r>
              <a:rPr lang="en-US" sz="2400" dirty="0" err="1">
                <a:latin typeface="Calibri Light" panose="020F0302020204030204" pitchFamily="34" charset="0"/>
                <a:cs typeface="Calibri Light" panose="020F0302020204030204" pitchFamily="34" charset="0"/>
              </a:rPr>
              <a:t>M_temp</a:t>
            </a:r>
            <a:r>
              <a:rPr lang="en-US" sz="2400" dirty="0">
                <a:latin typeface="Calibri Light" panose="020F0302020204030204" pitchFamily="34" charset="0"/>
                <a:cs typeface="Calibri Light" panose="020F0302020204030204" pitchFamily="34" charset="0"/>
              </a:rPr>
              <a:t> &lt;- modularity(Network, </a:t>
            </a:r>
            <a:r>
              <a:rPr lang="en-US" sz="2400" dirty="0" err="1">
                <a:latin typeface="Calibri Light" panose="020F0302020204030204" pitchFamily="34" charset="0"/>
                <a:cs typeface="Calibri Light" panose="020F0302020204030204" pitchFamily="34" charset="0"/>
              </a:rPr>
              <a:t>node_temp</a:t>
            </a:r>
            <a:r>
              <a:rPr lang="en-US" sz="2400" dirty="0">
                <a:latin typeface="Calibri Light" panose="020F0302020204030204" pitchFamily="34" charset="0"/>
                <a:cs typeface="Calibri Light" panose="020F0302020204030204" pitchFamily="34" charset="0"/>
              </a:rPr>
              <a:t>) # measure modularity of assignment</a:t>
            </a:r>
          </a:p>
          <a:p>
            <a:pPr marL="914400" lvl="2" indent="0">
              <a:buNone/>
            </a:pPr>
            <a:r>
              <a:rPr lang="en-US" sz="2400" dirty="0">
                <a:latin typeface="Calibri Light" panose="020F0302020204030204" pitchFamily="34" charset="0"/>
                <a:cs typeface="Calibri Light" panose="020F0302020204030204" pitchFamily="34" charset="0"/>
              </a:rPr>
              <a:t>If </a:t>
            </a:r>
            <a:r>
              <a:rPr lang="en-US" sz="2400" dirty="0" err="1">
                <a:latin typeface="Calibri Light" panose="020F0302020204030204" pitchFamily="34" charset="0"/>
                <a:cs typeface="Calibri Light" panose="020F0302020204030204" pitchFamily="34" charset="0"/>
              </a:rPr>
              <a:t>M_temp</a:t>
            </a:r>
            <a:r>
              <a:rPr lang="en-US" sz="2400" dirty="0">
                <a:latin typeface="Calibri Light" panose="020F0302020204030204" pitchFamily="34" charset="0"/>
                <a:cs typeface="Calibri Light" panose="020F0302020204030204" pitchFamily="34" charset="0"/>
              </a:rPr>
              <a:t> &gt; M:  # greedy update of network</a:t>
            </a:r>
          </a:p>
          <a:p>
            <a:pPr marL="914400" lvl="2" indent="0">
              <a:buNone/>
            </a:pPr>
            <a:r>
              <a:rPr lang="en-US" sz="2400" dirty="0">
                <a:latin typeface="Calibri Light" panose="020F0302020204030204" pitchFamily="34" charset="0"/>
                <a:cs typeface="Calibri Light" panose="020F0302020204030204" pitchFamily="34" charset="0"/>
              </a:rPr>
              <a:t>     Network &lt;- </a:t>
            </a:r>
            <a:r>
              <a:rPr lang="en-US" sz="2400" dirty="0" err="1">
                <a:latin typeface="Calibri Light" panose="020F0302020204030204" pitchFamily="34" charset="0"/>
                <a:cs typeface="Calibri Light" panose="020F0302020204030204" pitchFamily="34" charset="0"/>
              </a:rPr>
              <a:t>community_assignments</a:t>
            </a:r>
            <a:r>
              <a:rPr lang="en-US" sz="2400" dirty="0">
                <a:latin typeface="Calibri Light" panose="020F0302020204030204" pitchFamily="34" charset="0"/>
                <a:cs typeface="Calibri Light" panose="020F0302020204030204" pitchFamily="34" charset="0"/>
              </a:rPr>
              <a:t>(</a:t>
            </a:r>
            <a:r>
              <a:rPr lang="en-US" sz="2400" dirty="0" err="1">
                <a:latin typeface="Calibri Light" panose="020F0302020204030204" pitchFamily="34" charset="0"/>
                <a:cs typeface="Calibri Light" panose="020F0302020204030204" pitchFamily="34" charset="0"/>
              </a:rPr>
              <a:t>M_temp</a:t>
            </a:r>
            <a:r>
              <a:rPr lang="en-US" sz="2400" dirty="0">
                <a:latin typeface="Calibri Light" panose="020F0302020204030204" pitchFamily="34" charset="0"/>
                <a:cs typeface="Calibri Light" panose="020F0302020204030204" pitchFamily="34" charset="0"/>
              </a:rPr>
              <a:t>)</a:t>
            </a:r>
          </a:p>
          <a:p>
            <a:pPr marL="914400" lvl="2" indent="0">
              <a:buNone/>
            </a:pPr>
            <a:r>
              <a:rPr lang="en-US" sz="2400" dirty="0">
                <a:latin typeface="Calibri Light" panose="020F0302020204030204" pitchFamily="34" charset="0"/>
                <a:cs typeface="Calibri Light" panose="020F0302020204030204" pitchFamily="34" charset="0"/>
              </a:rPr>
              <a:t>     M = </a:t>
            </a:r>
            <a:r>
              <a:rPr lang="en-US" sz="2400" dirty="0" err="1">
                <a:latin typeface="Calibri Light" panose="020F0302020204030204" pitchFamily="34" charset="0"/>
                <a:cs typeface="Calibri Light" panose="020F0302020204030204" pitchFamily="34" charset="0"/>
              </a:rPr>
              <a:t>M_temp</a:t>
            </a:r>
            <a:endParaRPr lang="en-US" sz="2400" dirty="0">
              <a:latin typeface="Calibri Light" panose="020F0302020204030204" pitchFamily="34" charset="0"/>
              <a:cs typeface="Calibri Light" panose="020F0302020204030204" pitchFamily="34" charset="0"/>
            </a:endParaRPr>
          </a:p>
          <a:p>
            <a:pPr marL="457200" lvl="1" indent="0">
              <a:buNone/>
            </a:pPr>
            <a:r>
              <a:rPr lang="en-US" dirty="0">
                <a:latin typeface="Calibri Light" panose="020F0302020204030204" pitchFamily="34" charset="0"/>
                <a:cs typeface="Calibri Light" panose="020F0302020204030204" pitchFamily="34" charset="0"/>
              </a:rPr>
              <a:t>return(network)</a:t>
            </a:r>
          </a:p>
          <a:p>
            <a:pPr marL="914400" lvl="2" indent="0">
              <a:buNone/>
            </a:pPr>
            <a:endParaRPr lang="en-US" dirty="0"/>
          </a:p>
          <a:p>
            <a:pPr marL="457200" lvl="1" indent="0">
              <a:buNone/>
            </a:pPr>
            <a:endParaRPr lang="en-US" dirty="0"/>
          </a:p>
          <a:p>
            <a:endParaRPr lang="en-US" dirty="0"/>
          </a:p>
        </p:txBody>
      </p:sp>
    </p:spTree>
    <p:extLst>
      <p:ext uri="{BB962C8B-B14F-4D97-AF65-F5344CB8AC3E}">
        <p14:creationId xmlns:p14="http://schemas.microsoft.com/office/powerpoint/2010/main" val="48157857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Greedy Modularity Search for Communities  </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75447" y="1208868"/>
                <a:ext cx="10792776" cy="5447426"/>
              </a:xfrm>
            </p:spPr>
            <p:txBody>
              <a:bodyPr>
                <a:normAutofit/>
              </a:bodyPr>
              <a:lstStyle/>
              <a:p>
                <a:pPr marL="0" indent="0">
                  <a:buNone/>
                </a:pPr>
                <a:r>
                  <a:rPr lang="en-US" dirty="0"/>
                  <a:t>Greedy reallocation of community assignments </a:t>
                </a:r>
              </a:p>
              <a:p>
                <a:r>
                  <a:rPr lang="en-US" dirty="0"/>
                  <a:t>Greedy algorithm may never find optimal solution </a:t>
                </a:r>
              </a:p>
              <a:p>
                <a:r>
                  <a:rPr lang="en-US" dirty="0"/>
                  <a:t>Requires computing modularity at each step</a:t>
                </a:r>
              </a:p>
              <a:p>
                <a:pPr lvl="1"/>
                <a:r>
                  <a:rPr lang="en-US" dirty="0"/>
                  <a:t>Can do incremental updates</a:t>
                </a:r>
              </a:p>
              <a:p>
                <a:pPr lvl="1"/>
                <a:r>
                  <a:rPr lang="en-US" dirty="0"/>
                  <a:t>Computationally intensive </a:t>
                </a:r>
              </a:p>
              <a:p>
                <a:r>
                  <a:rPr lang="en-US" dirty="0"/>
                  <a:t>Can recursively continue partitions of the components </a:t>
                </a:r>
              </a:p>
              <a:p>
                <a:pPr lvl="1"/>
                <a:r>
                  <a:rPr lang="en-US" dirty="0"/>
                  <a:t>Stopping criteria when modularity no longer increases  </a:t>
                </a:r>
              </a:p>
              <a:p>
                <a:r>
                  <a:rPr lang="en-US" dirty="0"/>
                  <a:t>Computational complexity </a:t>
                </a:r>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𝑂</m:t>
                    </m:r>
                    <m:d>
                      <m:dPr>
                        <m:ctrlPr>
                          <a:rPr lang="en-US" b="0" i="1" smtClean="0">
                            <a:latin typeface="Cambria Math" panose="02040503050406030204" pitchFamily="18" charset="0"/>
                            <a:ea typeface="Cambria Math" panose="02040503050406030204" pitchFamily="18" charset="0"/>
                          </a:rPr>
                        </m:ctrlPr>
                      </m:dPr>
                      <m:e>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𝑛</m:t>
                            </m:r>
                          </m:e>
                          <m:sup>
                            <m:r>
                              <a:rPr lang="en-US" b="0" i="1" smtClean="0">
                                <a:latin typeface="Cambria Math" panose="02040503050406030204" pitchFamily="18" charset="0"/>
                                <a:ea typeface="Cambria Math" panose="02040503050406030204" pitchFamily="18" charset="0"/>
                              </a:rPr>
                              <m:t>2</m:t>
                            </m:r>
                          </m:sup>
                        </m:sSup>
                      </m:e>
                    </m:d>
                  </m:oMath>
                </a14:m>
                <a:endParaRPr lang="en-US" dirty="0"/>
              </a:p>
              <a:p>
                <a:pPr marL="914400" lvl="2" indent="0">
                  <a:buNone/>
                </a:pPr>
                <a:endParaRPr lang="en-US" dirty="0"/>
              </a:p>
              <a:p>
                <a:pPr marL="457200" lvl="1" indent="0">
                  <a:buNone/>
                </a:pPr>
                <a:endParaRPr lang="en-US" dirty="0"/>
              </a:p>
              <a:p>
                <a:endParaRPr lang="en-US" dirty="0"/>
              </a:p>
            </p:txBody>
          </p:sp>
        </mc:Choice>
        <mc:Fallback xmlns="">
          <p:sp>
            <p:nvSpPr>
              <p:cNvPr id="3" name="Content Placeholder 2">
                <a:extLst>
                  <a:ext uri="{FF2B5EF4-FFF2-40B4-BE49-F238E27FC236}">
                    <a16:creationId xmlns:a16="http://schemas.microsoft.com/office/drawing/2014/main" id="{CA03134D-F068-4BC9-B038-F3D5CBDDE3F9}"/>
                  </a:ext>
                </a:extLst>
              </p:cNvPr>
              <p:cNvSpPr>
                <a:spLocks noGrp="1" noRot="1" noChangeAspect="1" noMove="1" noResize="1" noEditPoints="1" noAdjustHandles="1" noChangeArrowheads="1" noChangeShapeType="1" noTextEdit="1"/>
              </p:cNvSpPr>
              <p:nvPr>
                <p:ph idx="1"/>
              </p:nvPr>
            </p:nvSpPr>
            <p:spPr>
              <a:xfrm>
                <a:off x="775447" y="1208868"/>
                <a:ext cx="10792776" cy="5447426"/>
              </a:xfrm>
              <a:blipFill>
                <a:blip r:embed="rId2"/>
                <a:stretch>
                  <a:fillRect l="-1129" t="-1790"/>
                </a:stretch>
              </a:blipFill>
            </p:spPr>
            <p:txBody>
              <a:bodyPr/>
              <a:lstStyle/>
              <a:p>
                <a:r>
                  <a:rPr lang="en-US">
                    <a:noFill/>
                  </a:rPr>
                  <a:t> </a:t>
                </a:r>
              </a:p>
            </p:txBody>
          </p:sp>
        </mc:Fallback>
      </mc:AlternateContent>
    </p:spTree>
    <p:extLst>
      <p:ext uri="{BB962C8B-B14F-4D97-AF65-F5344CB8AC3E}">
        <p14:creationId xmlns:p14="http://schemas.microsoft.com/office/powerpoint/2010/main" val="4176574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8C505-AF4B-957C-CA98-44FDD8F669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A91880-7EA1-0A90-77D5-659671D2A5F3}"/>
              </a:ext>
            </a:extLst>
          </p:cNvPr>
          <p:cNvSpPr>
            <a:spLocks noGrp="1"/>
          </p:cNvSpPr>
          <p:nvPr>
            <p:ph type="title"/>
          </p:nvPr>
        </p:nvSpPr>
        <p:spPr>
          <a:xfrm>
            <a:off x="831850" y="1709738"/>
            <a:ext cx="9918808" cy="2282271"/>
          </a:xfrm>
        </p:spPr>
        <p:txBody>
          <a:bodyPr/>
          <a:lstStyle/>
          <a:p>
            <a:pPr algn="ctr"/>
            <a:r>
              <a:rPr lang="en-US" dirty="0"/>
              <a:t>Community Search with Spectral Maximization</a:t>
            </a:r>
          </a:p>
        </p:txBody>
      </p:sp>
    </p:spTree>
    <p:extLst>
      <p:ext uri="{BB962C8B-B14F-4D97-AF65-F5344CB8AC3E}">
        <p14:creationId xmlns:p14="http://schemas.microsoft.com/office/powerpoint/2010/main" val="308107220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Spectral Modularity Maximization </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75447" y="1198536"/>
                <a:ext cx="10792776" cy="5457758"/>
              </a:xfrm>
            </p:spPr>
            <p:txBody>
              <a:bodyPr>
                <a:normAutofit/>
              </a:bodyPr>
              <a:lstStyle/>
              <a:p>
                <a:pPr marL="0" indent="0">
                  <a:buNone/>
                </a:pPr>
                <a:r>
                  <a:rPr lang="en-US" dirty="0"/>
                  <a:t>Use </a:t>
                </a:r>
                <a:r>
                  <a:rPr lang="en-US" b="1" dirty="0"/>
                  <a:t>spectral decomposition </a:t>
                </a:r>
                <a:r>
                  <a:rPr lang="en-US" dirty="0"/>
                  <a:t>to maximize modularity</a:t>
                </a:r>
              </a:p>
              <a:p>
                <a:r>
                  <a:rPr lang="en-US" dirty="0"/>
                  <a:t>For binary partition of graph with </a:t>
                </a:r>
                <a:r>
                  <a:rPr lang="en-US" i="1" dirty="0"/>
                  <a:t>n</a:t>
                </a:r>
                <a:r>
                  <a:rPr lang="en-US" dirty="0"/>
                  <a:t> nodes, find vector, </a:t>
                </a:r>
                <a14:m>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2</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𝑛</m:t>
                            </m:r>
                          </m:sub>
                        </m:sSub>
                      </m:e>
                    </m:d>
                  </m:oMath>
                </a14:m>
                <a:r>
                  <a:rPr lang="en-US" dirty="0"/>
                  <a:t>, that maximizes modularity,  where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𝑖</m:t>
                        </m:r>
                      </m:sub>
                    </m:sSub>
                  </m:oMath>
                </a14:m>
                <a:r>
                  <a:rPr lang="en-US" dirty="0"/>
                  <a:t> is a binary indicator</a:t>
                </a:r>
              </a:p>
              <a:p>
                <a:pPr marL="0" indent="0">
                  <a:buNone/>
                </a:pPr>
                <a14:m>
                  <m:oMathPara xmlns:m="http://schemas.openxmlformats.org/officeDocument/2006/math">
                    <m:oMath>
                      <m:sSub>
                        <m:sSubPr>
                          <m:ctrlPr>
                            <a:rPr lang="en-US" b="0" i="1" smtClean="0">
                              <a:latin typeface="Cambria Math" panose="02040503050406030204" pitchFamily="18" charset="0"/>
                              <a:cs typeface="Segoe UI" panose="020B0502040204020203" pitchFamily="34" charset="0"/>
                            </a:rPr>
                          </m:ctrlPr>
                        </m:sSubPr>
                        <m:e>
                          <m:r>
                            <a:rPr lang="en-US" b="0" i="1" smtClean="0">
                              <a:latin typeface="Cambria Math" panose="02040503050406030204" pitchFamily="18" charset="0"/>
                              <a:cs typeface="Segoe UI" panose="020B0502040204020203" pitchFamily="34" charset="0"/>
                            </a:rPr>
                            <m:t>𝑠</m:t>
                          </m:r>
                        </m:e>
                        <m:sub>
                          <m:r>
                            <a:rPr lang="en-US" b="0" i="1" smtClean="0">
                              <a:latin typeface="Cambria Math" panose="02040503050406030204" pitchFamily="18" charset="0"/>
                              <a:cs typeface="Segoe UI" panose="020B0502040204020203" pitchFamily="34" charset="0"/>
                            </a:rPr>
                            <m:t>𝑖</m:t>
                          </m:r>
                        </m:sub>
                      </m:sSub>
                      <m:r>
                        <a:rPr lang="en-US" b="0" i="1" smtClean="0">
                          <a:latin typeface="Cambria Math" panose="02040503050406030204" pitchFamily="18" charset="0"/>
                          <a:cs typeface="Segoe UI" panose="020B0502040204020203" pitchFamily="34" charset="0"/>
                        </a:rPr>
                        <m:t>=</m:t>
                      </m:r>
                      <m:d>
                        <m:dPr>
                          <m:begChr m:val="{"/>
                          <m:endChr m:val=""/>
                          <m:ctrlPr>
                            <a:rPr lang="en-US" b="0" i="1" smtClean="0">
                              <a:latin typeface="Cambria Math" panose="02040503050406030204" pitchFamily="18" charset="0"/>
                              <a:cs typeface="Segoe UI" panose="020B0502040204020203" pitchFamily="34" charset="0"/>
                            </a:rPr>
                          </m:ctrlPr>
                        </m:dPr>
                        <m:e>
                          <m:eqArr>
                            <m:eqArrPr>
                              <m:ctrlPr>
                                <a:rPr lang="en-US" b="0" i="1" smtClean="0">
                                  <a:latin typeface="Cambria Math" panose="02040503050406030204" pitchFamily="18" charset="0"/>
                                  <a:cs typeface="Segoe UI" panose="020B0502040204020203" pitchFamily="34" charset="0"/>
                                </a:rPr>
                              </m:ctrlPr>
                            </m:eqArrPr>
                            <m:e>
                              <m:r>
                                <a:rPr lang="en-US" b="0" i="1" smtClean="0">
                                  <a:latin typeface="Cambria Math" panose="02040503050406030204" pitchFamily="18" charset="0"/>
                                  <a:cs typeface="Segoe UI" panose="020B0502040204020203" pitchFamily="34" charset="0"/>
                                </a:rPr>
                                <m:t>+1, </m:t>
                              </m:r>
                              <m:r>
                                <a:rPr lang="en-US" b="0" i="1" smtClean="0">
                                  <a:latin typeface="Cambria Math" panose="02040503050406030204" pitchFamily="18" charset="0"/>
                                  <a:cs typeface="Segoe UI" panose="020B0502040204020203" pitchFamily="34" charset="0"/>
                                </a:rPr>
                                <m:t>𝑖𝑓</m:t>
                              </m:r>
                              <m:r>
                                <a:rPr lang="en-US" b="0" i="1" smtClean="0">
                                  <a:latin typeface="Cambria Math" panose="02040503050406030204" pitchFamily="18" charset="0"/>
                                  <a:cs typeface="Segoe UI" panose="020B0502040204020203" pitchFamily="34" charset="0"/>
                                </a:rPr>
                                <m:t> </m:t>
                              </m:r>
                              <m:sSub>
                                <m:sSubPr>
                                  <m:ctrlPr>
                                    <a:rPr lang="en-US" b="0" i="1" smtClean="0">
                                      <a:latin typeface="Cambria Math" panose="02040503050406030204" pitchFamily="18" charset="0"/>
                                      <a:cs typeface="Segoe UI" panose="020B0502040204020203" pitchFamily="34" charset="0"/>
                                    </a:rPr>
                                  </m:ctrlPr>
                                </m:sSubPr>
                                <m:e>
                                  <m:r>
                                    <a:rPr lang="en-US" b="0" i="1" smtClean="0">
                                      <a:latin typeface="Cambria Math" panose="02040503050406030204" pitchFamily="18" charset="0"/>
                                      <a:cs typeface="Segoe UI" panose="020B0502040204020203" pitchFamily="34" charset="0"/>
                                    </a:rPr>
                                    <m:t>𝑛</m:t>
                                  </m:r>
                                </m:e>
                                <m:sub>
                                  <m:r>
                                    <a:rPr lang="en-US" b="0" i="1" smtClean="0">
                                      <a:latin typeface="Cambria Math" panose="02040503050406030204" pitchFamily="18" charset="0"/>
                                      <a:cs typeface="Segoe UI" panose="020B0502040204020203" pitchFamily="34" charset="0"/>
                                    </a:rPr>
                                    <m:t>𝑖</m:t>
                                  </m:r>
                                </m:sub>
                              </m:sSub>
                              <m:r>
                                <a:rPr lang="en-US" b="0" i="1" smtClean="0">
                                  <a:latin typeface="Cambria Math" panose="02040503050406030204" pitchFamily="18" charset="0"/>
                                  <a:cs typeface="Segoe UI" panose="020B0502040204020203" pitchFamily="34" charset="0"/>
                                </a:rPr>
                                <m:t> </m:t>
                              </m:r>
                              <m:r>
                                <a:rPr lang="en-US" b="0" i="1" smtClean="0">
                                  <a:latin typeface="Cambria Math" panose="02040503050406030204" pitchFamily="18" charset="0"/>
                                  <a:cs typeface="Segoe UI" panose="020B0502040204020203" pitchFamily="34" charset="0"/>
                                </a:rPr>
                                <m:t>𝑖𝑛</m:t>
                              </m:r>
                              <m:r>
                                <a:rPr lang="en-US" b="0" i="1" smtClean="0">
                                  <a:latin typeface="Cambria Math" panose="02040503050406030204" pitchFamily="18" charset="0"/>
                                  <a:cs typeface="Segoe UI" panose="020B0502040204020203" pitchFamily="34" charset="0"/>
                                </a:rPr>
                                <m:t> </m:t>
                              </m:r>
                              <m:r>
                                <a:rPr lang="en-US" b="0" i="1" smtClean="0">
                                  <a:latin typeface="Cambria Math" panose="02040503050406030204" pitchFamily="18" charset="0"/>
                                  <a:cs typeface="Segoe UI" panose="020B0502040204020203" pitchFamily="34" charset="0"/>
                                </a:rPr>
                                <m:t>𝑔𝑟𝑜𝑢𝑝</m:t>
                              </m:r>
                              <m:r>
                                <a:rPr lang="en-US" b="0" i="1" smtClean="0">
                                  <a:latin typeface="Cambria Math" panose="02040503050406030204" pitchFamily="18" charset="0"/>
                                  <a:cs typeface="Segoe UI" panose="020B0502040204020203" pitchFamily="34" charset="0"/>
                                </a:rPr>
                                <m:t> 1</m:t>
                              </m:r>
                            </m:e>
                            <m:e>
                              <m:r>
                                <a:rPr lang="en-US" b="0" i="1" smtClean="0">
                                  <a:latin typeface="Cambria Math" panose="02040503050406030204" pitchFamily="18" charset="0"/>
                                  <a:cs typeface="Segoe UI" panose="020B0502040204020203" pitchFamily="34" charset="0"/>
                                </a:rPr>
                                <m:t>−</m:t>
                              </m:r>
                              <m:r>
                                <a:rPr lang="en-US" i="1">
                                  <a:latin typeface="Cambria Math" panose="02040503050406030204" pitchFamily="18" charset="0"/>
                                  <a:cs typeface="Segoe UI" panose="020B0502040204020203" pitchFamily="34" charset="0"/>
                                </a:rPr>
                                <m:t>1, </m:t>
                              </m:r>
                              <m:r>
                                <a:rPr lang="en-US" i="1">
                                  <a:latin typeface="Cambria Math" panose="02040503050406030204" pitchFamily="18" charset="0"/>
                                  <a:cs typeface="Segoe UI" panose="020B0502040204020203" pitchFamily="34" charset="0"/>
                                </a:rPr>
                                <m:t>𝑖𝑓</m:t>
                              </m:r>
                              <m:r>
                                <a:rPr lang="en-US" i="1">
                                  <a:latin typeface="Cambria Math" panose="02040503050406030204" pitchFamily="18" charset="0"/>
                                  <a:cs typeface="Segoe UI" panose="020B0502040204020203" pitchFamily="34" charset="0"/>
                                </a:rPr>
                                <m:t> </m:t>
                              </m:r>
                              <m:sSub>
                                <m:sSubPr>
                                  <m:ctrlPr>
                                    <a:rPr lang="en-US" i="1">
                                      <a:latin typeface="Cambria Math" panose="02040503050406030204" pitchFamily="18" charset="0"/>
                                      <a:cs typeface="Segoe UI" panose="020B0502040204020203" pitchFamily="34" charset="0"/>
                                    </a:rPr>
                                  </m:ctrlPr>
                                </m:sSubPr>
                                <m:e>
                                  <m:r>
                                    <a:rPr lang="en-US" i="1">
                                      <a:latin typeface="Cambria Math" panose="02040503050406030204" pitchFamily="18" charset="0"/>
                                      <a:cs typeface="Segoe UI" panose="020B0502040204020203" pitchFamily="34" charset="0"/>
                                    </a:rPr>
                                    <m:t>𝑛</m:t>
                                  </m:r>
                                </m:e>
                                <m:sub>
                                  <m:r>
                                    <a:rPr lang="en-US" i="1">
                                      <a:latin typeface="Cambria Math" panose="02040503050406030204" pitchFamily="18" charset="0"/>
                                      <a:cs typeface="Segoe UI" panose="020B0502040204020203" pitchFamily="34" charset="0"/>
                                    </a:rPr>
                                    <m:t>𝑖</m:t>
                                  </m:r>
                                </m:sub>
                              </m:sSub>
                              <m:r>
                                <a:rPr lang="en-US" i="1">
                                  <a:latin typeface="Cambria Math" panose="02040503050406030204" pitchFamily="18" charset="0"/>
                                  <a:cs typeface="Segoe UI" panose="020B0502040204020203" pitchFamily="34" charset="0"/>
                                </a:rPr>
                                <m:t> </m:t>
                              </m:r>
                              <m:r>
                                <a:rPr lang="en-US" i="1">
                                  <a:latin typeface="Cambria Math" panose="02040503050406030204" pitchFamily="18" charset="0"/>
                                  <a:cs typeface="Segoe UI" panose="020B0502040204020203" pitchFamily="34" charset="0"/>
                                </a:rPr>
                                <m:t>𝑖𝑛</m:t>
                              </m:r>
                              <m:r>
                                <a:rPr lang="en-US" i="1">
                                  <a:latin typeface="Cambria Math" panose="02040503050406030204" pitchFamily="18" charset="0"/>
                                  <a:cs typeface="Segoe UI" panose="020B0502040204020203" pitchFamily="34" charset="0"/>
                                </a:rPr>
                                <m:t> </m:t>
                              </m:r>
                              <m:r>
                                <a:rPr lang="en-US" i="1">
                                  <a:latin typeface="Cambria Math" panose="02040503050406030204" pitchFamily="18" charset="0"/>
                                  <a:cs typeface="Segoe UI" panose="020B0502040204020203" pitchFamily="34" charset="0"/>
                                </a:rPr>
                                <m:t>𝑔𝑟𝑜𝑢𝑝</m:t>
                              </m:r>
                              <m:r>
                                <a:rPr lang="en-US" i="1">
                                  <a:latin typeface="Cambria Math" panose="02040503050406030204" pitchFamily="18" charset="0"/>
                                  <a:cs typeface="Segoe UI" panose="020B0502040204020203" pitchFamily="34" charset="0"/>
                                </a:rPr>
                                <m:t> 2</m:t>
                              </m:r>
                            </m:e>
                          </m:eqArr>
                        </m:e>
                      </m:d>
                    </m:oMath>
                  </m:oMathPara>
                </a14:m>
                <a:endParaRPr lang="en-US" dirty="0">
                  <a:cs typeface="Segoe UI" panose="020B0502040204020203" pitchFamily="34" charset="0"/>
                </a:endParaRPr>
              </a:p>
              <a:p>
                <a:r>
                  <a:rPr lang="en-US" dirty="0"/>
                  <a:t>In matrix form, we can express modularity for a graph, </a:t>
                </a:r>
                <a:r>
                  <a:rPr lang="en-US" i="1" dirty="0"/>
                  <a:t>G</a:t>
                </a:r>
                <a:r>
                  <a:rPr lang="en-US" dirty="0"/>
                  <a:t>, as:  </a:t>
                </a:r>
              </a:p>
              <a:p>
                <a:pPr marL="0" indent="0">
                  <a:buNone/>
                </a:pPr>
                <a14:m>
                  <m:oMathPara xmlns:m="http://schemas.openxmlformats.org/officeDocument/2006/math">
                    <m:oMath>
                      <m:r>
                        <a:rPr lang="en-US" b="0" i="1" smtClean="0">
                          <a:latin typeface="Cambria Math" panose="02040503050406030204" pitchFamily="18" charset="0"/>
                        </a:rPr>
                        <m:t>𝑄</m:t>
                      </m:r>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𝑇</m:t>
                          </m:r>
                        </m:sup>
                      </m:sSup>
                      <m:r>
                        <a:rPr lang="en-US" b="0" i="1" smtClean="0">
                          <a:latin typeface="Cambria Math" panose="02040503050406030204" pitchFamily="18" charset="0"/>
                        </a:rPr>
                        <m:t>𝐵𝑠</m:t>
                      </m:r>
                    </m:oMath>
                  </m:oMathPara>
                </a14:m>
                <a:endParaRPr lang="en-US" dirty="0"/>
              </a:p>
              <a:p>
                <a:pPr marL="0" indent="0">
                  <a:buNone/>
                </a:pPr>
                <a:r>
                  <a:rPr lang="en-US" dirty="0"/>
                  <a:t>Where </a:t>
                </a:r>
                <a:r>
                  <a:rPr lang="en-US" i="1" dirty="0"/>
                  <a:t>B</a:t>
                </a:r>
                <a:r>
                  <a:rPr lang="en-US" dirty="0"/>
                  <a:t> is the </a:t>
                </a:r>
                <a:r>
                  <a:rPr lang="en-US" b="1" dirty="0"/>
                  <a:t>modularity matrix </a:t>
                </a:r>
                <a:r>
                  <a:rPr lang="en-US" dirty="0"/>
                  <a:t>with </a:t>
                </a:r>
              </a:p>
              <a:p>
                <a:pPr marL="0" indent="0">
                  <a:buNone/>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Sub>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𝑘</m:t>
                              </m:r>
                            </m:e>
                            <m:sub>
                              <m:r>
                                <a:rPr lang="en-US" i="1">
                                  <a:latin typeface="Cambria Math" panose="02040503050406030204" pitchFamily="18" charset="0"/>
                                </a:rPr>
                                <m:t>𝑖</m:t>
                              </m:r>
                            </m:sub>
                          </m:sSub>
                          <m:sSub>
                            <m:sSubPr>
                              <m:ctrlPr>
                                <a:rPr lang="en-US" i="1">
                                  <a:latin typeface="Cambria Math" panose="02040503050406030204" pitchFamily="18" charset="0"/>
                                </a:rPr>
                              </m:ctrlPr>
                            </m:sSubPr>
                            <m:e>
                              <m:r>
                                <a:rPr lang="en-US" i="1">
                                  <a:latin typeface="Cambria Math" panose="02040503050406030204" pitchFamily="18" charset="0"/>
                                </a:rPr>
                                <m:t>𝑘</m:t>
                              </m:r>
                            </m:e>
                            <m:sub>
                              <m:r>
                                <a:rPr lang="en-US" i="1">
                                  <a:latin typeface="Cambria Math" panose="02040503050406030204" pitchFamily="18" charset="0"/>
                                </a:rPr>
                                <m:t>𝑗</m:t>
                              </m:r>
                            </m:sub>
                          </m:sSub>
                        </m:num>
                        <m:den>
                          <m:r>
                            <a:rPr lang="en-US" i="1">
                              <a:latin typeface="Cambria Math" panose="02040503050406030204" pitchFamily="18" charset="0"/>
                            </a:rPr>
                            <m:t>2</m:t>
                          </m:r>
                          <m:r>
                            <a:rPr lang="en-US" i="1">
                              <a:latin typeface="Cambria Math" panose="02040503050406030204" pitchFamily="18" charset="0"/>
                            </a:rPr>
                            <m:t>𝑚</m:t>
                          </m:r>
                        </m:den>
                      </m:f>
                    </m:oMath>
                  </m:oMathPara>
                </a14:m>
                <a:endParaRPr lang="en-US" dirty="0"/>
              </a:p>
              <a:p>
                <a:pPr marL="457200" lvl="1" indent="0">
                  <a:buNone/>
                </a:pPr>
                <a:endParaRPr lang="en-US" dirty="0"/>
              </a:p>
              <a:p>
                <a:endParaRPr lang="en-US" dirty="0"/>
              </a:p>
            </p:txBody>
          </p:sp>
        </mc:Choice>
        <mc:Fallback xmlns="">
          <p:sp>
            <p:nvSpPr>
              <p:cNvPr id="3" name="Content Placeholder 2">
                <a:extLst>
                  <a:ext uri="{FF2B5EF4-FFF2-40B4-BE49-F238E27FC236}">
                    <a16:creationId xmlns:a16="http://schemas.microsoft.com/office/drawing/2014/main" id="{CA03134D-F068-4BC9-B038-F3D5CBDDE3F9}"/>
                  </a:ext>
                </a:extLst>
              </p:cNvPr>
              <p:cNvSpPr>
                <a:spLocks noGrp="1" noRot="1" noChangeAspect="1" noMove="1" noResize="1" noEditPoints="1" noAdjustHandles="1" noChangeArrowheads="1" noChangeShapeType="1" noTextEdit="1"/>
              </p:cNvSpPr>
              <p:nvPr>
                <p:ph idx="1"/>
              </p:nvPr>
            </p:nvSpPr>
            <p:spPr>
              <a:xfrm>
                <a:off x="775447" y="1198536"/>
                <a:ext cx="10792776" cy="5457758"/>
              </a:xfrm>
              <a:blipFill>
                <a:blip r:embed="rId2"/>
                <a:stretch>
                  <a:fillRect l="-1129" t="-1899" r="-565"/>
                </a:stretch>
              </a:blipFill>
            </p:spPr>
            <p:txBody>
              <a:bodyPr/>
              <a:lstStyle/>
              <a:p>
                <a:r>
                  <a:rPr lang="en-US">
                    <a:noFill/>
                  </a:rPr>
                  <a:t> </a:t>
                </a:r>
              </a:p>
            </p:txBody>
          </p:sp>
        </mc:Fallback>
      </mc:AlternateContent>
    </p:spTree>
    <p:extLst>
      <p:ext uri="{BB962C8B-B14F-4D97-AF65-F5344CB8AC3E}">
        <p14:creationId xmlns:p14="http://schemas.microsoft.com/office/powerpoint/2010/main" val="2891424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Spectral Modularity Maximization </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75447" y="1198536"/>
                <a:ext cx="10792776" cy="5457758"/>
              </a:xfrm>
            </p:spPr>
            <p:txBody>
              <a:bodyPr>
                <a:normAutofit/>
              </a:bodyPr>
              <a:lstStyle/>
              <a:p>
                <a:pPr marL="0" indent="0">
                  <a:buNone/>
                </a:pPr>
                <a:r>
                  <a:rPr lang="en-US" dirty="0"/>
                  <a:t>Use spectral decomposition to maximize modularity</a:t>
                </a:r>
                <a:endParaRPr lang="en-US" dirty="0">
                  <a:cs typeface="Segoe UI" panose="020B0502040204020203" pitchFamily="34" charset="0"/>
                </a:endParaRPr>
              </a:p>
              <a:p>
                <a:r>
                  <a:rPr lang="en-US" dirty="0"/>
                  <a:t>We can express modularity for a graph, </a:t>
                </a:r>
                <a:r>
                  <a:rPr lang="en-US" i="1" dirty="0"/>
                  <a:t>G</a:t>
                </a:r>
                <a:r>
                  <a:rPr lang="en-US" dirty="0"/>
                  <a:t>, as:  </a:t>
                </a:r>
              </a:p>
              <a:p>
                <a:pPr marL="0" indent="0">
                  <a:buNone/>
                </a:pPr>
                <a14:m>
                  <m:oMathPara xmlns:m="http://schemas.openxmlformats.org/officeDocument/2006/math">
                    <m:oMath>
                      <m:r>
                        <a:rPr lang="en-US" b="0" i="1" smtClean="0">
                          <a:latin typeface="Cambria Math" panose="02040503050406030204" pitchFamily="18" charset="0"/>
                        </a:rPr>
                        <m:t>𝑄</m:t>
                      </m:r>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𝑇</m:t>
                          </m:r>
                        </m:sup>
                      </m:sSup>
                      <m:r>
                        <a:rPr lang="en-US" b="0" i="1" smtClean="0">
                          <a:latin typeface="Cambria Math" panose="02040503050406030204" pitchFamily="18" charset="0"/>
                        </a:rPr>
                        <m:t>𝐵𝑠</m:t>
                      </m:r>
                    </m:oMath>
                  </m:oMathPara>
                </a14:m>
                <a:endParaRPr lang="en-US" dirty="0"/>
              </a:p>
              <a:p>
                <a:r>
                  <a:rPr lang="en-US" dirty="0"/>
                  <a:t>Is a </a:t>
                </a:r>
                <a:r>
                  <a:rPr lang="en-US" b="1" dirty="0"/>
                  <a:t>discrete quadratic optimization </a:t>
                </a:r>
                <a:r>
                  <a:rPr lang="en-US" dirty="0"/>
                  <a:t>problem with binary valued </a:t>
                </a:r>
                <a:r>
                  <a:rPr lang="en-US" i="1" dirty="0"/>
                  <a:t>s</a:t>
                </a:r>
              </a:p>
              <a:p>
                <a:r>
                  <a:rPr lang="en-US" dirty="0"/>
                  <a:t>This is a computationally hard problem. </a:t>
                </a:r>
              </a:p>
              <a:p>
                <a:pPr lvl="1"/>
                <a:r>
                  <a:rPr lang="en-US" dirty="0"/>
                  <a:t>Exhaustive </a:t>
                </a:r>
                <a:r>
                  <a:rPr lang="en-US" b="1" dirty="0"/>
                  <a:t>combinatorial search </a:t>
                </a:r>
                <a:r>
                  <a:rPr lang="en-US" dirty="0"/>
                  <a:t>required for exact solution   </a:t>
                </a:r>
              </a:p>
              <a:p>
                <a:r>
                  <a:rPr lang="en-US" dirty="0"/>
                  <a:t>Transform discrete optimization problem to approximate continuous value problem </a:t>
                </a:r>
              </a:p>
              <a:p>
                <a:pPr lvl="1"/>
                <a:r>
                  <a:rPr lang="en-US" dirty="0"/>
                  <a:t>Know as a </a:t>
                </a:r>
                <a:r>
                  <a:rPr lang="en-US" b="1" dirty="0"/>
                  <a:t>relaxation method</a:t>
                </a:r>
              </a:p>
              <a:p>
                <a:pPr lvl="1"/>
                <a:r>
                  <a:rPr lang="en-US" dirty="0"/>
                  <a:t>Relax constraint on values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𝑖</m:t>
                        </m:r>
                      </m:sub>
                    </m:sSub>
                  </m:oMath>
                </a14:m>
                <a:r>
                  <a:rPr lang="en-US" dirty="0"/>
                  <a:t> can take</a:t>
                </a:r>
              </a:p>
              <a:p>
                <a:pPr marL="0" indent="0">
                  <a:buNone/>
                </a:pPr>
                <a:endParaRPr lang="en-US" dirty="0"/>
              </a:p>
              <a:p>
                <a:pPr marL="457200" lvl="1" indent="0">
                  <a:buNone/>
                </a:pPr>
                <a:endParaRPr lang="en-US" dirty="0"/>
              </a:p>
              <a:p>
                <a:endParaRPr lang="en-US" dirty="0"/>
              </a:p>
            </p:txBody>
          </p:sp>
        </mc:Choice>
        <mc:Fallback xmlns="">
          <p:sp>
            <p:nvSpPr>
              <p:cNvPr id="3" name="Content Placeholder 2">
                <a:extLst>
                  <a:ext uri="{FF2B5EF4-FFF2-40B4-BE49-F238E27FC236}">
                    <a16:creationId xmlns:a16="http://schemas.microsoft.com/office/drawing/2014/main" id="{CA03134D-F068-4BC9-B038-F3D5CBDDE3F9}"/>
                  </a:ext>
                </a:extLst>
              </p:cNvPr>
              <p:cNvSpPr>
                <a:spLocks noGrp="1" noRot="1" noChangeAspect="1" noMove="1" noResize="1" noEditPoints="1" noAdjustHandles="1" noChangeArrowheads="1" noChangeShapeType="1" noTextEdit="1"/>
              </p:cNvSpPr>
              <p:nvPr>
                <p:ph idx="1"/>
              </p:nvPr>
            </p:nvSpPr>
            <p:spPr>
              <a:xfrm>
                <a:off x="775447" y="1198536"/>
                <a:ext cx="10792776" cy="5457758"/>
              </a:xfrm>
              <a:blipFill>
                <a:blip r:embed="rId2"/>
                <a:stretch>
                  <a:fillRect l="-1129" t="-1899"/>
                </a:stretch>
              </a:blipFill>
            </p:spPr>
            <p:txBody>
              <a:bodyPr/>
              <a:lstStyle/>
              <a:p>
                <a:r>
                  <a:rPr lang="en-US">
                    <a:noFill/>
                  </a:rPr>
                  <a:t> </a:t>
                </a:r>
              </a:p>
            </p:txBody>
          </p:sp>
        </mc:Fallback>
      </mc:AlternateContent>
    </p:spTree>
    <p:extLst>
      <p:ext uri="{BB962C8B-B14F-4D97-AF65-F5344CB8AC3E}">
        <p14:creationId xmlns:p14="http://schemas.microsoft.com/office/powerpoint/2010/main" val="706543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Spectral Modularity Maximization </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75447" y="1198536"/>
                <a:ext cx="10792776" cy="5457758"/>
              </a:xfrm>
            </p:spPr>
            <p:txBody>
              <a:bodyPr>
                <a:normAutofit/>
              </a:bodyPr>
              <a:lstStyle/>
              <a:p>
                <a:pPr marL="0" indent="0">
                  <a:buNone/>
                </a:pPr>
                <a:r>
                  <a:rPr lang="en-US" dirty="0"/>
                  <a:t>Use spectral decomposition to maximize modularity</a:t>
                </a:r>
                <a:endParaRPr lang="en-US" dirty="0">
                  <a:cs typeface="Segoe UI" panose="020B0502040204020203" pitchFamily="34" charset="0"/>
                </a:endParaRPr>
              </a:p>
              <a:p>
                <a:r>
                  <a:rPr lang="en-US" dirty="0"/>
                  <a:t>Transform problem to approximate quadratic problem with relaxation method   </a:t>
                </a:r>
              </a:p>
              <a:p>
                <a:pPr marL="0" indent="0">
                  <a:buNone/>
                </a:pPr>
                <a14:m>
                  <m:oMathPara xmlns:m="http://schemas.openxmlformats.org/officeDocument/2006/math">
                    <m:oMath>
                      <m:r>
                        <a:rPr lang="en-US" b="0" i="1" smtClean="0">
                          <a:latin typeface="Cambria Math" panose="02040503050406030204" pitchFamily="18" charset="0"/>
                        </a:rPr>
                        <m:t>𝑄</m:t>
                      </m:r>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𝑇</m:t>
                          </m:r>
                        </m:sup>
                      </m:sSup>
                      <m:r>
                        <a:rPr lang="en-US" b="0" i="1" smtClean="0">
                          <a:latin typeface="Cambria Math" panose="02040503050406030204" pitchFamily="18" charset="0"/>
                        </a:rPr>
                        <m:t>𝐵𝑠</m:t>
                      </m:r>
                    </m:oMath>
                  </m:oMathPara>
                </a14:m>
                <a:endParaRPr lang="en-US" dirty="0"/>
              </a:p>
              <a:p>
                <a:r>
                  <a:rPr lang="en-US" dirty="0"/>
                  <a:t>Need to constrain the solution to limit approximate values of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𝑖</m:t>
                        </m:r>
                      </m:sub>
                    </m:sSub>
                  </m:oMath>
                </a14:m>
                <a:r>
                  <a:rPr lang="en-US" dirty="0"/>
                  <a:t> such that</a:t>
                </a:r>
              </a:p>
              <a:p>
                <a:pPr marL="0" indent="0">
                  <a:buNone/>
                </a:pPr>
                <a14:m>
                  <m:oMathPara xmlns:m="http://schemas.openxmlformats.org/officeDocument/2006/math">
                    <m:oMath>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𝑖</m:t>
                          </m:r>
                        </m:sub>
                        <m:sup/>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𝑠</m:t>
                              </m:r>
                            </m:e>
                            <m:sub>
                              <m:r>
                                <a:rPr lang="en-US" b="0" i="1" smtClean="0">
                                  <a:latin typeface="Cambria Math" panose="02040503050406030204" pitchFamily="18" charset="0"/>
                                </a:rPr>
                                <m:t>𝑖</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r>
                            <a:rPr lang="en-US" b="0" i="1" smtClean="0">
                              <a:latin typeface="Cambria Math" panose="02040503050406030204" pitchFamily="18" charset="0"/>
                            </a:rPr>
                            <m:t>𝑛</m:t>
                          </m:r>
                        </m:e>
                      </m:nary>
                    </m:oMath>
                  </m:oMathPara>
                </a14:m>
                <a:endParaRPr lang="en-US" dirty="0"/>
              </a:p>
            </p:txBody>
          </p:sp>
        </mc:Choice>
        <mc:Fallback xmlns="">
          <p:sp>
            <p:nvSpPr>
              <p:cNvPr id="3" name="Content Placeholder 2">
                <a:extLst>
                  <a:ext uri="{FF2B5EF4-FFF2-40B4-BE49-F238E27FC236}">
                    <a16:creationId xmlns:a16="http://schemas.microsoft.com/office/drawing/2014/main" id="{CA03134D-F068-4BC9-B038-F3D5CBDDE3F9}"/>
                  </a:ext>
                </a:extLst>
              </p:cNvPr>
              <p:cNvSpPr>
                <a:spLocks noGrp="1" noRot="1" noChangeAspect="1" noMove="1" noResize="1" noEditPoints="1" noAdjustHandles="1" noChangeArrowheads="1" noChangeShapeType="1" noTextEdit="1"/>
              </p:cNvSpPr>
              <p:nvPr>
                <p:ph idx="1"/>
              </p:nvPr>
            </p:nvSpPr>
            <p:spPr>
              <a:xfrm>
                <a:off x="775447" y="1198536"/>
                <a:ext cx="10792776" cy="5457758"/>
              </a:xfrm>
              <a:blipFill>
                <a:blip r:embed="rId2"/>
                <a:stretch>
                  <a:fillRect l="-1129" t="-1899"/>
                </a:stretch>
              </a:blipFill>
            </p:spPr>
            <p:txBody>
              <a:bodyPr/>
              <a:lstStyle/>
              <a:p>
                <a:r>
                  <a:rPr lang="en-US">
                    <a:noFill/>
                  </a:rPr>
                  <a:t> </a:t>
                </a:r>
              </a:p>
            </p:txBody>
          </p:sp>
        </mc:Fallback>
      </mc:AlternateContent>
    </p:spTree>
    <p:extLst>
      <p:ext uri="{BB962C8B-B14F-4D97-AF65-F5344CB8AC3E}">
        <p14:creationId xmlns:p14="http://schemas.microsoft.com/office/powerpoint/2010/main" val="931765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Spectral Modularity Maximization </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75447" y="1198536"/>
                <a:ext cx="10792776" cy="5457758"/>
              </a:xfrm>
            </p:spPr>
            <p:txBody>
              <a:bodyPr>
                <a:normAutofit fontScale="92500" lnSpcReduction="20000"/>
              </a:bodyPr>
              <a:lstStyle/>
              <a:p>
                <a:pPr marL="0" indent="0">
                  <a:buNone/>
                </a:pPr>
                <a:r>
                  <a:rPr lang="en-US" dirty="0"/>
                  <a:t>Use spectral decomposition to maximize modularity</a:t>
                </a:r>
                <a:endParaRPr lang="en-US" dirty="0">
                  <a:cs typeface="Segoe UI" panose="020B0502040204020203" pitchFamily="34" charset="0"/>
                </a:endParaRPr>
              </a:p>
              <a:p>
                <a:r>
                  <a:rPr lang="en-US" dirty="0"/>
                  <a:t>The constrained problem:  </a:t>
                </a:r>
              </a:p>
              <a:p>
                <a:pPr marL="0" indent="0">
                  <a:buNone/>
                </a:pPr>
                <a14:m>
                  <m:oMathPara xmlns:m="http://schemas.openxmlformats.org/officeDocument/2006/math">
                    <m:oMath>
                      <m:func>
                        <m:funcPr>
                          <m:ctrlPr>
                            <a:rPr lang="en-US" i="1" smtClean="0">
                              <a:latin typeface="Cambria Math" panose="02040503050406030204" pitchFamily="18" charset="0"/>
                            </a:rPr>
                          </m:ctrlPr>
                        </m:funcPr>
                        <m:fName>
                          <m:limLow>
                            <m:limLowPr>
                              <m:ctrlPr>
                                <a:rPr lang="en-US" i="0" smtClean="0">
                                  <a:latin typeface="Cambria Math" panose="02040503050406030204" pitchFamily="18" charset="0"/>
                                </a:rPr>
                              </m:ctrlPr>
                            </m:limLowPr>
                            <m:e>
                              <m:r>
                                <m:rPr>
                                  <m:sty m:val="p"/>
                                </m:rPr>
                                <a:rPr lang="en-US" i="0" smtClean="0">
                                  <a:latin typeface="Cambria Math" panose="02040503050406030204" pitchFamily="18" charset="0"/>
                                </a:rPr>
                                <m:t>max</m:t>
                              </m:r>
                            </m:e>
                            <m:lim>
                              <m:r>
                                <a:rPr lang="en-US" b="0" i="1" smtClean="0">
                                  <a:latin typeface="Cambria Math" panose="02040503050406030204" pitchFamily="18" charset="0"/>
                                </a:rPr>
                                <m:t>𝑠</m:t>
                              </m:r>
                            </m:lim>
                          </m:limLow>
                        </m:fName>
                        <m:e>
                          <m:nary>
                            <m:naryPr>
                              <m:chr m:val="∑"/>
                              <m:supHide m:val="on"/>
                              <m:ctrlPr>
                                <a:rPr lang="en-US" i="1">
                                  <a:latin typeface="Cambria Math" panose="02040503050406030204" pitchFamily="18" charset="0"/>
                                </a:rPr>
                              </m:ctrlPr>
                            </m:naryPr>
                            <m:sub>
                              <m:r>
                                <m:rPr>
                                  <m:brk m:alnAt="7"/>
                                </m:rPr>
                                <a:rPr lang="en-US" i="1">
                                  <a:latin typeface="Cambria Math" panose="02040503050406030204" pitchFamily="18" charset="0"/>
                                </a:rPr>
                                <m:t>𝑗</m:t>
                              </m:r>
                              <m:r>
                                <a:rPr lang="en-US" i="1">
                                  <a:latin typeface="Cambria Math" panose="02040503050406030204" pitchFamily="18" charset="0"/>
                                </a:rPr>
                                <m:t>,</m:t>
                              </m:r>
                              <m:r>
                                <a:rPr lang="en-US" i="1">
                                  <a:latin typeface="Cambria Math" panose="02040503050406030204" pitchFamily="18" charset="0"/>
                                </a:rPr>
                                <m:t>𝑘</m:t>
                              </m:r>
                            </m:sub>
                            <m:sup/>
                            <m:e>
                              <m:sSub>
                                <m:sSubPr>
                                  <m:ctrlPr>
                                    <a:rPr lang="en-US" i="1">
                                      <a:latin typeface="Cambria Math" panose="02040503050406030204" pitchFamily="18" charset="0"/>
                                    </a:rPr>
                                  </m:ctrlPr>
                                </m:sSubPr>
                                <m:e>
                                  <m:r>
                                    <a:rPr lang="en-US" i="1">
                                      <a:latin typeface="Cambria Math" panose="02040503050406030204" pitchFamily="18" charset="0"/>
                                    </a:rPr>
                                    <m:t>𝐵</m:t>
                                  </m:r>
                                </m:e>
                                <m:sub>
                                  <m:r>
                                    <a:rPr lang="en-US" i="1">
                                      <a:latin typeface="Cambria Math" panose="02040503050406030204" pitchFamily="18" charset="0"/>
                                    </a:rPr>
                                    <m:t>𝑗</m:t>
                                  </m:r>
                                  <m:r>
                                    <a:rPr lang="en-US" i="1">
                                      <a:latin typeface="Cambria Math" panose="02040503050406030204" pitchFamily="18" charset="0"/>
                                    </a:rPr>
                                    <m:t>,</m:t>
                                  </m:r>
                                  <m:r>
                                    <a:rPr lang="en-US" i="1">
                                      <a:latin typeface="Cambria Math" panose="02040503050406030204" pitchFamily="18" charset="0"/>
                                    </a:rPr>
                                    <m:t>𝑘</m:t>
                                  </m:r>
                                </m:sub>
                              </m:sSub>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𝑗</m:t>
                                  </m:r>
                                </m:sub>
                              </m:sSub>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𝑘</m:t>
                                  </m:r>
                                </m:sub>
                              </m:sSub>
                              <m:r>
                                <a:rPr lang="en-US" b="0" i="1" smtClean="0">
                                  <a:latin typeface="Cambria Math" panose="02040503050406030204" pitchFamily="18" charset="0"/>
                                </a:rPr>
                                <m:t>−</m:t>
                              </m:r>
                            </m:e>
                          </m:nary>
                          <m:r>
                            <a:rPr lang="en-US" i="1">
                              <a:latin typeface="Cambria Math" panose="02040503050406030204" pitchFamily="18" charset="0"/>
                              <a:ea typeface="Cambria Math" panose="02040503050406030204" pitchFamily="18" charset="0"/>
                            </a:rPr>
                            <m:t>𝜆</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𝑛</m:t>
                              </m:r>
                              <m:r>
                                <a:rPr lang="en-US" i="1">
                                  <a:latin typeface="Cambria Math" panose="02040503050406030204" pitchFamily="18" charset="0"/>
                                  <a:ea typeface="Cambria Math" panose="02040503050406030204" pitchFamily="18" charset="0"/>
                                </a:rPr>
                                <m:t>−</m:t>
                              </m:r>
                              <m:nary>
                                <m:naryPr>
                                  <m:chr m:val="∑"/>
                                  <m:supHide m:val="on"/>
                                  <m:ctrlPr>
                                    <a:rPr lang="en-US" i="1">
                                      <a:latin typeface="Cambria Math" panose="02040503050406030204" pitchFamily="18" charset="0"/>
                                      <a:ea typeface="Cambria Math" panose="02040503050406030204" pitchFamily="18" charset="0"/>
                                    </a:rPr>
                                  </m:ctrlPr>
                                </m:naryPr>
                                <m:sub>
                                  <m:r>
                                    <m:rPr>
                                      <m:brk m:alnAt="7"/>
                                    </m:rPr>
                                    <a:rPr lang="en-US" i="1">
                                      <a:latin typeface="Cambria Math" panose="02040503050406030204" pitchFamily="18" charset="0"/>
                                      <a:ea typeface="Cambria Math" panose="02040503050406030204" pitchFamily="18" charset="0"/>
                                    </a:rPr>
                                    <m:t>𝑖</m:t>
                                  </m:r>
                                </m:sub>
                                <m:sup/>
                                <m:e>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𝑠</m:t>
                                      </m:r>
                                    </m:e>
                                    <m:sub>
                                      <m:r>
                                        <a:rPr lang="en-US" i="1">
                                          <a:latin typeface="Cambria Math" panose="02040503050406030204" pitchFamily="18" charset="0"/>
                                          <a:ea typeface="Cambria Math" panose="02040503050406030204" pitchFamily="18" charset="0"/>
                                        </a:rPr>
                                        <m:t>𝑖</m:t>
                                      </m:r>
                                    </m:sub>
                                    <m:sup>
                                      <m:r>
                                        <a:rPr lang="en-US" i="1">
                                          <a:latin typeface="Cambria Math" panose="02040503050406030204" pitchFamily="18" charset="0"/>
                                          <a:ea typeface="Cambria Math" panose="02040503050406030204" pitchFamily="18" charset="0"/>
                                        </a:rPr>
                                        <m:t>2</m:t>
                                      </m:r>
                                    </m:sup>
                                  </m:sSubSup>
                                </m:e>
                              </m:nary>
                            </m:e>
                          </m:d>
                        </m:e>
                      </m:func>
                      <m:r>
                        <a:rPr lang="en-US" b="0" i="1" smtClean="0">
                          <a:latin typeface="Cambria Math" panose="02040503050406030204" pitchFamily="18" charset="0"/>
                        </a:rPr>
                        <m:t>,  </m:t>
                      </m:r>
                      <m:r>
                        <a:rPr lang="en-US" b="0" i="1" smtClean="0">
                          <a:latin typeface="Cambria Math" panose="02040503050406030204" pitchFamily="18" charset="0"/>
                        </a:rPr>
                        <m:t>𝑤ℎ𝑒𝑟𝑒</m:t>
                      </m:r>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𝑖𝑠</m:t>
                      </m:r>
                      <m:r>
                        <a:rPr lang="en-US" b="0" i="1" smtClean="0">
                          <a:latin typeface="Cambria Math" panose="02040503050406030204" pitchFamily="18" charset="0"/>
                          <a:ea typeface="Cambria Math" panose="02040503050406030204" pitchFamily="18" charset="0"/>
                        </a:rPr>
                        <m:t> </m:t>
                      </m:r>
                      <m:r>
                        <a:rPr lang="en-US" b="1" i="1" smtClean="0">
                          <a:latin typeface="Cambria Math" panose="02040503050406030204" pitchFamily="18" charset="0"/>
                          <a:ea typeface="Cambria Math" panose="02040503050406030204" pitchFamily="18" charset="0"/>
                        </a:rPr>
                        <m:t>𝑳𝒂𝒈𝒓𝒂𝒏𝒈𝒆</m:t>
                      </m:r>
                      <m:r>
                        <a:rPr lang="en-US" b="1" i="1" smtClean="0">
                          <a:latin typeface="Cambria Math" panose="02040503050406030204" pitchFamily="18" charset="0"/>
                          <a:ea typeface="Cambria Math" panose="02040503050406030204" pitchFamily="18" charset="0"/>
                        </a:rPr>
                        <m:t> </m:t>
                      </m:r>
                      <m:r>
                        <a:rPr lang="en-US" b="1" i="1" smtClean="0">
                          <a:latin typeface="Cambria Math" panose="02040503050406030204" pitchFamily="18" charset="0"/>
                          <a:ea typeface="Cambria Math" panose="02040503050406030204" pitchFamily="18" charset="0"/>
                        </a:rPr>
                        <m:t>𝒎𝒖𝒍𝒕𝒊𝒑𝒍𝒊𝒆𝒓</m:t>
                      </m:r>
                    </m:oMath>
                  </m:oMathPara>
                </a14:m>
                <a:endParaRPr lang="en-US" b="1" dirty="0"/>
              </a:p>
              <a:p>
                <a:r>
                  <a:rPr lang="en-US" dirty="0"/>
                  <a:t>The </a:t>
                </a:r>
                <a:r>
                  <a:rPr lang="en-US" b="1" dirty="0"/>
                  <a:t>constraint is not binding </a:t>
                </a:r>
                <a:r>
                  <a:rPr lang="en-US" dirty="0"/>
                  <a:t>when </a:t>
                </a:r>
                <a14:m>
                  <m:oMath xmlns:m="http://schemas.openxmlformats.org/officeDocument/2006/math">
                    <m:nary>
                      <m:naryPr>
                        <m:chr m:val="∑"/>
                        <m:supHide m:val="on"/>
                        <m:ctrlPr>
                          <a:rPr lang="en-US" i="1">
                            <a:latin typeface="Cambria Math" panose="02040503050406030204" pitchFamily="18" charset="0"/>
                          </a:rPr>
                        </m:ctrlPr>
                      </m:naryPr>
                      <m:sub>
                        <m:r>
                          <m:rPr>
                            <m:brk m:alnAt="7"/>
                          </m:rPr>
                          <a:rPr lang="en-US" i="1">
                            <a:latin typeface="Cambria Math" panose="02040503050406030204" pitchFamily="18" charset="0"/>
                          </a:rPr>
                          <m:t>𝑖</m:t>
                        </m:r>
                      </m:sub>
                      <m:sup/>
                      <m:e>
                        <m:sSubSup>
                          <m:sSubSupPr>
                            <m:ctrlPr>
                              <a:rPr lang="en-US" i="1">
                                <a:latin typeface="Cambria Math" panose="02040503050406030204" pitchFamily="18" charset="0"/>
                              </a:rPr>
                            </m:ctrlPr>
                          </m:sSubSupPr>
                          <m:e>
                            <m:r>
                              <a:rPr lang="en-US" i="1">
                                <a:latin typeface="Cambria Math" panose="02040503050406030204" pitchFamily="18" charset="0"/>
                              </a:rPr>
                              <m:t>𝑠</m:t>
                            </m:r>
                          </m:e>
                          <m:sub>
                            <m:r>
                              <a:rPr lang="en-US" i="1">
                                <a:latin typeface="Cambria Math" panose="02040503050406030204" pitchFamily="18" charset="0"/>
                              </a:rPr>
                              <m:t>𝑖</m:t>
                            </m:r>
                          </m:sub>
                          <m:sup>
                            <m:r>
                              <a:rPr lang="en-US" i="1">
                                <a:latin typeface="Cambria Math" panose="02040503050406030204" pitchFamily="18" charset="0"/>
                              </a:rPr>
                              <m:t>2</m:t>
                            </m:r>
                          </m:sup>
                        </m:sSubSup>
                        <m:r>
                          <a:rPr lang="en-US" i="1">
                            <a:latin typeface="Cambria Math" panose="02040503050406030204" pitchFamily="18" charset="0"/>
                          </a:rPr>
                          <m:t>=</m:t>
                        </m:r>
                        <m:r>
                          <a:rPr lang="en-US" i="1">
                            <a:latin typeface="Cambria Math" panose="02040503050406030204" pitchFamily="18" charset="0"/>
                          </a:rPr>
                          <m:t>𝑛</m:t>
                        </m:r>
                      </m:e>
                    </m:nary>
                  </m:oMath>
                </a14:m>
                <a:endParaRPr lang="en-US" dirty="0"/>
              </a:p>
              <a:p>
                <a:r>
                  <a:rPr lang="en-US" dirty="0"/>
                  <a:t>We can find the maximum by setting the derivative with respect to the community assignments to 0   </a:t>
                </a:r>
              </a:p>
              <a:p>
                <a:pPr marL="0" indent="0">
                  <a:buNone/>
                </a:pPr>
                <a14:m>
                  <m:oMathPara xmlns:m="http://schemas.openxmlformats.org/officeDocument/2006/math">
                    <m:oMath>
                      <m:f>
                        <m:fPr>
                          <m:ctrlPr>
                            <a:rPr lang="en-US" i="1" smtClean="0">
                              <a:latin typeface="Cambria Math" panose="02040503050406030204" pitchFamily="18" charset="0"/>
                            </a:rPr>
                          </m:ctrlPr>
                        </m:fPr>
                        <m:num>
                          <m:r>
                            <a:rPr lang="en-US" i="1" smtClean="0">
                              <a:latin typeface="Cambria Math" panose="02040503050406030204" pitchFamily="18" charset="0"/>
                            </a:rPr>
                            <m:t>𝜕</m:t>
                          </m:r>
                        </m:num>
                        <m:den>
                          <m:r>
                            <a:rPr lang="en-US"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𝑖</m:t>
                              </m:r>
                            </m:sub>
                          </m:sSub>
                        </m:den>
                      </m:f>
                      <m:d>
                        <m:dPr>
                          <m:begChr m:val="["/>
                          <m:endChr m:val="]"/>
                          <m:ctrlPr>
                            <a:rPr lang="en-US" b="0" i="1" smtClean="0">
                              <a:latin typeface="Cambria Math" panose="02040503050406030204" pitchFamily="18" charset="0"/>
                            </a:rPr>
                          </m:ctrlPr>
                        </m:dPr>
                        <m:e>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𝑗</m:t>
                              </m:r>
                              <m:r>
                                <a:rPr lang="en-US" b="0" i="1" smtClean="0">
                                  <a:latin typeface="Cambria Math" panose="02040503050406030204" pitchFamily="18" charset="0"/>
                                </a:rPr>
                                <m:t>,</m:t>
                              </m:r>
                              <m:r>
                                <a:rPr lang="en-US" b="0" i="1" smtClean="0">
                                  <a:latin typeface="Cambria Math" panose="02040503050406030204" pitchFamily="18" charset="0"/>
                                </a:rPr>
                                <m:t>𝑘</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𝑗</m:t>
                                  </m:r>
                                  <m:r>
                                    <a:rPr lang="en-US" b="0" i="1" smtClean="0">
                                      <a:latin typeface="Cambria Math" panose="02040503050406030204" pitchFamily="18" charset="0"/>
                                    </a:rPr>
                                    <m:t>,</m:t>
                                  </m:r>
                                  <m:r>
                                    <a:rPr lang="en-US" b="0" i="1" smtClean="0">
                                      <a:latin typeface="Cambria Math" panose="02040503050406030204" pitchFamily="18" charset="0"/>
                                    </a:rPr>
                                    <m:t>𝑘</m:t>
                                  </m:r>
                                </m:sub>
                              </m:sSub>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b="0" i="1" smtClean="0">
                                      <a:latin typeface="Cambria Math" panose="02040503050406030204" pitchFamily="18" charset="0"/>
                                    </a:rPr>
                                    <m:t>𝑗</m:t>
                                  </m:r>
                                </m:sub>
                              </m:sSub>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b="0" i="1" smtClean="0">
                                      <a:latin typeface="Cambria Math" panose="02040503050406030204" pitchFamily="18" charset="0"/>
                                    </a:rPr>
                                    <m:t>𝑘</m:t>
                                  </m:r>
                                </m:sub>
                              </m:sSub>
                              <m:r>
                                <a:rPr lang="en-US" b="0" i="1" smtClean="0">
                                  <a:latin typeface="Cambria Math" panose="02040503050406030204" pitchFamily="18" charset="0"/>
                                </a:rPr>
                                <m:t>−</m:t>
                              </m:r>
                            </m:e>
                          </m:nary>
                          <m:r>
                            <a:rPr lang="en-US" i="1">
                              <a:latin typeface="Cambria Math" panose="02040503050406030204" pitchFamily="18" charset="0"/>
                              <a:ea typeface="Cambria Math" panose="02040503050406030204" pitchFamily="18" charset="0"/>
                            </a:rPr>
                            <m:t>𝜆</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m:t>
                              </m:r>
                              <m:nary>
                                <m:naryPr>
                                  <m:chr m:val="∑"/>
                                  <m:supHide m:val="on"/>
                                  <m:ctrlPr>
                                    <a:rPr lang="en-US" b="0" i="1" smtClean="0">
                                      <a:latin typeface="Cambria Math" panose="02040503050406030204" pitchFamily="18" charset="0"/>
                                      <a:ea typeface="Cambria Math" panose="02040503050406030204" pitchFamily="18" charset="0"/>
                                    </a:rPr>
                                  </m:ctrlPr>
                                </m:naryPr>
                                <m:sub>
                                  <m:r>
                                    <m:rPr>
                                      <m:brk m:alnAt="7"/>
                                    </m:rPr>
                                    <a:rPr lang="en-US" b="0" i="1" smtClean="0">
                                      <a:latin typeface="Cambria Math" panose="02040503050406030204" pitchFamily="18" charset="0"/>
                                      <a:ea typeface="Cambria Math" panose="02040503050406030204" pitchFamily="18" charset="0"/>
                                    </a:rPr>
                                    <m:t>𝑖</m:t>
                                  </m:r>
                                </m:sub>
                                <m:sup/>
                                <m:e>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𝑠</m:t>
                                      </m:r>
                                    </m:e>
                                    <m:sub>
                                      <m:r>
                                        <a:rPr lang="en-US" b="0" i="1" smtClean="0">
                                          <a:latin typeface="Cambria Math" panose="02040503050406030204" pitchFamily="18" charset="0"/>
                                          <a:ea typeface="Cambria Math" panose="02040503050406030204" pitchFamily="18" charset="0"/>
                                        </a:rPr>
                                        <m:t>𝑖</m:t>
                                      </m:r>
                                    </m:sub>
                                    <m:sup>
                                      <m:r>
                                        <a:rPr lang="en-US" b="0" i="1" smtClean="0">
                                          <a:latin typeface="Cambria Math" panose="02040503050406030204" pitchFamily="18" charset="0"/>
                                          <a:ea typeface="Cambria Math" panose="02040503050406030204" pitchFamily="18" charset="0"/>
                                        </a:rPr>
                                        <m:t>2</m:t>
                                      </m:r>
                                    </m:sup>
                                  </m:sSubSup>
                                </m:e>
                              </m:nary>
                            </m:e>
                          </m:d>
                        </m:e>
                      </m:d>
                      <m:r>
                        <a:rPr lang="en-US" b="0" i="1" smtClean="0">
                          <a:latin typeface="Cambria Math" panose="02040503050406030204" pitchFamily="18" charset="0"/>
                        </a:rPr>
                        <m:t>=0</m:t>
                      </m:r>
                    </m:oMath>
                  </m:oMathPara>
                </a14:m>
                <a:endParaRPr lang="en-US" b="0" dirty="0"/>
              </a:p>
              <a:p>
                <a:pPr marL="0" indent="0">
                  <a:buNone/>
                </a:pPr>
                <a:r>
                  <a:rPr lang="en-US" dirty="0"/>
                  <a:t>Or, in matrix notation:</a:t>
                </a:r>
              </a:p>
              <a:p>
                <a:pPr marL="0" indent="0">
                  <a:buNone/>
                </a:pPr>
                <a14:m>
                  <m:oMathPara xmlns:m="http://schemas.openxmlformats.org/officeDocument/2006/math">
                    <m:oMath>
                      <m:r>
                        <a:rPr lang="en-US" b="0" i="1" smtClean="0">
                          <a:latin typeface="Cambria Math" panose="02040503050406030204" pitchFamily="18" charset="0"/>
                        </a:rPr>
                        <m:t>𝐵𝑠</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𝑠</m:t>
                      </m:r>
                    </m:oMath>
                  </m:oMathPara>
                </a14:m>
                <a:endParaRPr lang="en-US" b="0" dirty="0">
                  <a:ea typeface="Cambria Math" panose="02040503050406030204" pitchFamily="18" charset="0"/>
                </a:endParaRPr>
              </a:p>
              <a:p>
                <a:pPr marL="0" indent="0">
                  <a:buNone/>
                </a:pPr>
                <a:r>
                  <a:rPr lang="en-US" dirty="0"/>
                  <a:t>  </a:t>
                </a:r>
              </a:p>
            </p:txBody>
          </p:sp>
        </mc:Choice>
        <mc:Fallback xmlns="">
          <p:sp>
            <p:nvSpPr>
              <p:cNvPr id="3" name="Content Placeholder 2">
                <a:extLst>
                  <a:ext uri="{FF2B5EF4-FFF2-40B4-BE49-F238E27FC236}">
                    <a16:creationId xmlns:a16="http://schemas.microsoft.com/office/drawing/2014/main" id="{CA03134D-F068-4BC9-B038-F3D5CBDDE3F9}"/>
                  </a:ext>
                </a:extLst>
              </p:cNvPr>
              <p:cNvSpPr>
                <a:spLocks noGrp="1" noRot="1" noChangeAspect="1" noMove="1" noResize="1" noEditPoints="1" noAdjustHandles="1" noChangeArrowheads="1" noChangeShapeType="1" noTextEdit="1"/>
              </p:cNvSpPr>
              <p:nvPr>
                <p:ph idx="1"/>
              </p:nvPr>
            </p:nvSpPr>
            <p:spPr>
              <a:xfrm>
                <a:off x="775447" y="1198536"/>
                <a:ext cx="10792776" cy="5457758"/>
              </a:xfrm>
              <a:blipFill>
                <a:blip r:embed="rId2"/>
                <a:stretch>
                  <a:fillRect l="-1016" t="-2905"/>
                </a:stretch>
              </a:blipFill>
            </p:spPr>
            <p:txBody>
              <a:bodyPr/>
              <a:lstStyle/>
              <a:p>
                <a:r>
                  <a:rPr lang="en-US">
                    <a:noFill/>
                  </a:rPr>
                  <a:t> </a:t>
                </a:r>
              </a:p>
            </p:txBody>
          </p:sp>
        </mc:Fallback>
      </mc:AlternateContent>
    </p:spTree>
    <p:extLst>
      <p:ext uri="{BB962C8B-B14F-4D97-AF65-F5344CB8AC3E}">
        <p14:creationId xmlns:p14="http://schemas.microsoft.com/office/powerpoint/2010/main" val="391842969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Spectral Modularity Maximization </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75447" y="1198536"/>
                <a:ext cx="10792776" cy="5457758"/>
              </a:xfrm>
            </p:spPr>
            <p:txBody>
              <a:bodyPr>
                <a:normAutofit/>
              </a:bodyPr>
              <a:lstStyle/>
              <a:p>
                <a:pPr marL="0" indent="0">
                  <a:buNone/>
                </a:pPr>
                <a:r>
                  <a:rPr lang="en-US" dirty="0"/>
                  <a:t>Use spectral decomposition to maximize modularity</a:t>
                </a:r>
              </a:p>
              <a:p>
                <a:r>
                  <a:rPr lang="en-US" dirty="0"/>
                  <a:t>Recall eigenvalue decomposition of matrix </a:t>
                </a:r>
                <a:r>
                  <a:rPr lang="en-US" i="1" dirty="0"/>
                  <a:t>A</a:t>
                </a:r>
                <a:r>
                  <a:rPr lang="en-US" dirty="0"/>
                  <a:t>: </a:t>
                </a:r>
              </a:p>
              <a:p>
                <a:pPr marL="0" indent="0">
                  <a:buNone/>
                </a:pPr>
                <a14:m>
                  <m:oMathPara xmlns:m="http://schemas.openxmlformats.org/officeDocument/2006/math">
                    <m:oMath>
                      <m:r>
                        <a:rPr lang="en-US" i="1">
                          <a:latin typeface="Cambria Math" panose="02040503050406030204" pitchFamily="18" charset="0"/>
                          <a:cs typeface="Segoe UI" panose="020B0502040204020203" pitchFamily="34" charset="0"/>
                        </a:rPr>
                        <m:t>𝐴</m:t>
                      </m:r>
                      <m:r>
                        <a:rPr lang="en-US" i="1">
                          <a:latin typeface="Cambria Math" panose="02040503050406030204" pitchFamily="18" charset="0"/>
                          <a:cs typeface="Segoe UI" panose="020B0502040204020203" pitchFamily="34" charset="0"/>
                        </a:rPr>
                        <m:t>=</m:t>
                      </m:r>
                      <m:r>
                        <a:rPr lang="en-US" i="1">
                          <a:latin typeface="Cambria Math" panose="02040503050406030204" pitchFamily="18" charset="0"/>
                          <a:cs typeface="Segoe UI" panose="020B0502040204020203" pitchFamily="34" charset="0"/>
                        </a:rPr>
                        <m:t>𝑄</m:t>
                      </m:r>
                      <m:r>
                        <m:rPr>
                          <m:sty m:val="p"/>
                        </m:rPr>
                        <a:rPr lang="el-GR" i="1">
                          <a:latin typeface="Cambria Math" panose="02040503050406030204" pitchFamily="18" charset="0"/>
                          <a:ea typeface="Cambria Math" panose="02040503050406030204" pitchFamily="18" charset="0"/>
                          <a:cs typeface="Segoe UI" panose="020B0502040204020203" pitchFamily="34" charset="0"/>
                        </a:rPr>
                        <m:t>Λ</m:t>
                      </m:r>
                      <m:sSup>
                        <m:sSupPr>
                          <m:ctrlPr>
                            <a:rPr lang="en-US" i="1">
                              <a:latin typeface="Cambria Math" panose="02040503050406030204" pitchFamily="18" charset="0"/>
                              <a:ea typeface="Cambria Math" panose="02040503050406030204" pitchFamily="18" charset="0"/>
                              <a:cs typeface="Segoe UI" panose="020B0502040204020203" pitchFamily="34" charset="0"/>
                            </a:rPr>
                          </m:ctrlPr>
                        </m:sSupPr>
                        <m:e>
                          <m:r>
                            <a:rPr lang="en-US" i="1">
                              <a:latin typeface="Cambria Math" panose="02040503050406030204" pitchFamily="18" charset="0"/>
                              <a:ea typeface="Cambria Math" panose="02040503050406030204" pitchFamily="18" charset="0"/>
                              <a:cs typeface="Segoe UI" panose="020B0502040204020203" pitchFamily="34" charset="0"/>
                            </a:rPr>
                            <m:t>𝑄</m:t>
                          </m:r>
                        </m:e>
                        <m:sup>
                          <m:r>
                            <a:rPr lang="en-US" i="1">
                              <a:latin typeface="Cambria Math" panose="02040503050406030204" pitchFamily="18" charset="0"/>
                              <a:ea typeface="Cambria Math" panose="02040503050406030204" pitchFamily="18" charset="0"/>
                              <a:cs typeface="Segoe UI" panose="020B0502040204020203" pitchFamily="34" charset="0"/>
                            </a:rPr>
                            <m:t>𝑇</m:t>
                          </m:r>
                        </m:sup>
                      </m:sSup>
                    </m:oMath>
                  </m:oMathPara>
                </a14:m>
                <a:endParaRPr lang="en-US" dirty="0">
                  <a:ea typeface="Cambria Math" panose="02040503050406030204" pitchFamily="18" charset="0"/>
                  <a:cs typeface="Segoe UI" panose="020B0502040204020203" pitchFamily="34" charset="0"/>
                </a:endParaRPr>
              </a:p>
              <a:p>
                <a:pPr marL="0" indent="0">
                  <a:buNone/>
                </a:pPr>
                <a14:m>
                  <m:oMathPara xmlns:m="http://schemas.openxmlformats.org/officeDocument/2006/math">
                    <m:oMath>
                      <m:r>
                        <a:rPr lang="en-US" i="1">
                          <a:latin typeface="Cambria Math" panose="02040503050406030204" pitchFamily="18" charset="0"/>
                          <a:cs typeface="Segoe UI" panose="020B0502040204020203" pitchFamily="34" charset="0"/>
                        </a:rPr>
                        <m:t>𝐴</m:t>
                      </m:r>
                      <m:r>
                        <a:rPr lang="en-US" i="1">
                          <a:latin typeface="Cambria Math" panose="02040503050406030204" pitchFamily="18" charset="0"/>
                          <a:cs typeface="Segoe UI" panose="020B0502040204020203" pitchFamily="34" charset="0"/>
                        </a:rPr>
                        <m:t>=</m:t>
                      </m:r>
                      <m:d>
                        <m:dPr>
                          <m:begChr m:val="["/>
                          <m:endChr m:val="]"/>
                          <m:ctrlPr>
                            <a:rPr lang="en-US" i="1">
                              <a:latin typeface="Cambria Math" panose="02040503050406030204" pitchFamily="18" charset="0"/>
                              <a:cs typeface="Segoe UI" panose="020B0502040204020203" pitchFamily="34" charset="0"/>
                            </a:rPr>
                          </m:ctrlPr>
                        </m:dPr>
                        <m:e>
                          <m:m>
                            <m:mPr>
                              <m:mcs>
                                <m:mc>
                                  <m:mcPr>
                                    <m:count m:val="3"/>
                                    <m:mcJc m:val="center"/>
                                  </m:mcPr>
                                </m:mc>
                              </m:mcs>
                              <m:ctrlPr>
                                <a:rPr lang="en-US" i="1">
                                  <a:latin typeface="Cambria Math" panose="02040503050406030204" pitchFamily="18" charset="0"/>
                                  <a:cs typeface="Segoe UI" panose="020B0502040204020203" pitchFamily="34" charset="0"/>
                                </a:rPr>
                              </m:ctrlPr>
                            </m:mPr>
                            <m:mr>
                              <m:e>
                                <m:sSubSup>
                                  <m:sSubSupPr>
                                    <m:ctrlPr>
                                      <a:rPr lang="en-US" i="1">
                                        <a:latin typeface="Cambria Math" panose="02040503050406030204" pitchFamily="18" charset="0"/>
                                        <a:cs typeface="Segoe UI" panose="020B0502040204020203" pitchFamily="34" charset="0"/>
                                      </a:rPr>
                                    </m:ctrlPr>
                                  </m:sSubSupPr>
                                  <m:e>
                                    <m:r>
                                      <a:rPr lang="en-US" i="1">
                                        <a:latin typeface="Cambria Math" panose="02040503050406030204" pitchFamily="18" charset="0"/>
                                        <a:cs typeface="Segoe UI" panose="020B0502040204020203" pitchFamily="34" charset="0"/>
                                      </a:rPr>
                                      <m:t>𝑞</m:t>
                                    </m:r>
                                  </m:e>
                                  <m:sub>
                                    <m:r>
                                      <a:rPr lang="en-US" i="1">
                                        <a:latin typeface="Cambria Math" panose="02040503050406030204" pitchFamily="18" charset="0"/>
                                        <a:cs typeface="Segoe UI" panose="020B0502040204020203" pitchFamily="34" charset="0"/>
                                      </a:rPr>
                                      <m:t>1</m:t>
                                    </m:r>
                                  </m:sub>
                                  <m:sup>
                                    <m:r>
                                      <a:rPr lang="en-US" i="1">
                                        <a:latin typeface="Cambria Math" panose="02040503050406030204" pitchFamily="18" charset="0"/>
                                        <a:cs typeface="Segoe UI" panose="020B0502040204020203" pitchFamily="34" charset="0"/>
                                      </a:rPr>
                                      <m:t>(1)</m:t>
                                    </m:r>
                                  </m:sup>
                                </m:sSubSup>
                              </m:e>
                              <m:e>
                                <m:r>
                                  <a:rPr lang="en-US" i="1">
                                    <a:latin typeface="Cambria Math" panose="02040503050406030204" pitchFamily="18" charset="0"/>
                                    <a:cs typeface="Segoe UI" panose="020B0502040204020203" pitchFamily="34" charset="0"/>
                                  </a:rPr>
                                  <m:t>⋯</m:t>
                                </m:r>
                              </m:e>
                              <m:e>
                                <m:sSubSup>
                                  <m:sSubSupPr>
                                    <m:ctrlPr>
                                      <a:rPr lang="en-US" i="1">
                                        <a:latin typeface="Cambria Math" panose="02040503050406030204" pitchFamily="18" charset="0"/>
                                        <a:cs typeface="Segoe UI" panose="020B0502040204020203" pitchFamily="34" charset="0"/>
                                      </a:rPr>
                                    </m:ctrlPr>
                                  </m:sSubSupPr>
                                  <m:e>
                                    <m:r>
                                      <a:rPr lang="en-US" i="1">
                                        <a:latin typeface="Cambria Math" panose="02040503050406030204" pitchFamily="18" charset="0"/>
                                        <a:cs typeface="Segoe UI" panose="020B0502040204020203" pitchFamily="34" charset="0"/>
                                      </a:rPr>
                                      <m:t>𝑞</m:t>
                                    </m:r>
                                  </m:e>
                                  <m:sub>
                                    <m:r>
                                      <a:rPr lang="en-US" i="1">
                                        <a:latin typeface="Cambria Math" panose="02040503050406030204" pitchFamily="18" charset="0"/>
                                        <a:cs typeface="Segoe UI" panose="020B0502040204020203" pitchFamily="34" charset="0"/>
                                      </a:rPr>
                                      <m:t>1</m:t>
                                    </m:r>
                                  </m:sub>
                                  <m:sup>
                                    <m:r>
                                      <a:rPr lang="en-US" i="1">
                                        <a:latin typeface="Cambria Math" panose="02040503050406030204" pitchFamily="18" charset="0"/>
                                        <a:cs typeface="Segoe UI" panose="020B0502040204020203" pitchFamily="34" charset="0"/>
                                      </a:rPr>
                                      <m:t>(</m:t>
                                    </m:r>
                                    <m:r>
                                      <a:rPr lang="en-US" i="1">
                                        <a:latin typeface="Cambria Math" panose="02040503050406030204" pitchFamily="18" charset="0"/>
                                        <a:cs typeface="Segoe UI" panose="020B0502040204020203" pitchFamily="34" charset="0"/>
                                      </a:rPr>
                                      <m:t>𝑛</m:t>
                                    </m:r>
                                    <m:r>
                                      <a:rPr lang="en-US" i="1">
                                        <a:latin typeface="Cambria Math" panose="02040503050406030204" pitchFamily="18" charset="0"/>
                                        <a:cs typeface="Segoe UI" panose="020B0502040204020203" pitchFamily="34" charset="0"/>
                                      </a:rPr>
                                      <m:t>)</m:t>
                                    </m:r>
                                  </m:sup>
                                </m:sSubSup>
                              </m:e>
                            </m:mr>
                            <m:mr>
                              <m:e>
                                <m:r>
                                  <a:rPr lang="en-US" i="1">
                                    <a:latin typeface="Cambria Math" panose="02040503050406030204" pitchFamily="18" charset="0"/>
                                    <a:cs typeface="Segoe UI" panose="020B0502040204020203" pitchFamily="34" charset="0"/>
                                  </a:rPr>
                                  <m:t>⋮</m:t>
                                </m:r>
                              </m:e>
                              <m:e>
                                <m:r>
                                  <a:rPr lang="en-US" i="1">
                                    <a:latin typeface="Cambria Math" panose="02040503050406030204" pitchFamily="18" charset="0"/>
                                    <a:cs typeface="Segoe UI" panose="020B0502040204020203" pitchFamily="34" charset="0"/>
                                  </a:rPr>
                                  <m:t>⋱</m:t>
                                </m:r>
                              </m:e>
                              <m:e>
                                <m:r>
                                  <a:rPr lang="en-US" i="1">
                                    <a:latin typeface="Cambria Math" panose="02040503050406030204" pitchFamily="18" charset="0"/>
                                    <a:cs typeface="Segoe UI" panose="020B0502040204020203" pitchFamily="34" charset="0"/>
                                  </a:rPr>
                                  <m:t>⋮</m:t>
                                </m:r>
                              </m:e>
                            </m:mr>
                            <m:mr>
                              <m:e>
                                <m:sSubSup>
                                  <m:sSubSupPr>
                                    <m:ctrlPr>
                                      <a:rPr lang="en-US" i="1">
                                        <a:latin typeface="Cambria Math" panose="02040503050406030204" pitchFamily="18" charset="0"/>
                                        <a:cs typeface="Segoe UI" panose="020B0502040204020203" pitchFamily="34" charset="0"/>
                                      </a:rPr>
                                    </m:ctrlPr>
                                  </m:sSubSupPr>
                                  <m:e>
                                    <m:r>
                                      <a:rPr lang="en-US" i="1">
                                        <a:latin typeface="Cambria Math" panose="02040503050406030204" pitchFamily="18" charset="0"/>
                                        <a:cs typeface="Segoe UI" panose="020B0502040204020203" pitchFamily="34" charset="0"/>
                                      </a:rPr>
                                      <m:t>𝑞</m:t>
                                    </m:r>
                                  </m:e>
                                  <m:sub>
                                    <m:r>
                                      <a:rPr lang="en-US" i="1">
                                        <a:latin typeface="Cambria Math" panose="02040503050406030204" pitchFamily="18" charset="0"/>
                                        <a:cs typeface="Segoe UI" panose="020B0502040204020203" pitchFamily="34" charset="0"/>
                                      </a:rPr>
                                      <m:t>𝑛</m:t>
                                    </m:r>
                                  </m:sub>
                                  <m:sup>
                                    <m:r>
                                      <a:rPr lang="en-US" i="1">
                                        <a:latin typeface="Cambria Math" panose="02040503050406030204" pitchFamily="18" charset="0"/>
                                        <a:cs typeface="Segoe UI" panose="020B0502040204020203" pitchFamily="34" charset="0"/>
                                      </a:rPr>
                                      <m:t>(1)</m:t>
                                    </m:r>
                                  </m:sup>
                                </m:sSubSup>
                              </m:e>
                              <m:e>
                                <m:r>
                                  <a:rPr lang="en-US" i="1">
                                    <a:latin typeface="Cambria Math" panose="02040503050406030204" pitchFamily="18" charset="0"/>
                                    <a:cs typeface="Segoe UI" panose="020B0502040204020203" pitchFamily="34" charset="0"/>
                                  </a:rPr>
                                  <m:t>⋯</m:t>
                                </m:r>
                              </m:e>
                              <m:e>
                                <m:sSubSup>
                                  <m:sSubSupPr>
                                    <m:ctrlPr>
                                      <a:rPr lang="en-US" i="1">
                                        <a:latin typeface="Cambria Math" panose="02040503050406030204" pitchFamily="18" charset="0"/>
                                        <a:cs typeface="Segoe UI" panose="020B0502040204020203" pitchFamily="34" charset="0"/>
                                      </a:rPr>
                                    </m:ctrlPr>
                                  </m:sSubSupPr>
                                  <m:e>
                                    <m:r>
                                      <a:rPr lang="en-US" i="1">
                                        <a:latin typeface="Cambria Math" panose="02040503050406030204" pitchFamily="18" charset="0"/>
                                        <a:cs typeface="Segoe UI" panose="020B0502040204020203" pitchFamily="34" charset="0"/>
                                      </a:rPr>
                                      <m:t>𝑞</m:t>
                                    </m:r>
                                  </m:e>
                                  <m:sub>
                                    <m:r>
                                      <a:rPr lang="en-US" i="1">
                                        <a:latin typeface="Cambria Math" panose="02040503050406030204" pitchFamily="18" charset="0"/>
                                        <a:cs typeface="Segoe UI" panose="020B0502040204020203" pitchFamily="34" charset="0"/>
                                      </a:rPr>
                                      <m:t>𝑛</m:t>
                                    </m:r>
                                  </m:sub>
                                  <m:sup>
                                    <m:r>
                                      <a:rPr lang="en-US" i="1">
                                        <a:latin typeface="Cambria Math" panose="02040503050406030204" pitchFamily="18" charset="0"/>
                                        <a:cs typeface="Segoe UI" panose="020B0502040204020203" pitchFamily="34" charset="0"/>
                                      </a:rPr>
                                      <m:t>(</m:t>
                                    </m:r>
                                    <m:r>
                                      <a:rPr lang="en-US" i="1">
                                        <a:latin typeface="Cambria Math" panose="02040503050406030204" pitchFamily="18" charset="0"/>
                                        <a:cs typeface="Segoe UI" panose="020B0502040204020203" pitchFamily="34" charset="0"/>
                                      </a:rPr>
                                      <m:t>𝑛</m:t>
                                    </m:r>
                                    <m:r>
                                      <a:rPr lang="en-US" i="1">
                                        <a:latin typeface="Cambria Math" panose="02040503050406030204" pitchFamily="18" charset="0"/>
                                        <a:cs typeface="Segoe UI" panose="020B0502040204020203" pitchFamily="34" charset="0"/>
                                      </a:rPr>
                                      <m:t>)</m:t>
                                    </m:r>
                                  </m:sup>
                                </m:sSubSup>
                              </m:e>
                            </m:mr>
                          </m:m>
                        </m:e>
                      </m:d>
                      <m:d>
                        <m:dPr>
                          <m:begChr m:val="["/>
                          <m:endChr m:val="]"/>
                          <m:ctrlPr>
                            <a:rPr lang="en-US" i="1">
                              <a:latin typeface="Cambria Math" panose="02040503050406030204" pitchFamily="18" charset="0"/>
                              <a:cs typeface="Segoe UI" panose="020B0502040204020203" pitchFamily="34" charset="0"/>
                            </a:rPr>
                          </m:ctrlPr>
                        </m:dPr>
                        <m:e>
                          <m:m>
                            <m:mPr>
                              <m:mcs>
                                <m:mc>
                                  <m:mcPr>
                                    <m:count m:val="3"/>
                                    <m:mcJc m:val="center"/>
                                  </m:mcPr>
                                </m:mc>
                              </m:mcs>
                              <m:ctrlPr>
                                <a:rPr lang="en-US" i="1">
                                  <a:latin typeface="Cambria Math" panose="02040503050406030204" pitchFamily="18" charset="0"/>
                                  <a:cs typeface="Segoe UI" panose="020B0502040204020203" pitchFamily="34" charset="0"/>
                                </a:rPr>
                              </m:ctrlPr>
                            </m:mPr>
                            <m:mr>
                              <m:e>
                                <m:sSub>
                                  <m:sSubPr>
                                    <m:ctrlPr>
                                      <a:rPr lang="en-US" i="1">
                                        <a:latin typeface="Cambria Math" panose="02040503050406030204" pitchFamily="18" charset="0"/>
                                        <a:ea typeface="Cambria Math" panose="02040503050406030204" pitchFamily="18" charset="0"/>
                                        <a:cs typeface="Segoe UI" panose="020B0502040204020203" pitchFamily="34" charset="0"/>
                                      </a:rPr>
                                    </m:ctrlPr>
                                  </m:sSubPr>
                                  <m:e>
                                    <m:r>
                                      <a:rPr lang="en-US" i="1">
                                        <a:latin typeface="Cambria Math" panose="02040503050406030204" pitchFamily="18" charset="0"/>
                                        <a:ea typeface="Cambria Math" panose="02040503050406030204" pitchFamily="18" charset="0"/>
                                        <a:cs typeface="Segoe UI" panose="020B0502040204020203" pitchFamily="34" charset="0"/>
                                      </a:rPr>
                                      <m:t>𝜆</m:t>
                                    </m:r>
                                  </m:e>
                                  <m:sub>
                                    <m:r>
                                      <a:rPr lang="en-US" i="1">
                                        <a:latin typeface="Cambria Math" panose="02040503050406030204" pitchFamily="18" charset="0"/>
                                        <a:cs typeface="Segoe UI" panose="020B0502040204020203" pitchFamily="34" charset="0"/>
                                      </a:rPr>
                                      <m:t>1</m:t>
                                    </m:r>
                                  </m:sub>
                                </m:sSub>
                              </m:e>
                              <m:e>
                                <m:r>
                                  <a:rPr lang="en-US" i="1">
                                    <a:latin typeface="Cambria Math" panose="02040503050406030204" pitchFamily="18" charset="0"/>
                                    <a:cs typeface="Segoe UI" panose="020B0502040204020203" pitchFamily="34" charset="0"/>
                                  </a:rPr>
                                  <m:t>⋯</m:t>
                                </m:r>
                              </m:e>
                              <m:e>
                                <m:r>
                                  <a:rPr lang="en-US" i="1">
                                    <a:latin typeface="Cambria Math" panose="02040503050406030204" pitchFamily="18" charset="0"/>
                                    <a:cs typeface="Segoe UI" panose="020B0502040204020203" pitchFamily="34" charset="0"/>
                                  </a:rPr>
                                  <m:t>0</m:t>
                                </m:r>
                              </m:e>
                            </m:mr>
                            <m:mr>
                              <m:e>
                                <m:r>
                                  <a:rPr lang="en-US" i="1">
                                    <a:latin typeface="Cambria Math" panose="02040503050406030204" pitchFamily="18" charset="0"/>
                                    <a:cs typeface="Segoe UI" panose="020B0502040204020203" pitchFamily="34" charset="0"/>
                                  </a:rPr>
                                  <m:t>⋮</m:t>
                                </m:r>
                              </m:e>
                              <m:e>
                                <m:r>
                                  <a:rPr lang="en-US" i="1">
                                    <a:latin typeface="Cambria Math" panose="02040503050406030204" pitchFamily="18" charset="0"/>
                                    <a:cs typeface="Segoe UI" panose="020B0502040204020203" pitchFamily="34" charset="0"/>
                                  </a:rPr>
                                  <m:t>⋱</m:t>
                                </m:r>
                              </m:e>
                              <m:e>
                                <m:r>
                                  <a:rPr lang="en-US" i="1">
                                    <a:latin typeface="Cambria Math" panose="02040503050406030204" pitchFamily="18" charset="0"/>
                                    <a:cs typeface="Segoe UI" panose="020B0502040204020203" pitchFamily="34" charset="0"/>
                                  </a:rPr>
                                  <m:t>⋮</m:t>
                                </m:r>
                              </m:e>
                            </m:mr>
                            <m:mr>
                              <m:e>
                                <m:r>
                                  <a:rPr lang="en-US" i="1">
                                    <a:latin typeface="Cambria Math" panose="02040503050406030204" pitchFamily="18" charset="0"/>
                                    <a:cs typeface="Segoe UI" panose="020B0502040204020203" pitchFamily="34" charset="0"/>
                                  </a:rPr>
                                  <m:t>0</m:t>
                                </m:r>
                              </m:e>
                              <m:e>
                                <m:r>
                                  <a:rPr lang="en-US" i="1">
                                    <a:latin typeface="Cambria Math" panose="02040503050406030204" pitchFamily="18" charset="0"/>
                                    <a:cs typeface="Segoe UI" panose="020B0502040204020203" pitchFamily="34" charset="0"/>
                                  </a:rPr>
                                  <m:t>⋯</m:t>
                                </m:r>
                              </m:e>
                              <m:e>
                                <m:sSub>
                                  <m:sSubPr>
                                    <m:ctrlPr>
                                      <a:rPr lang="en-US" i="1">
                                        <a:latin typeface="Cambria Math" panose="02040503050406030204" pitchFamily="18" charset="0"/>
                                        <a:ea typeface="Cambria Math" panose="02040503050406030204" pitchFamily="18" charset="0"/>
                                        <a:cs typeface="Segoe UI" panose="020B0502040204020203" pitchFamily="34" charset="0"/>
                                      </a:rPr>
                                    </m:ctrlPr>
                                  </m:sSubPr>
                                  <m:e>
                                    <m:r>
                                      <a:rPr lang="en-US" i="1">
                                        <a:latin typeface="Cambria Math" panose="02040503050406030204" pitchFamily="18" charset="0"/>
                                        <a:ea typeface="Cambria Math" panose="02040503050406030204" pitchFamily="18" charset="0"/>
                                        <a:cs typeface="Segoe UI" panose="020B0502040204020203" pitchFamily="34" charset="0"/>
                                      </a:rPr>
                                      <m:t>𝜆</m:t>
                                    </m:r>
                                  </m:e>
                                  <m:sub>
                                    <m:r>
                                      <a:rPr lang="en-US" i="1">
                                        <a:latin typeface="Cambria Math" panose="02040503050406030204" pitchFamily="18" charset="0"/>
                                        <a:cs typeface="Segoe UI" panose="020B0502040204020203" pitchFamily="34" charset="0"/>
                                      </a:rPr>
                                      <m:t>𝑛</m:t>
                                    </m:r>
                                  </m:sub>
                                </m:sSub>
                              </m:e>
                            </m:mr>
                          </m:m>
                        </m:e>
                      </m:d>
                      <m:sSup>
                        <m:sSupPr>
                          <m:ctrlPr>
                            <a:rPr lang="en-US" i="1">
                              <a:latin typeface="Cambria Math" panose="02040503050406030204" pitchFamily="18" charset="0"/>
                              <a:cs typeface="Segoe UI" panose="020B0502040204020203" pitchFamily="34" charset="0"/>
                            </a:rPr>
                          </m:ctrlPr>
                        </m:sSupPr>
                        <m:e>
                          <m:d>
                            <m:dPr>
                              <m:begChr m:val="["/>
                              <m:endChr m:val="]"/>
                              <m:ctrlPr>
                                <a:rPr lang="en-US" i="1">
                                  <a:latin typeface="Cambria Math" panose="02040503050406030204" pitchFamily="18" charset="0"/>
                                  <a:cs typeface="Segoe UI" panose="020B0502040204020203" pitchFamily="34" charset="0"/>
                                </a:rPr>
                              </m:ctrlPr>
                            </m:dPr>
                            <m:e>
                              <m:m>
                                <m:mPr>
                                  <m:mcs>
                                    <m:mc>
                                      <m:mcPr>
                                        <m:count m:val="3"/>
                                        <m:mcJc m:val="center"/>
                                      </m:mcPr>
                                    </m:mc>
                                  </m:mcs>
                                  <m:ctrlPr>
                                    <a:rPr lang="en-US" i="1">
                                      <a:latin typeface="Cambria Math" panose="02040503050406030204" pitchFamily="18" charset="0"/>
                                      <a:cs typeface="Segoe UI" panose="020B0502040204020203" pitchFamily="34" charset="0"/>
                                    </a:rPr>
                                  </m:ctrlPr>
                                </m:mPr>
                                <m:mr>
                                  <m:e>
                                    <m:sSubSup>
                                      <m:sSubSupPr>
                                        <m:ctrlPr>
                                          <a:rPr lang="en-US" i="1">
                                            <a:latin typeface="Cambria Math" panose="02040503050406030204" pitchFamily="18" charset="0"/>
                                            <a:cs typeface="Segoe UI" panose="020B0502040204020203" pitchFamily="34" charset="0"/>
                                          </a:rPr>
                                        </m:ctrlPr>
                                      </m:sSubSupPr>
                                      <m:e>
                                        <m:r>
                                          <a:rPr lang="en-US" i="1">
                                            <a:latin typeface="Cambria Math" panose="02040503050406030204" pitchFamily="18" charset="0"/>
                                            <a:cs typeface="Segoe UI" panose="020B0502040204020203" pitchFamily="34" charset="0"/>
                                          </a:rPr>
                                          <m:t>𝑞</m:t>
                                        </m:r>
                                      </m:e>
                                      <m:sub>
                                        <m:r>
                                          <a:rPr lang="en-US" i="1">
                                            <a:latin typeface="Cambria Math" panose="02040503050406030204" pitchFamily="18" charset="0"/>
                                            <a:cs typeface="Segoe UI" panose="020B0502040204020203" pitchFamily="34" charset="0"/>
                                          </a:rPr>
                                          <m:t>1</m:t>
                                        </m:r>
                                      </m:sub>
                                      <m:sup>
                                        <m:r>
                                          <a:rPr lang="en-US" i="1">
                                            <a:latin typeface="Cambria Math" panose="02040503050406030204" pitchFamily="18" charset="0"/>
                                            <a:cs typeface="Segoe UI" panose="020B0502040204020203" pitchFamily="34" charset="0"/>
                                          </a:rPr>
                                          <m:t>(1)</m:t>
                                        </m:r>
                                      </m:sup>
                                    </m:sSubSup>
                                  </m:e>
                                  <m:e>
                                    <m:r>
                                      <a:rPr lang="en-US" i="1">
                                        <a:latin typeface="Cambria Math" panose="02040503050406030204" pitchFamily="18" charset="0"/>
                                        <a:cs typeface="Segoe UI" panose="020B0502040204020203" pitchFamily="34" charset="0"/>
                                      </a:rPr>
                                      <m:t>⋯</m:t>
                                    </m:r>
                                  </m:e>
                                  <m:e>
                                    <m:sSubSup>
                                      <m:sSubSupPr>
                                        <m:ctrlPr>
                                          <a:rPr lang="en-US" i="1">
                                            <a:latin typeface="Cambria Math" panose="02040503050406030204" pitchFamily="18" charset="0"/>
                                            <a:cs typeface="Segoe UI" panose="020B0502040204020203" pitchFamily="34" charset="0"/>
                                          </a:rPr>
                                        </m:ctrlPr>
                                      </m:sSubSupPr>
                                      <m:e>
                                        <m:r>
                                          <a:rPr lang="en-US" i="1">
                                            <a:latin typeface="Cambria Math" panose="02040503050406030204" pitchFamily="18" charset="0"/>
                                            <a:cs typeface="Segoe UI" panose="020B0502040204020203" pitchFamily="34" charset="0"/>
                                          </a:rPr>
                                          <m:t>𝑞</m:t>
                                        </m:r>
                                      </m:e>
                                      <m:sub>
                                        <m:r>
                                          <a:rPr lang="en-US" i="1">
                                            <a:latin typeface="Cambria Math" panose="02040503050406030204" pitchFamily="18" charset="0"/>
                                            <a:cs typeface="Segoe UI" panose="020B0502040204020203" pitchFamily="34" charset="0"/>
                                          </a:rPr>
                                          <m:t>𝑛</m:t>
                                        </m:r>
                                      </m:sub>
                                      <m:sup>
                                        <m:r>
                                          <a:rPr lang="en-US" i="1">
                                            <a:latin typeface="Cambria Math" panose="02040503050406030204" pitchFamily="18" charset="0"/>
                                            <a:cs typeface="Segoe UI" panose="020B0502040204020203" pitchFamily="34" charset="0"/>
                                          </a:rPr>
                                          <m:t>(1)</m:t>
                                        </m:r>
                                      </m:sup>
                                    </m:sSubSup>
                                  </m:e>
                                </m:mr>
                                <m:mr>
                                  <m:e>
                                    <m:r>
                                      <a:rPr lang="en-US" i="1">
                                        <a:latin typeface="Cambria Math" panose="02040503050406030204" pitchFamily="18" charset="0"/>
                                        <a:cs typeface="Segoe UI" panose="020B0502040204020203" pitchFamily="34" charset="0"/>
                                      </a:rPr>
                                      <m:t>⋮</m:t>
                                    </m:r>
                                  </m:e>
                                  <m:e>
                                    <m:r>
                                      <a:rPr lang="en-US" i="1">
                                        <a:latin typeface="Cambria Math" panose="02040503050406030204" pitchFamily="18" charset="0"/>
                                        <a:cs typeface="Segoe UI" panose="020B0502040204020203" pitchFamily="34" charset="0"/>
                                      </a:rPr>
                                      <m:t>⋱</m:t>
                                    </m:r>
                                  </m:e>
                                  <m:e>
                                    <m:r>
                                      <a:rPr lang="en-US" i="1">
                                        <a:latin typeface="Cambria Math" panose="02040503050406030204" pitchFamily="18" charset="0"/>
                                        <a:cs typeface="Segoe UI" panose="020B0502040204020203" pitchFamily="34" charset="0"/>
                                      </a:rPr>
                                      <m:t>⋮</m:t>
                                    </m:r>
                                  </m:e>
                                </m:mr>
                                <m:mr>
                                  <m:e>
                                    <m:sSubSup>
                                      <m:sSubSupPr>
                                        <m:ctrlPr>
                                          <a:rPr lang="en-US" i="1">
                                            <a:latin typeface="Cambria Math" panose="02040503050406030204" pitchFamily="18" charset="0"/>
                                            <a:cs typeface="Segoe UI" panose="020B0502040204020203" pitchFamily="34" charset="0"/>
                                          </a:rPr>
                                        </m:ctrlPr>
                                      </m:sSubSupPr>
                                      <m:e>
                                        <m:r>
                                          <a:rPr lang="en-US" i="1">
                                            <a:latin typeface="Cambria Math" panose="02040503050406030204" pitchFamily="18" charset="0"/>
                                            <a:cs typeface="Segoe UI" panose="020B0502040204020203" pitchFamily="34" charset="0"/>
                                          </a:rPr>
                                          <m:t>𝑞</m:t>
                                        </m:r>
                                      </m:e>
                                      <m:sub>
                                        <m:r>
                                          <a:rPr lang="en-US" i="1">
                                            <a:latin typeface="Cambria Math" panose="02040503050406030204" pitchFamily="18" charset="0"/>
                                            <a:cs typeface="Segoe UI" panose="020B0502040204020203" pitchFamily="34" charset="0"/>
                                          </a:rPr>
                                          <m:t>1</m:t>
                                        </m:r>
                                      </m:sub>
                                      <m:sup>
                                        <m:r>
                                          <a:rPr lang="en-US" i="1">
                                            <a:latin typeface="Cambria Math" panose="02040503050406030204" pitchFamily="18" charset="0"/>
                                            <a:cs typeface="Segoe UI" panose="020B0502040204020203" pitchFamily="34" charset="0"/>
                                          </a:rPr>
                                          <m:t>(</m:t>
                                        </m:r>
                                        <m:r>
                                          <a:rPr lang="en-US" i="1">
                                            <a:latin typeface="Cambria Math" panose="02040503050406030204" pitchFamily="18" charset="0"/>
                                            <a:cs typeface="Segoe UI" panose="020B0502040204020203" pitchFamily="34" charset="0"/>
                                          </a:rPr>
                                          <m:t>𝑛</m:t>
                                        </m:r>
                                        <m:r>
                                          <a:rPr lang="en-US" i="1">
                                            <a:latin typeface="Cambria Math" panose="02040503050406030204" pitchFamily="18" charset="0"/>
                                            <a:cs typeface="Segoe UI" panose="020B0502040204020203" pitchFamily="34" charset="0"/>
                                          </a:rPr>
                                          <m:t>)</m:t>
                                        </m:r>
                                      </m:sup>
                                    </m:sSubSup>
                                  </m:e>
                                  <m:e>
                                    <m:r>
                                      <a:rPr lang="en-US" i="1">
                                        <a:latin typeface="Cambria Math" panose="02040503050406030204" pitchFamily="18" charset="0"/>
                                        <a:cs typeface="Segoe UI" panose="020B0502040204020203" pitchFamily="34" charset="0"/>
                                      </a:rPr>
                                      <m:t>⋯</m:t>
                                    </m:r>
                                  </m:e>
                                  <m:e>
                                    <m:sSubSup>
                                      <m:sSubSupPr>
                                        <m:ctrlPr>
                                          <a:rPr lang="en-US" i="1">
                                            <a:latin typeface="Cambria Math" panose="02040503050406030204" pitchFamily="18" charset="0"/>
                                            <a:cs typeface="Segoe UI" panose="020B0502040204020203" pitchFamily="34" charset="0"/>
                                          </a:rPr>
                                        </m:ctrlPr>
                                      </m:sSubSupPr>
                                      <m:e>
                                        <m:r>
                                          <a:rPr lang="en-US" i="1">
                                            <a:latin typeface="Cambria Math" panose="02040503050406030204" pitchFamily="18" charset="0"/>
                                            <a:cs typeface="Segoe UI" panose="020B0502040204020203" pitchFamily="34" charset="0"/>
                                          </a:rPr>
                                          <m:t>𝑞</m:t>
                                        </m:r>
                                      </m:e>
                                      <m:sub>
                                        <m:r>
                                          <a:rPr lang="en-US" i="1">
                                            <a:latin typeface="Cambria Math" panose="02040503050406030204" pitchFamily="18" charset="0"/>
                                            <a:cs typeface="Segoe UI" panose="020B0502040204020203" pitchFamily="34" charset="0"/>
                                          </a:rPr>
                                          <m:t>𝑛</m:t>
                                        </m:r>
                                      </m:sub>
                                      <m:sup>
                                        <m:r>
                                          <a:rPr lang="en-US" i="1">
                                            <a:latin typeface="Cambria Math" panose="02040503050406030204" pitchFamily="18" charset="0"/>
                                            <a:cs typeface="Segoe UI" panose="020B0502040204020203" pitchFamily="34" charset="0"/>
                                          </a:rPr>
                                          <m:t>(</m:t>
                                        </m:r>
                                        <m:r>
                                          <a:rPr lang="en-US" i="1">
                                            <a:latin typeface="Cambria Math" panose="02040503050406030204" pitchFamily="18" charset="0"/>
                                            <a:cs typeface="Segoe UI" panose="020B0502040204020203" pitchFamily="34" charset="0"/>
                                          </a:rPr>
                                          <m:t>𝑛</m:t>
                                        </m:r>
                                        <m:r>
                                          <a:rPr lang="en-US" i="1">
                                            <a:latin typeface="Cambria Math" panose="02040503050406030204" pitchFamily="18" charset="0"/>
                                            <a:cs typeface="Segoe UI" panose="020B0502040204020203" pitchFamily="34" charset="0"/>
                                          </a:rPr>
                                          <m:t>)</m:t>
                                        </m:r>
                                      </m:sup>
                                    </m:sSubSup>
                                  </m:e>
                                </m:mr>
                              </m:m>
                            </m:e>
                          </m:d>
                        </m:e>
                        <m:sup/>
                      </m:sSup>
                    </m:oMath>
                  </m:oMathPara>
                </a14:m>
                <a:endParaRPr lang="en-US" dirty="0">
                  <a:cs typeface="Segoe UI" panose="020B0502040204020203" pitchFamily="34" charset="0"/>
                </a:endParaRPr>
              </a:p>
              <a:p>
                <a:r>
                  <a:rPr lang="en-US" dirty="0">
                    <a:cs typeface="Segoe UI" panose="020B0502040204020203" pitchFamily="34" charset="0"/>
                  </a:rPr>
                  <a:t>Magnitudes of n eigenvalues are ordered, </a:t>
                </a:r>
                <a14:m>
                  <m:oMath xmlns:m="http://schemas.openxmlformats.org/officeDocument/2006/math">
                    <m:sSub>
                      <m:sSubPr>
                        <m:ctrlPr>
                          <a:rPr lang="en-US" b="0" i="1" smtClean="0">
                            <a:latin typeface="Cambria Math" panose="02040503050406030204" pitchFamily="18" charset="0"/>
                            <a:cs typeface="Segoe UI" panose="020B0502040204020203" pitchFamily="34" charset="0"/>
                          </a:rPr>
                        </m:ctrlPr>
                      </m:sSubPr>
                      <m:e>
                        <m:r>
                          <a:rPr lang="en-US" b="0" i="1" smtClean="0">
                            <a:latin typeface="Cambria Math" panose="02040503050406030204" pitchFamily="18" charset="0"/>
                            <a:cs typeface="Segoe UI" panose="020B0502040204020203" pitchFamily="34" charset="0"/>
                          </a:rPr>
                          <m:t>|</m:t>
                        </m:r>
                        <m:r>
                          <a:rPr lang="en-US" i="1">
                            <a:latin typeface="Cambria Math" panose="02040503050406030204" pitchFamily="18" charset="0"/>
                            <a:ea typeface="Cambria Math" panose="02040503050406030204" pitchFamily="18" charset="0"/>
                            <a:cs typeface="Segoe UI" panose="020B0502040204020203" pitchFamily="34" charset="0"/>
                          </a:rPr>
                          <m:t>𝜆</m:t>
                        </m:r>
                      </m:e>
                      <m:sub>
                        <m:r>
                          <a:rPr lang="en-US" i="1">
                            <a:latin typeface="Cambria Math" panose="02040503050406030204" pitchFamily="18" charset="0"/>
                            <a:cs typeface="Segoe UI" panose="020B0502040204020203" pitchFamily="34" charset="0"/>
                          </a:rPr>
                          <m:t>1</m:t>
                        </m:r>
                      </m:sub>
                    </m:sSub>
                    <m:r>
                      <a:rPr lang="en-US" b="0" i="1" smtClean="0">
                        <a:latin typeface="Cambria Math" panose="02040503050406030204" pitchFamily="18" charset="0"/>
                        <a:cs typeface="Segoe UI" panose="020B0502040204020203" pitchFamily="34" charset="0"/>
                      </a:rPr>
                      <m:t>|</m:t>
                    </m:r>
                    <m:r>
                      <a:rPr lang="en-US" i="1" smtClean="0">
                        <a:latin typeface="Cambria Math" panose="02040503050406030204" pitchFamily="18" charset="0"/>
                        <a:ea typeface="Cambria Math" panose="02040503050406030204" pitchFamily="18" charset="0"/>
                        <a:cs typeface="Segoe UI" panose="020B0502040204020203" pitchFamily="34" charset="0"/>
                      </a:rPr>
                      <m:t>≥</m:t>
                    </m:r>
                    <m:sSub>
                      <m:sSubPr>
                        <m:ctrlPr>
                          <a:rPr lang="en-US" b="0" i="1" smtClean="0">
                            <a:latin typeface="Cambria Math" panose="02040503050406030204" pitchFamily="18" charset="0"/>
                            <a:ea typeface="Cambria Math" panose="02040503050406030204" pitchFamily="18" charset="0"/>
                            <a:cs typeface="Segoe UI" panose="020B0502040204020203" pitchFamily="34" charset="0"/>
                          </a:rPr>
                        </m:ctrlPr>
                      </m:sSubPr>
                      <m:e>
                        <m:r>
                          <a:rPr lang="en-US" b="0" i="1" smtClean="0">
                            <a:latin typeface="Cambria Math" panose="02040503050406030204" pitchFamily="18" charset="0"/>
                            <a:ea typeface="Cambria Math" panose="02040503050406030204" pitchFamily="18" charset="0"/>
                            <a:cs typeface="Segoe UI" panose="020B0502040204020203" pitchFamily="34" charset="0"/>
                          </a:rPr>
                          <m:t>|</m:t>
                        </m:r>
                        <m:r>
                          <a:rPr lang="en-US" i="1">
                            <a:latin typeface="Cambria Math" panose="02040503050406030204" pitchFamily="18" charset="0"/>
                            <a:ea typeface="Cambria Math" panose="02040503050406030204" pitchFamily="18" charset="0"/>
                            <a:cs typeface="Segoe UI" panose="020B0502040204020203" pitchFamily="34" charset="0"/>
                          </a:rPr>
                          <m:t>𝜆</m:t>
                        </m:r>
                      </m:e>
                      <m:sub>
                        <m:r>
                          <a:rPr lang="en-US" i="1">
                            <a:latin typeface="Cambria Math" panose="02040503050406030204" pitchFamily="18" charset="0"/>
                            <a:ea typeface="Cambria Math" panose="02040503050406030204" pitchFamily="18" charset="0"/>
                            <a:cs typeface="Segoe UI" panose="020B0502040204020203" pitchFamily="34" charset="0"/>
                          </a:rPr>
                          <m:t>2</m:t>
                        </m:r>
                      </m:sub>
                    </m:sSub>
                    <m:r>
                      <a:rPr lang="en-US" b="0" i="1" smtClean="0">
                        <a:latin typeface="Cambria Math" panose="02040503050406030204" pitchFamily="18" charset="0"/>
                        <a:ea typeface="Cambria Math" panose="02040503050406030204" pitchFamily="18" charset="0"/>
                        <a:cs typeface="Segoe UI" panose="020B0502040204020203" pitchFamily="34" charset="0"/>
                      </a:rPr>
                      <m:t>|</m:t>
                    </m:r>
                    <m:r>
                      <a:rPr lang="en-US" i="1" smtClean="0">
                        <a:latin typeface="Cambria Math" panose="02040503050406030204" pitchFamily="18" charset="0"/>
                        <a:ea typeface="Cambria Math" panose="02040503050406030204" pitchFamily="18" charset="0"/>
                        <a:cs typeface="Segoe UI" panose="020B0502040204020203" pitchFamily="34" charset="0"/>
                      </a:rPr>
                      <m:t>≥</m:t>
                    </m:r>
                  </m:oMath>
                </a14:m>
                <a:r>
                  <a:rPr lang="en-US" dirty="0">
                    <a:cs typeface="Segoe UI" panose="020B0502040204020203" pitchFamily="34" charset="0"/>
                  </a:rPr>
                  <a:t>…</a:t>
                </a:r>
                <a:r>
                  <a:rPr lang="en-US" dirty="0">
                    <a:ea typeface="Cambria Math" panose="02040503050406030204" pitchFamily="18" charset="0"/>
                    <a:cs typeface="Segoe UI" panose="020B0502040204020203" pitchFamily="34" charset="0"/>
                  </a:rPr>
                  <a:t> </a:t>
                </a:r>
                <a14:m>
                  <m:oMath xmlns:m="http://schemas.openxmlformats.org/officeDocument/2006/math">
                    <m:r>
                      <a:rPr lang="en-US" i="1" smtClean="0">
                        <a:latin typeface="Cambria Math" panose="02040503050406030204" pitchFamily="18" charset="0"/>
                        <a:ea typeface="Cambria Math" panose="02040503050406030204" pitchFamily="18" charset="0"/>
                        <a:cs typeface="Segoe UI" panose="020B0502040204020203" pitchFamily="34" charset="0"/>
                      </a:rPr>
                      <m:t>≥</m:t>
                    </m:r>
                  </m:oMath>
                </a14:m>
                <a:r>
                  <a:rPr lang="en-US" dirty="0">
                    <a:ea typeface="Cambria Math" panose="02040503050406030204" pitchFamily="18" charset="0"/>
                    <a:cs typeface="Segoe UI" panose="020B0502040204020203" pitchFamily="34" charset="0"/>
                  </a:rPr>
                  <a:t> |</a:t>
                </a:r>
                <a14:m>
                  <m:oMath xmlns:m="http://schemas.openxmlformats.org/officeDocument/2006/math">
                    <m:sSub>
                      <m:sSubPr>
                        <m:ctrlPr>
                          <a:rPr lang="en-US" i="1">
                            <a:latin typeface="Cambria Math" panose="02040503050406030204" pitchFamily="18" charset="0"/>
                            <a:ea typeface="Cambria Math" panose="02040503050406030204" pitchFamily="18" charset="0"/>
                            <a:cs typeface="Segoe UI" panose="020B0502040204020203" pitchFamily="34" charset="0"/>
                          </a:rPr>
                        </m:ctrlPr>
                      </m:sSubPr>
                      <m:e>
                        <m:r>
                          <a:rPr lang="en-US" i="1">
                            <a:latin typeface="Cambria Math" panose="02040503050406030204" pitchFamily="18" charset="0"/>
                            <a:ea typeface="Cambria Math" panose="02040503050406030204" pitchFamily="18" charset="0"/>
                            <a:cs typeface="Segoe UI" panose="020B0502040204020203" pitchFamily="34" charset="0"/>
                          </a:rPr>
                          <m:t>𝜆</m:t>
                        </m:r>
                      </m:e>
                      <m:sub>
                        <m:r>
                          <a:rPr lang="en-US" i="1">
                            <a:latin typeface="Cambria Math" panose="02040503050406030204" pitchFamily="18" charset="0"/>
                            <a:ea typeface="Cambria Math" panose="02040503050406030204" pitchFamily="18" charset="0"/>
                            <a:cs typeface="Segoe UI" panose="020B0502040204020203" pitchFamily="34" charset="0"/>
                          </a:rPr>
                          <m:t>𝑛</m:t>
                        </m:r>
                      </m:sub>
                    </m:sSub>
                    <m:r>
                      <a:rPr lang="en-US" b="0" i="1" smtClean="0">
                        <a:latin typeface="Cambria Math" panose="02040503050406030204" pitchFamily="18" charset="0"/>
                        <a:ea typeface="Cambria Math" panose="02040503050406030204" pitchFamily="18" charset="0"/>
                        <a:cs typeface="Segoe UI" panose="020B0502040204020203" pitchFamily="34" charset="0"/>
                      </a:rPr>
                      <m:t>|</m:t>
                    </m:r>
                  </m:oMath>
                </a14:m>
                <a:endParaRPr lang="en-US" dirty="0">
                  <a:cs typeface="Segoe UI" panose="020B0502040204020203" pitchFamily="34" charset="0"/>
                </a:endParaRPr>
              </a:p>
              <a:p>
                <a:r>
                  <a:rPr lang="en-US" dirty="0">
                    <a:cs typeface="Segoe UI" panose="020B0502040204020203" pitchFamily="34" charset="0"/>
                  </a:rPr>
                  <a:t>Each of the n orthogonal </a:t>
                </a:r>
                <a:r>
                  <a:rPr lang="en-US">
                    <a:cs typeface="Segoe UI" panose="020B0502040204020203" pitchFamily="34" charset="0"/>
                  </a:rPr>
                  <a:t>and unit norm </a:t>
                </a:r>
                <a:r>
                  <a:rPr lang="en-US" dirty="0">
                    <a:cs typeface="Segoe UI" panose="020B0502040204020203" pitchFamily="34" charset="0"/>
                  </a:rPr>
                  <a:t>eigenvectors, </a:t>
                </a:r>
                <a14:m>
                  <m:oMath xmlns:m="http://schemas.openxmlformats.org/officeDocument/2006/math">
                    <m:sSubSup>
                      <m:sSubSupPr>
                        <m:ctrlPr>
                          <a:rPr lang="en-US" i="1">
                            <a:latin typeface="Cambria Math" panose="02040503050406030204" pitchFamily="18" charset="0"/>
                            <a:cs typeface="Segoe UI" panose="020B0502040204020203" pitchFamily="34" charset="0"/>
                          </a:rPr>
                        </m:ctrlPr>
                      </m:sSubSupPr>
                      <m:e>
                        <m:r>
                          <a:rPr lang="en-US" i="1">
                            <a:latin typeface="Cambria Math" panose="02040503050406030204" pitchFamily="18" charset="0"/>
                            <a:cs typeface="Segoe UI" panose="020B0502040204020203" pitchFamily="34" charset="0"/>
                          </a:rPr>
                          <m:t>𝑞</m:t>
                        </m:r>
                      </m:e>
                      <m:sub>
                        <m:r>
                          <a:rPr lang="en-US" i="1">
                            <a:latin typeface="Cambria Math" panose="02040503050406030204" pitchFamily="18" charset="0"/>
                            <a:cs typeface="Segoe UI" panose="020B0502040204020203" pitchFamily="34" charset="0"/>
                          </a:rPr>
                          <m:t> </m:t>
                        </m:r>
                      </m:sub>
                      <m:sup>
                        <m:r>
                          <a:rPr lang="en-US" i="1">
                            <a:latin typeface="Cambria Math" panose="02040503050406030204" pitchFamily="18" charset="0"/>
                            <a:cs typeface="Segoe UI" panose="020B0502040204020203" pitchFamily="34" charset="0"/>
                          </a:rPr>
                          <m:t>(</m:t>
                        </m:r>
                        <m:r>
                          <a:rPr lang="en-US" i="1">
                            <a:latin typeface="Cambria Math" panose="02040503050406030204" pitchFamily="18" charset="0"/>
                            <a:cs typeface="Segoe UI" panose="020B0502040204020203" pitchFamily="34" charset="0"/>
                          </a:rPr>
                          <m:t>𝑖</m:t>
                        </m:r>
                        <m:r>
                          <a:rPr lang="en-US" i="1">
                            <a:latin typeface="Cambria Math" panose="02040503050406030204" pitchFamily="18" charset="0"/>
                            <a:cs typeface="Segoe UI" panose="020B0502040204020203" pitchFamily="34" charset="0"/>
                          </a:rPr>
                          <m:t>)</m:t>
                        </m:r>
                      </m:sup>
                    </m:sSubSup>
                  </m:oMath>
                </a14:m>
                <a:r>
                  <a:rPr lang="en-US" dirty="0">
                    <a:cs typeface="Segoe UI" panose="020B0502040204020203" pitchFamily="34" charset="0"/>
                  </a:rPr>
                  <a:t>, are scaled by the corresponding eigenvalue, </a:t>
                </a:r>
                <a14:m>
                  <m:oMath xmlns:m="http://schemas.openxmlformats.org/officeDocument/2006/math">
                    <m:sSub>
                      <m:sSubPr>
                        <m:ctrlPr>
                          <a:rPr lang="en-US" i="1">
                            <a:latin typeface="Cambria Math" panose="02040503050406030204" pitchFamily="18" charset="0"/>
                            <a:ea typeface="Cambria Math" panose="02040503050406030204" pitchFamily="18" charset="0"/>
                            <a:cs typeface="Segoe UI" panose="020B0502040204020203" pitchFamily="34" charset="0"/>
                          </a:rPr>
                        </m:ctrlPr>
                      </m:sSubPr>
                      <m:e>
                        <m:r>
                          <a:rPr lang="en-US" i="1">
                            <a:latin typeface="Cambria Math" panose="02040503050406030204" pitchFamily="18" charset="0"/>
                            <a:ea typeface="Cambria Math" panose="02040503050406030204" pitchFamily="18" charset="0"/>
                            <a:cs typeface="Segoe UI" panose="020B0502040204020203" pitchFamily="34" charset="0"/>
                          </a:rPr>
                          <m:t>𝜆</m:t>
                        </m:r>
                      </m:e>
                      <m:sub>
                        <m:r>
                          <a:rPr lang="en-US" i="1">
                            <a:latin typeface="Cambria Math" panose="02040503050406030204" pitchFamily="18" charset="0"/>
                            <a:cs typeface="Segoe UI" panose="020B0502040204020203" pitchFamily="34" charset="0"/>
                          </a:rPr>
                          <m:t>𝑖</m:t>
                        </m:r>
                      </m:sub>
                    </m:sSub>
                  </m:oMath>
                </a14:m>
                <a:r>
                  <a:rPr lang="en-US" dirty="0">
                    <a:cs typeface="Segoe UI" panose="020B0502040204020203" pitchFamily="34" charset="0"/>
                  </a:rPr>
                  <a:t> </a:t>
                </a:r>
              </a:p>
              <a:p>
                <a:r>
                  <a:rPr lang="en-US" dirty="0">
                    <a:cs typeface="Segoe UI" panose="020B0502040204020203" pitchFamily="34" charset="0"/>
                  </a:rPr>
                  <a:t>The larger the eigenvalue the greater the contribution to reconstruction of matrix A</a:t>
                </a:r>
              </a:p>
              <a:p>
                <a:pPr marL="0" indent="0">
                  <a:buNone/>
                </a:pPr>
                <a:endParaRPr lang="en-US" dirty="0"/>
              </a:p>
              <a:p>
                <a:pPr marL="457200" lvl="1" indent="0">
                  <a:buNone/>
                </a:pPr>
                <a:endParaRPr lang="en-US" dirty="0"/>
              </a:p>
              <a:p>
                <a:endParaRPr lang="en-US" dirty="0"/>
              </a:p>
            </p:txBody>
          </p:sp>
        </mc:Choice>
        <mc:Fallback xmlns="">
          <p:sp>
            <p:nvSpPr>
              <p:cNvPr id="3" name="Content Placeholder 2">
                <a:extLst>
                  <a:ext uri="{FF2B5EF4-FFF2-40B4-BE49-F238E27FC236}">
                    <a16:creationId xmlns:a16="http://schemas.microsoft.com/office/drawing/2014/main" id="{CA03134D-F068-4BC9-B038-F3D5CBDDE3F9}"/>
                  </a:ext>
                </a:extLst>
              </p:cNvPr>
              <p:cNvSpPr>
                <a:spLocks noGrp="1" noRot="1" noChangeAspect="1" noMove="1" noResize="1" noEditPoints="1" noAdjustHandles="1" noChangeArrowheads="1" noChangeShapeType="1" noTextEdit="1"/>
              </p:cNvSpPr>
              <p:nvPr>
                <p:ph idx="1"/>
              </p:nvPr>
            </p:nvSpPr>
            <p:spPr>
              <a:xfrm>
                <a:off x="775447" y="1198536"/>
                <a:ext cx="10792776" cy="5457758"/>
              </a:xfrm>
              <a:blipFill>
                <a:blip r:embed="rId2"/>
                <a:stretch>
                  <a:fillRect l="-1129" t="-1899" r="-1694"/>
                </a:stretch>
              </a:blipFill>
            </p:spPr>
            <p:txBody>
              <a:bodyPr/>
              <a:lstStyle/>
              <a:p>
                <a:r>
                  <a:rPr lang="en-US">
                    <a:noFill/>
                  </a:rPr>
                  <a:t> </a:t>
                </a:r>
              </a:p>
            </p:txBody>
          </p:sp>
        </mc:Fallback>
      </mc:AlternateContent>
    </p:spTree>
    <p:extLst>
      <p:ext uri="{BB962C8B-B14F-4D97-AF65-F5344CB8AC3E}">
        <p14:creationId xmlns:p14="http://schemas.microsoft.com/office/powerpoint/2010/main" val="1196737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Spectral Modularity Maximization </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75447" y="1198536"/>
                <a:ext cx="10792776" cy="5457758"/>
              </a:xfrm>
            </p:spPr>
            <p:txBody>
              <a:bodyPr>
                <a:normAutofit/>
              </a:bodyPr>
              <a:lstStyle/>
              <a:p>
                <a:pPr marL="0" indent="0">
                  <a:buNone/>
                </a:pPr>
                <a:r>
                  <a:rPr lang="en-US" dirty="0"/>
                  <a:t>Use spectral decomposition to maximize modularity</a:t>
                </a:r>
                <a:endParaRPr lang="en-US" b="0" dirty="0"/>
              </a:p>
              <a:p>
                <a:r>
                  <a:rPr lang="en-US" dirty="0"/>
                  <a:t>In matrix notation this looks like an eigenvalue-eigenvector problem!</a:t>
                </a:r>
              </a:p>
              <a:p>
                <a:pPr marL="0" indent="0">
                  <a:buNone/>
                </a:pPr>
                <a14:m>
                  <m:oMathPara xmlns:m="http://schemas.openxmlformats.org/officeDocument/2006/math">
                    <m:oMath>
                      <m:r>
                        <a:rPr lang="en-US" b="0" i="1" smtClean="0">
                          <a:latin typeface="Cambria Math" panose="02040503050406030204" pitchFamily="18" charset="0"/>
                        </a:rPr>
                        <m:t>𝐵𝑠</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𝑠</m:t>
                      </m:r>
                    </m:oMath>
                  </m:oMathPara>
                </a14:m>
                <a:endParaRPr lang="en-US" b="0" dirty="0">
                  <a:ea typeface="Cambria Math" panose="02040503050406030204" pitchFamily="18" charset="0"/>
                </a:endParaRPr>
              </a:p>
              <a:p>
                <a:r>
                  <a:rPr lang="en-US" dirty="0">
                    <a:ea typeface="Cambria Math" panose="02040503050406030204" pitchFamily="18" charset="0"/>
                  </a:rPr>
                  <a:t>Substituting into the modularity equation:  </a:t>
                </a:r>
              </a:p>
              <a:p>
                <a:pPr marL="0" indent="0">
                  <a:buNone/>
                </a:pPr>
                <a14:m>
                  <m:oMathPara xmlns:m="http://schemas.openxmlformats.org/officeDocument/2006/math">
                    <m:oMath>
                      <m:r>
                        <a:rPr lang="en-US" b="0" i="1" smtClean="0">
                          <a:latin typeface="Cambria Math" panose="02040503050406030204" pitchFamily="18" charset="0"/>
                          <a:ea typeface="Cambria Math" panose="02040503050406030204" pitchFamily="18" charset="0"/>
                        </a:rPr>
                        <m:t>𝑄</m:t>
                      </m:r>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4</m:t>
                          </m:r>
                          <m:r>
                            <a:rPr lang="en-US" b="0" i="1" smtClean="0">
                              <a:latin typeface="Cambria Math" panose="02040503050406030204" pitchFamily="18" charset="0"/>
                              <a:ea typeface="Cambria Math" panose="02040503050406030204" pitchFamily="18" charset="0"/>
                            </a:rPr>
                            <m:t>𝑚</m:t>
                          </m:r>
                        </m:den>
                      </m:f>
                      <m:r>
                        <a:rPr lang="en-US" b="0" i="1" smtClean="0">
                          <a:latin typeface="Cambria Math" panose="02040503050406030204" pitchFamily="18" charset="0"/>
                          <a:ea typeface="Cambria Math" panose="02040503050406030204" pitchFamily="18" charset="0"/>
                        </a:rPr>
                        <m:t>𝜆</m:t>
                      </m:r>
                      <m:sSup>
                        <m:sSupPr>
                          <m:ctrlPr>
                            <a:rPr lang="en-US" i="1">
                              <a:latin typeface="Cambria Math" panose="02040503050406030204" pitchFamily="18" charset="0"/>
                            </a:rPr>
                          </m:ctrlPr>
                        </m:sSupPr>
                        <m:e>
                          <m:r>
                            <a:rPr lang="en-US" i="1">
                              <a:latin typeface="Cambria Math" panose="02040503050406030204" pitchFamily="18" charset="0"/>
                            </a:rPr>
                            <m:t>𝑠</m:t>
                          </m:r>
                        </m:e>
                        <m:sup>
                          <m:r>
                            <a:rPr lang="en-US" i="1">
                              <a:latin typeface="Cambria Math" panose="02040503050406030204" pitchFamily="18" charset="0"/>
                            </a:rPr>
                            <m:t>𝑇</m:t>
                          </m:r>
                        </m:sup>
                      </m:sSup>
                      <m:r>
                        <a:rPr lang="en-US" i="1">
                          <a:latin typeface="Cambria Math" panose="02040503050406030204" pitchFamily="18" charset="0"/>
                        </a:rPr>
                        <m:t>𝑠</m:t>
                      </m:r>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1</m:t>
                          </m:r>
                        </m:num>
                        <m:den>
                          <m:r>
                            <a:rPr lang="en-US" i="1">
                              <a:latin typeface="Cambria Math" panose="02040503050406030204" pitchFamily="18" charset="0"/>
                              <a:ea typeface="Cambria Math" panose="02040503050406030204" pitchFamily="18" charset="0"/>
                            </a:rPr>
                            <m:t>4</m:t>
                          </m:r>
                          <m:r>
                            <a:rPr lang="en-US" i="1">
                              <a:latin typeface="Cambria Math" panose="02040503050406030204" pitchFamily="18" charset="0"/>
                              <a:ea typeface="Cambria Math" panose="02040503050406030204" pitchFamily="18" charset="0"/>
                            </a:rPr>
                            <m:t>𝑚</m:t>
                          </m:r>
                        </m:den>
                      </m:f>
                      <m:r>
                        <a:rPr lang="en-US" i="1">
                          <a:latin typeface="Cambria Math" panose="02040503050406030204" pitchFamily="18" charset="0"/>
                          <a:ea typeface="Cambria Math" panose="02040503050406030204" pitchFamily="18" charset="0"/>
                        </a:rPr>
                        <m:t>𝜆</m:t>
                      </m:r>
                    </m:oMath>
                  </m:oMathPara>
                </a14:m>
                <a:endParaRPr lang="en-US" dirty="0">
                  <a:ea typeface="Cambria Math" panose="02040503050406030204" pitchFamily="18" charset="0"/>
                </a:endParaRPr>
              </a:p>
              <a:p>
                <a:r>
                  <a:rPr lang="en-US" b="0" i="1" dirty="0">
                    <a:ea typeface="Cambria Math" panose="02040503050406030204" pitchFamily="18" charset="0"/>
                  </a:rPr>
                  <a:t>Q</a:t>
                </a:r>
                <a:r>
                  <a:rPr lang="en-US" b="0" dirty="0">
                    <a:ea typeface="Cambria Math" panose="02040503050406030204" pitchFamily="18" charset="0"/>
                  </a:rPr>
                  <a:t> is maximized for the </a:t>
                </a:r>
                <a:r>
                  <a:rPr lang="en-US" b="1" dirty="0">
                    <a:ea typeface="Cambria Math" panose="02040503050406030204" pitchFamily="18" charset="0"/>
                  </a:rPr>
                  <a:t>eigenvector, </a:t>
                </a:r>
                <a14:m>
                  <m:oMath xmlns:m="http://schemas.openxmlformats.org/officeDocument/2006/math">
                    <m:r>
                      <a:rPr lang="en-US" b="1" i="1">
                        <a:latin typeface="Cambria Math" panose="02040503050406030204" pitchFamily="18" charset="0"/>
                      </a:rPr>
                      <m:t>𝒔</m:t>
                    </m:r>
                    <m:r>
                      <a:rPr lang="en-US" b="1" i="1" smtClean="0">
                        <a:latin typeface="Cambria Math" panose="02040503050406030204" pitchFamily="18" charset="0"/>
                      </a:rPr>
                      <m:t>,</m:t>
                    </m:r>
                  </m:oMath>
                </a14:m>
                <a:r>
                  <a:rPr lang="en-US" b="1" dirty="0">
                    <a:ea typeface="Cambria Math" panose="02040503050406030204" pitchFamily="18" charset="0"/>
                  </a:rPr>
                  <a:t> with the largest eigenvalue,</a:t>
                </a:r>
                <a:r>
                  <a:rPr lang="en-US" dirty="0">
                    <a:ea typeface="Cambria Math" panose="02040503050406030204" pitchFamily="18" charset="0"/>
                  </a:rPr>
                  <a:t> </a:t>
                </a:r>
                <a14:m>
                  <m:oMath xmlns:m="http://schemas.openxmlformats.org/officeDocument/2006/math">
                    <m:r>
                      <a:rPr lang="en-US" b="1" i="1">
                        <a:latin typeface="Cambria Math" panose="02040503050406030204" pitchFamily="18" charset="0"/>
                        <a:ea typeface="Cambria Math" panose="02040503050406030204" pitchFamily="18" charset="0"/>
                      </a:rPr>
                      <m:t>𝝀</m:t>
                    </m:r>
                  </m:oMath>
                </a14:m>
                <a:r>
                  <a:rPr lang="en-US" b="1" dirty="0">
                    <a:ea typeface="Cambria Math" panose="02040503050406030204" pitchFamily="18" charset="0"/>
                  </a:rPr>
                  <a:t> </a:t>
                </a:r>
              </a:p>
              <a:p>
                <a:r>
                  <a:rPr lang="en-US" dirty="0">
                    <a:ea typeface="Cambria Math" panose="02040503050406030204" pitchFamily="18" charset="0"/>
                  </a:rPr>
                  <a:t>Can recursively divide the graph components to find smaller communities</a:t>
                </a:r>
              </a:p>
              <a:p>
                <a:r>
                  <a:rPr lang="en-US" dirty="0">
                    <a:ea typeface="Cambria Math" panose="02040503050406030204" pitchFamily="18" charset="0"/>
                  </a:rPr>
                  <a:t>Is similar to min-cut algorithm using smallest non-zero eigenvalue</a:t>
                </a:r>
              </a:p>
            </p:txBody>
          </p:sp>
        </mc:Choice>
        <mc:Fallback xmlns="">
          <p:sp>
            <p:nvSpPr>
              <p:cNvPr id="3" name="Content Placeholder 2">
                <a:extLst>
                  <a:ext uri="{FF2B5EF4-FFF2-40B4-BE49-F238E27FC236}">
                    <a16:creationId xmlns:a16="http://schemas.microsoft.com/office/drawing/2014/main" id="{CA03134D-F068-4BC9-B038-F3D5CBDDE3F9}"/>
                  </a:ext>
                </a:extLst>
              </p:cNvPr>
              <p:cNvSpPr>
                <a:spLocks noGrp="1" noRot="1" noChangeAspect="1" noMove="1" noResize="1" noEditPoints="1" noAdjustHandles="1" noChangeArrowheads="1" noChangeShapeType="1" noTextEdit="1"/>
              </p:cNvSpPr>
              <p:nvPr>
                <p:ph idx="1"/>
              </p:nvPr>
            </p:nvSpPr>
            <p:spPr>
              <a:xfrm>
                <a:off x="775447" y="1198536"/>
                <a:ext cx="10792776" cy="5457758"/>
              </a:xfrm>
              <a:blipFill>
                <a:blip r:embed="rId2"/>
                <a:stretch>
                  <a:fillRect l="-1129" t="-1899"/>
                </a:stretch>
              </a:blipFill>
            </p:spPr>
            <p:txBody>
              <a:bodyPr/>
              <a:lstStyle/>
              <a:p>
                <a:r>
                  <a:rPr lang="en-US">
                    <a:noFill/>
                  </a:rPr>
                  <a:t> </a:t>
                </a:r>
              </a:p>
            </p:txBody>
          </p:sp>
        </mc:Fallback>
      </mc:AlternateContent>
    </p:spTree>
    <p:extLst>
      <p:ext uri="{BB962C8B-B14F-4D97-AF65-F5344CB8AC3E}">
        <p14:creationId xmlns:p14="http://schemas.microsoft.com/office/powerpoint/2010/main" val="3904528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Spectral Modularity Maximization </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75447" y="1198536"/>
                <a:ext cx="10792776" cy="5457758"/>
              </a:xfrm>
            </p:spPr>
            <p:txBody>
              <a:bodyPr>
                <a:normAutofit/>
              </a:bodyPr>
              <a:lstStyle/>
              <a:p>
                <a:pPr marL="0" indent="0">
                  <a:buNone/>
                </a:pPr>
                <a:r>
                  <a:rPr lang="en-US" dirty="0"/>
                  <a:t>Use spectral decomposition to maximize modularity</a:t>
                </a:r>
                <a:endParaRPr lang="en-US" b="0" dirty="0"/>
              </a:p>
              <a:p>
                <a:r>
                  <a:rPr lang="en-US" dirty="0"/>
                  <a:t>In matrix notation this looks like an eigenvalue-eigenvector problem!</a:t>
                </a:r>
              </a:p>
              <a:p>
                <a:pPr marL="0" indent="0">
                  <a:buNone/>
                </a:pPr>
                <a14:m>
                  <m:oMathPara xmlns:m="http://schemas.openxmlformats.org/officeDocument/2006/math">
                    <m:oMath>
                      <m:r>
                        <a:rPr lang="en-US" b="0" i="1" smtClean="0">
                          <a:latin typeface="Cambria Math" panose="02040503050406030204" pitchFamily="18" charset="0"/>
                        </a:rPr>
                        <m:t>𝐵𝑠</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𝑠</m:t>
                      </m:r>
                    </m:oMath>
                  </m:oMathPara>
                </a14:m>
                <a:endParaRPr lang="en-US" b="0" dirty="0">
                  <a:ea typeface="Cambria Math" panose="02040503050406030204" pitchFamily="18" charset="0"/>
                </a:endParaRPr>
              </a:p>
              <a:p>
                <a:r>
                  <a:rPr lang="en-US" dirty="0">
                    <a:ea typeface="Cambria Math" panose="02040503050406030204" pitchFamily="18" charset="0"/>
                  </a:rPr>
                  <a:t>Need to find the eigenvector associated with the first (largest) eigenvalue  </a:t>
                </a:r>
              </a:p>
              <a:p>
                <a:r>
                  <a:rPr lang="en-US" dirty="0">
                    <a:ea typeface="Cambria Math" panose="02040503050406030204" pitchFamily="18" charset="0"/>
                  </a:rPr>
                  <a:t>Method known as the </a:t>
                </a:r>
                <a:r>
                  <a:rPr lang="en-US" b="1" dirty="0">
                    <a:hlinkClick r:id="rId2"/>
                  </a:rPr>
                  <a:t>Lanczos algorithm</a:t>
                </a:r>
                <a:r>
                  <a:rPr lang="en-US" dirty="0">
                    <a:ea typeface="Cambria Math" panose="02040503050406030204" pitchFamily="18" charset="0"/>
                    <a:hlinkClick r:id="rId2"/>
                  </a:rPr>
                  <a:t> </a:t>
                </a:r>
                <a:r>
                  <a:rPr lang="en-US" dirty="0">
                    <a:ea typeface="Cambria Math" panose="02040503050406030204" pitchFamily="18" charset="0"/>
                  </a:rPr>
                  <a:t>or </a:t>
                </a:r>
                <a:r>
                  <a:rPr lang="en-US" b="1" dirty="0">
                    <a:ea typeface="Cambria Math" panose="02040503050406030204" pitchFamily="18" charset="0"/>
                  </a:rPr>
                  <a:t>power iteration method</a:t>
                </a:r>
                <a:endParaRPr lang="en-US" dirty="0"/>
              </a:p>
              <a:p>
                <a:pPr lvl="1"/>
                <a:r>
                  <a:rPr lang="en-US" dirty="0">
                    <a:ea typeface="Cambria Math" panose="02040503050406030204" pitchFamily="18" charset="0"/>
                  </a:rPr>
                  <a:t>Massively </a:t>
                </a:r>
                <a:r>
                  <a:rPr lang="en-US" b="1" dirty="0">
                    <a:ea typeface="Cambria Math" panose="02040503050406030204" pitchFamily="18" charset="0"/>
                  </a:rPr>
                  <a:t>scale </a:t>
                </a:r>
                <a:r>
                  <a:rPr lang="en-US" b="1">
                    <a:ea typeface="Cambria Math" panose="02040503050406030204" pitchFamily="18" charset="0"/>
                  </a:rPr>
                  <a:t>with parallel </a:t>
                </a:r>
                <a:r>
                  <a:rPr lang="en-US" b="1" dirty="0">
                    <a:ea typeface="Cambria Math" panose="02040503050406030204" pitchFamily="18" charset="0"/>
                  </a:rPr>
                  <a:t>MapReduce!</a:t>
                </a:r>
                <a:r>
                  <a:rPr lang="en-US" dirty="0">
                    <a:ea typeface="Cambria Math" panose="02040503050406030204" pitchFamily="18" charset="0"/>
                  </a:rPr>
                  <a:t> </a:t>
                </a:r>
              </a:p>
              <a:p>
                <a:pPr lvl="1"/>
                <a:r>
                  <a:rPr lang="en-US" dirty="0">
                    <a:ea typeface="Cambria Math" panose="02040503050406030204" pitchFamily="18" charset="0"/>
                  </a:rPr>
                  <a:t>Efficient, computational complexity </a:t>
                </a:r>
                <a14:m>
                  <m:oMath xmlns:m="http://schemas.openxmlformats.org/officeDocument/2006/math">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𝑂</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𝑙𝑜𝑔</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𝑛</m:t>
                            </m:r>
                          </m:e>
                        </m:d>
                      </m:e>
                    </m:d>
                  </m:oMath>
                </a14:m>
                <a:endParaRPr lang="en-US" dirty="0">
                  <a:ea typeface="Cambria Math" panose="02040503050406030204" pitchFamily="18" charset="0"/>
                </a:endParaRPr>
              </a:p>
            </p:txBody>
          </p:sp>
        </mc:Choice>
        <mc:Fallback xmlns="">
          <p:sp>
            <p:nvSpPr>
              <p:cNvPr id="3" name="Content Placeholder 2">
                <a:extLst>
                  <a:ext uri="{FF2B5EF4-FFF2-40B4-BE49-F238E27FC236}">
                    <a16:creationId xmlns:a16="http://schemas.microsoft.com/office/drawing/2014/main" id="{CA03134D-F068-4BC9-B038-F3D5CBDDE3F9}"/>
                  </a:ext>
                </a:extLst>
              </p:cNvPr>
              <p:cNvSpPr>
                <a:spLocks noGrp="1" noRot="1" noChangeAspect="1" noMove="1" noResize="1" noEditPoints="1" noAdjustHandles="1" noChangeArrowheads="1" noChangeShapeType="1" noTextEdit="1"/>
              </p:cNvSpPr>
              <p:nvPr>
                <p:ph idx="1"/>
              </p:nvPr>
            </p:nvSpPr>
            <p:spPr>
              <a:xfrm>
                <a:off x="775447" y="1198536"/>
                <a:ext cx="10792776" cy="5457758"/>
              </a:xfrm>
              <a:blipFill>
                <a:blip r:embed="rId3"/>
                <a:stretch>
                  <a:fillRect l="-1129" t="-1899"/>
                </a:stretch>
              </a:blipFill>
            </p:spPr>
            <p:txBody>
              <a:bodyPr/>
              <a:lstStyle/>
              <a:p>
                <a:r>
                  <a:rPr lang="en-US">
                    <a:noFill/>
                  </a:rPr>
                  <a:t> </a:t>
                </a:r>
              </a:p>
            </p:txBody>
          </p:sp>
        </mc:Fallback>
      </mc:AlternateContent>
    </p:spTree>
    <p:extLst>
      <p:ext uri="{BB962C8B-B14F-4D97-AF65-F5344CB8AC3E}">
        <p14:creationId xmlns:p14="http://schemas.microsoft.com/office/powerpoint/2010/main" val="3294648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BCCB5-9211-383C-317C-28CC584E2D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8458BC-CD0C-978E-41CD-53D9814EC9D1}"/>
              </a:ext>
            </a:extLst>
          </p:cNvPr>
          <p:cNvSpPr>
            <a:spLocks noGrp="1"/>
          </p:cNvSpPr>
          <p:nvPr>
            <p:ph type="title"/>
          </p:nvPr>
        </p:nvSpPr>
        <p:spPr>
          <a:xfrm>
            <a:off x="831850" y="1709738"/>
            <a:ext cx="10515600" cy="2282271"/>
          </a:xfrm>
        </p:spPr>
        <p:txBody>
          <a:bodyPr/>
          <a:lstStyle/>
          <a:p>
            <a:pPr algn="ctr"/>
            <a:r>
              <a:rPr lang="en-US" dirty="0"/>
              <a:t>Small World Networks</a:t>
            </a:r>
          </a:p>
        </p:txBody>
      </p:sp>
    </p:spTree>
    <p:extLst>
      <p:ext uri="{BB962C8B-B14F-4D97-AF65-F5344CB8AC3E}">
        <p14:creationId xmlns:p14="http://schemas.microsoft.com/office/powerpoint/2010/main" val="123598320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C46DE2-E0A6-C555-29C5-D8F85B6087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707011-F471-DC3A-42D8-55F1FDC52DB7}"/>
              </a:ext>
            </a:extLst>
          </p:cNvPr>
          <p:cNvSpPr>
            <a:spLocks noGrp="1"/>
          </p:cNvSpPr>
          <p:nvPr>
            <p:ph type="title"/>
          </p:nvPr>
        </p:nvSpPr>
        <p:spPr>
          <a:xfrm>
            <a:off x="838200" y="365125"/>
            <a:ext cx="10515600" cy="620993"/>
          </a:xfrm>
        </p:spPr>
        <p:txBody>
          <a:bodyPr>
            <a:normAutofit fontScale="90000"/>
          </a:bodyPr>
          <a:lstStyle/>
          <a:p>
            <a:r>
              <a:rPr lang="en-US" dirty="0">
                <a:latin typeface="+mn-lt"/>
              </a:rPr>
              <a:t>Small World Networks</a:t>
            </a:r>
            <a:endParaRPr lang="en-US" dirty="0"/>
          </a:p>
        </p:txBody>
      </p:sp>
      <p:sp>
        <p:nvSpPr>
          <p:cNvPr id="3" name="Content Placeholder 2">
            <a:extLst>
              <a:ext uri="{FF2B5EF4-FFF2-40B4-BE49-F238E27FC236}">
                <a16:creationId xmlns:a16="http://schemas.microsoft.com/office/drawing/2014/main" id="{301BADD1-26D2-3C19-FC86-45C5AD6658A2}"/>
              </a:ext>
            </a:extLst>
          </p:cNvPr>
          <p:cNvSpPr>
            <a:spLocks noGrp="1"/>
          </p:cNvSpPr>
          <p:nvPr>
            <p:ph idx="1"/>
          </p:nvPr>
        </p:nvSpPr>
        <p:spPr>
          <a:xfrm>
            <a:off x="775447" y="1208868"/>
            <a:ext cx="10515600" cy="5447426"/>
          </a:xfrm>
        </p:spPr>
        <p:txBody>
          <a:bodyPr>
            <a:normAutofit/>
          </a:bodyPr>
          <a:lstStyle/>
          <a:p>
            <a:pPr marL="0" indent="0">
              <a:buNone/>
            </a:pPr>
            <a:r>
              <a:rPr lang="en-US" b="1" dirty="0">
                <a:hlinkClick r:id="rId2"/>
              </a:rPr>
              <a:t>Small world networks (SWNs)</a:t>
            </a:r>
            <a:r>
              <a:rPr lang="en-US" b="1" dirty="0"/>
              <a:t> </a:t>
            </a:r>
            <a:r>
              <a:rPr lang="en-US" dirty="0"/>
              <a:t>are a class of graph with unusually short distances between nodes    </a:t>
            </a:r>
          </a:p>
          <a:p>
            <a:r>
              <a:rPr lang="en-US" dirty="0"/>
              <a:t>Small world networks have low degree of separation between nodes </a:t>
            </a:r>
          </a:p>
          <a:p>
            <a:r>
              <a:rPr lang="en-US" dirty="0"/>
              <a:t>Small world networks comprise two types of edges   </a:t>
            </a:r>
          </a:p>
          <a:p>
            <a:pPr lvl="1"/>
            <a:r>
              <a:rPr lang="en-US" dirty="0"/>
              <a:t>Edges between near neighbors of a lattice network  </a:t>
            </a:r>
          </a:p>
          <a:p>
            <a:pPr lvl="1"/>
            <a:r>
              <a:rPr lang="en-US" dirty="0"/>
              <a:t>A small number of edges between distant nodes   </a:t>
            </a:r>
          </a:p>
          <a:p>
            <a:r>
              <a:rPr lang="en-US" dirty="0"/>
              <a:t>Small world networks have relatively few highly connected nodes or </a:t>
            </a:r>
            <a:r>
              <a:rPr lang="en-US" b="1" dirty="0"/>
              <a:t>hubs</a:t>
            </a:r>
          </a:p>
        </p:txBody>
      </p:sp>
    </p:spTree>
    <p:extLst>
      <p:ext uri="{BB962C8B-B14F-4D97-AF65-F5344CB8AC3E}">
        <p14:creationId xmlns:p14="http://schemas.microsoft.com/office/powerpoint/2010/main" val="227414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6DCD8-1B5C-5D98-FFDC-77D3B9A7A6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1A214F-30AC-A1F0-ABEB-573769604D98}"/>
              </a:ext>
            </a:extLst>
          </p:cNvPr>
          <p:cNvSpPr>
            <a:spLocks noGrp="1"/>
          </p:cNvSpPr>
          <p:nvPr>
            <p:ph type="title"/>
          </p:nvPr>
        </p:nvSpPr>
        <p:spPr>
          <a:xfrm>
            <a:off x="838200" y="365125"/>
            <a:ext cx="10515600" cy="620993"/>
          </a:xfrm>
        </p:spPr>
        <p:txBody>
          <a:bodyPr>
            <a:normAutofit fontScale="90000"/>
          </a:bodyPr>
          <a:lstStyle/>
          <a:p>
            <a:r>
              <a:rPr lang="en-US" dirty="0">
                <a:latin typeface="+mn-lt"/>
              </a:rPr>
              <a:t>Small World Networks</a:t>
            </a:r>
            <a:endParaRPr lang="en-US" dirty="0"/>
          </a:p>
        </p:txBody>
      </p:sp>
      <p:sp>
        <p:nvSpPr>
          <p:cNvPr id="3" name="Content Placeholder 2">
            <a:extLst>
              <a:ext uri="{FF2B5EF4-FFF2-40B4-BE49-F238E27FC236}">
                <a16:creationId xmlns:a16="http://schemas.microsoft.com/office/drawing/2014/main" id="{8C1F0BE2-ED6C-DAEC-FC31-9789A296D2BC}"/>
              </a:ext>
            </a:extLst>
          </p:cNvPr>
          <p:cNvSpPr>
            <a:spLocks noGrp="1"/>
          </p:cNvSpPr>
          <p:nvPr>
            <p:ph idx="1"/>
          </p:nvPr>
        </p:nvSpPr>
        <p:spPr>
          <a:xfrm>
            <a:off x="775447" y="1208868"/>
            <a:ext cx="10515600" cy="5447426"/>
          </a:xfrm>
        </p:spPr>
        <p:txBody>
          <a:bodyPr>
            <a:normAutofit/>
          </a:bodyPr>
          <a:lstStyle/>
          <a:p>
            <a:pPr marL="0" indent="0">
              <a:buNone/>
            </a:pPr>
            <a:r>
              <a:rPr lang="en-US" dirty="0"/>
              <a:t>Examples of small world networks (SWNs)</a:t>
            </a:r>
          </a:p>
          <a:p>
            <a:r>
              <a:rPr lang="en-US" dirty="0"/>
              <a:t>Structure of the Internet</a:t>
            </a:r>
          </a:p>
          <a:p>
            <a:r>
              <a:rPr lang="en-US" dirty="0"/>
              <a:t>Airlines with hub and spoke network   </a:t>
            </a:r>
          </a:p>
          <a:p>
            <a:r>
              <a:rPr lang="en-US" dirty="0"/>
              <a:t>Similarity of documents and images</a:t>
            </a:r>
          </a:p>
          <a:p>
            <a:r>
              <a:rPr lang="en-US" dirty="0"/>
              <a:t>People in affiliated social groups    </a:t>
            </a:r>
          </a:p>
          <a:p>
            <a:r>
              <a:rPr lang="en-US" dirty="0"/>
              <a:t>Wildlife in ecosystem food webs  </a:t>
            </a:r>
          </a:p>
          <a:p>
            <a:r>
              <a:rPr lang="en-US" dirty="0"/>
              <a:t>Neurons in the human brain</a:t>
            </a:r>
          </a:p>
          <a:p>
            <a:r>
              <a:rPr lang="en-US" dirty="0"/>
              <a:t>Regulation of genetic transcription networks</a:t>
            </a:r>
          </a:p>
          <a:p>
            <a:r>
              <a:rPr lang="en-US" dirty="0" err="1"/>
              <a:t>Etc</a:t>
            </a:r>
            <a:r>
              <a:rPr lang="en-US" dirty="0"/>
              <a:t>…..</a:t>
            </a:r>
          </a:p>
          <a:p>
            <a:endParaRPr lang="en-US" dirty="0"/>
          </a:p>
        </p:txBody>
      </p:sp>
    </p:spTree>
    <p:extLst>
      <p:ext uri="{BB962C8B-B14F-4D97-AF65-F5344CB8AC3E}">
        <p14:creationId xmlns:p14="http://schemas.microsoft.com/office/powerpoint/2010/main" val="789383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33551-A9E6-184D-7C24-2C78EA607A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0F8868-9EFF-572A-8172-336ED729141A}"/>
              </a:ext>
            </a:extLst>
          </p:cNvPr>
          <p:cNvSpPr>
            <a:spLocks noGrp="1"/>
          </p:cNvSpPr>
          <p:nvPr>
            <p:ph type="title"/>
          </p:nvPr>
        </p:nvSpPr>
        <p:spPr>
          <a:xfrm>
            <a:off x="838200" y="365125"/>
            <a:ext cx="10515600" cy="620993"/>
          </a:xfrm>
        </p:spPr>
        <p:txBody>
          <a:bodyPr>
            <a:normAutofit fontScale="90000"/>
          </a:bodyPr>
          <a:lstStyle/>
          <a:p>
            <a:r>
              <a:rPr lang="en-US" dirty="0">
                <a:latin typeface="+mn-lt"/>
              </a:rPr>
              <a:t>Small World Networks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9A50240-16F3-ED4D-5379-D1B03D061857}"/>
                  </a:ext>
                </a:extLst>
              </p:cNvPr>
              <p:cNvSpPr>
                <a:spLocks noGrp="1"/>
              </p:cNvSpPr>
              <p:nvPr>
                <p:ph idx="1"/>
              </p:nvPr>
            </p:nvSpPr>
            <p:spPr>
              <a:xfrm>
                <a:off x="775447" y="1208868"/>
                <a:ext cx="10515600" cy="5447426"/>
              </a:xfrm>
            </p:spPr>
            <p:txBody>
              <a:bodyPr>
                <a:normAutofit/>
              </a:bodyPr>
              <a:lstStyle/>
              <a:p>
                <a:pPr marL="0" indent="0">
                  <a:buNone/>
                </a:pPr>
                <a:r>
                  <a:rPr lang="en-US" dirty="0"/>
                  <a:t>Properties of small world networks </a:t>
                </a:r>
              </a:p>
              <a:p>
                <a:r>
                  <a:rPr lang="en-US" dirty="0"/>
                  <a:t>The average distances between nodes in a SWN, </a:t>
                </a:r>
                <a14:m>
                  <m:oMath xmlns:m="http://schemas.openxmlformats.org/officeDocument/2006/math">
                    <m:r>
                      <a:rPr lang="en-US" i="1">
                        <a:latin typeface="Cambria Math" panose="02040503050406030204" pitchFamily="18" charset="0"/>
                      </a:rPr>
                      <m:t>𝐿</m:t>
                    </m:r>
                  </m:oMath>
                </a14:m>
                <a:r>
                  <a:rPr lang="en-US" dirty="0"/>
                  <a:t>, follows a </a:t>
                </a:r>
                <a:r>
                  <a:rPr lang="en-US" b="1" dirty="0"/>
                  <a:t>power law </a:t>
                </a:r>
                <a:r>
                  <a:rPr lang="en-US" dirty="0"/>
                  <a:t>with respect to the number of nodes, </a:t>
                </a:r>
                <a14:m>
                  <m:oMath xmlns:m="http://schemas.openxmlformats.org/officeDocument/2006/math">
                    <m:r>
                      <a:rPr lang="en-US" i="1">
                        <a:latin typeface="Cambria Math" panose="02040503050406030204" pitchFamily="18" charset="0"/>
                        <a:ea typeface="Cambria Math" panose="02040503050406030204" pitchFamily="18" charset="0"/>
                      </a:rPr>
                      <m:t>𝑛</m:t>
                    </m:r>
                  </m:oMath>
                </a14:m>
                <a:endParaRPr lang="en-US" dirty="0"/>
              </a:p>
              <a:p>
                <a:pPr marL="0" indent="0">
                  <a:buNone/>
                </a:pPr>
                <a14:m>
                  <m:oMathPara xmlns:m="http://schemas.openxmlformats.org/officeDocument/2006/math">
                    <m:oMath>
                      <m:r>
                        <a:rPr lang="en-US" b="0" i="1" smtClean="0">
                          <a:latin typeface="Cambria Math" panose="02040503050406030204" pitchFamily="18" charset="0"/>
                        </a:rPr>
                        <m:t>𝐿</m:t>
                      </m:r>
                      <m:r>
                        <a:rPr lang="en-US" b="0" i="1" smtClean="0">
                          <a:latin typeface="Cambria Math" panose="02040503050406030204" pitchFamily="18" charset="0"/>
                          <a:ea typeface="Cambria Math" panose="02040503050406030204" pitchFamily="18" charset="0"/>
                        </a:rPr>
                        <m:t>∝</m:t>
                      </m:r>
                      <m:func>
                        <m:funcPr>
                          <m:ctrlPr>
                            <a:rPr lang="en-US" b="0" i="0"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r>
                            <a:rPr lang="en-US" b="0" i="1" smtClean="0">
                              <a:latin typeface="Cambria Math" panose="02040503050406030204" pitchFamily="18" charset="0"/>
                              <a:ea typeface="Cambria Math" panose="02040503050406030204" pitchFamily="18" charset="0"/>
                            </a:rPr>
                            <m:t>𝑛</m:t>
                          </m:r>
                        </m:e>
                      </m:func>
                    </m:oMath>
                  </m:oMathPara>
                </a14:m>
                <a:endParaRPr lang="en-US" dirty="0"/>
              </a:p>
              <a:p>
                <a:r>
                  <a:rPr lang="en-US" dirty="0"/>
                  <a:t>SWNs have lower average distances between nodes compared to equivalent random graphs </a:t>
                </a:r>
                <a:endParaRPr lang="en-US" b="1" dirty="0"/>
              </a:p>
              <a:p>
                <a:r>
                  <a:rPr lang="en-US" dirty="0"/>
                  <a:t>SWNs have higher clustering coefficient compared to equivalent random graphs</a:t>
                </a:r>
              </a:p>
            </p:txBody>
          </p:sp>
        </mc:Choice>
        <mc:Fallback xmlns="">
          <p:sp>
            <p:nvSpPr>
              <p:cNvPr id="3" name="Content Placeholder 2">
                <a:extLst>
                  <a:ext uri="{FF2B5EF4-FFF2-40B4-BE49-F238E27FC236}">
                    <a16:creationId xmlns:a16="http://schemas.microsoft.com/office/drawing/2014/main" id="{19A50240-16F3-ED4D-5379-D1B03D061857}"/>
                  </a:ext>
                </a:extLst>
              </p:cNvPr>
              <p:cNvSpPr>
                <a:spLocks noGrp="1" noRot="1" noChangeAspect="1" noMove="1" noResize="1" noEditPoints="1" noAdjustHandles="1" noChangeArrowheads="1" noChangeShapeType="1" noTextEdit="1"/>
              </p:cNvSpPr>
              <p:nvPr>
                <p:ph idx="1"/>
              </p:nvPr>
            </p:nvSpPr>
            <p:spPr>
              <a:xfrm>
                <a:off x="775447" y="1208868"/>
                <a:ext cx="10515600" cy="5447426"/>
              </a:xfrm>
              <a:blipFill>
                <a:blip r:embed="rId2"/>
                <a:stretch>
                  <a:fillRect l="-1159" t="-1790"/>
                </a:stretch>
              </a:blipFill>
            </p:spPr>
            <p:txBody>
              <a:bodyPr/>
              <a:lstStyle/>
              <a:p>
                <a:r>
                  <a:rPr lang="en-US">
                    <a:noFill/>
                  </a:rPr>
                  <a:t> </a:t>
                </a:r>
              </a:p>
            </p:txBody>
          </p:sp>
        </mc:Fallback>
      </mc:AlternateContent>
    </p:spTree>
    <p:extLst>
      <p:ext uri="{BB962C8B-B14F-4D97-AF65-F5344CB8AC3E}">
        <p14:creationId xmlns:p14="http://schemas.microsoft.com/office/powerpoint/2010/main" val="775752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AC2CB-9CFD-1278-4D4D-8236DEEFE2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E20B54-C986-31A4-BED3-840D21544F53}"/>
              </a:ext>
            </a:extLst>
          </p:cNvPr>
          <p:cNvSpPr>
            <a:spLocks noGrp="1"/>
          </p:cNvSpPr>
          <p:nvPr>
            <p:ph type="title"/>
          </p:nvPr>
        </p:nvSpPr>
        <p:spPr>
          <a:xfrm>
            <a:off x="838200" y="365125"/>
            <a:ext cx="10515600" cy="620993"/>
          </a:xfrm>
        </p:spPr>
        <p:txBody>
          <a:bodyPr>
            <a:normAutofit fontScale="90000"/>
          </a:bodyPr>
          <a:lstStyle/>
          <a:p>
            <a:r>
              <a:rPr lang="en-US" dirty="0">
                <a:latin typeface="+mn-lt"/>
              </a:rPr>
              <a:t>Small World Networks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611E3B7-FC00-66A8-175F-38849FEE390E}"/>
                  </a:ext>
                </a:extLst>
              </p:cNvPr>
              <p:cNvSpPr>
                <a:spLocks noGrp="1"/>
              </p:cNvSpPr>
              <p:nvPr>
                <p:ph idx="1"/>
              </p:nvPr>
            </p:nvSpPr>
            <p:spPr>
              <a:xfrm>
                <a:off x="775447" y="1208868"/>
                <a:ext cx="10515600" cy="5447426"/>
              </a:xfrm>
            </p:spPr>
            <p:txBody>
              <a:bodyPr>
                <a:normAutofit/>
              </a:bodyPr>
              <a:lstStyle/>
              <a:p>
                <a:pPr marL="0" indent="0">
                  <a:buNone/>
                </a:pPr>
                <a:r>
                  <a:rPr lang="en-US" dirty="0"/>
                  <a:t>Three metrics commonly used to evaluate small world networks </a:t>
                </a:r>
              </a:p>
              <a:p>
                <a:pPr marL="514350" indent="-514350">
                  <a:buFont typeface="+mj-lt"/>
                  <a:buAutoNum type="arabicPeriod"/>
                </a:pPr>
                <a:r>
                  <a:rPr lang="en-US" dirty="0"/>
                  <a:t>Small world coefficient, </a:t>
                </a:r>
                <a14:m>
                  <m:oMath xmlns:m="http://schemas.openxmlformats.org/officeDocument/2006/math">
                    <m:r>
                      <a:rPr lang="en-US" i="1">
                        <a:latin typeface="Cambria Math" panose="02040503050406030204" pitchFamily="18" charset="0"/>
                        <a:ea typeface="Cambria Math" panose="02040503050406030204" pitchFamily="18" charset="0"/>
                      </a:rPr>
                      <m:t>𝜎</m:t>
                    </m:r>
                  </m:oMath>
                </a14:m>
                <a:r>
                  <a:rPr lang="en-US" dirty="0"/>
                  <a:t>, compares the SWN to a random graph</a:t>
                </a:r>
              </a:p>
              <a:p>
                <a:pPr marL="0" indent="0">
                  <a:buNone/>
                </a:pPr>
                <a14:m>
                  <m:oMathPara xmlns:m="http://schemas.openxmlformats.org/officeDocument/2006/math">
                    <m:oMath>
                      <m:r>
                        <a:rPr lang="en-US"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𝐶</m:t>
                              </m:r>
                            </m:num>
                            <m:den>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𝐶</m:t>
                                  </m:r>
                                </m:e>
                                <m:sub>
                                  <m:r>
                                    <a:rPr lang="en-US" b="0" i="1" smtClean="0">
                                      <a:latin typeface="Cambria Math" panose="02040503050406030204" pitchFamily="18" charset="0"/>
                                      <a:ea typeface="Cambria Math" panose="02040503050406030204" pitchFamily="18" charset="0"/>
                                    </a:rPr>
                                    <m:t>𝑟</m:t>
                                  </m:r>
                                </m:sub>
                              </m:sSub>
                            </m:den>
                          </m:f>
                        </m:num>
                        <m:den>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𝐿</m:t>
                              </m:r>
                            </m:num>
                            <m:den>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𝐿</m:t>
                                  </m:r>
                                </m:e>
                                <m:sub>
                                  <m:r>
                                    <a:rPr lang="en-US" b="0" i="1" smtClean="0">
                                      <a:latin typeface="Cambria Math" panose="02040503050406030204" pitchFamily="18" charset="0"/>
                                      <a:ea typeface="Cambria Math" panose="02040503050406030204" pitchFamily="18" charset="0"/>
                                    </a:rPr>
                                    <m:t>𝑟</m:t>
                                  </m:r>
                                </m:sub>
                              </m:sSub>
                            </m:den>
                          </m:f>
                        </m:den>
                      </m:f>
                    </m:oMath>
                  </m:oMathPara>
                </a14:m>
                <a:endParaRPr lang="en-US" i="1" dirty="0">
                  <a:latin typeface="Cambria Math" panose="02040503050406030204" pitchFamily="18" charset="0"/>
                  <a:ea typeface="Cambria Math" panose="02040503050406030204" pitchFamily="18" charset="0"/>
                </a:endParaRPr>
              </a:p>
              <a:p>
                <a:pPr marL="457200" lvl="1" indent="0">
                  <a:buNone/>
                </a:pPr>
                <a:r>
                  <a:rPr lang="en-US" dirty="0">
                    <a:latin typeface="Cambria Math" panose="02040503050406030204" pitchFamily="18" charset="0"/>
                    <a:ea typeface="Cambria Math" panose="02040503050406030204" pitchFamily="18" charset="0"/>
                  </a:rPr>
                  <a:t>Where,</a:t>
                </a:r>
              </a:p>
              <a:p>
                <a:pPr marL="457200" lvl="1" indent="0">
                  <a:buNone/>
                </a:pPr>
                <a14:m>
                  <m:oMathPara xmlns:m="http://schemas.openxmlformats.org/officeDocument/2006/math">
                    <m:o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𝐶</m:t>
                          </m:r>
                        </m:e>
                        <m:sub>
                          <m:r>
                            <a:rPr lang="en-US" b="0" i="1" smtClean="0">
                              <a:latin typeface="Cambria Math" panose="02040503050406030204" pitchFamily="18" charset="0"/>
                              <a:ea typeface="Cambria Math" panose="02040503050406030204" pitchFamily="18" charset="0"/>
                            </a:rPr>
                            <m:t> </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𝑐𝑙𝑢𝑠𝑡𝑒𝑟𝑖𝑛𝑔</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𝑐𝑜𝑒𝑓𝑓𝑖𝑐𝑖𝑒𝑛𝑡</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𝑜𝑓</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𝑆𝑊𝑁</m:t>
                      </m:r>
                    </m:oMath>
                  </m:oMathPara>
                </a14:m>
                <a:endParaRPr lang="en-US" i="1" dirty="0">
                  <a:latin typeface="Cambria Math" panose="02040503050406030204" pitchFamily="18" charset="0"/>
                  <a:ea typeface="Cambria Math" panose="02040503050406030204" pitchFamily="18" charset="0"/>
                </a:endParaRPr>
              </a:p>
              <a:p>
                <a:pPr marL="457200" lvl="1" indent="0">
                  <a:buNone/>
                </a:pPr>
                <a14:m>
                  <m:oMathPara xmlns:m="http://schemas.openxmlformats.org/officeDocument/2006/math">
                    <m:o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𝐶</m:t>
                          </m:r>
                        </m:e>
                        <m:sub>
                          <m:r>
                            <a:rPr lang="en-US" i="1">
                              <a:latin typeface="Cambria Math" panose="02040503050406030204" pitchFamily="18" charset="0"/>
                              <a:ea typeface="Cambria Math" panose="02040503050406030204" pitchFamily="18" charset="0"/>
                            </a:rPr>
                            <m:t>𝑟</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𝑐𝑙𝑢𝑠𝑡𝑒𝑟𝑖𝑛𝑔</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𝑐𝑜𝑒𝑓𝑓𝑖𝑐𝑖𝑒𝑛𝑡</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𝑜𝑓</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𝑟𝑎𝑛𝑑𝑜𝑚</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𝑛𝑒𝑡𝑤𝑜𝑟𝑘</m:t>
                      </m:r>
                    </m:oMath>
                  </m:oMathPara>
                </a14:m>
                <a:endParaRPr lang="en-US" i="1" dirty="0">
                  <a:latin typeface="Cambria Math" panose="02040503050406030204" pitchFamily="18" charset="0"/>
                  <a:ea typeface="Cambria Math" panose="02040503050406030204" pitchFamily="18" charset="0"/>
                </a:endParaRPr>
              </a:p>
              <a:p>
                <a:pPr marL="457200" lvl="1" indent="0">
                  <a:buNone/>
                </a:pPr>
                <a14:m>
                  <m:oMathPara xmlns:m="http://schemas.openxmlformats.org/officeDocument/2006/math">
                    <m:o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𝐿</m:t>
                          </m:r>
                        </m:e>
                        <m:sub>
                          <m:r>
                            <a:rPr lang="en-US" i="1">
                              <a:latin typeface="Cambria Math" panose="02040503050406030204" pitchFamily="18" charset="0"/>
                              <a:ea typeface="Cambria Math" panose="02040503050406030204" pitchFamily="18" charset="0"/>
                            </a:rPr>
                            <m:t> </m:t>
                          </m:r>
                        </m:sub>
                      </m:sSub>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𝑎𝑣𝑒𝑟𝑎𝑔𝑒</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𝑝𝑎𝑡ℎ</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𝑙𝑒𝑛𝑔𝑡ℎ</m:t>
                      </m:r>
                      <m:r>
                        <a:rPr lang="en-US" b="0" i="1" smtClean="0">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𝑜𝑓</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𝑆𝑊𝑁</m:t>
                      </m:r>
                    </m:oMath>
                  </m:oMathPara>
                </a14:m>
                <a:endParaRPr lang="en-US" i="1" dirty="0">
                  <a:latin typeface="Cambria Math" panose="02040503050406030204" pitchFamily="18" charset="0"/>
                  <a:ea typeface="Cambria Math" panose="02040503050406030204" pitchFamily="18" charset="0"/>
                </a:endParaRPr>
              </a:p>
              <a:p>
                <a:pPr marL="457200" lvl="1" indent="0">
                  <a:buNone/>
                </a:pPr>
                <a14:m>
                  <m:oMathPara xmlns:m="http://schemas.openxmlformats.org/officeDocument/2006/math">
                    <m:o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𝐿</m:t>
                          </m:r>
                        </m:e>
                        <m:sub>
                          <m:r>
                            <a:rPr lang="en-US" i="1">
                              <a:latin typeface="Cambria Math" panose="02040503050406030204" pitchFamily="18" charset="0"/>
                              <a:ea typeface="Cambria Math" panose="02040503050406030204" pitchFamily="18" charset="0"/>
                            </a:rPr>
                            <m:t>𝑟</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𝑎𝑣𝑒𝑟𝑎𝑔𝑒</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𝑝𝑎𝑡ℎ</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𝑙𝑒𝑛𝑔𝑡ℎ</m:t>
                      </m:r>
                      <m:r>
                        <a:rPr lang="en-US" b="0" i="1" smtClean="0">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𝑜𝑓</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𝑟𝑎𝑛𝑑𝑜𝑚</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𝑛𝑒𝑡𝑤𝑜𝑟𝑘</m:t>
                      </m:r>
                    </m:oMath>
                  </m:oMathPara>
                </a14:m>
                <a:endParaRPr lang="en-US" i="1" dirty="0">
                  <a:latin typeface="Cambria Math" panose="02040503050406030204" pitchFamily="18" charset="0"/>
                  <a:ea typeface="Cambria Math" panose="02040503050406030204" pitchFamily="18" charset="0"/>
                </a:endParaRPr>
              </a:p>
              <a:p>
                <a:pPr marL="457200" lvl="1" indent="0">
                  <a:buNone/>
                </a:pPr>
                <a:endParaRPr lang="en-US" i="1" dirty="0">
                  <a:latin typeface="Cambria Math" panose="02040503050406030204" pitchFamily="18" charset="0"/>
                  <a:ea typeface="Cambria Math" panose="02040503050406030204" pitchFamily="18" charset="0"/>
                </a:endParaRPr>
              </a:p>
              <a:p>
                <a:pPr lvl="1"/>
                <a:r>
                  <a:rPr lang="en-US" dirty="0">
                    <a:ea typeface="Cambria Math" panose="02040503050406030204" pitchFamily="18" charset="0"/>
                  </a:rPr>
                  <a:t>If </a:t>
                </a:r>
                <a14:m>
                  <m:oMath xmlns:m="http://schemas.openxmlformats.org/officeDocument/2006/math">
                    <m:r>
                      <a:rPr lang="en-US"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&gt;1</m:t>
                    </m:r>
                  </m:oMath>
                </a14:m>
                <a:r>
                  <a:rPr lang="en-US" dirty="0">
                    <a:ea typeface="Cambria Math" panose="02040503050406030204" pitchFamily="18" charset="0"/>
                  </a:rPr>
                  <a:t> is SWN when </a:t>
                </a:r>
                <a14:m>
                  <m:oMath xmlns:m="http://schemas.openxmlformats.org/officeDocument/2006/math">
                    <m:r>
                      <a:rPr lang="en-US" b="0" i="1" smtClean="0">
                        <a:latin typeface="Cambria Math" panose="02040503050406030204" pitchFamily="18" charset="0"/>
                        <a:ea typeface="Cambria Math" panose="02040503050406030204" pitchFamily="18" charset="0"/>
                      </a:rPr>
                      <m:t>𝐶</m:t>
                    </m:r>
                    <m:r>
                      <a:rPr lang="en-US" b="0" i="1" smtClean="0">
                        <a:latin typeface="Cambria Math" panose="02040503050406030204" pitchFamily="18" charset="0"/>
                        <a:ea typeface="Cambria Math" panose="02040503050406030204" pitchFamily="18" charset="0"/>
                      </a:rPr>
                      <m:t>&gt;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𝐶</m:t>
                        </m:r>
                      </m:e>
                      <m:sub>
                        <m:r>
                          <a:rPr lang="en-US" i="1">
                            <a:latin typeface="Cambria Math" panose="02040503050406030204" pitchFamily="18" charset="0"/>
                            <a:ea typeface="Cambria Math" panose="02040503050406030204" pitchFamily="18" charset="0"/>
                          </a:rPr>
                          <m:t>𝑟</m:t>
                        </m:r>
                      </m:sub>
                    </m:sSub>
                  </m:oMath>
                </a14:m>
                <a:r>
                  <a:rPr lang="en-US" dirty="0">
                    <a:ea typeface="Cambria Math" panose="02040503050406030204" pitchFamily="18" charset="0"/>
                  </a:rPr>
                  <a:t> and </a:t>
                </a:r>
                <a14:m>
                  <m:oMath xmlns:m="http://schemas.openxmlformats.org/officeDocument/2006/math">
                    <m:r>
                      <a:rPr lang="en-US" b="0" i="1" smtClean="0">
                        <a:latin typeface="Cambria Math" panose="02040503050406030204" pitchFamily="18" charset="0"/>
                        <a:ea typeface="Cambria Math" panose="02040503050406030204" pitchFamily="18" charset="0"/>
                      </a:rPr>
                      <m:t>𝐿</m:t>
                    </m:r>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𝐿</m:t>
                        </m:r>
                      </m:e>
                      <m:sub>
                        <m:r>
                          <a:rPr lang="en-US" i="1">
                            <a:latin typeface="Cambria Math" panose="02040503050406030204" pitchFamily="18" charset="0"/>
                            <a:ea typeface="Cambria Math" panose="02040503050406030204" pitchFamily="18" charset="0"/>
                          </a:rPr>
                          <m:t>𝑟</m:t>
                        </m:r>
                      </m:sub>
                    </m:sSub>
                  </m:oMath>
                </a14:m>
                <a:endParaRPr lang="en-US" dirty="0">
                  <a:ea typeface="Cambria Math" panose="02040503050406030204" pitchFamily="18" charset="0"/>
                </a:endParaRPr>
              </a:p>
              <a:p>
                <a:pPr lvl="1"/>
                <a14:m>
                  <m:oMath xmlns:m="http://schemas.openxmlformats.org/officeDocument/2006/math">
                    <m:r>
                      <a:rPr lang="en-US" i="1">
                        <a:latin typeface="Cambria Math" panose="02040503050406030204" pitchFamily="18" charset="0"/>
                        <a:ea typeface="Cambria Math" panose="02040503050406030204" pitchFamily="18" charset="0"/>
                      </a:rPr>
                      <m:t>𝜎</m:t>
                    </m:r>
                  </m:oMath>
                </a14:m>
                <a:r>
                  <a:rPr lang="en-US" dirty="0"/>
                  <a:t> is biased by network size </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2611E3B7-FC00-66A8-175F-38849FEE390E}"/>
                  </a:ext>
                </a:extLst>
              </p:cNvPr>
              <p:cNvSpPr>
                <a:spLocks noGrp="1" noRot="1" noChangeAspect="1" noMove="1" noResize="1" noEditPoints="1" noAdjustHandles="1" noChangeArrowheads="1" noChangeShapeType="1" noTextEdit="1"/>
              </p:cNvSpPr>
              <p:nvPr>
                <p:ph idx="1"/>
              </p:nvPr>
            </p:nvSpPr>
            <p:spPr>
              <a:xfrm>
                <a:off x="775447" y="1208868"/>
                <a:ext cx="10515600" cy="5447426"/>
              </a:xfrm>
              <a:blipFill>
                <a:blip r:embed="rId2"/>
                <a:stretch>
                  <a:fillRect l="-1217" t="-1790"/>
                </a:stretch>
              </a:blipFill>
            </p:spPr>
            <p:txBody>
              <a:bodyPr/>
              <a:lstStyle/>
              <a:p>
                <a:r>
                  <a:rPr lang="en-US">
                    <a:noFill/>
                  </a:rPr>
                  <a:t> </a:t>
                </a:r>
              </a:p>
            </p:txBody>
          </p:sp>
        </mc:Fallback>
      </mc:AlternateContent>
    </p:spTree>
    <p:extLst>
      <p:ext uri="{BB962C8B-B14F-4D97-AF65-F5344CB8AC3E}">
        <p14:creationId xmlns:p14="http://schemas.microsoft.com/office/powerpoint/2010/main" val="1446059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E47B5-E569-C5B2-7001-B49940D063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AE2FEC-696E-BA23-B2DC-E9846E74BB47}"/>
              </a:ext>
            </a:extLst>
          </p:cNvPr>
          <p:cNvSpPr>
            <a:spLocks noGrp="1"/>
          </p:cNvSpPr>
          <p:nvPr>
            <p:ph type="title"/>
          </p:nvPr>
        </p:nvSpPr>
        <p:spPr>
          <a:xfrm>
            <a:off x="838200" y="365125"/>
            <a:ext cx="10515600" cy="620993"/>
          </a:xfrm>
        </p:spPr>
        <p:txBody>
          <a:bodyPr>
            <a:normAutofit fontScale="90000"/>
          </a:bodyPr>
          <a:lstStyle/>
          <a:p>
            <a:r>
              <a:rPr lang="en-US" dirty="0">
                <a:latin typeface="+mn-lt"/>
              </a:rPr>
              <a:t>Small World Networks</a:t>
            </a:r>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4AB3CA0-1FD9-072C-5300-FC922829E4FD}"/>
                  </a:ext>
                </a:extLst>
              </p:cNvPr>
              <p:cNvSpPr>
                <a:spLocks noGrp="1"/>
              </p:cNvSpPr>
              <p:nvPr>
                <p:ph idx="1"/>
              </p:nvPr>
            </p:nvSpPr>
            <p:spPr>
              <a:xfrm>
                <a:off x="775447" y="1208868"/>
                <a:ext cx="10515600" cy="5447426"/>
              </a:xfrm>
            </p:spPr>
            <p:txBody>
              <a:bodyPr>
                <a:normAutofit/>
              </a:bodyPr>
              <a:lstStyle/>
              <a:p>
                <a:pPr marL="0" indent="0">
                  <a:buNone/>
                </a:pPr>
                <a:r>
                  <a:rPr lang="en-US" dirty="0"/>
                  <a:t>Three metrics commonly used to evaluate small world networks </a:t>
                </a:r>
              </a:p>
              <a:p>
                <a:pPr marL="514350" indent="-514350">
                  <a:buFont typeface="+mj-lt"/>
                  <a:buAutoNum type="arabicPeriod" startAt="2"/>
                </a:pPr>
                <a:r>
                  <a:rPr lang="en-US" dirty="0"/>
                  <a:t>Small world measure, </a:t>
                </a:r>
                <a14:m>
                  <m:oMath xmlns:m="http://schemas.openxmlformats.org/officeDocument/2006/math">
                    <m:r>
                      <a:rPr lang="en-US" i="1">
                        <a:latin typeface="Cambria Math" panose="02040503050406030204" pitchFamily="18" charset="0"/>
                        <a:ea typeface="Cambria Math" panose="02040503050406030204" pitchFamily="18" charset="0"/>
                      </a:rPr>
                      <m:t>𝜔</m:t>
                    </m:r>
                  </m:oMath>
                </a14:m>
                <a:r>
                  <a:rPr lang="en-US" dirty="0"/>
                  <a:t>, compares the SWN to a random graph</a:t>
                </a:r>
              </a:p>
              <a:p>
                <a:pPr marL="0" indent="0">
                  <a:buNone/>
                </a:pPr>
                <a14:m>
                  <m:oMathPara xmlns:m="http://schemas.openxmlformats.org/officeDocument/2006/math">
                    <m:oMath>
                      <m:r>
                        <a:rPr lang="en-US" b="0" i="1" smtClean="0">
                          <a:latin typeface="Cambria Math" panose="02040503050406030204" pitchFamily="18" charset="0"/>
                          <a:ea typeface="Cambria Math" panose="02040503050406030204" pitchFamily="18" charset="0"/>
                        </a:rPr>
                        <m:t>𝜔</m:t>
                      </m:r>
                      <m:r>
                        <a:rPr lang="en-US"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𝐿</m:t>
                              </m:r>
                            </m:e>
                            <m:sub>
                              <m:r>
                                <a:rPr lang="en-US" i="1">
                                  <a:latin typeface="Cambria Math" panose="02040503050406030204" pitchFamily="18" charset="0"/>
                                  <a:ea typeface="Cambria Math" panose="02040503050406030204" pitchFamily="18" charset="0"/>
                                </a:rPr>
                                <m:t>𝑟</m:t>
                              </m:r>
                            </m:sub>
                          </m:sSub>
                        </m:num>
                        <m:den>
                          <m:r>
                            <a:rPr lang="en-US" b="0" i="1" smtClean="0">
                              <a:latin typeface="Cambria Math" panose="02040503050406030204" pitchFamily="18" charset="0"/>
                              <a:ea typeface="Cambria Math" panose="02040503050406030204" pitchFamily="18" charset="0"/>
                            </a:rPr>
                            <m:t>𝐿</m:t>
                          </m:r>
                        </m:den>
                      </m:f>
                      <m:r>
                        <a:rPr lang="en-US"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𝐶</m:t>
                          </m:r>
                        </m:num>
                        <m:den>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𝐶</m:t>
                              </m:r>
                            </m:e>
                            <m:sub>
                              <m:r>
                                <a:rPr lang="en-US" b="0" i="1" smtClean="0">
                                  <a:latin typeface="Cambria Math" panose="02040503050406030204" pitchFamily="18" charset="0"/>
                                  <a:ea typeface="Cambria Math" panose="02040503050406030204" pitchFamily="18" charset="0"/>
                                </a:rPr>
                                <m:t>𝑙</m:t>
                              </m:r>
                            </m:sub>
                          </m:sSub>
                        </m:den>
                      </m:f>
                    </m:oMath>
                  </m:oMathPara>
                </a14:m>
                <a:endParaRPr lang="en-US" i="1" dirty="0">
                  <a:latin typeface="Cambria Math" panose="02040503050406030204" pitchFamily="18" charset="0"/>
                  <a:ea typeface="Cambria Math" panose="02040503050406030204" pitchFamily="18" charset="0"/>
                </a:endParaRPr>
              </a:p>
              <a:p>
                <a:pPr marL="457200" lvl="1" indent="0">
                  <a:buNone/>
                </a:pPr>
                <a:r>
                  <a:rPr lang="en-US" dirty="0">
                    <a:latin typeface="Cambria Math" panose="02040503050406030204" pitchFamily="18" charset="0"/>
                    <a:ea typeface="Cambria Math" panose="02040503050406030204" pitchFamily="18" charset="0"/>
                  </a:rPr>
                  <a:t>Where,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𝐶</m:t>
                        </m:r>
                      </m:e>
                      <m:sub>
                        <m:r>
                          <a:rPr lang="en-US" i="1">
                            <a:latin typeface="Cambria Math" panose="02040503050406030204" pitchFamily="18" charset="0"/>
                            <a:ea typeface="Cambria Math" panose="02040503050406030204" pitchFamily="18" charset="0"/>
                          </a:rPr>
                          <m:t>𝑙</m:t>
                        </m:r>
                      </m:sub>
                    </m:sSub>
                  </m:oMath>
                </a14:m>
                <a:r>
                  <a:rPr lang="en-US" dirty="0">
                    <a:latin typeface="Cambria Math" panose="02040503050406030204" pitchFamily="18" charset="0"/>
                    <a:ea typeface="Cambria Math" panose="02040503050406030204" pitchFamily="18" charset="0"/>
                  </a:rPr>
                  <a:t> is the clustering coefficient of a random lattice network</a:t>
                </a:r>
                <a:endParaRPr lang="en-US" dirty="0"/>
              </a:p>
              <a:p>
                <a:pPr lvl="1"/>
                <a14:m>
                  <m:oMath xmlns:m="http://schemas.openxmlformats.org/officeDocument/2006/math">
                    <m:r>
                      <a:rPr lang="en-US" i="1">
                        <a:latin typeface="Cambria Math" panose="02040503050406030204" pitchFamily="18" charset="0"/>
                      </a:rPr>
                      <m:t>−</m:t>
                    </m:r>
                    <m:r>
                      <a:rPr lang="en-US" b="0" i="1" smtClean="0">
                        <a:latin typeface="Cambria Math" panose="02040503050406030204" pitchFamily="18" charset="0"/>
                      </a:rPr>
                      <m:t>1</m:t>
                    </m:r>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𝜔</m:t>
                    </m:r>
                    <m:r>
                      <a:rPr lang="en-US" b="0" i="1" smtClean="0">
                        <a:latin typeface="Cambria Math" panose="02040503050406030204" pitchFamily="18" charset="0"/>
                        <a:ea typeface="Cambria Math" panose="02040503050406030204" pitchFamily="18" charset="0"/>
                      </a:rPr>
                      <m:t>≤1</m:t>
                    </m:r>
                  </m:oMath>
                </a14:m>
                <a:r>
                  <a:rPr lang="en-US"/>
                  <a:t>, smaller </a:t>
                </a:r>
                <a:r>
                  <a:rPr lang="en-US" dirty="0"/>
                  <a:t>magnitude indicates greater SWN characteristics compared to equivalent random networks</a:t>
                </a:r>
              </a:p>
              <a:p>
                <a:pPr marL="514350" indent="-514350">
                  <a:buFont typeface="+mj-lt"/>
                  <a:buAutoNum type="arabicPeriod" startAt="3"/>
                </a:pPr>
                <a:r>
                  <a:rPr lang="en-US" dirty="0"/>
                  <a:t>Small world index (SWI) compares the SWN to a random graph</a:t>
                </a:r>
              </a:p>
              <a:p>
                <a:pPr marL="0" indent="0">
                  <a:buNone/>
                </a:pPr>
                <a14:m>
                  <m:oMathPara xmlns:m="http://schemas.openxmlformats.org/officeDocument/2006/math">
                    <m:oMath>
                      <m:r>
                        <a:rPr lang="en-US" b="0" i="1" smtClean="0">
                          <a:latin typeface="Cambria Math" panose="02040503050406030204" pitchFamily="18" charset="0"/>
                        </a:rPr>
                        <m:t>𝑆𝑊𝐼</m:t>
                      </m:r>
                      <m:r>
                        <a:rPr lang="en-US" b="0" i="1" smtClean="0">
                          <a:latin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𝐿</m:t>
                          </m:r>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𝐿</m:t>
                              </m:r>
                            </m:e>
                            <m:sub>
                              <m:r>
                                <a:rPr lang="en-US" b="0" i="1" smtClean="0">
                                  <a:latin typeface="Cambria Math" panose="02040503050406030204" pitchFamily="18" charset="0"/>
                                  <a:ea typeface="Cambria Math" panose="02040503050406030204" pitchFamily="18" charset="0"/>
                                </a:rPr>
                                <m:t>𝑙</m:t>
                              </m:r>
                            </m:sub>
                          </m:sSub>
                        </m:num>
                        <m:den>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𝐿</m:t>
                              </m:r>
                            </m:e>
                            <m:sub>
                              <m:r>
                                <a:rPr lang="en-US" i="1">
                                  <a:latin typeface="Cambria Math" panose="02040503050406030204" pitchFamily="18" charset="0"/>
                                  <a:ea typeface="Cambria Math" panose="02040503050406030204" pitchFamily="18" charset="0"/>
                                </a:rPr>
                                <m:t>𝑟</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𝐿</m:t>
                              </m:r>
                            </m:e>
                            <m:sub>
                              <m:r>
                                <a:rPr lang="en-US" i="1">
                                  <a:latin typeface="Cambria Math" panose="02040503050406030204" pitchFamily="18" charset="0"/>
                                  <a:ea typeface="Cambria Math" panose="02040503050406030204" pitchFamily="18" charset="0"/>
                                </a:rPr>
                                <m:t>𝑙</m:t>
                              </m:r>
                            </m:sub>
                          </m:sSub>
                        </m:den>
                      </m:f>
                      <m:r>
                        <a:rPr lang="en-US"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𝐶</m:t>
                          </m:r>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𝐶</m:t>
                              </m:r>
                            </m:e>
                            <m:sub>
                              <m:r>
                                <a:rPr lang="en-US" b="0" i="1" smtClean="0">
                                  <a:latin typeface="Cambria Math" panose="02040503050406030204" pitchFamily="18" charset="0"/>
                                  <a:ea typeface="Cambria Math" panose="02040503050406030204" pitchFamily="18" charset="0"/>
                                </a:rPr>
                                <m:t>𝑟</m:t>
                              </m:r>
                            </m:sub>
                          </m:sSub>
                        </m:num>
                        <m:den>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𝐶</m:t>
                              </m:r>
                            </m:e>
                            <m:sub>
                              <m:r>
                                <a:rPr lang="en-US" i="1">
                                  <a:latin typeface="Cambria Math" panose="02040503050406030204" pitchFamily="18" charset="0"/>
                                  <a:ea typeface="Cambria Math" panose="02040503050406030204" pitchFamily="18" charset="0"/>
                                </a:rPr>
                                <m:t>𝑙</m:t>
                              </m:r>
                            </m:sub>
                          </m:sSub>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𝐶</m:t>
                              </m:r>
                            </m:e>
                            <m:sub>
                              <m:r>
                                <a:rPr lang="en-US" i="1">
                                  <a:latin typeface="Cambria Math" panose="02040503050406030204" pitchFamily="18" charset="0"/>
                                  <a:ea typeface="Cambria Math" panose="02040503050406030204" pitchFamily="18" charset="0"/>
                                </a:rPr>
                                <m:t>𝑟</m:t>
                              </m:r>
                            </m:sub>
                          </m:sSub>
                        </m:den>
                      </m:f>
                    </m:oMath>
                  </m:oMathPara>
                </a14:m>
                <a:endParaRPr lang="en-US" dirty="0"/>
              </a:p>
              <a:p>
                <a:pPr marL="457200" lvl="1" indent="0">
                  <a:buNone/>
                </a:pPr>
                <a14:m>
                  <m:oMath xmlns:m="http://schemas.openxmlformats.org/officeDocument/2006/math">
                    <m:r>
                      <a:rPr lang="en-US" i="1">
                        <a:latin typeface="Cambria Math" panose="02040503050406030204" pitchFamily="18" charset="0"/>
                      </a:rPr>
                      <m:t>0</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𝑆𝑊𝐼</m:t>
                    </m:r>
                    <m:r>
                      <a:rPr lang="en-US" i="1">
                        <a:latin typeface="Cambria Math" panose="02040503050406030204" pitchFamily="18" charset="0"/>
                        <a:ea typeface="Cambria Math" panose="02040503050406030204" pitchFamily="18" charset="0"/>
                      </a:rPr>
                      <m:t>≤1</m:t>
                    </m:r>
                  </m:oMath>
                </a14:m>
                <a:r>
                  <a:rPr lang="en-US" dirty="0"/>
                  <a:t>, larger indicates greater SWN characteristics compared to comparable random networks</a:t>
                </a:r>
              </a:p>
            </p:txBody>
          </p:sp>
        </mc:Choice>
        <mc:Fallback>
          <p:sp>
            <p:nvSpPr>
              <p:cNvPr id="3" name="Content Placeholder 2">
                <a:extLst>
                  <a:ext uri="{FF2B5EF4-FFF2-40B4-BE49-F238E27FC236}">
                    <a16:creationId xmlns:a16="http://schemas.microsoft.com/office/drawing/2014/main" id="{04AB3CA0-1FD9-072C-5300-FC922829E4FD}"/>
                  </a:ext>
                </a:extLst>
              </p:cNvPr>
              <p:cNvSpPr>
                <a:spLocks noGrp="1" noRot="1" noChangeAspect="1" noMove="1" noResize="1" noEditPoints="1" noAdjustHandles="1" noChangeArrowheads="1" noChangeShapeType="1" noTextEdit="1"/>
              </p:cNvSpPr>
              <p:nvPr>
                <p:ph idx="1"/>
              </p:nvPr>
            </p:nvSpPr>
            <p:spPr>
              <a:xfrm>
                <a:off x="775447" y="1208868"/>
                <a:ext cx="10515600" cy="5447426"/>
              </a:xfrm>
              <a:blipFill>
                <a:blip r:embed="rId2"/>
                <a:stretch>
                  <a:fillRect l="-1217" t="-1790"/>
                </a:stretch>
              </a:blipFill>
            </p:spPr>
            <p:txBody>
              <a:bodyPr/>
              <a:lstStyle/>
              <a:p>
                <a:r>
                  <a:rPr lang="en-US">
                    <a:noFill/>
                  </a:rPr>
                  <a:t> </a:t>
                </a:r>
              </a:p>
            </p:txBody>
          </p:sp>
        </mc:Fallback>
      </mc:AlternateContent>
    </p:spTree>
    <p:extLst>
      <p:ext uri="{BB962C8B-B14F-4D97-AF65-F5344CB8AC3E}">
        <p14:creationId xmlns:p14="http://schemas.microsoft.com/office/powerpoint/2010/main" val="201831699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B01673-E489-A5C7-6D81-8CF26602EF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F3A756-9A4C-B2D8-14BE-03CF9296554B}"/>
              </a:ext>
            </a:extLst>
          </p:cNvPr>
          <p:cNvSpPr>
            <a:spLocks noGrp="1"/>
          </p:cNvSpPr>
          <p:nvPr>
            <p:ph type="title"/>
          </p:nvPr>
        </p:nvSpPr>
        <p:spPr>
          <a:xfrm>
            <a:off x="838200" y="365125"/>
            <a:ext cx="10515600" cy="620993"/>
          </a:xfrm>
        </p:spPr>
        <p:txBody>
          <a:bodyPr>
            <a:normAutofit fontScale="90000"/>
          </a:bodyPr>
          <a:lstStyle/>
          <a:p>
            <a:r>
              <a:rPr lang="en-US" dirty="0">
                <a:latin typeface="+mn-lt"/>
              </a:rPr>
              <a:t>Small World Networks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C2F0846-3A71-A4FD-DBCB-FEA807E1FDB1}"/>
                  </a:ext>
                </a:extLst>
              </p:cNvPr>
              <p:cNvSpPr>
                <a:spLocks noGrp="1"/>
              </p:cNvSpPr>
              <p:nvPr>
                <p:ph idx="1"/>
              </p:nvPr>
            </p:nvSpPr>
            <p:spPr>
              <a:xfrm>
                <a:off x="775446" y="1208867"/>
                <a:ext cx="5207343" cy="5231051"/>
              </a:xfrm>
            </p:spPr>
            <p:txBody>
              <a:bodyPr>
                <a:normAutofit/>
              </a:bodyPr>
              <a:lstStyle/>
              <a:p>
                <a:pPr marL="0" indent="0">
                  <a:buNone/>
                </a:pPr>
                <a:r>
                  <a:rPr lang="en-US" dirty="0"/>
                  <a:t>Examples of SWNs</a:t>
                </a:r>
              </a:p>
              <a:p>
                <a14:m>
                  <m:oMath xmlns:m="http://schemas.openxmlformats.org/officeDocument/2006/math">
                    <m:r>
                      <a:rPr lang="en-US" b="0" i="1" dirty="0" smtClean="0">
                        <a:latin typeface="Cambria Math" panose="02040503050406030204" pitchFamily="18" charset="0"/>
                      </a:rPr>
                      <m:t>𝑝</m:t>
                    </m:r>
                    <m:r>
                      <a:rPr lang="en-US" b="0" i="1" dirty="0" smtClean="0">
                        <a:latin typeface="Cambria Math" panose="02040503050406030204" pitchFamily="18" charset="0"/>
                      </a:rPr>
                      <m:t>=1</m:t>
                    </m:r>
                  </m:oMath>
                </a14:m>
                <a:r>
                  <a:rPr lang="en-US" dirty="0"/>
                  <a:t>, diameter of short-range connections</a:t>
                </a:r>
              </a:p>
              <a:p>
                <a14:m>
                  <m:oMath xmlns:m="http://schemas.openxmlformats.org/officeDocument/2006/math">
                    <m:r>
                      <a:rPr lang="en-US" b="0" i="1" smtClean="0">
                        <a:latin typeface="Cambria Math" panose="02040503050406030204" pitchFamily="18" charset="0"/>
                      </a:rPr>
                      <m:t>𝑞</m:t>
                    </m:r>
                  </m:oMath>
                </a14:m>
                <a:r>
                  <a:rPr lang="en-US" dirty="0"/>
                  <a:t> = number of long-range connections per node</a:t>
                </a:r>
              </a:p>
              <a:p>
                <a:r>
                  <a:rPr lang="en-US" dirty="0"/>
                  <a:t>SWG approaches fully connected graph as </a:t>
                </a:r>
                <a14:m>
                  <m:oMath xmlns:m="http://schemas.openxmlformats.org/officeDocument/2006/math">
                    <m:r>
                      <a:rPr lang="en-US" i="1">
                        <a:latin typeface="Cambria Math" panose="02040503050406030204" pitchFamily="18" charset="0"/>
                      </a:rPr>
                      <m:t>𝑞</m:t>
                    </m:r>
                  </m:oMath>
                </a14:m>
                <a:r>
                  <a:rPr lang="en-US" dirty="0"/>
                  <a:t> increases </a:t>
                </a:r>
              </a:p>
              <a:p>
                <a:pPr marL="0" indent="0">
                  <a:buNone/>
                </a:pPr>
                <a:endParaRPr lang="en-US" dirty="0"/>
              </a:p>
              <a:p>
                <a:endParaRPr lang="en-US" dirty="0"/>
              </a:p>
            </p:txBody>
          </p:sp>
        </mc:Choice>
        <mc:Fallback xmlns="">
          <p:sp>
            <p:nvSpPr>
              <p:cNvPr id="3" name="Content Placeholder 2">
                <a:extLst>
                  <a:ext uri="{FF2B5EF4-FFF2-40B4-BE49-F238E27FC236}">
                    <a16:creationId xmlns:a16="http://schemas.microsoft.com/office/drawing/2014/main" id="{BC2F0846-3A71-A4FD-DBCB-FEA807E1FDB1}"/>
                  </a:ext>
                </a:extLst>
              </p:cNvPr>
              <p:cNvSpPr>
                <a:spLocks noGrp="1" noRot="1" noChangeAspect="1" noMove="1" noResize="1" noEditPoints="1" noAdjustHandles="1" noChangeArrowheads="1" noChangeShapeType="1" noTextEdit="1"/>
              </p:cNvSpPr>
              <p:nvPr>
                <p:ph idx="1"/>
              </p:nvPr>
            </p:nvSpPr>
            <p:spPr>
              <a:xfrm>
                <a:off x="775446" y="1208867"/>
                <a:ext cx="5207343" cy="5231051"/>
              </a:xfrm>
              <a:blipFill>
                <a:blip r:embed="rId2"/>
                <a:stretch>
                  <a:fillRect l="-2342" t="-1865" r="-3162"/>
                </a:stretch>
              </a:blipFill>
            </p:spPr>
            <p:txBody>
              <a:bodyPr/>
              <a:lstStyle/>
              <a:p>
                <a:r>
                  <a:rPr lang="en-US">
                    <a:noFill/>
                  </a:rPr>
                  <a:t> </a:t>
                </a:r>
              </a:p>
            </p:txBody>
          </p:sp>
        </mc:Fallback>
      </mc:AlternateContent>
      <p:pic>
        <p:nvPicPr>
          <p:cNvPr id="10" name="Picture 9">
            <a:extLst>
              <a:ext uri="{FF2B5EF4-FFF2-40B4-BE49-F238E27FC236}">
                <a16:creationId xmlns:a16="http://schemas.microsoft.com/office/drawing/2014/main" id="{9168BF0F-DEA3-D59E-75E9-8DF50FBBC097}"/>
              </a:ext>
            </a:extLst>
          </p:cNvPr>
          <p:cNvPicPr>
            <a:picLocks noChangeAspect="1"/>
          </p:cNvPicPr>
          <p:nvPr/>
        </p:nvPicPr>
        <p:blipFill>
          <a:blip r:embed="rId3"/>
          <a:stretch>
            <a:fillRect/>
          </a:stretch>
        </p:blipFill>
        <p:spPr>
          <a:xfrm>
            <a:off x="6149993" y="237959"/>
            <a:ext cx="5969286" cy="6520763"/>
          </a:xfrm>
          <a:prstGeom prst="rect">
            <a:avLst/>
          </a:prstGeom>
        </p:spPr>
      </p:pic>
    </p:spTree>
    <p:extLst>
      <p:ext uri="{BB962C8B-B14F-4D97-AF65-F5344CB8AC3E}">
        <p14:creationId xmlns:p14="http://schemas.microsoft.com/office/powerpoint/2010/main" val="121716525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CA5342-2F7F-FDFA-90C9-362D625EC1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A1F8A2-18F7-9E09-331A-5DB1048EA6AC}"/>
              </a:ext>
            </a:extLst>
          </p:cNvPr>
          <p:cNvSpPr>
            <a:spLocks noGrp="1"/>
          </p:cNvSpPr>
          <p:nvPr>
            <p:ph type="title"/>
          </p:nvPr>
        </p:nvSpPr>
        <p:spPr>
          <a:xfrm>
            <a:off x="838200" y="365125"/>
            <a:ext cx="10515600" cy="620993"/>
          </a:xfrm>
        </p:spPr>
        <p:txBody>
          <a:bodyPr>
            <a:normAutofit fontScale="90000"/>
          </a:bodyPr>
          <a:lstStyle/>
          <a:p>
            <a:r>
              <a:rPr lang="en-US" dirty="0">
                <a:latin typeface="+mn-lt"/>
              </a:rPr>
              <a:t>Small World Networks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52CF008-D24F-1EAF-40E0-25CDB1D393F5}"/>
                  </a:ext>
                </a:extLst>
              </p:cNvPr>
              <p:cNvSpPr>
                <a:spLocks noGrp="1"/>
              </p:cNvSpPr>
              <p:nvPr>
                <p:ph idx="1"/>
              </p:nvPr>
            </p:nvSpPr>
            <p:spPr>
              <a:xfrm>
                <a:off x="775446" y="1208867"/>
                <a:ext cx="5270044" cy="5231051"/>
              </a:xfrm>
            </p:spPr>
            <p:txBody>
              <a:bodyPr>
                <a:normAutofit/>
              </a:bodyPr>
              <a:lstStyle/>
              <a:p>
                <a:pPr marL="0" indent="0">
                  <a:buNone/>
                </a:pPr>
                <a:r>
                  <a:rPr lang="en-US" dirty="0"/>
                  <a:t>Examples of SWNs</a:t>
                </a:r>
              </a:p>
              <a:p>
                <a:pPr marL="0" indent="0">
                  <a:buNone/>
                </a:pPr>
                <a:r>
                  <a:rPr lang="en-US" dirty="0"/>
                  <a:t>Examples of SWNs</a:t>
                </a:r>
              </a:p>
              <a:p>
                <a:r>
                  <a:rPr lang="en-US" dirty="0"/>
                  <a:t>q</a:t>
                </a:r>
                <a14:m>
                  <m:oMath xmlns:m="http://schemas.openxmlformats.org/officeDocument/2006/math">
                    <m:r>
                      <a:rPr lang="en-US" i="1" dirty="0">
                        <a:latin typeface="Cambria Math" panose="02040503050406030204" pitchFamily="18" charset="0"/>
                      </a:rPr>
                      <m:t>=</m:t>
                    </m:r>
                    <m:r>
                      <a:rPr lang="en-US" b="0" i="1" dirty="0" smtClean="0">
                        <a:latin typeface="Cambria Math" panose="02040503050406030204" pitchFamily="18" charset="0"/>
                      </a:rPr>
                      <m:t>2</m:t>
                    </m:r>
                  </m:oMath>
                </a14:m>
                <a:r>
                  <a:rPr lang="en-US" dirty="0"/>
                  <a:t>, number of long-range </a:t>
                </a:r>
              </a:p>
              <a:p>
                <a14:m>
                  <m:oMath xmlns:m="http://schemas.openxmlformats.org/officeDocument/2006/math">
                    <m:r>
                      <a:rPr lang="en-US" b="0" i="1" smtClean="0">
                        <a:latin typeface="Cambria Math" panose="02040503050406030204" pitchFamily="18" charset="0"/>
                      </a:rPr>
                      <m:t>𝑝</m:t>
                    </m:r>
                  </m:oMath>
                </a14:m>
                <a:r>
                  <a:rPr lang="en-US" dirty="0"/>
                  <a:t> diameter of short-range connections</a:t>
                </a:r>
              </a:p>
              <a:p>
                <a:r>
                  <a:rPr lang="en-US" dirty="0"/>
                  <a:t>SWG approaches fully connected graph as </a:t>
                </a:r>
                <a14:m>
                  <m:oMath xmlns:m="http://schemas.openxmlformats.org/officeDocument/2006/math">
                    <m:r>
                      <a:rPr lang="en-US" b="0" i="1" smtClean="0">
                        <a:latin typeface="Cambria Math" panose="02040503050406030204" pitchFamily="18" charset="0"/>
                      </a:rPr>
                      <m:t>𝑝</m:t>
                    </m:r>
                  </m:oMath>
                </a14:m>
                <a:r>
                  <a:rPr lang="en-US" dirty="0"/>
                  <a:t> increases </a:t>
                </a:r>
              </a:p>
              <a:p>
                <a:pPr lvl="1"/>
                <a:endParaRPr lang="en-US" dirty="0"/>
              </a:p>
              <a:p>
                <a:endParaRPr lang="en-US" dirty="0"/>
              </a:p>
            </p:txBody>
          </p:sp>
        </mc:Choice>
        <mc:Fallback xmlns="">
          <p:sp>
            <p:nvSpPr>
              <p:cNvPr id="3" name="Content Placeholder 2">
                <a:extLst>
                  <a:ext uri="{FF2B5EF4-FFF2-40B4-BE49-F238E27FC236}">
                    <a16:creationId xmlns:a16="http://schemas.microsoft.com/office/drawing/2014/main" id="{B52CF008-D24F-1EAF-40E0-25CDB1D393F5}"/>
                  </a:ext>
                </a:extLst>
              </p:cNvPr>
              <p:cNvSpPr>
                <a:spLocks noGrp="1" noRot="1" noChangeAspect="1" noMove="1" noResize="1" noEditPoints="1" noAdjustHandles="1" noChangeArrowheads="1" noChangeShapeType="1" noTextEdit="1"/>
              </p:cNvSpPr>
              <p:nvPr>
                <p:ph idx="1"/>
              </p:nvPr>
            </p:nvSpPr>
            <p:spPr>
              <a:xfrm>
                <a:off x="775446" y="1208867"/>
                <a:ext cx="5270044" cy="5231051"/>
              </a:xfrm>
              <a:blipFill>
                <a:blip r:embed="rId2"/>
                <a:stretch>
                  <a:fillRect l="-2312" t="-1865" r="-1850"/>
                </a:stretch>
              </a:blipFill>
            </p:spPr>
            <p:txBody>
              <a:bodyPr/>
              <a:lstStyle/>
              <a:p>
                <a:r>
                  <a:rPr lang="en-US">
                    <a:noFill/>
                  </a:rPr>
                  <a:t> </a:t>
                </a:r>
              </a:p>
            </p:txBody>
          </p:sp>
        </mc:Fallback>
      </mc:AlternateContent>
      <p:pic>
        <p:nvPicPr>
          <p:cNvPr id="10" name="Picture 9">
            <a:extLst>
              <a:ext uri="{FF2B5EF4-FFF2-40B4-BE49-F238E27FC236}">
                <a16:creationId xmlns:a16="http://schemas.microsoft.com/office/drawing/2014/main" id="{424E4738-57E7-D480-9B00-85D0CC8D911F}"/>
              </a:ext>
            </a:extLst>
          </p:cNvPr>
          <p:cNvPicPr>
            <a:picLocks noChangeAspect="1"/>
          </p:cNvPicPr>
          <p:nvPr/>
        </p:nvPicPr>
        <p:blipFill>
          <a:blip r:embed="rId3"/>
          <a:stretch>
            <a:fillRect/>
          </a:stretch>
        </p:blipFill>
        <p:spPr>
          <a:xfrm>
            <a:off x="6254621" y="418082"/>
            <a:ext cx="5874491" cy="6439918"/>
          </a:xfrm>
          <a:prstGeom prst="rect">
            <a:avLst/>
          </a:prstGeom>
        </p:spPr>
      </p:pic>
    </p:spTree>
    <p:extLst>
      <p:ext uri="{BB962C8B-B14F-4D97-AF65-F5344CB8AC3E}">
        <p14:creationId xmlns:p14="http://schemas.microsoft.com/office/powerpoint/2010/main" val="253316470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0A8D2-5689-53C2-2080-5C2AAEBFDC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30F751-4149-BFA3-30F2-41EE7BFAD5CD}"/>
              </a:ext>
            </a:extLst>
          </p:cNvPr>
          <p:cNvSpPr>
            <a:spLocks noGrp="1"/>
          </p:cNvSpPr>
          <p:nvPr>
            <p:ph type="title"/>
          </p:nvPr>
        </p:nvSpPr>
        <p:spPr>
          <a:xfrm>
            <a:off x="838200" y="365125"/>
            <a:ext cx="10515600" cy="620993"/>
          </a:xfrm>
        </p:spPr>
        <p:txBody>
          <a:bodyPr>
            <a:normAutofit fontScale="90000"/>
          </a:bodyPr>
          <a:lstStyle/>
          <a:p>
            <a:r>
              <a:rPr lang="en-US" dirty="0">
                <a:latin typeface="+mn-lt"/>
              </a:rPr>
              <a:t>Small World Networks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40CDD66-F273-3DE1-77DF-EF3B22693739}"/>
                  </a:ext>
                </a:extLst>
              </p:cNvPr>
              <p:cNvSpPr>
                <a:spLocks noGrp="1"/>
              </p:cNvSpPr>
              <p:nvPr>
                <p:ph idx="1"/>
              </p:nvPr>
            </p:nvSpPr>
            <p:spPr>
              <a:xfrm>
                <a:off x="775446" y="2121408"/>
                <a:ext cx="5087471" cy="3208238"/>
              </a:xfrm>
            </p:spPr>
            <p:txBody>
              <a:bodyPr>
                <a:normAutofit/>
              </a:bodyPr>
              <a:lstStyle/>
              <a:p>
                <a:pPr marL="0" indent="0">
                  <a:buNone/>
                </a:pPr>
                <a:r>
                  <a:rPr lang="en-US" dirty="0"/>
                  <a:t>Examples of SWNs</a:t>
                </a:r>
              </a:p>
              <a:p>
                <a:r>
                  <a:rPr lang="en-US" dirty="0"/>
                  <a:t>The average distances between nodes in a SWN, </a:t>
                </a:r>
                <a14:m>
                  <m:oMath xmlns:m="http://schemas.openxmlformats.org/officeDocument/2006/math">
                    <m:r>
                      <a:rPr lang="en-US" i="1">
                        <a:latin typeface="Cambria Math" panose="02040503050406030204" pitchFamily="18" charset="0"/>
                      </a:rPr>
                      <m:t>𝐿</m:t>
                    </m:r>
                  </m:oMath>
                </a14:m>
                <a:r>
                  <a:rPr lang="en-US" dirty="0"/>
                  <a:t>, follows a </a:t>
                </a:r>
                <a:r>
                  <a:rPr lang="en-US" b="1" dirty="0"/>
                  <a:t>power law </a:t>
                </a:r>
                <a:r>
                  <a:rPr lang="en-US" dirty="0"/>
                  <a:t>with respect to the number of nodes, </a:t>
                </a:r>
                <a14:m>
                  <m:oMath xmlns:m="http://schemas.openxmlformats.org/officeDocument/2006/math">
                    <m:r>
                      <a:rPr lang="en-US" i="1">
                        <a:latin typeface="Cambria Math" panose="02040503050406030204" pitchFamily="18" charset="0"/>
                        <a:ea typeface="Cambria Math" panose="02040503050406030204" pitchFamily="18" charset="0"/>
                      </a:rPr>
                      <m:t>𝑛</m:t>
                    </m:r>
                  </m:oMath>
                </a14:m>
                <a:endParaRPr lang="en-US" dirty="0"/>
              </a:p>
              <a:p>
                <a:pPr marL="0" indent="0">
                  <a:buNone/>
                </a:pPr>
                <a14:m>
                  <m:oMathPara xmlns:m="http://schemas.openxmlformats.org/officeDocument/2006/math">
                    <m:oMath>
                      <m:r>
                        <a:rPr lang="en-US" i="1">
                          <a:latin typeface="Cambria Math" panose="02040503050406030204" pitchFamily="18" charset="0"/>
                        </a:rPr>
                        <m:t>𝐿</m:t>
                      </m:r>
                      <m:r>
                        <a:rPr lang="en-US" i="1">
                          <a:latin typeface="Cambria Math" panose="02040503050406030204" pitchFamily="18" charset="0"/>
                          <a:ea typeface="Cambria Math" panose="02040503050406030204" pitchFamily="18" charset="0"/>
                        </a:rPr>
                        <m:t>∝</m:t>
                      </m:r>
                      <m:func>
                        <m:funcPr>
                          <m:ctrlPr>
                            <a:rPr lang="en-US">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log</m:t>
                          </m:r>
                        </m:fName>
                        <m:e>
                          <m:r>
                            <a:rPr lang="en-US" i="1">
                              <a:latin typeface="Cambria Math" panose="02040503050406030204" pitchFamily="18" charset="0"/>
                              <a:ea typeface="Cambria Math" panose="02040503050406030204" pitchFamily="18" charset="0"/>
                            </a:rPr>
                            <m:t>𝑛</m:t>
                          </m:r>
                        </m:e>
                      </m:func>
                    </m:oMath>
                  </m:oMathPara>
                </a14:m>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A40CDD66-F273-3DE1-77DF-EF3B22693739}"/>
                  </a:ext>
                </a:extLst>
              </p:cNvPr>
              <p:cNvSpPr>
                <a:spLocks noGrp="1" noRot="1" noChangeAspect="1" noMove="1" noResize="1" noEditPoints="1" noAdjustHandles="1" noChangeArrowheads="1" noChangeShapeType="1" noTextEdit="1"/>
              </p:cNvSpPr>
              <p:nvPr>
                <p:ph idx="1"/>
              </p:nvPr>
            </p:nvSpPr>
            <p:spPr>
              <a:xfrm>
                <a:off x="775446" y="2121408"/>
                <a:ext cx="5087471" cy="3208238"/>
              </a:xfrm>
              <a:blipFill>
                <a:blip r:embed="rId2"/>
                <a:stretch>
                  <a:fillRect l="-2395" t="-3042" r="-958"/>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F948D3B8-BFE8-02E4-17DE-8DC298DB87D1}"/>
              </a:ext>
            </a:extLst>
          </p:cNvPr>
          <p:cNvPicPr>
            <a:picLocks noChangeAspect="1"/>
          </p:cNvPicPr>
          <p:nvPr/>
        </p:nvPicPr>
        <p:blipFill>
          <a:blip r:embed="rId3"/>
          <a:stretch>
            <a:fillRect/>
          </a:stretch>
        </p:blipFill>
        <p:spPr>
          <a:xfrm>
            <a:off x="6165374" y="519902"/>
            <a:ext cx="5955404" cy="5972973"/>
          </a:xfrm>
          <a:prstGeom prst="rect">
            <a:avLst/>
          </a:prstGeom>
        </p:spPr>
      </p:pic>
    </p:spTree>
    <p:extLst>
      <p:ext uri="{BB962C8B-B14F-4D97-AF65-F5344CB8AC3E}">
        <p14:creationId xmlns:p14="http://schemas.microsoft.com/office/powerpoint/2010/main" val="297931930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02970-E9CE-E7B6-7AAC-AAF25ECEA4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93AA0F-6604-5BDA-5DF9-B96A888EC20D}"/>
              </a:ext>
            </a:extLst>
          </p:cNvPr>
          <p:cNvSpPr>
            <a:spLocks noGrp="1"/>
          </p:cNvSpPr>
          <p:nvPr>
            <p:ph type="title"/>
          </p:nvPr>
        </p:nvSpPr>
        <p:spPr>
          <a:xfrm>
            <a:off x="831850" y="1709738"/>
            <a:ext cx="10515600" cy="2282271"/>
          </a:xfrm>
        </p:spPr>
        <p:txBody>
          <a:bodyPr/>
          <a:lstStyle/>
          <a:p>
            <a:pPr algn="ctr"/>
            <a:r>
              <a:rPr lang="en-US" dirty="0"/>
              <a:t>Summary</a:t>
            </a:r>
          </a:p>
        </p:txBody>
      </p:sp>
    </p:spTree>
    <p:extLst>
      <p:ext uri="{BB962C8B-B14F-4D97-AF65-F5344CB8AC3E}">
        <p14:creationId xmlns:p14="http://schemas.microsoft.com/office/powerpoint/2010/main" val="24886216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A3CE-8DB0-40A5-B4A6-AFCE2156CC1F}"/>
              </a:ext>
            </a:extLst>
          </p:cNvPr>
          <p:cNvSpPr>
            <a:spLocks noGrp="1"/>
          </p:cNvSpPr>
          <p:nvPr>
            <p:ph type="title"/>
          </p:nvPr>
        </p:nvSpPr>
        <p:spPr>
          <a:xfrm>
            <a:off x="838200" y="365125"/>
            <a:ext cx="10515600" cy="620993"/>
          </a:xfrm>
        </p:spPr>
        <p:txBody>
          <a:bodyPr>
            <a:normAutofit fontScale="90000"/>
          </a:bodyPr>
          <a:lstStyle/>
          <a:p>
            <a:r>
              <a:rPr lang="en-US" dirty="0">
                <a:latin typeface="+mn-lt"/>
              </a:rPr>
              <a:t>Summary</a:t>
            </a:r>
            <a:endParaRPr lang="en-US" dirty="0"/>
          </a:p>
        </p:txBody>
      </p:sp>
      <p:sp>
        <p:nvSpPr>
          <p:cNvPr id="3" name="Content Placeholder 2">
            <a:extLst>
              <a:ext uri="{FF2B5EF4-FFF2-40B4-BE49-F238E27FC236}">
                <a16:creationId xmlns:a16="http://schemas.microsoft.com/office/drawing/2014/main" id="{CA03134D-F068-4BC9-B038-F3D5CBDDE3F9}"/>
              </a:ext>
            </a:extLst>
          </p:cNvPr>
          <p:cNvSpPr>
            <a:spLocks noGrp="1"/>
          </p:cNvSpPr>
          <p:nvPr>
            <p:ph idx="1"/>
          </p:nvPr>
        </p:nvSpPr>
        <p:spPr>
          <a:xfrm>
            <a:off x="775447" y="1208868"/>
            <a:ext cx="10515600" cy="5447426"/>
          </a:xfrm>
        </p:spPr>
        <p:txBody>
          <a:bodyPr>
            <a:normAutofit/>
          </a:bodyPr>
          <a:lstStyle/>
          <a:p>
            <a:pPr marL="0" indent="0">
              <a:buNone/>
            </a:pPr>
            <a:r>
              <a:rPr lang="en-US" dirty="0"/>
              <a:t>Many methods to find communities in social networks  </a:t>
            </a:r>
          </a:p>
          <a:p>
            <a:r>
              <a:rPr lang="en-US" dirty="0"/>
              <a:t>Communities defined by </a:t>
            </a:r>
            <a:r>
              <a:rPr lang="en-US" b="1" dirty="0"/>
              <a:t>high connectivity   </a:t>
            </a:r>
          </a:p>
          <a:p>
            <a:r>
              <a:rPr lang="en-US" dirty="0"/>
              <a:t>Can find communities by the </a:t>
            </a:r>
            <a:r>
              <a:rPr lang="en-US" b="1" dirty="0"/>
              <a:t>centrality</a:t>
            </a:r>
            <a:r>
              <a:rPr lang="en-US" dirty="0"/>
              <a:t> or </a:t>
            </a:r>
            <a:r>
              <a:rPr lang="en-US" b="1" dirty="0"/>
              <a:t>influence</a:t>
            </a:r>
            <a:r>
              <a:rPr lang="en-US" dirty="0"/>
              <a:t> of nodes:    </a:t>
            </a:r>
          </a:p>
          <a:p>
            <a:pPr lvl="1"/>
            <a:r>
              <a:rPr lang="en-US" dirty="0"/>
              <a:t>Katz centrality   </a:t>
            </a:r>
          </a:p>
          <a:p>
            <a:pPr lvl="1"/>
            <a:r>
              <a:rPr lang="en-US" dirty="0"/>
              <a:t>Closeness centrality  </a:t>
            </a:r>
          </a:p>
          <a:p>
            <a:pPr lvl="1"/>
            <a:r>
              <a:rPr lang="en-US" dirty="0"/>
              <a:t>K-Cores   </a:t>
            </a:r>
          </a:p>
          <a:p>
            <a:pPr lvl="1"/>
            <a:r>
              <a:rPr lang="en-US" dirty="0"/>
              <a:t>Triangle density and clustering  </a:t>
            </a:r>
          </a:p>
          <a:p>
            <a:r>
              <a:rPr lang="en-US" dirty="0"/>
              <a:t>Partition communities by betweenness </a:t>
            </a:r>
          </a:p>
          <a:p>
            <a:r>
              <a:rPr lang="en-US" dirty="0"/>
              <a:t>Find communities by </a:t>
            </a:r>
            <a:r>
              <a:rPr lang="en-US" b="1" dirty="0"/>
              <a:t>modularity</a:t>
            </a:r>
            <a:r>
              <a:rPr lang="en-US" dirty="0"/>
              <a:t> of groups of nodes</a:t>
            </a:r>
          </a:p>
          <a:p>
            <a:pPr lvl="1"/>
            <a:r>
              <a:rPr lang="en-US" dirty="0"/>
              <a:t>Greedy algorithms  </a:t>
            </a:r>
          </a:p>
          <a:p>
            <a:pPr lvl="1"/>
            <a:r>
              <a:rPr lang="en-US" dirty="0"/>
              <a:t>Spectral decomposition modularity</a:t>
            </a:r>
          </a:p>
          <a:p>
            <a:r>
              <a:rPr lang="en-US" dirty="0"/>
              <a:t>Many real-world networks are SWNs</a:t>
            </a:r>
          </a:p>
          <a:p>
            <a:endParaRPr lang="en-US" dirty="0"/>
          </a:p>
          <a:p>
            <a:endParaRPr lang="en-US" dirty="0"/>
          </a:p>
        </p:txBody>
      </p:sp>
    </p:spTree>
    <p:extLst>
      <p:ext uri="{BB962C8B-B14F-4D97-AF65-F5344CB8AC3E}">
        <p14:creationId xmlns:p14="http://schemas.microsoft.com/office/powerpoint/2010/main" val="33594072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22586</TotalTime>
  <Words>5181</Words>
  <Application>Microsoft Office PowerPoint</Application>
  <PresentationFormat>Widescreen</PresentationFormat>
  <Paragraphs>749</Paragraphs>
  <Slides>92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92</vt:i4>
      </vt:variant>
    </vt:vector>
  </HeadingPairs>
  <TitlesOfParts>
    <vt:vector size="99" baseType="lpstr">
      <vt:lpstr>Arial</vt:lpstr>
      <vt:lpstr>Calibri</vt:lpstr>
      <vt:lpstr>Calibri Light</vt:lpstr>
      <vt:lpstr>Cambria Math</vt:lpstr>
      <vt:lpstr>Segoe</vt:lpstr>
      <vt:lpstr>Segoe UI</vt:lpstr>
      <vt:lpstr>Office Theme</vt:lpstr>
      <vt:lpstr>CSCI E-96 Data Mining, Exploration and Discovery Graph Theory and  Social Network Analysis</vt:lpstr>
      <vt:lpstr>Main topics in this course </vt:lpstr>
      <vt:lpstr>Introduction to Graph Theory</vt:lpstr>
      <vt:lpstr>Graph algorithms are widely used for data mining</vt:lpstr>
      <vt:lpstr>Introduction to Graph Theory Terminology </vt:lpstr>
      <vt:lpstr>Introduction to Graph Theory Terminology</vt:lpstr>
      <vt:lpstr>Introduction to Graph Theory</vt:lpstr>
      <vt:lpstr>Introduction to Graph Theory</vt:lpstr>
      <vt:lpstr>Introduction to Graph Theory</vt:lpstr>
      <vt:lpstr>Introduction to Graph Theory</vt:lpstr>
      <vt:lpstr>Introduction to Graph Theory</vt:lpstr>
      <vt:lpstr>Random Graphs</vt:lpstr>
      <vt:lpstr>Random Graphs</vt:lpstr>
      <vt:lpstr>Random Graphs</vt:lpstr>
      <vt:lpstr>Random Graphs</vt:lpstr>
      <vt:lpstr>Random Graphs</vt:lpstr>
      <vt:lpstr>Introduction to Social Networks</vt:lpstr>
      <vt:lpstr>Introduction to Social Network Analysis</vt:lpstr>
      <vt:lpstr>Introduction to Social Network Analysis</vt:lpstr>
      <vt:lpstr>Introduction to Social Network Analysis</vt:lpstr>
      <vt:lpstr>Introduction to Social Network Analysis</vt:lpstr>
      <vt:lpstr>PowerPoint Presentation</vt:lpstr>
      <vt:lpstr>Introduction to Social Network Analysis</vt:lpstr>
      <vt:lpstr>Introduction to Social Network Analysis</vt:lpstr>
      <vt:lpstr>Introduction to Social Network Analysis</vt:lpstr>
      <vt:lpstr>Introduction to Social Network Analysis</vt:lpstr>
      <vt:lpstr>Pitfalls in Social Network Analysis</vt:lpstr>
      <vt:lpstr>Communities in Networks</vt:lpstr>
      <vt:lpstr>Finding Communities in Networks</vt:lpstr>
      <vt:lpstr>Centrality in Communities</vt:lpstr>
      <vt:lpstr>Centrality in Communities </vt:lpstr>
      <vt:lpstr>Centrality in Communities </vt:lpstr>
      <vt:lpstr>Finding Communities in Networks</vt:lpstr>
      <vt:lpstr>Katz Centrality</vt:lpstr>
      <vt:lpstr>Katz Centrality in Communities </vt:lpstr>
      <vt:lpstr>Katz Centrality in Communities </vt:lpstr>
      <vt:lpstr>Katz Centrality in Communities </vt:lpstr>
      <vt:lpstr>Breath-First Search and Distance-Based Centrality</vt:lpstr>
      <vt:lpstr>Distance-Based Centrality </vt:lpstr>
      <vt:lpstr>Finding Shortest Paths in Networks</vt:lpstr>
      <vt:lpstr>Breadth First Search Algorithm</vt:lpstr>
      <vt:lpstr>Breadth First Search Algorithm</vt:lpstr>
      <vt:lpstr>Breadth First Search Algorithm</vt:lpstr>
      <vt:lpstr>Closeness Centrality </vt:lpstr>
      <vt:lpstr>Betweenness of Social Network Communities  </vt:lpstr>
      <vt:lpstr>Betweenness Social Network Communities</vt:lpstr>
      <vt:lpstr>Betweenness of Social Networks </vt:lpstr>
      <vt:lpstr>Betweenness of Social Networks </vt:lpstr>
      <vt:lpstr>Betweenness of Social Networks </vt:lpstr>
      <vt:lpstr>Cliques and K-Cores</vt:lpstr>
      <vt:lpstr>Cliques and K-Cores</vt:lpstr>
      <vt:lpstr>Cliques and K-Cores</vt:lpstr>
      <vt:lpstr>Cliques and K-Cores</vt:lpstr>
      <vt:lpstr>Cliques and K-Cores</vt:lpstr>
      <vt:lpstr>Communities and Triangle Density</vt:lpstr>
      <vt:lpstr>Communities and Triangle Density</vt:lpstr>
      <vt:lpstr>Communities and Triangle Density</vt:lpstr>
      <vt:lpstr>Communities and Triangle Density</vt:lpstr>
      <vt:lpstr>Communities and Triangle Density</vt:lpstr>
      <vt:lpstr>Communities and Triangle Density</vt:lpstr>
      <vt:lpstr>Communities and Triangle Density</vt:lpstr>
      <vt:lpstr>Modularity in Communities</vt:lpstr>
      <vt:lpstr>Modularity of Communities  </vt:lpstr>
      <vt:lpstr>Modularity of Communities  </vt:lpstr>
      <vt:lpstr>Modularity of Communities  </vt:lpstr>
      <vt:lpstr>Modularity of Communities  </vt:lpstr>
      <vt:lpstr>Modularity of Communities  </vt:lpstr>
      <vt:lpstr>Modularity of Communities  </vt:lpstr>
      <vt:lpstr>Modularity of Communities  </vt:lpstr>
      <vt:lpstr>Greedy Modularity Search</vt:lpstr>
      <vt:lpstr>Greedy Modularity Search for Communities  </vt:lpstr>
      <vt:lpstr>Greedy Modularity Search for Communities  </vt:lpstr>
      <vt:lpstr>Greedy Modularity Search for Communities  </vt:lpstr>
      <vt:lpstr>Community Search with Spectral Maximization</vt:lpstr>
      <vt:lpstr>Spectral Modularity Maximization </vt:lpstr>
      <vt:lpstr>Spectral Modularity Maximization </vt:lpstr>
      <vt:lpstr>Spectral Modularity Maximization </vt:lpstr>
      <vt:lpstr>Spectral Modularity Maximization </vt:lpstr>
      <vt:lpstr>Spectral Modularity Maximization </vt:lpstr>
      <vt:lpstr>Spectral Modularity Maximization </vt:lpstr>
      <vt:lpstr>Spectral Modularity Maximization </vt:lpstr>
      <vt:lpstr>Small World Networks</vt:lpstr>
      <vt:lpstr>Small World Networks</vt:lpstr>
      <vt:lpstr>Small World Networks</vt:lpstr>
      <vt:lpstr>Small World Networks</vt:lpstr>
      <vt:lpstr>Small World Networks</vt:lpstr>
      <vt:lpstr>Small World Networks</vt:lpstr>
      <vt:lpstr>Small World Networks</vt:lpstr>
      <vt:lpstr>Small World Networks</vt:lpstr>
      <vt:lpstr>Small World Networks</vt:lpstr>
      <vt:lpstr>Summary</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Stephe Elston</dc:creator>
  <cp:lastModifiedBy>Stephen Elston</cp:lastModifiedBy>
  <cp:revision>777</cp:revision>
  <dcterms:created xsi:type="dcterms:W3CDTF">2020-08-19T23:28:02Z</dcterms:created>
  <dcterms:modified xsi:type="dcterms:W3CDTF">2026-10-14T01:08:13Z</dcterms:modified>
</cp:coreProperties>
</file>