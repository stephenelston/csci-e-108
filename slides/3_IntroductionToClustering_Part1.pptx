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5"/>
  </p:notesMasterIdLst>
  <p:sldIdLst>
    <p:sldId id="275" r:id="rId3"/>
    <p:sldId id="819" r:id="rId4"/>
    <p:sldId id="603" r:id="rId5"/>
    <p:sldId id="627" r:id="rId6"/>
    <p:sldId id="605" r:id="rId7"/>
    <p:sldId id="710" r:id="rId8"/>
    <p:sldId id="820" r:id="rId9"/>
    <p:sldId id="712" r:id="rId10"/>
    <p:sldId id="705" r:id="rId11"/>
    <p:sldId id="606" r:id="rId12"/>
    <p:sldId id="626" r:id="rId13"/>
    <p:sldId id="639" r:id="rId14"/>
    <p:sldId id="713" r:id="rId15"/>
    <p:sldId id="619" r:id="rId16"/>
    <p:sldId id="706" r:id="rId17"/>
    <p:sldId id="620" r:id="rId18"/>
    <p:sldId id="621" r:id="rId19"/>
    <p:sldId id="686" r:id="rId20"/>
    <p:sldId id="622" r:id="rId21"/>
    <p:sldId id="623" r:id="rId22"/>
    <p:sldId id="750" r:id="rId23"/>
    <p:sldId id="667" r:id="rId24"/>
    <p:sldId id="751" r:id="rId25"/>
    <p:sldId id="714" r:id="rId26"/>
    <p:sldId id="637" r:id="rId27"/>
    <p:sldId id="638" r:id="rId28"/>
    <p:sldId id="640" r:id="rId29"/>
    <p:sldId id="630" r:id="rId30"/>
    <p:sldId id="625" r:id="rId31"/>
    <p:sldId id="628" r:id="rId32"/>
    <p:sldId id="629" r:id="rId33"/>
    <p:sldId id="767" r:id="rId34"/>
    <p:sldId id="668" r:id="rId35"/>
    <p:sldId id="765" r:id="rId36"/>
    <p:sldId id="821" r:id="rId37"/>
    <p:sldId id="766" r:id="rId38"/>
    <p:sldId id="764" r:id="rId39"/>
    <p:sldId id="631" r:id="rId40"/>
    <p:sldId id="722" r:id="rId41"/>
    <p:sldId id="723" r:id="rId42"/>
    <p:sldId id="724" r:id="rId43"/>
    <p:sldId id="725" r:id="rId44"/>
    <p:sldId id="726" r:id="rId45"/>
    <p:sldId id="728" r:id="rId46"/>
    <p:sldId id="721" r:id="rId47"/>
    <p:sldId id="644" r:id="rId48"/>
    <p:sldId id="689" r:id="rId49"/>
    <p:sldId id="715" r:id="rId50"/>
    <p:sldId id="719" r:id="rId51"/>
    <p:sldId id="768" r:id="rId52"/>
    <p:sldId id="688" r:id="rId53"/>
    <p:sldId id="645" r:id="rId54"/>
    <p:sldId id="707" r:id="rId55"/>
    <p:sldId id="756" r:id="rId56"/>
    <p:sldId id="708" r:id="rId57"/>
    <p:sldId id="758" r:id="rId58"/>
    <p:sldId id="709" r:id="rId59"/>
    <p:sldId id="736" r:id="rId60"/>
    <p:sldId id="757" r:id="rId61"/>
    <p:sldId id="762" r:id="rId62"/>
    <p:sldId id="687" r:id="rId63"/>
    <p:sldId id="659" r:id="rId64"/>
    <p:sldId id="729" r:id="rId65"/>
    <p:sldId id="684" r:id="rId66"/>
    <p:sldId id="685" r:id="rId67"/>
    <p:sldId id="755" r:id="rId68"/>
    <p:sldId id="720" r:id="rId69"/>
    <p:sldId id="769" r:id="rId70"/>
    <p:sldId id="734" r:id="rId71"/>
    <p:sldId id="662" r:id="rId72"/>
    <p:sldId id="663" r:id="rId73"/>
    <p:sldId id="665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slide" Target="slides/slide72.xml"/><Relationship Id="rId79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4975-1871-6880-6F45-5CD4CE162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F6E06-1885-718C-43AE-9BF81A6DF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F945DC-7AB1-388D-F524-6F1AE56BD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93D44-F141-8640-15B4-37A5A88AC6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829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8F5B0-324F-A002-6F9F-29F8F94E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E2EA3-251C-9859-B416-47F58F1DF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795CE-F794-911B-C998-2319DEC6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DDB1-D123-9E52-03BF-2BED0FBDF9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207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7BD3-A250-176A-67C8-7065934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A9307-1887-855F-2C77-3DC115E5E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2190-6853-5915-21BF-679D26123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400B3-0FB9-C68E-C27A-79C804E7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619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0D3DF-1E5A-0FC1-32AE-C3BEC5318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75C92-939B-1189-5673-4AB610CA4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EABF18-B462-E0C6-AE7D-D5797C867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C4900C-6705-BF67-E1EE-3308A88C5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980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B49F2-B5E6-5C1B-146A-9F55C8767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EF0B7-E648-402E-4468-65EE82E6A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1BFDE-45C3-4D59-4310-C63B90D9F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E4DA9-364F-F918-ABF3-F89C9F235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8596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A89-6EB4-C39D-BC23-9F0F0E22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23D57-76A0-C130-76C5-FEAB8A8CB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DB17B-9438-3011-7427-3BA574595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497FF-DC61-5582-44DA-3B0210E0B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2984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DCCD1-FD6A-1A2D-9B95-5817459F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DB21-323B-A4C7-27A7-EEAF9869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AB8C2-B903-C344-A560-B63C3E093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93356-B904-80B5-CD58-86E07600C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7907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BEE76-A308-17AE-653E-AC42C3C00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60B3B-2BAA-A999-167B-6A76CDD17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7D3A-D016-19E9-8903-5D4FEBCED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03BA-94E4-9983-C006-AB93E019F3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4844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soft-clustering/soft-clustering" TargetMode="External"/><Relationship Id="rId5" Type="http://schemas.openxmlformats.org/officeDocument/2006/relationships/hyperlink" Target="https://github.com/collinleiber/ClustPy" TargetMode="External"/><Relationship Id="rId4" Type="http://schemas.openxmlformats.org/officeDocument/2006/relationships/hyperlink" Target="https://hdbscan.readthedocs.io/en/latest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hyperlink" Target="https://scikit-learn.org/stable/modules/generated/sklearn.metrics.davies_bouldin_score.html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DistanceMetric.html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2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labeled; &gt; 90%!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Seek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5AE8-690C-EDEB-BD21-3CDF492E9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322E7-359A-8FA2-818A-08C528C0C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7A4CD-8838-6F98-DF4D-398ED714ACB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a wide range software that supports clustering models   </a:t>
            </a:r>
          </a:p>
          <a:p>
            <a:r>
              <a:rPr lang="en-US" dirty="0">
                <a:latin typeface="+mn-lt"/>
              </a:rPr>
              <a:t>Clustering models supported in many languages and statistical packages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sklearn.clustering</a:t>
            </a:r>
            <a:r>
              <a:rPr lang="en-US" dirty="0">
                <a:latin typeface="+mn-lt"/>
                <a:hlinkClick r:id="rId3"/>
              </a:rPr>
              <a:t> </a:t>
            </a:r>
            <a:r>
              <a:rPr lang="en-US" dirty="0">
                <a:latin typeface="+mn-lt"/>
              </a:rPr>
              <a:t>package has been a standard for Python implementations</a:t>
            </a:r>
          </a:p>
          <a:p>
            <a:r>
              <a:rPr lang="en-US" dirty="0">
                <a:latin typeface="+mn-lt"/>
              </a:rPr>
              <a:t>A flexible and efficient implementation of the HDBSCAN algorithm can be found in the </a:t>
            </a:r>
            <a:r>
              <a:rPr lang="en-US" dirty="0" err="1">
                <a:latin typeface="+mn-lt"/>
                <a:hlinkClick r:id="rId4"/>
              </a:rPr>
              <a:t>hdbscan</a:t>
            </a:r>
            <a:r>
              <a:rPr lang="en-US" dirty="0">
                <a:latin typeface="+mn-lt"/>
                <a:hlinkClick r:id="rId4"/>
              </a:rPr>
              <a:t> package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5"/>
              </a:rPr>
              <a:t>PyClust</a:t>
            </a:r>
            <a:r>
              <a:rPr lang="en-US" dirty="0">
                <a:latin typeface="+mn-lt"/>
                <a:hlinkClick r:id="rId5"/>
              </a:rPr>
              <a:t> package </a:t>
            </a:r>
            <a:r>
              <a:rPr lang="en-US" dirty="0">
                <a:latin typeface="+mn-lt"/>
              </a:rPr>
              <a:t>offers implementations of cutting-edge clustering algorithms, including deep NN algorithms in </a:t>
            </a:r>
            <a:r>
              <a:rPr lang="en-US" dirty="0" err="1">
                <a:latin typeface="+mn-lt"/>
              </a:rPr>
              <a:t>PyTorch</a:t>
            </a:r>
            <a:r>
              <a:rPr lang="en-US">
                <a:latin typeface="+mn-lt"/>
              </a:rPr>
              <a:t>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>
                <a:latin typeface="+mn-lt"/>
                <a:hlinkClick r:id="rId6"/>
              </a:rPr>
              <a:t>SCPP (soft clustering) package </a:t>
            </a:r>
            <a:r>
              <a:rPr lang="en-US" dirty="0">
                <a:latin typeface="+mn-lt"/>
              </a:rPr>
              <a:t>includes state-of-the-art soft clustering and fuzzy clustering algorithms  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14054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distance-dissimilarity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support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small maximum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minimum distance between clusters </a:t>
            </a:r>
            <a:r>
              <a:rPr lang="en-US" sz="2800">
                <a:latin typeface="+mn-lt"/>
              </a:rPr>
              <a:t>is maximized, </a:t>
            </a:r>
            <a:r>
              <a:rPr lang="en-US" sz="2800" dirty="0">
                <a:latin typeface="+mn-lt"/>
              </a:rPr>
              <a:t>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(or distance)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models, measure with multiple metrics,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More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e.g.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Combinatorial search will not scale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4209" y="281160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408193" y="3670851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73649" y="242473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768810" y="3510036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</a:t>
                </a:r>
                <a:r>
                  <a:rPr lang="en-US" b="1" dirty="0">
                    <a:latin typeface="+mn-lt"/>
                  </a:rPr>
                  <a:t>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</a:t>
                </a:r>
                <a:r>
                  <a:rPr lang="en-US" b="1" dirty="0">
                    <a:latin typeface="+mn-lt"/>
                  </a:rPr>
                  <a:t>Euclidean space </a:t>
                </a:r>
                <a:r>
                  <a:rPr lang="en-US" dirty="0">
                    <a:latin typeface="+mn-lt"/>
                  </a:rPr>
                  <a:t>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 initialization around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vectors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</a:t>
                </a:r>
                <a:r>
                  <a:rPr lang="en-US" b="1" dirty="0">
                    <a:latin typeface="+mn-lt"/>
                  </a:rPr>
                  <a:t>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Comparing point classifications,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3, 4 and 5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>
                    <a:latin typeface="+mn-lt"/>
                  </a:rPr>
                  <a:t> times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(additive) complexity is about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–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b="1" dirty="0">
                    <a:latin typeface="+mn-lt"/>
                  </a:rPr>
                  <a:t>!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  <a:blipFill>
                <a:blip r:embed="rId3"/>
                <a:stretch>
                  <a:fillRect l="-998" t="-2139" r="-210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index – For any metric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Davies-Bouldin Index – Can be formulated for non-Euclidian spaces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𝑐𝑒𝑛𝑡𝑟𝑜𝑖𝑑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a point-wise metric</a:t>
                </a:r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Silhouette coefficients </a:t>
            </a:r>
            <a:r>
              <a:rPr lang="en-US" dirty="0">
                <a:latin typeface="+mn-lt"/>
              </a:rPr>
              <a:t>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F79B-16E2-3FA9-EE4D-391CBB65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D16F-7977-CC2B-572C-5DA1332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Summarize with the </a:t>
                </a:r>
                <a:r>
                  <a:rPr lang="en-US" b="1" dirty="0">
                    <a:latin typeface="+mn-lt"/>
                  </a:rPr>
                  <a:t>silhouette index</a:t>
                </a:r>
                <a:r>
                  <a:rPr lang="en-US" dirty="0">
                    <a:latin typeface="+mn-lt"/>
                  </a:rPr>
                  <a:t>, the mean of the coefficients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Higher silhouette index indicates better separated and more compact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47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degrees of freedom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larger the </a:t>
                </a:r>
                <a:r>
                  <a:rPr lang="en-US" b="1" dirty="0" err="1">
                    <a:latin typeface="+mn-lt"/>
                  </a:rPr>
                  <a:t>Calinski-Harabasz</a:t>
                </a:r>
                <a:r>
                  <a:rPr lang="en-US" b="1" dirty="0">
                    <a:latin typeface="+mn-lt"/>
                  </a:rPr>
                  <a:t> index </a:t>
                </a:r>
                <a:r>
                  <a:rPr lang="en-US" dirty="0">
                    <a:latin typeface="+mn-lt"/>
                  </a:rPr>
                  <a:t>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2460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2D1D-E8B8-DC17-168B-004D21D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049F-282F-C1D6-6C03-72900760B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average distance within the cluster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distance between cluster centroids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49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B4286-59B4-BE0C-9970-24CD3D3EF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E249-B448-ED60-8617-87B65C59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index for a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 is the mean of the maximum scores of each cluster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3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More compact and better separated clusters have smaller Davies-Bouldin index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27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52CA-3EA4-0F0F-D76A-D89F0813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2DF2-1940-080D-541F-64F5E07C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principle, we can use any similarity and distance metric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 err="1">
                    <a:latin typeface="+mn-lt"/>
                  </a:rPr>
                  <a:t>Manhatan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Etc.</a:t>
                </a:r>
              </a:p>
              <a:p>
                <a:r>
                  <a:rPr lang="en-US" dirty="0">
                    <a:latin typeface="+mn-lt"/>
                    <a:hlinkClick r:id="rId4"/>
                  </a:rPr>
                  <a:t>Scikit-Learn</a:t>
                </a:r>
                <a:r>
                  <a:rPr lang="en-US" dirty="0">
                    <a:latin typeface="+mn-lt"/>
                  </a:rPr>
                  <a:t> only supports Euclidean Davies-Bouldin index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4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ABB3-B084-6536-1703-6716B432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26CF-31DC-48E8-6E69-CBE418DF3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index is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we can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several </a:t>
                </a:r>
                <a:r>
                  <a:rPr lang="en-US" b="1" dirty="0">
                    <a:latin typeface="+mn-lt"/>
                  </a:rPr>
                  <a:t>metric distances </a:t>
                </a:r>
                <a:r>
                  <a:rPr lang="en-US" dirty="0">
                    <a:latin typeface="+mn-lt"/>
                  </a:rPr>
                  <a:t>as follows:</a:t>
                </a:r>
              </a:p>
              <a:p>
                <a:pPr lvl="1"/>
                <a:r>
                  <a:rPr lang="en-US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𝑡ℎ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moment (inertia) of a cluster comprising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with centroid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the Minkowski distance between the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based on the differences between the components of the centroids,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⌊"/>
                                          <m:endChr m:val="⌋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2139" r="-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0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index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Min of the Davies-Bouldin index 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b="1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or fragmented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40991" y="861790"/>
            <a:ext cx="11106203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6E4814-6326-26A8-6FEB-73BBFA62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787" y="1244154"/>
            <a:ext cx="5249166" cy="50406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7982E3-E661-0840-7F1A-379F508DF2C6}"/>
              </a:ext>
            </a:extLst>
          </p:cNvPr>
          <p:cNvSpPr txBox="1">
            <a:spLocks/>
          </p:cNvSpPr>
          <p:nvPr/>
        </p:nvSpPr>
        <p:spPr>
          <a:xfrm>
            <a:off x="512390" y="1543050"/>
            <a:ext cx="2585140" cy="2125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+mn-lt"/>
              </a:rPr>
              <a:t>Typically, hard to find clear ‘knee’ in WCSS, 5? Or 9? Or ??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879787E-25A3-03F2-620F-771FBEA32B63}"/>
              </a:ext>
            </a:extLst>
          </p:cNvPr>
          <p:cNvSpPr txBox="1">
            <a:spLocks/>
          </p:cNvSpPr>
          <p:nvPr/>
        </p:nvSpPr>
        <p:spPr>
          <a:xfrm>
            <a:off x="357132" y="4038600"/>
            <a:ext cx="2895655" cy="15752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sz="2400" dirty="0">
                <a:latin typeface="+mn-lt"/>
              </a:rPr>
              <a:t>Peak of silhouette index at 5 and lower at 9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D4ED59-27F5-4071-2824-27D4F1FF76BE}"/>
              </a:ext>
            </a:extLst>
          </p:cNvPr>
          <p:cNvSpPr txBox="1">
            <a:spLocks/>
          </p:cNvSpPr>
          <p:nvPr/>
        </p:nvSpPr>
        <p:spPr>
          <a:xfrm>
            <a:off x="8576278" y="1673319"/>
            <a:ext cx="3196590" cy="14413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US" sz="2400" dirty="0">
                <a:latin typeface="+mn-lt"/>
              </a:rPr>
              <a:t>Minimum of Davis-Bouldin index at 5 and 9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C762D-2DF2-270D-E214-0A7D97A6E131}"/>
              </a:ext>
            </a:extLst>
          </p:cNvPr>
          <p:cNvSpPr txBox="1">
            <a:spLocks/>
          </p:cNvSpPr>
          <p:nvPr/>
        </p:nvSpPr>
        <p:spPr>
          <a:xfrm>
            <a:off x="8576278" y="4103370"/>
            <a:ext cx="3103332" cy="1680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US" sz="2400" dirty="0">
                <a:latin typeface="+mn-lt"/>
              </a:rPr>
              <a:t>Value of </a:t>
            </a:r>
            <a:r>
              <a:rPr lang="en-US" sz="2400" dirty="0" err="1">
                <a:latin typeface="+mn-lt"/>
              </a:rPr>
              <a:t>Calinski-Harabasz</a:t>
            </a:r>
            <a:r>
              <a:rPr lang="en-US" sz="2400" dirty="0">
                <a:latin typeface="+mn-lt"/>
              </a:rPr>
              <a:t> index at 5 is close to peak and lower at 9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E27479E-1C49-635E-7573-C7D6C5CAC4D7}"/>
              </a:ext>
            </a:extLst>
          </p:cNvPr>
          <p:cNvSpPr txBox="1">
            <a:spLocks/>
          </p:cNvSpPr>
          <p:nvPr/>
        </p:nvSpPr>
        <p:spPr>
          <a:xfrm>
            <a:off x="1019122" y="6264464"/>
            <a:ext cx="9993684" cy="53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Despite the ambiguity, 5 clusters (or 9?) appears to be best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A0B5C6-99BE-5E0D-2C11-22566587486C}"/>
              </a:ext>
            </a:extLst>
          </p:cNvPr>
          <p:cNvCxnSpPr>
            <a:cxnSpLocks/>
          </p:cNvCxnSpPr>
          <p:nvPr/>
        </p:nvCxnSpPr>
        <p:spPr>
          <a:xfrm flipV="1">
            <a:off x="2994660" y="2646045"/>
            <a:ext cx="1325880" cy="800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1C2E-F08C-8F98-90CC-4D9E6B3BDE6F}"/>
              </a:ext>
            </a:extLst>
          </p:cNvPr>
          <p:cNvCxnSpPr>
            <a:cxnSpLocks/>
          </p:cNvCxnSpPr>
          <p:nvPr/>
        </p:nvCxnSpPr>
        <p:spPr>
          <a:xfrm>
            <a:off x="2994660" y="2726055"/>
            <a:ext cx="1640205" cy="25717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E7CF76-FFCB-305C-28BF-F7825732BED9}"/>
              </a:ext>
            </a:extLst>
          </p:cNvPr>
          <p:cNvCxnSpPr>
            <a:cxnSpLocks/>
          </p:cNvCxnSpPr>
          <p:nvPr/>
        </p:nvCxnSpPr>
        <p:spPr>
          <a:xfrm flipH="1">
            <a:off x="6789420" y="2577465"/>
            <a:ext cx="2305052" cy="6515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C51C89-B648-A990-49AF-03AEB120FF9F}"/>
              </a:ext>
            </a:extLst>
          </p:cNvPr>
          <p:cNvCxnSpPr>
            <a:cxnSpLocks/>
          </p:cNvCxnSpPr>
          <p:nvPr/>
        </p:nvCxnSpPr>
        <p:spPr>
          <a:xfrm flipH="1">
            <a:off x="7218045" y="2577465"/>
            <a:ext cx="1876427" cy="70866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8108C-A900-38C4-6404-3A145810E2D8}"/>
              </a:ext>
            </a:extLst>
          </p:cNvPr>
          <p:cNvCxnSpPr>
            <a:cxnSpLocks/>
          </p:cNvCxnSpPr>
          <p:nvPr/>
        </p:nvCxnSpPr>
        <p:spPr>
          <a:xfrm flipV="1">
            <a:off x="3097530" y="3979356"/>
            <a:ext cx="960120" cy="69462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4D628F4-5CF7-116B-9983-B0BA2EFCA760}"/>
              </a:ext>
            </a:extLst>
          </p:cNvPr>
          <p:cNvCxnSpPr>
            <a:cxnSpLocks/>
          </p:cNvCxnSpPr>
          <p:nvPr/>
        </p:nvCxnSpPr>
        <p:spPr>
          <a:xfrm flipV="1">
            <a:off x="3137535" y="4673978"/>
            <a:ext cx="1400175" cy="15224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D6055F-39CA-0973-23AF-194189DBC02D}"/>
              </a:ext>
            </a:extLst>
          </p:cNvPr>
          <p:cNvCxnSpPr>
            <a:cxnSpLocks/>
          </p:cNvCxnSpPr>
          <p:nvPr/>
        </p:nvCxnSpPr>
        <p:spPr>
          <a:xfrm flipH="1" flipV="1">
            <a:off x="6629400" y="3932856"/>
            <a:ext cx="2309815" cy="817244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058B1A-310D-EDB7-8FB3-A1428C31976A}"/>
              </a:ext>
            </a:extLst>
          </p:cNvPr>
          <p:cNvCxnSpPr>
            <a:cxnSpLocks/>
          </p:cNvCxnSpPr>
          <p:nvPr/>
        </p:nvCxnSpPr>
        <p:spPr>
          <a:xfrm flipH="1" flipV="1">
            <a:off x="6798048" y="4190271"/>
            <a:ext cx="2197362" cy="559829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0E1A91-E373-E724-106B-55701CFE2E5A}"/>
              </a:ext>
            </a:extLst>
          </p:cNvPr>
          <p:cNvCxnSpPr>
            <a:cxnSpLocks/>
          </p:cNvCxnSpPr>
          <p:nvPr/>
        </p:nvCxnSpPr>
        <p:spPr>
          <a:xfrm flipH="1" flipV="1">
            <a:off x="7080885" y="4902500"/>
            <a:ext cx="2057400" cy="39530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randomized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  <a:r>
              <a:rPr lang="en-US" dirty="0">
                <a:latin typeface="+mn-lt"/>
              </a:rPr>
              <a:t> – </a:t>
            </a:r>
            <a:r>
              <a:rPr lang="en-US" b="1" dirty="0">
                <a:latin typeface="+mn-lt"/>
              </a:rPr>
              <a:t>measures affinity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methods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CB7E4-20E9-70FA-A150-B359C2D12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AB3F-E81F-704A-4540-9F8508D29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 Note 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One can choose from a great number of metrics </a:t>
                </a:r>
              </a:p>
              <a:p>
                <a:r>
                  <a:rPr lang="en-US" dirty="0">
                    <a:latin typeface="+mn-lt"/>
                  </a:rPr>
                  <a:t>Distance metrics 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Manhattan,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Chebyshev,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Minkowski,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Etc. </a:t>
                </a:r>
              </a:p>
              <a:p>
                <a:r>
                  <a:rPr lang="en-US" dirty="0">
                    <a:latin typeface="+mn-lt"/>
                  </a:rPr>
                  <a:t>Metrics for binary values</a:t>
                </a:r>
              </a:p>
              <a:p>
                <a:r>
                  <a:rPr lang="en-US" dirty="0">
                    <a:latin typeface="+mn-lt"/>
                  </a:rPr>
                  <a:t>Metrics for sets </a:t>
                </a:r>
              </a:p>
              <a:p>
                <a:r>
                  <a:rPr lang="en-US" dirty="0">
                    <a:latin typeface="+mn-lt"/>
                  </a:rPr>
                  <a:t>You can find a list of metrics supported by Scikit-Learn </a:t>
                </a:r>
                <a:r>
                  <a:rPr lang="en-US" dirty="0">
                    <a:latin typeface="+mn-lt"/>
                    <a:hlinkClick r:id="rId3"/>
                  </a:rPr>
                  <a:t>here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clustering models create compact clusters by creating a tree graph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binary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Binary 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pPr lvl="1"/>
                <a:r>
                  <a:rPr lang="en-US" dirty="0">
                    <a:latin typeface="+mn-lt"/>
                  </a:rPr>
                  <a:t>A measure of affinity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2460" b="-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dirty="0">
                    <a:latin typeface="+mn-lt"/>
                  </a:rPr>
                  <a:t>uses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35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observations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Cutting the dendrogram creates a flat cluster model</a:t>
            </a:r>
          </a:p>
          <a:p>
            <a:r>
              <a:rPr lang="en-US" dirty="0">
                <a:latin typeface="+mn-lt"/>
              </a:rPr>
              <a:t> Number of clusters determined by depth of cut point</a:t>
            </a:r>
          </a:p>
          <a:p>
            <a:r>
              <a:rPr lang="en-US" dirty="0">
                <a:latin typeface="+mn-lt"/>
              </a:rPr>
              <a:t>For example,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affinity measure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does not consider separation!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</a:t>
                </a:r>
                <a:r>
                  <a:rPr lang="en-US" b="1" dirty="0">
                    <a:latin typeface="+mn-lt"/>
                  </a:rPr>
                  <a:t>monotonically decreases </a:t>
                </a:r>
                <a:r>
                  <a:rPr lang="en-US" dirty="0">
                    <a:latin typeface="+mn-lt"/>
                  </a:rPr>
                  <a:t>with increasing number of clusters. </a:t>
                </a:r>
              </a:p>
              <a:p>
                <a:pPr lvl="1"/>
                <a:r>
                  <a:rPr lang="en-US" dirty="0">
                    <a:latin typeface="+mn-lt"/>
                  </a:rPr>
                  <a:t>Must resort to the </a:t>
                </a:r>
                <a:r>
                  <a:rPr lang="en-US" b="1" dirty="0">
                    <a:latin typeface="+mn-lt"/>
                  </a:rPr>
                  <a:t>‘knee’ method  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 b="-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13 clusters?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05AE-E853-2276-5E25-C07353BC5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3E2BD-1711-07DD-7D5E-D23181E11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of Cluster Evaluation Methods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5144-FF9C-9554-1AA1-A7AA4DE177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34108"/>
            <a:ext cx="11525250" cy="5801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No cluster evaluation method is definitive!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8944686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Cluster diameter,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</m:sSub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8944686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31" t="-323077" r="-527815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031045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Distance metrics usually matter more </a:t>
            </a:r>
            <a:r>
              <a:rPr lang="en-US" sz="2800">
                <a:latin typeface="+mn-lt"/>
              </a:rPr>
              <a:t>than algorithm </a:t>
            </a:r>
            <a:r>
              <a:rPr lang="en-US" sz="2800" dirty="0">
                <a:latin typeface="+mn-lt"/>
              </a:rPr>
              <a:t>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b="1" dirty="0">
                <a:latin typeface="+mn-lt"/>
              </a:rPr>
              <a:t>Evaluation is often subjective!</a:t>
            </a: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33326</TotalTime>
  <Words>4366</Words>
  <Application>Microsoft Office PowerPoint</Application>
  <PresentationFormat>Widescreen</PresentationFormat>
  <Paragraphs>715</Paragraphs>
  <Slides>72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72</vt:i4>
      </vt:variant>
    </vt:vector>
  </HeadingPairs>
  <TitlesOfParts>
    <vt:vector size="81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Main topics in this course </vt:lpstr>
      <vt:lpstr>Overview, Unsupervised Learning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A Note on Metrics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 of Cluster Evaluation Methods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1015</cp:revision>
  <dcterms:created xsi:type="dcterms:W3CDTF">2020-07-25T22:15:22Z</dcterms:created>
  <dcterms:modified xsi:type="dcterms:W3CDTF">2026-09-16T23:51:41Z</dcterms:modified>
</cp:coreProperties>
</file>