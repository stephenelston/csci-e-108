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819" r:id="rId3"/>
    <p:sldId id="443" r:id="rId4"/>
    <p:sldId id="442" r:id="rId5"/>
    <p:sldId id="378" r:id="rId6"/>
    <p:sldId id="503" r:id="rId7"/>
    <p:sldId id="379" r:id="rId8"/>
    <p:sldId id="292" r:id="rId9"/>
    <p:sldId id="287" r:id="rId10"/>
    <p:sldId id="288" r:id="rId11"/>
    <p:sldId id="386" r:id="rId12"/>
    <p:sldId id="387" r:id="rId13"/>
    <p:sldId id="388" r:id="rId14"/>
    <p:sldId id="380" r:id="rId15"/>
    <p:sldId id="289" r:id="rId16"/>
    <p:sldId id="290" r:id="rId17"/>
    <p:sldId id="412" r:id="rId18"/>
    <p:sldId id="414" r:id="rId19"/>
    <p:sldId id="415" r:id="rId20"/>
    <p:sldId id="416" r:id="rId21"/>
    <p:sldId id="417" r:id="rId22"/>
    <p:sldId id="420" r:id="rId23"/>
    <p:sldId id="419" r:id="rId24"/>
    <p:sldId id="422" r:id="rId25"/>
    <p:sldId id="424" r:id="rId26"/>
    <p:sldId id="423" r:id="rId27"/>
    <p:sldId id="425" r:id="rId28"/>
    <p:sldId id="451" r:id="rId29"/>
    <p:sldId id="453" r:id="rId30"/>
    <p:sldId id="504" r:id="rId31"/>
    <p:sldId id="454" r:id="rId32"/>
    <p:sldId id="455" r:id="rId33"/>
    <p:sldId id="820" r:id="rId34"/>
    <p:sldId id="459" r:id="rId35"/>
    <p:sldId id="462" r:id="rId36"/>
    <p:sldId id="463" r:id="rId37"/>
    <p:sldId id="465" r:id="rId38"/>
    <p:sldId id="466" r:id="rId39"/>
    <p:sldId id="467" r:id="rId40"/>
    <p:sldId id="484" r:id="rId41"/>
    <p:sldId id="470" r:id="rId42"/>
    <p:sldId id="471" r:id="rId43"/>
    <p:sldId id="469" r:id="rId44"/>
    <p:sldId id="472" r:id="rId45"/>
    <p:sldId id="473" r:id="rId46"/>
    <p:sldId id="474" r:id="rId47"/>
    <p:sldId id="475" r:id="rId48"/>
    <p:sldId id="476" r:id="rId49"/>
    <p:sldId id="477" r:id="rId50"/>
    <p:sldId id="481" r:id="rId51"/>
    <p:sldId id="482" r:id="rId52"/>
    <p:sldId id="483" r:id="rId53"/>
    <p:sldId id="821" r:id="rId54"/>
    <p:sldId id="456" r:id="rId55"/>
    <p:sldId id="460" r:id="rId56"/>
    <p:sldId id="461" r:id="rId57"/>
    <p:sldId id="485" r:id="rId58"/>
    <p:sldId id="486" r:id="rId59"/>
    <p:sldId id="492" r:id="rId60"/>
    <p:sldId id="493" r:id="rId61"/>
    <p:sldId id="487" r:id="rId62"/>
    <p:sldId id="491" r:id="rId63"/>
    <p:sldId id="452" r:id="rId64"/>
    <p:sldId id="489" r:id="rId65"/>
    <p:sldId id="490" r:id="rId66"/>
    <p:sldId id="822" r:id="rId67"/>
    <p:sldId id="373" r:id="rId68"/>
    <p:sldId id="497" r:id="rId69"/>
    <p:sldId id="496" r:id="rId70"/>
    <p:sldId id="494" r:id="rId71"/>
    <p:sldId id="495" r:id="rId72"/>
    <p:sldId id="374" r:id="rId73"/>
    <p:sldId id="376" r:id="rId74"/>
    <p:sldId id="505" r:id="rId75"/>
    <p:sldId id="383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7" autoAdjust="0"/>
    <p:restoredTop sz="94660"/>
  </p:normalViewPr>
  <p:slideViewPr>
    <p:cSldViewPr snapToGrid="0">
      <p:cViewPr varScale="1">
        <p:scale>
          <a:sx n="72" d="100"/>
          <a:sy n="72" d="100"/>
        </p:scale>
        <p:origin x="55" y="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1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yperLogLog" TargetMode="External"/><Relationship Id="rId7" Type="http://schemas.openxmlformats.org/officeDocument/2006/relationships/hyperlink" Target="https://www.manning.com/books/algorithms-and-data-structures-for-massive-datasets" TargetMode="External"/><Relationship Id="rId2" Type="http://schemas.openxmlformats.org/officeDocument/2006/relationships/hyperlink" Target="https://algo.inria.fr/flajolet/Publications/DuFl0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308.16862v5" TargetMode="External"/><Relationship Id="rId5" Type="http://schemas.openxmlformats.org/officeDocument/2006/relationships/hyperlink" Target="https://arxiv.org/pdf/1902.10995" TargetMode="External"/><Relationship Id="rId4" Type="http://schemas.openxmlformats.org/officeDocument/2006/relationships/hyperlink" Target="http://redisgate.kr/download/HyperLogLog-in-Practice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hyperlink" Target="https://en.wikipedia.org/wiki/Geometric_distribut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hyperlink" Target="https://en.wikipedia.org/wiki/Flajolet%E2%80%93Martin_algorith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en.wikipedia.org/wiki/Flajolet%E2%80%93Martin_algorith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en.wikipedia.org/wiki/Flajolet%E2%80%93Martin_algorith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armonic_mean" TargetMode="External"/><Relationship Id="rId2" Type="http://schemas.openxmlformats.org/officeDocument/2006/relationships/hyperlink" Target="https://algo.inria.fr/flajolet/Publications/FlFuGaMe07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136.png"/><Relationship Id="rId18" Type="http://schemas.openxmlformats.org/officeDocument/2006/relationships/image" Target="../media/image145.png"/><Relationship Id="rId3" Type="http://schemas.openxmlformats.org/officeDocument/2006/relationships/image" Target="../media/image71.png"/><Relationship Id="rId7" Type="http://schemas.openxmlformats.org/officeDocument/2006/relationships/image" Target="../media/image130.png"/><Relationship Id="rId12" Type="http://schemas.openxmlformats.org/officeDocument/2006/relationships/image" Target="../media/image132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131.png"/><Relationship Id="rId5" Type="http://schemas.openxmlformats.org/officeDocument/2006/relationships/image" Target="../media/image128.png"/><Relationship Id="rId15" Type="http://schemas.openxmlformats.org/officeDocument/2006/relationships/image" Target="../media/image144.png"/><Relationship Id="rId10" Type="http://schemas.openxmlformats.org/officeDocument/2006/relationships/image" Target="../media/image710.png"/><Relationship Id="rId4" Type="http://schemas.openxmlformats.org/officeDocument/2006/relationships/image" Target="../media/image1270.png"/><Relationship Id="rId9" Type="http://schemas.openxmlformats.org/officeDocument/2006/relationships/image" Target="../media/image700.png"/><Relationship Id="rId14" Type="http://schemas.openxmlformats.org/officeDocument/2006/relationships/image" Target="../media/image1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hyperlink" Target="http://redisgate.kr/download/HyperLogLog-in-Practice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0.png"/><Relationship Id="rId2" Type="http://schemas.openxmlformats.org/officeDocument/2006/relationships/hyperlink" Target="https://algo.inria.fr/flajolet/Publications/DuFl03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hyperlink" Target="http://redisgate.kr/download/HyperLogLog-in-Practice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redisgate.kr/download/HyperLogLog-in-Practice.p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4.01668" TargetMode="External"/><Relationship Id="rId2" Type="http://schemas.openxmlformats.org/officeDocument/2006/relationships/hyperlink" Target="https://arxiv.org/abs/1902.0402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arxiv.org/pdf/2004.08255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ritzmucha/fastdigest" TargetMode="External"/><Relationship Id="rId2" Type="http://schemas.openxmlformats.org/officeDocument/2006/relationships/hyperlink" Target="https://datasketches.apache.org/docs/tdigest/tdiges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tdunning/t-digest?tab=readme-ov-file" TargetMode="External"/><Relationship Id="rId4" Type="http://schemas.openxmlformats.org/officeDocument/2006/relationships/hyperlink" Target="https://github.com/CamDavidsonPilon/tdigest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902.04023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2.04023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hyperlink" Target="https://arxiv.org/abs/1902.04023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2.04023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2.04023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arxiv.org/abs/1902.04023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2.04023" TargetMode="External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2.04023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2.04023" TargetMode="Externa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arxiv.org/abs/1902.04023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igquery/docs/reference/standard-sql/kll_functions" TargetMode="External"/><Relationship Id="rId2" Type="http://schemas.openxmlformats.org/officeDocument/2006/relationships/hyperlink" Target="https://arxiv.org/abs/1603.05346v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hyperlink" Target="https://datasketches.apache.org/docs/KLL/KLLSketch.htm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hyperlink" Target="https://arxiv.org/abs/1603.05346v2" TargetMode="External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7" Type="http://schemas.openxmlformats.org/officeDocument/2006/relationships/hyperlink" Target="https://arxiv.org/abs/1603.05346v2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280.png"/><Relationship Id="rId4" Type="http://schemas.openxmlformats.org/officeDocument/2006/relationships/image" Target="../media/image17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hyperlink" Target="https://arxiv.org/abs/2004.01668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en.wikipedia.org/wiki/Geometric_distribution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8.png"/><Relationship Id="rId7" Type="http://schemas.openxmlformats.org/officeDocument/2006/relationships/image" Target="../media/image182.png"/><Relationship Id="rId2" Type="http://schemas.openxmlformats.org/officeDocument/2006/relationships/hyperlink" Target="https://en.wikipedia.org/wiki/Geometric_distribu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hyperlink" Target="https://arxiv.org/abs/1603.05346v2" TargetMode="External"/><Relationship Id="rId10" Type="http://schemas.openxmlformats.org/officeDocument/2006/relationships/image" Target="../media/image191.png"/><Relationship Id="rId4" Type="http://schemas.openxmlformats.org/officeDocument/2006/relationships/image" Target="../media/image30.png"/><Relationship Id="rId9" Type="http://schemas.openxmlformats.org/officeDocument/2006/relationships/image" Target="../media/image18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0.png"/><Relationship Id="rId4" Type="http://schemas.openxmlformats.org/officeDocument/2006/relationships/hyperlink" Target="https://arxiv.org/abs/1603.05346v2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0.png"/><Relationship Id="rId4" Type="http://schemas.openxmlformats.org/officeDocument/2006/relationships/hyperlink" Target="https://arxiv.org/abs/1603.05346v2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94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sketches.apache.org/docs/tdigest/tdigest.html" TargetMode="External"/><Relationship Id="rId4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sketches.apache.org/docs/tdigest/tdigest.html" TargetMode="Externa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ppubs.uspto.gov/api/pdf/downloadPdf/8768821?requestToken=eyJzdWIiOiIxZTViODZlZi0zOWZkLTRmZjUtOTFjOC0wNzM4OWY0OGRlMDYiLCJ2ZXIiOiIwMDZkOWE5NS0wNjIxLTQ3ODctOWVlOS00M2E1ZjY1Yjg2MzciLCJleHAiOjB9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94" y="1650469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Online Algorithms and Steaming Analytics,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894" y="416761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Online algorithms build on foundations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E339-66BA-BCD8-4B59-9C1D3A18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13EF-E093-09C1-6BA3-6C1E6B3C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Measures must be taken to reduce the massive volume of infinite stream data </a:t>
            </a:r>
          </a:p>
          <a:p>
            <a:r>
              <a:rPr lang="en-US" dirty="0"/>
              <a:t>Streams can be real-valued, binary, discrete-valued, </a:t>
            </a:r>
            <a:r>
              <a:rPr lang="en-US" dirty="0" err="1"/>
              <a:t>etc</a:t>
            </a:r>
            <a:r>
              <a:rPr lang="en-US" dirty="0"/>
              <a:t>… </a:t>
            </a:r>
          </a:p>
          <a:p>
            <a:r>
              <a:rPr lang="en-US" dirty="0"/>
              <a:t>Stream data is sampled and filtered to reduce volume</a:t>
            </a:r>
          </a:p>
          <a:p>
            <a:pPr lvl="1"/>
            <a:r>
              <a:rPr lang="en-US" dirty="0"/>
              <a:t>Sampling and sketch methods used for filter real valued streams</a:t>
            </a:r>
          </a:p>
          <a:p>
            <a:pPr lvl="1"/>
            <a:r>
              <a:rPr lang="en-US" dirty="0"/>
              <a:t>Hash and sketch methods used to filter discrete event streams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71B3C9-4F14-C72D-6AF7-B2CCD0704D2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268873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EA9F-5659-B1AB-77E4-63543268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A36C-B7B7-DD7B-1863-F0520B6024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Events - Cardinality</a:t>
            </a:r>
          </a:p>
        </p:txBody>
      </p:sp>
    </p:spTree>
    <p:extLst>
      <p:ext uri="{BB962C8B-B14F-4D97-AF65-F5344CB8AC3E}">
        <p14:creationId xmlns:p14="http://schemas.microsoft.com/office/powerpoint/2010/main" val="139573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Applications of cardinality – counting distinct events</a:t>
                </a:r>
                <a:endParaRPr lang="en-US" b="1" dirty="0"/>
              </a:p>
              <a:p>
                <a:r>
                  <a:rPr lang="en-US" dirty="0"/>
                  <a:t>Unique IP address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=1.6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Need to track IP address pairs for traffic routing and cybersecurity </a:t>
                </a:r>
              </a:p>
              <a:p>
                <a:r>
                  <a:rPr lang="en-US" dirty="0"/>
                  <a:t>Number of Facebook friend links assuming an average of 50 friends per user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Cardinality is a key metric of node degree</a:t>
                </a:r>
              </a:p>
              <a:p>
                <a:r>
                  <a:rPr lang="en-US" dirty="0"/>
                  <a:t>Number of unique inventory items processed – hundreds of millions </a:t>
                </a:r>
              </a:p>
              <a:p>
                <a:pPr lvl="1"/>
                <a:r>
                  <a:rPr lang="en-US" dirty="0"/>
                  <a:t>Speed delivery and reduce inventory cost</a:t>
                </a:r>
              </a:p>
              <a:p>
                <a:pPr lvl="1"/>
                <a:r>
                  <a:rPr lang="en-US" dirty="0"/>
                  <a:t>Required to find common combinations in orders </a:t>
                </a:r>
              </a:p>
              <a:p>
                <a:r>
                  <a:rPr lang="en-US" dirty="0"/>
                  <a:t>Etc. </a:t>
                </a:r>
              </a:p>
              <a:p>
                <a:r>
                  <a:rPr lang="en-US" dirty="0"/>
                  <a:t>We cannot just build a table for all keys and increment the values (count)!</a:t>
                </a:r>
              </a:p>
              <a:p>
                <a:r>
                  <a:rPr lang="en-US" dirty="0"/>
                  <a:t>We need a good sketch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043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83580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0FFF-E875-552A-4CE8-A1CE288BD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5F49C6-D755-2337-810E-FCF5081E7BC2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7D39905-14ED-2E74-16E1-81F558A01332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F792-2A68-4648-7B36-85AA009F9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68BE56-66E9-D55E-A41E-0A27BCC5D9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6D7B7ADC-7C78-69E7-412E-F9126012D129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1EB2295B-A2D9-FF51-AAB4-21C1FD5717F1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DC0388C-5134-D253-D845-936760AFCAA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529612-440B-FB1E-3F19-1D43D67B443E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C3EF1A6C-37F0-BCA2-6955-5B7BB8F484C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F621A7-60FD-26E9-CCB0-D8790D982D76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B38BD4-ACDC-BAC7-EB6F-2D729062162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50FB4C-D335-BB23-C540-40EBCC9594B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4103F035-6A9B-4AC3-9821-D7993740AF89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7AA12C-F30F-141E-A586-5547202473A4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4CEF96-A130-26F7-0DF2-E7F12E7818C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377B26-60F7-17E5-C4F1-D784B154630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5D2954-98F0-1BC4-4516-485A3FCC9ABD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BB50F21-EF10-D39A-8976-6971E2D83531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248D9A8-AF91-AB0A-EBD3-E0D6AFA2F288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6CFDCA-08CF-8087-988D-20B9B1EE7328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2892CD-B72F-AFBF-A9C9-1D603228A175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968281-2875-EB55-3918-3CF297FA26E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37700D-2F02-9453-41F4-2067B115C737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CAD7FA-960A-90CC-4B36-36D7D988AE7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12ADF90-B8F7-62BA-0FDE-EB705F513B3C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12ADF90-B8F7-62BA-0FDE-EB705F513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196F3B64-03A6-3DC8-BB55-D38CDB63379F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C502A8-9978-13DD-F33C-34602D33545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4B346E-E7FE-70AC-68E1-F39C40DB3036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4FEB3E-6A4C-E91B-694F-546E30125FB8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F23209-83D4-03EF-73B2-ECA85A8A4D3E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DB314E-9A69-8C1B-B0E6-BA190D82B571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DEE235-CD78-DC25-7777-6D6FDD33F47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8680E6-CD95-90ED-121A-ED781CBBDB2D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6C24669-623C-9990-15D7-740A4448189B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AD01A58-2B73-9204-3A3D-EBA7CAE1861E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FC5E09-739C-2075-2FF6-7716F4C1006F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19898FE-041A-5E98-A81F-55C6979EEEF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8E8C8D-7415-7CD2-723E-97209D7A4C06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F7E98CC-C6F0-2C16-11A7-72C4FB863E6F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3E42ACB-02FA-A2AD-386C-D32A47DDCBDC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2D2F616-22CF-9D5D-9F20-0728671D5A75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F6D45F4-56DB-2C41-1FC5-A92769951A5E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B4B2A4-2E6A-A3BD-1DF1-2B2B96EE174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AE2C40-4E0E-9D91-93F6-D179C5ACD15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90BBC4-2FC4-8D16-8D6B-1677C9A6418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5BED6D-B02D-BF96-DB0D-0A296BFDF0C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000731-E8D9-B57A-6E46-B1D2EC1E9D96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24DA504-E27D-B374-AB08-58F190735C43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9DE4805-C686-B62C-09EF-C46E05EC00D6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939F7E-EAC7-400A-42CF-53957BD64E17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494A14-DD78-541B-E4F1-6507230CB142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68A5A55-65D8-D527-61F1-1BC0A8AA497E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96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How to determine cardinality? </a:t>
            </a:r>
            <a:endParaRPr lang="en-US" sz="3200" b="1" dirty="0"/>
          </a:p>
          <a:p>
            <a:r>
              <a:rPr lang="en-US" dirty="0"/>
              <a:t>Maintain table of unique identifiers? </a:t>
            </a:r>
          </a:p>
          <a:p>
            <a:pPr lvl="1"/>
            <a:r>
              <a:rPr lang="en-US" dirty="0"/>
              <a:t>Table can grow without bounds </a:t>
            </a:r>
          </a:p>
          <a:p>
            <a:pPr lvl="1"/>
            <a:r>
              <a:rPr lang="en-US" dirty="0"/>
              <a:t>Need billions of entries for many applications</a:t>
            </a:r>
          </a:p>
          <a:p>
            <a:pPr lvl="1"/>
            <a:r>
              <a:rPr lang="en-US" dirty="0"/>
              <a:t>Not scalable! </a:t>
            </a:r>
          </a:p>
          <a:p>
            <a:r>
              <a:rPr lang="en-US" dirty="0"/>
              <a:t>We need a better approach!</a:t>
            </a:r>
          </a:p>
          <a:p>
            <a:r>
              <a:rPr lang="en-US" dirty="0"/>
              <a:t>Accept approximate results using a </a:t>
            </a:r>
            <a:r>
              <a:rPr lang="en-US" b="1" dirty="0"/>
              <a:t>sketch</a:t>
            </a:r>
            <a:r>
              <a:rPr lang="en-US" dirty="0"/>
              <a:t>, or hash summary, of full data</a:t>
            </a:r>
          </a:p>
          <a:p>
            <a:r>
              <a:rPr lang="en-US" dirty="0"/>
              <a:t>Sketch algorithms are built on two concepts   </a:t>
            </a:r>
          </a:p>
          <a:p>
            <a:pPr lvl="1"/>
            <a:r>
              <a:rPr lang="en-US" dirty="0"/>
              <a:t>Probabilistic sampling </a:t>
            </a:r>
          </a:p>
          <a:p>
            <a:pPr lvl="1"/>
            <a:r>
              <a:rPr lang="en-US" dirty="0"/>
              <a:t>Hash tables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418554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Approximate counting algorithms used for streaming data</a:t>
            </a:r>
          </a:p>
          <a:p>
            <a:r>
              <a:rPr lang="en-US" dirty="0"/>
              <a:t>Sketch algorithms built on probability analysis of bit map hashes</a:t>
            </a:r>
          </a:p>
          <a:p>
            <a:r>
              <a:rPr lang="en-US" dirty="0" err="1"/>
              <a:t>Flajolet</a:t>
            </a:r>
            <a:r>
              <a:rPr lang="en-US" dirty="0"/>
              <a:t>-Martin algorithm proposed 1985</a:t>
            </a:r>
          </a:p>
          <a:p>
            <a:pPr lvl="1"/>
            <a:r>
              <a:rPr lang="en-US" dirty="0"/>
              <a:t>Improvement: </a:t>
            </a:r>
            <a:r>
              <a:rPr lang="en-US" dirty="0" err="1"/>
              <a:t>LogLog</a:t>
            </a:r>
            <a:r>
              <a:rPr lang="en-US" dirty="0"/>
              <a:t> algorithm, </a:t>
            </a:r>
            <a:r>
              <a:rPr lang="en-US" dirty="0">
                <a:hlinkClick r:id="rId2"/>
              </a:rPr>
              <a:t>Durand and </a:t>
            </a:r>
            <a:r>
              <a:rPr lang="en-US" dirty="0" err="1">
                <a:hlinkClick r:id="rId2"/>
              </a:rPr>
              <a:t>Flajolet</a:t>
            </a:r>
            <a:r>
              <a:rPr lang="en-US" dirty="0">
                <a:hlinkClick r:id="rId2"/>
              </a:rPr>
              <a:t>, 2003 </a:t>
            </a:r>
            <a:endParaRPr lang="en-US" dirty="0"/>
          </a:p>
          <a:p>
            <a:pPr lvl="1"/>
            <a:r>
              <a:rPr lang="en-US" dirty="0"/>
              <a:t>Improvement: </a:t>
            </a:r>
            <a:r>
              <a:rPr lang="en-US" dirty="0" err="1">
                <a:hlinkClick r:id="rId3"/>
              </a:rPr>
              <a:t>HyperLogLog</a:t>
            </a:r>
            <a:r>
              <a:rPr lang="en-US" dirty="0">
                <a:hlinkClick r:id="rId3"/>
              </a:rPr>
              <a:t> algorithm </a:t>
            </a:r>
            <a:r>
              <a:rPr lang="en-US" dirty="0"/>
              <a:t>more accurate, 2007</a:t>
            </a:r>
          </a:p>
          <a:p>
            <a:pPr lvl="1"/>
            <a:r>
              <a:rPr lang="en-US" dirty="0"/>
              <a:t>Refinement: </a:t>
            </a:r>
            <a:r>
              <a:rPr lang="en-US" dirty="0" err="1"/>
              <a:t>HyperLogLog</a:t>
            </a:r>
            <a:r>
              <a:rPr lang="en-US" dirty="0"/>
              <a:t>++, </a:t>
            </a:r>
            <a:r>
              <a:rPr lang="en-US" dirty="0">
                <a:hlinkClick r:id="rId4"/>
              </a:rPr>
              <a:t>Heule, et. al., 2013</a:t>
            </a:r>
            <a:endParaRPr lang="en-US" dirty="0"/>
          </a:p>
          <a:p>
            <a:r>
              <a:rPr lang="en-US" dirty="0"/>
              <a:t>Other state-of-the-art algorithms offer some improvements</a:t>
            </a:r>
          </a:p>
          <a:p>
            <a:pPr lvl="1"/>
            <a:r>
              <a:rPr lang="en-US" dirty="0"/>
              <a:t>Theta sketch, </a:t>
            </a:r>
            <a:r>
              <a:rPr lang="en-US" dirty="0" err="1">
                <a:hlinkClick r:id="rId5"/>
              </a:rPr>
              <a:t>Rimberg</a:t>
            </a:r>
            <a:r>
              <a:rPr lang="en-US" dirty="0">
                <a:hlinkClick r:id="rId5"/>
              </a:rPr>
              <a:t>, 2019</a:t>
            </a:r>
            <a:endParaRPr lang="en-US" dirty="0"/>
          </a:p>
          <a:p>
            <a:pPr lvl="1"/>
            <a:r>
              <a:rPr lang="en-US" dirty="0"/>
              <a:t>Compressed Probabilistic Counting, </a:t>
            </a:r>
            <a:r>
              <a:rPr lang="en-US" dirty="0">
                <a:hlinkClick r:id="rId6"/>
              </a:rPr>
              <a:t>Ertl, 2024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1800" dirty="0"/>
              <a:t>For a review of many variations discrete events for large-scale streams see Chapter 5 of </a:t>
            </a:r>
            <a:r>
              <a:rPr lang="en-US" sz="1800" dirty="0">
                <a:hlinkClick r:id="rId7"/>
              </a:rPr>
              <a:t>Algorithms and Structures for Massive Data Sets, </a:t>
            </a:r>
            <a:r>
              <a:rPr lang="en-US" sz="1800" dirty="0" err="1">
                <a:hlinkClick r:id="rId7"/>
              </a:rPr>
              <a:t>Medjodovic</a:t>
            </a:r>
            <a:r>
              <a:rPr lang="en-US" sz="1800" dirty="0">
                <a:hlinkClick r:id="rId7"/>
              </a:rPr>
              <a:t>, et al., 2022, Manning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- Cardinality</a:t>
            </a:r>
          </a:p>
        </p:txBody>
      </p:sp>
    </p:spTree>
    <p:extLst>
      <p:ext uri="{BB962C8B-B14F-4D97-AF65-F5344CB8AC3E}">
        <p14:creationId xmlns:p14="http://schemas.microsoft.com/office/powerpoint/2010/main" val="59200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3068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Using binary hash to estimate cardinality </a:t>
                </a:r>
              </a:p>
              <a:p>
                <a:r>
                  <a:rPr lang="en-US" dirty="0"/>
                  <a:t>Consider the binary hash,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dirty="0"/>
                  <a:t>, of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for identifier,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Each hash has some number of trailing zeros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≤#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𝑡𝑟𝑎𝑖𝑙𝑖𝑛𝑔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𝑧𝑒𝑟𝑜𝑠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Example, with hash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dirty="0"/>
                  <a:t> and event type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 cardinality 3: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=011100100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=0111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Minimum number of trailing 0s = 1, then add 1 </a:t>
                </a:r>
              </a:p>
              <a:p>
                <a:pPr marL="457200" lvl="1" indent="0">
                  <a:buNone/>
                </a:pPr>
                <a:r>
                  <a:rPr lang="en-US" dirty="0"/>
                  <a:t>Estimate of cardinality for these hashes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0.77351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=5.2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306829"/>
              </a:xfrm>
              <a:blipFill>
                <a:blip r:embed="rId2"/>
                <a:stretch>
                  <a:fillRect l="-1217" t="-183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377630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25974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Using binary hash to estimate </a:t>
                </a:r>
                <a:r>
                  <a:rPr lang="en-US" sz="3000" dirty="0"/>
                  <a:t>cardinality </a:t>
                </a:r>
              </a:p>
              <a:p>
                <a:r>
                  <a:rPr lang="en-US" dirty="0"/>
                  <a:t>Why do the least significant 0 bits approximate log cardinality? </a:t>
                </a:r>
              </a:p>
              <a:p>
                <a:r>
                  <a:rPr lang="en-US" dirty="0"/>
                  <a:t>Consider a uniformly distributed binary hash function </a:t>
                </a:r>
              </a:p>
              <a:p>
                <a:pPr lvl="1"/>
                <a:r>
                  <a:rPr lang="en-US" dirty="0"/>
                  <a:t>Least significant bit,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has probabilities like a sequence of fair coin tosses: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𝑡𝑎𝑖𝑙𝑠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ℎ𝑒𝑎𝑑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 Or, probability of least significant bit,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one trailing zero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 assume uniform distribution of binary hash values  </a:t>
                </a:r>
              </a:p>
              <a:p>
                <a:pPr lvl="1"/>
                <a:r>
                  <a:rPr lang="en-US" dirty="0"/>
                  <a:t>For least significant bit,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least 1 significant bit,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=1/4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least 2 significant bits,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=1/8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Another </a:t>
                </a:r>
                <a:r>
                  <a:rPr lang="en-US" b="1" dirty="0">
                    <a:hlinkClick r:id="rId2"/>
                  </a:rPr>
                  <a:t>Geometric distribution!</a:t>
                </a:r>
                <a:endParaRPr lang="en-US" b="1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259746"/>
              </a:xfrm>
              <a:blipFill>
                <a:blip r:embed="rId3"/>
                <a:stretch>
                  <a:fillRect l="-1391" t="-2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319838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F5F2-3FB5-15A7-F606-163B7BCE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F0720-B6B3-AD51-1032-3AA091DFD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138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hlinkClick r:id="rId2"/>
                  </a:rPr>
                  <a:t>Flajolet-Martin</a:t>
                </a:r>
                <a:r>
                  <a:rPr lang="en-US" dirty="0"/>
                  <a:t> algorithm for cardinality </a:t>
                </a:r>
                <a:endParaRPr lang="en-US" b="1" dirty="0"/>
              </a:p>
              <a:p>
                <a:r>
                  <a:rPr lang="en-US" dirty="0"/>
                  <a:t>Use binary hash values of event identifiers</a:t>
                </a:r>
              </a:p>
              <a:p>
                <a:pPr lvl="1"/>
                <a:r>
                  <a:rPr lang="en-US" dirty="0"/>
                  <a:t>For string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binary representation,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has range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0;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, a binary string of length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bit hash is written: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𝑏𝑖𝑡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𝑡ℎ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𝑏𝑖𝑡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F0720-B6B3-AD51-1032-3AA091DFD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138767"/>
              </a:xfrm>
              <a:blipFill>
                <a:blip r:embed="rId3"/>
                <a:stretch>
                  <a:fillRect l="-1217" t="-1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3A305B4-DB56-0457-D7EE-6987988BA60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76895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9DE4-61F4-EFDF-EFA5-DD6A84A0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A1415E-5F79-BA37-0603-090C7FDC3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138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hlinkClick r:id="rId2"/>
                  </a:rPr>
                  <a:t>Flajolet-Martin</a:t>
                </a:r>
                <a:r>
                  <a:rPr lang="en-US" dirty="0"/>
                  <a:t> algorithm for cardinality </a:t>
                </a:r>
                <a:endParaRPr lang="en-US" b="1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bit hash is written: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𝑏𝑖𝑡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𝑏𝑖𝑡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least significant 1 bit for binary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expressed:   </a:t>
                </a:r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≥0,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𝑏𝑖𝑡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A1415E-5F79-BA37-0603-090C7FDC3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138767"/>
              </a:xfrm>
              <a:blipFill>
                <a:blip r:embed="rId3"/>
                <a:stretch>
                  <a:fillRect l="-1217" t="-1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8F6F3E9-01BD-D2B7-F4A7-ADF4479B635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213618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33B5-B869-0855-D8E6-461A18F7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E75C6A-6263-A9C8-A730-6C4162D15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138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hlinkClick r:id="rId2"/>
                  </a:rPr>
                  <a:t>Flajolet-Martin</a:t>
                </a:r>
                <a:r>
                  <a:rPr lang="en-US" dirty="0"/>
                  <a:t> algorithm for cardinality </a:t>
                </a:r>
                <a:endParaRPr lang="en-US" b="1" dirty="0"/>
              </a:p>
              <a:p>
                <a:r>
                  <a:rPr lang="en-US" dirty="0"/>
                  <a:t>The least significant 1 bit for binary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expressed:   </a:t>
                </a:r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≥0,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𝑏𝑖𝑡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Uniform distribution of bits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Geometric distribution of trailing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𝑡𝑟𝑖𝑎𝑙𝑖𝑛𝑔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E75C6A-6263-A9C8-A730-6C4162D15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138767"/>
              </a:xfrm>
              <a:blipFill>
                <a:blip r:embed="rId3"/>
                <a:stretch>
                  <a:fillRect l="-1217" t="-1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6870A41-DB6E-516A-0641-9FC8658E57F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02961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Flajolet-Martin algorithm for cardinality </a:t>
                </a:r>
              </a:p>
              <a:p>
                <a:r>
                  <a:rPr lang="en-US" dirty="0"/>
                  <a:t>The least significant 1 bit for binary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expressed:   </a:t>
                </a:r>
              </a:p>
              <a:p>
                <a:pPr marL="0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𝑏𝑖𝑡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Example with 5-bit hash: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=10011, 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=1001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Special case, maximum cardinality for hash: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77361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842290" cy="520650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Flajolet-Martin algorithm for set of events M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Initialize bitmap of 0s of length L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 x in stream: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𝑏𝑖𝑡𝑚𝑎𝑝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𝑏𝑖𝑡𝑚𝑎𝑝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least significant nonzero bit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cardinality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endParaRPr lang="en-US" b="0" i="1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Where the bias correction,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=0.77351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842290" cy="5206501"/>
              </a:xfrm>
              <a:blipFill>
                <a:blip r:embed="rId2"/>
                <a:stretch>
                  <a:fillRect l="-1012" t="-1756" b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386979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Improving accuracy of </a:t>
                </a:r>
                <a:r>
                  <a:rPr lang="en-US" dirty="0" err="1"/>
                  <a:t>Flajolet</a:t>
                </a:r>
                <a:r>
                  <a:rPr lang="en-US" dirty="0"/>
                  <a:t>-Martin algorithm</a:t>
                </a:r>
              </a:p>
              <a:p>
                <a:r>
                  <a:rPr lang="en-US" dirty="0"/>
                  <a:t>Accuracy of single estimate is poor</a:t>
                </a:r>
              </a:p>
              <a:p>
                <a:r>
                  <a:rPr lang="en-US" dirty="0"/>
                  <a:t>Idea; use multiple hash functions    </a:t>
                </a:r>
              </a:p>
              <a:p>
                <a:r>
                  <a:rPr lang="en-US" dirty="0"/>
                  <a:t>Cannot simply average results from multiple hash functions </a:t>
                </a:r>
              </a:p>
              <a:p>
                <a:pPr lvl="1"/>
                <a:r>
                  <a:rPr lang="en-US" dirty="0"/>
                  <a:t>Mean heavily influenced by outliers   </a:t>
                </a:r>
              </a:p>
              <a:p>
                <a:pPr lvl="1"/>
                <a:r>
                  <a:rPr lang="en-US" dirty="0"/>
                  <a:t>Median is more robust, but biased    </a:t>
                </a:r>
              </a:p>
              <a:p>
                <a:r>
                  <a:rPr lang="en-US" dirty="0"/>
                  <a:t>Solution:  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dirty="0" err="1">
                    <a:hlinkClick r:id="rId2"/>
                  </a:rPr>
                  <a:t>hyperloglog</a:t>
                </a:r>
                <a:r>
                  <a:rPr lang="en-US" dirty="0">
                    <a:hlinkClick r:id="rId2"/>
                  </a:rPr>
                  <a:t> algorithm of </a:t>
                </a:r>
                <a:r>
                  <a:rPr lang="en-US" dirty="0" err="1">
                    <a:hlinkClick r:id="rId2"/>
                  </a:rPr>
                  <a:t>Flajolet</a:t>
                </a:r>
                <a:r>
                  <a:rPr lang="en-US" dirty="0">
                    <a:hlinkClick r:id="rId2"/>
                  </a:rPr>
                  <a:t>, et. al, 2007</a:t>
                </a:r>
                <a:endParaRPr lang="en-US" dirty="0"/>
              </a:p>
              <a:p>
                <a:pPr lvl="1"/>
                <a:r>
                  <a:rPr lang="en-US" dirty="0"/>
                  <a:t>Split hash function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groups </a:t>
                </a:r>
              </a:p>
              <a:p>
                <a:pPr lvl="1"/>
                <a:r>
                  <a:rPr lang="en-US" dirty="0"/>
                  <a:t>Compute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max values</a:t>
                </a:r>
              </a:p>
              <a:p>
                <a:pPr lvl="1"/>
                <a:r>
                  <a:rPr lang="en-US" dirty="0"/>
                  <a:t>Take </a:t>
                </a:r>
                <a:r>
                  <a:rPr lang="en-US" dirty="0">
                    <a:hlinkClick r:id="rId3"/>
                  </a:rPr>
                  <a:t>harmonic mean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maximums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4"/>
                <a:stretch>
                  <a:fillRect l="-1217" t="-1966" b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384873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Probabilistic sampling and stochastic averaging</a:t>
                </a:r>
              </a:p>
              <a:p>
                <a:r>
                  <a:rPr lang="en-US" dirty="0"/>
                  <a:t>Need to generate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independent samples </a:t>
                </a:r>
                <a:r>
                  <a:rPr lang="en-US" dirty="0"/>
                  <a:t>for stochastic averaging </a:t>
                </a:r>
              </a:p>
              <a:p>
                <a:r>
                  <a:rPr lang="en-US" dirty="0"/>
                  <a:t>Idea; 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hash functions   </a:t>
                </a:r>
              </a:p>
              <a:p>
                <a:pPr lvl="1"/>
                <a:r>
                  <a:rPr lang="en-US" dirty="0"/>
                  <a:t>Slow to compute multiple hash functions </a:t>
                </a:r>
              </a:p>
              <a:p>
                <a:pPr lvl="1"/>
                <a:r>
                  <a:rPr lang="en-US" dirty="0"/>
                  <a:t>Storing hash table for each hash function uses too much memory   </a:t>
                </a:r>
              </a:p>
              <a:p>
                <a:r>
                  <a:rPr lang="en-US" dirty="0"/>
                  <a:t>Solution; use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 of binary hash function to 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:r>
                  <a:rPr lang="en-US" dirty="0"/>
                  <a:t>Store least significant bits in bucket</a:t>
                </a:r>
              </a:p>
              <a:p>
                <a:r>
                  <a:rPr lang="en-US" dirty="0"/>
                  <a:t>Data structure is another example of a </a:t>
                </a:r>
                <a:r>
                  <a:rPr lang="en-US" b="1" dirty="0"/>
                  <a:t>sketch</a:t>
                </a:r>
                <a:r>
                  <a:rPr lang="en-US" dirty="0"/>
                  <a:t>, an approximate representation of the exact result from full dataset   </a:t>
                </a:r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9207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Probabilistic sampling and stochastic averaging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5722088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Hash table for probabilistic sampling </a:t>
                </a:r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0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 for hash bucket</a:t>
                </a:r>
              </a:p>
              <a:p>
                <a:pPr lvl="1"/>
                <a:r>
                  <a:rPr lang="en-US" dirty="0"/>
                  <a:t>Use first </a:t>
                </a:r>
                <a:r>
                  <a:rPr lang="en-US" dirty="0">
                    <a:latin typeface="Cambria Math" panose="02040503050406030204" pitchFamily="18" charset="0"/>
                  </a:rPr>
                  <a:t>𝑏</a:t>
                </a:r>
                <a:r>
                  <a:rPr lang="en-US" dirty="0"/>
                  <a:t> bits to address </a:t>
                </a:r>
                <a:r>
                  <a:rPr lang="en-US" dirty="0">
                    <a:latin typeface="Cambria Math" panose="02040503050406030204" pitchFamily="18" charset="0"/>
                  </a:rPr>
                  <a:t>𝑚</a:t>
                </a:r>
                <a:r>
                  <a:rPr lang="en-US" dirty="0"/>
                  <a:t> buckets, 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≥16=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LSB in buckets to compute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Sampling is noisy with </a:t>
                </a:r>
                <a:r>
                  <a:rPr lang="en-US" b="1" dirty="0">
                    <a:solidFill>
                      <a:srgbClr val="FF0000"/>
                    </a:solidFill>
                  </a:rPr>
                  <a:t>outliers</a:t>
                </a:r>
                <a:r>
                  <a:rPr lang="en-US" dirty="0"/>
                  <a:t>, high and low</a:t>
                </a:r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5722088" cy="4396501"/>
              </a:xfrm>
              <a:prstGeom prst="rect">
                <a:avLst/>
              </a:prstGeom>
              <a:blipFill>
                <a:blip r:embed="rId3"/>
                <a:stretch>
                  <a:fillRect l="-2239" t="-2358" r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493231" y="4665988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486049" y="3155921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486049" y="315592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049" y="3155922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t="-23529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486049" y="34685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049" y="34685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t="-23077" b="-461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751545" y="4665988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744363" y="3155921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744363" y="315592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363" y="3155922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744363" y="34685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363" y="3468568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9493228" y="2694256"/>
            <a:ext cx="125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Bucket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744363" y="2711912"/>
            <a:ext cx="1258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LSB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6282470" y="307716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=10010100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470" y="307716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6289651" y="3396788"/>
                <a:ext cx="3541955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=10100110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651" y="3396788"/>
                <a:ext cx="3541955" cy="491417"/>
              </a:xfrm>
              <a:prstGeom prst="rect">
                <a:avLst/>
              </a:prstGeom>
              <a:blipFill>
                <a:blip r:embed="rId9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6289650" y="371521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=11011111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650" y="371521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6296831" y="464325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=00000000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831" y="464325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6304013" y="497361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=00111100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13" y="497361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486049" y="376906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049" y="3769062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765097" y="37762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𝟏𝟏𝟏𝟏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5097" y="377626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765097" y="465327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5097" y="4653278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779461" y="497368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1100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9461" y="4973688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506783" y="46923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3" y="469233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t="-23529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528326" y="4996253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326" y="4996253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10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2" grpId="0"/>
      <p:bldP spid="53" grpId="0"/>
      <p:bldP spid="54" grpId="0" animBg="1"/>
      <p:bldP spid="55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Probabilistic sampling and stochastic averaging</a:t>
                </a:r>
              </a:p>
              <a:p>
                <a:r>
                  <a:rPr lang="en-US" dirty="0"/>
                  <a:t>Need a stochastic averaging algorithm insensitive to outliers from probabilistic sampling    </a:t>
                </a:r>
              </a:p>
              <a:p>
                <a:r>
                  <a:rPr lang="en-US" dirty="0"/>
                  <a:t>Originally used arithmetic mean, but too susceptible to outliers 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LogLog</a:t>
                </a:r>
                <a:r>
                  <a:rPr lang="en-US" dirty="0"/>
                  <a:t> algorithm uses </a:t>
                </a:r>
                <a:r>
                  <a:rPr lang="en-US" b="1" dirty="0"/>
                  <a:t>geometric mean</a:t>
                </a:r>
                <a:r>
                  <a:rPr lang="en-US" dirty="0"/>
                  <a:t>, an improvement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HyperLogLog</a:t>
                </a:r>
                <a:r>
                  <a:rPr lang="en-US" dirty="0"/>
                  <a:t> algorithm uses </a:t>
                </a:r>
                <a:r>
                  <a:rPr lang="en-US" b="1" dirty="0"/>
                  <a:t>harmonic mean</a:t>
                </a:r>
              </a:p>
              <a:p>
                <a:pPr lvl="1"/>
                <a:r>
                  <a:rPr lang="en-US" dirty="0"/>
                  <a:t>Harmonic mean is suitable for heavy-tailed distributions, e.g. outliers</a:t>
                </a:r>
              </a:p>
              <a:p>
                <a:pPr lvl="1" algn="just"/>
                <a:r>
                  <a:rPr lang="en-US" dirty="0"/>
                  <a:t>Harmonic mean of the buckets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𝑏𝑢𝑐𝑘𝑒𝑡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329300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Probabilistic sampling and stochastic averaging</a:t>
                </a:r>
              </a:p>
              <a:p>
                <a:pPr algn="just"/>
                <a:r>
                  <a:rPr lang="en-US" dirty="0"/>
                  <a:t>Harmonic mean of the buckets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𝑏𝑢𝑐𝑘𝑒𝑡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bias adjusted harmonic mean over all buckets is then  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𝑏𝑢𝑐𝑘𝑒𝑡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With bias adjustment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nary>
                                <m:nary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2+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1+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 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func>
                                        <m:funcPr>
                                          <m:ctrl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ln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func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043" t="-3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212177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36907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Probabilistic sampling and stochastic averaging</a:t>
                </a:r>
              </a:p>
              <a:p>
                <a:r>
                  <a:rPr lang="en-US" dirty="0"/>
                  <a:t>The bias adjusted harmonic mean over all buckets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𝑏𝑢𝑐𝑘𝑒𝑡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With bias adjustment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 </m:t>
                                  </m:r>
                                  <m:f>
                                    <m:f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ln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func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r>
                  <a:rPr lang="en-US" dirty="0" err="1"/>
                  <a:t>Flajolet</a:t>
                </a:r>
                <a:r>
                  <a:rPr lang="en-US" dirty="0"/>
                  <a:t> et. al., 2007, recommend the following bias adjustments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=0.673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=0.697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=0.709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0.723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1.079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≥128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 err="1">
                    <a:ea typeface="Cambria Math" panose="02040503050406030204" pitchFamily="18" charset="0"/>
                    <a:hlinkClick r:id="rId2"/>
                  </a:rPr>
                  <a:t>Heule</a:t>
                </a:r>
                <a:r>
                  <a:rPr lang="en-US" dirty="0">
                    <a:ea typeface="Cambria Math" panose="02040503050406030204" pitchFamily="18" charset="0"/>
                    <a:hlinkClick r:id="rId2"/>
                  </a:rPr>
                  <a:t>, et. al., 2013</a:t>
                </a:r>
                <a:r>
                  <a:rPr lang="en-US" dirty="0">
                    <a:ea typeface="Cambria Math" panose="02040503050406030204" pitchFamily="18" charset="0"/>
                  </a:rPr>
                  <a:t>, recommend slightly different bias adjustments the </a:t>
                </a:r>
                <a:r>
                  <a:rPr lang="en-US" dirty="0" err="1">
                    <a:ea typeface="Cambria Math" panose="02040503050406030204" pitchFamily="18" charset="0"/>
                  </a:rPr>
                  <a:t>HyperLogLog</a:t>
                </a:r>
                <a:r>
                  <a:rPr lang="en-US" dirty="0">
                    <a:ea typeface="Cambria Math" panose="02040503050406030204" pitchFamily="18" charset="0"/>
                  </a:rPr>
                  <a:t>++ algorithm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369077"/>
              </a:xfrm>
              <a:blipFill>
                <a:blip r:embed="rId3"/>
                <a:stretch>
                  <a:fillRect l="-928" t="-2611" b="-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293100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HyperLogLog error and space requirements 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LogLog</a:t>
                </a:r>
                <a:r>
                  <a:rPr lang="en-US" dirty="0"/>
                  <a:t> algorithm, </a:t>
                </a:r>
                <a:r>
                  <a:rPr lang="en-US" dirty="0">
                    <a:hlinkClick r:id="rId2"/>
                  </a:rPr>
                  <a:t>Durand and </a:t>
                </a:r>
                <a:r>
                  <a:rPr lang="en-US" dirty="0" err="1">
                    <a:hlinkClick r:id="rId2"/>
                  </a:rPr>
                  <a:t>Flajolet</a:t>
                </a:r>
                <a:r>
                  <a:rPr lang="en-US" dirty="0">
                    <a:hlinkClick r:id="rId2"/>
                  </a:rPr>
                  <a:t>, 2003</a:t>
                </a:r>
                <a:r>
                  <a:rPr lang="en-US" dirty="0"/>
                  <a:t>, is highly space efficient</a:t>
                </a:r>
              </a:p>
              <a:p>
                <a:r>
                  <a:rPr lang="en-US" dirty="0"/>
                  <a:t>Example;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dirty="0"/>
                  <a:t> 8-byte integers counters, required space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8=16384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×8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𝐾𝐵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can do better than this! </a:t>
                </a:r>
              </a:p>
              <a:p>
                <a:r>
                  <a:rPr lang="en-US" dirty="0"/>
                  <a:t>If we only need up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cardinality, then only need counter of length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Example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total storage requirement is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Example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𝐾𝐵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3"/>
                <a:stretch>
                  <a:fillRect l="-1217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53652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3" y="1324928"/>
                <a:ext cx="3946614" cy="531938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HyperLogLog error and space requirements </a:t>
                </a:r>
              </a:p>
              <a:p>
                <a:r>
                  <a:rPr lang="en-US" dirty="0" err="1"/>
                  <a:t>Flajoet</a:t>
                </a:r>
                <a:r>
                  <a:rPr lang="en-US" dirty="0"/>
                  <a:t>, et. al., 2007, show that the </a:t>
                </a:r>
                <a:r>
                  <a:rPr lang="en-US" b="1" dirty="0"/>
                  <a:t>empirical error </a:t>
                </a:r>
                <a:r>
                  <a:rPr lang="en-US" dirty="0"/>
                  <a:t>of the </a:t>
                </a:r>
                <a:r>
                  <a:rPr lang="en-US" dirty="0" err="1"/>
                  <a:t>HyperLogLog</a:t>
                </a:r>
                <a:r>
                  <a:rPr lang="en-US" dirty="0"/>
                  <a:t>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1.04/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Example,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1%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Flajoet</a:t>
                </a:r>
                <a:r>
                  <a:rPr lang="en-US" dirty="0"/>
                  <a:t>, et. al., 2007, show an empirical comparison of algorithms  </a:t>
                </a:r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3" y="1324928"/>
                <a:ext cx="3946614" cy="5319381"/>
              </a:xfrm>
              <a:blipFill>
                <a:blip r:embed="rId2"/>
                <a:stretch>
                  <a:fillRect l="-3246" t="-2520" r="-3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AA765-2D33-B6AA-F57D-B9C413799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25" y="1324929"/>
            <a:ext cx="7373149" cy="2036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83843-FAFE-6C7F-2150-6D6BB3583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779" y="3432678"/>
            <a:ext cx="6907696" cy="339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3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Aggregating </a:t>
            </a:r>
            <a:r>
              <a:rPr lang="en-US" dirty="0" err="1"/>
              <a:t>HyperLogLog</a:t>
            </a:r>
            <a:r>
              <a:rPr lang="en-US" dirty="0"/>
              <a:t> counters </a:t>
            </a:r>
          </a:p>
          <a:p>
            <a:r>
              <a:rPr lang="en-US" dirty="0"/>
              <a:t>Aggregation is an important property of many sketches</a:t>
            </a:r>
          </a:p>
          <a:p>
            <a:r>
              <a:rPr lang="en-US" dirty="0" err="1"/>
              <a:t>HyperLogLog</a:t>
            </a:r>
            <a:r>
              <a:rPr lang="en-US" dirty="0"/>
              <a:t> counters can be readily </a:t>
            </a:r>
            <a:r>
              <a:rPr lang="en-US" b="1" dirty="0"/>
              <a:t>merged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Example; counters by minute merged (aggregated) to counters by hour  </a:t>
            </a:r>
          </a:p>
          <a:p>
            <a:pPr lvl="1"/>
            <a:r>
              <a:rPr lang="en-US" dirty="0"/>
              <a:t>Example; counters by day merged to weekly or monthly</a:t>
            </a:r>
          </a:p>
          <a:p>
            <a:pPr lvl="1"/>
            <a:r>
              <a:rPr lang="en-US" dirty="0"/>
              <a:t>Example; counters for different streams merged into single estimate  </a:t>
            </a:r>
          </a:p>
          <a:p>
            <a:r>
              <a:rPr lang="en-US" dirty="0"/>
              <a:t>But we cannot just sum the total unique events over multiple periods!</a:t>
            </a:r>
          </a:p>
          <a:p>
            <a:pPr lvl="1"/>
            <a:r>
              <a:rPr lang="en-US" dirty="0"/>
              <a:t>Example; A user who is active several days of the month is only counted once aggregating daily to monthly   </a:t>
            </a:r>
          </a:p>
          <a:p>
            <a:pPr lvl="1"/>
            <a:r>
              <a:rPr lang="en-US" dirty="0"/>
              <a:t>A simple sum will count the user multiple times</a:t>
            </a:r>
          </a:p>
          <a:p>
            <a:r>
              <a:rPr lang="en-US" dirty="0"/>
              <a:t>Must </a:t>
            </a:r>
            <a:r>
              <a:rPr lang="en-US" b="1" dirty="0"/>
              <a:t>merge by union and then sum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175660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864028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Aggregating </a:t>
                </a:r>
                <a:r>
                  <a:rPr lang="en-US" dirty="0" err="1"/>
                  <a:t>HyperLogLog</a:t>
                </a:r>
                <a:r>
                  <a:rPr lang="en-US" dirty="0"/>
                  <a:t> counters </a:t>
                </a:r>
              </a:p>
              <a:p>
                <a:r>
                  <a:rPr lang="en-US" dirty="0"/>
                  <a:t>Must </a:t>
                </a:r>
                <a:r>
                  <a:rPr lang="en-US" b="1" dirty="0"/>
                  <a:t>merged by union, </a:t>
                </a:r>
                <a:r>
                  <a:rPr lang="en-US" b="1" i="1" dirty="0"/>
                  <a:t>U</a:t>
                </a:r>
                <a:r>
                  <a:rPr lang="en-US" b="1" dirty="0"/>
                  <a:t>, and then sum</a:t>
                </a:r>
                <a:endParaRPr lang="en-US" dirty="0"/>
              </a:p>
              <a:p>
                <a:r>
                  <a:rPr lang="en-US" dirty="0"/>
                  <a:t>For set of </a:t>
                </a:r>
                <a:r>
                  <a:rPr lang="en-US" i="1" dirty="0"/>
                  <a:t>n</a:t>
                </a:r>
                <a:r>
                  <a:rPr lang="en-US" dirty="0"/>
                  <a:t> HLLs,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ℎ𝑙𝑙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1,2,..,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ℎ𝑙𝑙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1,2,..,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ℎ𝑙𝑙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1,2,..,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compute union of max bucket values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1,2,..,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ℎ𝑙𝑙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1,2,..,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ℎ𝑙𝑙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1,2,..,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ℎ𝑙𝑙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1,2,..,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Example; union of two HLLs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ℎ𝑙𝑙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1,2,3,4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=[5, 3, 8, 12]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ℎ𝑙𝑙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1,2,3,4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=[5, 10, 3, 5]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1,2,3,4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=[5, 10, 8, 12]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864028" cy="4958516"/>
              </a:xfrm>
              <a:blipFill>
                <a:blip r:embed="rId2"/>
                <a:stretch>
                  <a:fillRect l="-1178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319429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HyperLogLog++, </a:t>
                </a:r>
                <a:r>
                  <a:rPr lang="en-US" dirty="0" err="1">
                    <a:hlinkClick r:id="rId2"/>
                  </a:rPr>
                  <a:t>Heule</a:t>
                </a:r>
                <a:r>
                  <a:rPr lang="en-US" dirty="0">
                    <a:hlinkClick r:id="rId2"/>
                  </a:rPr>
                  <a:t>, et. al., 2013</a:t>
                </a:r>
                <a:r>
                  <a:rPr lang="en-US" dirty="0"/>
                  <a:t>, from Google Research, incorporates some potential improvements</a:t>
                </a:r>
              </a:p>
              <a:p>
                <a:r>
                  <a:rPr lang="en-US" dirty="0"/>
                  <a:t>64 bit counters with 64 bit hash rather than 32 bit counters</a:t>
                </a:r>
              </a:p>
              <a:p>
                <a:r>
                  <a:rPr lang="en-US" dirty="0"/>
                  <a:t>Initialize registers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rather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, to prevent 0 from condition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   </a:t>
                </a:r>
              </a:p>
              <a:p>
                <a:r>
                  <a:rPr lang="en-US" dirty="0"/>
                  <a:t>Improved bias correction for small cardinality,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Large range correction to account for hash collisions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But, </a:t>
                </a:r>
                <a:r>
                  <a:rPr lang="en-US" dirty="0" err="1"/>
                  <a:t>HyperLogLog</a:t>
                </a:r>
                <a:r>
                  <a:rPr lang="en-US" dirty="0"/>
                  <a:t>++ requires more memory and performance may not actually improve depending on specific application  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3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</p:spTree>
    <p:extLst>
      <p:ext uri="{BB962C8B-B14F-4D97-AF65-F5344CB8AC3E}">
        <p14:creationId xmlns:p14="http://schemas.microsoft.com/office/powerpoint/2010/main" val="51562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6237584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HyperLogLog++, </a:t>
            </a:r>
            <a:r>
              <a:rPr lang="en-US" dirty="0" err="1">
                <a:hlinkClick r:id="rId2"/>
              </a:rPr>
              <a:t>Heule</a:t>
            </a:r>
            <a:r>
              <a:rPr lang="en-US" dirty="0">
                <a:hlinkClick r:id="rId2"/>
              </a:rPr>
              <a:t>, et. al., 2013</a:t>
            </a:r>
            <a:r>
              <a:rPr lang="en-US" dirty="0"/>
              <a:t>, from Google Research, incorporates some potential improvements</a:t>
            </a:r>
          </a:p>
          <a:p>
            <a:r>
              <a:rPr lang="en-US" dirty="0"/>
              <a:t>Comparison between algorithms shows </a:t>
            </a:r>
            <a:r>
              <a:rPr lang="en-US" dirty="0" err="1"/>
              <a:t>HyperLogLog</a:t>
            </a:r>
            <a:r>
              <a:rPr lang="en-US" dirty="0"/>
              <a:t> and </a:t>
            </a:r>
            <a:r>
              <a:rPr lang="en-US" dirty="0" err="1"/>
              <a:t>HyperLogLog</a:t>
            </a:r>
            <a:r>
              <a:rPr lang="en-US" dirty="0"/>
              <a:t>++ performance converge </a:t>
            </a:r>
          </a:p>
          <a:p>
            <a:r>
              <a:rPr lang="en-US" dirty="0"/>
              <a:t>Simple linear counting is best for low cardinality 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Distinct Events – Cardinality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154D3-CADE-5B6E-82FB-8AF63E336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657" y="1134762"/>
            <a:ext cx="4541158" cy="552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03040-43CE-B76A-8263-5E4E201A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DA7D-BCA3-E1A2-4F5D-E3C2A76E9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Estimating Quantiles in Streams </a:t>
            </a:r>
          </a:p>
        </p:txBody>
      </p:sp>
    </p:spTree>
    <p:extLst>
      <p:ext uri="{BB962C8B-B14F-4D97-AF65-F5344CB8AC3E}">
        <p14:creationId xmlns:p14="http://schemas.microsoft.com/office/powerpoint/2010/main" val="3192851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A9A4-511F-441C-EEE0-3FFD7C9A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4CCCE0-5D25-D7E6-35B6-1C950F500B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Estimating quantiles in infinite streams is a fundamental problem</a:t>
                </a:r>
              </a:p>
              <a:p>
                <a:r>
                  <a:rPr lang="en-US" dirty="0"/>
                  <a:t>Examples of applying quantile estimation in streams: </a:t>
                </a:r>
              </a:p>
              <a:p>
                <a:pPr lvl="1"/>
                <a:r>
                  <a:rPr lang="en-US" dirty="0"/>
                  <a:t>Medians</a:t>
                </a:r>
              </a:p>
              <a:p>
                <a:pPr lvl="1"/>
                <a:r>
                  <a:rPr lang="en-US" dirty="0"/>
                  <a:t>Distribution of </a:t>
                </a:r>
                <a:r>
                  <a:rPr lang="en-US" b="1" dirty="0"/>
                  <a:t>probability mass function </a:t>
                </a:r>
                <a:r>
                  <a:rPr lang="en-US" dirty="0"/>
                  <a:t>or </a:t>
                </a:r>
                <a:r>
                  <a:rPr lang="en-US" b="1" dirty="0"/>
                  <a:t>cumulative distribution functions</a:t>
                </a:r>
              </a:p>
              <a:p>
                <a:pPr lvl="1"/>
                <a:r>
                  <a:rPr lang="en-US" dirty="0"/>
                  <a:t>Extreme quartiles (</a:t>
                </a:r>
                <a:r>
                  <a:rPr lang="en-US" dirty="0" err="1"/>
                  <a:t>eg.</a:t>
                </a:r>
                <a:r>
                  <a:rPr lang="en-US" dirty="0"/>
                  <a:t> 0.001, 0.999) for </a:t>
                </a:r>
                <a:r>
                  <a:rPr lang="en-US" b="1" dirty="0"/>
                  <a:t>anomaly detection</a:t>
                </a:r>
                <a:r>
                  <a:rPr lang="en-US" dirty="0"/>
                  <a:t>  </a:t>
                </a:r>
              </a:p>
              <a:p>
                <a:r>
                  <a:rPr lang="en-US" dirty="0"/>
                  <a:t>Can we just use a naïve algorithm? </a:t>
                </a:r>
              </a:p>
              <a:p>
                <a:pPr lvl="1"/>
                <a:r>
                  <a:rPr lang="en-US" dirty="0"/>
                  <a:t>Accumulate values,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memory</a:t>
                </a:r>
              </a:p>
              <a:p>
                <a:pPr lvl="1"/>
                <a:r>
                  <a:rPr lang="en-US" dirty="0"/>
                  <a:t>Sort,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operations </a:t>
                </a:r>
              </a:p>
              <a:p>
                <a:r>
                  <a:rPr lang="en-US" b="1" dirty="0"/>
                  <a:t>Naïve algorithm is not scalable </a:t>
                </a:r>
              </a:p>
              <a:p>
                <a:r>
                  <a:rPr lang="en-US" dirty="0"/>
                  <a:t>Need a </a:t>
                </a:r>
                <a:r>
                  <a:rPr lang="en-US" b="1" dirty="0"/>
                  <a:t>sketch algorithm!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4CCCE0-5D25-D7E6-35B6-1C950F500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217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23B6D89-6E07-C67E-20D0-453FB3C2981F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Estimating Quantiles in Streams</a:t>
            </a:r>
          </a:p>
        </p:txBody>
      </p:sp>
    </p:spTree>
    <p:extLst>
      <p:ext uri="{BB962C8B-B14F-4D97-AF65-F5344CB8AC3E}">
        <p14:creationId xmlns:p14="http://schemas.microsoft.com/office/powerpoint/2010/main" val="264954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030D-8778-1D46-321E-A2A60BA0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3C21DE-0F8A-FA39-7723-FEFCE532D18E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20E9920-58C3-CA6E-3F4A-BD98EED2D936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902E-687B-83DD-434E-B647B0EB5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DBF9D3-9731-53F2-1F27-BB3B0240966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01C4EB3B-0038-BCC1-0B7E-2823B22A35F2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C86BA443-B6F4-BA94-3AD0-41B8E3C00009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FE9E029-A1AA-4912-B687-E25604780964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F2F9FA-5FB0-26F3-F134-48462964B6AF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36E7102-37F7-D643-635C-42DF88CACAE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35DF7A-1FB5-DC61-1A31-EDF9CD915CB4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B5040E-A5AB-43E8-E446-4EA14F11C3DF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1900CB-5B8B-CEAE-26E9-A4C46D9085C3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5D22E10C-6D99-0855-7686-879EB3AFF24B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89383F-54DD-187E-3E01-35D68844F421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F0C1AD-6003-CA38-7909-5A3ECEEAB571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0BD07-17DD-D0D1-82ED-AD49F40C455E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0DA424F-2C20-D812-0639-EF5FE1437690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4033F6E-ACC0-4E3A-228C-8238D3588722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F0C6D2B-D1FB-789B-2842-3055CE42AF77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4D8EAE-9554-AAD1-A1AE-4B3B382BFE28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DF031B-6301-D490-8E02-DA0F8854AB3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CA0167-0038-E09D-B741-F2A7048FA2BD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1D0E30-1FDB-06BD-4B6D-6D659A1BAF05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BF76AE-54EA-DE46-CB26-FF03A762BBA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0ACBDB-6DC3-116D-2C97-C8D4DB913815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0ACBDB-6DC3-116D-2C97-C8D4DB913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38C48744-AD9D-047C-2F8F-3286BF6473CB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98685A-01FD-0834-A1B4-F640CE6187A1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817D2C-3896-1B91-D1D1-4B0E3624DC38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D8981B-B600-8F0F-3ECD-15D4DCEE1F5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6D1058-2DA7-5E81-74FD-A5FDD7652C2A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63266E-11AF-D4EF-1B9F-A6DEFCF0F632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C29451-A49B-D090-82EB-80B0C12721B7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499747-A593-28EC-491B-785A9397B11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894752-2A7B-0FA8-CC28-8693F45BABE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0DCBAC5-BED6-2497-351D-0AC741A59B9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0D3619F-03A3-E440-055C-CA92E823B26F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3EA2823-7342-42E5-CF25-E23BBEF5F81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7946C69-ED6A-C307-1DA3-73DCF51DE96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BEBB898-0EE7-921C-B4C0-53AEE394A0D5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115A030-FF58-050A-4D7E-5F63D7EED885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18B717C-CDE1-1605-8A87-8C6CCB51DC00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8F9FF1-C908-275F-F604-C9FABA1C1C37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09E420-14E2-B6EC-EE54-8CF70DE87124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D86332-88AD-64CD-0A35-D168FFFDE70F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AA8934-2821-9A63-DB3D-DD4B56D4DC3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5E2BCB-04BF-2AEA-534A-4D4B534DE5B9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6489C3-588E-41BF-043A-D61C81FF993C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4F1CCE5-A067-6524-5710-D4263C2C6B2E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F8F8082-1B84-0307-94AC-B7A2FE62D67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18AF88-23BC-4893-2C8E-3AACB9741891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D508F3-C625-CEBD-8363-051908E65796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6381F0-CF0E-C6D9-BD63-56FEAF87B06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791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045D-FEA2-4516-A1BD-16DBE27C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EEF29-2FF0-0B5F-B534-7F9A942F25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Estimating quantiles in infinite streams is a fundamental problem</a:t>
                </a:r>
              </a:p>
              <a:p>
                <a:r>
                  <a:rPr lang="en-US" dirty="0"/>
                  <a:t>For a stream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observations,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we can specify the problem two ways</a:t>
                </a:r>
              </a:p>
              <a:p>
                <a:pPr lvl="1"/>
                <a:r>
                  <a:rPr lang="en-US" dirty="0"/>
                  <a:t>Given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find its </a:t>
                </a:r>
                <a:r>
                  <a:rPr lang="en-US" b="1" dirty="0"/>
                  <a:t>rank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Or, find quantile,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such that the rank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focus on the second specification </a:t>
                </a:r>
              </a:p>
              <a:p>
                <a:r>
                  <a:rPr lang="en-US" dirty="0"/>
                  <a:t>Two closely related problems </a:t>
                </a:r>
              </a:p>
              <a:p>
                <a:pPr lvl="1"/>
                <a:r>
                  <a:rPr lang="en-US" b="1" dirty="0"/>
                  <a:t>Single quantile </a:t>
                </a:r>
                <a:r>
                  <a:rPr lang="en-US" dirty="0"/>
                  <a:t>estimation problem</a:t>
                </a:r>
              </a:p>
              <a:p>
                <a:pPr lvl="1"/>
                <a:r>
                  <a:rPr lang="en-US" b="1" dirty="0"/>
                  <a:t>All quantiles</a:t>
                </a:r>
                <a:r>
                  <a:rPr lang="en-US" dirty="0"/>
                  <a:t> estimation problem</a:t>
                </a:r>
              </a:p>
              <a:p>
                <a:pPr lvl="1"/>
                <a:r>
                  <a:rPr lang="en-US" dirty="0"/>
                  <a:t>If we can do the first, we can do the second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EEF29-2FF0-0B5F-B534-7F9A942F25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217" t="-1867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548D342-99F4-0613-8624-8FA4805E7C2C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Estimating Quantiles in Streams</a:t>
            </a:r>
          </a:p>
        </p:txBody>
      </p:sp>
    </p:spTree>
    <p:extLst>
      <p:ext uri="{BB962C8B-B14F-4D97-AF65-F5344CB8AC3E}">
        <p14:creationId xmlns:p14="http://schemas.microsoft.com/office/powerpoint/2010/main" val="104430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BD57-EB05-C928-FECD-A6A00F14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223311-05C4-FF58-A3E6-7B83B14B42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Estimating quantiles in infinite streams is a fundamental problem</a:t>
                </a:r>
              </a:p>
              <a:p>
                <a:r>
                  <a:rPr lang="en-US" dirty="0"/>
                  <a:t>Algorithms use a sketch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desirable properties  </a:t>
                </a:r>
              </a:p>
              <a:p>
                <a:pPr lvl="1"/>
                <a:r>
                  <a:rPr lang="en-US" dirty="0"/>
                  <a:t>Minimize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Minimize memory required</a:t>
                </a:r>
              </a:p>
              <a:p>
                <a:pPr lvl="1"/>
                <a:r>
                  <a:rPr lang="en-US" dirty="0"/>
                  <a:t>Mergeability  </a:t>
                </a:r>
              </a:p>
              <a:p>
                <a:r>
                  <a:rPr lang="en-US" dirty="0"/>
                  <a:t>We will look at two examples</a:t>
                </a:r>
              </a:p>
              <a:p>
                <a:pPr lvl="1"/>
                <a:r>
                  <a:rPr lang="en-US" b="1" dirty="0"/>
                  <a:t>t-digest algorithm</a:t>
                </a:r>
                <a:r>
                  <a:rPr lang="en-US" dirty="0"/>
                  <a:t>, </a:t>
                </a:r>
                <a:r>
                  <a:rPr lang="en-US" dirty="0">
                    <a:hlinkClick r:id="rId2"/>
                  </a:rPr>
                  <a:t>Dunning and Ertl, 2019 </a:t>
                </a:r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relative error quantile (REQ) sketch </a:t>
                </a:r>
                <a:r>
                  <a:rPr lang="en-US" dirty="0"/>
                  <a:t>algorithm,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3"/>
                      </a:rPr>
                      <m:t>Cormode</m:t>
                    </m:r>
                    <m:r>
                      <a:rPr lang="en-US" dirty="0">
                        <a:latin typeface="Cambria Math" panose="02040503050406030204" pitchFamily="18" charset="0"/>
                        <a:hlinkClick r:id="rId3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3"/>
                      </a:rPr>
                      <m:t>et</m:t>
                    </m:r>
                    <m:r>
                      <a:rPr lang="en-US" dirty="0">
                        <a:latin typeface="Cambria Math" panose="02040503050406030204" pitchFamily="18" charset="0"/>
                        <a:hlinkClick r:id="rId3"/>
                      </a:rPr>
                      <m:t>.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3"/>
                      </a:rPr>
                      <m:t>al</m:t>
                    </m:r>
                    <m:r>
                      <a:rPr lang="en-US" dirty="0">
                        <a:latin typeface="Cambria Math" panose="02040503050406030204" pitchFamily="18" charset="0"/>
                        <a:hlinkClick r:id="rId3"/>
                      </a:rPr>
                      <m:t>. 2020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For a generally up to date overview see </a:t>
                </a:r>
                <a:r>
                  <a:rPr lang="en-US" sz="2000" dirty="0">
                    <a:hlinkClick r:id="rId4"/>
                  </a:rPr>
                  <a:t>A Survey of Approximate Quantile Computation on Large-scale Data (Technical Report), Chen, et. al, 2020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223311-05C4-FF58-A3E6-7B83B14B42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5"/>
                <a:stretch>
                  <a:fillRect l="-1217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F19BA3D-989E-917A-1D89-04F66BFDD2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Estimating Quantiles in Streams</a:t>
            </a:r>
          </a:p>
        </p:txBody>
      </p:sp>
    </p:spTree>
    <p:extLst>
      <p:ext uri="{BB962C8B-B14F-4D97-AF65-F5344CB8AC3E}">
        <p14:creationId xmlns:p14="http://schemas.microsoft.com/office/powerpoint/2010/main" val="417892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04A0-D7DA-3CE8-8597-D2137D6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B8D36-B6D8-188B-68F7-A08079F8EA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2321118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2F45A-8171-D187-DC95-396B3B24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7ED62-9E11-AF30-77B6-B2904E45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220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t-digest is an effective heuristic algorithm</a:t>
            </a:r>
          </a:p>
          <a:p>
            <a:r>
              <a:rPr lang="en-US" dirty="0"/>
              <a:t>The t-digest uses a unique sampling strategy that improves extreme quantile estimates, e.g. distribution tails</a:t>
            </a:r>
          </a:p>
          <a:p>
            <a:pPr lvl="1"/>
            <a:r>
              <a:rPr lang="en-US" dirty="0"/>
              <a:t>Accuracy improved by interpolation between samples </a:t>
            </a:r>
          </a:p>
          <a:p>
            <a:pPr lvl="1"/>
            <a:r>
              <a:rPr lang="en-US" dirty="0"/>
              <a:t>Effective for anomaly detection and similar situations  </a:t>
            </a:r>
          </a:p>
          <a:p>
            <a:r>
              <a:rPr lang="en-US" dirty="0"/>
              <a:t>Numerous implementations of the t-digest algorithm</a:t>
            </a:r>
          </a:p>
          <a:p>
            <a:pPr lvl="1"/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endParaRPr lang="en-US" dirty="0"/>
          </a:p>
          <a:p>
            <a:pPr lvl="1"/>
            <a:r>
              <a:rPr lang="en-US" dirty="0" err="1">
                <a:hlinkClick r:id="rId3"/>
              </a:rPr>
              <a:t>Fastdigest</a:t>
            </a:r>
            <a:r>
              <a:rPr lang="en-US" dirty="0">
                <a:hlinkClick r:id="rId3"/>
              </a:rPr>
              <a:t> package</a:t>
            </a:r>
            <a:endParaRPr lang="en-US" dirty="0"/>
          </a:p>
          <a:p>
            <a:pPr lvl="1"/>
            <a:r>
              <a:rPr lang="en-US" dirty="0" err="1">
                <a:hlinkClick r:id="rId4"/>
              </a:rPr>
              <a:t>Tdigest</a:t>
            </a:r>
            <a:r>
              <a:rPr lang="en-US" dirty="0">
                <a:hlinkClick r:id="rId4"/>
              </a:rPr>
              <a:t> package</a:t>
            </a:r>
            <a:endParaRPr lang="en-US" dirty="0"/>
          </a:p>
          <a:p>
            <a:pPr lvl="1"/>
            <a:r>
              <a:rPr lang="en-US" dirty="0"/>
              <a:t>Also see implementations in many languages in </a:t>
            </a:r>
            <a:r>
              <a:rPr lang="en-US" dirty="0">
                <a:hlinkClick r:id="rId5"/>
              </a:rPr>
              <a:t>Ted Dunning’s reference implementation GitHub repository</a:t>
            </a:r>
            <a:r>
              <a:rPr lang="en-US" dirty="0"/>
              <a:t>   </a:t>
            </a:r>
          </a:p>
          <a:p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A864AD-6329-A7B0-5351-19D4ACA6D6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293433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FCEF-FA41-C9D9-00BC-B356519C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0F9DCC-EF4C-06FA-AF0A-027E5EFBD9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t-digest is an effective heuristic algorithm</a:t>
                </a:r>
              </a:p>
              <a:p>
                <a:r>
                  <a:rPr lang="en-US" dirty="0"/>
                  <a:t>The t-digest algorithm computes </a:t>
                </a:r>
                <a:r>
                  <a:rPr lang="en-US" b="1" dirty="0"/>
                  <a:t>clusters with 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Samples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 are partitioned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clusters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𝑟𝑖𝑔ℎ𝑡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Each cluster,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contains as many samples as possible, subject to a size bound   </a:t>
                </a: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0F9DCC-EF4C-06FA-AF0A-027E5EFBD9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217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2050EC1-B3B3-39E2-CE25-C658198298D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416012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51AA6-D4AE-B3B0-F319-389C40BF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C2AE4-BBF2-2F03-B52C-FCF927CD04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t-digest is an effective heuristic algorithm</a:t>
                </a:r>
              </a:p>
              <a:p>
                <a:r>
                  <a:rPr lang="en-US" dirty="0"/>
                  <a:t>Each cluster,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contains as many samples as possible, subject to a size bound   </a:t>
                </a:r>
              </a:p>
              <a:p>
                <a:r>
                  <a:rPr lang="en-US" dirty="0"/>
                  <a:t>For clusters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centroid is the mean of the partition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Clusters centers are ordered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Partitions may be </a:t>
                </a:r>
                <a:r>
                  <a:rPr lang="en-US" b="1" dirty="0"/>
                  <a:t>strongly ordered</a:t>
                </a:r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brk m:alnAt="7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Or </a:t>
                </a:r>
                <a:r>
                  <a:rPr lang="en-US" b="1" dirty="0"/>
                  <a:t>weakly ordered</a:t>
                </a:r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𝑜𝑓𝑓𝑠𝑒𝑡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Weekly ordered clusters have overlapping partitions </a:t>
                </a:r>
              </a:p>
              <a:p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C2AE4-BBF2-2F03-B52C-FCF927CD04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217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B8E16E3-DFAE-A0EE-085B-F0EAACC0CD34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86000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64B7-ABAA-81E3-68A9-D831A6CE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643BD-5401-1A44-DDC9-EDECF74CA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t-digest is an effective heuristic algorithm</a:t>
                </a:r>
              </a:p>
              <a:p>
                <a:r>
                  <a:rPr lang="en-US" dirty="0"/>
                  <a:t>Clusters centers are ordered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For cluster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the left and right weights are: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𝑟𝑖𝑔ℎ𝑡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643BD-5401-1A44-DDC9-EDECF74CA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217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1DB1A2D-5A68-9606-384D-3BA3F83C957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823586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58C0-EA5A-78D5-56CE-8B6D0965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4F3D7-2A71-A478-EFDF-6D874C908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Choice of sampling interval is key to the t-digest algorithm</a:t>
                </a:r>
              </a:p>
              <a:p>
                <a:r>
                  <a:rPr lang="en-US" dirty="0"/>
                  <a:t>Quantile estimation algorithms face a persistent problem with extreme quantiles   </a:t>
                </a:r>
              </a:p>
              <a:p>
                <a:pPr lvl="1"/>
                <a:r>
                  <a:rPr lang="en-US" dirty="0"/>
                  <a:t>Example; for anomaly detection we want to compute values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=0.001, 0.999</m:t>
                    </m:r>
                  </m:oMath>
                </a14:m>
                <a:r>
                  <a:rPr lang="en-US" dirty="0"/>
                  <a:t> or even more extreme</a:t>
                </a:r>
              </a:p>
              <a:p>
                <a:pPr lvl="1"/>
                <a:r>
                  <a:rPr lang="en-US" dirty="0"/>
                  <a:t>Sketches with uniform sampling have insufficient extreme samples to accurately estimate tail behavior </a:t>
                </a:r>
              </a:p>
              <a:p>
                <a:r>
                  <a:rPr lang="en-US" dirty="0"/>
                  <a:t>The t-digest algorithm uses a non-uniform sampling function to overcome this problem  </a:t>
                </a:r>
              </a:p>
              <a:p>
                <a:pPr lvl="1"/>
                <a:r>
                  <a:rPr lang="en-US" dirty="0"/>
                  <a:t>Favor sampling extreme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4F3D7-2A71-A478-EFDF-6D874C908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217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38C48A2-0570-43AF-B2A5-88C15313EB4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428955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DF71-7184-BA6B-6640-58ACCCF3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6F2E27-F1C8-AA80-57F4-A39715EB9E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Choice of sampling interval is key to the t-digest algorithm</a:t>
                </a:r>
              </a:p>
              <a:p>
                <a:r>
                  <a:rPr lang="en-US" dirty="0"/>
                  <a:t>The t-digest algorithm uses a </a:t>
                </a:r>
                <a:r>
                  <a:rPr lang="en-US" b="1" dirty="0"/>
                  <a:t>scale funct</a:t>
                </a:r>
                <a:r>
                  <a:rPr lang="en-US" dirty="0"/>
                  <a:t>ion to perform nonuniform sampling </a:t>
                </a:r>
              </a:p>
              <a:p>
                <a:r>
                  <a:rPr lang="en-US" dirty="0"/>
                  <a:t>Example of scale function with </a:t>
                </a:r>
                <a:r>
                  <a:rPr lang="en-US" b="1" dirty="0"/>
                  <a:t>compression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b="0" dirty="0"/>
                  <a:t>Where: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number of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6F2E27-F1C8-AA80-57F4-A39715EB9E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  <a:blipFill>
                <a:blip r:embed="rId2"/>
                <a:stretch>
                  <a:fillRect l="-1203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8CEBAE5-D1AD-C359-7D1F-12194FD614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207198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0EE6-B132-13AF-4741-BD21BFA9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E7984-4381-C730-138D-FECEA0B96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Choice of sampling interval is key to the t-digest algorithm</a:t>
                </a:r>
              </a:p>
              <a:p>
                <a:r>
                  <a:rPr lang="en-US" dirty="0"/>
                  <a:t>The t-digest algorithm uses a scale function to perform nonuniform sampling </a:t>
                </a:r>
              </a:p>
              <a:p>
                <a:r>
                  <a:rPr lang="en-US" dirty="0"/>
                  <a:t>Other scale functions with </a:t>
                </a:r>
                <a:r>
                  <a:rPr lang="en-US" b="1" dirty="0"/>
                  <a:t>compression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+24</m:t>
                          </m:r>
                        </m:den>
                      </m:f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≤1/2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&lt;1/2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number of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E7984-4381-C730-138D-FECEA0B96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  <a:blipFill>
                <a:blip r:embed="rId2"/>
                <a:stretch>
                  <a:fillRect l="-1203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A64C2A3-200F-7E1C-9620-2C5A901FD3E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36926235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68B5-C9A5-E9AE-CD07-2EE17999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09A8C-100F-9FA6-AA64-B308005AB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6510124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Choice of sampling interval is key to the t-digest algorithm</a:t>
                </a:r>
              </a:p>
              <a:p>
                <a:r>
                  <a:rPr lang="en-US" dirty="0"/>
                  <a:t>Example of scale function with </a:t>
                </a:r>
                <a:r>
                  <a:rPr lang="en-US" b="1" dirty="0"/>
                  <a:t>compression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Vertical lines show cluster centroids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Sampling denser at extreme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09A8C-100F-9FA6-AA64-B308005AB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6510124" cy="5220523"/>
              </a:xfrm>
              <a:blipFill>
                <a:blip r:embed="rId2"/>
                <a:stretch>
                  <a:fillRect l="-1966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815366E-6ADC-0DF3-8CE1-1F79A43B550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B10DA-383C-5FB7-26FC-D0AD76D3E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84" y="1802970"/>
            <a:ext cx="4703916" cy="4048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393CD5-C973-9D7F-970A-05D1C869C70F}"/>
              </a:ext>
            </a:extLst>
          </p:cNvPr>
          <p:cNvSpPr txBox="1"/>
          <p:nvPr/>
        </p:nvSpPr>
        <p:spPr>
          <a:xfrm>
            <a:off x="8103029" y="6006366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4"/>
              </a:rPr>
              <a:t>Dunning and Ertl,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04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D026-EB71-770D-57E8-73A7373B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2B6DB9-2674-0662-9750-628DC175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35" y="2014760"/>
            <a:ext cx="8756724" cy="43309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3F081-A156-B756-0F66-373BA7AB3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967" y="1239955"/>
            <a:ext cx="10914278" cy="639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a scale function improves interpolation of tail quantiles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2F0CA0-45D8-3CF8-E853-9931DDA9A6D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A3F8EF-7212-99FE-0955-9911DB2C3444}"/>
              </a:ext>
            </a:extLst>
          </p:cNvPr>
          <p:cNvCxnSpPr>
            <a:cxnSpLocks/>
          </p:cNvCxnSpPr>
          <p:nvPr/>
        </p:nvCxnSpPr>
        <p:spPr>
          <a:xfrm flipV="1">
            <a:off x="2490395" y="3429000"/>
            <a:ext cx="1885293" cy="618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CD891F5-F4F8-2D55-43C4-7ED10B38C2BA}"/>
              </a:ext>
            </a:extLst>
          </p:cNvPr>
          <p:cNvSpPr txBox="1">
            <a:spLocks/>
          </p:cNvSpPr>
          <p:nvPr/>
        </p:nvSpPr>
        <p:spPr>
          <a:xfrm>
            <a:off x="252805" y="2506532"/>
            <a:ext cx="2667896" cy="2256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Uniform bin-width random sampling results in limited samples for interpolation at extreme quantiles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BB5F2B8-25A0-2F21-728D-44A585B4F3D5}"/>
              </a:ext>
            </a:extLst>
          </p:cNvPr>
          <p:cNvSpPr txBox="1">
            <a:spLocks/>
          </p:cNvSpPr>
          <p:nvPr/>
        </p:nvSpPr>
        <p:spPr>
          <a:xfrm>
            <a:off x="9446550" y="2977219"/>
            <a:ext cx="2667896" cy="2213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Variable sized bins results non-uniform number of samples and greatly improved interpolation for extreme quantiles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F88E50-E637-4BAA-1F04-2390CE4EEB0C}"/>
              </a:ext>
            </a:extLst>
          </p:cNvPr>
          <p:cNvCxnSpPr>
            <a:cxnSpLocks/>
          </p:cNvCxnSpPr>
          <p:nvPr/>
        </p:nvCxnSpPr>
        <p:spPr>
          <a:xfrm flipH="1" flipV="1">
            <a:off x="7459851" y="4293031"/>
            <a:ext cx="1893923" cy="470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0E1075-654F-B0DD-75E0-848C309BAA4F}"/>
              </a:ext>
            </a:extLst>
          </p:cNvPr>
          <p:cNvCxnSpPr>
            <a:cxnSpLocks/>
          </p:cNvCxnSpPr>
          <p:nvPr/>
        </p:nvCxnSpPr>
        <p:spPr>
          <a:xfrm flipH="1" flipV="1">
            <a:off x="6752095" y="4435345"/>
            <a:ext cx="2564027" cy="3733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01088A-2908-C428-8AF8-0B4DBC1DFBFF}"/>
              </a:ext>
            </a:extLst>
          </p:cNvPr>
          <p:cNvSpPr txBox="1"/>
          <p:nvPr/>
        </p:nvSpPr>
        <p:spPr>
          <a:xfrm>
            <a:off x="3809999" y="6345752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Dunning and Ertl,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12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65EE-8352-A45F-0AA9-19958824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E6732-8E07-99F2-8EF3-7EFEF1883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Choice of sampling interval is key to the t-digest algorithm</a:t>
                </a:r>
              </a:p>
              <a:p>
                <a:r>
                  <a:rPr lang="en-US" dirty="0"/>
                  <a:t>Cluster size for a t-digest algorithm is bounded to ensure mergeability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𝑟𝑖𝑔ℎ𝑡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Where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𝑟𝑖𝑔ℎ𝑡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The implication is that the number of clusters must be sufficient to honor the bound   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E6732-8E07-99F2-8EF3-7EFEF1883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  <a:blipFill>
                <a:blip r:embed="rId2"/>
                <a:stretch>
                  <a:fillRect l="-1203" t="-1867" r="-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886994E-7D57-F64B-577E-564E503D180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383049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79A2-9EA9-0062-D3DC-CA489874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F4258-5968-825C-9A5B-D3F5E08F91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Algorithms for merging t-digests</a:t>
                </a:r>
              </a:p>
              <a:p>
                <a:r>
                  <a:rPr lang="en-US" dirty="0"/>
                  <a:t>Cluster size for a t-digest algorithm is bounded to ensure mergeability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𝑟𝑖𝑔ℎ𝑡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Merging t-digests must maintain this bound</a:t>
                </a:r>
              </a:p>
              <a:p>
                <a:pPr lvl="1"/>
                <a:r>
                  <a:rPr lang="en-US" b="0" dirty="0">
                    <a:latin typeface="Cambria Math" panose="02040503050406030204" pitchFamily="18" charset="0"/>
                  </a:rPr>
                  <a:t>Simple union does not work! 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Can merge t-digest in two ways 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As single observations,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; see </a:t>
                </a:r>
                <a:r>
                  <a:rPr lang="en-US" dirty="0">
                    <a:hlinkClick r:id="rId2"/>
                  </a:rPr>
                  <a:t>Dunning and Ertl, 2019 </a:t>
                </a:r>
                <a:r>
                  <a:rPr lang="en-US" dirty="0"/>
                  <a:t>for details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Merge buffer of observations into t-digest, or merge two t-digests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F4258-5968-825C-9A5B-D3F5E08F9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10643005" cy="5220523"/>
              </a:xfrm>
              <a:blipFill>
                <a:blip r:embed="rId3"/>
                <a:stretch>
                  <a:fillRect l="-1203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CD4A112-7EB8-B2CE-6937-BD33CE9D124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351624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4CC7-B778-8D7F-C00F-81EDBE06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8C90-56D7-445D-7B23-0D716C337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99" y="1159612"/>
            <a:ext cx="4614164" cy="5494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Algorithm for merging t-digests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>
                <a:latin typeface="Cambria Math" panose="02040503050406030204" pitchFamily="18" charset="0"/>
              </a:rPr>
              <a:t>Order union of buffer and t-digest (or 2 digests)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</a:rPr>
              <a:t>Initialize new t-digest</a:t>
            </a:r>
            <a:endParaRPr lang="en-US" sz="2400" b="0" dirty="0">
              <a:latin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</a:rPr>
              <a:t>Compute bound for cluster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>
                <a:latin typeface="Cambria Math" panose="02040503050406030204" pitchFamily="18" charset="0"/>
              </a:rPr>
              <a:t>Update counts </a:t>
            </a:r>
            <a:r>
              <a:rPr lang="en-US" sz="2400" dirty="0">
                <a:latin typeface="Cambria Math" panose="02040503050406030204" pitchFamily="18" charset="0"/>
              </a:rPr>
              <a:t>(weights) in cluster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>
                <a:latin typeface="Cambria Math" panose="02040503050406030204" pitchFamily="18" charset="0"/>
              </a:rPr>
              <a:t>If, cluster bound not exceeded update cluster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>
                <a:latin typeface="Cambria Math" panose="02040503050406030204" pitchFamily="18" charset="0"/>
              </a:rPr>
              <a:t>Else, create new cluster and update bound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05DB22-A5A3-AE32-D43F-2E67FEAAA6AA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3115A-2F69-48EE-944B-04953CC5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756" y="1603165"/>
            <a:ext cx="6862081" cy="4885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038A8-738F-0107-94B5-391BFC4CF783}"/>
              </a:ext>
            </a:extLst>
          </p:cNvPr>
          <p:cNvSpPr txBox="1"/>
          <p:nvPr/>
        </p:nvSpPr>
        <p:spPr>
          <a:xfrm>
            <a:off x="6594527" y="6488668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Dunning and Ertl, 2019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1BE37-2FBC-5666-C473-067C66C165BC}"/>
              </a:ext>
            </a:extLst>
          </p:cNvPr>
          <p:cNvCxnSpPr>
            <a:cxnSpLocks/>
          </p:cNvCxnSpPr>
          <p:nvPr/>
        </p:nvCxnSpPr>
        <p:spPr>
          <a:xfrm>
            <a:off x="4453180" y="2386739"/>
            <a:ext cx="1007389" cy="5734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E94EEB-C724-63E4-576A-E837B86512E5}"/>
              </a:ext>
            </a:extLst>
          </p:cNvPr>
          <p:cNvCxnSpPr>
            <a:cxnSpLocks/>
          </p:cNvCxnSpPr>
          <p:nvPr/>
        </p:nvCxnSpPr>
        <p:spPr>
          <a:xfrm>
            <a:off x="4008895" y="3112576"/>
            <a:ext cx="1451674" cy="178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554DF3-D7B3-49B7-A79F-5A5E6ABBB311}"/>
              </a:ext>
            </a:extLst>
          </p:cNvPr>
          <p:cNvCxnSpPr>
            <a:cxnSpLocks/>
          </p:cNvCxnSpPr>
          <p:nvPr/>
        </p:nvCxnSpPr>
        <p:spPr>
          <a:xfrm>
            <a:off x="4734732" y="3565519"/>
            <a:ext cx="725837" cy="920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B4AB3A-4ADE-698A-C569-DEB6D8C4597E}"/>
              </a:ext>
            </a:extLst>
          </p:cNvPr>
          <p:cNvCxnSpPr>
            <a:cxnSpLocks/>
          </p:cNvCxnSpPr>
          <p:nvPr/>
        </p:nvCxnSpPr>
        <p:spPr>
          <a:xfrm>
            <a:off x="4734731" y="4074382"/>
            <a:ext cx="999642" cy="177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9170DC-4CCC-2D4D-B977-E9FDB9F203D3}"/>
              </a:ext>
            </a:extLst>
          </p:cNvPr>
          <p:cNvCxnSpPr>
            <a:cxnSpLocks/>
          </p:cNvCxnSpPr>
          <p:nvPr/>
        </p:nvCxnSpPr>
        <p:spPr>
          <a:xfrm flipV="1">
            <a:off x="5097650" y="4636121"/>
            <a:ext cx="740045" cy="135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2A7532-B564-2781-D012-F06FDE204406}"/>
              </a:ext>
            </a:extLst>
          </p:cNvPr>
          <p:cNvCxnSpPr>
            <a:cxnSpLocks/>
          </p:cNvCxnSpPr>
          <p:nvPr/>
        </p:nvCxnSpPr>
        <p:spPr>
          <a:xfrm flipV="1">
            <a:off x="4878737" y="5411949"/>
            <a:ext cx="958958" cy="1881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91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3D0A-B0DA-C30F-AF3D-60A134FB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7D24-7F2C-F0D8-EB7D-AD6710CC3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7"/>
            <a:ext cx="10643005" cy="5220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T-digest uses complex </a:t>
            </a:r>
            <a:r>
              <a:rPr lang="en-US" b="1" dirty="0"/>
              <a:t>interpolation algorithm </a:t>
            </a:r>
            <a:r>
              <a:rPr lang="en-US" dirty="0"/>
              <a:t>to improve accuracy at </a:t>
            </a:r>
            <a:r>
              <a:rPr lang="en-US" b="1" dirty="0"/>
              <a:t>extreme quantiles </a:t>
            </a:r>
            <a:r>
              <a:rPr lang="en-US" dirty="0"/>
              <a:t>with 4 cases </a:t>
            </a:r>
            <a:endParaRPr lang="en-US" dirty="0">
              <a:latin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</a:rPr>
              <a:t>Interpolate between two clusters with more than one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</a:rPr>
              <a:t>Interpolate between cluster with single member and cluster with more than one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Interpolate between two clusters with single sample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Interpolate for first or last cluster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BCC08C-BF60-9280-0F0A-D1BEF80635E5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</p:spTree>
    <p:extLst>
      <p:ext uri="{BB962C8B-B14F-4D97-AF65-F5344CB8AC3E}">
        <p14:creationId xmlns:p14="http://schemas.microsoft.com/office/powerpoint/2010/main" val="96120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EEE4-095F-B415-2CD6-BDE8DD92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EE45-874A-6192-6F58-6425F2B6D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7"/>
            <a:ext cx="5941853" cy="4926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T-digest uses interpolation to improve accuracy with 4 cases </a:t>
            </a:r>
            <a:endParaRPr lang="en-US" dirty="0">
              <a:latin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</a:rPr>
              <a:t>Interpolate between clusters with more than one sample</a:t>
            </a:r>
          </a:p>
          <a:p>
            <a:pPr lvl="1"/>
            <a:r>
              <a:rPr lang="en-US" dirty="0">
                <a:latin typeface="Cambria Math" panose="02040503050406030204" pitchFamily="18" charset="0"/>
              </a:rPr>
              <a:t>Half of centroid weight to left and half to right </a:t>
            </a:r>
          </a:p>
          <a:p>
            <a:pPr lvl="1"/>
            <a:r>
              <a:rPr lang="en-US" dirty="0">
                <a:latin typeface="Cambria Math" panose="02040503050406030204" pitchFamily="18" charset="0"/>
              </a:rPr>
              <a:t>Assumes adjacent centroids have equal weight; true asymptotically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3ADC01-6E56-BB05-0FAA-8AA89D1631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E8BE6-9FB6-19A5-D168-246B90820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143" y="2650491"/>
            <a:ext cx="4915586" cy="3315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01E31C-4CB8-FDE3-39DE-FE300FC395DE}"/>
              </a:ext>
            </a:extLst>
          </p:cNvPr>
          <p:cNvSpPr txBox="1"/>
          <p:nvPr/>
        </p:nvSpPr>
        <p:spPr>
          <a:xfrm>
            <a:off x="8035869" y="6173536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Dunning and Ertl,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6017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B853-1EE2-7013-DC5D-F20F9001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8AED-A5AF-75A4-A727-1D38DD69A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7"/>
            <a:ext cx="5941853" cy="49260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T-digest uses interpolation to improve accuracy with 4 cases </a:t>
            </a:r>
            <a:endParaRPr lang="en-US" dirty="0">
              <a:latin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dirty="0">
                <a:latin typeface="Cambria Math" panose="02040503050406030204" pitchFamily="18" charset="0"/>
              </a:rPr>
              <a:t>Use same interpolation for case 2, one cluster with single sample to cluster with multiple samples </a:t>
            </a:r>
          </a:p>
          <a:p>
            <a:pPr lvl="1"/>
            <a:r>
              <a:rPr lang="en-US" dirty="0">
                <a:latin typeface="Cambria Math" panose="02040503050406030204" pitchFamily="18" charset="0"/>
              </a:rPr>
              <a:t>Interpolation has jump of 1 at single sample centroid </a:t>
            </a:r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Interpolate between two clusters with single sample </a:t>
            </a:r>
          </a:p>
          <a:p>
            <a:pPr lvl="1"/>
            <a:r>
              <a:rPr lang="en-US" dirty="0">
                <a:latin typeface="Cambria Math" panose="02040503050406030204" pitchFamily="18" charset="0"/>
              </a:rPr>
              <a:t>Take advantage the single sample being the centroid </a:t>
            </a:r>
          </a:p>
          <a:p>
            <a:pPr lvl="1"/>
            <a:r>
              <a:rPr lang="en-US" dirty="0">
                <a:latin typeface="Cambria Math" panose="02040503050406030204" pitchFamily="18" charset="0"/>
              </a:rPr>
              <a:t>Interpolation has jump of 1 at single sample centroid </a:t>
            </a:r>
          </a:p>
          <a:p>
            <a:pPr lvl="1"/>
            <a:endParaRPr lang="en-US" dirty="0">
              <a:latin typeface="Cambria Math" panose="020405030504060302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6F4AFC-02AE-265C-C864-071FDEE290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779DC-4BD0-11CE-1AFE-BD34065828DE}"/>
              </a:ext>
            </a:extLst>
          </p:cNvPr>
          <p:cNvSpPr txBox="1"/>
          <p:nvPr/>
        </p:nvSpPr>
        <p:spPr>
          <a:xfrm>
            <a:off x="8010038" y="5881650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2"/>
              </a:rPr>
              <a:t>Dunning and Ertl, 2019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DA4DBF-A93A-9B83-6247-3E6F07092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490" y="2443414"/>
            <a:ext cx="509658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2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2E74-E219-A5C8-86B2-2B8D1699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037A-891A-5896-55AC-A0EB392C33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5941853" cy="49260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T-digest uses interpolation to improve accuracy with 4 cases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/>
                  <a:t>Interpolate for first or last cluster 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If last cluster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then last value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), with a jump of 1 at end</a:t>
                </a:r>
              </a:p>
              <a:p>
                <a:pPr lvl="1"/>
                <a:r>
                  <a:rPr lang="en-US">
                    <a:latin typeface="Cambria Math" panose="02040503050406030204" pitchFamily="18" charset="0"/>
                  </a:rPr>
                  <a:t>Else,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,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at centroid and jump of 1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037A-891A-5896-55AC-A0EB392C3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5941853" cy="4926055"/>
              </a:xfrm>
              <a:blipFill>
                <a:blip r:embed="rId2"/>
                <a:stretch>
                  <a:fillRect l="-2156" t="-1980" r="-1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B6D688FF-BFFC-F3E9-8F33-C96FE5C46254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6184B-9B2D-35E2-820B-DBC896304289}"/>
              </a:ext>
            </a:extLst>
          </p:cNvPr>
          <p:cNvSpPr txBox="1"/>
          <p:nvPr/>
        </p:nvSpPr>
        <p:spPr>
          <a:xfrm>
            <a:off x="7994541" y="5703421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Dunning and Ertl, 2019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E1DF1-2D0E-6556-9B8D-5C4E5088E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898" y="2850937"/>
            <a:ext cx="5119701" cy="268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23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1FA3-2560-B795-6AFB-3D2D79E3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E7DBF-D9F1-6E94-B01A-29AE3B603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4882803" cy="49260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T-digest does not have analytical error bounds 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Larger values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result in larger number of clusters and greater accuracy</a:t>
                </a:r>
              </a:p>
              <a:p>
                <a:r>
                  <a:rPr lang="en-US" dirty="0"/>
                  <a:t>Larger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require more memory</a:t>
                </a:r>
              </a:p>
              <a:p>
                <a:r>
                  <a:rPr lang="en-US" dirty="0"/>
                  <a:t>Empirically, the t-digest algorithm leads to good accuracy for extreme quantiles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E7DBF-D9F1-6E94-B01A-29AE3B603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4882803" cy="4926055"/>
              </a:xfrm>
              <a:blipFill>
                <a:blip r:embed="rId2"/>
                <a:stretch>
                  <a:fillRect l="-2622" t="-1980" r="-3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FA0BB09-9180-5348-0993-B8C842A26805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352CA-E487-F091-FB16-240E6638FFD4}"/>
              </a:ext>
            </a:extLst>
          </p:cNvPr>
          <p:cNvSpPr txBox="1"/>
          <p:nvPr/>
        </p:nvSpPr>
        <p:spPr>
          <a:xfrm>
            <a:off x="7994541" y="5703421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Dunning and Ertl, 2019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9FE0B6-1E7D-43AB-6C90-A2984AEC0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017" y="1040045"/>
            <a:ext cx="6095999" cy="458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3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6CBC-32BD-7BAA-5307-FABFCF0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B8DC7F-31EA-F0E7-B71B-7DD1C2907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8"/>
                <a:ext cx="11070516" cy="192388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T-digest does not have analytical error bounds 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Empirically find choice of scale function changes error characteristics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for extreme quantiles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for quantiles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&gt;0.01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B8DC7F-31EA-F0E7-B71B-7DD1C2907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8"/>
                <a:ext cx="11070516" cy="1923882"/>
              </a:xfrm>
              <a:blipFill>
                <a:blip r:embed="rId2"/>
                <a:stretch>
                  <a:fillRect l="-1156" t="-6962" b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3066917-9FCB-6236-C25B-D0C3A69D3A4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4C683-D43C-D8C4-B405-47A87AE0852A}"/>
              </a:ext>
            </a:extLst>
          </p:cNvPr>
          <p:cNvSpPr txBox="1"/>
          <p:nvPr/>
        </p:nvSpPr>
        <p:spPr>
          <a:xfrm>
            <a:off x="3998075" y="6402668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Dunning and Ertl, 2019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0DFD5-607B-1C14-D6A7-D7338252A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727" y="3081961"/>
            <a:ext cx="7288305" cy="332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9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5869D-CCA8-F281-8067-1EBA194E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2053F-699F-BAA6-0F25-90EC87EBD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7"/>
            <a:ext cx="11252605" cy="14128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T-digest does not have analytical error bounds</a:t>
            </a:r>
          </a:p>
          <a:p>
            <a:r>
              <a:rPr lang="en-US" dirty="0"/>
              <a:t>Empirically, stratified merging appears to reduce error</a:t>
            </a:r>
          </a:p>
          <a:p>
            <a:r>
              <a:rPr lang="en-US" dirty="0"/>
              <a:t>Example: merge seconds -&gt; minutes -&gt; hours, etc. </a:t>
            </a:r>
            <a:endParaRPr lang="en-US" dirty="0">
              <a:latin typeface="Cambria Math" panose="020405030504060302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B5B614-B00D-70E6-73D9-4D8F49F9B02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T-Digest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47074-7BD1-45FD-0910-DC090F07E8EB}"/>
              </a:ext>
            </a:extLst>
          </p:cNvPr>
          <p:cNvSpPr txBox="1"/>
          <p:nvPr/>
        </p:nvSpPr>
        <p:spPr>
          <a:xfrm>
            <a:off x="3987317" y="6384795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2"/>
              </a:rPr>
              <a:t>Dunning and Ertl, 2019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86745-89B8-6E84-C7AF-80D8B337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336" y="2908310"/>
            <a:ext cx="9111952" cy="344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4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562C-8C17-E358-1583-E4FD23E7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384C-9351-F510-A550-D26E5621F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Relative Error Quantile (REQ) Algorithm</a:t>
            </a:r>
          </a:p>
        </p:txBody>
      </p:sp>
    </p:spTree>
    <p:extLst>
      <p:ext uri="{BB962C8B-B14F-4D97-AF65-F5344CB8AC3E}">
        <p14:creationId xmlns:p14="http://schemas.microsoft.com/office/powerpoint/2010/main" val="470671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38C9-9C40-72F6-5AAE-E1696016C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C8CB-388C-BF24-F93E-FFFB49E612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REQ algorithm has strong performance bounds with small memory footprint </a:t>
                </a:r>
              </a:p>
              <a:p>
                <a:r>
                  <a:rPr lang="en-US" dirty="0"/>
                  <a:t>REQ is an improvement on the KLL algorithm, </a:t>
                </a:r>
                <a:r>
                  <a:rPr lang="en-US" dirty="0" err="1">
                    <a:hlinkClick r:id="rId2"/>
                  </a:rPr>
                  <a:t>Karnin</a:t>
                </a:r>
                <a:r>
                  <a:rPr lang="en-US" dirty="0">
                    <a:hlinkClick r:id="rId2"/>
                  </a:rPr>
                  <a:t>, Lang, Liberty, 2016</a:t>
                </a:r>
                <a:endParaRPr lang="en-US" dirty="0"/>
              </a:p>
              <a:p>
                <a:pPr lvl="1"/>
                <a:r>
                  <a:rPr lang="en-US" dirty="0"/>
                  <a:t>KLL algorithm is widely used: see for example, implementations in </a:t>
                </a:r>
                <a:r>
                  <a:rPr lang="en-US" dirty="0">
                    <a:hlinkClick r:id="rId3"/>
                  </a:rPr>
                  <a:t>Google </a:t>
                </a:r>
                <a:r>
                  <a:rPr lang="en-US" dirty="0" err="1">
                    <a:hlinkClick r:id="rId3"/>
                  </a:rPr>
                  <a:t>BigQuery</a:t>
                </a:r>
                <a:r>
                  <a:rPr lang="en-US" dirty="0"/>
                  <a:t> or </a:t>
                </a:r>
                <a:r>
                  <a:rPr lang="en-US" dirty="0">
                    <a:hlinkClick r:id="rId4"/>
                  </a:rPr>
                  <a:t>Apache </a:t>
                </a:r>
                <a:r>
                  <a:rPr lang="en-US" dirty="0" err="1">
                    <a:hlinkClick r:id="rId4"/>
                  </a:rPr>
                  <a:t>DataSketches</a:t>
                </a:r>
                <a:r>
                  <a:rPr lang="en-US" dirty="0">
                    <a:hlinkClick r:id="rId4"/>
                  </a:rPr>
                  <a:t> </a:t>
                </a:r>
                <a:endParaRPr lang="en-US" dirty="0"/>
              </a:p>
              <a:p>
                <a:r>
                  <a:rPr lang="en-US" dirty="0"/>
                  <a:t>The core of the KLL algorithm is a sketch comprising a stack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b="1" dirty="0"/>
                  <a:t> compactors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A compactor down-samples half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buffer values outputting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values, applying a weight of two to sampled values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5C8CB-388C-BF24-F93E-FFFB49E61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5"/>
                <a:stretch>
                  <a:fillRect l="-1217" t="-1867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C307E48-0DC9-07D2-61BC-B0AF75B681E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</p:spTree>
    <p:extLst>
      <p:ext uri="{BB962C8B-B14F-4D97-AF65-F5344CB8AC3E}">
        <p14:creationId xmlns:p14="http://schemas.microsoft.com/office/powerpoint/2010/main" val="20744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C8B4D-9398-458B-899B-096A3F2F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6722C-25A8-5F1D-5856-CA7A6CCC2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2195594"/>
                <a:ext cx="3606774" cy="3500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compactor down-samples half of the full input buffer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, applying a weight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Compactors </a:t>
                </a:r>
                <a:r>
                  <a:rPr lang="en-US" sz="2400" b="1" dirty="0"/>
                  <a:t>randomly sample </a:t>
                </a:r>
                <a:r>
                  <a:rPr lang="en-US" sz="2400" dirty="0"/>
                  <a:t>either even or odd values from a buffer of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6722C-25A8-5F1D-5856-CA7A6CCC2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2195594"/>
                <a:ext cx="3606774" cy="3500580"/>
              </a:xfrm>
              <a:blipFill>
                <a:blip r:embed="rId2"/>
                <a:stretch>
                  <a:fillRect l="-3553" t="-2787" r="-1861" b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53C3DAE-DDD9-6666-7BED-02428A39A46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35C61-DA52-DCD7-B9A2-0722A78F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129" y="3355277"/>
            <a:ext cx="7206712" cy="332794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099805-B4C9-D437-B152-97BD95466BA7}"/>
              </a:ext>
            </a:extLst>
          </p:cNvPr>
          <p:cNvCxnSpPr>
            <a:cxnSpLocks/>
          </p:cNvCxnSpPr>
          <p:nvPr/>
        </p:nvCxnSpPr>
        <p:spPr>
          <a:xfrm flipV="1">
            <a:off x="4233134" y="4528265"/>
            <a:ext cx="1705087" cy="5762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94E760-1B31-6094-E18E-BA5A19203A0B}"/>
              </a:ext>
            </a:extLst>
          </p:cNvPr>
          <p:cNvCxnSpPr>
            <a:cxnSpLocks/>
          </p:cNvCxnSpPr>
          <p:nvPr/>
        </p:nvCxnSpPr>
        <p:spPr>
          <a:xfrm>
            <a:off x="4270786" y="5104504"/>
            <a:ext cx="1763221" cy="133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94D9E603-65DC-93C8-329B-387DA0CA3A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4042" y="1371601"/>
                <a:ext cx="2346243" cy="17228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/>
                  <a:t>After one compactor, B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/>
                  <a:t> samples, with weight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94D9E603-65DC-93C8-329B-387DA0CA3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042" y="1371601"/>
                <a:ext cx="2346243" cy="1722894"/>
              </a:xfrm>
              <a:prstGeom prst="rect">
                <a:avLst/>
              </a:prstGeom>
              <a:blipFill>
                <a:blip r:embed="rId4"/>
                <a:stretch>
                  <a:fillRect l="-4156" t="-7067" r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DD9ED457-75DF-6CDE-32DA-D1985D63E5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67499" y="1523718"/>
                <a:ext cx="2762114" cy="14180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/>
                  <a:t>After two compactors, B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/4</m:t>
                    </m:r>
                  </m:oMath>
                </a14:m>
                <a:r>
                  <a:rPr lang="en-US" sz="2400" dirty="0"/>
                  <a:t> samples, with weight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 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DD9ED457-75DF-6CDE-32DA-D1985D63E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499" y="1523718"/>
                <a:ext cx="2762114" cy="1418093"/>
              </a:xfrm>
              <a:prstGeom prst="rect">
                <a:avLst/>
              </a:prstGeom>
              <a:blipFill>
                <a:blip r:embed="rId5"/>
                <a:stretch>
                  <a:fillRect l="-3532" t="-6438" b="-9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9E4F5733-A2A2-BF49-8D28-E60B691910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46490" y="880820"/>
                <a:ext cx="2762114" cy="14180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/>
                  <a:t>After three compactors, B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/6</m:t>
                    </m:r>
                  </m:oMath>
                </a14:m>
                <a:r>
                  <a:rPr lang="en-US" sz="2400" dirty="0"/>
                  <a:t> samples, with weight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 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9E4F5733-A2A2-BF49-8D28-E60B69191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490" y="880820"/>
                <a:ext cx="2762114" cy="1418093"/>
              </a:xfrm>
              <a:prstGeom prst="rect">
                <a:avLst/>
              </a:prstGeom>
              <a:blipFill>
                <a:blip r:embed="rId6"/>
                <a:stretch>
                  <a:fillRect l="-3532" t="-6438" b="-9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C96585-0AC9-9B2E-7523-B90E750CB16B}"/>
              </a:ext>
            </a:extLst>
          </p:cNvPr>
          <p:cNvCxnSpPr>
            <a:cxnSpLocks/>
          </p:cNvCxnSpPr>
          <p:nvPr/>
        </p:nvCxnSpPr>
        <p:spPr>
          <a:xfrm>
            <a:off x="5238427" y="2758698"/>
            <a:ext cx="1999282" cy="7492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12B110-FD76-90FF-E0D3-92B1A9CCF24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8248556" y="2941811"/>
            <a:ext cx="1174413" cy="2077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12E92A-2015-9EE9-E17F-9CC262E3AEE6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0359614" y="2298913"/>
            <a:ext cx="267933" cy="1643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79161F-AEAB-FCED-292C-DB11F9884F17}"/>
              </a:ext>
            </a:extLst>
          </p:cNvPr>
          <p:cNvSpPr txBox="1"/>
          <p:nvPr/>
        </p:nvSpPr>
        <p:spPr>
          <a:xfrm>
            <a:off x="501838" y="6313886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7"/>
              </a:rPr>
              <a:t>Figure from Karmin, Lang, Liberty,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4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0CB1-3094-1E25-E83C-B331CE24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9BCF8A-B355-2CDA-5B25-5F8FBC4A2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98567"/>
            <a:ext cx="5475643" cy="36549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62FACD-9CEB-0A7F-0789-1921DBCDD6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471" y="1354720"/>
                <a:ext cx="3739178" cy="33409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Stack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compactors </a:t>
                </a:r>
                <a:r>
                  <a:rPr lang="en-US" dirty="0"/>
                  <a:t>down-samples input buffer values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For a stream of length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the maximum height (number of compactors) 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62FACD-9CEB-0A7F-0789-1921DBCDD6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471" y="1354720"/>
                <a:ext cx="3739178" cy="3340993"/>
              </a:xfrm>
              <a:blipFill>
                <a:blip r:embed="rId3"/>
                <a:stretch>
                  <a:fillRect l="-3426" t="-2920" r="-5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C50A3A5-5A4D-FC99-9AD5-FCAF10D4F5A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3AB26B3D-CFE1-8844-995D-BDD2DD3DB0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724" y="5120638"/>
                <a:ext cx="3249347" cy="1085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/>
                  <a:t>Use random sampler for low-capacity,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dirty="0"/>
                  <a:t>, compactors</a:t>
                </a:r>
                <a:endParaRPr lang="en-US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3AB26B3D-CFE1-8844-995D-BDD2DD3DB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24" y="5120638"/>
                <a:ext cx="3249347" cy="1085671"/>
              </a:xfrm>
              <a:prstGeom prst="rect">
                <a:avLst/>
              </a:prstGeom>
              <a:blipFill>
                <a:blip r:embed="rId4"/>
                <a:stretch>
                  <a:fillRect l="-3002" t="-8427" r="-3940" b="-12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9D7CCAC6-C833-D456-BC99-6A6CA5F82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450" y="887506"/>
                <a:ext cx="4972457" cy="12361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/>
                  <a:t>Compactors of increasing capacity, emit 1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/>
                  <a:t> input samples, from buffer of capacity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 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9D7CCAC6-C833-D456-BC99-6A6CA5F82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50" y="887506"/>
                <a:ext cx="4972457" cy="1236131"/>
              </a:xfrm>
              <a:prstGeom prst="rect">
                <a:avLst/>
              </a:prstGeom>
              <a:blipFill>
                <a:blip r:embed="rId5"/>
                <a:stretch>
                  <a:fillRect l="-1961" t="-7921" r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37487BC0-5FAF-928A-E5B1-410FA089AA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00278" y="2230298"/>
                <a:ext cx="2762114" cy="14273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/>
                  <a:t>Smallest possible compactor with capacity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dirty="0"/>
                  <a:t> values  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37487BC0-5FAF-928A-E5B1-410FA089A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278" y="2230298"/>
                <a:ext cx="2762114" cy="1427301"/>
              </a:xfrm>
              <a:prstGeom prst="rect">
                <a:avLst/>
              </a:prstGeom>
              <a:blipFill>
                <a:blip r:embed="rId6"/>
                <a:stretch>
                  <a:fillRect l="-3532" t="-6410" r="-5740"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EA636B-EA3A-183A-6E29-BD7658FD5F8A}"/>
              </a:ext>
            </a:extLst>
          </p:cNvPr>
          <p:cNvCxnSpPr>
            <a:cxnSpLocks/>
          </p:cNvCxnSpPr>
          <p:nvPr/>
        </p:nvCxnSpPr>
        <p:spPr>
          <a:xfrm>
            <a:off x="3792071" y="5744584"/>
            <a:ext cx="6018902" cy="268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B65C87-5EEE-5E37-B1BC-B454524E475C}"/>
              </a:ext>
            </a:extLst>
          </p:cNvPr>
          <p:cNvCxnSpPr>
            <a:cxnSpLocks/>
          </p:cNvCxnSpPr>
          <p:nvPr/>
        </p:nvCxnSpPr>
        <p:spPr>
          <a:xfrm>
            <a:off x="8503920" y="2123637"/>
            <a:ext cx="170958" cy="15339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73F1DE-40C7-F78E-FF9E-7AA0E444B30E}"/>
              </a:ext>
            </a:extLst>
          </p:cNvPr>
          <p:cNvCxnSpPr>
            <a:cxnSpLocks/>
          </p:cNvCxnSpPr>
          <p:nvPr/>
        </p:nvCxnSpPr>
        <p:spPr>
          <a:xfrm flipH="1">
            <a:off x="8923468" y="2915322"/>
            <a:ext cx="887506" cy="8713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2CD0BB8-C819-9EB5-126B-394BAD8808AC}"/>
              </a:ext>
            </a:extLst>
          </p:cNvPr>
          <p:cNvSpPr txBox="1"/>
          <p:nvPr/>
        </p:nvSpPr>
        <p:spPr>
          <a:xfrm>
            <a:off x="501838" y="6313886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7"/>
              </a:rPr>
              <a:t>Figure from Karmin, Lang, Liberty, 2016</a:t>
            </a:r>
            <a:endParaRPr 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32F3DAB-40B3-6D6C-39FD-C51EFDC8DF13}"/>
              </a:ext>
            </a:extLst>
          </p:cNvPr>
          <p:cNvSpPr txBox="1">
            <a:spLocks/>
          </p:cNvSpPr>
          <p:nvPr/>
        </p:nvSpPr>
        <p:spPr>
          <a:xfrm>
            <a:off x="4438336" y="1526047"/>
            <a:ext cx="2762114" cy="1139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Rank computed by summing over last buffer</a:t>
            </a: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sz="3200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CE55F9-9A66-B60A-D012-578AE55C3B10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5819393" y="2665506"/>
            <a:ext cx="350118" cy="617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27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A43C-17C0-D1D3-04CB-50934D688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033E02-F66C-5F62-B7CB-96789652AF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REQ algorithm has strong performance bounds with small memory footprint </a:t>
                </a:r>
              </a:p>
              <a:p>
                <a:r>
                  <a:rPr lang="en-US" dirty="0"/>
                  <a:t>The KLL algorithm is not optimal in terms of error bound and memory use  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2"/>
                      </a:rPr>
                      <m:t>Cormode</m:t>
                    </m:r>
                    <m:r>
                      <a:rPr lang="en-US" dirty="0">
                        <a:latin typeface="Cambria Math" panose="02040503050406030204" pitchFamily="18" charset="0"/>
                        <a:hlinkClick r:id="rId2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2"/>
                      </a:rPr>
                      <m:t>et</m:t>
                    </m:r>
                    <m:r>
                      <a:rPr lang="en-US" dirty="0">
                        <a:latin typeface="Cambria Math" panose="02040503050406030204" pitchFamily="18" charset="0"/>
                        <a:hlinkClick r:id="rId2"/>
                      </a:rPr>
                      <m:t>.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2"/>
                      </a:rPr>
                      <m:t>al</m:t>
                    </m:r>
                    <m:r>
                      <a:rPr lang="en-US" dirty="0">
                        <a:latin typeface="Cambria Math" panose="02040503050406030204" pitchFamily="18" charset="0"/>
                        <a:hlinkClick r:id="rId2"/>
                      </a:rPr>
                      <m:t>. 2020</m:t>
                    </m:r>
                  </m:oMath>
                </a14:m>
                <a:r>
                  <a:rPr lang="en-US" dirty="0"/>
                  <a:t> use a modified compactor for the REQ algorithm to improve error bound and memory use </a:t>
                </a:r>
              </a:p>
              <a:p>
                <a:pPr lvl="1"/>
                <a:r>
                  <a:rPr lang="en-US" dirty="0"/>
                  <a:t>REQ algorithm minimizes </a:t>
                </a:r>
                <a:r>
                  <a:rPr lang="en-US" b="1" dirty="0"/>
                  <a:t>relative error </a:t>
                </a:r>
                <a:r>
                  <a:rPr lang="en-US" dirty="0"/>
                  <a:t>or</a:t>
                </a:r>
                <a:r>
                  <a:rPr lang="en-US" b="1" dirty="0"/>
                  <a:t> multiplicative error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, with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not absolute error or additive error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REQ compactor </a:t>
                </a:r>
                <a:r>
                  <a:rPr lang="en-US" b="1" dirty="0"/>
                  <a:t>does not down-sample extreme values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033E02-F66C-5F62-B7CB-96789652AF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3"/>
                <a:stretch>
                  <a:fillRect l="-1217" t="-1867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E8A509D-6570-A6EC-AFB1-72140F48838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</p:spTree>
    <p:extLst>
      <p:ext uri="{BB962C8B-B14F-4D97-AF65-F5344CB8AC3E}">
        <p14:creationId xmlns:p14="http://schemas.microsoft.com/office/powerpoint/2010/main" val="89080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C1418-4471-9CEF-2212-750C590F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82A526-2F7D-F787-5D42-A1CF7AD69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REQ compactor does not down-sample extreme values </a:t>
                </a:r>
              </a:p>
              <a:p>
                <a:r>
                  <a:rPr lang="en-US" dirty="0"/>
                  <a:t>REQ algorithm is optimized for either extreme small or extreme large quantiles, but not both </a:t>
                </a:r>
              </a:p>
              <a:p>
                <a:r>
                  <a:rPr lang="en-US" dirty="0"/>
                  <a:t>REQ buffer always stores smallest (largest)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values to reduce error</a:t>
                </a:r>
              </a:p>
              <a:p>
                <a:r>
                  <a:rPr lang="en-US" dirty="0"/>
                  <a:t>Buffer size determined by error bound and</a:t>
                </a:r>
                <a:r>
                  <a:rPr lang="en-US" b="1" dirty="0"/>
                  <a:t> stream size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ad>
                                <m:radPr>
                                  <m:degHide m:val="on"/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streaming data: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1/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fun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𝑙𝑜𝑔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82A526-2F7D-F787-5D42-A1CF7AD69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7"/>
                <a:ext cx="10515600" cy="5220523"/>
              </a:xfrm>
              <a:blipFill>
                <a:blip r:embed="rId2"/>
                <a:stretch>
                  <a:fillRect l="-1043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EC12FD6-EDFE-0833-14F8-04DA4D8327E4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</p:spTree>
    <p:extLst>
      <p:ext uri="{BB962C8B-B14F-4D97-AF65-F5344CB8AC3E}">
        <p14:creationId xmlns:p14="http://schemas.microsoft.com/office/powerpoint/2010/main" val="70497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0317-7CD2-5354-8315-9A303804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7FA4CE-3D30-0654-4870-444A1B84C7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6"/>
                <a:ext cx="10515600" cy="37219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REQ compactor does not down-sample extreme values </a:t>
                </a:r>
              </a:p>
              <a:p>
                <a:r>
                  <a:rPr lang="en-US" dirty="0"/>
                  <a:t>Once buffer is full:</a:t>
                </a:r>
              </a:p>
              <a:p>
                <a:pPr lvl="1"/>
                <a:r>
                  <a:rPr lang="en-US" dirty="0"/>
                  <a:t>Smallest (largest)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values are not sampled </a:t>
                </a:r>
              </a:p>
              <a:p>
                <a:pPr lvl="1"/>
                <a:r>
                  <a:rPr lang="en-US"/>
                  <a:t>Conversely, </a:t>
                </a:r>
                <a:r>
                  <a:rPr lang="en-US" dirty="0"/>
                  <a:t>only largest (smallest)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values are sampled </a:t>
                </a:r>
              </a:p>
              <a:p>
                <a:pPr lvl="1"/>
                <a:r>
                  <a:rPr lang="en-US" dirty="0"/>
                  <a:t>Sampling is determined by least significant bits of a binary counter</a:t>
                </a:r>
              </a:p>
              <a:p>
                <a:r>
                  <a:rPr lang="en-US" dirty="0"/>
                  <a:t>Goal is to randomize the sample of largest (smallest)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values following a </a:t>
                </a:r>
                <a:r>
                  <a:rPr lang="en-US" dirty="0">
                    <a:hlinkClick r:id="rId2"/>
                  </a:rPr>
                  <a:t>geometric distribution</a:t>
                </a:r>
                <a:endParaRPr lang="en-US" dirty="0"/>
              </a:p>
              <a:p>
                <a:pPr lvl="1"/>
                <a:r>
                  <a:rPr lang="en-US" dirty="0"/>
                  <a:t>Use a deterministic approximation for efficiency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7FA4CE-3D30-0654-4870-444A1B84C7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6"/>
                <a:ext cx="10515600" cy="3721947"/>
              </a:xfrm>
              <a:blipFill>
                <a:blip r:embed="rId3"/>
                <a:stretch>
                  <a:fillRect l="-1217" t="-2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C5B8EB6-9066-1D41-0804-F0A57135E27A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</p:spTree>
    <p:extLst>
      <p:ext uri="{BB962C8B-B14F-4D97-AF65-F5344CB8AC3E}">
        <p14:creationId xmlns:p14="http://schemas.microsoft.com/office/powerpoint/2010/main" val="410499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978A-646D-125C-2C23-6B0FF416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5605D-630C-5E16-C263-6EF4810F0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3" y="1324926"/>
                <a:ext cx="5311588" cy="410464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REQ compactor does not down-sample extreme values </a:t>
                </a:r>
              </a:p>
              <a:p>
                <a:r>
                  <a:rPr lang="en-US" dirty="0"/>
                  <a:t>Goal is to randomize the sample of largest (smallest)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values following a </a:t>
                </a:r>
                <a:r>
                  <a:rPr lang="en-US" dirty="0">
                    <a:hlinkClick r:id="rId2"/>
                  </a:rPr>
                  <a:t>geometric distribution</a:t>
                </a:r>
                <a:endParaRPr lang="en-US" dirty="0"/>
              </a:p>
              <a:p>
                <a:pPr lvl="1"/>
                <a:r>
                  <a:rPr lang="en-US" dirty="0"/>
                  <a:t>Use a deterministic approximation for efficiency</a:t>
                </a:r>
              </a:p>
              <a:p>
                <a:r>
                  <a:rPr lang="en-US" dirty="0"/>
                  <a:t>Example, use a 7-bit binary counter,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to deterministically sample slots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den>
                    </m:f>
                  </m:oMath>
                </a14:m>
                <a:r>
                  <a:rPr lang="en-US" dirty="0"/>
                  <a:t> samples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5605D-630C-5E16-C263-6EF4810F0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3" y="1324926"/>
                <a:ext cx="5311588" cy="4104647"/>
              </a:xfrm>
              <a:blipFill>
                <a:blip r:embed="rId3"/>
                <a:stretch>
                  <a:fillRect l="-2411" t="-3264" r="-1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F95006F-3FA6-9E1D-F8EE-F685793A7CD5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Relative Error Quantile in Sketch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70DC49-B9BD-1C4F-89C5-1EFBD5E21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12" y="5533074"/>
            <a:ext cx="10947805" cy="8908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6E1961-BB9C-5173-5638-D2AF56D334D4}"/>
                  </a:ext>
                </a:extLst>
              </p:cNvPr>
              <p:cNvSpPr txBox="1"/>
              <p:nvPr/>
            </p:nvSpPr>
            <p:spPr>
              <a:xfrm>
                <a:off x="3446517" y="6423902"/>
                <a:ext cx="404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hlinkClick r:id="rId5"/>
                  </a:rPr>
                  <a:t>Figure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5"/>
                      </a:rPr>
                      <m:t>Cormode</m:t>
                    </m:r>
                    <m:r>
                      <a:rPr lang="en-US" dirty="0">
                        <a:latin typeface="Cambria Math" panose="02040503050406030204" pitchFamily="18" charset="0"/>
                        <a:hlinkClick r:id="rId5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5"/>
                      </a:rPr>
                      <m:t>et</m:t>
                    </m:r>
                    <m:r>
                      <a:rPr lang="en-US" dirty="0">
                        <a:latin typeface="Cambria Math" panose="02040503050406030204" pitchFamily="18" charset="0"/>
                        <a:hlinkClick r:id="rId5"/>
                      </a:rPr>
                      <m:t>.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5"/>
                      </a:rPr>
                      <m:t>al</m:t>
                    </m:r>
                    <m:r>
                      <a:rPr lang="en-US" dirty="0">
                        <a:latin typeface="Cambria Math" panose="02040503050406030204" pitchFamily="18" charset="0"/>
                        <a:hlinkClick r:id="rId5"/>
                      </a:rPr>
                      <m:t>. 2020</m:t>
                    </m:r>
                  </m:oMath>
                </a14:m>
                <a:r>
                  <a:rPr lang="en-US" dirty="0">
                    <a:hlinkClick r:id="rId5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6E1961-BB9C-5173-5638-D2AF56D33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17" y="6423902"/>
                <a:ext cx="4042475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DFF77C-40C9-CB58-814B-0E3AF085410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645974" y="1685304"/>
            <a:ext cx="549762" cy="3881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E185D99-5B50-0BBC-4B6F-3DAF0BE27F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0110" y="794476"/>
                <a:ext cx="2851728" cy="8908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0,0,0,0,0,0,1</m:t>
                        </m:r>
                      </m:e>
                    </m:d>
                  </m:oMath>
                </a14:m>
                <a:r>
                  <a:rPr lang="en-US" dirty="0"/>
                  <a:t>, sample slot 1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E185D99-5B50-0BBC-4B6F-3DAF0BE27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110" y="794476"/>
                <a:ext cx="2851728" cy="890828"/>
              </a:xfrm>
              <a:prstGeom prst="rect">
                <a:avLst/>
              </a:prstGeom>
              <a:blipFill>
                <a:blip r:embed="rId7"/>
                <a:stretch>
                  <a:fillRect l="-3846" t="-10274" r="-4915" b="-8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23A95E-0BB4-9201-2CB9-45A36DF2232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220110" y="2565453"/>
            <a:ext cx="1241702" cy="31043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429EEAF-3738-B70C-899D-44E9E8400D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94246" y="1674625"/>
                <a:ext cx="2851728" cy="8908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0,0,0,0,0,1,0</m:t>
                        </m:r>
                      </m:e>
                    </m:d>
                  </m:oMath>
                </a14:m>
                <a:r>
                  <a:rPr lang="en-US" dirty="0"/>
                  <a:t>, sample slot 2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429EEAF-3738-B70C-899D-44E9E8400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246" y="1674625"/>
                <a:ext cx="2851728" cy="890828"/>
              </a:xfrm>
              <a:prstGeom prst="rect">
                <a:avLst/>
              </a:prstGeom>
              <a:blipFill>
                <a:blip r:embed="rId8"/>
                <a:stretch>
                  <a:fillRect l="-3854" t="-10959" r="-5139" b="-8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7CDAAC99-C5A8-8AAA-7A22-67DA8B4AAF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0163" y="2915150"/>
                <a:ext cx="3244311" cy="9197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0,0,0,0,0,1,1</m:t>
                        </m:r>
                      </m:e>
                    </m:d>
                  </m:oMath>
                </a14:m>
                <a:r>
                  <a:rPr lang="en-US" dirty="0"/>
                  <a:t>, sample slots 1 and 2</a:t>
                </a: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7CDAAC99-C5A8-8AAA-7A22-67DA8B4AA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163" y="2915150"/>
                <a:ext cx="3244311" cy="919750"/>
              </a:xfrm>
              <a:prstGeom prst="rect">
                <a:avLst/>
              </a:prstGeom>
              <a:blipFill>
                <a:blip r:embed="rId9"/>
                <a:stretch>
                  <a:fillRect l="-3759" t="-10596" b="-1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54CAD4-6F00-1145-CE5D-4502B875A07F}"/>
              </a:ext>
            </a:extLst>
          </p:cNvPr>
          <p:cNvCxnSpPr>
            <a:cxnSpLocks/>
          </p:cNvCxnSpPr>
          <p:nvPr/>
        </p:nvCxnSpPr>
        <p:spPr>
          <a:xfrm>
            <a:off x="9054437" y="3652221"/>
            <a:ext cx="1951669" cy="20176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D65C0D-2CDC-F5F7-B372-C64702917CF6}"/>
              </a:ext>
            </a:extLst>
          </p:cNvPr>
          <p:cNvCxnSpPr>
            <a:cxnSpLocks/>
          </p:cNvCxnSpPr>
          <p:nvPr/>
        </p:nvCxnSpPr>
        <p:spPr>
          <a:xfrm>
            <a:off x="9030480" y="3652221"/>
            <a:ext cx="1253831" cy="20176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6D02402F-7A96-F7E4-A2EF-734465CD63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4455" y="4069940"/>
                <a:ext cx="3244311" cy="9197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0,0,0,0,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en-US"/>
                  <a:t>sample slot 3</a:t>
                </a:r>
                <a:endParaRPr lang="en-US" dirty="0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6D02402F-7A96-F7E4-A2EF-734465CD6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455" y="4069940"/>
                <a:ext cx="3244311" cy="919750"/>
              </a:xfrm>
              <a:prstGeom prst="rect">
                <a:avLst/>
              </a:prstGeom>
              <a:blipFill>
                <a:blip r:embed="rId10"/>
                <a:stretch>
                  <a:fillRect l="-3947" t="-11258" b="-1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0EE35D-7B3F-233D-535F-30C1D85B0564}"/>
              </a:ext>
            </a:extLst>
          </p:cNvPr>
          <p:cNvCxnSpPr>
            <a:cxnSpLocks/>
          </p:cNvCxnSpPr>
          <p:nvPr/>
        </p:nvCxnSpPr>
        <p:spPr>
          <a:xfrm>
            <a:off x="8946665" y="4959616"/>
            <a:ext cx="716263" cy="7102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26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6" grpId="0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506B-75D4-E0F3-172C-03787F41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339500-54BC-AA94-FA7E-29A93665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842" y="2133753"/>
            <a:ext cx="7204157" cy="3564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C1C2DE-1DA2-2A84-F466-B93BD8623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2528" y="1476135"/>
                <a:ext cx="4614164" cy="54943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Compactor algorithm for REQ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</a:rPr>
                  <a:t> determines size of buffer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</a:rPr>
                  <a:t>Initialize counter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</a:t>
                </a:r>
                <a:endParaRPr lang="en-US" sz="2400" b="0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</a:rPr>
                  <a:t>Compute sampling parameters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Set the pivot point in the buffer 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Sort the buffer values from the pivot point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</a:rPr>
                  <a:t>Randomly sample even or odd values</a:t>
                </a:r>
                <a:endParaRPr lang="en-US" sz="24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C1C2DE-1DA2-2A84-F466-B93BD8623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2528" y="1476135"/>
                <a:ext cx="4614164" cy="5494327"/>
              </a:xfrm>
              <a:blipFill>
                <a:blip r:embed="rId3"/>
                <a:stretch>
                  <a:fillRect l="-2774" t="-1776" r="-3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BC65E7C3-0433-54E9-DE78-D098BF98CF5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REQ Algorithm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57FDFC-2469-9BBE-B191-95AB4C896AB5}"/>
              </a:ext>
            </a:extLst>
          </p:cNvPr>
          <p:cNvCxnSpPr>
            <a:cxnSpLocks/>
          </p:cNvCxnSpPr>
          <p:nvPr/>
        </p:nvCxnSpPr>
        <p:spPr>
          <a:xfrm>
            <a:off x="4453180" y="2386739"/>
            <a:ext cx="764583" cy="3977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6E6994-E218-396A-B19D-B7ADB671B015}"/>
              </a:ext>
            </a:extLst>
          </p:cNvPr>
          <p:cNvCxnSpPr>
            <a:cxnSpLocks/>
          </p:cNvCxnSpPr>
          <p:nvPr/>
        </p:nvCxnSpPr>
        <p:spPr>
          <a:xfrm>
            <a:off x="4008895" y="3112576"/>
            <a:ext cx="1167539" cy="904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AF540E-4B33-C93C-E12D-640A847A64FC}"/>
              </a:ext>
            </a:extLst>
          </p:cNvPr>
          <p:cNvCxnSpPr>
            <a:cxnSpLocks/>
          </p:cNvCxnSpPr>
          <p:nvPr/>
        </p:nvCxnSpPr>
        <p:spPr>
          <a:xfrm>
            <a:off x="3740258" y="3693763"/>
            <a:ext cx="2058114" cy="141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FE6697-8129-975F-19C6-B3C01C33FF85}"/>
              </a:ext>
            </a:extLst>
          </p:cNvPr>
          <p:cNvCxnSpPr>
            <a:cxnSpLocks/>
          </p:cNvCxnSpPr>
          <p:nvPr/>
        </p:nvCxnSpPr>
        <p:spPr>
          <a:xfrm flipV="1">
            <a:off x="4654658" y="4293031"/>
            <a:ext cx="1053884" cy="464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434C18-1242-D942-3A7D-0C10523E6848}"/>
              </a:ext>
            </a:extLst>
          </p:cNvPr>
          <p:cNvCxnSpPr>
            <a:cxnSpLocks/>
          </p:cNvCxnSpPr>
          <p:nvPr/>
        </p:nvCxnSpPr>
        <p:spPr>
          <a:xfrm flipV="1">
            <a:off x="5176434" y="4636121"/>
            <a:ext cx="661261" cy="3956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8ED242-772E-968A-8D55-1C6B0E01ED4F}"/>
              </a:ext>
            </a:extLst>
          </p:cNvPr>
          <p:cNvCxnSpPr>
            <a:cxnSpLocks/>
          </p:cNvCxnSpPr>
          <p:nvPr/>
        </p:nvCxnSpPr>
        <p:spPr>
          <a:xfrm flipV="1">
            <a:off x="5129939" y="4969790"/>
            <a:ext cx="707756" cy="8472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376DC9-6AD1-99C1-93B7-0F0D5D7B87AE}"/>
                  </a:ext>
                </a:extLst>
              </p:cNvPr>
              <p:cNvSpPr txBox="1"/>
              <p:nvPr/>
            </p:nvSpPr>
            <p:spPr>
              <a:xfrm>
                <a:off x="7057621" y="6417208"/>
                <a:ext cx="404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hlinkClick r:id="rId4"/>
                  </a:rPr>
                  <a:t>Figure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Cormode</m:t>
                    </m:r>
                    <m: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et</m:t>
                    </m:r>
                    <m: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.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al</m:t>
                    </m:r>
                    <m: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. 2020</m:t>
                    </m:r>
                  </m:oMath>
                </a14:m>
                <a:r>
                  <a:rPr lang="en-US" dirty="0">
                    <a:hlinkClick r:id="rId4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376DC9-6AD1-99C1-93B7-0F0D5D7B8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621" y="6417208"/>
                <a:ext cx="404247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27291E-2DFC-7A37-E7AA-0C39B611682E}"/>
              </a:ext>
            </a:extLst>
          </p:cNvPr>
          <p:cNvCxnSpPr>
            <a:cxnSpLocks/>
          </p:cNvCxnSpPr>
          <p:nvPr/>
        </p:nvCxnSpPr>
        <p:spPr>
          <a:xfrm>
            <a:off x="3740258" y="3693763"/>
            <a:ext cx="1968284" cy="3403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2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389C-E857-0123-FFF4-C1113915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988D44-2AC3-D58F-3729-B9FEE153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258" y="2692300"/>
            <a:ext cx="6889553" cy="2473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437F4-3B9D-D873-69B5-F96A82254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599" y="1833966"/>
                <a:ext cx="4614164" cy="48199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Algorithm for merging REQ sketch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dirty="0"/>
                  <a:t> into sketch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Compactors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</a:rPr>
                  <a:t> integrated sequentially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</a:rPr>
                  <a:t>Buffers of each level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are combined </a:t>
                </a:r>
                <a:endParaRPr lang="en-US" sz="2400" b="0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</a:rPr>
                  <a:t>Check if buffer at each level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is full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If the buffer is full perform compaction operation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437F4-3B9D-D873-69B5-F96A82254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599" y="1833966"/>
                <a:ext cx="4614164" cy="4819973"/>
              </a:xfrm>
              <a:blipFill>
                <a:blip r:embed="rId3"/>
                <a:stretch>
                  <a:fillRect l="-2642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BBAADB0B-3826-5FD5-DF11-EA56B413FC75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REQ Algorithm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2110AF-7624-B07B-EC6D-CF886A8552FE}"/>
              </a:ext>
            </a:extLst>
          </p:cNvPr>
          <p:cNvCxnSpPr>
            <a:cxnSpLocks/>
          </p:cNvCxnSpPr>
          <p:nvPr/>
        </p:nvCxnSpPr>
        <p:spPr>
          <a:xfrm>
            <a:off x="4799308" y="3184725"/>
            <a:ext cx="573438" cy="3750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D8F00E-2A10-1D08-B1BA-503874264D50}"/>
              </a:ext>
            </a:extLst>
          </p:cNvPr>
          <p:cNvCxnSpPr>
            <a:cxnSpLocks/>
          </p:cNvCxnSpPr>
          <p:nvPr/>
        </p:nvCxnSpPr>
        <p:spPr>
          <a:xfrm>
            <a:off x="4561668" y="3799213"/>
            <a:ext cx="997057" cy="701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44C4CF-1479-5733-F8A7-3000BA61BF1A}"/>
              </a:ext>
            </a:extLst>
          </p:cNvPr>
          <p:cNvCxnSpPr>
            <a:cxnSpLocks/>
          </p:cNvCxnSpPr>
          <p:nvPr/>
        </p:nvCxnSpPr>
        <p:spPr>
          <a:xfrm flipV="1">
            <a:off x="5000786" y="4363229"/>
            <a:ext cx="743919" cy="138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2F0173-B6DA-8993-CC52-AFD05A99B767}"/>
              </a:ext>
            </a:extLst>
          </p:cNvPr>
          <p:cNvCxnSpPr>
            <a:cxnSpLocks/>
          </p:cNvCxnSpPr>
          <p:nvPr/>
        </p:nvCxnSpPr>
        <p:spPr>
          <a:xfrm flipV="1">
            <a:off x="4695986" y="4561668"/>
            <a:ext cx="1177872" cy="718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C93915-CA74-EA9A-8903-A7131887FD6E}"/>
                  </a:ext>
                </a:extLst>
              </p:cNvPr>
              <p:cNvSpPr txBox="1"/>
              <p:nvPr/>
            </p:nvSpPr>
            <p:spPr>
              <a:xfrm>
                <a:off x="7057621" y="6417208"/>
                <a:ext cx="4042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hlinkClick r:id="rId4"/>
                  </a:rPr>
                  <a:t>Figure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Cormode</m:t>
                    </m:r>
                    <m: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et</m:t>
                    </m:r>
                    <m: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.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al</m:t>
                    </m:r>
                    <m:r>
                      <a:rPr lang="en-US" dirty="0">
                        <a:latin typeface="Cambria Math" panose="02040503050406030204" pitchFamily="18" charset="0"/>
                        <a:hlinkClick r:id="rId4"/>
                      </a:rPr>
                      <m:t>. 2020</m:t>
                    </m:r>
                  </m:oMath>
                </a14:m>
                <a:r>
                  <a:rPr lang="en-US" dirty="0">
                    <a:hlinkClick r:id="rId4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C93915-CA74-EA9A-8903-A7131887F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621" y="6417208"/>
                <a:ext cx="404247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30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14B35-BC66-B674-075E-19379BBC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A67B-1486-8F46-58DE-DF8DC5EF6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Comparing T-Digest to </a:t>
            </a:r>
            <a:r>
              <a:rPr lang="en-US"/>
              <a:t>REQ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765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B40B-4ACF-D84D-EF41-A10D88CF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0A56A-2C4C-FD65-A9CF-A1CCACB602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1" y="1324927"/>
                <a:ext cx="5528565" cy="52463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One can take advantage of the performance differences between the t-digest and REQ algorithms</a:t>
                </a:r>
              </a:p>
              <a:p>
                <a:r>
                  <a:rPr lang="en-US" dirty="0"/>
                  <a:t>The t-digest algorithm is known to have a bias at extreme quantiles that increases with sample size,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REQ algorithm is unbiased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0A56A-2C4C-FD65-A9CF-A1CCACB60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1" y="1324927"/>
                <a:ext cx="5528565" cy="5246354"/>
              </a:xfrm>
              <a:blipFill>
                <a:blip r:embed="rId2"/>
                <a:stretch>
                  <a:fillRect l="-2315" t="-1858" r="-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A4D1C50-54A6-EF14-27F7-5C98CD0EBAD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Comparison of Quantile in Sketches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C3B49-4C61-EF9D-C9DA-072772C40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914" y="935064"/>
            <a:ext cx="5203634" cy="2936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230ED-966F-E420-5E36-3DE8C6A72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441" y="3906785"/>
            <a:ext cx="5203634" cy="2951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C1AF51-679C-A0A7-B6F9-5BECB222E48B}"/>
              </a:ext>
            </a:extLst>
          </p:cNvPr>
          <p:cNvSpPr txBox="1"/>
          <p:nvPr/>
        </p:nvSpPr>
        <p:spPr>
          <a:xfrm>
            <a:off x="1452401" y="6201950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5"/>
              </a:rPr>
              <a:t>Figure from </a:t>
            </a:r>
            <a:r>
              <a:rPr lang="en-US" dirty="0" err="1">
                <a:hlinkClick r:id="rId5"/>
              </a:rPr>
              <a:t>DataSketches</a:t>
            </a:r>
            <a:r>
              <a:rPr lang="en-US" dirty="0">
                <a:hlinkClick r:id="rId5"/>
              </a:rPr>
              <a:t> User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19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598B-09CF-7A67-648D-BA90A436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BE3F8-A337-BDE8-B2E6-D1C962226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4505676" cy="5246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One can take advantage of the performance differences between the t-digest and REQ algorithms</a:t>
            </a:r>
          </a:p>
          <a:p>
            <a:r>
              <a:rPr lang="en-US" dirty="0"/>
              <a:t>The t-digest and REQ algorithms have different error characteristics with sample size   </a:t>
            </a:r>
          </a:p>
          <a:p>
            <a:r>
              <a:rPr lang="en-US" dirty="0"/>
              <a:t>The memory foot print of a t-digest is constant, whereas the memory required for REQ increases with sample size</a:t>
            </a:r>
          </a:p>
          <a:p>
            <a:r>
              <a:rPr lang="en-US" dirty="0"/>
              <a:t>Both algorithms have tradeoff between memory and error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0E4D62-DEDA-407D-C245-866E9D1067EC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Comparison of Quantile in Sketches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FAB4C-5B1A-2B22-167E-90A4D37CF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347" y="888892"/>
            <a:ext cx="5078611" cy="30005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1801EF-20F9-F59B-69D0-2A2CB15E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913" y="3795468"/>
            <a:ext cx="5245883" cy="300053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907BEE-C692-BCC8-0A89-C370B45ABD9E}"/>
              </a:ext>
            </a:extLst>
          </p:cNvPr>
          <p:cNvCxnSpPr>
            <a:cxnSpLocks/>
          </p:cNvCxnSpPr>
          <p:nvPr/>
        </p:nvCxnSpPr>
        <p:spPr>
          <a:xfrm flipV="1">
            <a:off x="4959458" y="2670875"/>
            <a:ext cx="1942455" cy="7129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C10C04-4F0D-1811-863E-E7D45D92B8CE}"/>
              </a:ext>
            </a:extLst>
          </p:cNvPr>
          <p:cNvCxnSpPr>
            <a:cxnSpLocks/>
          </p:cNvCxnSpPr>
          <p:nvPr/>
        </p:nvCxnSpPr>
        <p:spPr>
          <a:xfrm>
            <a:off x="5114441" y="4949125"/>
            <a:ext cx="1746142" cy="196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D80A44-585B-2729-404C-347524BF8643}"/>
              </a:ext>
            </a:extLst>
          </p:cNvPr>
          <p:cNvSpPr txBox="1"/>
          <p:nvPr/>
        </p:nvSpPr>
        <p:spPr>
          <a:xfrm>
            <a:off x="1343913" y="6336268"/>
            <a:ext cx="404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Figure from </a:t>
            </a:r>
            <a:r>
              <a:rPr lang="en-US" dirty="0" err="1">
                <a:hlinkClick r:id="rId4"/>
              </a:rPr>
              <a:t>DataSketches</a:t>
            </a:r>
            <a:r>
              <a:rPr lang="en-US" dirty="0">
                <a:hlinkClick r:id="rId4"/>
              </a:rPr>
              <a:t> User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6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C93C-28B0-7D27-527E-6AD27A9E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7B92-0BE8-1092-4CC7-132447709E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 2</a:t>
            </a:r>
          </a:p>
        </p:txBody>
      </p:sp>
    </p:spTree>
    <p:extLst>
      <p:ext uri="{BB962C8B-B14F-4D97-AF65-F5344CB8AC3E}">
        <p14:creationId xmlns:p14="http://schemas.microsoft.com/office/powerpoint/2010/main" val="6392064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Volume in a security order book are defined by the quantiles  </a:t>
            </a:r>
          </a:p>
          <a:p>
            <a:r>
              <a:rPr lang="en-US" dirty="0"/>
              <a:t>Is a continuous auction market</a:t>
            </a:r>
          </a:p>
          <a:p>
            <a:r>
              <a:rPr lang="en-US" b="1" dirty="0"/>
              <a:t>Inside spread </a:t>
            </a:r>
            <a:r>
              <a:rPr lang="en-US" dirty="0"/>
              <a:t>is difference between highest bid and lowest ask </a:t>
            </a:r>
          </a:p>
          <a:p>
            <a:r>
              <a:rPr lang="en-US" dirty="0"/>
              <a:t>Volume increases as spread increases</a:t>
            </a:r>
          </a:p>
          <a:p>
            <a:pPr lvl="1"/>
            <a:r>
              <a:rPr lang="en-US" dirty="0"/>
              <a:t>Often de minimis volume at the inside spread </a:t>
            </a:r>
          </a:p>
          <a:p>
            <a:pPr lvl="1"/>
            <a:r>
              <a:rPr lang="en-US" dirty="0"/>
              <a:t>Larger trades pay larger spread </a:t>
            </a:r>
          </a:p>
          <a:p>
            <a:r>
              <a:rPr lang="en-US" dirty="0"/>
              <a:t>Example: in US equities markets quantiles are measured in </a:t>
            </a:r>
            <a:r>
              <a:rPr lang="en-US" dirty="0" err="1"/>
              <a:t>pennes</a:t>
            </a:r>
            <a:r>
              <a:rPr lang="en-US" dirty="0"/>
              <a:t>, $0.01. </a:t>
            </a:r>
          </a:p>
          <a:p>
            <a:r>
              <a:rPr lang="en-US" dirty="0"/>
              <a:t>Stream analysis of order book provides vital trade execution information </a:t>
            </a:r>
          </a:p>
          <a:p>
            <a:r>
              <a:rPr lang="en-US" dirty="0"/>
              <a:t>See patent </a:t>
            </a:r>
            <a:r>
              <a:rPr lang="en-US" dirty="0">
                <a:hlinkClick r:id="rId2"/>
              </a:rPr>
              <a:t>US 8,768,821, Elston, 2011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2: Real-time Depth of Book  </a:t>
            </a:r>
          </a:p>
        </p:txBody>
      </p:sp>
    </p:spTree>
    <p:extLst>
      <p:ext uri="{BB962C8B-B14F-4D97-AF65-F5344CB8AC3E}">
        <p14:creationId xmlns:p14="http://schemas.microsoft.com/office/powerpoint/2010/main" val="109394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BEABF-7649-384E-AE8D-7815163F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C0C96-5F41-259E-0490-480C36668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Volume in a security order book are defined by the quantiles  </a:t>
            </a:r>
          </a:p>
          <a:p>
            <a:r>
              <a:rPr lang="en-US" dirty="0"/>
              <a:t>Order book constructed by accumulating open (bid/ask, price, volume) tuples</a:t>
            </a:r>
          </a:p>
          <a:p>
            <a:pPr lvl="1"/>
            <a:r>
              <a:rPr lang="en-US" dirty="0"/>
              <a:t>Orders and trades arrive in high volume stream for each security  </a:t>
            </a:r>
          </a:p>
          <a:p>
            <a:pPr lvl="1"/>
            <a:r>
              <a:rPr lang="en-US" dirty="0"/>
              <a:t>Order book updates at sub-microsecond rate </a:t>
            </a:r>
          </a:p>
          <a:p>
            <a:pPr lvl="1"/>
            <a:r>
              <a:rPr lang="en-US" dirty="0"/>
              <a:t>Storing history is infeasible   </a:t>
            </a:r>
          </a:p>
          <a:p>
            <a:r>
              <a:rPr lang="en-US" dirty="0"/>
              <a:t>Quantiles of order book are the available volume at each spread   </a:t>
            </a:r>
          </a:p>
          <a:p>
            <a:r>
              <a:rPr lang="en-US" dirty="0"/>
              <a:t>Securities traded on multiple exchanges   </a:t>
            </a:r>
          </a:p>
          <a:p>
            <a:pPr lvl="1"/>
            <a:r>
              <a:rPr lang="en-US" dirty="0"/>
              <a:t>Each exchange outputs high volume stream for each security  </a:t>
            </a:r>
          </a:p>
          <a:p>
            <a:pPr lvl="1"/>
            <a:r>
              <a:rPr lang="en-US" dirty="0"/>
              <a:t>Must integrate streams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4A865F-64F2-A205-8F2A-523FB591102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2: Real-time Depth of Book  </a:t>
            </a:r>
          </a:p>
        </p:txBody>
      </p:sp>
    </p:spTree>
    <p:extLst>
      <p:ext uri="{BB962C8B-B14F-4D97-AF65-F5344CB8AC3E}">
        <p14:creationId xmlns:p14="http://schemas.microsoft.com/office/powerpoint/2010/main" val="249788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C40B-0CB4-59CC-E143-8014700C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690E-01DC-3D91-8832-53FFA5F80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2821"/>
            <a:ext cx="10515600" cy="50421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Depth of book, order lifetime and other statistics at several spreads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603BE5-D914-0316-C4D5-1EC06429536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2: Real-time Depth of Book  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1210093-DF1C-E24D-8B25-B403A2286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485" y="1653494"/>
            <a:ext cx="9163050" cy="51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62171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5C22-81D6-B535-18EC-8D0A2D443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6A1B-5A9C-DA3F-62C7-A5D4901E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 </a:t>
            </a:r>
          </a:p>
        </p:txBody>
      </p:sp>
    </p:spTree>
    <p:extLst>
      <p:ext uri="{BB962C8B-B14F-4D97-AF65-F5344CB8AC3E}">
        <p14:creationId xmlns:p14="http://schemas.microsoft.com/office/powerpoint/2010/main" val="6733217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EA5B-8D40-ECD4-3E8D-B0399BA51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32A60-1566-22FB-7BAF-37B637D45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provide market and credit risk reports to management and regulators   </a:t>
            </a:r>
          </a:p>
          <a:p>
            <a:r>
              <a:rPr lang="en-US" dirty="0"/>
              <a:t>Global bank with large holdings   </a:t>
            </a:r>
          </a:p>
          <a:p>
            <a:pPr lvl="1"/>
            <a:r>
              <a:rPr lang="en-US" dirty="0"/>
              <a:t>Trading on a 24/7 basis – global markets never sleep!  </a:t>
            </a:r>
          </a:p>
          <a:p>
            <a:pPr lvl="1"/>
            <a:r>
              <a:rPr lang="en-US" dirty="0"/>
              <a:t>Hold illiquid (rarely traded) assets  </a:t>
            </a:r>
          </a:p>
          <a:p>
            <a:r>
              <a:rPr lang="en-US" dirty="0"/>
              <a:t>Regulators require snap shot reports every 4 hours and within 2 hours on demand</a:t>
            </a:r>
          </a:p>
          <a:p>
            <a:pPr lvl="1"/>
            <a:r>
              <a:rPr lang="en-US" dirty="0"/>
              <a:t>Existing batch system required 12+ hours to update reports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B8CA3C-F59D-D654-51D4-0EE28687B7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3: Capital Markets Risk </a:t>
            </a:r>
          </a:p>
        </p:txBody>
      </p:sp>
    </p:spTree>
    <p:extLst>
      <p:ext uri="{BB962C8B-B14F-4D97-AF65-F5344CB8AC3E}">
        <p14:creationId xmlns:p14="http://schemas.microsoft.com/office/powerpoint/2010/main" val="284559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1000s of risk factors to calibrate </a:t>
            </a:r>
          </a:p>
          <a:p>
            <a:pPr lvl="1"/>
            <a:r>
              <a:rPr lang="en-US" dirty="0"/>
              <a:t>Asset type </a:t>
            </a:r>
          </a:p>
          <a:p>
            <a:pPr lvl="1"/>
            <a:r>
              <a:rPr lang="en-US" dirty="0"/>
              <a:t>Industry exposure</a:t>
            </a:r>
          </a:p>
          <a:p>
            <a:pPr lvl="1"/>
            <a:r>
              <a:rPr lang="en-US" dirty="0"/>
              <a:t>Ratings </a:t>
            </a:r>
          </a:p>
          <a:p>
            <a:pPr lvl="1"/>
            <a:r>
              <a:rPr lang="en-US" dirty="0"/>
              <a:t>FX exposure </a:t>
            </a:r>
          </a:p>
          <a:p>
            <a:pPr lvl="1"/>
            <a:r>
              <a:rPr lang="en-US" dirty="0"/>
              <a:t>Interest rate exposure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Market conditions change rapidly</a:t>
            </a:r>
            <a:r>
              <a:rPr lang="en-US" sz="3200" dirty="0"/>
              <a:t> </a:t>
            </a:r>
          </a:p>
          <a:p>
            <a:pPr lvl="1"/>
            <a:r>
              <a:rPr lang="en-US" dirty="0"/>
              <a:t>Must down weight older data</a:t>
            </a:r>
          </a:p>
          <a:p>
            <a:pPr lvl="1"/>
            <a:r>
              <a:rPr lang="en-US" dirty="0"/>
              <a:t>Impute valuations for illiquid assets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3: Capital Markets Risk </a:t>
            </a:r>
          </a:p>
        </p:txBody>
      </p:sp>
    </p:spTree>
    <p:extLst>
      <p:ext uri="{BB962C8B-B14F-4D97-AF65-F5344CB8AC3E}">
        <p14:creationId xmlns:p14="http://schemas.microsoft.com/office/powerpoint/2010/main" val="297093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Scaling </a:t>
            </a:r>
          </a:p>
          <a:p>
            <a:r>
              <a:rPr lang="en-US" dirty="0"/>
              <a:t>Initial calibration is computed in batch    </a:t>
            </a:r>
          </a:p>
          <a:p>
            <a:pPr lvl="1"/>
            <a:r>
              <a:rPr lang="en-US" dirty="0"/>
              <a:t>Not time critical  </a:t>
            </a:r>
          </a:p>
          <a:p>
            <a:r>
              <a:rPr lang="en-US" dirty="0"/>
              <a:t>Running model in production </a:t>
            </a:r>
          </a:p>
          <a:p>
            <a:pPr lvl="1"/>
            <a:r>
              <a:rPr lang="en-US" dirty="0"/>
              <a:t>Batch too slow  </a:t>
            </a:r>
          </a:p>
          <a:p>
            <a:pPr lvl="1"/>
            <a:r>
              <a:rPr lang="en-US" dirty="0"/>
              <a:t>Stream data and update asset holdings (positions) </a:t>
            </a:r>
          </a:p>
          <a:p>
            <a:pPr lvl="1"/>
            <a:r>
              <a:rPr lang="en-US" dirty="0"/>
              <a:t>Incrementally update risk factors  </a:t>
            </a:r>
          </a:p>
          <a:p>
            <a:pPr lvl="1"/>
            <a:r>
              <a:rPr lang="en-US" dirty="0"/>
              <a:t>Upon demand perform aggregation to generate required reports – fast</a:t>
            </a:r>
          </a:p>
          <a:p>
            <a:r>
              <a:rPr lang="en-US" dirty="0"/>
              <a:t>Distribute streaming compute load by asset type on cluster </a:t>
            </a:r>
          </a:p>
          <a:p>
            <a:pPr lvl="1"/>
            <a:r>
              <a:rPr lang="en-US" dirty="0"/>
              <a:t>Trades, prices and other data only go to node where required   </a:t>
            </a:r>
          </a:p>
          <a:p>
            <a:r>
              <a:rPr lang="en-US" dirty="0"/>
              <a:t>Archive raw data and summaries per regulatory required retention policy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3: Capital Markets Risk </a:t>
            </a:r>
          </a:p>
        </p:txBody>
      </p:sp>
    </p:spTree>
    <p:extLst>
      <p:ext uri="{BB962C8B-B14F-4D97-AF65-F5344CB8AC3E}">
        <p14:creationId xmlns:p14="http://schemas.microsoft.com/office/powerpoint/2010/main" val="210693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FB76-C81E-1044-FEB4-AE1343AC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8F0C-B1A0-5DD7-6C61-0D0B8F558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87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Exponential weighting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Cardinality – how many event types? </a:t>
            </a:r>
          </a:p>
          <a:p>
            <a:pPr lvl="1"/>
            <a:r>
              <a:rPr lang="en-US" dirty="0"/>
              <a:t>Quantiles – what is the density of the distribution?  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34737</TotalTime>
  <Words>4738</Words>
  <Application>Microsoft Office PowerPoint</Application>
  <PresentationFormat>Widescreen</PresentationFormat>
  <Paragraphs>720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Calibri Light</vt:lpstr>
      <vt:lpstr>Cambria Math</vt:lpstr>
      <vt:lpstr>Courier New</vt:lpstr>
      <vt:lpstr>Office Theme</vt:lpstr>
      <vt:lpstr>CSCI E-96 Data Mining, Discovery and Exploration Online Algorithms and Steaming Analytics, Part 2</vt:lpstr>
      <vt:lpstr>Main topics in this course </vt:lpstr>
      <vt:lpstr>PowerPoint Presentation</vt:lpstr>
      <vt:lpstr>Counting Events - Cardinality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Estimating Quantiles in Streams </vt:lpstr>
      <vt:lpstr>PowerPoint Presentation</vt:lpstr>
      <vt:lpstr>PowerPoint Presentation</vt:lpstr>
      <vt:lpstr>PowerPoint Presentation</vt:lpstr>
      <vt:lpstr>PowerPoint Presentation</vt:lpstr>
      <vt:lpstr>T-Digest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Relative Error Quantile (REQ)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Comparing T-Digest to REQ Algorithms</vt:lpstr>
      <vt:lpstr>PowerPoint Presentation</vt:lpstr>
      <vt:lpstr>PowerPoint Presentation</vt:lpstr>
      <vt:lpstr>Case Study 2</vt:lpstr>
      <vt:lpstr>PowerPoint Presentation</vt:lpstr>
      <vt:lpstr>PowerPoint Presentation</vt:lpstr>
      <vt:lpstr>PowerPoint Presentation</vt:lpstr>
      <vt:lpstr>Case Study </vt:lpstr>
      <vt:lpstr>PowerPoint Presentation</vt:lpstr>
      <vt:lpstr>PowerPoint Presentation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854</cp:revision>
  <cp:lastPrinted>2019-09-03T23:18:19Z</cp:lastPrinted>
  <dcterms:created xsi:type="dcterms:W3CDTF">2019-08-02T23:14:29Z</dcterms:created>
  <dcterms:modified xsi:type="dcterms:W3CDTF">2026-10-15T00:13:33Z</dcterms:modified>
</cp:coreProperties>
</file>