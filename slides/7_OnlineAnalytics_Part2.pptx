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6"/>
  </p:notesMasterIdLst>
  <p:sldIdLst>
    <p:sldId id="256" r:id="rId2"/>
    <p:sldId id="819" r:id="rId3"/>
    <p:sldId id="443" r:id="rId4"/>
    <p:sldId id="442" r:id="rId5"/>
    <p:sldId id="378" r:id="rId6"/>
    <p:sldId id="503" r:id="rId7"/>
    <p:sldId id="379" r:id="rId8"/>
    <p:sldId id="292" r:id="rId9"/>
    <p:sldId id="287" r:id="rId10"/>
    <p:sldId id="288" r:id="rId11"/>
    <p:sldId id="386" r:id="rId12"/>
    <p:sldId id="387" r:id="rId13"/>
    <p:sldId id="388" r:id="rId14"/>
    <p:sldId id="380" r:id="rId15"/>
    <p:sldId id="289" r:id="rId16"/>
    <p:sldId id="290" r:id="rId17"/>
    <p:sldId id="412" r:id="rId18"/>
    <p:sldId id="414" r:id="rId19"/>
    <p:sldId id="415" r:id="rId20"/>
    <p:sldId id="416" r:id="rId21"/>
    <p:sldId id="417" r:id="rId22"/>
    <p:sldId id="420" r:id="rId23"/>
    <p:sldId id="419" r:id="rId24"/>
    <p:sldId id="422" r:id="rId25"/>
    <p:sldId id="424" r:id="rId26"/>
    <p:sldId id="423" r:id="rId27"/>
    <p:sldId id="425" r:id="rId28"/>
    <p:sldId id="451" r:id="rId29"/>
    <p:sldId id="453" r:id="rId30"/>
    <p:sldId id="504" r:id="rId31"/>
    <p:sldId id="454" r:id="rId32"/>
    <p:sldId id="455" r:id="rId33"/>
    <p:sldId id="820" r:id="rId34"/>
    <p:sldId id="459" r:id="rId35"/>
    <p:sldId id="462" r:id="rId36"/>
    <p:sldId id="463" r:id="rId37"/>
    <p:sldId id="465" r:id="rId38"/>
    <p:sldId id="466" r:id="rId39"/>
    <p:sldId id="467" r:id="rId40"/>
    <p:sldId id="484" r:id="rId41"/>
    <p:sldId id="470" r:id="rId42"/>
    <p:sldId id="471" r:id="rId43"/>
    <p:sldId id="469" r:id="rId44"/>
    <p:sldId id="472" r:id="rId45"/>
    <p:sldId id="473" r:id="rId46"/>
    <p:sldId id="474" r:id="rId47"/>
    <p:sldId id="475" r:id="rId48"/>
    <p:sldId id="476" r:id="rId49"/>
    <p:sldId id="477" r:id="rId50"/>
    <p:sldId id="481" r:id="rId51"/>
    <p:sldId id="482" r:id="rId52"/>
    <p:sldId id="483" r:id="rId53"/>
    <p:sldId id="821" r:id="rId54"/>
    <p:sldId id="456" r:id="rId55"/>
    <p:sldId id="460" r:id="rId56"/>
    <p:sldId id="461" r:id="rId57"/>
    <p:sldId id="485" r:id="rId58"/>
    <p:sldId id="486" r:id="rId59"/>
    <p:sldId id="492" r:id="rId60"/>
    <p:sldId id="493" r:id="rId61"/>
    <p:sldId id="487" r:id="rId62"/>
    <p:sldId id="491" r:id="rId63"/>
    <p:sldId id="489" r:id="rId64"/>
    <p:sldId id="490" r:id="rId65"/>
    <p:sldId id="452" r:id="rId66"/>
    <p:sldId id="373" r:id="rId67"/>
    <p:sldId id="497" r:id="rId68"/>
    <p:sldId id="496" r:id="rId69"/>
    <p:sldId id="494" r:id="rId70"/>
    <p:sldId id="495" r:id="rId71"/>
    <p:sldId id="374" r:id="rId72"/>
    <p:sldId id="376" r:id="rId73"/>
    <p:sldId id="505" r:id="rId74"/>
    <p:sldId id="383" r:id="rId7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77" autoAdjust="0"/>
    <p:restoredTop sz="94660"/>
  </p:normalViewPr>
  <p:slideViewPr>
    <p:cSldViewPr snapToGrid="0">
      <p:cViewPr varScale="1">
        <p:scale>
          <a:sx n="77" d="100"/>
          <a:sy n="77" d="100"/>
        </p:scale>
        <p:origin x="17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3E01E3-981B-4CB5-81ED-65C622C255C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19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yperLogLog" TargetMode="External"/><Relationship Id="rId7" Type="http://schemas.openxmlformats.org/officeDocument/2006/relationships/hyperlink" Target="https://www.manning.com/books/algorithms-and-data-structures-for-massive-datasets" TargetMode="External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pdf/2308.16862v5" TargetMode="External"/><Relationship Id="rId5" Type="http://schemas.openxmlformats.org/officeDocument/2006/relationships/hyperlink" Target="https://arxiv.org/pdf/1902.10995" TargetMode="External"/><Relationship Id="rId4" Type="http://schemas.openxmlformats.org/officeDocument/2006/relationships/hyperlink" Target="http://redisgate.kr/download/HyperLogLog-in-Practice.pdf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en.wikipedia.org/wiki/Flajolet%E2%80%93Martin_algorithm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rmonic_mean" TargetMode="External"/><Relationship Id="rId2" Type="http://schemas.openxmlformats.org/officeDocument/2006/relationships/hyperlink" Target="https://algo.inria.fr/flajolet/Publications/FlFuGaMe07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4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136.png"/><Relationship Id="rId18" Type="http://schemas.openxmlformats.org/officeDocument/2006/relationships/image" Target="../media/image145.png"/><Relationship Id="rId3" Type="http://schemas.openxmlformats.org/officeDocument/2006/relationships/image" Target="../media/image7.png"/><Relationship Id="rId7" Type="http://schemas.openxmlformats.org/officeDocument/2006/relationships/image" Target="../media/image130.png"/><Relationship Id="rId12" Type="http://schemas.openxmlformats.org/officeDocument/2006/relationships/image" Target="../media/image132.png"/><Relationship Id="rId17" Type="http://schemas.openxmlformats.org/officeDocument/2006/relationships/image" Target="../media/image14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11" Type="http://schemas.openxmlformats.org/officeDocument/2006/relationships/image" Target="../media/image131.png"/><Relationship Id="rId5" Type="http://schemas.openxmlformats.org/officeDocument/2006/relationships/image" Target="../media/image128.png"/><Relationship Id="rId15" Type="http://schemas.openxmlformats.org/officeDocument/2006/relationships/image" Target="../media/image144.png"/><Relationship Id="rId10" Type="http://schemas.openxmlformats.org/officeDocument/2006/relationships/image" Target="../media/image710.png"/><Relationship Id="rId4" Type="http://schemas.openxmlformats.org/officeDocument/2006/relationships/image" Target="../media/image1270.png"/><Relationship Id="rId9" Type="http://schemas.openxmlformats.org/officeDocument/2006/relationships/image" Target="../media/image700.png"/><Relationship Id="rId14" Type="http://schemas.openxmlformats.org/officeDocument/2006/relationships/image" Target="../media/image14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0.png"/><Relationship Id="rId2" Type="http://schemas.openxmlformats.org/officeDocument/2006/relationships/hyperlink" Target="https://algo.inria.fr/flajolet/Publications/DuFl03.pdf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redisgate.kr/download/HyperLogLog-in-Practice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4.01668" TargetMode="External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2.png"/><Relationship Id="rId4" Type="http://schemas.openxmlformats.org/officeDocument/2006/relationships/hyperlink" Target="https://arxiv.org/pdf/2004.08255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ritzmucha/fastdigest" TargetMode="External"/><Relationship Id="rId2" Type="http://schemas.openxmlformats.org/officeDocument/2006/relationships/hyperlink" Target="https://datasketches.apache.org/docs/tdigest/tdigest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tdunning/t-digest?tab=readme-ov-file" TargetMode="External"/><Relationship Id="rId4" Type="http://schemas.openxmlformats.org/officeDocument/2006/relationships/hyperlink" Target="https://github.com/CamDavidsonPilon/tdigest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1902.04023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02.04023" TargetMode="External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rxiv.org/abs/1902.04023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google.com/bigquery/docs/reference/standard-sql/kll_functions" TargetMode="External"/><Relationship Id="rId2" Type="http://schemas.openxmlformats.org/officeDocument/2006/relationships/hyperlink" Target="https://arxiv.org/abs/1603.05346v2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hyperlink" Target="https://datasketches.apache.org/docs/KLL/KLLSketch.html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78.png"/><Relationship Id="rId4" Type="http://schemas.openxmlformats.org/officeDocument/2006/relationships/image" Target="../media/image17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7" Type="http://schemas.openxmlformats.org/officeDocument/2006/relationships/hyperlink" Target="https://arxiv.org/abs/1603.05346v2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5" Type="http://schemas.openxmlformats.org/officeDocument/2006/relationships/image" Target="../media/image28.png"/><Relationship Id="rId4" Type="http://schemas.openxmlformats.org/officeDocument/2006/relationships/image" Target="../media/image17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hyperlink" Target="https://arxiv.org/abs/2004.01668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8.png"/><Relationship Id="rId7" Type="http://schemas.openxmlformats.org/officeDocument/2006/relationships/image" Target="../media/image182.png"/><Relationship Id="rId2" Type="http://schemas.openxmlformats.org/officeDocument/2006/relationships/hyperlink" Target="https://en.wikipedia.org/wiki/Geometric_distribu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0.png"/><Relationship Id="rId5" Type="http://schemas.openxmlformats.org/officeDocument/2006/relationships/hyperlink" Target="https://arxiv.org/abs/1603.05346v2" TargetMode="External"/><Relationship Id="rId10" Type="http://schemas.openxmlformats.org/officeDocument/2006/relationships/image" Target="../media/image191.png"/><Relationship Id="rId4" Type="http://schemas.openxmlformats.org/officeDocument/2006/relationships/image" Target="../media/image30.png"/><Relationship Id="rId9" Type="http://schemas.openxmlformats.org/officeDocument/2006/relationships/image" Target="../media/image18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90.png"/><Relationship Id="rId4" Type="http://schemas.openxmlformats.org/officeDocument/2006/relationships/hyperlink" Target="https://arxiv.org/abs/1603.05346v2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9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tasketches.apache.org/docs/tdigest/tdigest.html" TargetMode="External"/><Relationship Id="rId4" Type="http://schemas.openxmlformats.org/officeDocument/2006/relationships/image" Target="../media/image34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atasketches.apache.org/docs/tdigest/tdigest.html" TargetMode="Externa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pubs.uspto.gov/api/pdf/downloadPdf/8768821?requestToken=eyJzdWIiOiIxZTViODZlZi0zOWZkLTRmZjUtOTFjOC0wNzM4OWY0OGRlMDYiLCJ2ZXIiOiIwMDZkOWE5NS0wNjIxLTQ3ODctOWVlOS00M2E1ZjY1Yjg2MzciLCJleHAiOjB9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650469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Online Algorithms and Steaming Analytics, 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6894" y="416761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E6CDF6-26FF-4F68-942A-A7BA23A117D6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2025, 2026,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Online algorithms build on foundations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EE339-66BA-BCD8-4B59-9C1D3A181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A13EF-E093-09C1-6BA3-6C1E6B3CF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222460"/>
            <a:ext cx="10775169" cy="5060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key points to learn in this lesson?   </a:t>
            </a:r>
            <a:endParaRPr lang="en-US" b="1" dirty="0"/>
          </a:p>
          <a:p>
            <a:r>
              <a:rPr lang="en-US" dirty="0"/>
              <a:t>Measures must be taken to reduce the massive volume of infinite stream data </a:t>
            </a:r>
          </a:p>
          <a:p>
            <a:r>
              <a:rPr lang="en-US" dirty="0"/>
              <a:t>Streams can be real-valued or discrete-valued </a:t>
            </a:r>
          </a:p>
          <a:p>
            <a:r>
              <a:rPr lang="en-US" dirty="0"/>
              <a:t>Stream data can be sampled and filtered to reduce volume</a:t>
            </a:r>
          </a:p>
          <a:p>
            <a:pPr lvl="1"/>
            <a:r>
              <a:rPr lang="en-US" dirty="0"/>
              <a:t>Sampling methods used for filter real valued streams</a:t>
            </a:r>
          </a:p>
          <a:p>
            <a:pPr lvl="1"/>
            <a:r>
              <a:rPr lang="en-US" dirty="0"/>
              <a:t>Hash methods used to filter discrete event streams</a:t>
            </a:r>
          </a:p>
          <a:p>
            <a:r>
              <a:rPr lang="en-US" dirty="0"/>
              <a:t>Sketches (hashes) are used to perform streaming analytics within computation and memory limits for both real valued and discrete streams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271B3C9-4F14-C72D-6AF7-B2CCD0704D2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Streaming Analytics</a:t>
            </a:r>
          </a:p>
        </p:txBody>
      </p:sp>
    </p:spTree>
    <p:extLst>
      <p:ext uri="{BB962C8B-B14F-4D97-AF65-F5344CB8AC3E}">
        <p14:creationId xmlns:p14="http://schemas.microsoft.com/office/powerpoint/2010/main" val="2688737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DEA9F-5659-B1AB-77E4-63543268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EA36C-B7B7-DD7B-1863-F0520B6024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Counting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13957300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Applications of cardinality – counting distinct events</a:t>
                </a:r>
                <a:endParaRPr lang="en-US" b="1" dirty="0"/>
              </a:p>
              <a:p>
                <a:r>
                  <a:rPr lang="en-US" dirty="0"/>
                  <a:t>Unique IP address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=1.6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19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Need to track IP address pairs for traffic routing and cybersecurity </a:t>
                </a:r>
              </a:p>
              <a:p>
                <a:r>
                  <a:rPr lang="en-US" dirty="0"/>
                  <a:t>Number of Facebook friend links assuming an average of 50 friends per user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Cardinality is a key metric of node degree</a:t>
                </a:r>
              </a:p>
              <a:p>
                <a:r>
                  <a:rPr lang="en-US" dirty="0"/>
                  <a:t>Number of unique inventory items processed – hundreds of millions </a:t>
                </a:r>
              </a:p>
              <a:p>
                <a:pPr lvl="1"/>
                <a:r>
                  <a:rPr lang="en-US" dirty="0"/>
                  <a:t>Required to find common combinations in orders </a:t>
                </a:r>
              </a:p>
              <a:p>
                <a:r>
                  <a:rPr lang="en-US" dirty="0"/>
                  <a:t>Etc. </a:t>
                </a:r>
              </a:p>
              <a:p>
                <a:r>
                  <a:rPr lang="en-US" dirty="0"/>
                  <a:t>We cannot just build a table for all keys and increment the values (count)!</a:t>
                </a:r>
              </a:p>
              <a:p>
                <a:r>
                  <a:rPr lang="en-US" dirty="0"/>
                  <a:t>We need a good sketch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1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83580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0FFF-E875-552A-4CE8-A1CE288B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5F49C6-D755-2337-810E-FCF5081E7BC2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7D39905-14ED-2E74-16E1-81F558A01332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7F792-2A68-4648-7B36-85AA009F9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68BE56-66E9-D55E-A41E-0A27BCC5D9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D7B7ADC-7C78-69E7-412E-F9126012D129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1EB2295B-A2D9-FF51-AAB4-21C1FD5717F1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FDC0388C-5134-D253-D845-936760AFCAAC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529612-440B-FB1E-3F19-1D43D67B443E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C3EF1A6C-37F0-BCA2-6955-5B7BB8F484C2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F621A7-60FD-26E9-CCB0-D8790D982D76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38BD4-ACDC-BAC7-EB6F-2D729062162C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350FB4C-D335-BB23-C540-40EBCC9594BF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4103F035-6A9B-4AC3-9821-D7993740AF89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7AA12C-F30F-141E-A586-5547202473A4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4CEF96-A130-26F7-0DF2-E7F12E7818C4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377B26-60F7-17E5-C4F1-D784B1546308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85D2954-98F0-1BC4-4516-485A3FCC9ABD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4BB50F21-EF10-D39A-8976-6971E2D83531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1248D9A8-AF91-AB0A-EBD3-E0D6AFA2F288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6CFDCA-08CF-8087-988D-20B9B1EE73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2892CD-B72F-AFBF-A9C9-1D603228A175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C968281-2875-EB55-3918-3CF297FA26E1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237700D-2F02-9453-41F4-2067B115C737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BCAD7FA-960A-90CC-4B36-36D7D988AE7B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12ADF90-B8F7-62BA-0FDE-EB705F513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196F3B64-03A6-3DC8-BB55-D38CDB63379F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DC502A8-9978-13DD-F33C-34602D33545F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B4B346E-E7FE-70AC-68E1-F39C40DB3036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4FEB3E-6A4C-E91B-694F-546E30125FB8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F23209-83D4-03EF-73B2-ECA85A8A4D3E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6DB314E-9A69-8C1B-B0E6-BA190D82B571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3DEE235-CD78-DC25-7777-6D6FDD33F476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8680E6-CD95-90ED-121A-ED781CBBDB2D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C24669-623C-9990-15D7-740A4448189B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AD01A58-2B73-9204-3A3D-EBA7CAE1861E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2FC5E09-739C-2075-2FF6-7716F4C100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19898FE-041A-5E98-A81F-55C6979EEEFA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A8E8C8D-7415-7CD2-723E-97209D7A4C06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F7E98CC-C6F0-2C16-11A7-72C4FB863E6F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C3E42ACB-02FA-A2AD-386C-D32A47DDCBDC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2D2F616-22CF-9D5D-9F20-0728671D5A75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F6D45F4-56DB-2C41-1FC5-A92769951A5E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1B4B2A4-2E6A-A3BD-1DF1-2B2B96EE1747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4AE2C40-4E0E-9D91-93F6-D179C5ACD15E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90BBC4-2FC4-8D16-8D6B-1677C9A6418D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5BED6D-B02D-BF96-DB0D-0A296BFDF0C1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7000731-E8D9-B57A-6E46-B1D2EC1E9D96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24DA504-E27D-B374-AB08-58F190735C43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9DE4805-C686-B62C-09EF-C46E05EC00D6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39F7E-EAC7-400A-42CF-53957BD64E17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494A14-DD78-541B-E4F1-6507230CB142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68A5A55-65D8-D527-61F1-1BC0A8AA497E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967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How to determine cardinality? </a:t>
            </a:r>
            <a:endParaRPr lang="en-US" sz="3200" b="1" dirty="0"/>
          </a:p>
          <a:p>
            <a:r>
              <a:rPr lang="en-US" dirty="0"/>
              <a:t>Maintain table of unique identifiers? </a:t>
            </a:r>
          </a:p>
          <a:p>
            <a:pPr lvl="1"/>
            <a:r>
              <a:rPr lang="en-US" dirty="0"/>
              <a:t>Table can grow without bounds </a:t>
            </a:r>
          </a:p>
          <a:p>
            <a:pPr lvl="1"/>
            <a:r>
              <a:rPr lang="en-US" dirty="0"/>
              <a:t>Need billions of entries for many applications</a:t>
            </a:r>
          </a:p>
          <a:p>
            <a:pPr lvl="1"/>
            <a:r>
              <a:rPr lang="en-US" dirty="0"/>
              <a:t>Not scalable! </a:t>
            </a:r>
          </a:p>
          <a:p>
            <a:r>
              <a:rPr lang="en-US" dirty="0"/>
              <a:t>We need a better approach!</a:t>
            </a:r>
          </a:p>
          <a:p>
            <a:r>
              <a:rPr lang="en-US" dirty="0"/>
              <a:t>Accept approximate results using a </a:t>
            </a:r>
            <a:r>
              <a:rPr lang="en-US" b="1" dirty="0"/>
              <a:t>sketch</a:t>
            </a:r>
            <a:r>
              <a:rPr lang="en-US" dirty="0"/>
              <a:t>, or hash summary, of full data</a:t>
            </a:r>
          </a:p>
          <a:p>
            <a:r>
              <a:rPr lang="en-US" dirty="0"/>
              <a:t>Sketch algorithms are built on two concepts   </a:t>
            </a:r>
          </a:p>
          <a:p>
            <a:pPr lvl="1"/>
            <a:r>
              <a:rPr lang="en-US" dirty="0"/>
              <a:t>Probabilistic sampling </a:t>
            </a:r>
          </a:p>
          <a:p>
            <a:pPr lvl="1"/>
            <a:r>
              <a:rPr lang="en-US" dirty="0"/>
              <a:t>Hash tables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4185545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Approximate counting algorithms used for streaming data</a:t>
            </a:r>
          </a:p>
          <a:p>
            <a:r>
              <a:rPr lang="en-US" dirty="0"/>
              <a:t>Sketch algorithms built on probability analysis of bit map hashes</a:t>
            </a:r>
          </a:p>
          <a:p>
            <a:r>
              <a:rPr lang="en-US" dirty="0" err="1"/>
              <a:t>Flajolet</a:t>
            </a:r>
            <a:r>
              <a:rPr lang="en-US" dirty="0"/>
              <a:t>-Martin algorithm proposed 1985</a:t>
            </a:r>
          </a:p>
          <a:p>
            <a:pPr lvl="1"/>
            <a:r>
              <a:rPr lang="en-US" dirty="0"/>
              <a:t>Improvement: </a:t>
            </a:r>
            <a:r>
              <a:rPr lang="en-US" dirty="0" err="1"/>
              <a:t>LogLog</a:t>
            </a:r>
            <a:r>
              <a:rPr lang="en-US" dirty="0"/>
              <a:t> algorithm, </a:t>
            </a:r>
            <a:r>
              <a:rPr lang="en-US" dirty="0">
                <a:hlinkClick r:id="rId2"/>
              </a:rPr>
              <a:t>Durand and </a:t>
            </a:r>
            <a:r>
              <a:rPr lang="en-US" dirty="0" err="1">
                <a:hlinkClick r:id="rId2"/>
              </a:rPr>
              <a:t>Flajolet</a:t>
            </a:r>
            <a:r>
              <a:rPr lang="en-US" dirty="0">
                <a:hlinkClick r:id="rId2"/>
              </a:rPr>
              <a:t>, 2003 </a:t>
            </a:r>
            <a:endParaRPr lang="en-US" dirty="0"/>
          </a:p>
          <a:p>
            <a:pPr lvl="1"/>
            <a:r>
              <a:rPr lang="en-US" dirty="0"/>
              <a:t>Improvement: </a:t>
            </a:r>
            <a:r>
              <a:rPr lang="en-US" dirty="0" err="1">
                <a:hlinkClick r:id="rId3"/>
              </a:rPr>
              <a:t>HyperLogLog</a:t>
            </a:r>
            <a:r>
              <a:rPr lang="en-US" dirty="0">
                <a:hlinkClick r:id="rId3"/>
              </a:rPr>
              <a:t> algorithm </a:t>
            </a:r>
            <a:r>
              <a:rPr lang="en-US" dirty="0"/>
              <a:t>more accurate, 2007</a:t>
            </a:r>
          </a:p>
          <a:p>
            <a:pPr lvl="1"/>
            <a:r>
              <a:rPr lang="en-US" dirty="0"/>
              <a:t>Refinement: </a:t>
            </a:r>
            <a:r>
              <a:rPr lang="en-US" dirty="0" err="1"/>
              <a:t>HyperLogLog</a:t>
            </a:r>
            <a:r>
              <a:rPr lang="en-US" dirty="0"/>
              <a:t>++, </a:t>
            </a:r>
            <a:r>
              <a:rPr lang="en-US" dirty="0">
                <a:hlinkClick r:id="rId4"/>
              </a:rPr>
              <a:t>Heule, et. al., 2013</a:t>
            </a:r>
            <a:endParaRPr lang="en-US" dirty="0"/>
          </a:p>
          <a:p>
            <a:r>
              <a:rPr lang="en-US" dirty="0"/>
              <a:t>Other state-of-the-art algorithms offer some improvements</a:t>
            </a:r>
          </a:p>
          <a:p>
            <a:pPr lvl="1"/>
            <a:r>
              <a:rPr lang="en-US" dirty="0"/>
              <a:t>Theta sketch, </a:t>
            </a:r>
            <a:r>
              <a:rPr lang="en-US" dirty="0" err="1">
                <a:hlinkClick r:id="rId5"/>
              </a:rPr>
              <a:t>Rimberg</a:t>
            </a:r>
            <a:r>
              <a:rPr lang="en-US" dirty="0">
                <a:hlinkClick r:id="rId5"/>
              </a:rPr>
              <a:t>, 2019</a:t>
            </a:r>
            <a:endParaRPr lang="en-US" dirty="0"/>
          </a:p>
          <a:p>
            <a:pPr lvl="1"/>
            <a:r>
              <a:rPr lang="en-US" dirty="0"/>
              <a:t>Compressed Probabilistic Counting, </a:t>
            </a:r>
            <a:r>
              <a:rPr lang="en-US" dirty="0">
                <a:hlinkClick r:id="rId6"/>
              </a:rPr>
              <a:t>Ertl, 2024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800" dirty="0"/>
              <a:t>For a review of many variations discrete events for large-scale streams see Chapter 5 of </a:t>
            </a:r>
            <a:r>
              <a:rPr lang="en-US" sz="1800" dirty="0">
                <a:hlinkClick r:id="rId7"/>
              </a:rPr>
              <a:t>Algorithms and Structures for Massive Data Sets, </a:t>
            </a:r>
            <a:r>
              <a:rPr lang="en-US" sz="1800" dirty="0" err="1">
                <a:hlinkClick r:id="rId7"/>
              </a:rPr>
              <a:t>Medjodovic</a:t>
            </a:r>
            <a:r>
              <a:rPr lang="en-US" sz="1800" dirty="0">
                <a:hlinkClick r:id="rId7"/>
              </a:rPr>
              <a:t>, et al., 2022, Manning</a:t>
            </a:r>
            <a:r>
              <a:rPr lang="en-US" sz="1800" dirty="0"/>
              <a:t>  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- Cardinality</a:t>
            </a:r>
          </a:p>
        </p:txBody>
      </p:sp>
    </p:spTree>
    <p:extLst>
      <p:ext uri="{BB962C8B-B14F-4D97-AF65-F5344CB8AC3E}">
        <p14:creationId xmlns:p14="http://schemas.microsoft.com/office/powerpoint/2010/main" val="59200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Using binary hash to estimate cardinality </a:t>
                </a:r>
              </a:p>
              <a:p>
                <a:r>
                  <a:rPr lang="en-US" dirty="0"/>
                  <a:t>Consider the binary hash,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, of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for identifier,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hash has some number of trailing zeros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≤#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𝑡𝑟𝑎𝑖𝑙𝑖𝑛𝑔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𝑧𝑒𝑟𝑜𝑠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Example, with hash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d>
                  </m:oMath>
                </a14:m>
                <a:r>
                  <a:rPr lang="en-US" dirty="0"/>
                  <a:t> and event type set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with cardinality 3: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=011100100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=0111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Minimum number of trailing 0s = 1, then add 1 </a:t>
                </a:r>
              </a:p>
              <a:p>
                <a:pPr marL="457200" lvl="1" indent="0">
                  <a:buNone/>
                </a:pPr>
                <a:r>
                  <a:rPr lang="en-US" dirty="0"/>
                  <a:t>Estimate of cardinality for these hashes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0.77351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=5.2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06829"/>
              </a:xfrm>
              <a:blipFill>
                <a:blip r:embed="rId2"/>
                <a:stretch>
                  <a:fillRect l="-1217" t="-183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776301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Using binary hash to estimate </a:t>
                </a:r>
                <a:r>
                  <a:rPr lang="en-US" sz="3000" dirty="0"/>
                  <a:t>cardinality </a:t>
                </a:r>
              </a:p>
              <a:p>
                <a:r>
                  <a:rPr lang="en-US" dirty="0"/>
                  <a:t>Why do the least significant 0 bits approximate log cardinality? </a:t>
                </a:r>
              </a:p>
              <a:p>
                <a:r>
                  <a:rPr lang="en-US" dirty="0"/>
                  <a:t>Consider a uniformly distributed binary hash function </a:t>
                </a:r>
              </a:p>
              <a:p>
                <a:pPr lvl="1"/>
                <a:r>
                  <a:rPr lang="en-US" dirty="0"/>
                  <a:t>Least significant bit,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has probabilities like a sequence of fair coin tosses: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𝑡𝑎𝑖𝑙𝑠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+ 1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ℎ𝑒𝑎𝑑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 Or, probability of least significant bit,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one trailing zero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Example: assume uniform distribution of binary hash values  </a:t>
                </a:r>
              </a:p>
              <a:p>
                <a:pPr lvl="1"/>
                <a:r>
                  <a:rPr lang="en-US" dirty="0"/>
                  <a:t>For least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1 significant bit,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=1/4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least 2 significant bits,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=1/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=1/8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Another </a:t>
                </a:r>
                <a:r>
                  <a:rPr lang="en-US" b="1" dirty="0">
                    <a:hlinkClick r:id="rId2"/>
                  </a:rPr>
                  <a:t>Geometric distribution!</a:t>
                </a:r>
                <a:endParaRPr lang="en-US" b="1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5259746"/>
              </a:xfrm>
              <a:blipFill>
                <a:blip r:embed="rId3"/>
                <a:stretch>
                  <a:fillRect l="-1391" t="-2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838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4F5F2-3FB5-15A7-F606-163B7BCEC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Use binary hash values of event identifiers</a:t>
                </a:r>
              </a:p>
              <a:p>
                <a:pPr lvl="1"/>
                <a:r>
                  <a:rPr lang="en-US" dirty="0"/>
                  <a:t>For string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binary representation,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has range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0;</m:t>
                        </m:r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p>
                        </m:s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en-US" dirty="0"/>
                  <a:t>, a binary string of length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4F0720-B6B3-AD51-1032-3AA091DFD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3A305B4-DB56-0457-D7EE-6987988BA60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689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B9DE4-61F4-EFDF-EFA5-DD6A84A0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bit hash is written: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𝑏𝑖𝑡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A1415E-5F79-BA37-0603-090C7FDC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8F6F3E9-01BD-D2B7-F4A7-ADF4479B635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13618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633B5-B869-0855-D8E6-461A18F78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Flajolet-Martin</a:t>
                </a:r>
                <a:r>
                  <a:rPr lang="en-US" dirty="0"/>
                  <a:t> algorithm for cardinality </a:t>
                </a:r>
                <a:endParaRPr lang="en-US" b="1" dirty="0"/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limLow>
                                      <m:limLowPr>
                                        <m:ctrl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>
                                            <a:latin typeface="Cambria Math" panose="02040503050406030204" pitchFamily="18" charset="0"/>
                                          </a:rPr>
                                          <m:t>min</m:t>
                                        </m:r>
                                      </m:e>
                                      <m:lim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</m:lim>
                                    </m:limLow>
                                  </m:fName>
                                  <m:e>
                                    <m:d>
                                      <m:dPr>
                                        <m:begChr m:val="{"/>
                                        <m:endChr m:val="}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≥0, 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𝑏𝑖𝑡</m:t>
                                        </m:r>
                                        <m:d>
                                          <m:d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Uniform distribution of bits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Geometric distribution of trailing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𝑡𝑟𝑖𝑎𝑙𝑖𝑛𝑔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E75C6A-6263-A9C8-A730-6C4162D159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138767"/>
              </a:xfrm>
              <a:blipFill>
                <a:blip r:embed="rId3"/>
                <a:stretch>
                  <a:fillRect l="-1217" t="-1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6870A41-DB6E-516A-0641-9FC8658E57F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029616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Flajolet-Martin algorithm for cardinality </a:t>
                </a:r>
              </a:p>
              <a:p>
                <a:r>
                  <a:rPr lang="en-US" dirty="0"/>
                  <a:t>The least significant 1 bit for binary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expressed:   </a:t>
                </a:r>
              </a:p>
              <a:p>
                <a:pPr marL="0" indent="0">
                  <a:buNone/>
                </a:pPr>
                <a:r>
                  <a:rPr lang="en-US" b="0" dirty="0"/>
                  <a:t>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𝑏𝑖𝑡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Example with 5-bit hash: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=10011,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=1001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4,  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Special case, maximum cardinality for hash: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0000, 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77361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0650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Flajolet-Martin algorithm for set of events M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Initialize bitmap of 0s of length L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For x in stream: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calculate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	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𝑏𝑖𝑡𝑚𝑎𝑝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least significant nonzero bit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cardinality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den>
                    </m:f>
                  </m:oMath>
                </a14:m>
                <a:endParaRPr lang="en-US" b="0" i="1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Where the bias correction,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=0.77351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06501"/>
              </a:xfrm>
              <a:blipFill>
                <a:blip r:embed="rId2"/>
                <a:stretch>
                  <a:fillRect l="-1217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386979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Improving accuracy of </a:t>
                </a:r>
                <a:r>
                  <a:rPr lang="en-US" dirty="0" err="1"/>
                  <a:t>Flajolet</a:t>
                </a:r>
                <a:r>
                  <a:rPr lang="en-US" dirty="0"/>
                  <a:t>-Martin algorithm</a:t>
                </a:r>
              </a:p>
              <a:p>
                <a:r>
                  <a:rPr lang="en-US" dirty="0"/>
                  <a:t>Accuracy of single estimate is poor</a:t>
                </a:r>
              </a:p>
              <a:p>
                <a:r>
                  <a:rPr lang="en-US" dirty="0"/>
                  <a:t>Idea; use multiple hash functions    </a:t>
                </a:r>
              </a:p>
              <a:p>
                <a:r>
                  <a:rPr lang="en-US" dirty="0"/>
                  <a:t>Cannot simply average results from multiple hash functions </a:t>
                </a:r>
              </a:p>
              <a:p>
                <a:pPr lvl="1"/>
                <a:r>
                  <a:rPr lang="en-US" dirty="0"/>
                  <a:t>Mean heavily influenced by outliers   </a:t>
                </a:r>
              </a:p>
              <a:p>
                <a:pPr lvl="1"/>
                <a:r>
                  <a:rPr lang="en-US" dirty="0"/>
                  <a:t>Median is more robust, but biased    </a:t>
                </a:r>
              </a:p>
              <a:p>
                <a:r>
                  <a:rPr lang="en-US" dirty="0"/>
                  <a:t>Solution: 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>
                    <a:hlinkClick r:id="rId2"/>
                  </a:rPr>
                  <a:t>hyperloglog</a:t>
                </a:r>
                <a:r>
                  <a:rPr lang="en-US" dirty="0">
                    <a:hlinkClick r:id="rId2"/>
                  </a:rPr>
                  <a:t> algorithm of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et. al, 2007</a:t>
                </a:r>
                <a:endParaRPr lang="en-US" dirty="0"/>
              </a:p>
              <a:p>
                <a:pPr lvl="1"/>
                <a:r>
                  <a:rPr lang="en-US" dirty="0"/>
                  <a:t>Split hash function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groups </a:t>
                </a:r>
              </a:p>
              <a:p>
                <a:pPr lvl="1"/>
                <a:r>
                  <a:rPr lang="en-US" dirty="0"/>
                  <a:t>Compute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 values</a:t>
                </a:r>
              </a:p>
              <a:p>
                <a:pPr lvl="1"/>
                <a:r>
                  <a:rPr lang="en-US" dirty="0"/>
                  <a:t>Take </a:t>
                </a:r>
                <a:r>
                  <a:rPr lang="en-US" dirty="0">
                    <a:hlinkClick r:id="rId3"/>
                  </a:rPr>
                  <a:t>harmonic mean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maximums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4"/>
                <a:stretch>
                  <a:fillRect l="-1217" t="-1966" b="-11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848734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to generate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independent samples </a:t>
                </a:r>
                <a:r>
                  <a:rPr lang="en-US" dirty="0"/>
                  <a:t>for stochastic averaging </a:t>
                </a:r>
              </a:p>
              <a:p>
                <a:r>
                  <a:rPr lang="en-US" dirty="0"/>
                  <a:t>Idea; 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hash functions   </a:t>
                </a:r>
              </a:p>
              <a:p>
                <a:pPr lvl="1"/>
                <a:r>
                  <a:rPr lang="en-US" dirty="0"/>
                  <a:t>Slow to compute multiple hash functions </a:t>
                </a:r>
              </a:p>
              <a:p>
                <a:pPr lvl="1"/>
                <a:r>
                  <a:rPr lang="en-US" dirty="0"/>
                  <a:t>Storing hash table for each hash function uses too much memory   </a:t>
                </a:r>
              </a:p>
              <a:p>
                <a:r>
                  <a:rPr lang="en-US" dirty="0"/>
                  <a:t>Solution; use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of binary hash function to create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r>
                  <a:rPr lang="en-US" dirty="0"/>
                  <a:t> buckets</a:t>
                </a:r>
              </a:p>
              <a:p>
                <a:pPr lvl="1"/>
                <a:r>
                  <a:rPr lang="en-US" dirty="0"/>
                  <a:t>Store least significant bits in bucket</a:t>
                </a:r>
              </a:p>
              <a:p>
                <a:r>
                  <a:rPr lang="en-US" dirty="0"/>
                  <a:t>Data structure is another example of a </a:t>
                </a:r>
                <a:r>
                  <a:rPr lang="en-US" b="1" dirty="0"/>
                  <a:t>sketch</a:t>
                </a:r>
                <a:r>
                  <a:rPr lang="en-US" dirty="0"/>
                  <a:t>, an approximate representation of the exact result from full dataset 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92079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1693"/>
            <a:ext cx="10515600" cy="652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Probabilistic sampling and stochastic averaging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Filtering Event Data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Hash table for probabilistic sampling </a:t>
                </a:r>
                <a:endParaRPr lang="en-US" b="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binary hash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0" dirty="0"/>
                  <a:t>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bits for hash bucket</a:t>
                </a:r>
              </a:p>
              <a:p>
                <a:pPr lvl="1"/>
                <a:r>
                  <a:rPr lang="en-US" dirty="0"/>
                  <a:t>Use first </a:t>
                </a:r>
                <a:r>
                  <a:rPr lang="en-US" dirty="0">
                    <a:latin typeface="Cambria Math" panose="02040503050406030204" pitchFamily="18" charset="0"/>
                  </a:rPr>
                  <a:t>𝑏</a:t>
                </a:r>
                <a:r>
                  <a:rPr lang="en-US" dirty="0"/>
                  <a:t> bits to address </a:t>
                </a:r>
                <a:r>
                  <a:rPr lang="en-US" dirty="0">
                    <a:latin typeface="Cambria Math" panose="02040503050406030204" pitchFamily="18" charset="0"/>
                  </a:rPr>
                  <a:t>𝑚</a:t>
                </a:r>
                <a:r>
                  <a:rPr lang="en-US" dirty="0"/>
                  <a:t> buckets, 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≥16=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LSB in buckets to compute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Sampling is noisy with </a:t>
                </a:r>
                <a:r>
                  <a:rPr lang="en-US" b="1" dirty="0">
                    <a:solidFill>
                      <a:srgbClr val="FF0000"/>
                    </a:solidFill>
                  </a:rPr>
                  <a:t>outliers</a:t>
                </a:r>
                <a:r>
                  <a:rPr lang="en-US" dirty="0"/>
                  <a:t>, high and low</a:t>
                </a:r>
              </a:p>
            </p:txBody>
          </p:sp>
        </mc:Choice>
        <mc:Fallback xmlns="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F7BB06DE-AF76-5C7D-05E6-A34A38F4FB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08747"/>
                <a:ext cx="5722088" cy="4396501"/>
              </a:xfrm>
              <a:prstGeom prst="rect">
                <a:avLst/>
              </a:prstGeom>
              <a:blipFill>
                <a:blip r:embed="rId3"/>
                <a:stretch>
                  <a:fillRect l="-2239" t="-2358" r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id="{4D62FC44-A2A7-E9F1-F5E0-8FA81D9B8C6E}"/>
              </a:ext>
            </a:extLst>
          </p:cNvPr>
          <p:cNvSpPr/>
          <p:nvPr/>
        </p:nvSpPr>
        <p:spPr>
          <a:xfrm>
            <a:off x="9493231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D01093-BEC0-3B0F-1D0C-B275D419F783}"/>
              </a:ext>
            </a:extLst>
          </p:cNvPr>
          <p:cNvSpPr/>
          <p:nvPr/>
        </p:nvSpPr>
        <p:spPr>
          <a:xfrm>
            <a:off x="9486049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/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03928F68-B69A-E0DC-A2E0-864FC2FE7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155922"/>
                <a:ext cx="1258314" cy="302753"/>
              </a:xfrm>
              <a:prstGeom prst="rect">
                <a:avLst/>
              </a:prstGeom>
              <a:blipFill>
                <a:blip r:embed="rId4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/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90FE40D-BECF-5351-FBA8-BFDA37888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468568"/>
                <a:ext cx="1258314" cy="302753"/>
              </a:xfrm>
              <a:prstGeom prst="rect">
                <a:avLst/>
              </a:prstGeom>
              <a:blipFill>
                <a:blip r:embed="rId5"/>
                <a:stretch>
                  <a:fillRect t="-23077" b="-4615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E9ECC5E5-9AF4-79CA-DDCE-1658C0F7F285}"/>
              </a:ext>
            </a:extLst>
          </p:cNvPr>
          <p:cNvSpPr/>
          <p:nvPr/>
        </p:nvSpPr>
        <p:spPr>
          <a:xfrm>
            <a:off x="10751545" y="4665988"/>
            <a:ext cx="1258314" cy="6154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422440-121D-2A57-8671-2F1587976B21}"/>
              </a:ext>
            </a:extLst>
          </p:cNvPr>
          <p:cNvSpPr/>
          <p:nvPr/>
        </p:nvSpPr>
        <p:spPr>
          <a:xfrm>
            <a:off x="10744363" y="3155921"/>
            <a:ext cx="1258314" cy="123080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/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D84F680-5A48-63CA-EF4D-6BDEFBB7B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155922"/>
                <a:ext cx="1258314" cy="302753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/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0BB20C77-8D4D-4F03-1936-9CA4D8096B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363" y="3468568"/>
                <a:ext cx="1258314" cy="302753"/>
              </a:xfrm>
              <a:prstGeom prst="rect">
                <a:avLst/>
              </a:prstGeom>
              <a:blipFill>
                <a:blip r:embed="rId7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61E2A1F-FD64-F86F-692B-2AC09D0A3668}"/>
              </a:ext>
            </a:extLst>
          </p:cNvPr>
          <p:cNvSpPr txBox="1"/>
          <p:nvPr/>
        </p:nvSpPr>
        <p:spPr>
          <a:xfrm>
            <a:off x="9493228" y="2694256"/>
            <a:ext cx="1251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Bucket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9EC40A-AB78-294E-B2FD-5C837DB923BB}"/>
              </a:ext>
            </a:extLst>
          </p:cNvPr>
          <p:cNvSpPr txBox="1"/>
          <p:nvPr/>
        </p:nvSpPr>
        <p:spPr>
          <a:xfrm>
            <a:off x="10744363" y="2711912"/>
            <a:ext cx="1258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LSB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/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=10010100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EE7F517-072F-2426-E25C-13FC5E76A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470" y="3077163"/>
                <a:ext cx="3541955" cy="461665"/>
              </a:xfrm>
              <a:prstGeom prst="rect">
                <a:avLst/>
              </a:prstGeom>
              <a:blipFill>
                <a:blip r:embed="rId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/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=10100110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88490-66DD-952D-AAB4-58D04E0B0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1" y="3396788"/>
                <a:ext cx="3541955" cy="491417"/>
              </a:xfrm>
              <a:prstGeom prst="rect">
                <a:avLst/>
              </a:prstGeom>
              <a:blipFill>
                <a:blip r:embed="rId9"/>
                <a:stretch>
                  <a:fillRect b="-9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/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=11011111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0CB97AA-66AD-0095-132B-DAB948E24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650" y="3715212"/>
                <a:ext cx="3541955" cy="461665"/>
              </a:xfrm>
              <a:prstGeom prst="rect">
                <a:avLst/>
              </a:prstGeom>
              <a:blipFill>
                <a:blip r:embed="rId10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/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=00000000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452341A-5733-FC80-D106-84686D532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6831" y="4643259"/>
                <a:ext cx="354195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/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=00111100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2C6CE2B-1C18-11A4-040D-40E28074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013" y="4973616"/>
                <a:ext cx="3541955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/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101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A046EAC1-C08B-30B3-111C-BA39CE495C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6049" y="3769062"/>
                <a:ext cx="1258314" cy="302753"/>
              </a:xfrm>
              <a:prstGeom prst="rect">
                <a:avLst/>
              </a:prstGeom>
              <a:blipFill>
                <a:blip r:embed="rId13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/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𝟏𝟏𝟏𝟏</m:t>
                      </m:r>
                    </m:oMath>
                  </m:oMathPara>
                </a14:m>
                <a:endParaRPr 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A3ACDC7-6695-E769-5586-ACAC09B066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3776268"/>
                <a:ext cx="1258314" cy="302753"/>
              </a:xfrm>
              <a:prstGeom prst="rect">
                <a:avLst/>
              </a:prstGeom>
              <a:blipFill>
                <a:blip r:embed="rId14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/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𝟎𝟎𝟎𝟎</m:t>
                      </m:r>
                    </m:oMath>
                  </m:oMathPara>
                </a14:m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A1AD76F-2950-90B3-E42C-726B5C14D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5097" y="4653278"/>
                <a:ext cx="1258314" cy="302753"/>
              </a:xfrm>
              <a:prstGeom prst="rect">
                <a:avLst/>
              </a:prstGeom>
              <a:blipFill>
                <a:blip r:embed="rId15"/>
                <a:stretch>
                  <a:fillRect b="-576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/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1100</m:t>
                      </m:r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65242A1-7750-5B18-70B1-8900BD9073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9461" y="4973688"/>
                <a:ext cx="1258314" cy="302753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/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000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299E166-E0E1-C11C-556E-14CC0D113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6783" y="4692334"/>
                <a:ext cx="1258314" cy="302753"/>
              </a:xfrm>
              <a:prstGeom prst="rect">
                <a:avLst/>
              </a:prstGeom>
              <a:blipFill>
                <a:blip r:embed="rId17"/>
                <a:stretch>
                  <a:fillRect t="-23529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/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D1D80592-E302-5163-7908-E0BC374824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326" y="4996253"/>
                <a:ext cx="1258314" cy="302753"/>
              </a:xfrm>
              <a:prstGeom prst="rect">
                <a:avLst/>
              </a:prstGeom>
              <a:blipFill>
                <a:blip r:embed="rId18"/>
                <a:stretch>
                  <a:fillRect t="-25490" b="-4902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10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/>
      <p:bldP spid="47" grpId="0"/>
      <p:bldP spid="48" grpId="0"/>
      <p:bldP spid="49" grpId="0"/>
      <p:bldP spid="50" grpId="0"/>
      <p:bldP spid="52" grpId="0"/>
      <p:bldP spid="53" grpId="0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Need a stochastic averaging algorithm insensitive to outliers from probabilistic sampling    </a:t>
                </a:r>
              </a:p>
              <a:p>
                <a:r>
                  <a:rPr lang="en-US" dirty="0"/>
                  <a:t>Originally used arithmetic mean, but too susceptible to outliers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 uses </a:t>
                </a:r>
                <a:r>
                  <a:rPr lang="en-US" b="1" dirty="0"/>
                  <a:t>geometric mean</a:t>
                </a:r>
                <a:r>
                  <a:rPr lang="en-US" dirty="0"/>
                  <a:t>, an improvement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uses </a:t>
                </a:r>
                <a:r>
                  <a:rPr lang="en-US" b="1" dirty="0"/>
                  <a:t>harmonic mean</a:t>
                </a:r>
              </a:p>
              <a:p>
                <a:pPr lvl="1"/>
                <a:r>
                  <a:rPr lang="en-US" dirty="0"/>
                  <a:t>Harmonic mean is suitable for heavy-tailed distributions, e.g. outliers</a:t>
                </a:r>
              </a:p>
              <a:p>
                <a:pPr lvl="1"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29300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pPr algn="just"/>
                <a:r>
                  <a:rPr lang="en-US" dirty="0"/>
                  <a:t>Harmonic mean of the buckets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bias adjusted harmonic mean over all buckets is then  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nary>
                                <m:nary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𝑙𝑜𝑔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2+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1+</m:t>
                                                  </m:r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2"/>
                <a:stretch>
                  <a:fillRect l="-1043" t="-3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2121775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Probabilistic sampling and stochastic averaging</a:t>
                </a:r>
              </a:p>
              <a:p>
                <a:r>
                  <a:rPr lang="en-US" dirty="0"/>
                  <a:t>The bias adjusted harmonic mean over all buckets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𝑏𝑢𝑐𝑘𝑒𝑡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With bias adjustment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2 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 </m:t>
                                  </m:r>
                                  <m:f>
                                    <m:f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den>
                                  </m:f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  <m:func>
                                        <m:funcPr>
                                          <m:ctrl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400" b="0" i="0" smtClean="0">
                                              <a:latin typeface="Cambria Math" panose="02040503050406030204" pitchFamily="18" charset="0"/>
                                            </a:rPr>
                                            <m:t>ln</m:t>
                                          </m:r>
                                        </m:fName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func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e>
                                  </m:d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r>
                  <a:rPr lang="en-US" dirty="0" err="1"/>
                  <a:t>Flajolet</a:t>
                </a:r>
                <a:r>
                  <a:rPr lang="en-US" dirty="0"/>
                  <a:t> et. al., 2007, recommend the following bias adjustments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=0.673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=0.697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=0.709</m:t>
                      </m:r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0.723</m:t>
                          </m:r>
                        </m:num>
                        <m:den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1.079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≥128</m:t>
                      </m:r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 err="1">
                    <a:ea typeface="Cambria Math" panose="02040503050406030204" pitchFamily="18" charset="0"/>
                    <a:hlinkClick r:id="rId2"/>
                  </a:rPr>
                  <a:t>Heule</a:t>
                </a:r>
                <a:r>
                  <a:rPr lang="en-US" dirty="0">
                    <a:ea typeface="Cambria Math" panose="02040503050406030204" pitchFamily="18" charset="0"/>
                    <a:hlinkClick r:id="rId2"/>
                  </a:rPr>
                  <a:t>, et. al., 2013</a:t>
                </a:r>
                <a:r>
                  <a:rPr lang="en-US" dirty="0">
                    <a:ea typeface="Cambria Math" panose="02040503050406030204" pitchFamily="18" charset="0"/>
                  </a:rPr>
                  <a:t>, recommend slightly different bias adjustments the </a:t>
                </a:r>
                <a:r>
                  <a:rPr lang="en-US" dirty="0" err="1">
                    <a:ea typeface="Cambria Math" panose="02040503050406030204" pitchFamily="18" charset="0"/>
                  </a:rPr>
                  <a:t>HyperLogLog</a:t>
                </a:r>
                <a:r>
                  <a:rPr lang="en-US" dirty="0">
                    <a:ea typeface="Cambria Math" panose="02040503050406030204" pitchFamily="18" charset="0"/>
                  </a:rPr>
                  <a:t>++ algorithm</a:t>
                </a:r>
                <a:endParaRPr lang="en-US" b="0" dirty="0"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369077"/>
              </a:xfrm>
              <a:blipFill>
                <a:blip r:embed="rId3"/>
                <a:stretch>
                  <a:fillRect l="-928" t="-2611" b="-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2931008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/>
                  <a:t>The </a:t>
                </a:r>
                <a:r>
                  <a:rPr lang="en-US" dirty="0" err="1"/>
                  <a:t>LogLog</a:t>
                </a:r>
                <a:r>
                  <a:rPr lang="en-US" dirty="0"/>
                  <a:t> algorithm, </a:t>
                </a:r>
                <a:r>
                  <a:rPr lang="en-US" dirty="0">
                    <a:hlinkClick r:id="rId2"/>
                  </a:rPr>
                  <a:t>Durand and </a:t>
                </a:r>
                <a:r>
                  <a:rPr lang="en-US" dirty="0" err="1">
                    <a:hlinkClick r:id="rId2"/>
                  </a:rPr>
                  <a:t>Flajolet</a:t>
                </a:r>
                <a:r>
                  <a:rPr lang="en-US" dirty="0">
                    <a:hlinkClick r:id="rId2"/>
                  </a:rPr>
                  <a:t>, 2003</a:t>
                </a:r>
                <a:r>
                  <a:rPr lang="en-US" dirty="0"/>
                  <a:t>, is highly space efficient</a:t>
                </a:r>
              </a:p>
              <a:p>
                <a:r>
                  <a:rPr lang="en-US" dirty="0"/>
                  <a:t>Example; 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 8-byte integers counters, required space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8=16384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×8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130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𝐾𝐵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do better than this! </a:t>
                </a:r>
              </a:p>
              <a:p>
                <a:r>
                  <a:rPr lang="en-US" dirty="0"/>
                  <a:t>If we only need up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/>
                  <a:t> cardinality, then only need counter of length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𝑏𝑖𝑡𝑠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total storage requirement is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Example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𝐾𝐵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536527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 error and space requirements </a:t>
                </a:r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that the </a:t>
                </a:r>
                <a:r>
                  <a:rPr lang="en-US" b="1" dirty="0"/>
                  <a:t>empirical error </a:t>
                </a:r>
                <a:r>
                  <a:rPr lang="en-US" dirty="0"/>
                  <a:t>of the </a:t>
                </a:r>
                <a:r>
                  <a:rPr lang="en-US" dirty="0" err="1"/>
                  <a:t>HyperLogLog</a:t>
                </a:r>
                <a:r>
                  <a:rPr lang="en-US" dirty="0"/>
                  <a:t> algorithm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1.04/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ra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Example,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14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ϵ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04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14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1%</m:t>
                    </m:r>
                  </m:oMath>
                </a14:m>
                <a:endParaRPr lang="en-US" dirty="0"/>
              </a:p>
              <a:p>
                <a:r>
                  <a:rPr lang="en-US" dirty="0" err="1"/>
                  <a:t>Flajoet</a:t>
                </a:r>
                <a:r>
                  <a:rPr lang="en-US" dirty="0"/>
                  <a:t>, et. al., 2007, show an empirical comparison of algorithms  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8"/>
                <a:ext cx="3946614" cy="5319381"/>
              </a:xfrm>
              <a:blipFill>
                <a:blip r:embed="rId2"/>
                <a:stretch>
                  <a:fillRect l="-3246" t="-2520" r="-3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CAA765-2D33-B6AA-F57D-B9C413799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25" y="1324929"/>
            <a:ext cx="7373149" cy="20364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683843-FAFE-6C7F-2150-6D6BB3583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779" y="3432678"/>
            <a:ext cx="6907696" cy="339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3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Aggregating </a:t>
            </a:r>
            <a:r>
              <a:rPr lang="en-US" dirty="0" err="1"/>
              <a:t>HyperLogLog</a:t>
            </a:r>
            <a:r>
              <a:rPr lang="en-US" dirty="0"/>
              <a:t> counters </a:t>
            </a:r>
          </a:p>
          <a:p>
            <a:r>
              <a:rPr lang="en-US" dirty="0"/>
              <a:t>Aggregation is an important property of many sketches</a:t>
            </a:r>
          </a:p>
          <a:p>
            <a:r>
              <a:rPr lang="en-US" dirty="0" err="1"/>
              <a:t>HyperLogLog</a:t>
            </a:r>
            <a:r>
              <a:rPr lang="en-US" dirty="0"/>
              <a:t> counters can be readily </a:t>
            </a:r>
            <a:r>
              <a:rPr lang="en-US" b="1" dirty="0"/>
              <a:t>merged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Example; counters by minute merged (aggregated) to counters by hour  </a:t>
            </a:r>
          </a:p>
          <a:p>
            <a:pPr lvl="1"/>
            <a:r>
              <a:rPr lang="en-US" dirty="0"/>
              <a:t>Example; counters by day merged to weekly or monthly</a:t>
            </a:r>
          </a:p>
          <a:p>
            <a:pPr lvl="1"/>
            <a:r>
              <a:rPr lang="en-US" dirty="0"/>
              <a:t>Example; counters for different streams merged into single estimate  </a:t>
            </a:r>
          </a:p>
          <a:p>
            <a:r>
              <a:rPr lang="en-US" dirty="0"/>
              <a:t>But we cannot just sum the total unique events over multiple periods!</a:t>
            </a:r>
          </a:p>
          <a:p>
            <a:pPr lvl="1"/>
            <a:r>
              <a:rPr lang="en-US" dirty="0"/>
              <a:t>Example; A user who is active several days of the month is only counted once aggregating daily to monthly   </a:t>
            </a:r>
          </a:p>
          <a:p>
            <a:pPr lvl="1"/>
            <a:r>
              <a:rPr lang="en-US" dirty="0"/>
              <a:t>A simple sum will count the user multiple times</a:t>
            </a:r>
          </a:p>
          <a:p>
            <a:r>
              <a:rPr lang="en-US" dirty="0"/>
              <a:t>Must </a:t>
            </a:r>
            <a:r>
              <a:rPr lang="en-US" b="1" dirty="0"/>
              <a:t>merge by union and then sum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17566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Aggregating </a:t>
                </a:r>
                <a:r>
                  <a:rPr lang="en-US" dirty="0" err="1"/>
                  <a:t>HyperLogLog</a:t>
                </a:r>
                <a:r>
                  <a:rPr lang="en-US" dirty="0"/>
                  <a:t> counters </a:t>
                </a:r>
              </a:p>
              <a:p>
                <a:r>
                  <a:rPr lang="en-US" dirty="0"/>
                  <a:t>Must </a:t>
                </a:r>
                <a:r>
                  <a:rPr lang="en-US" b="1" dirty="0"/>
                  <a:t>merged by union, </a:t>
                </a:r>
                <a:r>
                  <a:rPr lang="en-US" b="1" i="1" dirty="0"/>
                  <a:t>U</a:t>
                </a:r>
                <a:r>
                  <a:rPr lang="en-US" b="1" dirty="0"/>
                  <a:t>, and then sum</a:t>
                </a:r>
                <a:endParaRPr lang="en-US" dirty="0"/>
              </a:p>
              <a:p>
                <a:r>
                  <a:rPr lang="en-US" dirty="0"/>
                  <a:t>For set of </a:t>
                </a:r>
                <a:r>
                  <a:rPr lang="en-US" i="1" dirty="0"/>
                  <a:t>n</a:t>
                </a:r>
                <a:r>
                  <a:rPr lang="en-US" dirty="0"/>
                  <a:t> HLLs,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ℎ𝑙𝑙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1,2,..,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</m:oMath>
                </a14:m>
                <a:r>
                  <a:rPr lang="en-US" dirty="0"/>
                  <a:t>, compute union of max bucket values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1,2,..,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ℎ𝑙𝑙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1,2,..,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Example; union of two HLLs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r>
                  <a:rPr lang="en-US" dirty="0"/>
                  <a:t>,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3,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ℎ𝑙𝑙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3, 5]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1,2,3,4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=[5, 10, 8, 12]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864028" cy="4958516"/>
              </a:xfrm>
              <a:blipFill>
                <a:blip r:embed="rId2"/>
                <a:stretch>
                  <a:fillRect l="-1178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319429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HyperLogLog++, </a:t>
                </a:r>
                <a:r>
                  <a:rPr lang="en-US" dirty="0" err="1">
                    <a:hlinkClick r:id="rId2"/>
                  </a:rPr>
                  <a:t>Heule</a:t>
                </a:r>
                <a:r>
                  <a:rPr lang="en-US" dirty="0">
                    <a:hlinkClick r:id="rId2"/>
                  </a:rPr>
                  <a:t>, et. al., 2013</a:t>
                </a:r>
                <a:r>
                  <a:rPr lang="en-US" dirty="0"/>
                  <a:t>, from Google Research, incorporates some potential improvements</a:t>
                </a:r>
              </a:p>
              <a:p>
                <a:r>
                  <a:rPr lang="en-US" dirty="0"/>
                  <a:t>64 bit counters with 64 bit hash rather than 32 bit counters</a:t>
                </a:r>
              </a:p>
              <a:p>
                <a:r>
                  <a:rPr lang="en-US" dirty="0"/>
                  <a:t>Initialize registers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rather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to prevent 0 from condition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func>
                  </m:oMath>
                </a14:m>
                <a:r>
                  <a:rPr lang="en-US" dirty="0"/>
                  <a:t>    </a:t>
                </a:r>
              </a:p>
              <a:p>
                <a:r>
                  <a:rPr lang="en-US" dirty="0"/>
                  <a:t>Improved bias correction for small cardinality,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Large range correction to account for hash collisions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32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But, </a:t>
                </a:r>
                <a:r>
                  <a:rPr lang="en-US" dirty="0" err="1"/>
                  <a:t>HyperLogLog</a:t>
                </a:r>
                <a:r>
                  <a:rPr lang="en-US" dirty="0"/>
                  <a:t>++ requires more memory and performance may not actually improve depending on specific application   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8"/>
                <a:ext cx="10515600" cy="4958516"/>
              </a:xfrm>
              <a:blipFill>
                <a:blip r:embed="rId3"/>
                <a:stretch>
                  <a:fillRect l="-1217" t="-19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</p:spTree>
    <p:extLst>
      <p:ext uri="{BB962C8B-B14F-4D97-AF65-F5344CB8AC3E}">
        <p14:creationId xmlns:p14="http://schemas.microsoft.com/office/powerpoint/2010/main" val="51562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6237584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HyperLogLog++, </a:t>
            </a:r>
            <a:r>
              <a:rPr lang="en-US" dirty="0" err="1">
                <a:hlinkClick r:id="rId2"/>
              </a:rPr>
              <a:t>Heule</a:t>
            </a:r>
            <a:r>
              <a:rPr lang="en-US" dirty="0">
                <a:hlinkClick r:id="rId2"/>
              </a:rPr>
              <a:t>, et. al., 2013</a:t>
            </a:r>
            <a:r>
              <a:rPr lang="en-US" dirty="0"/>
              <a:t>, from Google Research, incorporates some potential improvements</a:t>
            </a:r>
          </a:p>
          <a:p>
            <a:r>
              <a:rPr lang="en-US" dirty="0"/>
              <a:t>Comparison between algorithms shows </a:t>
            </a:r>
            <a:r>
              <a:rPr lang="en-US" dirty="0" err="1"/>
              <a:t>HyperLogLog</a:t>
            </a:r>
            <a:r>
              <a:rPr lang="en-US" dirty="0"/>
              <a:t> and </a:t>
            </a:r>
            <a:r>
              <a:rPr lang="en-US" dirty="0" err="1"/>
              <a:t>HyperLogLog</a:t>
            </a:r>
            <a:r>
              <a:rPr lang="en-US" dirty="0"/>
              <a:t>++ performance converge </a:t>
            </a:r>
          </a:p>
          <a:p>
            <a:r>
              <a:rPr lang="en-US" dirty="0"/>
              <a:t>Simple linear counting is best for small cardinality  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Counting Distinct Events – Cardinality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2154D3-CADE-5B6E-82FB-8AF63E336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0657" y="1134762"/>
            <a:ext cx="4541158" cy="552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02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03040-43CE-B76A-8263-5E4E201A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DA7D-BCA3-E1A2-4F5D-E3C2A76E958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Estimating Quantiles in Streams </a:t>
            </a:r>
          </a:p>
        </p:txBody>
      </p:sp>
    </p:spTree>
    <p:extLst>
      <p:ext uri="{BB962C8B-B14F-4D97-AF65-F5344CB8AC3E}">
        <p14:creationId xmlns:p14="http://schemas.microsoft.com/office/powerpoint/2010/main" val="31928518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A9A4-511F-441C-EEE0-3FFD7C9AA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Examples of applying quantile estimation in streams: </a:t>
                </a:r>
              </a:p>
              <a:p>
                <a:pPr lvl="1"/>
                <a:r>
                  <a:rPr lang="en-US" dirty="0"/>
                  <a:t>Medians</a:t>
                </a:r>
              </a:p>
              <a:p>
                <a:pPr lvl="1"/>
                <a:r>
                  <a:rPr lang="en-US" dirty="0"/>
                  <a:t>Distribution probability mass function or cumulative distribution function</a:t>
                </a:r>
              </a:p>
              <a:p>
                <a:pPr lvl="1"/>
                <a:r>
                  <a:rPr lang="en-US" dirty="0"/>
                  <a:t>Extreme quartiles (</a:t>
                </a:r>
                <a:r>
                  <a:rPr lang="en-US" dirty="0" err="1"/>
                  <a:t>eg.</a:t>
                </a:r>
                <a:r>
                  <a:rPr lang="en-US" dirty="0"/>
                  <a:t> 0.001, 0.999) for anomaly detection.  </a:t>
                </a:r>
              </a:p>
              <a:p>
                <a:r>
                  <a:rPr lang="en-US" dirty="0"/>
                  <a:t>Can we just use a naïve algorithm? </a:t>
                </a:r>
              </a:p>
              <a:p>
                <a:pPr lvl="1"/>
                <a:r>
                  <a:rPr lang="en-US" dirty="0"/>
                  <a:t>Accumulate values,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memory</a:t>
                </a:r>
              </a:p>
              <a:p>
                <a:pPr lvl="1"/>
                <a:r>
                  <a:rPr lang="en-US" dirty="0"/>
                  <a:t>Sort,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 </a:t>
                </a:r>
              </a:p>
              <a:p>
                <a:r>
                  <a:rPr lang="en-US" b="1" dirty="0"/>
                  <a:t>Naïve algorithm is not scalable </a:t>
                </a:r>
              </a:p>
              <a:p>
                <a:r>
                  <a:rPr lang="en-US" dirty="0"/>
                  <a:t>Need a </a:t>
                </a:r>
                <a:r>
                  <a:rPr lang="en-US" b="1" dirty="0"/>
                  <a:t>sketch algorithm!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4CCCE0-5D25-D7E6-35B6-1C950F500B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23B6D89-6E07-C67E-20D0-453FB3C2981F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2649544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030D-8778-1D46-321E-A2A60BA0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3C21DE-0F8A-FA39-7723-FEFCE532D18E}"/>
              </a:ext>
            </a:extLst>
          </p:cNvPr>
          <p:cNvSpPr txBox="1">
            <a:spLocks/>
          </p:cNvSpPr>
          <p:nvPr/>
        </p:nvSpPr>
        <p:spPr>
          <a:xfrm>
            <a:off x="5686426" y="1609470"/>
            <a:ext cx="6257924" cy="803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Further filtering, sampling and sketching performed as preprocessing for analytics</a:t>
            </a:r>
          </a:p>
          <a:p>
            <a:pPr marL="0" indent="0">
              <a:buNone/>
            </a:pPr>
            <a:endParaRPr lang="en-US" sz="2400" dirty="0"/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20E9920-58C3-CA6E-3F4A-BD98EED2D936}"/>
              </a:ext>
            </a:extLst>
          </p:cNvPr>
          <p:cNvSpPr/>
          <p:nvPr/>
        </p:nvSpPr>
        <p:spPr>
          <a:xfrm>
            <a:off x="5843954" y="2543312"/>
            <a:ext cx="5509846" cy="3493477"/>
          </a:xfrm>
          <a:prstGeom prst="round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4902E-687B-83DD-434E-B647B0EB5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144" y="1121422"/>
            <a:ext cx="11828522" cy="4725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Event stream algorithms are both filters and analytics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DBF9D3-9731-53F2-1F27-BB3B024096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Volume Reduction and Streaming Analytics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01C4EB3B-0038-BCC1-0B7E-2823B22A35F2}"/>
              </a:ext>
            </a:extLst>
          </p:cNvPr>
          <p:cNvSpPr/>
          <p:nvPr/>
        </p:nvSpPr>
        <p:spPr>
          <a:xfrm>
            <a:off x="256557" y="2634096"/>
            <a:ext cx="1799461" cy="677078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2" name="Cloud 21">
            <a:extLst>
              <a:ext uri="{FF2B5EF4-FFF2-40B4-BE49-F238E27FC236}">
                <a16:creationId xmlns:a16="http://schemas.microsoft.com/office/drawing/2014/main" id="{C86BA443-B6F4-BA94-3AD0-41B8E3C00009}"/>
              </a:ext>
            </a:extLst>
          </p:cNvPr>
          <p:cNvSpPr/>
          <p:nvPr/>
        </p:nvSpPr>
        <p:spPr>
          <a:xfrm>
            <a:off x="256556" y="3481389"/>
            <a:ext cx="1799461" cy="635095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p:sp>
        <p:nvSpPr>
          <p:cNvPr id="23" name="Cloud 22">
            <a:extLst>
              <a:ext uri="{FF2B5EF4-FFF2-40B4-BE49-F238E27FC236}">
                <a16:creationId xmlns:a16="http://schemas.microsoft.com/office/drawing/2014/main" id="{6FE9E029-A1AA-4912-B687-E25604780964}"/>
              </a:ext>
            </a:extLst>
          </p:cNvPr>
          <p:cNvSpPr/>
          <p:nvPr/>
        </p:nvSpPr>
        <p:spPr>
          <a:xfrm>
            <a:off x="227496" y="4694095"/>
            <a:ext cx="1799461" cy="694114"/>
          </a:xfrm>
          <a:prstGeom prst="cloud">
            <a:avLst/>
          </a:prstGeom>
          <a:noFill/>
          <a:ln w="222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FF2F9FA-5FB0-26F3-F134-48462964B6AF}"/>
                  </a:ext>
                </a:extLst>
              </p:cNvPr>
              <p:cNvSpPr txBox="1"/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154615-99F6-8289-543F-B05470A2B5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509" y="4059000"/>
                <a:ext cx="50995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E36E7102-37F7-D643-635C-42DF88CACAE7}"/>
              </a:ext>
            </a:extLst>
          </p:cNvPr>
          <p:cNvSpPr/>
          <p:nvPr/>
        </p:nvSpPr>
        <p:spPr>
          <a:xfrm>
            <a:off x="2332892" y="268985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935DF7A-1FB5-DC61-1A31-EDF9CD915CB4}"/>
              </a:ext>
            </a:extLst>
          </p:cNvPr>
          <p:cNvSpPr/>
          <p:nvPr/>
        </p:nvSpPr>
        <p:spPr>
          <a:xfrm>
            <a:off x="2291959" y="4766886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B5040E-A5AB-43E8-E446-4EA14F11C3DF}"/>
              </a:ext>
            </a:extLst>
          </p:cNvPr>
          <p:cNvSpPr/>
          <p:nvPr/>
        </p:nvSpPr>
        <p:spPr>
          <a:xfrm>
            <a:off x="2311672" y="3495161"/>
            <a:ext cx="1488830" cy="621323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91900CB-5B8B-CEAE-26E9-A4C46D9085C3}"/>
                  </a:ext>
                </a:extLst>
              </p:cNvPr>
              <p:cNvSpPr txBox="1"/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63C0B2A-FAAA-7283-9153-7EE44B28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1110" y="4028191"/>
                <a:ext cx="50995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5D22E10C-6D99-0855-7686-879EB3AFF24B}"/>
              </a:ext>
            </a:extLst>
          </p:cNvPr>
          <p:cNvSpPr/>
          <p:nvPr/>
        </p:nvSpPr>
        <p:spPr>
          <a:xfrm>
            <a:off x="6119741" y="2696612"/>
            <a:ext cx="2513217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189383F-54DD-187E-3E01-35D68844F421}"/>
              </a:ext>
            </a:extLst>
          </p:cNvPr>
          <p:cNvSpPr/>
          <p:nvPr/>
        </p:nvSpPr>
        <p:spPr>
          <a:xfrm>
            <a:off x="6184219" y="3195319"/>
            <a:ext cx="2448740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F0C1AD-6003-CA38-7909-5A3ECEEAB571}"/>
              </a:ext>
            </a:extLst>
          </p:cNvPr>
          <p:cNvSpPr/>
          <p:nvPr/>
        </p:nvSpPr>
        <p:spPr>
          <a:xfrm>
            <a:off x="6184219" y="4066156"/>
            <a:ext cx="2513216" cy="356477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Filter/sample/sketch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8D0BD07-17DD-D0D1-82ED-AD49F40C455E}"/>
                  </a:ext>
                </a:extLst>
              </p:cNvPr>
              <p:cNvSpPr txBox="1"/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AB5C444-D8F2-B810-FE62-47D0C2A4F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163" y="3369009"/>
                <a:ext cx="509954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30DA424F-2C20-D812-0639-EF5FE1437690}"/>
              </a:ext>
            </a:extLst>
          </p:cNvPr>
          <p:cNvSpPr/>
          <p:nvPr/>
        </p:nvSpPr>
        <p:spPr>
          <a:xfrm>
            <a:off x="3864162" y="2901147"/>
            <a:ext cx="1979791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4033F6E-ACC0-4E3A-228C-8238D3588722}"/>
              </a:ext>
            </a:extLst>
          </p:cNvPr>
          <p:cNvSpPr/>
          <p:nvPr/>
        </p:nvSpPr>
        <p:spPr>
          <a:xfrm>
            <a:off x="3821722" y="3693497"/>
            <a:ext cx="2035067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AF0C6D2B-D1FB-789B-2842-3055CE42AF77}"/>
              </a:ext>
            </a:extLst>
          </p:cNvPr>
          <p:cNvSpPr/>
          <p:nvPr/>
        </p:nvSpPr>
        <p:spPr>
          <a:xfrm>
            <a:off x="3787666" y="4977477"/>
            <a:ext cx="2069123" cy="288193"/>
          </a:xfrm>
          <a:custGeom>
            <a:avLst/>
            <a:gdLst>
              <a:gd name="connsiteX0" fmla="*/ 0 w 1937349"/>
              <a:gd name="connsiteY0" fmla="*/ 59181 h 276213"/>
              <a:gd name="connsiteX1" fmla="*/ 363415 w 1937349"/>
              <a:gd name="connsiteY1" fmla="*/ 276058 h 276213"/>
              <a:gd name="connsiteX2" fmla="*/ 363415 w 1937349"/>
              <a:gd name="connsiteY2" fmla="*/ 29874 h 276213"/>
              <a:gd name="connsiteX3" fmla="*/ 773723 w 1937349"/>
              <a:gd name="connsiteY3" fmla="*/ 240889 h 276213"/>
              <a:gd name="connsiteX4" fmla="*/ 791308 w 1937349"/>
              <a:gd name="connsiteY4" fmla="*/ 12289 h 276213"/>
              <a:gd name="connsiteX5" fmla="*/ 1125415 w 1937349"/>
              <a:gd name="connsiteY5" fmla="*/ 223305 h 276213"/>
              <a:gd name="connsiteX6" fmla="*/ 1178169 w 1937349"/>
              <a:gd name="connsiteY6" fmla="*/ 41597 h 276213"/>
              <a:gd name="connsiteX7" fmla="*/ 1541585 w 1937349"/>
              <a:gd name="connsiteY7" fmla="*/ 264335 h 276213"/>
              <a:gd name="connsiteX8" fmla="*/ 1570892 w 1937349"/>
              <a:gd name="connsiteY8" fmla="*/ 566 h 276213"/>
              <a:gd name="connsiteX9" fmla="*/ 1916723 w 1937349"/>
              <a:gd name="connsiteY9" fmla="*/ 193997 h 276213"/>
              <a:gd name="connsiteX10" fmla="*/ 1899138 w 1937349"/>
              <a:gd name="connsiteY10" fmla="*/ 188135 h 276213"/>
              <a:gd name="connsiteX11" fmla="*/ 1910861 w 1937349"/>
              <a:gd name="connsiteY11" fmla="*/ 205720 h 276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37349" h="276213">
                <a:moveTo>
                  <a:pt x="0" y="59181"/>
                </a:moveTo>
                <a:cubicBezTo>
                  <a:pt x="151423" y="170061"/>
                  <a:pt x="302846" y="280942"/>
                  <a:pt x="363415" y="276058"/>
                </a:cubicBezTo>
                <a:cubicBezTo>
                  <a:pt x="423984" y="271174"/>
                  <a:pt x="295030" y="35735"/>
                  <a:pt x="363415" y="29874"/>
                </a:cubicBezTo>
                <a:cubicBezTo>
                  <a:pt x="431800" y="24013"/>
                  <a:pt x="702408" y="243820"/>
                  <a:pt x="773723" y="240889"/>
                </a:cubicBezTo>
                <a:cubicBezTo>
                  <a:pt x="845038" y="237958"/>
                  <a:pt x="732693" y="15220"/>
                  <a:pt x="791308" y="12289"/>
                </a:cubicBezTo>
                <a:cubicBezTo>
                  <a:pt x="849923" y="9358"/>
                  <a:pt x="1060938" y="218420"/>
                  <a:pt x="1125415" y="223305"/>
                </a:cubicBezTo>
                <a:cubicBezTo>
                  <a:pt x="1189892" y="228190"/>
                  <a:pt x="1108807" y="34759"/>
                  <a:pt x="1178169" y="41597"/>
                </a:cubicBezTo>
                <a:cubicBezTo>
                  <a:pt x="1247531" y="48435"/>
                  <a:pt x="1476131" y="271174"/>
                  <a:pt x="1541585" y="264335"/>
                </a:cubicBezTo>
                <a:cubicBezTo>
                  <a:pt x="1607039" y="257497"/>
                  <a:pt x="1508369" y="12289"/>
                  <a:pt x="1570892" y="566"/>
                </a:cubicBezTo>
                <a:cubicBezTo>
                  <a:pt x="1633415" y="-11157"/>
                  <a:pt x="1862015" y="162736"/>
                  <a:pt x="1916723" y="193997"/>
                </a:cubicBezTo>
                <a:cubicBezTo>
                  <a:pt x="1971431" y="225258"/>
                  <a:pt x="1900115" y="186181"/>
                  <a:pt x="1899138" y="188135"/>
                </a:cubicBezTo>
                <a:cubicBezTo>
                  <a:pt x="1898161" y="190089"/>
                  <a:pt x="1916723" y="92397"/>
                  <a:pt x="1910861" y="205720"/>
                </a:cubicBezTo>
              </a:path>
            </a:pathLst>
          </a:custGeom>
          <a:noFill/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4D8EAE-9554-AAD1-A1AE-4B3B382BFE28}"/>
              </a:ext>
            </a:extLst>
          </p:cNvPr>
          <p:cNvSpPr/>
          <p:nvPr/>
        </p:nvSpPr>
        <p:spPr>
          <a:xfrm>
            <a:off x="3928352" y="4059000"/>
            <a:ext cx="1878580" cy="668286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Bandwidth limited network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F031B-6301-D490-8E02-DA0F8854AB39}"/>
              </a:ext>
            </a:extLst>
          </p:cNvPr>
          <p:cNvSpPr/>
          <p:nvPr/>
        </p:nvSpPr>
        <p:spPr>
          <a:xfrm>
            <a:off x="9131897" y="2696612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CA0167-0038-E09D-B741-F2A7048FA2BD}"/>
              </a:ext>
            </a:extLst>
          </p:cNvPr>
          <p:cNvSpPr/>
          <p:nvPr/>
        </p:nvSpPr>
        <p:spPr>
          <a:xfrm>
            <a:off x="9131897" y="3195319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71D0E30-1FDB-06BD-4B6D-6D659A1BAF05}"/>
              </a:ext>
            </a:extLst>
          </p:cNvPr>
          <p:cNvSpPr/>
          <p:nvPr/>
        </p:nvSpPr>
        <p:spPr>
          <a:xfrm>
            <a:off x="9131896" y="4066156"/>
            <a:ext cx="1868449" cy="3564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 analytic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EBF76AE-54EA-DE46-CB26-FF03A762BBAC}"/>
              </a:ext>
            </a:extLst>
          </p:cNvPr>
          <p:cNvSpPr/>
          <p:nvPr/>
        </p:nvSpPr>
        <p:spPr>
          <a:xfrm>
            <a:off x="9135199" y="4722881"/>
            <a:ext cx="1868449" cy="861646"/>
          </a:xfrm>
          <a:prstGeom prst="rect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Classical supervised and unsupervised ML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/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90ACBDB-6DC3-116D-2C97-C8D4DB913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1142" y="3451766"/>
                <a:ext cx="509954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Cylinder 45">
            <a:extLst>
              <a:ext uri="{FF2B5EF4-FFF2-40B4-BE49-F238E27FC236}">
                <a16:creationId xmlns:a16="http://schemas.microsoft.com/office/drawing/2014/main" id="{38C48744-AD9D-047C-2F8F-3286BF6473CB}"/>
              </a:ext>
            </a:extLst>
          </p:cNvPr>
          <p:cNvSpPr/>
          <p:nvPr/>
        </p:nvSpPr>
        <p:spPr>
          <a:xfrm>
            <a:off x="6204768" y="4722881"/>
            <a:ext cx="2513216" cy="873333"/>
          </a:xfrm>
          <a:prstGeom prst="can">
            <a:avLst/>
          </a:prstGeom>
          <a:noFill/>
          <a:ln w="222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Archival storage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F98685A-01FD-0834-A1B4-F640CE6187A1}"/>
              </a:ext>
            </a:extLst>
          </p:cNvPr>
          <p:cNvCxnSpPr>
            <a:cxnSpLocks/>
            <a:stCxn id="5" idx="0"/>
            <a:endCxn id="25" idx="1"/>
          </p:cNvCxnSpPr>
          <p:nvPr/>
        </p:nvCxnSpPr>
        <p:spPr>
          <a:xfrm>
            <a:off x="2054518" y="2972635"/>
            <a:ext cx="278374" cy="2787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7817D2C-3896-1B91-D1D1-4B0E3624DC38}"/>
              </a:ext>
            </a:extLst>
          </p:cNvPr>
          <p:cNvCxnSpPr>
            <a:cxnSpLocks/>
            <a:stCxn id="22" idx="0"/>
            <a:endCxn id="27" idx="1"/>
          </p:cNvCxnSpPr>
          <p:nvPr/>
        </p:nvCxnSpPr>
        <p:spPr>
          <a:xfrm>
            <a:off x="2054517" y="3798937"/>
            <a:ext cx="257155" cy="688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D8981B-B600-8F0F-3ECD-15D4DCEE1F53}"/>
              </a:ext>
            </a:extLst>
          </p:cNvPr>
          <p:cNvCxnSpPr>
            <a:cxnSpLocks/>
            <a:stCxn id="23" idx="0"/>
            <a:endCxn id="26" idx="1"/>
          </p:cNvCxnSpPr>
          <p:nvPr/>
        </p:nvCxnSpPr>
        <p:spPr>
          <a:xfrm>
            <a:off x="2025457" y="5041152"/>
            <a:ext cx="266502" cy="3639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6D1058-2DA7-5E81-74FD-A5FDD7652C2A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5837449" y="2874851"/>
            <a:ext cx="282292" cy="17823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63266E-11AF-D4EF-1B9F-A6DEFCF0F632}"/>
              </a:ext>
            </a:extLst>
          </p:cNvPr>
          <p:cNvCxnSpPr>
            <a:cxnSpLocks/>
            <a:stCxn id="37" idx="9"/>
            <a:endCxn id="32" idx="1"/>
          </p:cNvCxnSpPr>
          <p:nvPr/>
        </p:nvCxnSpPr>
        <p:spPr>
          <a:xfrm flipV="1">
            <a:off x="5835123" y="3373558"/>
            <a:ext cx="349096" cy="52235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C29451-A49B-D090-82EB-80B0C12721B7}"/>
              </a:ext>
            </a:extLst>
          </p:cNvPr>
          <p:cNvCxnSpPr>
            <a:cxnSpLocks/>
            <a:stCxn id="38" idx="9"/>
            <a:endCxn id="33" idx="1"/>
          </p:cNvCxnSpPr>
          <p:nvPr/>
        </p:nvCxnSpPr>
        <p:spPr>
          <a:xfrm flipV="1">
            <a:off x="5834760" y="4244395"/>
            <a:ext cx="349459" cy="935493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9499747-A593-28EC-491B-785A9397B117}"/>
              </a:ext>
            </a:extLst>
          </p:cNvPr>
          <p:cNvCxnSpPr>
            <a:cxnSpLocks/>
            <a:stCxn id="33" idx="2"/>
            <a:endCxn id="46" idx="0"/>
          </p:cNvCxnSpPr>
          <p:nvPr/>
        </p:nvCxnSpPr>
        <p:spPr>
          <a:xfrm>
            <a:off x="7440827" y="4422633"/>
            <a:ext cx="20549" cy="51858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6894752-2A7B-0FA8-CC28-8693F45BABE1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8697435" y="4244395"/>
            <a:ext cx="389875" cy="875057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0DCBAC5-BED6-2497-351D-0AC741A59B9A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8632959" y="3373558"/>
            <a:ext cx="426376" cy="1632160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0D3619F-03A3-E440-055C-CA92E823B26F}"/>
              </a:ext>
            </a:extLst>
          </p:cNvPr>
          <p:cNvCxnSpPr>
            <a:cxnSpLocks/>
            <a:stCxn id="31" idx="3"/>
            <a:endCxn id="44" idx="1"/>
          </p:cNvCxnSpPr>
          <p:nvPr/>
        </p:nvCxnSpPr>
        <p:spPr>
          <a:xfrm>
            <a:off x="8632958" y="2874851"/>
            <a:ext cx="502241" cy="2278853"/>
          </a:xfrm>
          <a:prstGeom prst="straightConnector1">
            <a:avLst/>
          </a:prstGeom>
          <a:ln w="349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3EA2823-7342-42E5-CF25-E23BBEF5F812}"/>
              </a:ext>
            </a:extLst>
          </p:cNvPr>
          <p:cNvCxnSpPr>
            <a:cxnSpLocks/>
            <a:stCxn id="46" idx="4"/>
            <a:endCxn id="44" idx="1"/>
          </p:cNvCxnSpPr>
          <p:nvPr/>
        </p:nvCxnSpPr>
        <p:spPr>
          <a:xfrm flipV="1">
            <a:off x="8717984" y="5153704"/>
            <a:ext cx="417215" cy="5844"/>
          </a:xfrm>
          <a:prstGeom prst="straightConnector1">
            <a:avLst/>
          </a:prstGeom>
          <a:ln w="3492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7946C69-ED6A-C307-1DA3-73DCF51DE96A}"/>
              </a:ext>
            </a:extLst>
          </p:cNvPr>
          <p:cNvCxnSpPr>
            <a:cxnSpLocks/>
            <a:stCxn id="31" idx="3"/>
            <a:endCxn id="40" idx="1"/>
          </p:cNvCxnSpPr>
          <p:nvPr/>
        </p:nvCxnSpPr>
        <p:spPr>
          <a:xfrm>
            <a:off x="8632958" y="2874851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BEBB898-0EE7-921C-B4C0-53AEE394A0D5}"/>
              </a:ext>
            </a:extLst>
          </p:cNvPr>
          <p:cNvCxnSpPr>
            <a:cxnSpLocks/>
          </p:cNvCxnSpPr>
          <p:nvPr/>
        </p:nvCxnSpPr>
        <p:spPr>
          <a:xfrm>
            <a:off x="8632957" y="3373557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115A030-FF58-050A-4D7E-5F63D7EED885}"/>
              </a:ext>
            </a:extLst>
          </p:cNvPr>
          <p:cNvCxnSpPr>
            <a:cxnSpLocks/>
          </p:cNvCxnSpPr>
          <p:nvPr/>
        </p:nvCxnSpPr>
        <p:spPr>
          <a:xfrm>
            <a:off x="8677121" y="4277288"/>
            <a:ext cx="498939" cy="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18B717C-CDE1-1605-8A87-8C6CCB51DC00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>
            <a:off x="10066121" y="4422633"/>
            <a:ext cx="3303" cy="30024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8F9FF1-C908-275F-F604-C9FABA1C1C37}"/>
              </a:ext>
            </a:extLst>
          </p:cNvPr>
          <p:cNvSpPr txBox="1">
            <a:spLocks/>
          </p:cNvSpPr>
          <p:nvPr/>
        </p:nvSpPr>
        <p:spPr>
          <a:xfrm>
            <a:off x="427654" y="1671281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Streams can be filtered and sampled near the source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09E420-14E2-B6EC-EE54-8CF70DE87124}"/>
              </a:ext>
            </a:extLst>
          </p:cNvPr>
          <p:cNvSpPr txBox="1">
            <a:spLocks/>
          </p:cNvSpPr>
          <p:nvPr/>
        </p:nvSpPr>
        <p:spPr>
          <a:xfrm>
            <a:off x="1540950" y="5827194"/>
            <a:ext cx="3768035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Minimum (filtered) data and analytics archived 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8D86332-88AD-64CD-0A35-D168FFFDE70F}"/>
              </a:ext>
            </a:extLst>
          </p:cNvPr>
          <p:cNvSpPr txBox="1">
            <a:spLocks/>
          </p:cNvSpPr>
          <p:nvPr/>
        </p:nvSpPr>
        <p:spPr>
          <a:xfrm>
            <a:off x="7051729" y="6107624"/>
            <a:ext cx="4370522" cy="72628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Filtered streams and sketches used as input to classical ML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5AA8934-2821-9A63-DB3D-DD4B56D4DC33}"/>
              </a:ext>
            </a:extLst>
          </p:cNvPr>
          <p:cNvCxnSpPr>
            <a:cxnSpLocks/>
          </p:cNvCxnSpPr>
          <p:nvPr/>
        </p:nvCxnSpPr>
        <p:spPr>
          <a:xfrm>
            <a:off x="2407403" y="2295711"/>
            <a:ext cx="460458" cy="328615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E2BCB-04BF-2AEA-534A-4D4B534DE5B9}"/>
              </a:ext>
            </a:extLst>
          </p:cNvPr>
          <p:cNvCxnSpPr>
            <a:cxnSpLocks/>
            <a:endCxn id="46" idx="2"/>
          </p:cNvCxnSpPr>
          <p:nvPr/>
        </p:nvCxnSpPr>
        <p:spPr>
          <a:xfrm flipV="1">
            <a:off x="5221521" y="5159548"/>
            <a:ext cx="983247" cy="776218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66489C3-588E-41BF-043A-D61C81FF993C}"/>
              </a:ext>
            </a:extLst>
          </p:cNvPr>
          <p:cNvCxnSpPr>
            <a:cxnSpLocks/>
            <a:endCxn id="44" idx="2"/>
          </p:cNvCxnSpPr>
          <p:nvPr/>
        </p:nvCxnSpPr>
        <p:spPr>
          <a:xfrm flipV="1">
            <a:off x="9481399" y="5584527"/>
            <a:ext cx="588025" cy="582557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4F1CCE5-A067-6524-5710-D4263C2C6B2E}"/>
              </a:ext>
            </a:extLst>
          </p:cNvPr>
          <p:cNvCxnSpPr>
            <a:cxnSpLocks/>
          </p:cNvCxnSpPr>
          <p:nvPr/>
        </p:nvCxnSpPr>
        <p:spPr>
          <a:xfrm flipH="1">
            <a:off x="7496124" y="2295711"/>
            <a:ext cx="1221860" cy="400901"/>
          </a:xfrm>
          <a:prstGeom prst="straightConnector1">
            <a:avLst/>
          </a:prstGeom>
          <a:ln w="34925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F8F8082-1B84-0307-94AC-B7A2FE62D67A}"/>
              </a:ext>
            </a:extLst>
          </p:cNvPr>
          <p:cNvSpPr/>
          <p:nvPr/>
        </p:nvSpPr>
        <p:spPr>
          <a:xfrm>
            <a:off x="7496123" y="5661834"/>
            <a:ext cx="2043953" cy="356477"/>
          </a:xfrm>
          <a:prstGeom prst="rect">
            <a:avLst/>
          </a:prstGeom>
          <a:noFill/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Server/Cloud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718AF88-23BC-4893-2C8E-3AACB9741891}"/>
              </a:ext>
            </a:extLst>
          </p:cNvPr>
          <p:cNvCxnSpPr>
            <a:cxnSpLocks/>
          </p:cNvCxnSpPr>
          <p:nvPr/>
        </p:nvCxnSpPr>
        <p:spPr>
          <a:xfrm flipH="1">
            <a:off x="8697435" y="2972635"/>
            <a:ext cx="434461" cy="2004842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DD508F3-C625-CEBD-8363-051908E65796}"/>
              </a:ext>
            </a:extLst>
          </p:cNvPr>
          <p:cNvCxnSpPr>
            <a:cxnSpLocks/>
          </p:cNvCxnSpPr>
          <p:nvPr/>
        </p:nvCxnSpPr>
        <p:spPr>
          <a:xfrm flipH="1">
            <a:off x="8717984" y="3551796"/>
            <a:ext cx="502216" cy="14256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6381F0-CF0E-C6D9-BD63-56FEAF87B06C}"/>
              </a:ext>
            </a:extLst>
          </p:cNvPr>
          <p:cNvCxnSpPr>
            <a:cxnSpLocks/>
          </p:cNvCxnSpPr>
          <p:nvPr/>
        </p:nvCxnSpPr>
        <p:spPr>
          <a:xfrm flipH="1">
            <a:off x="8717984" y="4422633"/>
            <a:ext cx="502216" cy="518581"/>
          </a:xfrm>
          <a:prstGeom prst="straightConnector1">
            <a:avLst/>
          </a:prstGeom>
          <a:ln w="3492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7910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9045D-FEA2-4516-A1BD-16DBE27CF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For a stream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we can specify the problem two ways</a:t>
                </a:r>
              </a:p>
              <a:p>
                <a:pPr lvl="1"/>
                <a:r>
                  <a:rPr lang="en-US" dirty="0"/>
                  <a:t>Given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find its </a:t>
                </a:r>
                <a:r>
                  <a:rPr lang="en-US" b="1" dirty="0"/>
                  <a:t>rank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Or, for quantile,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find rank of element,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focus on the second specification </a:t>
                </a:r>
              </a:p>
              <a:p>
                <a:r>
                  <a:rPr lang="en-US" dirty="0"/>
                  <a:t>Two closely related problems </a:t>
                </a:r>
              </a:p>
              <a:p>
                <a:pPr lvl="1"/>
                <a:r>
                  <a:rPr lang="en-US" b="1" dirty="0"/>
                  <a:t>Single quantile </a:t>
                </a:r>
                <a:r>
                  <a:rPr lang="en-US" dirty="0"/>
                  <a:t>estimation problem</a:t>
                </a:r>
              </a:p>
              <a:p>
                <a:pPr lvl="1"/>
                <a:r>
                  <a:rPr lang="en-US" b="1" dirty="0"/>
                  <a:t>All quantiles</a:t>
                </a:r>
                <a:r>
                  <a:rPr lang="en-US" dirty="0"/>
                  <a:t> estimation problem</a:t>
                </a:r>
              </a:p>
              <a:p>
                <a:pPr lvl="1"/>
                <a:r>
                  <a:rPr lang="en-US" dirty="0"/>
                  <a:t>If we can do the first, we can do the second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5EEF29-2FF0-0B5F-B534-7F9A942F25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48D342-99F4-0613-8624-8FA4805E7C2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104430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BD57-EB05-C928-FECD-A6A00F14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Estimating quantiles in infinite streams is a fundamental problem</a:t>
                </a:r>
              </a:p>
              <a:p>
                <a:r>
                  <a:rPr lang="en-US" dirty="0"/>
                  <a:t>Algorithms use a sketch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with desirable properties  </a:t>
                </a:r>
              </a:p>
              <a:p>
                <a:pPr lvl="1"/>
                <a:r>
                  <a:rPr lang="en-US" dirty="0"/>
                  <a:t>Minimize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Minimize memory required</a:t>
                </a:r>
              </a:p>
              <a:p>
                <a:pPr lvl="1"/>
                <a:r>
                  <a:rPr lang="en-US" dirty="0"/>
                  <a:t>Mergeability  </a:t>
                </a:r>
              </a:p>
              <a:p>
                <a:r>
                  <a:rPr lang="en-US" dirty="0"/>
                  <a:t>We will look at two examples</a:t>
                </a:r>
              </a:p>
              <a:p>
                <a:pPr lvl="1"/>
                <a:r>
                  <a:rPr lang="en-US" b="1" dirty="0"/>
                  <a:t>t-digest algorithm</a:t>
                </a:r>
                <a:r>
                  <a:rPr lang="en-US" dirty="0"/>
                  <a:t>, </a:t>
                </a:r>
                <a:r>
                  <a:rPr lang="en-US" dirty="0">
                    <a:hlinkClick r:id="rId2"/>
                  </a:rPr>
                  <a:t>Dunning and Ertl, 2019 </a:t>
                </a:r>
                <a:endParaRPr lang="en-US" dirty="0"/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relative error quantile (REQ) sketch </a:t>
                </a:r>
                <a:r>
                  <a:rPr lang="en-US" dirty="0"/>
                  <a:t>algorithm,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3"/>
                      </a:rPr>
                      <m:t>. 2020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For a relatively up to date overview see </a:t>
                </a:r>
                <a:r>
                  <a:rPr lang="en-US" sz="2000" dirty="0">
                    <a:hlinkClick r:id="rId4"/>
                  </a:rPr>
                  <a:t>A Survey of Approximate Quantile Computation on Large-scale Data (Technical Report), Chen, et. al, 2020</a:t>
                </a:r>
                <a:endParaRPr lang="en-US" sz="2000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23311-05C4-FF58-A3E6-7B83B14B42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F19BA3D-989E-917A-1D89-04F66BFDD24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Estimating Quantiles in Streams</a:t>
            </a:r>
          </a:p>
        </p:txBody>
      </p:sp>
    </p:spTree>
    <p:extLst>
      <p:ext uri="{BB962C8B-B14F-4D97-AF65-F5344CB8AC3E}">
        <p14:creationId xmlns:p14="http://schemas.microsoft.com/office/powerpoint/2010/main" val="4178923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304A0-D7DA-3CE8-8597-D2137D6B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B8D36-B6D8-188B-68F7-A08079F8EA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3211185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2F45A-8171-D187-DC95-396B3B248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7ED62-9E11-AF30-77B6-B2904E457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10515600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t-digest is an effective heuristic algorithm</a:t>
            </a:r>
          </a:p>
          <a:p>
            <a:r>
              <a:rPr lang="en-US" dirty="0"/>
              <a:t>The t-digest uses a unique sampling strategy that improves quantile estimates at extremes, e.g. distribution tails</a:t>
            </a:r>
          </a:p>
          <a:p>
            <a:pPr lvl="1"/>
            <a:r>
              <a:rPr lang="en-US" dirty="0"/>
              <a:t>Accuracy improved by interpolation between samples </a:t>
            </a:r>
          </a:p>
          <a:p>
            <a:pPr lvl="1"/>
            <a:r>
              <a:rPr lang="en-US" dirty="0"/>
              <a:t>Effective for anomaly detection and similar situations  </a:t>
            </a:r>
          </a:p>
          <a:p>
            <a:r>
              <a:rPr lang="en-US" dirty="0"/>
              <a:t>Numerous implementations of the t-digest algorithm</a:t>
            </a:r>
          </a:p>
          <a:p>
            <a:pPr lvl="1"/>
            <a:r>
              <a:rPr lang="en-US" dirty="0">
                <a:hlinkClick r:id="rId2"/>
              </a:rPr>
              <a:t>Apache </a:t>
            </a:r>
            <a:r>
              <a:rPr lang="en-US" dirty="0" err="1">
                <a:hlinkClick r:id="rId2"/>
              </a:rPr>
              <a:t>DataSketches</a:t>
            </a:r>
            <a:endParaRPr lang="en-US" dirty="0"/>
          </a:p>
          <a:p>
            <a:pPr lvl="1"/>
            <a:r>
              <a:rPr lang="en-US" dirty="0" err="1">
                <a:hlinkClick r:id="rId3"/>
              </a:rPr>
              <a:t>Fastdigest</a:t>
            </a:r>
            <a:r>
              <a:rPr lang="en-US" dirty="0">
                <a:hlinkClick r:id="rId3"/>
              </a:rPr>
              <a:t> package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Tdigest</a:t>
            </a:r>
            <a:r>
              <a:rPr lang="en-US" dirty="0">
                <a:hlinkClick r:id="rId4"/>
              </a:rPr>
              <a:t> package</a:t>
            </a:r>
            <a:endParaRPr lang="en-US" dirty="0"/>
          </a:p>
          <a:p>
            <a:pPr lvl="1"/>
            <a:r>
              <a:rPr lang="en-US" dirty="0"/>
              <a:t>Also see implementations in many languages in </a:t>
            </a:r>
            <a:r>
              <a:rPr lang="en-US" dirty="0">
                <a:hlinkClick r:id="rId5"/>
              </a:rPr>
              <a:t>Ted Dunning’s reference implementation GitHub repository</a:t>
            </a:r>
            <a:r>
              <a:rPr lang="en-US" dirty="0"/>
              <a:t>   </a:t>
            </a:r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BA864AD-6329-A7B0-5351-19D4ACA6D63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934332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FCEF-FA41-C9D9-00BC-B356519C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The t-digest algorithm computes </a:t>
                </a:r>
                <a:r>
                  <a:rPr lang="en-US" b="1" dirty="0"/>
                  <a:t>representative cluster centroids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Samples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dirty="0"/>
                  <a:t> are partitioned into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clusters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𝑙𝑒𝑓𝑡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𝑟𝑖𝑔ℎ𝑡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F9DCC-EF4C-06FA-AF0A-027E5EFBD9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2050EC1-B3B3-39E2-CE25-C658198298D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16012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51AA6-D4AE-B3B0-F319-389C40BF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Each cluster,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contains as many samples as possible, subject to a size bound   </a:t>
                </a:r>
              </a:p>
              <a:p>
                <a:r>
                  <a:rPr lang="en-US" dirty="0"/>
                  <a:t>For clusters of size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centroid is the mean of the partition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/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Partitions may be </a:t>
                </a:r>
                <a:r>
                  <a:rPr lang="en-US" b="1" dirty="0"/>
                  <a:t>strongly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</a:t>
                </a:r>
                <a:r>
                  <a:rPr lang="en-US" b="1" dirty="0"/>
                  <a:t>weakly ordered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𝑜𝑓𝑓𝑠𝑒𝑡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Weekly ordered clusters have overlapping partitions </a:t>
                </a:r>
              </a:p>
              <a:p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2C2AE4-BBF2-2F03-B52C-FCF927CD04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B8E16E3-DFAE-A0EE-085B-F0EAACC0CD3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60004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64B7-ABAA-81E3-68A9-D831A6CE1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t-digest is an effective heuristic algorithm</a:t>
                </a:r>
              </a:p>
              <a:p>
                <a:r>
                  <a:rPr lang="en-US" dirty="0"/>
                  <a:t>Clusters centers are ordered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acc>
                  </m:oMath>
                </a14:m>
                <a:endParaRPr lang="en-US" dirty="0"/>
              </a:p>
              <a:p>
                <a:r>
                  <a:rPr lang="en-US" dirty="0"/>
                  <a:t>For cluster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left and right weights are: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𝑟𝑖𝑔ℎ𝑡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6643BD-5401-1A44-DDC9-EDECF74CA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1DB1A2D-5A68-9606-384D-3BA3F83C957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8235862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258C0-EA5A-78D5-56CE-8B6D0965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Quantile estimation algorithms face a persistent problem with extreme quantiles   </a:t>
                </a:r>
              </a:p>
              <a:p>
                <a:pPr lvl="1"/>
                <a:r>
                  <a:rPr lang="en-US" dirty="0"/>
                  <a:t>Example; for anomaly detection we want to compute values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=0.001, 0.999</m:t>
                    </m:r>
                  </m:oMath>
                </a14:m>
                <a:r>
                  <a:rPr lang="en-US" dirty="0"/>
                  <a:t> or even more extreme</a:t>
                </a:r>
              </a:p>
              <a:p>
                <a:pPr lvl="1"/>
                <a:r>
                  <a:rPr lang="en-US" dirty="0"/>
                  <a:t>Sketches with uniform sampling have insufficient extreme samples to accurately estimate tail behavior </a:t>
                </a:r>
              </a:p>
              <a:p>
                <a:r>
                  <a:rPr lang="en-US" dirty="0"/>
                  <a:t>The t-digest algorithm uses a non-uniform sampling function to overcome this problem  </a:t>
                </a:r>
              </a:p>
              <a:p>
                <a:pPr lvl="1"/>
                <a:r>
                  <a:rPr lang="en-US" dirty="0"/>
                  <a:t>Sampling extreme values is favored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D4F3D7-2A71-A478-EFDF-6D874C908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217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438C48A2-0570-43AF-B2A5-88C15313EB4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4289554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1DF71-7184-BA6B-6640-58ACCCF3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scale function to perform nonuniform sampling 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/>
                  <a:t>Where: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)≤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6F2E27-F1C8-AA80-57F4-A39715EB9E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8CEBAE5-D1AD-C359-7D1F-12194FD614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2071987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0EE6-B132-13AF-4741-BD21BFA9D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The t-digest algorithm uses a scale function to perform nonuniform sampling </a:t>
                </a:r>
              </a:p>
              <a:p>
                <a:r>
                  <a:rPr lang="en-US" dirty="0"/>
                  <a:t>Other scale functions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+24</m:t>
                          </m:r>
                        </m:den>
                      </m:f>
                      <m:d>
                        <m:dPr>
                          <m:begChr m:val="{"/>
                          <m:endChr m:val="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≤1/2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&lt;1/2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clusters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BE7984-4381-C730-138D-FECEA0B964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A64C2A3-200F-7E1C-9620-2C5A901FD3E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6926235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8B5-C9A5-E9AE-CD07-2EE17999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Example of scale function with </a:t>
                </a:r>
                <a:r>
                  <a:rPr lang="en-US" b="1" dirty="0"/>
                  <a:t>compression parameter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Vertical lines show cluster centroids for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Sampling denser at extreme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09A8C-100F-9FA6-AA64-B308005AB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6510124" cy="5220523"/>
              </a:xfrm>
              <a:blipFill>
                <a:blip r:embed="rId2"/>
                <a:stretch>
                  <a:fillRect l="-1966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815366E-6ADC-0DF3-8CE1-1F79A43B550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CB10DA-383C-5FB7-26FC-D0AD76D3E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084" y="1802970"/>
            <a:ext cx="4703916" cy="40485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393CD5-C973-9D7F-970A-05D1C869C70F}"/>
              </a:ext>
            </a:extLst>
          </p:cNvPr>
          <p:cNvSpPr txBox="1"/>
          <p:nvPr/>
        </p:nvSpPr>
        <p:spPr>
          <a:xfrm>
            <a:off x="8103029" y="600636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4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043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D026-EB71-770D-57E8-73A7373B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2B6DB9-2674-0662-9750-628DC1754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435" y="2014760"/>
            <a:ext cx="8756724" cy="43309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3F081-A156-B756-0F66-373BA7AB3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9967" y="1239955"/>
            <a:ext cx="10914278" cy="639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Using a scale function improves interpolation of tail quantiles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2F0CA0-45D8-3CF8-E853-9931DDA9A6D0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A3F8EF-7212-99FE-0955-9911DB2C3444}"/>
              </a:ext>
            </a:extLst>
          </p:cNvPr>
          <p:cNvCxnSpPr>
            <a:cxnSpLocks/>
          </p:cNvCxnSpPr>
          <p:nvPr/>
        </p:nvCxnSpPr>
        <p:spPr>
          <a:xfrm flipV="1">
            <a:off x="2490395" y="3429000"/>
            <a:ext cx="1885293" cy="618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CD891F5-F4F8-2D55-43C4-7ED10B38C2BA}"/>
              </a:ext>
            </a:extLst>
          </p:cNvPr>
          <p:cNvSpPr txBox="1">
            <a:spLocks/>
          </p:cNvSpPr>
          <p:nvPr/>
        </p:nvSpPr>
        <p:spPr>
          <a:xfrm>
            <a:off x="252805" y="2506532"/>
            <a:ext cx="2667896" cy="22566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Uniform bin-width random sampling results in limited samples for interpolation at extreme quantiles</a:t>
            </a: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6BB5F2B8-25A0-2F21-728D-44A585B4F3D5}"/>
              </a:ext>
            </a:extLst>
          </p:cNvPr>
          <p:cNvSpPr txBox="1">
            <a:spLocks/>
          </p:cNvSpPr>
          <p:nvPr/>
        </p:nvSpPr>
        <p:spPr>
          <a:xfrm>
            <a:off x="9446550" y="2977219"/>
            <a:ext cx="2667896" cy="22136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Variable sized bins results non-uniform number of samples and greatly improved interpolation for extreme quantiles 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F88E50-E637-4BAA-1F04-2390CE4EEB0C}"/>
              </a:ext>
            </a:extLst>
          </p:cNvPr>
          <p:cNvCxnSpPr>
            <a:cxnSpLocks/>
          </p:cNvCxnSpPr>
          <p:nvPr/>
        </p:nvCxnSpPr>
        <p:spPr>
          <a:xfrm flipH="1" flipV="1">
            <a:off x="7459851" y="4293031"/>
            <a:ext cx="1893923" cy="470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0E1075-654F-B0DD-75E0-848C309BAA4F}"/>
              </a:ext>
            </a:extLst>
          </p:cNvPr>
          <p:cNvCxnSpPr>
            <a:cxnSpLocks/>
          </p:cNvCxnSpPr>
          <p:nvPr/>
        </p:nvCxnSpPr>
        <p:spPr>
          <a:xfrm flipH="1" flipV="1">
            <a:off x="6752095" y="4435345"/>
            <a:ext cx="2564027" cy="3733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401088A-2908-C428-8AF8-0B4DBC1DFBFF}"/>
              </a:ext>
            </a:extLst>
          </p:cNvPr>
          <p:cNvSpPr txBox="1"/>
          <p:nvPr/>
        </p:nvSpPr>
        <p:spPr>
          <a:xfrm>
            <a:off x="3809999" y="6345752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12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265EE-8352-A45F-0AA9-19958824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Choice of sampling interval is key to the t-digest algorithm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𝑟𝑖𝑔ℎ𝑡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b="0" dirty="0">
                    <a:latin typeface="Cambria Math" panose="02040503050406030204" pitchFamily="18" charset="0"/>
                  </a:rPr>
                  <a:t>Where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𝑟𝑖𝑔ℎ𝑡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The implication is that the number of clusters must be sufficient to honor the bound   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FE6732-8E07-99F2-8EF3-7EFEF1883E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2"/>
                <a:stretch>
                  <a:fillRect l="-1203" t="-1867" r="-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0886994E-7D57-F64B-577E-564E503D180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83049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979A2-9EA9-0062-D3DC-CA4898747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Algorithms for merging t-digests</a:t>
                </a:r>
              </a:p>
              <a:p>
                <a:r>
                  <a:rPr lang="en-US" dirty="0"/>
                  <a:t>Cluster size for a t-digest algorithm is bounded to ensure mergeability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𝑙𝑒𝑓𝑡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𝑟𝑖𝑔ℎ𝑡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Merging t-digests must maintain this bound</a:t>
                </a:r>
              </a:p>
              <a:p>
                <a:pPr lvl="1"/>
                <a:r>
                  <a:rPr lang="en-US" b="0" dirty="0">
                    <a:latin typeface="Cambria Math" panose="02040503050406030204" pitchFamily="18" charset="0"/>
                  </a:rPr>
                  <a:t>Simple union does not work!  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Can merge t-digest in two ways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As single observations,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>
                    <a:latin typeface="Cambria Math" panose="02040503050406030204" pitchFamily="18" charset="0"/>
                  </a:rPr>
                  <a:t>; see </a:t>
                </a:r>
                <a:r>
                  <a:rPr lang="en-US" dirty="0">
                    <a:hlinkClick r:id="rId2"/>
                  </a:rPr>
                  <a:t>Dunning and Ertl, 2019 </a:t>
                </a:r>
                <a:r>
                  <a:rPr lang="en-US" dirty="0"/>
                  <a:t>for details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Merge buffer of observations into t-digest, or merge two t-digests </a:t>
                </a:r>
                <a:endParaRPr lang="en-US" b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0F4258-5968-825C-9A5B-D3F5E08F9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10643005" cy="5220523"/>
              </a:xfrm>
              <a:blipFill>
                <a:blip r:embed="rId3"/>
                <a:stretch>
                  <a:fillRect l="-1203" t="-18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CD4A112-7EB8-B2CE-6937-BD33CE9D124E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351624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34CC7-B778-8D7F-C00F-81EDBE06B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98C90-56D7-445D-7B23-0D716C337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99" y="1159612"/>
            <a:ext cx="4614164" cy="54943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Algorithm for merging t-digests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Order union of buffer and t-digest (or 2 digests)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Initialize new t-digest</a:t>
            </a:r>
            <a:endParaRPr lang="en-US" sz="2400" b="0" dirty="0">
              <a:latin typeface="Cambria Math" panose="020405030504060302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Cambria Math" panose="02040503050406030204" pitchFamily="18" charset="0"/>
              </a:rPr>
              <a:t>Compute bound for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Update counts </a:t>
            </a:r>
            <a:r>
              <a:rPr lang="en-US" sz="2400" dirty="0">
                <a:latin typeface="Cambria Math" panose="02040503050406030204" pitchFamily="18" charset="0"/>
              </a:rPr>
              <a:t>(weights) in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If, cluster bound not exceeded update cluster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0" dirty="0">
                <a:latin typeface="Cambria Math" panose="02040503050406030204" pitchFamily="18" charset="0"/>
              </a:rPr>
              <a:t>Else, create new cluster and update bound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905DB22-A5A3-AE32-D43F-2E67FEAAA6A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23115A-2F69-48EE-944B-04953CC50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756" y="1603165"/>
            <a:ext cx="6862081" cy="48855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038A8-738F-0107-94B5-391BFC4CF783}"/>
              </a:ext>
            </a:extLst>
          </p:cNvPr>
          <p:cNvSpPr txBox="1"/>
          <p:nvPr/>
        </p:nvSpPr>
        <p:spPr>
          <a:xfrm>
            <a:off x="6594527" y="6488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1BE37-2FBC-5666-C473-067C66C165BC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1007389" cy="5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3E94EEB-C724-63E4-576A-E837B86512E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451674" cy="1782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554DF3-D7B3-49B7-A79F-5A5E6ABBB311}"/>
              </a:ext>
            </a:extLst>
          </p:cNvPr>
          <p:cNvCxnSpPr>
            <a:cxnSpLocks/>
          </p:cNvCxnSpPr>
          <p:nvPr/>
        </p:nvCxnSpPr>
        <p:spPr>
          <a:xfrm>
            <a:off x="4734732" y="3565519"/>
            <a:ext cx="725837" cy="920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6B4AB3A-4ADE-698A-C569-DEB6D8C4597E}"/>
              </a:ext>
            </a:extLst>
          </p:cNvPr>
          <p:cNvCxnSpPr>
            <a:cxnSpLocks/>
          </p:cNvCxnSpPr>
          <p:nvPr/>
        </p:nvCxnSpPr>
        <p:spPr>
          <a:xfrm>
            <a:off x="4734731" y="4074382"/>
            <a:ext cx="999642" cy="1773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9170DC-4CCC-2D4D-B977-E9FDB9F203D3}"/>
              </a:ext>
            </a:extLst>
          </p:cNvPr>
          <p:cNvCxnSpPr>
            <a:cxnSpLocks/>
          </p:cNvCxnSpPr>
          <p:nvPr/>
        </p:nvCxnSpPr>
        <p:spPr>
          <a:xfrm flipV="1">
            <a:off x="5097650" y="4636121"/>
            <a:ext cx="740045" cy="135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2A7532-B564-2781-D012-F06FDE204406}"/>
              </a:ext>
            </a:extLst>
          </p:cNvPr>
          <p:cNvCxnSpPr>
            <a:cxnSpLocks/>
          </p:cNvCxnSpPr>
          <p:nvPr/>
        </p:nvCxnSpPr>
        <p:spPr>
          <a:xfrm flipV="1">
            <a:off x="4878737" y="5411949"/>
            <a:ext cx="958958" cy="188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2919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A3D0A-B0DA-C30F-AF3D-60A134FBA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F7D24-7F2C-F0D8-EB7D-AD6710CC35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0643005" cy="52205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complex </a:t>
            </a:r>
            <a:r>
              <a:rPr lang="en-US" b="1" dirty="0"/>
              <a:t>interpolation algorithm </a:t>
            </a:r>
            <a:r>
              <a:rPr lang="en-US" dirty="0"/>
              <a:t>to improve accuracy at </a:t>
            </a:r>
            <a:r>
              <a:rPr lang="en-US" b="1" dirty="0"/>
              <a:t>extreme quantiles </a:t>
            </a:r>
            <a:r>
              <a:rPr lang="en-US" dirty="0"/>
              <a:t>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two clusters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 with single member and cluster with more than one sample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between two clusters with single sample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Interpolate for first or last cluster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1BCC08C-BF60-9280-0F0A-D1BEF80635E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</p:spTree>
    <p:extLst>
      <p:ext uri="{BB962C8B-B14F-4D97-AF65-F5344CB8AC3E}">
        <p14:creationId xmlns:p14="http://schemas.microsoft.com/office/powerpoint/2010/main" val="96120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9EEE4-095F-B415-2CD6-BDE8DD92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2EE45-874A-6192-6F58-6425F2B6D1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</a:rPr>
              <a:t>Interpolate between clusters with more than one sample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Half of centroid weight to left and half to right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Assumes adjacent centroids have equal weight; true asymptotically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3ADC01-6E56-BB05-0FAA-8AA89D163143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6E8BE6-9FB6-19A5-D168-246B90820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143" y="2650491"/>
            <a:ext cx="4915586" cy="33151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01E31C-4CB8-FDE3-39DE-FE300FC395DE}"/>
              </a:ext>
            </a:extLst>
          </p:cNvPr>
          <p:cNvSpPr txBox="1"/>
          <p:nvPr/>
        </p:nvSpPr>
        <p:spPr>
          <a:xfrm>
            <a:off x="8035869" y="617353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6017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B853-1EE2-7013-DC5D-F20F9001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8AED-A5AF-75A4-A727-1D38DD69A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5941853" cy="49260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uses interpolation to improve accuracy with 4 cases </a:t>
            </a:r>
            <a:endParaRPr lang="en-US" dirty="0">
              <a:latin typeface="Cambria Math" panose="02040503050406030204" pitchFamily="18" charset="0"/>
            </a:endParaRPr>
          </a:p>
          <a:p>
            <a:pPr marL="514350" indent="-514350">
              <a:buFont typeface="+mj-lt"/>
              <a:buAutoNum type="arabicPeriod" startAt="2"/>
            </a:pPr>
            <a:r>
              <a:rPr lang="en-US" dirty="0">
                <a:latin typeface="Cambria Math" panose="02040503050406030204" pitchFamily="18" charset="0"/>
              </a:rPr>
              <a:t>Use same interpolation for case 2, one cluster with single sample to cluster with multiple samples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  <a:endParaRPr lang="en-US" dirty="0"/>
          </a:p>
          <a:p>
            <a:pPr marL="514350" indent="-514350">
              <a:buFont typeface="+mj-lt"/>
              <a:buAutoNum type="arabicPeriod" startAt="2"/>
            </a:pPr>
            <a:r>
              <a:rPr lang="en-US" dirty="0"/>
              <a:t>Interpolate between two clusters with single sample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Take advantage the single sample being the centroid </a:t>
            </a:r>
          </a:p>
          <a:p>
            <a:pPr lvl="1"/>
            <a:r>
              <a:rPr lang="en-US" dirty="0">
                <a:latin typeface="Cambria Math" panose="02040503050406030204" pitchFamily="18" charset="0"/>
              </a:rPr>
              <a:t>Interpolation has jump of 1 at single sample centroid </a:t>
            </a:r>
          </a:p>
          <a:p>
            <a:pPr lvl="1"/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A6F4AFC-02AE-265C-C864-071FDEE2907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0779DC-4BD0-11CE-1AFE-BD34065828DE}"/>
              </a:ext>
            </a:extLst>
          </p:cNvPr>
          <p:cNvSpPr txBox="1"/>
          <p:nvPr/>
        </p:nvSpPr>
        <p:spPr>
          <a:xfrm>
            <a:off x="8010038" y="58816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DA4DBF-A93A-9B83-6247-3E6F07092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490" y="2443414"/>
            <a:ext cx="509658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214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72E74-E219-A5C8-86B2-2B8D1699A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uses interpolation to improve accuracy with 4 cases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dirty="0"/>
                  <a:t>Interpolate for first or last cluster 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If last cluster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then last value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), with a jump of 1 at end</a:t>
                </a:r>
              </a:p>
              <a:p>
                <a:pPr lvl="1"/>
                <a:r>
                  <a:rPr lang="en-US">
                    <a:latin typeface="Cambria Math" panose="02040503050406030204" pitchFamily="18" charset="0"/>
                  </a:rPr>
                  <a:t>Else,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, have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at centroid and jump of 1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(or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)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F7037A-891A-5896-55AC-A0EB392C33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941853" cy="4926055"/>
              </a:xfrm>
              <a:blipFill>
                <a:blip r:embed="rId2"/>
                <a:stretch>
                  <a:fillRect l="-2156" t="-1980" r="-1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6D688FF-BFFC-F3E9-8F33-C96FE5C4625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6184B-9B2D-35E2-820B-DBC896304289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5E1DF1-2D0E-6556-9B8D-5C4E5088E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5898" y="2850937"/>
            <a:ext cx="5119701" cy="268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5723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81FA3-2560-B795-6AFB-3D2D79E3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result in larger number of clusters and greater accuracy</a:t>
                </a:r>
              </a:p>
              <a:p>
                <a:r>
                  <a:rPr lang="en-US" dirty="0"/>
                  <a:t>Larger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require more memory</a:t>
                </a:r>
              </a:p>
              <a:p>
                <a:r>
                  <a:rPr lang="en-US" dirty="0"/>
                  <a:t>Empirically, the t-digest algorithm leads to good accuracy for extreme quantiles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9E7DBF-D9F1-6E94-B01A-29AE3B603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4882803" cy="4926055"/>
              </a:xfrm>
              <a:blipFill>
                <a:blip r:embed="rId2"/>
                <a:stretch>
                  <a:fillRect l="-2622" t="-1980" r="-3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FA0BB09-9180-5348-0993-B8C842A2680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E352CA-E487-F091-FB16-240E6638FFD4}"/>
              </a:ext>
            </a:extLst>
          </p:cNvPr>
          <p:cNvSpPr txBox="1"/>
          <p:nvPr/>
        </p:nvSpPr>
        <p:spPr>
          <a:xfrm>
            <a:off x="7994541" y="5703421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FE0B6-1E7D-43AB-6C90-A2984AEC0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017" y="1040045"/>
            <a:ext cx="6095999" cy="45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3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46CBC-32BD-7BAA-5307-FABFCF037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T-digest does not have analytical error bounds 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Empirically find choice of scale function changes error characteristics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extreme quantiles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for quantiles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&gt;0.01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B8DC7F-31EA-F0E7-B71B-7DD1C29078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8"/>
                <a:ext cx="11070516" cy="1923882"/>
              </a:xfrm>
              <a:blipFill>
                <a:blip r:embed="rId2"/>
                <a:stretch>
                  <a:fillRect l="-1156" t="-6962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3066917-9FCB-6236-C25B-D0C3A69D3A4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4C683-D43C-D8C4-B405-47A87AE0852A}"/>
              </a:ext>
            </a:extLst>
          </p:cNvPr>
          <p:cNvSpPr txBox="1"/>
          <p:nvPr/>
        </p:nvSpPr>
        <p:spPr>
          <a:xfrm>
            <a:off x="3998075" y="64026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3"/>
              </a:rPr>
              <a:t>Dunning and Ertl, 2019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20DFD5-607B-1C14-D6A7-D7338252A3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3727" y="3081961"/>
            <a:ext cx="7288305" cy="3320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69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5869D-CCA8-F281-8067-1EBA194E9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2053F-699F-BAA6-0F25-90EC87EBD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1" y="1324927"/>
            <a:ext cx="11252605" cy="14128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T-digest does not have analytical error bounds</a:t>
            </a:r>
          </a:p>
          <a:p>
            <a:r>
              <a:rPr lang="en-US" dirty="0"/>
              <a:t>Empirically, stratified merging appears to reduce error</a:t>
            </a:r>
          </a:p>
          <a:p>
            <a:r>
              <a:rPr lang="en-US" dirty="0"/>
              <a:t>Example: merge seconds -&gt; minutes -&gt; hours, etc. </a:t>
            </a:r>
            <a:endParaRPr lang="en-US" dirty="0">
              <a:latin typeface="Cambria Math" panose="020405030504060302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EB5B614-B00D-70E6-73D9-4D8F49F9B02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T-Digest Algorithm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47074-7BD1-45FD-0910-DC090F07E8EB}"/>
              </a:ext>
            </a:extLst>
          </p:cNvPr>
          <p:cNvSpPr txBox="1"/>
          <p:nvPr/>
        </p:nvSpPr>
        <p:spPr>
          <a:xfrm>
            <a:off x="3987317" y="6384795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Figure from </a:t>
            </a:r>
            <a:r>
              <a:rPr lang="en-US" dirty="0">
                <a:hlinkClick r:id="rId2"/>
              </a:rPr>
              <a:t>Dunning and Ertl, 2019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086745-89B8-6E84-C7AF-80D8B337D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336" y="2908310"/>
            <a:ext cx="9111952" cy="3445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4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F562C-8C17-E358-1583-E4FD23E7D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A384C-9351-F510-A550-D26E5621F6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Relative Error Quantile (REQ) Algorithm</a:t>
            </a:r>
          </a:p>
        </p:txBody>
      </p:sp>
    </p:spTree>
    <p:extLst>
      <p:ext uri="{BB962C8B-B14F-4D97-AF65-F5344CB8AC3E}">
        <p14:creationId xmlns:p14="http://schemas.microsoft.com/office/powerpoint/2010/main" val="470671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638C9-9C40-72F6-5AAE-E1696016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REQ is an improvement on the KLL algorithm, </a:t>
                </a:r>
                <a:r>
                  <a:rPr lang="en-US" dirty="0" err="1">
                    <a:hlinkClick r:id="rId2"/>
                  </a:rPr>
                  <a:t>Karnin</a:t>
                </a:r>
                <a:r>
                  <a:rPr lang="en-US" dirty="0">
                    <a:hlinkClick r:id="rId2"/>
                  </a:rPr>
                  <a:t>, Lang, Liberty, 2016</a:t>
                </a:r>
                <a:endParaRPr lang="en-US" dirty="0"/>
              </a:p>
              <a:p>
                <a:pPr lvl="1"/>
                <a:r>
                  <a:rPr lang="en-US" dirty="0"/>
                  <a:t>KLL algorithm is widely used: see for example, implementations in </a:t>
                </a:r>
                <a:r>
                  <a:rPr lang="en-US" dirty="0">
                    <a:hlinkClick r:id="rId3"/>
                  </a:rPr>
                  <a:t>Google </a:t>
                </a:r>
                <a:r>
                  <a:rPr lang="en-US" dirty="0" err="1">
                    <a:hlinkClick r:id="rId3"/>
                  </a:rPr>
                  <a:t>BigQuery</a:t>
                </a:r>
                <a:r>
                  <a:rPr lang="en-US" dirty="0"/>
                  <a:t> or </a:t>
                </a:r>
                <a:r>
                  <a:rPr lang="en-US" dirty="0">
                    <a:hlinkClick r:id="rId4"/>
                  </a:rPr>
                  <a:t>Apache </a:t>
                </a:r>
                <a:r>
                  <a:rPr lang="en-US" dirty="0" err="1">
                    <a:hlinkClick r:id="rId4"/>
                  </a:rPr>
                  <a:t>DataSketches</a:t>
                </a:r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  <a:p>
                <a:r>
                  <a:rPr lang="en-US" dirty="0"/>
                  <a:t>The core of the KLL algorithm is a sketch comprising a 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d>
                  </m:oMath>
                </a14:m>
                <a:r>
                  <a:rPr lang="en-US" b="1" dirty="0"/>
                  <a:t> compactors</a:t>
                </a:r>
                <a:r>
                  <a:rPr lang="en-US" dirty="0"/>
                  <a:t> </a:t>
                </a:r>
              </a:p>
              <a:p>
                <a:r>
                  <a:rPr lang="en-US" dirty="0"/>
                  <a:t>A compactor down-samples half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buffer values outputting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values, applying a weight of two to sampled values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F5C8CB-388C-BF24-F93E-FFFB49E612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5"/>
                <a:stretch>
                  <a:fillRect l="-1217" t="-1867" r="-9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C307E48-0DC9-07D2-61BC-B0AF75B681E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207448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C8B4D-9398-458B-899B-096A3F2F7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compactor down-samples half of the full input buffer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, applying a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/>
                  <a:t>Compactors </a:t>
                </a:r>
                <a:r>
                  <a:rPr lang="en-US" sz="2400" b="1" dirty="0"/>
                  <a:t>randomly sample </a:t>
                </a:r>
                <a:r>
                  <a:rPr lang="en-US" sz="2400" dirty="0"/>
                  <a:t>either even or odd values from a buffer of size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16722C-25A8-5F1D-5856-CA7A6CCC28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2195594"/>
                <a:ext cx="3606774" cy="3500580"/>
              </a:xfrm>
              <a:blipFill>
                <a:blip r:embed="rId2"/>
                <a:stretch>
                  <a:fillRect l="-3553" t="-2787" r="-1861" b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D53C3DAE-DDD9-6666-7BED-02428A39A46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435C61-DA52-DCD7-B9A2-0722A78F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29" y="3355277"/>
            <a:ext cx="7206712" cy="332794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099805-B4C9-D437-B152-97BD95466BA7}"/>
              </a:ext>
            </a:extLst>
          </p:cNvPr>
          <p:cNvCxnSpPr>
            <a:cxnSpLocks/>
          </p:cNvCxnSpPr>
          <p:nvPr/>
        </p:nvCxnSpPr>
        <p:spPr>
          <a:xfrm flipV="1">
            <a:off x="4233134" y="4528265"/>
            <a:ext cx="1705087" cy="5762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D94E760-1B31-6094-E18E-BA5A19203A0B}"/>
              </a:ext>
            </a:extLst>
          </p:cNvPr>
          <p:cNvCxnSpPr>
            <a:cxnSpLocks/>
          </p:cNvCxnSpPr>
          <p:nvPr/>
        </p:nvCxnSpPr>
        <p:spPr>
          <a:xfrm>
            <a:off x="4270786" y="5104504"/>
            <a:ext cx="1763221" cy="1339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After one compactor,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94D9E603-65DC-93C8-329B-387DA0CA3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4042" y="1371601"/>
                <a:ext cx="2346243" cy="1722894"/>
              </a:xfrm>
              <a:prstGeom prst="rect">
                <a:avLst/>
              </a:prstGeom>
              <a:blipFill>
                <a:blip r:embed="rId4"/>
                <a:stretch>
                  <a:fillRect l="-4156" t="-7067" r="-3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After two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/4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D9ED457-75DF-6CDE-32DA-D1985D63E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499" y="1523718"/>
                <a:ext cx="2762114" cy="1418093"/>
              </a:xfrm>
              <a:prstGeom prst="rect">
                <a:avLst/>
              </a:prstGeom>
              <a:blipFill>
                <a:blip r:embed="rId5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4"/>
                </a:pPr>
                <a:r>
                  <a:rPr lang="en-US" sz="2400" dirty="0"/>
                  <a:t>After three compactors, B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/6</m:t>
                    </m:r>
                  </m:oMath>
                </a14:m>
                <a:r>
                  <a:rPr lang="en-US" sz="2400" dirty="0"/>
                  <a:t> samples, with weight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9E4F5733-A2A2-BF49-8D28-E60B69191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6490" y="880820"/>
                <a:ext cx="2762114" cy="1418093"/>
              </a:xfrm>
              <a:prstGeom prst="rect">
                <a:avLst/>
              </a:prstGeom>
              <a:blipFill>
                <a:blip r:embed="rId6"/>
                <a:stretch>
                  <a:fillRect l="-3532" t="-6438" b="-9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5C96585-0AC9-9B2E-7523-B90E750CB16B}"/>
              </a:ext>
            </a:extLst>
          </p:cNvPr>
          <p:cNvCxnSpPr>
            <a:cxnSpLocks/>
          </p:cNvCxnSpPr>
          <p:nvPr/>
        </p:nvCxnSpPr>
        <p:spPr>
          <a:xfrm>
            <a:off x="5238427" y="2758698"/>
            <a:ext cx="1999282" cy="7492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2B110-FD76-90FF-E0D3-92B1A9CCF24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8248556" y="2941811"/>
            <a:ext cx="1174413" cy="20774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B12E92A-2015-9EE9-E17F-9CC262E3AEE6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10359614" y="2298913"/>
            <a:ext cx="267933" cy="164376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379161F-AEAB-FCED-292C-DB11F9884F17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04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D0CB1-3094-1E25-E83C-B331CE249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19BCF8A-B355-2CDA-5B25-5F8FBC4A2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98567"/>
            <a:ext cx="5475643" cy="365497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Stack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compactors </a:t>
                </a:r>
                <a:r>
                  <a:rPr lang="en-US" dirty="0"/>
                  <a:t>down-samples input buffer values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400" dirty="0"/>
                  <a:t>For a stream of length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the maximum height (number of compactors) 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62FACD-9CEB-0A7F-0789-1921DBCDD6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471" y="1354720"/>
                <a:ext cx="3739178" cy="3340993"/>
              </a:xfrm>
              <a:blipFill>
                <a:blip r:embed="rId3"/>
                <a:stretch>
                  <a:fillRect l="-3426" t="-2920" r="-50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FC50A3A5-5A4D-FC99-9AD5-FCAF10D4F5A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5"/>
                </a:pPr>
                <a:r>
                  <a:rPr lang="en-US" sz="2400" dirty="0"/>
                  <a:t>Use random sampler for low-capacity,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, compactors</a:t>
                </a:r>
                <a:endParaRPr lang="en-US" dirty="0"/>
              </a:p>
            </p:txBody>
          </p:sp>
        </mc:Choice>
        <mc:Fallback xmlns=""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3AB26B3D-CFE1-8844-995D-BDD2DD3DB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24" y="5120638"/>
                <a:ext cx="3249347" cy="1085671"/>
              </a:xfrm>
              <a:prstGeom prst="rect">
                <a:avLst/>
              </a:prstGeom>
              <a:blipFill>
                <a:blip r:embed="rId4"/>
                <a:stretch>
                  <a:fillRect l="-3002" t="-8427" r="-3940" b="-12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3"/>
                </a:pPr>
                <a:r>
                  <a:rPr lang="en-US" sz="2400" dirty="0"/>
                  <a:t>Compactors of increasing capacity, emit 1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400" dirty="0"/>
                  <a:t> input samples, from buffer of capacity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9D7CCAC6-C833-D456-BC99-6A6CA5F82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450" y="887506"/>
                <a:ext cx="4972457" cy="1236131"/>
              </a:xfrm>
              <a:prstGeom prst="rect">
                <a:avLst/>
              </a:prstGeom>
              <a:blipFill>
                <a:blip r:embed="rId5"/>
                <a:stretch>
                  <a:fillRect l="-1961" t="-7921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457200" indent="-457200">
                  <a:buFont typeface="+mj-lt"/>
                  <a:buAutoNum type="arabicPeriod" startAt="2"/>
                </a:pPr>
                <a:r>
                  <a:rPr lang="en-US" sz="2400" dirty="0"/>
                  <a:t>Smallest possible compactor with capacity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400" dirty="0"/>
                  <a:t> values  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32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37487BC0-5FAF-928A-E5B1-410FA089A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0278" y="2230298"/>
                <a:ext cx="2762114" cy="1427301"/>
              </a:xfrm>
              <a:prstGeom prst="rect">
                <a:avLst/>
              </a:prstGeom>
              <a:blipFill>
                <a:blip r:embed="rId6"/>
                <a:stretch>
                  <a:fillRect l="-3532" t="-6410" r="-5740" b="-8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1EA636B-EA3A-183A-6E29-BD7658FD5F8A}"/>
              </a:ext>
            </a:extLst>
          </p:cNvPr>
          <p:cNvCxnSpPr>
            <a:cxnSpLocks/>
          </p:cNvCxnSpPr>
          <p:nvPr/>
        </p:nvCxnSpPr>
        <p:spPr>
          <a:xfrm>
            <a:off x="3792071" y="5744584"/>
            <a:ext cx="6018902" cy="2689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3B65C87-5EEE-5E37-B1BC-B454524E475C}"/>
              </a:ext>
            </a:extLst>
          </p:cNvPr>
          <p:cNvCxnSpPr>
            <a:cxnSpLocks/>
          </p:cNvCxnSpPr>
          <p:nvPr/>
        </p:nvCxnSpPr>
        <p:spPr>
          <a:xfrm>
            <a:off x="8503920" y="2123637"/>
            <a:ext cx="170958" cy="15339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F73F1DE-40C7-F78E-FF9E-7AA0E444B30E}"/>
              </a:ext>
            </a:extLst>
          </p:cNvPr>
          <p:cNvCxnSpPr>
            <a:cxnSpLocks/>
          </p:cNvCxnSpPr>
          <p:nvPr/>
        </p:nvCxnSpPr>
        <p:spPr>
          <a:xfrm flipH="1">
            <a:off x="8923468" y="2915322"/>
            <a:ext cx="887506" cy="8713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2CD0BB8-C819-9EB5-126B-394BAD8808AC}"/>
              </a:ext>
            </a:extLst>
          </p:cNvPr>
          <p:cNvSpPr txBox="1"/>
          <p:nvPr/>
        </p:nvSpPr>
        <p:spPr>
          <a:xfrm>
            <a:off x="501838" y="6313886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7"/>
              </a:rPr>
              <a:t>Figure from Karmin, Lang, Liberty, 2016</a:t>
            </a:r>
            <a:endParaRPr lang="en-US" dirty="0"/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132F3DAB-40B3-6D6C-39FD-C51EFDC8DF13}"/>
              </a:ext>
            </a:extLst>
          </p:cNvPr>
          <p:cNvSpPr txBox="1">
            <a:spLocks/>
          </p:cNvSpPr>
          <p:nvPr/>
        </p:nvSpPr>
        <p:spPr>
          <a:xfrm>
            <a:off x="4438336" y="1526047"/>
            <a:ext cx="2762114" cy="1139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4"/>
            </a:pPr>
            <a:r>
              <a:rPr lang="en-US" sz="2400" dirty="0"/>
              <a:t>Rank computed by summing over last buffer</a:t>
            </a: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sz="3200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  <a:p>
            <a:pPr marL="514350" indent="-514350">
              <a:buFont typeface="+mj-lt"/>
              <a:buAutoNum type="arabicPeriod" startAt="4"/>
            </a:pPr>
            <a:endParaRPr lang="en-US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CCE55F9-9A66-B60A-D012-578AE55C3B10}"/>
              </a:ext>
            </a:extLst>
          </p:cNvPr>
          <p:cNvCxnSpPr>
            <a:cxnSpLocks/>
            <a:stCxn id="38" idx="2"/>
          </p:cNvCxnSpPr>
          <p:nvPr/>
        </p:nvCxnSpPr>
        <p:spPr>
          <a:xfrm>
            <a:off x="5819393" y="2665506"/>
            <a:ext cx="350118" cy="6173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4273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A43C-17C0-D1D3-04CB-50934D688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REQ algorithm has strong performance bounds with small memory footprint </a:t>
                </a:r>
              </a:p>
              <a:p>
                <a:r>
                  <a:rPr lang="en-US" dirty="0"/>
                  <a:t>The KLL algorithm is not optimal in terms of error bound and memory use 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2"/>
                      </a:rPr>
                      <m:t>. 2020</m:t>
                    </m:r>
                  </m:oMath>
                </a14:m>
                <a:r>
                  <a:rPr lang="en-US" dirty="0"/>
                  <a:t> use a modified compactor for the REQ algorithm to improve error bound and memory use </a:t>
                </a:r>
              </a:p>
              <a:p>
                <a:pPr lvl="1"/>
                <a:r>
                  <a:rPr lang="en-US" dirty="0"/>
                  <a:t>REQ algorithm minimizes </a:t>
                </a:r>
                <a:r>
                  <a:rPr lang="en-US" b="1" dirty="0"/>
                  <a:t>relative error </a:t>
                </a:r>
                <a:r>
                  <a:rPr lang="en-US" dirty="0"/>
                  <a:t>or</a:t>
                </a:r>
                <a:r>
                  <a:rPr lang="en-US" b="1" dirty="0"/>
                  <a:t> multiplicative error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with probability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, not absolute error or additive error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REQ compactor </a:t>
                </a:r>
                <a:r>
                  <a:rPr lang="en-US" b="1" dirty="0"/>
                  <a:t>does not down-sample extreme values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033E02-F66C-5F62-B7CB-96789652AF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3"/>
                <a:stretch>
                  <a:fillRect l="-1217" t="-1867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E8A509D-6570-A6EC-AFB1-72140F48838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890802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C1418-4471-9CEF-2212-750C590F4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REQ algorithm is optimized for either extreme small or extreme large quantiles, but not both </a:t>
                </a:r>
              </a:p>
              <a:p>
                <a:r>
                  <a:rPr lang="en-US" dirty="0"/>
                  <a:t>REQ buffer always stores smallest (largest)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1/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values to reduce error</a:t>
                </a:r>
              </a:p>
              <a:p>
                <a:r>
                  <a:rPr lang="en-US" dirty="0"/>
                  <a:t>Buffer size determined by error bound and</a:t>
                </a:r>
                <a:r>
                  <a:rPr lang="en-US" b="1" dirty="0"/>
                  <a:t> stream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𝑙𝑜𝑔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ad>
                                <m:radPr>
                                  <m:degHide m:val="on"/>
                                  <m:ctrlPr>
                                    <a:rPr lang="el-G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streaming data: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1/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𝛿</m:t>
                                      </m:r>
                                    </m:e>
                                  </m:func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𝑙𝑜𝑔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ra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82A526-2F7D-F787-5D42-A1CF7AD696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7"/>
                <a:ext cx="10515600" cy="5220523"/>
              </a:xfrm>
              <a:blipFill>
                <a:blip r:embed="rId2"/>
                <a:stretch>
                  <a:fillRect l="-1043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EEC12FD6-EDFE-0833-14F8-04DA4D8327E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704973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00317-7CD2-5354-8315-9A3038044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Once buffer is full:</a:t>
                </a:r>
              </a:p>
              <a:p>
                <a:pPr lvl="1"/>
                <a:r>
                  <a:rPr lang="en-US" dirty="0"/>
                  <a:t>Smallest (largest)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not sampled </a:t>
                </a:r>
              </a:p>
              <a:p>
                <a:pPr lvl="1"/>
                <a:r>
                  <a:rPr lang="en-US"/>
                  <a:t>Conversely, </a:t>
                </a:r>
                <a:r>
                  <a:rPr lang="en-US" dirty="0"/>
                  <a:t>only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are sampled </a:t>
                </a:r>
              </a:p>
              <a:p>
                <a:pPr lvl="1"/>
                <a:r>
                  <a:rPr lang="en-US" dirty="0"/>
                  <a:t>Sampling is determined by least significant bits of a binary counter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7FA4CE-3D30-0654-4870-444A1B84C7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2" y="1324926"/>
                <a:ext cx="10515600" cy="3721947"/>
              </a:xfrm>
              <a:blipFill>
                <a:blip r:embed="rId3"/>
                <a:stretch>
                  <a:fillRect l="-1217" t="-2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C5B8EB6-9066-1D41-0804-F0A57135E27A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</p:spTree>
    <p:extLst>
      <p:ext uri="{BB962C8B-B14F-4D97-AF65-F5344CB8AC3E}">
        <p14:creationId xmlns:p14="http://schemas.microsoft.com/office/powerpoint/2010/main" val="4104995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978A-646D-125C-2C23-6B0FF4165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REQ compactor does not down-sample extreme values </a:t>
                </a:r>
              </a:p>
              <a:p>
                <a:r>
                  <a:rPr lang="en-US" dirty="0"/>
                  <a:t>Goal is to randomize the sample of largest (smallest)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values following a </a:t>
                </a:r>
                <a:r>
                  <a:rPr lang="en-US" dirty="0">
                    <a:hlinkClick r:id="rId2"/>
                  </a:rPr>
                  <a:t>geometric distribution</a:t>
                </a:r>
                <a:endParaRPr lang="en-US" dirty="0"/>
              </a:p>
              <a:p>
                <a:pPr lvl="1"/>
                <a:r>
                  <a:rPr lang="en-US" dirty="0"/>
                  <a:t>Use a deterministic approximation for efficiency</a:t>
                </a:r>
              </a:p>
              <a:p>
                <a:r>
                  <a:rPr lang="en-US" dirty="0"/>
                  <a:t>Example, use a 7-bit binary counter,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, to deterministically sample slots with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2</m:t>
                        </m:r>
                      </m:den>
                    </m:f>
                  </m:oMath>
                </a14:m>
                <a:r>
                  <a:rPr lang="en-US" dirty="0"/>
                  <a:t>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C5605D-630C-5E16-C263-6EF4810F0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3" y="1324926"/>
                <a:ext cx="5311588" cy="4104647"/>
              </a:xfrm>
              <a:blipFill>
                <a:blip r:embed="rId3"/>
                <a:stretch>
                  <a:fillRect l="-2411" t="-3264" r="-13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AF95006F-3FA6-9E1D-F8EE-F685793A7CD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Relative Error Quantile in Sketch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970DC49-B9BD-1C4F-89C5-1EFBD5E216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12" y="5533074"/>
            <a:ext cx="10947805" cy="8908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/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5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5"/>
                      </a:rPr>
                      <m:t>. 2020</m:t>
                    </m:r>
                  </m:oMath>
                </a14:m>
                <a:r>
                  <a:rPr lang="en-US" dirty="0">
                    <a:hlinkClick r:id="rId5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6E1961-BB9C-5173-5638-D2AF56D3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517" y="6423902"/>
                <a:ext cx="4042475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DFF77C-40C9-CB58-814B-0E3AF085410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645974" y="1685304"/>
            <a:ext cx="549762" cy="38810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0,0,0,0,0,0,1</m:t>
                        </m:r>
                      </m:e>
                    </m:d>
                  </m:oMath>
                </a14:m>
                <a:r>
                  <a:rPr lang="en-US" dirty="0"/>
                  <a:t>, sample slot 1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9E185D99-5B50-0BBC-4B6F-3DAF0BE27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110" y="794476"/>
                <a:ext cx="2851728" cy="890828"/>
              </a:xfrm>
              <a:prstGeom prst="rect">
                <a:avLst/>
              </a:prstGeom>
              <a:blipFill>
                <a:blip r:embed="rId7"/>
                <a:stretch>
                  <a:fillRect l="-3846" t="-10274" r="-4915" b="-8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23A95E-0BB4-9201-2CB9-45A36DF2232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9220110" y="2565453"/>
            <a:ext cx="1241702" cy="310438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0,0,0,0,0,1,0</m:t>
                        </m:r>
                      </m:e>
                    </m:d>
                  </m:oMath>
                </a14:m>
                <a:r>
                  <a:rPr lang="en-US" dirty="0"/>
                  <a:t>, sample slot 2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5429EEAF-3738-B70C-899D-44E9E8400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246" y="1674625"/>
                <a:ext cx="2851728" cy="890828"/>
              </a:xfrm>
              <a:prstGeom prst="rect">
                <a:avLst/>
              </a:prstGeom>
              <a:blipFill>
                <a:blip r:embed="rId8"/>
                <a:stretch>
                  <a:fillRect l="-3854" t="-10959" r="-5139" b="-82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0,0,0,0,0,1,1</m:t>
                        </m:r>
                      </m:e>
                    </m:d>
                  </m:oMath>
                </a14:m>
                <a:r>
                  <a:rPr lang="en-US" dirty="0"/>
                  <a:t>, sample slots 1 and 2</a:t>
                </a: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7CDAAC99-C5A8-8AAA-7A22-67DA8B4AA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163" y="2915150"/>
                <a:ext cx="3244311" cy="919750"/>
              </a:xfrm>
              <a:prstGeom prst="rect">
                <a:avLst/>
              </a:prstGeom>
              <a:blipFill>
                <a:blip r:embed="rId9"/>
                <a:stretch>
                  <a:fillRect l="-3759" t="-10596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954CAD4-6F00-1145-CE5D-4502B875A07F}"/>
              </a:ext>
            </a:extLst>
          </p:cNvPr>
          <p:cNvCxnSpPr>
            <a:cxnSpLocks/>
          </p:cNvCxnSpPr>
          <p:nvPr/>
        </p:nvCxnSpPr>
        <p:spPr>
          <a:xfrm>
            <a:off x="9054437" y="3652221"/>
            <a:ext cx="1951669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DD65C0D-2CDC-F5F7-B372-C64702917CF6}"/>
              </a:ext>
            </a:extLst>
          </p:cNvPr>
          <p:cNvCxnSpPr>
            <a:cxnSpLocks/>
          </p:cNvCxnSpPr>
          <p:nvPr/>
        </p:nvCxnSpPr>
        <p:spPr>
          <a:xfrm>
            <a:off x="9030480" y="3652221"/>
            <a:ext cx="1253831" cy="201761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0,0,0,0,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:r>
                  <a:rPr lang="en-US"/>
                  <a:t>sample slot 3</a:t>
                </a:r>
                <a:endParaRPr lang="en-US" dirty="0"/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D02402F-7A96-F7E4-A2EF-734465CD6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455" y="4069940"/>
                <a:ext cx="3244311" cy="919750"/>
              </a:xfrm>
              <a:prstGeom prst="rect">
                <a:avLst/>
              </a:prstGeom>
              <a:blipFill>
                <a:blip r:embed="rId10"/>
                <a:stretch>
                  <a:fillRect l="-3947" t="-11258" b="-12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0EE35D-7B3F-233D-535F-30C1D85B0564}"/>
              </a:ext>
            </a:extLst>
          </p:cNvPr>
          <p:cNvCxnSpPr>
            <a:cxnSpLocks/>
          </p:cNvCxnSpPr>
          <p:nvPr/>
        </p:nvCxnSpPr>
        <p:spPr>
          <a:xfrm>
            <a:off x="8946665" y="4959616"/>
            <a:ext cx="716263" cy="71022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426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/>
      <p:bldP spid="16" grpId="0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3506B-75D4-E0F3-172C-03787F417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339500-54BC-AA94-FA7E-29A936653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842" y="2133753"/>
            <a:ext cx="7204157" cy="356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Compactor algorithm for REQ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Parameter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determines size of buffer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Initialize counter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Compute sampling parameters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Set the pivot point in the buffer </a:t>
                </a: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Sort the buffer values from the pivot point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Randomly sample even or odd values</a:t>
                </a:r>
                <a:endParaRPr lang="en-US" sz="24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C1C2DE-1DA2-2A84-F466-B93BD86237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528" y="1476135"/>
                <a:ext cx="4614164" cy="5494327"/>
              </a:xfrm>
              <a:blipFill>
                <a:blip r:embed="rId3"/>
                <a:stretch>
                  <a:fillRect l="-2774" t="-1776" r="-3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C65E7C3-0433-54E9-DE78-D098BF98CF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57FDFC-2469-9BBE-B191-95AB4C896AB5}"/>
              </a:ext>
            </a:extLst>
          </p:cNvPr>
          <p:cNvCxnSpPr>
            <a:cxnSpLocks/>
          </p:cNvCxnSpPr>
          <p:nvPr/>
        </p:nvCxnSpPr>
        <p:spPr>
          <a:xfrm>
            <a:off x="4453180" y="2386739"/>
            <a:ext cx="764583" cy="3977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6E6994-E218-396A-B19D-B7ADB671B015}"/>
              </a:ext>
            </a:extLst>
          </p:cNvPr>
          <p:cNvCxnSpPr>
            <a:cxnSpLocks/>
          </p:cNvCxnSpPr>
          <p:nvPr/>
        </p:nvCxnSpPr>
        <p:spPr>
          <a:xfrm>
            <a:off x="4008895" y="3112576"/>
            <a:ext cx="1167539" cy="904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2AF540E-4B33-C93C-E12D-640A847A64FC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2058114" cy="1413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FE6697-8129-975F-19C6-B3C01C33FF85}"/>
              </a:ext>
            </a:extLst>
          </p:cNvPr>
          <p:cNvCxnSpPr>
            <a:cxnSpLocks/>
          </p:cNvCxnSpPr>
          <p:nvPr/>
        </p:nvCxnSpPr>
        <p:spPr>
          <a:xfrm flipV="1">
            <a:off x="4654658" y="4293031"/>
            <a:ext cx="1053884" cy="464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3434C18-1242-D942-3A7D-0C10523E6848}"/>
              </a:ext>
            </a:extLst>
          </p:cNvPr>
          <p:cNvCxnSpPr>
            <a:cxnSpLocks/>
          </p:cNvCxnSpPr>
          <p:nvPr/>
        </p:nvCxnSpPr>
        <p:spPr>
          <a:xfrm flipV="1">
            <a:off x="5176434" y="4636121"/>
            <a:ext cx="661261" cy="3956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88ED242-772E-968A-8D55-1C6B0E01ED4F}"/>
              </a:ext>
            </a:extLst>
          </p:cNvPr>
          <p:cNvCxnSpPr>
            <a:cxnSpLocks/>
          </p:cNvCxnSpPr>
          <p:nvPr/>
        </p:nvCxnSpPr>
        <p:spPr>
          <a:xfrm flipV="1">
            <a:off x="5129939" y="4969790"/>
            <a:ext cx="707756" cy="84724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376DC9-6AD1-99C1-93B7-0F0D5D7B8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227291E-2DFC-7A37-E7AA-0C39B611682E}"/>
              </a:ext>
            </a:extLst>
          </p:cNvPr>
          <p:cNvCxnSpPr>
            <a:cxnSpLocks/>
          </p:cNvCxnSpPr>
          <p:nvPr/>
        </p:nvCxnSpPr>
        <p:spPr>
          <a:xfrm>
            <a:off x="3740258" y="3693763"/>
            <a:ext cx="1968284" cy="3403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5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2389C-E857-0123-FFF4-C11139157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988D44-2AC3-D58F-3729-B9FEE153E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58" y="2692300"/>
            <a:ext cx="6889553" cy="24734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Algorithm for merging REQ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dirty="0"/>
                  <a:t> into sketch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Compactors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r>
                  <a:rPr lang="en-US" sz="2400" b="0" dirty="0">
                    <a:latin typeface="Cambria Math" panose="02040503050406030204" pitchFamily="18" charset="0"/>
                  </a:rPr>
                  <a:t> integrated sequentially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Buffers of each level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are combined </a:t>
                </a:r>
                <a:endParaRPr lang="en-US" sz="24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Cambria Math" panose="02040503050406030204" pitchFamily="18" charset="0"/>
                  </a:rPr>
                  <a:t>Check if buffer at each level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 is full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b="0" dirty="0">
                    <a:latin typeface="Cambria Math" panose="02040503050406030204" pitchFamily="18" charset="0"/>
                  </a:rPr>
                  <a:t>If the buffer is full perform compaction operation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E437F4-3B9D-D873-69B5-F96A822545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599" y="1833966"/>
                <a:ext cx="4614164" cy="4819973"/>
              </a:xfrm>
              <a:blipFill>
                <a:blip r:embed="rId3"/>
                <a:stretch>
                  <a:fillRect l="-2642" t="-2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BBAADB0B-3826-5FD5-DF11-EA56B413FC75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REQ Algorithm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2110AF-7624-B07B-EC6D-CF886A8552FE}"/>
              </a:ext>
            </a:extLst>
          </p:cNvPr>
          <p:cNvCxnSpPr>
            <a:cxnSpLocks/>
          </p:cNvCxnSpPr>
          <p:nvPr/>
        </p:nvCxnSpPr>
        <p:spPr>
          <a:xfrm>
            <a:off x="4799308" y="3184725"/>
            <a:ext cx="573438" cy="37509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D8F00E-2A10-1D08-B1BA-503874264D50}"/>
              </a:ext>
            </a:extLst>
          </p:cNvPr>
          <p:cNvCxnSpPr>
            <a:cxnSpLocks/>
          </p:cNvCxnSpPr>
          <p:nvPr/>
        </p:nvCxnSpPr>
        <p:spPr>
          <a:xfrm>
            <a:off x="4561668" y="3799213"/>
            <a:ext cx="997057" cy="701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44C4CF-1479-5733-F8A7-3000BA61BF1A}"/>
              </a:ext>
            </a:extLst>
          </p:cNvPr>
          <p:cNvCxnSpPr>
            <a:cxnSpLocks/>
          </p:cNvCxnSpPr>
          <p:nvPr/>
        </p:nvCxnSpPr>
        <p:spPr>
          <a:xfrm flipV="1">
            <a:off x="5000786" y="4363229"/>
            <a:ext cx="743919" cy="13895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2F0173-B6DA-8993-CC52-AFD05A99B767}"/>
              </a:ext>
            </a:extLst>
          </p:cNvPr>
          <p:cNvCxnSpPr>
            <a:cxnSpLocks/>
          </p:cNvCxnSpPr>
          <p:nvPr/>
        </p:nvCxnSpPr>
        <p:spPr>
          <a:xfrm flipV="1">
            <a:off x="4695986" y="4561668"/>
            <a:ext cx="1177872" cy="718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/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hlinkClick r:id="rId4"/>
                  </a:rPr>
                  <a:t>Figure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Cormode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,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et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al</m:t>
                    </m:r>
                    <m:r>
                      <a:rPr lang="en-US" dirty="0">
                        <a:latin typeface="Cambria Math" panose="02040503050406030204" pitchFamily="18" charset="0"/>
                        <a:hlinkClick r:id="rId4"/>
                      </a:rPr>
                      <m:t>. 2020</m:t>
                    </m:r>
                  </m:oMath>
                </a14:m>
                <a:r>
                  <a:rPr lang="en-US" dirty="0">
                    <a:hlinkClick r:id="rId4"/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C93915-CA74-EA9A-8903-A7131887F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7621" y="6417208"/>
                <a:ext cx="4042475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302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BB40B-4ACF-D84D-EF41-A10D88CFA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One can take advantage of the performance differences between the t-digest and REQ algorithms</a:t>
                </a:r>
              </a:p>
              <a:p>
                <a:r>
                  <a:rPr lang="en-US" dirty="0"/>
                  <a:t>The t-digest algorithm is known to have a bias at extreme quantiles that increases with sample size,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The REQ algorithm is unbiased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3200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0A56A-2C4C-FD65-A9CF-A1CCACB602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4411" y="1324927"/>
                <a:ext cx="5528565" cy="5246354"/>
              </a:xfrm>
              <a:blipFill>
                <a:blip r:embed="rId2"/>
                <a:stretch>
                  <a:fillRect l="-2315" t="-1858" r="-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7A4D1C50-54A6-EF14-27F7-5C98CD0EBAD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8C3B49-4C61-EF9D-C9DA-072772C40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4" y="935064"/>
            <a:ext cx="5203634" cy="29363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E230ED-966F-E420-5E36-3DE8C6A72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441" y="3906785"/>
            <a:ext cx="5203634" cy="2951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C1AF51-679C-A0A7-B6F9-5BECB222E48B}"/>
              </a:ext>
            </a:extLst>
          </p:cNvPr>
          <p:cNvSpPr txBox="1"/>
          <p:nvPr/>
        </p:nvSpPr>
        <p:spPr>
          <a:xfrm>
            <a:off x="1452401" y="6201950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Figure from </a:t>
            </a:r>
            <a:r>
              <a:rPr lang="en-US" dirty="0" err="1">
                <a:hlinkClick r:id="rId5"/>
              </a:rPr>
              <a:t>DataSketches</a:t>
            </a:r>
            <a:r>
              <a:rPr lang="en-US" dirty="0">
                <a:hlinkClick r:id="rId5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194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598B-09CF-7A67-648D-BA90A4366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BE3F8-A337-BDE8-B2E6-D1C962226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7"/>
            <a:ext cx="4505676" cy="524635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One can take advantage of the performance differences between the t-digest and REQ algorithms</a:t>
            </a:r>
          </a:p>
          <a:p>
            <a:r>
              <a:rPr lang="en-US" dirty="0"/>
              <a:t>The t-digest and REQ algorithms have different error characteristics with sample size   </a:t>
            </a:r>
          </a:p>
          <a:p>
            <a:r>
              <a:rPr lang="en-US" dirty="0"/>
              <a:t>The memory foot print of a t-digest is constant, whereas the memory required for REQ increases with sample size</a:t>
            </a:r>
          </a:p>
          <a:p>
            <a:r>
              <a:rPr lang="en-US" dirty="0"/>
              <a:t>Both algorithms have tradeoff between memory and error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00E4D62-DEDA-407D-C245-866E9D1067EC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Comparison of Quantile in Sketches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1FAB4C-5B1A-2B22-167E-90A4D37CF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2347" y="888892"/>
            <a:ext cx="5078611" cy="30005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1801EF-20F9-F59B-69D0-2A2CB15E0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1913" y="3795468"/>
            <a:ext cx="5245883" cy="3000537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907BEE-C692-BCC8-0A89-C370B45ABD9E}"/>
              </a:ext>
            </a:extLst>
          </p:cNvPr>
          <p:cNvCxnSpPr>
            <a:cxnSpLocks/>
          </p:cNvCxnSpPr>
          <p:nvPr/>
        </p:nvCxnSpPr>
        <p:spPr>
          <a:xfrm flipV="1">
            <a:off x="4959458" y="2670875"/>
            <a:ext cx="1942455" cy="71292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CC10C04-4F0D-1811-863E-E7D45D92B8CE}"/>
              </a:ext>
            </a:extLst>
          </p:cNvPr>
          <p:cNvCxnSpPr>
            <a:cxnSpLocks/>
          </p:cNvCxnSpPr>
          <p:nvPr/>
        </p:nvCxnSpPr>
        <p:spPr>
          <a:xfrm>
            <a:off x="5114441" y="4949125"/>
            <a:ext cx="1746142" cy="196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5D80A44-585B-2729-404C-347524BF8643}"/>
              </a:ext>
            </a:extLst>
          </p:cNvPr>
          <p:cNvSpPr txBox="1"/>
          <p:nvPr/>
        </p:nvSpPr>
        <p:spPr>
          <a:xfrm>
            <a:off x="1343913" y="6336268"/>
            <a:ext cx="4042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Figure from </a:t>
            </a:r>
            <a:r>
              <a:rPr lang="en-US" dirty="0" err="1">
                <a:hlinkClick r:id="rId4"/>
              </a:rPr>
              <a:t>DataSketches</a:t>
            </a:r>
            <a:r>
              <a:rPr lang="en-US" dirty="0">
                <a:hlinkClick r:id="rId4"/>
              </a:rPr>
              <a:t>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760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14B35-BC66-B674-075E-19379BB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BA67B-1486-8F46-58DE-DF8DC5EF60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2</a:t>
            </a:r>
          </a:p>
        </p:txBody>
      </p:sp>
    </p:spTree>
    <p:extLst>
      <p:ext uri="{BB962C8B-B14F-4D97-AF65-F5344CB8AC3E}">
        <p14:creationId xmlns:p14="http://schemas.microsoft.com/office/powerpoint/2010/main" val="6127765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Is a continuous auction market</a:t>
            </a:r>
          </a:p>
          <a:p>
            <a:r>
              <a:rPr lang="en-US" b="1" dirty="0"/>
              <a:t>Inside spread </a:t>
            </a:r>
            <a:r>
              <a:rPr lang="en-US" dirty="0"/>
              <a:t>is difference between highest bid and lowest ask </a:t>
            </a:r>
          </a:p>
          <a:p>
            <a:r>
              <a:rPr lang="en-US" dirty="0"/>
              <a:t>Volume increases as spread increases</a:t>
            </a:r>
          </a:p>
          <a:p>
            <a:pPr lvl="1"/>
            <a:r>
              <a:rPr lang="en-US" dirty="0"/>
              <a:t>Often de minimis volume at the inside spread </a:t>
            </a:r>
          </a:p>
          <a:p>
            <a:pPr lvl="1"/>
            <a:r>
              <a:rPr lang="en-US" dirty="0"/>
              <a:t>Larger trades pay larger spread </a:t>
            </a:r>
          </a:p>
          <a:p>
            <a:r>
              <a:rPr lang="en-US" dirty="0"/>
              <a:t>Example: in US equities markets quantiles are measured in </a:t>
            </a:r>
            <a:r>
              <a:rPr lang="en-US" dirty="0" err="1"/>
              <a:t>pennes</a:t>
            </a:r>
            <a:r>
              <a:rPr lang="en-US" dirty="0"/>
              <a:t>, $0.01. </a:t>
            </a:r>
          </a:p>
          <a:p>
            <a:r>
              <a:rPr lang="en-US" dirty="0"/>
              <a:t>Stream analysis of order book provides vital trade execution information </a:t>
            </a:r>
          </a:p>
          <a:p>
            <a:r>
              <a:rPr lang="en-US" dirty="0"/>
              <a:t>See patent </a:t>
            </a:r>
            <a:r>
              <a:rPr lang="en-US" dirty="0">
                <a:hlinkClick r:id="rId2"/>
              </a:rPr>
              <a:t>US 8,768,821, Elston, 2011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109394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EABF-7649-384E-AE8D-7815163F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C0C96-5F41-259E-0490-480C366689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Volume in a security order book are defined by the quantiles  </a:t>
            </a:r>
          </a:p>
          <a:p>
            <a:r>
              <a:rPr lang="en-US" dirty="0"/>
              <a:t>Order book constructed by accumulating open (bid/ask, price, volume) tuples</a:t>
            </a:r>
          </a:p>
          <a:p>
            <a:pPr lvl="1"/>
            <a:r>
              <a:rPr lang="en-US" dirty="0"/>
              <a:t>Orders and trades arrive in high volume stream for each security  </a:t>
            </a:r>
          </a:p>
          <a:p>
            <a:pPr lvl="1"/>
            <a:r>
              <a:rPr lang="en-US" dirty="0"/>
              <a:t>Order book updates at sub-microsecond rate </a:t>
            </a:r>
          </a:p>
          <a:p>
            <a:pPr lvl="1"/>
            <a:r>
              <a:rPr lang="en-US" dirty="0"/>
              <a:t>Storing history is infeasible   </a:t>
            </a:r>
          </a:p>
          <a:p>
            <a:r>
              <a:rPr lang="en-US" dirty="0"/>
              <a:t>Quantiles of order book are the available volume at each spread   </a:t>
            </a:r>
          </a:p>
          <a:p>
            <a:r>
              <a:rPr lang="en-US" dirty="0"/>
              <a:t>Securities traded on multiple exchanges   </a:t>
            </a:r>
          </a:p>
          <a:p>
            <a:pPr lvl="1"/>
            <a:r>
              <a:rPr lang="en-US" dirty="0"/>
              <a:t>Each exchange outputs high volume stream for each security  </a:t>
            </a:r>
          </a:p>
          <a:p>
            <a:pPr lvl="1"/>
            <a:r>
              <a:rPr lang="en-US" dirty="0"/>
              <a:t>Must integrate streams 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B4A865F-64F2-A205-8F2A-523FB591102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</p:spTree>
    <p:extLst>
      <p:ext uri="{BB962C8B-B14F-4D97-AF65-F5344CB8AC3E}">
        <p14:creationId xmlns:p14="http://schemas.microsoft.com/office/powerpoint/2010/main" val="2497885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FC40B-0CB4-59CC-E143-8014700C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5690E-01DC-3D91-8832-53FFA5F80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2821"/>
            <a:ext cx="10515600" cy="504214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Depth of book, order lifetime and other statistics at several spreads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B603BE5-D914-0316-C4D5-1EC06429536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2: Real-time Depth of Book  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11210093-DF1C-E24D-8B25-B403A2286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9485" y="1653494"/>
            <a:ext cx="9163050" cy="51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962171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35C22-81D6-B535-18EC-8D0A2D443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26A1B-5A9C-DA3F-62C7-A5D4901E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Case Study </a:t>
            </a:r>
          </a:p>
        </p:txBody>
      </p:sp>
    </p:spTree>
    <p:extLst>
      <p:ext uri="{BB962C8B-B14F-4D97-AF65-F5344CB8AC3E}">
        <p14:creationId xmlns:p14="http://schemas.microsoft.com/office/powerpoint/2010/main" val="6733217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EA5B-8D40-ECD4-3E8D-B0399BA51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32A60-1566-22FB-7BAF-37B637D45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Goal: provide market and credit risk reports to management and regulators   </a:t>
            </a:r>
          </a:p>
          <a:p>
            <a:r>
              <a:rPr lang="en-US" dirty="0"/>
              <a:t>Global bank with large holdings   </a:t>
            </a:r>
          </a:p>
          <a:p>
            <a:pPr lvl="1"/>
            <a:r>
              <a:rPr lang="en-US" dirty="0"/>
              <a:t>Trading on a 24/7 basis – global markets never sleep!  </a:t>
            </a:r>
          </a:p>
          <a:p>
            <a:pPr lvl="1"/>
            <a:r>
              <a:rPr lang="en-US" dirty="0"/>
              <a:t>Hold illiquid (rarely traded) assets  </a:t>
            </a:r>
          </a:p>
          <a:p>
            <a:r>
              <a:rPr lang="en-US" dirty="0"/>
              <a:t>Regulators require snap shot reports every 4 hours and within 2 hours on demand</a:t>
            </a:r>
          </a:p>
          <a:p>
            <a:pPr lvl="1"/>
            <a:r>
              <a:rPr lang="en-US" dirty="0"/>
              <a:t>Existing batch system required 12+ hours to update reports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B8CA3C-F59D-D654-51D4-0EE28687B77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845595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Model training</a:t>
            </a:r>
          </a:p>
          <a:p>
            <a:r>
              <a:rPr lang="en-US" dirty="0"/>
              <a:t>1000s of risk factors to calibrate </a:t>
            </a:r>
          </a:p>
          <a:p>
            <a:pPr lvl="1"/>
            <a:r>
              <a:rPr lang="en-US" dirty="0"/>
              <a:t>Asset type </a:t>
            </a:r>
          </a:p>
          <a:p>
            <a:pPr lvl="1"/>
            <a:r>
              <a:rPr lang="en-US" dirty="0"/>
              <a:t>Industry exposure</a:t>
            </a:r>
          </a:p>
          <a:p>
            <a:pPr lvl="1"/>
            <a:r>
              <a:rPr lang="en-US" dirty="0"/>
              <a:t>Ratings </a:t>
            </a:r>
          </a:p>
          <a:p>
            <a:pPr lvl="1"/>
            <a:r>
              <a:rPr lang="en-US" dirty="0"/>
              <a:t>FX exposure </a:t>
            </a:r>
          </a:p>
          <a:p>
            <a:pPr lvl="1"/>
            <a:r>
              <a:rPr lang="en-US" dirty="0"/>
              <a:t>Interest rate exposure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Market conditions change rapidly</a:t>
            </a:r>
            <a:r>
              <a:rPr lang="en-US" sz="3200" dirty="0"/>
              <a:t> </a:t>
            </a:r>
          </a:p>
          <a:p>
            <a:pPr lvl="1"/>
            <a:r>
              <a:rPr lang="en-US" dirty="0"/>
              <a:t>Must down weight older data</a:t>
            </a:r>
          </a:p>
          <a:p>
            <a:pPr lvl="1"/>
            <a:r>
              <a:rPr lang="en-US" dirty="0"/>
              <a:t>Impute valuations for illiquid assets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97093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412" y="1324928"/>
            <a:ext cx="10515600" cy="4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Scaling </a:t>
            </a:r>
          </a:p>
          <a:p>
            <a:r>
              <a:rPr lang="en-US" dirty="0"/>
              <a:t>Initial calibration is computed in batch    </a:t>
            </a:r>
          </a:p>
          <a:p>
            <a:pPr lvl="1"/>
            <a:r>
              <a:rPr lang="en-US" dirty="0"/>
              <a:t>Not time critical  </a:t>
            </a:r>
          </a:p>
          <a:p>
            <a:r>
              <a:rPr lang="en-US" dirty="0"/>
              <a:t>Running model in production </a:t>
            </a:r>
          </a:p>
          <a:p>
            <a:pPr lvl="1"/>
            <a:r>
              <a:rPr lang="en-US" dirty="0"/>
              <a:t>Batch too slow  </a:t>
            </a:r>
          </a:p>
          <a:p>
            <a:pPr lvl="1"/>
            <a:r>
              <a:rPr lang="en-US" dirty="0"/>
              <a:t>Stream data and update asset holdings (positions) </a:t>
            </a:r>
          </a:p>
          <a:p>
            <a:pPr lvl="1"/>
            <a:r>
              <a:rPr lang="en-US" dirty="0"/>
              <a:t>Incrementally update risk factors  </a:t>
            </a:r>
          </a:p>
          <a:p>
            <a:pPr lvl="1"/>
            <a:r>
              <a:rPr lang="en-US" dirty="0"/>
              <a:t>Upon demand perform aggregation to generate required reports – fast</a:t>
            </a:r>
          </a:p>
          <a:p>
            <a:r>
              <a:rPr lang="en-US" dirty="0"/>
              <a:t>Distribute streaming compute load by asset type on cluster </a:t>
            </a:r>
          </a:p>
          <a:p>
            <a:pPr lvl="1"/>
            <a:r>
              <a:rPr lang="en-US" dirty="0"/>
              <a:t>Trades, prices and other data only go to node where required   </a:t>
            </a:r>
          </a:p>
          <a:p>
            <a:r>
              <a:rPr lang="en-US" dirty="0"/>
              <a:t>Archive all raw data per regulatory required retention policy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Case Study 3: Capital Markets Risk </a:t>
            </a:r>
          </a:p>
        </p:txBody>
      </p:sp>
    </p:spTree>
    <p:extLst>
      <p:ext uri="{BB962C8B-B14F-4D97-AF65-F5344CB8AC3E}">
        <p14:creationId xmlns:p14="http://schemas.microsoft.com/office/powerpoint/2010/main" val="210693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3FB76-C81E-1044-FEB4-AE1343AC1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E8F0C-B1A0-5DD7-6C61-0D0B8F558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587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47" y="1324928"/>
            <a:ext cx="10515600" cy="529358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Key points for this lesson</a:t>
            </a:r>
          </a:p>
          <a:p>
            <a:r>
              <a:rPr lang="en-US" dirty="0"/>
              <a:t>Streaming data often arrives at a massive scale</a:t>
            </a:r>
          </a:p>
          <a:p>
            <a:r>
              <a:rPr lang="en-US" dirty="0"/>
              <a:t>Down sample streams with real-number values</a:t>
            </a:r>
          </a:p>
          <a:p>
            <a:pPr lvl="1"/>
            <a:r>
              <a:rPr lang="en-US" dirty="0"/>
              <a:t>Moving averages</a:t>
            </a:r>
          </a:p>
          <a:p>
            <a:pPr lvl="1"/>
            <a:r>
              <a:rPr lang="en-US" dirty="0"/>
              <a:t>Delta coding </a:t>
            </a:r>
          </a:p>
          <a:p>
            <a:pPr lvl="1"/>
            <a:r>
              <a:rPr lang="en-US" dirty="0"/>
              <a:t>Exponential weighting</a:t>
            </a:r>
          </a:p>
          <a:p>
            <a:pPr lvl="1"/>
            <a:r>
              <a:rPr lang="en-US" dirty="0"/>
              <a:t>Reservoir sampling </a:t>
            </a:r>
          </a:p>
          <a:p>
            <a:pPr lvl="1"/>
            <a:r>
              <a:rPr lang="en-US" dirty="0"/>
              <a:t>….</a:t>
            </a:r>
          </a:p>
          <a:p>
            <a:r>
              <a:rPr lang="en-US" dirty="0"/>
              <a:t>Use probabilistic sketch algorithms for discrete event streams   </a:t>
            </a:r>
          </a:p>
          <a:p>
            <a:pPr lvl="1"/>
            <a:r>
              <a:rPr lang="en-US" dirty="0"/>
              <a:t>Uniqueness – have we seen this event type before? </a:t>
            </a:r>
          </a:p>
          <a:p>
            <a:pPr lvl="1"/>
            <a:r>
              <a:rPr lang="en-US" dirty="0"/>
              <a:t>Counts – how many of these events in time interval?</a:t>
            </a:r>
          </a:p>
          <a:p>
            <a:pPr lvl="1"/>
            <a:r>
              <a:rPr lang="en-US" dirty="0"/>
              <a:t>Cardinality – how many event types? </a:t>
            </a:r>
          </a:p>
          <a:p>
            <a:pPr lvl="1"/>
            <a:r>
              <a:rPr lang="en-US" dirty="0"/>
              <a:t>Quantiles – what is the density of the distribution?  </a:t>
            </a:r>
          </a:p>
          <a:p>
            <a:pPr lvl="1"/>
            <a:r>
              <a:rPr lang="en-US" dirty="0"/>
              <a:t>… 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3198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33508</TotalTime>
  <Words>4709</Words>
  <Application>Microsoft Office PowerPoint</Application>
  <PresentationFormat>Widescreen</PresentationFormat>
  <Paragraphs>718</Paragraphs>
  <Slides>74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0" baseType="lpstr">
      <vt:lpstr>Arial</vt:lpstr>
      <vt:lpstr>Calibri</vt:lpstr>
      <vt:lpstr>Calibri Light</vt:lpstr>
      <vt:lpstr>Cambria Math</vt:lpstr>
      <vt:lpstr>Courier New</vt:lpstr>
      <vt:lpstr>Office Theme</vt:lpstr>
      <vt:lpstr>CSCI E-96 Data Mining, Discovery and Exploration Online Algorithms and Steaming Analytics, Part 2</vt:lpstr>
      <vt:lpstr>Main topics in this course </vt:lpstr>
      <vt:lpstr>PowerPoint Presentation</vt:lpstr>
      <vt:lpstr>Counting Events - Cardinality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Estimating Quantiles in Streams </vt:lpstr>
      <vt:lpstr>PowerPoint Presentation</vt:lpstr>
      <vt:lpstr>PowerPoint Presentation</vt:lpstr>
      <vt:lpstr>PowerPoint Presentation</vt:lpstr>
      <vt:lpstr>PowerPoint Presentation</vt:lpstr>
      <vt:lpstr>T-Digest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Relative Error Quantile (REQ)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Case Study 2</vt:lpstr>
      <vt:lpstr>PowerPoint Presentation</vt:lpstr>
      <vt:lpstr>PowerPoint Presentation</vt:lpstr>
      <vt:lpstr>PowerPoint Presentation</vt:lpstr>
      <vt:lpstr>Case Study 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844</cp:revision>
  <cp:lastPrinted>2019-09-03T23:18:19Z</cp:lastPrinted>
  <dcterms:created xsi:type="dcterms:W3CDTF">2019-08-02T23:14:29Z</dcterms:created>
  <dcterms:modified xsi:type="dcterms:W3CDTF">2026-10-10T21:18:12Z</dcterms:modified>
</cp:coreProperties>
</file>