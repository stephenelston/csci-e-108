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94"/>
  </p:notesMasterIdLst>
  <p:sldIdLst>
    <p:sldId id="275" r:id="rId3"/>
    <p:sldId id="819" r:id="rId4"/>
    <p:sldId id="807" r:id="rId5"/>
    <p:sldId id="806" r:id="rId6"/>
    <p:sldId id="810" r:id="rId7"/>
    <p:sldId id="603" r:id="rId8"/>
    <p:sldId id="757" r:id="rId9"/>
    <p:sldId id="634" r:id="rId10"/>
    <p:sldId id="677" r:id="rId11"/>
    <p:sldId id="755" r:id="rId12"/>
    <p:sldId id="746" r:id="rId13"/>
    <p:sldId id="756" r:id="rId14"/>
    <p:sldId id="758" r:id="rId15"/>
    <p:sldId id="722" r:id="rId16"/>
    <p:sldId id="727" r:id="rId17"/>
    <p:sldId id="729" r:id="rId18"/>
    <p:sldId id="731" r:id="rId19"/>
    <p:sldId id="708" r:id="rId20"/>
    <p:sldId id="720" r:id="rId21"/>
    <p:sldId id="711" r:id="rId22"/>
    <p:sldId id="709" r:id="rId23"/>
    <p:sldId id="710" r:id="rId24"/>
    <p:sldId id="733" r:id="rId25"/>
    <p:sldId id="715" r:id="rId26"/>
    <p:sldId id="745" r:id="rId27"/>
    <p:sldId id="726" r:id="rId28"/>
    <p:sldId id="739" r:id="rId29"/>
    <p:sldId id="744" r:id="rId30"/>
    <p:sldId id="742" r:id="rId31"/>
    <p:sldId id="743" r:id="rId32"/>
    <p:sldId id="734" r:id="rId33"/>
    <p:sldId id="702" r:id="rId34"/>
    <p:sldId id="716" r:id="rId35"/>
    <p:sldId id="730" r:id="rId36"/>
    <p:sldId id="817" r:id="rId37"/>
    <p:sldId id="821" r:id="rId38"/>
    <p:sldId id="818" r:id="rId39"/>
    <p:sldId id="759" r:id="rId40"/>
    <p:sldId id="728" r:id="rId41"/>
    <p:sldId id="719" r:id="rId42"/>
    <p:sldId id="738" r:id="rId43"/>
    <p:sldId id="760" r:id="rId44"/>
    <p:sldId id="822" r:id="rId45"/>
    <p:sldId id="799" r:id="rId46"/>
    <p:sldId id="718" r:id="rId47"/>
    <p:sldId id="737" r:id="rId48"/>
    <p:sldId id="801" r:id="rId49"/>
    <p:sldId id="809" r:id="rId50"/>
    <p:sldId id="800" r:id="rId51"/>
    <p:sldId id="771" r:id="rId52"/>
    <p:sldId id="783" r:id="rId53"/>
    <p:sldId id="785" r:id="rId54"/>
    <p:sldId id="784" r:id="rId55"/>
    <p:sldId id="772" r:id="rId56"/>
    <p:sldId id="776" r:id="rId57"/>
    <p:sldId id="773" r:id="rId58"/>
    <p:sldId id="774" r:id="rId59"/>
    <p:sldId id="775" r:id="rId60"/>
    <p:sldId id="777" r:id="rId61"/>
    <p:sldId id="778" r:id="rId62"/>
    <p:sldId id="779" r:id="rId63"/>
    <p:sldId id="781" r:id="rId64"/>
    <p:sldId id="741" r:id="rId65"/>
    <p:sldId id="395" r:id="rId66"/>
    <p:sldId id="802" r:id="rId67"/>
    <p:sldId id="762" r:id="rId68"/>
    <p:sldId id="803" r:id="rId69"/>
    <p:sldId id="804" r:id="rId70"/>
    <p:sldId id="794" r:id="rId71"/>
    <p:sldId id="796" r:id="rId72"/>
    <p:sldId id="823" r:id="rId73"/>
    <p:sldId id="797" r:id="rId74"/>
    <p:sldId id="811" r:id="rId75"/>
    <p:sldId id="798" r:id="rId76"/>
    <p:sldId id="816" r:id="rId77"/>
    <p:sldId id="812" r:id="rId78"/>
    <p:sldId id="735" r:id="rId79"/>
    <p:sldId id="736" r:id="rId80"/>
    <p:sldId id="813" r:id="rId81"/>
    <p:sldId id="814" r:id="rId82"/>
    <p:sldId id="748" r:id="rId83"/>
    <p:sldId id="732" r:id="rId84"/>
    <p:sldId id="749" r:id="rId85"/>
    <p:sldId id="747" r:id="rId86"/>
    <p:sldId id="815" r:id="rId87"/>
    <p:sldId id="751" r:id="rId88"/>
    <p:sldId id="752" r:id="rId89"/>
    <p:sldId id="753" r:id="rId90"/>
    <p:sldId id="754" r:id="rId91"/>
    <p:sldId id="820" r:id="rId92"/>
    <p:sldId id="805" r:id="rId9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77" d="100"/>
          <a:sy n="77" d="100"/>
        </p:scale>
        <p:origin x="389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presProps" Target="pres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0DB7-3564-4028-881B-4A225B45326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3DAB-225E-4C94-B4AB-0DAFDAA7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71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26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C0A13-6156-4B0B-B3A3-B92D6386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EB0F9-99E2-4241-BC97-825BE4B13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10A3F-CFFE-276D-BA86-3811591B1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11CB0-B3E1-D5DB-A117-9C4A816007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75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14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57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16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30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94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95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85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4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819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713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51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788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134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245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919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451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AE20-D158-A9E5-8B62-0601F938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A65E4-225A-A20D-663C-42531A074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97D62-E6F8-9601-E4E1-EC72B8155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58241-039C-5638-49A3-7E979B6E6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82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D9E69-3CD6-719F-4D62-783800DC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3A948-FA18-7BA6-D59E-759474C57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8E8BC-2D0A-B22A-955F-58C498E1B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D505D-89C5-FA3F-D7BC-F28ACAFD81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6033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6B0A-31FC-65B5-CA7C-A9F958D3E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7C197-3B15-D293-73AA-93210453D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7D136-B85D-5768-4AD4-1355C1563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19988-9679-AF17-B35A-64088A8D2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4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979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D207A-07DF-40AD-A916-9872E089C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8825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7914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7060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230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8220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502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1175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B1E2C-393E-2531-C4F9-96FDA2081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4DD7B-BD49-7C71-CF31-8C235AD71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5E4CE-A250-AFE8-A16E-6775D7148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761AE-5CA2-F492-090F-5B7CD5CD5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2284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182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5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974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300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159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091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415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121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275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845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819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76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923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427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15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912-CAA7-4FB7-965B-638681F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3D0E1-4B2E-4D02-B716-46C6957C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31D9-15AB-48BB-8030-6175A54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ABB9-0CC8-4432-925B-39F4593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0F9-4858-496F-BEF5-6998090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66E9-C3C0-48BB-817F-E7E1E3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F04-827A-4ED9-A7C9-CED392FA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C4C6-E792-4319-9E04-4F71ED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080-AB8A-421E-8F0D-69D84EC8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87AB-3A54-4CD4-89FA-0FBC0F96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1D9C-3FFC-41D3-A198-B22DC5C5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9C15-240F-4D3C-AD19-127FB016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87E9-2100-4242-B4CB-E46FEBE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7874-A9A3-4444-AEA5-B0C2FA9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42EC-871E-4097-966D-9E0CA0E2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38C-5C11-4496-8021-D48C6F3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58E-F443-4946-9A4B-A464F3D48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A899-E094-48B9-9B76-B701C926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4799-DB41-4C22-9EA1-F073A4C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3724-A031-46F9-80C9-7DDBA99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850D-AB31-4191-AF92-22470AD9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26F-CE03-4F26-ACA2-1ED1EA5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CA1B-F800-4A2F-AAE3-CEE1ABBB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DE177-5235-4882-AA01-3ECE06D5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7571-62F7-4D47-8D88-F2ACF4DD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1A0C0-4AE7-4352-B7C3-413D81029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37CF-787D-421F-9BCF-BE694F2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DC48C-602E-4939-8349-51D56B3D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9656-0087-4E23-BC8F-950C952D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C3D7-8634-48B6-8FB7-0670810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D6755-34D7-4A06-AB10-27C7E465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4AC4E-DD1A-4FA0-B432-BC904BF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E03D-D14C-48DF-AABC-EDD1A1D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FB963-D414-412C-B10C-6C29FE33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C5DE7-18E4-40B9-B98D-04A22F32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35D5-3E63-4B51-9F0E-920E7363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9D0A-B97D-4DDD-BFD9-5A01EDAD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C32E-EC8D-4F8B-B815-339B90CA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A288C-1BE4-497F-98B7-2E507715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D46-EAD4-415C-A624-2DB4438E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A0B4-5110-4D5C-8247-255820C6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EED2-7596-4C63-A4DC-15263A37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5D6E-010D-46DE-B7B8-26F95CD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B9DBE-02E5-412E-B5E1-0EF016ED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AC693-2794-4EE2-8CE4-2CF8398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6179B-BD06-434D-88BE-2FCE997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89BE-7FA3-47F1-8A2E-0BC03551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843D9-897E-4FA7-A95A-7AFDDBA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696E-352C-49B2-9E02-5B7A7152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0937-9F6F-4CE8-BAB0-DA6EA1A3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0085-FB03-4A5C-9D66-580A92FD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90D2-4DBA-44DB-B786-0240240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0AECD-947A-4D5C-BC32-A0EFDBC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9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A070C-9203-44D4-9389-42F341A0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0DB5-DBBA-4022-8560-ADA0E832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3C7A-C164-49A8-8A99-41A63CEF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F653-49BF-4261-B3D3-C224683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5250-D0E5-442A-98E8-64DB2FF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8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9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3506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36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4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92556-C7BC-4DE3-9278-20DEB56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B4E-9726-48B7-95FC-86DC5068328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F3D86-F32C-46DE-BDA1-539591F0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8CCB-6CF9-4770-B736-7F63397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99AF1-9C60-444A-B0F3-23DBD8E42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EE92-87CB-4FD5-B91D-C59EC8D5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BF0E1-A364-40B5-BC0C-3BE9D9A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0C0-F0F3-4F98-81D3-906780F8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3463-61C8-4819-BC9A-C94FD847F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F1B-55AF-4313-A077-2E67AE81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3C8F-10C2-41C1-87DB-2A43F3AFC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7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ftp/arxiv/papers/1301/1301.3849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ftp/arxiv/papers/1301/1301.3849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posts/2018-08-12-vae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en.wikipedia.org/wiki/Singular_value_decomposition" TargetMode="Externa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eature_hashing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ikit-learn.org/stable/modules/generated/sklearn.feature_extraction.FeatureHasher.html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manifold.html" TargetMode="Externa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ata-science-collective/curse-of-dimensionality-projections-and-manifold-learning-f3b784f709cf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mmp2.github.io/megaman/embedding/spectral_embedding.html" TargetMode="External"/><Relationship Id="rId2" Type="http://schemas.openxmlformats.org/officeDocument/2006/relationships/hyperlink" Target="https://scikit-learn.org/stable/modules/generated/sklearn.manifold.SpectralEmbedding.html#sklearn.manifold.SpectralEmbedding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abs/0711.0189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pairwise.distance_metrics.html#sklearn.metrics.pairwise.distance_metrics" TargetMode="External"/><Relationship Id="rId2" Type="http://schemas.openxmlformats.org/officeDocument/2006/relationships/hyperlink" Target="https://scikit-learn.org/stable/modules/generated/sklearn.neighbors.NearestNeighbors.html#sklearn.neighbors.NearestNeighbors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0.png"/><Relationship Id="rId4" Type="http://schemas.openxmlformats.org/officeDocument/2006/relationships/hyperlink" Target="https://en.wikipedia.org/wiki/Radial_basis_function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umap-learn.readthedocs.io/en/latest/index.html" TargetMode="External"/><Relationship Id="rId2" Type="http://schemas.openxmlformats.org/officeDocument/2006/relationships/hyperlink" Target="https://arxiv.org/abs/1802.03426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Riemannian_manifold" TargetMode="Externa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umap-learn.readthedocs.io/en/latest/how_umap_works.html" TargetMode="Externa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umap-learn.readthedocs.io/en/latest/how_umap_works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umap-learn.readthedocs.io/en/latest/index.html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umap-learn.readthedocs.io/en/latest/how_umap_works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umap-learn.readthedocs.io/en/latest/index.html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umap-learn.readthedocs.io/en/latest/how_umap_works.html" TargetMode="Externa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umap-learn.readthedocs.io/en/latest/how_umap_works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umap-learn.readthedocs.io/en/latest/index.html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umap-learn.readthedocs.io/en/latest/how_umap_works.html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umap-learn.readthedocs.io/en/latest/index.html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umap-learn.readthedocs.io/en/latest/how_umap_works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umap-learn.readthedocs.io/en/latest/index.html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umap-learn.readthedocs.io/en/latest/how_umap_works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umap-learn.readthedocs.io/en/latest/index.html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umap-learn.readthedocs.io/en/latest/how_umap_works.html" TargetMode="Externa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umap-learn.readthedocs.io/en/latest/how_umap_works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umap-learn.readthedocs.io/en/latest/index.html" TargetMode="Externa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ntropy_(information_theory)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en.wikipedia.org/wiki/Entropy_(information_theory)" TargetMode="External"/><Relationship Id="rId5" Type="http://schemas.openxmlformats.org/officeDocument/2006/relationships/image" Target="../media/image250.png"/><Relationship Id="rId4" Type="http://schemas.openxmlformats.org/officeDocument/2006/relationships/image" Target="../media/image29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hyperlink" Target="https://umap-learn.readthedocs.io/en/latest/parameters.html" TargetMode="Externa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hyperlink" Target="https://umap-learn.readthedocs.io/en/latest/parameters.html" TargetMode="Externa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umap-learn.readthedocs.io/en/latest/performance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umap-learn.readthedocs.io/en/latest/index.html" TargetMode="Externa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citeseerx.ist.psu.edu/doc/10.1.1.24.5135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iteseerx.ist.psu.edu/doc/10.1.1.28.6652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en.wikipedia.org/wiki/Clustering_high-dimensional_data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en.wikipedia.org/wiki/Clustering_high-dimensional_data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en.wikipedia.org/wiki/Clustering_high-dimensional_data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ongYou/subspace-clustering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citeseerx.ist.psu.edu/doc/10.1.1.24.5135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NUL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citeseerx.ist.psu.edu/doc/10.1.1.24.5135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hyperlink" Target="https://en.wikipedia.org/wiki/Gram%E2%80%93Schmidt_process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citeseerx.ist.psu.edu/doc/10.1.1.28.6652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NUL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Johnson%E2%80%93Lindenstrauss_lemma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NUL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cikit-learn.org/stable/auto_examples/miscellaneous/plot_johnson_lindenstrauss_bound.html#sphx-glr-auto-examples-miscellaneous-plot-johnson-lindenstrauss-bound-py" TargetMode="External"/><Relationship Id="rId4" Type="http://schemas.openxmlformats.org/officeDocument/2006/relationships/image" Target="../media/image4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025" y="983276"/>
            <a:ext cx="11693950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Introduction to Dimensionality Reduction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6152" y="4041385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2020,2021, 2022, 2023, 2024, 2025</a:t>
            </a:r>
            <a:r>
              <a:rPr lang="en-US" sz="1100"/>
              <a:t>, 2026, Stephen </a:t>
            </a:r>
            <a:r>
              <a:rPr lang="en-US" sz="1100" dirty="0"/>
              <a:t>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940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6480239" y="5172609"/>
            <a:ext cx="1961804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9168829" y="5136244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Dimensionality reduction is a core algorithm for data mining massive high-dimensional datasets 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Dimensionality reduction is widely used in data mining</a:t>
            </a:r>
          </a:p>
          <a:p>
            <a:r>
              <a:rPr lang="en-US" dirty="0">
                <a:latin typeface="+mn-lt"/>
              </a:rPr>
              <a:t>Human understanding of high dimensional spaces is poor at best  </a:t>
            </a:r>
          </a:p>
          <a:p>
            <a:pPr lvl="1"/>
            <a:r>
              <a:rPr lang="en-US" dirty="0">
                <a:latin typeface="+mn-lt"/>
              </a:rPr>
              <a:t>For most people, perception of data relationships starts to diminish beyond 4 or 5  dimensions  </a:t>
            </a:r>
          </a:p>
          <a:p>
            <a:pPr lvl="1"/>
            <a:r>
              <a:rPr lang="en-US" dirty="0">
                <a:latin typeface="+mn-lt"/>
              </a:rPr>
              <a:t>Exploration of complex spaces can be aided by projection into lower dimensional space  </a:t>
            </a:r>
          </a:p>
          <a:p>
            <a:r>
              <a:rPr lang="en-US" sz="2800" dirty="0">
                <a:latin typeface="+mn-lt"/>
              </a:rPr>
              <a:t>Most algorithms exhibit improved convergence in lower dimensional spaces </a:t>
            </a:r>
          </a:p>
          <a:p>
            <a:pPr lvl="1"/>
            <a:r>
              <a:rPr lang="en-US" dirty="0">
                <a:latin typeface="+mn-lt"/>
              </a:rPr>
              <a:t>High dimensional spaces can lead to over-fitting of data mining algorithms </a:t>
            </a:r>
          </a:p>
          <a:p>
            <a:pPr lvl="1"/>
            <a:r>
              <a:rPr lang="en-US" dirty="0">
                <a:latin typeface="+mn-lt"/>
              </a:rPr>
              <a:t>For example, clustering in high dimensional spaces can lead fragmentation of the data</a:t>
            </a:r>
          </a:p>
          <a:p>
            <a:pPr lvl="1"/>
            <a:r>
              <a:rPr lang="en-US" dirty="0">
                <a:latin typeface="+mn-lt"/>
              </a:rPr>
              <a:t>Dimensionality generally improves results   </a:t>
            </a:r>
          </a:p>
        </p:txBody>
      </p:sp>
    </p:spTree>
    <p:extLst>
      <p:ext uri="{BB962C8B-B14F-4D97-AF65-F5344CB8AC3E}">
        <p14:creationId xmlns:p14="http://schemas.microsoft.com/office/powerpoint/2010/main" val="70502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04777"/>
            <a:ext cx="11525250" cy="5181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Why is dimensionality reduction possible? </a:t>
            </a:r>
          </a:p>
          <a:p>
            <a:r>
              <a:rPr lang="en-US" dirty="0">
                <a:latin typeface="+mn-lt"/>
              </a:rPr>
              <a:t>Consider the information content of each feature</a:t>
            </a:r>
          </a:p>
          <a:p>
            <a:pPr lvl="1"/>
            <a:r>
              <a:rPr lang="en-US" dirty="0">
                <a:latin typeface="+mn-lt"/>
              </a:rPr>
              <a:t>Information of a feature is only unique if it is independent of all other features </a:t>
            </a:r>
          </a:p>
          <a:p>
            <a:pPr lvl="1"/>
            <a:r>
              <a:rPr lang="en-US" b="1" dirty="0">
                <a:latin typeface="+mn-lt"/>
              </a:rPr>
              <a:t>Dependent features have redundant information </a:t>
            </a:r>
          </a:p>
          <a:p>
            <a:r>
              <a:rPr lang="en-US" dirty="0">
                <a:latin typeface="+mn-lt"/>
              </a:rPr>
              <a:t>Dependency implies effective dimensionality less than number of features</a:t>
            </a:r>
          </a:p>
          <a:p>
            <a:r>
              <a:rPr lang="en-US" dirty="0">
                <a:latin typeface="+mn-lt"/>
              </a:rPr>
              <a:t>Dependent feature values lie on a </a:t>
            </a:r>
            <a:r>
              <a:rPr lang="en-US" b="1" dirty="0">
                <a:latin typeface="+mn-lt"/>
              </a:rPr>
              <a:t>low-dimensional manifold</a:t>
            </a:r>
            <a:r>
              <a:rPr lang="en-US" dirty="0">
                <a:latin typeface="+mn-lt"/>
              </a:rPr>
              <a:t> in a higher dimensional space</a:t>
            </a:r>
          </a:p>
          <a:p>
            <a:r>
              <a:rPr lang="en-US" dirty="0">
                <a:latin typeface="+mn-lt"/>
              </a:rPr>
              <a:t>We want dimensionality reduction to be </a:t>
            </a:r>
            <a:r>
              <a:rPr lang="en-US" b="1" dirty="0">
                <a:latin typeface="+mn-lt"/>
              </a:rPr>
              <a:t>similarity (distance) preserving </a:t>
            </a:r>
          </a:p>
          <a:p>
            <a:pPr lvl="1"/>
            <a:r>
              <a:rPr lang="en-US" dirty="0">
                <a:latin typeface="+mn-lt"/>
              </a:rPr>
              <a:t>Embedding must </a:t>
            </a:r>
            <a:r>
              <a:rPr lang="en-US" b="1" dirty="0">
                <a:latin typeface="+mn-lt"/>
              </a:rPr>
              <a:t>minimize bias and error </a:t>
            </a:r>
            <a:r>
              <a:rPr lang="en-US" dirty="0">
                <a:latin typeface="+mn-lt"/>
              </a:rPr>
              <a:t>with respect to original high-dimensional space</a:t>
            </a: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995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840DF-298D-6EC7-FCB9-41F194E20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01453-B8BB-346B-4160-98CD20C3E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06822-7731-3E6A-44AB-A1AFD09FDA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004777"/>
            <a:ext cx="11525250" cy="51816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Why is dimensionality reduction possible? </a:t>
            </a:r>
          </a:p>
          <a:p>
            <a:r>
              <a:rPr lang="en-US" dirty="0">
                <a:latin typeface="+mn-lt"/>
              </a:rPr>
              <a:t>Dependency of features almost always the case in the real world</a:t>
            </a:r>
          </a:p>
          <a:p>
            <a:pPr lvl="1"/>
            <a:r>
              <a:rPr lang="en-US" dirty="0">
                <a:latin typeface="+mn-lt"/>
              </a:rPr>
              <a:t>Semantic dependence</a:t>
            </a:r>
          </a:p>
          <a:p>
            <a:pPr lvl="1"/>
            <a:r>
              <a:rPr lang="en-US" b="1" dirty="0">
                <a:latin typeface="+mn-lt"/>
              </a:rPr>
              <a:t>Linear dependency </a:t>
            </a:r>
          </a:p>
          <a:p>
            <a:pPr lvl="1"/>
            <a:r>
              <a:rPr lang="en-US" b="1" dirty="0">
                <a:latin typeface="+mn-lt"/>
              </a:rPr>
              <a:t>Nonlinear dependency</a:t>
            </a:r>
          </a:p>
          <a:p>
            <a:r>
              <a:rPr lang="en-US" dirty="0">
                <a:solidFill>
                  <a:srgbClr val="C00000"/>
                </a:solidFill>
                <a:latin typeface="+mn-lt"/>
              </a:rPr>
              <a:t>The metric used for dimensionality reduction must match the metric used for any subsequent model!</a:t>
            </a:r>
          </a:p>
          <a:p>
            <a:r>
              <a:rPr lang="en-US" dirty="0">
                <a:latin typeface="+mn-lt"/>
              </a:rPr>
              <a:t>We examine some embedding algorithms, a form of dimensionality reduction, in the course </a:t>
            </a:r>
          </a:p>
          <a:p>
            <a:pPr lvl="1"/>
            <a:r>
              <a:rPr lang="en-US" dirty="0">
                <a:latin typeface="+mn-lt"/>
              </a:rPr>
              <a:t>Hash embeddings</a:t>
            </a:r>
          </a:p>
          <a:p>
            <a:pPr lvl="1"/>
            <a:r>
              <a:rPr lang="en-US" dirty="0">
                <a:latin typeface="+mn-lt"/>
              </a:rPr>
              <a:t>Neural embeddings</a:t>
            </a:r>
          </a:p>
          <a:p>
            <a:pPr lvl="1"/>
            <a:r>
              <a:rPr lang="en-US" dirty="0">
                <a:latin typeface="+mn-lt"/>
              </a:rPr>
              <a:t>Latent representations </a:t>
            </a:r>
          </a:p>
          <a:p>
            <a:pPr lvl="1"/>
            <a:r>
              <a:rPr lang="en-US" dirty="0">
                <a:latin typeface="+mn-lt"/>
              </a:rPr>
              <a:t>Methods used for similarity search 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Lesson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Dimensionality reduction is widely used in data mining</a:t>
            </a:r>
          </a:p>
          <a:p>
            <a:r>
              <a:rPr lang="en-US" sz="2800" dirty="0">
                <a:latin typeface="+mn-lt"/>
              </a:rPr>
              <a:t>Curse of Dimensionality!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Introduction to dimensionality reduction </a:t>
            </a:r>
          </a:p>
          <a:p>
            <a:r>
              <a:rPr lang="en-US" dirty="0">
                <a:latin typeface="+mn-lt"/>
              </a:rPr>
              <a:t>Principal component analysis (PCA)</a:t>
            </a:r>
          </a:p>
          <a:p>
            <a:r>
              <a:rPr lang="en-US" dirty="0">
                <a:latin typeface="+mn-lt"/>
              </a:rPr>
              <a:t>Singular value decomposition (SVD)</a:t>
            </a:r>
          </a:p>
          <a:p>
            <a:r>
              <a:rPr lang="en-US" dirty="0">
                <a:latin typeface="+mn-lt"/>
              </a:rPr>
              <a:t>Manifold Learning</a:t>
            </a:r>
          </a:p>
          <a:p>
            <a:r>
              <a:rPr lang="en-US" dirty="0">
                <a:latin typeface="+mn-lt"/>
              </a:rPr>
              <a:t>Spectral Embedding </a:t>
            </a:r>
          </a:p>
          <a:p>
            <a:r>
              <a:rPr lang="en-US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  <a:p>
            <a:r>
              <a:rPr lang="en-US" dirty="0">
                <a:latin typeface="+mn-lt"/>
                <a:cs typeface="Segoe UI" panose="020B0502040204020203" pitchFamily="34" charset="0"/>
              </a:rPr>
              <a:t>Random projections – time permitting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0930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7CAC-5294-64ED-E39A-8FF1A1B68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cript MT Bold" panose="03040602040607080904" pitchFamily="66" charset="0"/>
              </a:rPr>
              <a:t>Curse of Dimensionality!</a:t>
            </a:r>
            <a:endParaRPr lang="en-US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8762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1404600" cy="530954"/>
          </a:xfrm>
        </p:spPr>
        <p:txBody>
          <a:bodyPr>
            <a:noAutofit/>
          </a:bodyPr>
          <a:lstStyle/>
          <a:p>
            <a:r>
              <a:rPr lang="en-US" sz="3200" dirty="0"/>
              <a:t>What Could Possibly Go Wrong? </a:t>
            </a:r>
            <a:r>
              <a:rPr lang="en-US" sz="4000" dirty="0">
                <a:latin typeface="Script MT Bold" panose="03040602040607080904" pitchFamily="66" charset="0"/>
              </a:rPr>
              <a:t>Curse of Dimensionality!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Machine </a:t>
            </a:r>
            <a:r>
              <a:rPr lang="en-US" dirty="0" err="1">
                <a:latin typeface="+mn-lt"/>
              </a:rPr>
              <a:t>learing</a:t>
            </a:r>
            <a:r>
              <a:rPr lang="en-US" dirty="0">
                <a:latin typeface="+mn-lt"/>
              </a:rPr>
              <a:t> models scale poorly with dimensionality      </a:t>
            </a:r>
          </a:p>
          <a:p>
            <a:r>
              <a:rPr lang="en-US" dirty="0">
                <a:latin typeface="+mn-lt"/>
              </a:rPr>
              <a:t>Consider sampling required to maintain the same uniformly distributed sampling density in a hypercube: 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An example of the </a:t>
            </a:r>
            <a:r>
              <a:rPr lang="en-US" sz="3200" dirty="0">
                <a:latin typeface="Script MT Bold" panose="03040602040607080904" pitchFamily="66" charset="0"/>
              </a:rPr>
              <a:t>Curse of Dimensionality!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1149323-83B4-49D3-B3E7-A6A9431512F5}"/>
              </a:ext>
            </a:extLst>
          </p:cNvPr>
          <p:cNvGraphicFramePr>
            <a:graphicFrameLocks noGrp="1"/>
          </p:cNvGraphicFramePr>
          <p:nvPr/>
        </p:nvGraphicFramePr>
        <p:xfrm>
          <a:off x="893232" y="2325917"/>
          <a:ext cx="520276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1384">
                  <a:extLst>
                    <a:ext uri="{9D8B030D-6E8A-4147-A177-3AD203B41FA5}">
                      <a16:colId xmlns:a16="http://schemas.microsoft.com/office/drawing/2014/main" val="1864476824"/>
                    </a:ext>
                  </a:extLst>
                </a:gridCol>
                <a:gridCol w="2601384">
                  <a:extLst>
                    <a:ext uri="{9D8B030D-6E8A-4147-A177-3AD203B41FA5}">
                      <a16:colId xmlns:a16="http://schemas.microsoft.com/office/drawing/2014/main" val="2999229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802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108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536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888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en-US" sz="2400" baseline="30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65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en-US" sz="2400" baseline="300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463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985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1404600" cy="530954"/>
          </a:xfrm>
        </p:spPr>
        <p:txBody>
          <a:bodyPr>
            <a:noAutofit/>
          </a:bodyPr>
          <a:lstStyle/>
          <a:p>
            <a:r>
              <a:rPr lang="en-US" sz="3200" dirty="0"/>
              <a:t>What Could Possibly Go Wrong? </a:t>
            </a:r>
            <a:r>
              <a:rPr lang="en-US" sz="4000" dirty="0">
                <a:latin typeface="Script MT Bold" panose="03040602040607080904" pitchFamily="66" charset="0"/>
              </a:rPr>
              <a:t>Curse of Dimensionality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88749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Machine learning models scale poorly with dimensionality </a:t>
                </a:r>
              </a:p>
              <a:p>
                <a:r>
                  <a:rPr lang="en-US" dirty="0">
                    <a:latin typeface="+mn-lt"/>
                  </a:rPr>
                  <a:t>Following </a:t>
                </a:r>
                <a:r>
                  <a:rPr lang="en-US" dirty="0">
                    <a:latin typeface="+mn-lt"/>
                    <a:hlinkClick r:id="rId3"/>
                  </a:rPr>
                  <a:t>Dasgupta, 2001</a:t>
                </a:r>
                <a:r>
                  <a:rPr lang="en-US" dirty="0">
                    <a:latin typeface="+mn-lt"/>
                  </a:rPr>
                  <a:t>, consider the expected value of a zero-centered vector random variable in high-dimensional space,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Now, consider a zero-centered Gaussian distribution with 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</a:rPr>
                  <a:t>Each dimension independent</a:t>
                </a:r>
              </a:p>
              <a:p>
                <a:pPr lvl="1"/>
                <a:r>
                  <a:rPr lang="en-US" dirty="0">
                    <a:latin typeface="+mn-lt"/>
                  </a:rPr>
                  <a:t>Distribution is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</a:rPr>
                  <a:t>Density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 dirty="0">
                    <a:latin typeface="+mn-lt"/>
                  </a:rPr>
                  <a:t> the density is concentrated in a thin spherical shell of radius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In other words, all distances converge to the same value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887493"/>
              </a:xfrm>
              <a:blipFill>
                <a:blip r:embed="rId4"/>
                <a:stretch>
                  <a:fillRect l="-1077" t="-1760" r="-1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36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1404600" cy="530954"/>
          </a:xfrm>
        </p:spPr>
        <p:txBody>
          <a:bodyPr>
            <a:noAutofit/>
          </a:bodyPr>
          <a:lstStyle/>
          <a:p>
            <a:r>
              <a:rPr lang="en-US" sz="3200" dirty="0"/>
              <a:t>What Could Possibly Go Wrong? </a:t>
            </a:r>
            <a:r>
              <a:rPr lang="en-US" sz="4000" dirty="0">
                <a:latin typeface="Script MT Bold" panose="03040602040607080904" pitchFamily="66" charset="0"/>
              </a:rPr>
              <a:t>Curse of Dimensionality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6" y="896080"/>
                <a:ext cx="4191799" cy="40461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Demonstration of the Curse of Dimensionality </a:t>
                </a:r>
              </a:p>
              <a:p>
                <a:r>
                  <a:rPr lang="en-US" dirty="0">
                    <a:latin typeface="+mn-lt"/>
                  </a:rPr>
                  <a:t>Distances all become the same as dimensionality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⇒∞</m:t>
                    </m:r>
                  </m:oMath>
                </a14:m>
                <a:r>
                  <a:rPr lang="en-US" dirty="0">
                    <a:latin typeface="+mn-lt"/>
                  </a:rPr>
                  <a:t>    </a:t>
                </a:r>
              </a:p>
              <a:p>
                <a:r>
                  <a:rPr lang="en-US" dirty="0">
                    <a:latin typeface="+mn-lt"/>
                  </a:rPr>
                  <a:t>Distribution becomes centered 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+mn-lt"/>
                  </a:rPr>
                  <a:t>   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+mn-lt"/>
                    <a:hlinkClick r:id="rId3"/>
                  </a:rPr>
                  <a:t>From Dasgupta, 2001  </a:t>
                </a:r>
                <a:endParaRPr lang="en-US" sz="20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6" y="896080"/>
                <a:ext cx="4191799" cy="4046168"/>
              </a:xfrm>
              <a:blipFill>
                <a:blip r:embed="rId4"/>
                <a:stretch>
                  <a:fillRect l="-2907" t="-2560" r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6F66FF1-478F-F2C0-9C59-A195E4134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408" y="841472"/>
            <a:ext cx="7234392" cy="59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73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1404600" cy="530954"/>
          </a:xfrm>
        </p:spPr>
        <p:txBody>
          <a:bodyPr>
            <a:noAutofit/>
          </a:bodyPr>
          <a:lstStyle/>
          <a:p>
            <a:r>
              <a:rPr lang="en-US" sz="3200" dirty="0"/>
              <a:t>What Could Possibly Go Wrong? </a:t>
            </a:r>
            <a:r>
              <a:rPr lang="en-US" sz="4000" dirty="0">
                <a:latin typeface="Script MT Bold" panose="03040602040607080904" pitchFamily="66" charset="0"/>
              </a:rPr>
              <a:t>Curse of Dimensionality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curse of dimensionality means that </a:t>
            </a:r>
            <a:r>
              <a:rPr lang="en-US" b="1" dirty="0">
                <a:latin typeface="+mn-lt"/>
              </a:rPr>
              <a:t>all distances are the same in high dimensions</a:t>
            </a:r>
          </a:p>
          <a:p>
            <a:r>
              <a:rPr lang="en-US" dirty="0">
                <a:latin typeface="+mn-lt"/>
              </a:rPr>
              <a:t>Sampling density decreases exponentially   </a:t>
            </a:r>
          </a:p>
          <a:p>
            <a:r>
              <a:rPr lang="en-US" dirty="0">
                <a:latin typeface="+mn-lt"/>
              </a:rPr>
              <a:t>Distances converge to the same length in a high dimensional space  </a:t>
            </a:r>
          </a:p>
          <a:p>
            <a:r>
              <a:rPr lang="en-US" sz="2800" dirty="0">
                <a:latin typeface="+mn-lt"/>
              </a:rPr>
              <a:t>The choice of metric does not help </a:t>
            </a:r>
          </a:p>
          <a:p>
            <a:pPr lvl="1"/>
            <a:r>
              <a:rPr lang="en-US" b="1" dirty="0">
                <a:latin typeface="+mn-lt"/>
              </a:rPr>
              <a:t>All distances are the same in high dimensions!  </a:t>
            </a:r>
          </a:p>
          <a:p>
            <a:r>
              <a:rPr lang="en-US" dirty="0">
                <a:latin typeface="+mn-lt"/>
              </a:rPr>
              <a:t>Implication is that high-dimensional ML models, such as cluster models, are easy to overfit!!</a:t>
            </a:r>
          </a:p>
        </p:txBody>
      </p:sp>
    </p:spTree>
    <p:extLst>
      <p:ext uri="{BB962C8B-B14F-4D97-AF65-F5344CB8AC3E}">
        <p14:creationId xmlns:p14="http://schemas.microsoft.com/office/powerpoint/2010/main" val="392082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1404600" cy="530954"/>
          </a:xfrm>
        </p:spPr>
        <p:txBody>
          <a:bodyPr>
            <a:noAutofit/>
          </a:bodyPr>
          <a:lstStyle/>
          <a:p>
            <a:r>
              <a:rPr lang="en-US" sz="3200" dirty="0"/>
              <a:t>What Could Possibly Go Wrong? </a:t>
            </a:r>
            <a:r>
              <a:rPr lang="en-US" sz="4000" dirty="0">
                <a:latin typeface="Script MT Bold" panose="03040602040607080904" pitchFamily="66" charset="0"/>
              </a:rPr>
              <a:t>Curse of Dimensionality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extend machine learning to higher dimensions?    </a:t>
            </a:r>
          </a:p>
          <a:p>
            <a:r>
              <a:rPr lang="en-US" dirty="0">
                <a:latin typeface="+mn-lt"/>
              </a:rPr>
              <a:t>Reducing dimensionality can help</a:t>
            </a:r>
          </a:p>
          <a:p>
            <a:r>
              <a:rPr lang="en-US" dirty="0">
                <a:latin typeface="+mn-lt"/>
              </a:rPr>
              <a:t>Need to create a </a:t>
            </a:r>
            <a:r>
              <a:rPr lang="en-US" b="1" dirty="0">
                <a:latin typeface="+mn-lt"/>
              </a:rPr>
              <a:t>lower dimensional embedding </a:t>
            </a:r>
          </a:p>
          <a:p>
            <a:r>
              <a:rPr lang="en-US" dirty="0">
                <a:latin typeface="+mn-lt"/>
              </a:rPr>
              <a:t>But how?   </a:t>
            </a:r>
          </a:p>
          <a:p>
            <a:r>
              <a:rPr lang="en-US" sz="2800" dirty="0">
                <a:latin typeface="+mn-lt"/>
              </a:rPr>
              <a:t>PCA and SVD are a linear projections</a:t>
            </a:r>
          </a:p>
          <a:p>
            <a:r>
              <a:rPr lang="en-US" dirty="0">
                <a:latin typeface="+mn-lt"/>
              </a:rPr>
              <a:t>Manifold learning can be linear or nonlinear  </a:t>
            </a:r>
          </a:p>
        </p:txBody>
      </p:sp>
    </p:spTree>
    <p:extLst>
      <p:ext uri="{BB962C8B-B14F-4D97-AF65-F5344CB8AC3E}">
        <p14:creationId xmlns:p14="http://schemas.microsoft.com/office/powerpoint/2010/main" val="307030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30B8A-5891-0280-B0A3-C36731DEA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A40B2-FCEF-213D-AE59-616CB2AAE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Properties of 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1099458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04777"/>
            <a:ext cx="11525250" cy="5181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What are the properties good dimensionality reduction algorithms?</a:t>
            </a:r>
          </a:p>
          <a:p>
            <a:r>
              <a:rPr lang="en-US" dirty="0">
                <a:latin typeface="+mn-lt"/>
              </a:rPr>
              <a:t>Goal is to find a mapping to the lower dimensional manifold or embedding space  </a:t>
            </a:r>
          </a:p>
          <a:p>
            <a:r>
              <a:rPr lang="en-US" dirty="0">
                <a:latin typeface="+mn-lt"/>
              </a:rPr>
              <a:t>Embedding should </a:t>
            </a:r>
            <a:r>
              <a:rPr lang="en-US" b="1" dirty="0">
                <a:latin typeface="+mn-lt"/>
              </a:rPr>
              <a:t>minimize error </a:t>
            </a:r>
            <a:r>
              <a:rPr lang="en-US" dirty="0">
                <a:latin typeface="+mn-lt"/>
              </a:rPr>
              <a:t>with respect to the original data  </a:t>
            </a:r>
          </a:p>
          <a:p>
            <a:pPr lvl="1"/>
            <a:r>
              <a:rPr lang="en-US" dirty="0">
                <a:latin typeface="+mn-lt"/>
              </a:rPr>
              <a:t>Ideally, reconstruct original data by inverse transformation  </a:t>
            </a:r>
          </a:p>
          <a:p>
            <a:r>
              <a:rPr lang="en-US" dirty="0">
                <a:latin typeface="+mn-lt"/>
              </a:rPr>
              <a:t>Embedding should </a:t>
            </a:r>
            <a:r>
              <a:rPr lang="en-US" b="1" dirty="0">
                <a:latin typeface="+mn-lt"/>
              </a:rPr>
              <a:t>preserve distances</a:t>
            </a:r>
          </a:p>
          <a:p>
            <a:pPr lvl="1"/>
            <a:r>
              <a:rPr lang="en-US" dirty="0">
                <a:latin typeface="+mn-lt"/>
              </a:rPr>
              <a:t>Distances or similarities should not be distorted by transformation </a:t>
            </a:r>
          </a:p>
          <a:p>
            <a:r>
              <a:rPr lang="en-US" dirty="0">
                <a:latin typeface="+mn-lt"/>
              </a:rPr>
              <a:t>Embedding should have </a:t>
            </a:r>
            <a:r>
              <a:rPr lang="en-US" b="1" dirty="0">
                <a:latin typeface="+mn-lt"/>
              </a:rPr>
              <a:t>low bias</a:t>
            </a:r>
          </a:p>
          <a:p>
            <a:pPr lvl="1"/>
            <a:r>
              <a:rPr lang="en-US" dirty="0">
                <a:latin typeface="+mn-lt"/>
              </a:rPr>
              <a:t>Embedding should not produce systematic bias </a:t>
            </a:r>
          </a:p>
          <a:p>
            <a:pPr lvl="1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592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Dimensionality 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Linear embedding methods</a:t>
                </a:r>
              </a:p>
              <a:p>
                <a:r>
                  <a:rPr lang="en-US" dirty="0">
                    <a:latin typeface="+mn-lt"/>
                  </a:rPr>
                  <a:t>Create a </a:t>
                </a:r>
                <a:r>
                  <a:rPr lang="en-US" b="1" dirty="0">
                    <a:latin typeface="+mn-lt"/>
                  </a:rPr>
                  <a:t>linear map</a:t>
                </a:r>
                <a:r>
                  <a:rPr lang="en-US" dirty="0">
                    <a:latin typeface="+mn-lt"/>
                  </a:rPr>
                  <a:t> 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dimensional feature space to lower,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>
                    <a:latin typeface="+mn-lt"/>
                  </a:rPr>
                  <a:t>, dimensional space: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Linear map assumes same factor weights used for all values of each feature</a:t>
                </a:r>
                <a:endParaRPr lang="en-US" b="1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Principal Component Analysis: </a:t>
                </a:r>
                <a:r>
                  <a:rPr lang="en-US" dirty="0">
                    <a:latin typeface="+mn-lt"/>
                  </a:rPr>
                  <a:t>PCA, SVD</a:t>
                </a:r>
              </a:p>
              <a:p>
                <a:pPr lvl="1"/>
                <a:r>
                  <a:rPr lang="en-US" dirty="0">
                    <a:latin typeface="+mn-lt"/>
                  </a:rPr>
                  <a:t>Pearson, 1901</a:t>
                </a:r>
              </a:p>
              <a:p>
                <a:pPr lvl="1"/>
                <a:r>
                  <a:rPr lang="en-US" dirty="0">
                    <a:latin typeface="+mn-lt"/>
                  </a:rPr>
                  <a:t>A generative model using </a:t>
                </a:r>
                <a:r>
                  <a:rPr lang="en-US" b="1" dirty="0">
                    <a:latin typeface="+mn-lt"/>
                  </a:rPr>
                  <a:t>latent factors</a:t>
                </a:r>
              </a:p>
              <a:p>
                <a:r>
                  <a:rPr lang="en-US" dirty="0">
                    <a:latin typeface="+mn-lt"/>
                  </a:rPr>
                  <a:t>Other </a:t>
                </a:r>
                <a:r>
                  <a:rPr lang="en-US" b="1" dirty="0">
                    <a:latin typeface="+mn-lt"/>
                  </a:rPr>
                  <a:t>Latent Factor Models </a:t>
                </a:r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Example, algorithms used recommenders</a:t>
                </a:r>
              </a:p>
              <a:p>
                <a:pPr lvl="1"/>
                <a:r>
                  <a:rPr lang="en-US" dirty="0">
                    <a:latin typeface="+mn-lt"/>
                  </a:rPr>
                  <a:t>Many other examples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  <a:blipFill>
                <a:blip r:embed="rId3"/>
                <a:stretch>
                  <a:fillRect l="-1111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47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04777"/>
            <a:ext cx="11525250" cy="5181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Nonlinear embedding </a:t>
            </a:r>
            <a:r>
              <a:rPr lang="en-US" dirty="0">
                <a:latin typeface="+mn-lt"/>
              </a:rPr>
              <a:t>methods</a:t>
            </a:r>
          </a:p>
          <a:p>
            <a:r>
              <a:rPr lang="en-US" dirty="0">
                <a:latin typeface="+mn-lt"/>
              </a:rPr>
              <a:t>Manifold learning for visualization and dimensionality reduction   </a:t>
            </a:r>
          </a:p>
          <a:p>
            <a:pPr lvl="1"/>
            <a:r>
              <a:rPr lang="en-US" dirty="0">
                <a:latin typeface="+mn-lt"/>
              </a:rPr>
              <a:t>Spectral embedding   </a:t>
            </a:r>
          </a:p>
          <a:p>
            <a:pPr lvl="1"/>
            <a:r>
              <a:rPr lang="en-US" dirty="0">
                <a:latin typeface="+mn-lt"/>
              </a:rPr>
              <a:t>UMAP</a:t>
            </a:r>
          </a:p>
          <a:p>
            <a:pPr lvl="1"/>
            <a:r>
              <a:rPr lang="en-US" dirty="0" err="1">
                <a:latin typeface="+mn-lt"/>
              </a:rPr>
              <a:t>Etc</a:t>
            </a:r>
            <a:r>
              <a:rPr lang="en-US" dirty="0">
                <a:latin typeface="+mn-lt"/>
              </a:rPr>
              <a:t>……</a:t>
            </a:r>
          </a:p>
          <a:p>
            <a:r>
              <a:rPr lang="en-US" dirty="0">
                <a:latin typeface="+mn-lt"/>
              </a:rPr>
              <a:t>Deep autoencoders, other NN-based embedding methods</a:t>
            </a:r>
          </a:p>
          <a:p>
            <a:pPr lvl="1"/>
            <a:r>
              <a:rPr lang="en-US" dirty="0">
                <a:latin typeface="+mn-lt"/>
              </a:rPr>
              <a:t>Discussed in a subsequent lesson  </a:t>
            </a:r>
          </a:p>
          <a:p>
            <a:pPr lvl="1"/>
            <a:r>
              <a:rPr lang="en-US" dirty="0">
                <a:latin typeface="+mn-lt"/>
              </a:rPr>
              <a:t>For a well written tutorial on using VAEs as image generative models see </a:t>
            </a:r>
            <a:r>
              <a:rPr lang="en-US" dirty="0">
                <a:latin typeface="+mn-lt"/>
                <a:hlinkClick r:id="rId3"/>
              </a:rPr>
              <a:t>this post by the amazing Lily Wang of NVIDIA,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44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7CAC-5294-64ED-E39A-8FF1A1B68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Linear Embedding with PCA</a:t>
            </a:r>
          </a:p>
        </p:txBody>
      </p:sp>
    </p:spTree>
    <p:extLst>
      <p:ext uri="{BB962C8B-B14F-4D97-AF65-F5344CB8AC3E}">
        <p14:creationId xmlns:p14="http://schemas.microsoft.com/office/powerpoint/2010/main" val="680091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Dimensionality Reduction -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10094"/>
            <a:ext cx="11525250" cy="5587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PCA applies a linear projection from sample space to an orthogonal space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Start with the original features of the model matrix in the </a:t>
            </a:r>
            <a:r>
              <a:rPr lang="en-US" i="1" dirty="0">
                <a:latin typeface="+mn-lt"/>
              </a:rPr>
              <a:t>p</a:t>
            </a:r>
            <a:r>
              <a:rPr lang="en-US" dirty="0">
                <a:latin typeface="+mn-lt"/>
              </a:rPr>
              <a:t>-dimensional sample space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Compute a linear transformation to an </a:t>
            </a:r>
            <a:r>
              <a:rPr lang="en-US" b="1" dirty="0">
                <a:latin typeface="+mn-lt"/>
              </a:rPr>
              <a:t>orthogonal latent space </a:t>
            </a:r>
          </a:p>
          <a:p>
            <a:pPr lvl="1"/>
            <a:r>
              <a:rPr lang="en-US" dirty="0">
                <a:latin typeface="+mn-lt"/>
              </a:rPr>
              <a:t>Principle (1</a:t>
            </a:r>
            <a:r>
              <a:rPr lang="en-US" baseline="30000" dirty="0">
                <a:latin typeface="+mn-lt"/>
              </a:rPr>
              <a:t>st</a:t>
            </a:r>
            <a:r>
              <a:rPr lang="en-US" dirty="0">
                <a:latin typeface="+mn-lt"/>
              </a:rPr>
              <a:t>) axis with highest variance  </a:t>
            </a:r>
          </a:p>
          <a:p>
            <a:pPr lvl="1"/>
            <a:r>
              <a:rPr lang="en-US" dirty="0">
                <a:latin typeface="+mn-lt"/>
              </a:rPr>
              <a:t>Each axis is orthogonal to the others, explaining maximum remaining variance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First </a:t>
            </a:r>
            <a:r>
              <a:rPr lang="en-US" i="1" dirty="0">
                <a:latin typeface="+mn-lt"/>
              </a:rPr>
              <a:t>l</a:t>
            </a:r>
            <a:r>
              <a:rPr lang="en-US" dirty="0">
                <a:latin typeface="+mn-lt"/>
              </a:rPr>
              <a:t> projection axes define </a:t>
            </a:r>
            <a:r>
              <a:rPr lang="en-US" b="1" dirty="0">
                <a:latin typeface="+mn-lt"/>
              </a:rPr>
              <a:t>orthogonal lower dimensional space, </a:t>
            </a:r>
            <a:r>
              <a:rPr lang="en-US" i="1" dirty="0">
                <a:latin typeface="+mn-lt"/>
              </a:rPr>
              <a:t>l</a:t>
            </a:r>
            <a:r>
              <a:rPr lang="en-US" dirty="0">
                <a:latin typeface="+mn-lt"/>
              </a:rPr>
              <a:t> &lt; </a:t>
            </a:r>
            <a:r>
              <a:rPr lang="en-US" i="1" dirty="0">
                <a:latin typeface="+mn-lt"/>
              </a:rPr>
              <a:t>p</a:t>
            </a:r>
            <a:r>
              <a:rPr lang="en-US" dirty="0">
                <a:latin typeface="+mn-lt"/>
              </a:rPr>
              <a:t> 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79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Principle components are a projection onto an orthogonal space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Start with a </a:t>
                </a:r>
                <a:r>
                  <a:rPr lang="en-US" b="1" dirty="0">
                    <a:cs typeface="Segoe UI" panose="020B0502040204020203" pitchFamily="34" charset="0"/>
                  </a:rPr>
                  <a:t>zero-centered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𝐧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𝒑</m:t>
                    </m:r>
                  </m:oMath>
                </a14:m>
                <a:r>
                  <a:rPr lang="en-US" b="1" dirty="0">
                    <a:cs typeface="Segoe UI" panose="020B0502040204020203" pitchFamily="34" charset="0"/>
                  </a:rPr>
                  <a:t> feature matrix</a:t>
                </a:r>
                <a:r>
                  <a:rPr lang="en-US" dirty="0"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lvl="1">
                  <a:tabLst>
                    <a:tab pos="7543800" algn="l"/>
                  </a:tabLs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columns are not orthogonal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All column means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Nonzero correlation between features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 </a:t>
                </a:r>
                <a:r>
                  <a:rPr lang="en-US" b="1" dirty="0">
                    <a:cs typeface="Segoe UI" panose="020B0502040204020203" pitchFamily="34" charset="0"/>
                  </a:rPr>
                  <a:t>transformation</a:t>
                </a:r>
                <a:r>
                  <a:rPr lang="en-US" dirty="0">
                    <a:cs typeface="Segoe UI" panose="020B0502040204020203" pitchFamily="34" charset="0"/>
                  </a:rPr>
                  <a:t> to the full,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𝒑</m:t>
                    </m:r>
                  </m:oMath>
                </a14:m>
                <a:r>
                  <a:rPr lang="en-US" b="1" dirty="0">
                    <a:cs typeface="Segoe UI" panose="020B0502040204020203" pitchFamily="34" charset="0"/>
                  </a:rPr>
                  <a:t>, dimensional orthogonal latent space</a:t>
                </a:r>
                <a:r>
                  <a:rPr lang="en-US" dirty="0"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𝑇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is the matrix product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𝑋𝑊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lvl="1">
                  <a:tabLst>
                    <a:tab pos="7543800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  <m:r>
                      <m:rPr>
                        <m:nor/>
                      </m:rPr>
                      <a:rPr lang="en-US" i="0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is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p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transformation weight matrix</a:t>
                </a:r>
              </a:p>
              <a:p>
                <a:pPr lvl="1">
                  <a:tabLst>
                    <a:tab pos="7543800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𝑇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is an orthogonal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matrix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b="1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Transformation is from a Euclidean space another Euclidean space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  <a:blipFill>
                <a:blip r:embed="rId2"/>
                <a:stretch>
                  <a:fillRect l="-1058" t="-1804" r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18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Dimensionality Reduction - PCA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10094"/>
                <a:ext cx="11525250" cy="55874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PCA applies a linear projection from sample space to an orthogonal space </a:t>
                </a:r>
              </a:p>
              <a:p>
                <a:r>
                  <a:rPr lang="en-US" b="1" dirty="0">
                    <a:latin typeface="+mn-lt"/>
                  </a:rPr>
                  <a:t>Transformation is linear</a:t>
                </a:r>
                <a:r>
                  <a:rPr lang="en-US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𝑋𝑊</m:t>
                      </m:r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Linear transform is a </a:t>
                </a:r>
                <a:r>
                  <a:rPr lang="en-US" b="1" dirty="0">
                    <a:latin typeface="+mn-lt"/>
                  </a:rPr>
                  <a:t>pure rotation and scale</a:t>
                </a:r>
              </a:p>
              <a:p>
                <a:r>
                  <a:rPr lang="en-US" b="1" dirty="0">
                    <a:latin typeface="+mn-lt"/>
                  </a:rPr>
                  <a:t>Not an affine transformation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Therefore, </a:t>
                </a:r>
                <a:r>
                  <a:rPr lang="en-US" b="1" dirty="0">
                    <a:latin typeface="+mn-lt"/>
                  </a:rPr>
                  <a:t>must zero center the columns </a:t>
                </a:r>
                <a:r>
                  <a:rPr lang="en-US" dirty="0">
                    <a:latin typeface="+mn-lt"/>
                  </a:rPr>
                  <a:t>before applying PCA!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10094"/>
                <a:ext cx="11525250" cy="5587408"/>
              </a:xfrm>
              <a:blipFill>
                <a:blip r:embed="rId3"/>
                <a:stretch>
                  <a:fillRect l="-1111" t="-1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356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Dimensionality Reduction - PCA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751674" y="983512"/>
                <a:ext cx="5261122" cy="55874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PCA applies a linear projection from sample space to an orthogonal space </a:t>
                </a:r>
              </a:p>
              <a:p>
                <a:r>
                  <a:rPr lang="en-US" dirty="0">
                    <a:latin typeface="+mn-lt"/>
                  </a:rPr>
                  <a:t>Start with zero mean Normally distributed data with covariance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High dependency between the two variables </a:t>
                </a:r>
              </a:p>
              <a:p>
                <a:r>
                  <a:rPr lang="en-US" b="1" dirty="0">
                    <a:latin typeface="+mn-lt"/>
                  </a:rPr>
                  <a:t>Marginal distributions are Normal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751674" y="983512"/>
                <a:ext cx="5261122" cy="5587408"/>
              </a:xfrm>
              <a:blipFill>
                <a:blip r:embed="rId3"/>
                <a:stretch>
                  <a:fillRect l="-2433" t="-1745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E358561-6C6F-49BE-A10C-539FD3E2E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03" y="1009835"/>
            <a:ext cx="6056792" cy="562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5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Dimensionality Reduction - PCA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751674" y="983512"/>
                <a:ext cx="5261122" cy="55874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PCA applies a linear projection from sample space to an orthogonal space </a:t>
                </a:r>
              </a:p>
              <a:p>
                <a:r>
                  <a:rPr lang="en-US" dirty="0">
                    <a:latin typeface="+mn-lt"/>
                  </a:rPr>
                  <a:t>First (primary) axis now has 95% of variance</a:t>
                </a:r>
              </a:p>
              <a:p>
                <a:r>
                  <a:rPr lang="en-US" dirty="0">
                    <a:latin typeface="+mn-lt"/>
                  </a:rPr>
                  <a:t>Second axis has low variance (5%) and information</a:t>
                </a:r>
              </a:p>
              <a:p>
                <a:r>
                  <a:rPr lang="en-US" dirty="0">
                    <a:latin typeface="+mn-lt"/>
                  </a:rPr>
                  <a:t>Covariance is now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.92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0.94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Space is orthogonal!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751674" y="983512"/>
                <a:ext cx="5261122" cy="5587408"/>
              </a:xfrm>
              <a:blipFill>
                <a:blip r:embed="rId3"/>
                <a:stretch>
                  <a:fillRect l="-2433" t="-1745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F9B3FCB-0F0A-4636-9826-58676357D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70" y="864030"/>
            <a:ext cx="5897032" cy="566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21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7CAC-5294-64ED-E39A-8FF1A1B68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Principal Component 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2813239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Properties of principal components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 projection directions are determined by the </a:t>
                </a:r>
                <a:r>
                  <a:rPr lang="en-US" b="1" dirty="0">
                    <a:cs typeface="Segoe UI" panose="020B0502040204020203" pitchFamily="34" charset="0"/>
                  </a:rPr>
                  <a:t>eigenvectors of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𝐜𝐨𝐯</m:t>
                    </m:r>
                    <m:r>
                      <a:rPr lang="en-US" b="1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endParaRPr lang="en-US" b="1" dirty="0">
                  <a:cs typeface="Segoe UI" panose="020B0502040204020203" pitchFamily="34" charset="0"/>
                </a:endParaRP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Projection in an orthogonal coordinate system 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No correlation between dimensions 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PC in decreasing order of magnitude of eigenvalues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cov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Can select fraction of variance to retain by setting number of eigenvalues used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  <a:blipFill>
                <a:blip r:embed="rId2"/>
                <a:stretch>
                  <a:fillRect l="-1058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21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Given the principal components, dimensionality reduction is easy 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Transformation with all components yields a full dimensional orthogonal space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𝑋𝑊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We can limit the dimensionality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to the first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components 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𝑋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is the first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𝑙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columns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is the projection to an orthogonal Euclidean space with </a:t>
                </a:r>
                <a:r>
                  <a:rPr lang="en-US" b="1" dirty="0">
                    <a:cs typeface="Segoe UI" panose="020B0502040204020203" pitchFamily="34" charset="0"/>
                  </a:rPr>
                  <a:t>first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𝒍</m:t>
                    </m:r>
                  </m:oMath>
                </a14:m>
                <a:r>
                  <a:rPr lang="en-US" b="1" dirty="0">
                    <a:cs typeface="Segoe UI" panose="020B0502040204020203" pitchFamily="34" charset="0"/>
                  </a:rPr>
                  <a:t> principal components as axes</a:t>
                </a: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  <a:blipFill>
                <a:blip r:embed="rId2"/>
                <a:stretch>
                  <a:fillRect l="-1058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836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7E6F3E-34BF-FC27-C222-7F2C5DA01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381" y="2142501"/>
            <a:ext cx="6127976" cy="47154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032570"/>
            <a:ext cx="11525250" cy="1211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How many components do you need?    </a:t>
            </a:r>
            <a:endParaRPr lang="en-US" sz="2800" b="1" dirty="0">
              <a:latin typeface="+mn-lt"/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Need to retain enough components to </a:t>
            </a:r>
            <a:r>
              <a:rPr lang="en-US" b="1" dirty="0">
                <a:cs typeface="Segoe UI" panose="020B0502040204020203" pitchFamily="34" charset="0"/>
              </a:rPr>
              <a:t>explain most of the variance   </a:t>
            </a: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003B235B-D614-CA59-8088-A828BBA8F4E4}"/>
              </a:ext>
            </a:extLst>
          </p:cNvPr>
          <p:cNvSpPr/>
          <p:nvPr/>
        </p:nvSpPr>
        <p:spPr>
          <a:xfrm>
            <a:off x="7697165" y="5977561"/>
            <a:ext cx="310987" cy="220682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B05E10-7705-5C2D-3897-09BB3375287B}"/>
                  </a:ext>
                </a:extLst>
              </p:cNvPr>
              <p:cNvSpPr txBox="1"/>
              <p:nvPr/>
            </p:nvSpPr>
            <p:spPr>
              <a:xfrm>
                <a:off x="2346062" y="4614079"/>
                <a:ext cx="19676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US" sz="2400" b="1" dirty="0"/>
                  <a:t> components explain most variance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B05E10-7705-5C2D-3897-09BB33752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062" y="4614079"/>
                <a:ext cx="1967633" cy="1200329"/>
              </a:xfrm>
              <a:prstGeom prst="rect">
                <a:avLst/>
              </a:prstGeom>
              <a:blipFill>
                <a:blip r:embed="rId3"/>
                <a:stretch>
                  <a:fillRect l="-4954" t="-4061" r="-3096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85891F37-514B-788D-D514-C5C3C33EF5ED}"/>
              </a:ext>
            </a:extLst>
          </p:cNvPr>
          <p:cNvSpPr/>
          <p:nvPr/>
        </p:nvSpPr>
        <p:spPr>
          <a:xfrm>
            <a:off x="5125032" y="5571678"/>
            <a:ext cx="381964" cy="33304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FE45A-7578-D0ED-3383-6C5BDAA2564E}"/>
              </a:ext>
            </a:extLst>
          </p:cNvPr>
          <p:cNvSpPr txBox="1"/>
          <p:nvPr/>
        </p:nvSpPr>
        <p:spPr>
          <a:xfrm>
            <a:off x="7954155" y="5657935"/>
            <a:ext cx="3904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Apparent random variation – </a:t>
            </a:r>
            <a:r>
              <a:rPr lang="en-US" sz="2400" b="1" dirty="0"/>
              <a:t>irreducible error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E6CF04-DE03-807D-FD99-F1A1FD373DA5}"/>
              </a:ext>
            </a:extLst>
          </p:cNvPr>
          <p:cNvCxnSpPr>
            <a:cxnSpLocks/>
          </p:cNvCxnSpPr>
          <p:nvPr/>
        </p:nvCxnSpPr>
        <p:spPr>
          <a:xfrm flipH="1">
            <a:off x="2346062" y="5738199"/>
            <a:ext cx="2969952" cy="1514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716DE8-5D4D-960B-401C-721EA202361C}"/>
              </a:ext>
            </a:extLst>
          </p:cNvPr>
          <p:cNvSpPr txBox="1"/>
          <p:nvPr/>
        </p:nvSpPr>
        <p:spPr>
          <a:xfrm>
            <a:off x="3200331" y="3729205"/>
            <a:ext cx="4613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explained variance 2</a:t>
            </a:r>
            <a:r>
              <a:rPr lang="en-US" sz="2400" b="1" baseline="30000" dirty="0">
                <a:solidFill>
                  <a:srgbClr val="C00000"/>
                </a:solidFill>
              </a:rPr>
              <a:t>nd</a:t>
            </a:r>
            <a:r>
              <a:rPr lang="en-US" sz="2400" b="1" dirty="0">
                <a:solidFill>
                  <a:srgbClr val="C00000"/>
                </a:solidFill>
              </a:rPr>
              <a:t> component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F8593A-4AA5-BE34-F806-8B449FD88F4A}"/>
              </a:ext>
            </a:extLst>
          </p:cNvPr>
          <p:cNvSpPr txBox="1"/>
          <p:nvPr/>
        </p:nvSpPr>
        <p:spPr>
          <a:xfrm>
            <a:off x="2652858" y="2334585"/>
            <a:ext cx="4512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explained variance 1</a:t>
            </a:r>
            <a:r>
              <a:rPr lang="en-US" sz="2400" b="1" baseline="30000" dirty="0">
                <a:solidFill>
                  <a:srgbClr val="C00000"/>
                </a:solidFill>
              </a:rPr>
              <a:t>st</a:t>
            </a:r>
            <a:r>
              <a:rPr lang="en-US" sz="2400" b="1" dirty="0">
                <a:solidFill>
                  <a:srgbClr val="C00000"/>
                </a:solidFill>
              </a:rPr>
              <a:t> component</a:t>
            </a:r>
          </a:p>
        </p:txBody>
      </p:sp>
    </p:spTree>
    <p:extLst>
      <p:ext uri="{BB962C8B-B14F-4D97-AF65-F5344CB8AC3E}">
        <p14:creationId xmlns:p14="http://schemas.microsoft.com/office/powerpoint/2010/main" val="27411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21" grpId="0"/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Autofit/>
          </a:bodyPr>
          <a:lstStyle/>
          <a:p>
            <a:r>
              <a:rPr lang="en-US" sz="3600" dirty="0"/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4776"/>
                <a:ext cx="11525250" cy="55055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What are the properties of principal component decomposition?</a:t>
                </a:r>
              </a:p>
              <a:p>
                <a:r>
                  <a:rPr lang="en-US" dirty="0">
                    <a:latin typeface="+mn-lt"/>
                  </a:rPr>
                  <a:t>PCA is a linear projection from high dimensional space to low dimensional orthogonal space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𝑋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𝑝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Good only if </a:t>
                </a:r>
                <a:r>
                  <a:rPr lang="en-US" b="1" dirty="0">
                    <a:latin typeface="+mn-lt"/>
                  </a:rPr>
                  <a:t>dependency between variables is linear</a:t>
                </a:r>
              </a:p>
              <a:p>
                <a:r>
                  <a:rPr lang="en-US" dirty="0">
                    <a:latin typeface="+mn-lt"/>
                  </a:rPr>
                  <a:t>PCA </a:t>
                </a:r>
                <a:r>
                  <a:rPr lang="en-US" b="1" dirty="0">
                    <a:latin typeface="+mn-lt"/>
                  </a:rPr>
                  <a:t>minimizes least square error </a:t>
                </a:r>
                <a:r>
                  <a:rPr lang="en-US" dirty="0">
                    <a:latin typeface="+mn-lt"/>
                  </a:rPr>
                  <a:t>with respect to the original data  </a:t>
                </a:r>
              </a:p>
              <a:p>
                <a:pPr lvl="1"/>
                <a:r>
                  <a:rPr lang="en-US" dirty="0">
                    <a:latin typeface="+mn-lt"/>
                  </a:rPr>
                  <a:t>Assumes </a:t>
                </a:r>
                <a:r>
                  <a:rPr lang="en-US" b="1" dirty="0">
                    <a:latin typeface="+mn-lt"/>
                  </a:rPr>
                  <a:t>Normally distributed variables 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Adversely affected by outliers</a:t>
                </a:r>
              </a:p>
              <a:p>
                <a:r>
                  <a:rPr lang="en-US" dirty="0">
                    <a:latin typeface="+mn-lt"/>
                  </a:rPr>
                  <a:t>PCA approximately preserves </a:t>
                </a:r>
                <a:r>
                  <a:rPr lang="en-US" b="1" dirty="0">
                    <a:latin typeface="+mn-lt"/>
                  </a:rPr>
                  <a:t>Euclidian distances only</a:t>
                </a:r>
              </a:p>
              <a:p>
                <a:pPr lvl="1"/>
                <a:r>
                  <a:rPr lang="en-US" dirty="0">
                    <a:latin typeface="+mn-lt"/>
                  </a:rPr>
                  <a:t>Distances are preserved within the error of the linear transformation  </a:t>
                </a:r>
              </a:p>
              <a:p>
                <a:r>
                  <a:rPr lang="en-US" dirty="0">
                    <a:latin typeface="+mn-lt"/>
                  </a:rPr>
                  <a:t>PCA is a fast and efficient algorithm </a:t>
                </a:r>
              </a:p>
              <a:p>
                <a:pPr lvl="1"/>
                <a:r>
                  <a:rPr lang="en-US" dirty="0">
                    <a:latin typeface="+mn-lt"/>
                  </a:rPr>
                  <a:t>Need only find largest </a:t>
                </a:r>
                <a:r>
                  <a:rPr lang="en-US" i="1" dirty="0">
                    <a:latin typeface="+mn-lt"/>
                  </a:rPr>
                  <a:t>l</a:t>
                </a:r>
                <a:r>
                  <a:rPr lang="en-US" dirty="0">
                    <a:latin typeface="+mn-lt"/>
                  </a:rPr>
                  <a:t> eigenvalues and eigenvectors</a:t>
                </a: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4776"/>
                <a:ext cx="11525250" cy="5505561"/>
              </a:xfrm>
              <a:blipFill>
                <a:blip r:embed="rId3"/>
                <a:stretch>
                  <a:fillRect l="-1111" t="-1883" b="-1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23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Autofit/>
          </a:bodyPr>
          <a:lstStyle/>
          <a:p>
            <a:r>
              <a:rPr lang="en-US" sz="3600" dirty="0"/>
              <a:t>Principle Component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04776"/>
            <a:ext cx="11525250" cy="5505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Data preparation for PCA</a:t>
            </a:r>
          </a:p>
          <a:p>
            <a:r>
              <a:rPr lang="en-US" dirty="0">
                <a:latin typeface="+mn-lt"/>
              </a:rPr>
              <a:t>Treat outliers since PCA susceptible</a:t>
            </a:r>
          </a:p>
          <a:p>
            <a:pPr lvl="1"/>
            <a:r>
              <a:rPr lang="en-US" dirty="0">
                <a:latin typeface="+mn-lt"/>
              </a:rPr>
              <a:t>Details are problem dependent</a:t>
            </a:r>
          </a:p>
          <a:p>
            <a:pPr lvl="1"/>
            <a:r>
              <a:rPr lang="en-US" dirty="0">
                <a:latin typeface="+mn-lt"/>
              </a:rPr>
              <a:t>If outliers inherent in data, consider nonlinear method like spectral embedding </a:t>
            </a:r>
          </a:p>
          <a:p>
            <a:r>
              <a:rPr lang="en-US" dirty="0">
                <a:latin typeface="+mn-lt"/>
              </a:rPr>
              <a:t>Demean the variables </a:t>
            </a:r>
          </a:p>
          <a:p>
            <a:pPr lvl="1"/>
            <a:r>
              <a:rPr lang="en-US" dirty="0">
                <a:latin typeface="+mn-lt"/>
              </a:rPr>
              <a:t>PCA is a </a:t>
            </a:r>
            <a:r>
              <a:rPr lang="en-US" b="1" dirty="0">
                <a:latin typeface="+mn-lt"/>
              </a:rPr>
              <a:t>linear transformation  </a:t>
            </a:r>
          </a:p>
          <a:p>
            <a:pPr lvl="1"/>
            <a:r>
              <a:rPr lang="en-US" b="1" dirty="0">
                <a:latin typeface="+mn-lt"/>
              </a:rPr>
              <a:t>But not an affine transformation! </a:t>
            </a:r>
          </a:p>
          <a:p>
            <a:r>
              <a:rPr lang="en-US" dirty="0">
                <a:latin typeface="+mn-lt"/>
              </a:rPr>
              <a:t>Transforming variables to unit variance can improve convergence </a:t>
            </a:r>
          </a:p>
          <a:p>
            <a:pPr lvl="1"/>
            <a:r>
              <a:rPr lang="en-US" dirty="0">
                <a:latin typeface="+mn-lt"/>
              </a:rPr>
              <a:t>Particularly important in high dimensions   </a:t>
            </a:r>
          </a:p>
        </p:txBody>
      </p:sp>
    </p:spTree>
    <p:extLst>
      <p:ext uri="{BB962C8B-B14F-4D97-AF65-F5344CB8AC3E}">
        <p14:creationId xmlns:p14="http://schemas.microsoft.com/office/powerpoint/2010/main" val="402066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Autofit/>
          </a:bodyPr>
          <a:lstStyle/>
          <a:p>
            <a:r>
              <a:rPr lang="en-US" sz="3600" dirty="0"/>
              <a:t>Principle Component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04776"/>
            <a:ext cx="4630511" cy="5552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Example, Iris dataset</a:t>
            </a:r>
          </a:p>
          <a:p>
            <a:r>
              <a:rPr lang="en-US" dirty="0">
                <a:latin typeface="+mn-lt"/>
              </a:rPr>
              <a:t>3 spices of iris flowers</a:t>
            </a:r>
          </a:p>
          <a:p>
            <a:r>
              <a:rPr lang="en-US" dirty="0">
                <a:latin typeface="+mn-lt"/>
              </a:rPr>
              <a:t>4 dimensions of measurements</a:t>
            </a:r>
          </a:p>
          <a:p>
            <a:r>
              <a:rPr lang="en-US" dirty="0">
                <a:latin typeface="+mn-lt"/>
              </a:rPr>
              <a:t>1 species well separated</a:t>
            </a:r>
          </a:p>
          <a:p>
            <a:r>
              <a:rPr lang="en-US" dirty="0">
                <a:latin typeface="+mn-lt"/>
              </a:rPr>
              <a:t>2 species overlap in all dimensions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BB5B1-F557-90EF-5B08-6B80A6D14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311" y="940527"/>
            <a:ext cx="6464152" cy="582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54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198518"/>
            <a:ext cx="10515600" cy="530954"/>
          </a:xfrm>
        </p:spPr>
        <p:txBody>
          <a:bodyPr>
            <a:noAutofit/>
          </a:bodyPr>
          <a:lstStyle/>
          <a:p>
            <a:r>
              <a:rPr lang="en-US" sz="3600" dirty="0"/>
              <a:t>Principle Component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04776"/>
            <a:ext cx="11626396" cy="53095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Example, first 2 principal components explain about 95% of variance for Iris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0E5ABA-8D23-A4C5-1AB1-7D7CAF1D0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8" y="1589913"/>
            <a:ext cx="5912862" cy="463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748342-3D29-2CB4-0DEE-E9F89154C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862" y="1736217"/>
            <a:ext cx="5872554" cy="449215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1D7BCE-6F4C-8C8D-8163-06D3BC54F83E}"/>
              </a:ext>
            </a:extLst>
          </p:cNvPr>
          <p:cNvSpPr txBox="1">
            <a:spLocks/>
          </p:cNvSpPr>
          <p:nvPr/>
        </p:nvSpPr>
        <p:spPr>
          <a:xfrm>
            <a:off x="820347" y="6228370"/>
            <a:ext cx="4969112" cy="5309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Variance ratio by PCA component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F04179E-E79F-AD3A-3DFA-39E4ADCEDCF6}"/>
              </a:ext>
            </a:extLst>
          </p:cNvPr>
          <p:cNvSpPr txBox="1">
            <a:spLocks/>
          </p:cNvSpPr>
          <p:nvPr/>
        </p:nvSpPr>
        <p:spPr>
          <a:xfrm>
            <a:off x="6712107" y="6238820"/>
            <a:ext cx="5413248" cy="5309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Scatterplot of first 2 PCA Components</a:t>
            </a:r>
          </a:p>
        </p:txBody>
      </p:sp>
    </p:spTree>
    <p:extLst>
      <p:ext uri="{BB962C8B-B14F-4D97-AF65-F5344CB8AC3E}">
        <p14:creationId xmlns:p14="http://schemas.microsoft.com/office/powerpoint/2010/main" val="4119489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7CAC-5294-64ED-E39A-8FF1A1B68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Singular Value Decomposition</a:t>
            </a:r>
          </a:p>
        </p:txBody>
      </p:sp>
    </p:spTree>
    <p:extLst>
      <p:ext uri="{BB962C8B-B14F-4D97-AF65-F5344CB8AC3E}">
        <p14:creationId xmlns:p14="http://schemas.microsoft.com/office/powerpoint/2010/main" val="2573738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  <a:hlinkClick r:id="rId2"/>
                  </a:rPr>
                  <a:t>Singular value decomposition (SVD</a:t>
                </a:r>
                <a:r>
                  <a:rPr lang="en-US" dirty="0">
                    <a:cs typeface="Segoe UI" panose="020B0502040204020203" pitchFamily="34" charset="0"/>
                  </a:rPr>
                  <a:t>) is a computational efficient matrix decomposition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computing the covariance,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−1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is computationally intensive -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lvl="1"/>
                <a:r>
                  <a:rPr lang="en-US" dirty="0">
                    <a:latin typeface="+mn-lt"/>
                    <a:cs typeface="Segoe UI" panose="020B0502040204020203" pitchFamily="34" charset="0"/>
                  </a:rPr>
                  <a:t>Even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is sparse,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is dense  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SVD operates directly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SVD provides an alternative: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𝑆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;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𝑙𝑒𝑓𝑡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𝑜𝑟𝑡ℎ𝑜𝑛𝑜𝑟𝑚𝑎𝑙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S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𝑑𝑖𝑎𝑔𝑜𝑛𝑎𝑙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𝑚𝑎𝑡𝑟𝑖𝑥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𝑜𝑓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𝑣𝑎𝑙𝑢𝑒𝑠</m:t>
                      </m:r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𝑟𝑖𝑔ℎ𝑡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𝑜𝑟𝑡ℎ𝑜𝑛𝑜𝑟𝑚𝑎𝑙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3"/>
                <a:stretch>
                  <a:fillRect l="-1058" t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90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How can we do dimensionality reduction with SVD?</a:t>
                </a:r>
                <a:endParaRPr lang="en-US" sz="28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The relationship between SVD and PCA is:  </a:t>
                </a:r>
              </a:p>
              <a:p>
                <a:pPr marL="0" indent="0">
                  <a:buNone/>
                </a:pPr>
                <a:endParaRPr lang="en-US" sz="10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𝑋𝑊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𝑆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𝑆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We can construct a lower dimensional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l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limited dimension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𝑙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)</m:t>
                            </m:r>
                          </m:sup>
                        </m:sSup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𝑋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sup>
                          </m:sSup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</a:t>
                </a:r>
                <a:r>
                  <a:rPr lang="en-US" dirty="0">
                    <a:cs typeface="Segoe UI" panose="020B0502040204020203" pitchFamily="34" charset="0"/>
                  </a:rPr>
                  <a:t>has</a:t>
                </a: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first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𝑙</m:t>
                    </m:r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columns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has first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𝑙</m:t>
                    </m:r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non-zero singular values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075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Feature Hashing</a:t>
            </a: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631120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2DA15-116E-A4E6-15CD-4600D44CC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4BE00-D923-FB77-5461-0292FBD7D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Autofit/>
          </a:bodyPr>
          <a:lstStyle/>
          <a:p>
            <a:r>
              <a:rPr lang="en-US" sz="3600" dirty="0"/>
              <a:t>Feature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5A0E9-790F-2CFF-F4FF-7AA29302A0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004776"/>
            <a:ext cx="11525250" cy="5505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Why not just use one-hot-encoding?   </a:t>
            </a:r>
          </a:p>
          <a:p>
            <a:r>
              <a:rPr lang="en-US" dirty="0">
                <a:latin typeface="+mn-lt"/>
              </a:rPr>
              <a:t>Example: A used car shopping site lists thousands of (make, model, year) tuples      </a:t>
            </a:r>
          </a:p>
          <a:p>
            <a:pPr lvl="1"/>
            <a:r>
              <a:rPr lang="en-US" dirty="0">
                <a:latin typeface="+mn-lt"/>
              </a:rPr>
              <a:t>One-hot-encoding the (make, model, year) tuple results in a </a:t>
            </a:r>
            <a:r>
              <a:rPr lang="en-US" b="1" dirty="0">
                <a:latin typeface="+mn-lt"/>
              </a:rPr>
              <a:t>very high dimensional vector </a:t>
            </a:r>
          </a:p>
          <a:p>
            <a:pPr lvl="1"/>
            <a:r>
              <a:rPr lang="en-US" dirty="0">
                <a:latin typeface="+mn-lt"/>
              </a:rPr>
              <a:t>Memory intensive and not highly scalable!</a:t>
            </a:r>
          </a:p>
          <a:p>
            <a:r>
              <a:rPr lang="en-US" dirty="0">
                <a:latin typeface="+mn-lt"/>
              </a:rPr>
              <a:t>One hot encoding cannot manage dynamic situations   </a:t>
            </a:r>
          </a:p>
          <a:p>
            <a:pPr lvl="1"/>
            <a:r>
              <a:rPr lang="en-US" dirty="0">
                <a:latin typeface="+mn-lt"/>
              </a:rPr>
              <a:t>Example: new (make, model, year) tuples are added constantly as new vehicle types become available </a:t>
            </a:r>
          </a:p>
          <a:p>
            <a:pPr lvl="1"/>
            <a:r>
              <a:rPr lang="en-US" dirty="0">
                <a:latin typeface="+mn-lt"/>
              </a:rPr>
              <a:t>There is no way to encode new (make, model, year) tuples in the fixed data structure! </a:t>
            </a:r>
          </a:p>
        </p:txBody>
      </p:sp>
    </p:spTree>
    <p:extLst>
      <p:ext uri="{BB962C8B-B14F-4D97-AF65-F5344CB8AC3E}">
        <p14:creationId xmlns:p14="http://schemas.microsoft.com/office/powerpoint/2010/main" val="376654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8F6C0-0C2A-64CA-1FA4-0C40086DA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07C7-6192-82D4-D48F-8F13E00EA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Autofit/>
          </a:bodyPr>
          <a:lstStyle/>
          <a:p>
            <a:r>
              <a:rPr lang="en-US" sz="3600" dirty="0"/>
              <a:t>Feature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4751D-0FD2-5AFC-EBE9-06806F045B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004776"/>
            <a:ext cx="11525250" cy="5505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Hash algorithms can be applied to high-cardinality categorical variables   </a:t>
            </a:r>
          </a:p>
          <a:p>
            <a:r>
              <a:rPr lang="en-US" dirty="0">
                <a:latin typeface="+mn-lt"/>
              </a:rPr>
              <a:t>Concatenate results from several hash functions to embed high-cardinality variable to lower-dimensional binary coded variable </a:t>
            </a:r>
          </a:p>
          <a:p>
            <a:r>
              <a:rPr lang="en-US" dirty="0">
                <a:latin typeface="+mn-lt"/>
              </a:rPr>
              <a:t>This is known as the </a:t>
            </a:r>
            <a:r>
              <a:rPr lang="en-US" b="1" dirty="0">
                <a:latin typeface="+mn-lt"/>
                <a:hlinkClick r:id="rId3"/>
              </a:rPr>
              <a:t>hashing trick</a:t>
            </a:r>
            <a:endParaRPr lang="en-US" b="1" dirty="0">
              <a:latin typeface="+mn-lt"/>
            </a:endParaRPr>
          </a:p>
          <a:p>
            <a:r>
              <a:rPr lang="en-US" dirty="0" err="1">
                <a:latin typeface="+mn-lt"/>
                <a:hlinkClick r:id="rId4"/>
              </a:rPr>
              <a:t>sklearn.feature_extraction.FeatureHasher</a:t>
            </a:r>
            <a:r>
              <a:rPr lang="en-US" dirty="0">
                <a:latin typeface="+mn-lt"/>
                <a:hlinkClick r:id="rId4"/>
              </a:rPr>
              <a:t> </a:t>
            </a:r>
            <a:r>
              <a:rPr lang="en-US" dirty="0">
                <a:latin typeface="+mn-lt"/>
              </a:rPr>
              <a:t>uses the 32 bit Murmurhash3 to map text string categories to a binary hash   </a:t>
            </a:r>
            <a:endParaRPr lang="en-US" b="1" dirty="0">
              <a:latin typeface="+mn-lt"/>
            </a:endParaRPr>
          </a:p>
          <a:p>
            <a:r>
              <a:rPr lang="en-US" dirty="0">
                <a:latin typeface="+mn-lt"/>
              </a:rPr>
              <a:t>Example: A used car shopping site lists thousands of (make, model, year) tuples      </a:t>
            </a:r>
          </a:p>
          <a:p>
            <a:pPr lvl="1"/>
            <a:r>
              <a:rPr lang="en-US" dirty="0">
                <a:latin typeface="+mn-lt"/>
              </a:rPr>
              <a:t>Hashing trick maps the (make, model, year) tuple to a compact binary hash      </a:t>
            </a:r>
          </a:p>
          <a:p>
            <a:pPr lvl="1"/>
            <a:r>
              <a:rPr lang="en-US" dirty="0">
                <a:latin typeface="+mn-lt"/>
              </a:rPr>
              <a:t>Method is highly scalable!</a:t>
            </a:r>
          </a:p>
        </p:txBody>
      </p:sp>
    </p:spTree>
    <p:extLst>
      <p:ext uri="{BB962C8B-B14F-4D97-AF65-F5344CB8AC3E}">
        <p14:creationId xmlns:p14="http://schemas.microsoft.com/office/powerpoint/2010/main" val="103851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C6449-5417-D6A8-00F7-A391AEF9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DB4D7-13E5-18BB-C8FD-D813221D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Autofit/>
          </a:bodyPr>
          <a:lstStyle/>
          <a:p>
            <a:r>
              <a:rPr lang="en-US" sz="3600" dirty="0"/>
              <a:t>Feature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181BE-A62E-D7ED-5050-C46664126A9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004776"/>
            <a:ext cx="11525250" cy="5505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Hash algorithms can be applied to high-cardinality categorical variables   </a:t>
            </a:r>
          </a:p>
          <a:p>
            <a:r>
              <a:rPr lang="en-US" dirty="0">
                <a:latin typeface="+mn-lt"/>
              </a:rPr>
              <a:t>The hashing trick maps a high-cardinality variable to lower-dimensional binary coded variable </a:t>
            </a:r>
          </a:p>
          <a:p>
            <a:r>
              <a:rPr lang="en-US" dirty="0">
                <a:latin typeface="+mn-lt"/>
              </a:rPr>
              <a:t>Distance is not preserved </a:t>
            </a:r>
          </a:p>
          <a:p>
            <a:pPr lvl="1"/>
            <a:r>
              <a:rPr lang="en-US" dirty="0">
                <a:latin typeface="+mn-lt"/>
              </a:rPr>
              <a:t>For categorical variable the distances between categories is uniform </a:t>
            </a:r>
          </a:p>
          <a:p>
            <a:pPr lvl="1"/>
            <a:r>
              <a:rPr lang="en-US" dirty="0">
                <a:latin typeface="+mn-lt"/>
              </a:rPr>
              <a:t>Binary numbers do not have uniform distances          </a:t>
            </a:r>
          </a:p>
          <a:p>
            <a:r>
              <a:rPr lang="en-US" dirty="0">
                <a:latin typeface="+mn-lt"/>
              </a:rPr>
              <a:t>Cannot ensure unique coding because of hash collisions </a:t>
            </a:r>
          </a:p>
          <a:p>
            <a:pPr lvl="1"/>
            <a:r>
              <a:rPr lang="en-US" dirty="0">
                <a:latin typeface="+mn-lt"/>
              </a:rPr>
              <a:t>Improve uniqueness by concatenating multiple hashes </a:t>
            </a:r>
          </a:p>
          <a:p>
            <a:r>
              <a:rPr lang="en-US" dirty="0">
                <a:latin typeface="+mn-lt"/>
              </a:rPr>
              <a:t>Semantic relationships are </a:t>
            </a:r>
            <a:r>
              <a:rPr lang="en-US">
                <a:latin typeface="+mn-lt"/>
              </a:rPr>
              <a:t>not preserved </a:t>
            </a:r>
            <a:r>
              <a:rPr lang="en-US" dirty="0">
                <a:latin typeface="+mn-lt"/>
              </a:rPr>
              <a:t>by binary hash        </a:t>
            </a:r>
          </a:p>
          <a:p>
            <a:r>
              <a:rPr lang="en-US" dirty="0">
                <a:latin typeface="+mn-lt"/>
              </a:rPr>
              <a:t>We will explore other embedding methods in this course   </a:t>
            </a:r>
          </a:p>
        </p:txBody>
      </p:sp>
    </p:spTree>
    <p:extLst>
      <p:ext uri="{BB962C8B-B14F-4D97-AF65-F5344CB8AC3E}">
        <p14:creationId xmlns:p14="http://schemas.microsoft.com/office/powerpoint/2010/main" val="52258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Manifold Learning</a:t>
            </a: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993051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1404600" cy="530954"/>
          </a:xfrm>
        </p:spPr>
        <p:txBody>
          <a:bodyPr>
            <a:noAutofit/>
          </a:bodyPr>
          <a:lstStyle/>
          <a:p>
            <a:r>
              <a:rPr lang="en-US" sz="3200" dirty="0"/>
              <a:t>Manifold Learning</a:t>
            </a:r>
            <a:endParaRPr lang="en-US" sz="4000" dirty="0">
              <a:latin typeface="Script MT Bold" panose="030406020406070809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data from higher dimensions?    </a:t>
            </a:r>
          </a:p>
          <a:p>
            <a:r>
              <a:rPr lang="en-US" dirty="0">
                <a:latin typeface="+mn-lt"/>
              </a:rPr>
              <a:t>Reducing dimensionality can help</a:t>
            </a:r>
          </a:p>
          <a:p>
            <a:r>
              <a:rPr lang="en-US" dirty="0">
                <a:latin typeface="+mn-lt"/>
              </a:rPr>
              <a:t>Need to create a </a:t>
            </a:r>
            <a:r>
              <a:rPr lang="en-US" b="1" dirty="0">
                <a:latin typeface="+mn-lt"/>
              </a:rPr>
              <a:t>lower dimensional embedding 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But how? </a:t>
            </a:r>
          </a:p>
          <a:p>
            <a:r>
              <a:rPr lang="en-US" b="1" dirty="0">
                <a:latin typeface="+mn-lt"/>
              </a:rPr>
              <a:t>Manifold Learning</a:t>
            </a:r>
            <a:r>
              <a:rPr lang="en-US" dirty="0">
                <a:latin typeface="+mn-lt"/>
              </a:rPr>
              <a:t> projects a high-dimensional space onto a </a:t>
            </a:r>
            <a:r>
              <a:rPr lang="en-US" b="1" dirty="0">
                <a:latin typeface="+mn-lt"/>
              </a:rPr>
              <a:t>low-dimensional manifold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Many commonly used unsupervised methods</a:t>
            </a:r>
          </a:p>
          <a:p>
            <a:pPr lvl="1"/>
            <a:r>
              <a:rPr lang="en-US" b="1" dirty="0">
                <a:latin typeface="+mn-lt"/>
              </a:rPr>
              <a:t>Spectral embedding</a:t>
            </a:r>
          </a:p>
          <a:p>
            <a:pPr lvl="1"/>
            <a:r>
              <a:rPr lang="en-US" b="1" dirty="0">
                <a:latin typeface="+mn-lt"/>
              </a:rPr>
              <a:t>Uniform Manifold Approximation and Projection (UMAP)</a:t>
            </a:r>
          </a:p>
          <a:p>
            <a:pPr lvl="1"/>
            <a:r>
              <a:rPr lang="en-US" dirty="0">
                <a:latin typeface="+mn-lt"/>
              </a:rPr>
              <a:t>t-distributed Stochastic Neighbor Embedding (t-SNE) – </a:t>
            </a:r>
            <a:r>
              <a:rPr lang="en-US" b="1" dirty="0">
                <a:latin typeface="+mn-lt"/>
              </a:rPr>
              <a:t>made obsolete by UMAP</a:t>
            </a:r>
          </a:p>
          <a:p>
            <a:pPr lvl="1"/>
            <a:r>
              <a:rPr lang="en-US" dirty="0">
                <a:latin typeface="+mn-lt"/>
              </a:rPr>
              <a:t>…..   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0472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Manifold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17428"/>
                <a:ext cx="11525250" cy="54583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Map high-dimensional space to a </a:t>
                </a:r>
                <a:r>
                  <a:rPr lang="en-US" b="1" dirty="0">
                    <a:cs typeface="Segoe UI" panose="020B0502040204020203" pitchFamily="34" charset="0"/>
                  </a:rPr>
                  <a:t>low dimensional manifold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A </a:t>
                </a:r>
                <a:r>
                  <a:rPr lang="en-US" b="1" dirty="0">
                    <a:cs typeface="Segoe UI" panose="020B0502040204020203" pitchFamily="34" charset="0"/>
                  </a:rPr>
                  <a:t>manifold is a low dimensional surface </a:t>
                </a:r>
                <a:r>
                  <a:rPr lang="en-US" dirty="0">
                    <a:cs typeface="Segoe UI" panose="020B0502040204020203" pitchFamily="34" charset="0"/>
                  </a:rPr>
                  <a:t>in a high-dimensional space 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Linear manifold is a </a:t>
                </a:r>
                <a:r>
                  <a:rPr lang="en-US" b="1" dirty="0">
                    <a:cs typeface="Segoe UI" panose="020B0502040204020203" pitchFamily="34" charset="0"/>
                  </a:rPr>
                  <a:t>hyperplane</a:t>
                </a:r>
                <a:r>
                  <a:rPr lang="en-US" dirty="0">
                    <a:cs typeface="Segoe UI" panose="020B0502040204020203" pitchFamily="34" charset="0"/>
                  </a:rPr>
                  <a:t> – PCA, SVD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Nonlinear manifolds for more complex embeddings – our focus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Often used as a </a:t>
                </a:r>
                <a:r>
                  <a:rPr lang="en-US" b="1" dirty="0">
                    <a:cs typeface="Segoe UI" panose="020B0502040204020203" pitchFamily="34" charset="0"/>
                  </a:rPr>
                  <a:t>visualization</a:t>
                </a:r>
                <a:r>
                  <a:rPr lang="en-US" dirty="0">
                    <a:cs typeface="Segoe UI" panose="020B0502040204020203" pitchFamily="34" charset="0"/>
                  </a:rPr>
                  <a:t> technique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Human perception generally fails beyond a few dimensions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Mapping to a manifold creates low-dimensional (2-d or 3-d) projection of complex data relationships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Or, </a:t>
                </a:r>
                <a:r>
                  <a:rPr lang="en-US" b="1" dirty="0">
                    <a:cs typeface="Segoe UI" panose="020B0502040204020203" pitchFamily="34" charset="0"/>
                  </a:rPr>
                  <a:t>reduce dimensionality and orthogonalize </a:t>
                </a:r>
                <a:r>
                  <a:rPr lang="en-US" dirty="0">
                    <a:cs typeface="Segoe UI" panose="020B0502040204020203" pitchFamily="34" charset="0"/>
                  </a:rPr>
                  <a:t>to improve performance of ML models, supervised or unsupervised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Need to determine number of components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b="1" dirty="0">
                    <a:solidFill>
                      <a:srgbClr val="C00000"/>
                    </a:solidFill>
                    <a:cs typeface="Segoe UI" panose="020B0502040204020203" pitchFamily="34" charset="0"/>
                  </a:rPr>
                  <a:t>Generally, need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𝐦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&gt;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𝟐</m:t>
                    </m:r>
                  </m:oMath>
                </a14:m>
                <a:endParaRPr lang="en-US" b="1" dirty="0">
                  <a:solidFill>
                    <a:srgbClr val="C00000"/>
                  </a:solidFill>
                  <a:cs typeface="Segoe UI" panose="020B0502040204020203" pitchFamily="34" charset="0"/>
                </a:endParaRPr>
              </a:p>
              <a:p>
                <a:pPr lvl="1"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17428"/>
                <a:ext cx="11525250" cy="5458357"/>
              </a:xfrm>
              <a:blipFill>
                <a:blip r:embed="rId2"/>
                <a:stretch>
                  <a:fillRect l="-1058" t="-1899" r="-1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40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Manifold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17428"/>
                <a:ext cx="11525250" cy="54583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Map high-dimensional space to a </a:t>
                </a:r>
                <a:r>
                  <a:rPr lang="en-US" b="1" dirty="0">
                    <a:cs typeface="Segoe UI" panose="020B0502040204020203" pitchFamily="34" charset="0"/>
                  </a:rPr>
                  <a:t>low dimensional manifold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Start with </a:t>
                </a:r>
                <a:r>
                  <a:rPr lang="en-US" b="1" dirty="0">
                    <a:cs typeface="Segoe UI" panose="020B0502040204020203" pitchFamily="34" charset="0"/>
                  </a:rPr>
                  <a:t>samples in a high dimensional space</a:t>
                </a:r>
                <a:r>
                  <a:rPr lang="en-US" dirty="0"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    </a:t>
                </a:r>
              </a:p>
              <a:p>
                <a:r>
                  <a:rPr lang="en-US" b="1" dirty="0">
                    <a:cs typeface="Segoe UI" panose="020B0502040204020203" pitchFamily="34" charset="0"/>
                  </a:rPr>
                  <a:t>Map to low dimensional space</a:t>
                </a:r>
                <a:r>
                  <a:rPr lang="en-US" dirty="0"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Want a </a:t>
                </a:r>
                <a:r>
                  <a:rPr lang="en-US" b="1" dirty="0">
                    <a:cs typeface="Segoe UI" panose="020B0502040204020203" pitchFamily="34" charset="0"/>
                  </a:rPr>
                  <a:t>similarity preserving mapping</a:t>
                </a:r>
                <a:r>
                  <a:rPr lang="en-US" dirty="0">
                    <a:cs typeface="Segoe UI" panose="020B0502040204020203" pitchFamily="34" charset="0"/>
                  </a:rPr>
                  <a:t>     </a:t>
                </a:r>
              </a:p>
              <a:p>
                <a:pPr lvl="1"/>
                <a:r>
                  <a:rPr lang="en-US" dirty="0">
                    <a:cs typeface="Segoe UI" panose="020B0502040204020203" pitchFamily="34" charset="0"/>
                  </a:rPr>
                  <a:t>S</a:t>
                </a:r>
                <a:r>
                  <a:rPr lang="en-US" b="1" dirty="0">
                    <a:cs typeface="Segoe UI" panose="020B0502040204020203" pitchFamily="34" charset="0"/>
                  </a:rPr>
                  <a:t>imilarity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en-US" b="1" dirty="0">
                    <a:cs typeface="Segoe UI" panose="020B0502040204020203" pitchFamily="34" charset="0"/>
                  </a:rPr>
                  <a:t> should be comparable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  </a:t>
                </a:r>
              </a:p>
              <a:p>
                <a:pPr lvl="1"/>
                <a:r>
                  <a:rPr lang="en-US" dirty="0">
                    <a:cs typeface="Segoe UI" panose="020B0502040204020203" pitchFamily="34" charset="0"/>
                  </a:rPr>
                  <a:t>Ideally preserve marginal distributions of variables </a:t>
                </a:r>
              </a:p>
              <a:p>
                <a:pPr lvl="1"/>
                <a:r>
                  <a:rPr lang="en-US" dirty="0">
                    <a:cs typeface="Segoe UI" panose="020B0502040204020203" pitchFamily="34" charset="0"/>
                  </a:rPr>
                  <a:t>Use for clustering algorithms and other similarity search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b="1" dirty="0">
                    <a:cs typeface="Segoe UI" panose="020B0502040204020203" pitchFamily="34" charset="0"/>
                  </a:rPr>
                  <a:t>Visualize similarity of samples </a:t>
                </a:r>
                <a:r>
                  <a:rPr lang="en-US" dirty="0">
                    <a:cs typeface="Segoe UI" panose="020B0502040204020203" pitchFamily="34" charset="0"/>
                  </a:rPr>
                  <a:t>on manifold  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Samples close together have greater similarity   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Groups of similar points may separate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b="1" dirty="0">
                    <a:solidFill>
                      <a:srgbClr val="C00000"/>
                    </a:solidFill>
                    <a:cs typeface="Segoe UI" panose="020B0502040204020203" pitchFamily="34" charset="0"/>
                  </a:rPr>
                  <a:t>Not clusters, no assignments!</a:t>
                </a:r>
                <a:r>
                  <a:rPr lang="en-US" b="1" dirty="0">
                    <a:cs typeface="Segoe UI" panose="020B0502040204020203" pitchFamily="34" charset="0"/>
                  </a:rPr>
                  <a:t> 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17428"/>
                <a:ext cx="11525250" cy="5458357"/>
              </a:xfrm>
              <a:blipFill>
                <a:blip r:embed="rId2"/>
                <a:stretch>
                  <a:fillRect l="-1058" t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196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Manifold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22594"/>
            <a:ext cx="11525250" cy="5458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Map high-dimensional space to a </a:t>
            </a:r>
            <a:r>
              <a:rPr lang="en-US" b="1" dirty="0">
                <a:cs typeface="Segoe UI" panose="020B0502040204020203" pitchFamily="34" charset="0"/>
              </a:rPr>
              <a:t>low dimensional manifold </a:t>
            </a:r>
          </a:p>
          <a:p>
            <a:r>
              <a:rPr lang="en-US" dirty="0">
                <a:cs typeface="Segoe UI" panose="020B0502040204020203" pitchFamily="34" charset="0"/>
              </a:rPr>
              <a:t>Many algorithms have been developed   </a:t>
            </a:r>
          </a:p>
          <a:p>
            <a:r>
              <a:rPr lang="en-US" dirty="0">
                <a:cs typeface="Segoe UI" panose="020B0502040204020203" pitchFamily="34" charset="0"/>
                <a:hlinkClick r:id="rId2"/>
              </a:rPr>
              <a:t>Scikit-Learn supports 8 algorithms</a:t>
            </a:r>
            <a:r>
              <a:rPr lang="en-US" dirty="0">
                <a:cs typeface="Segoe UI" panose="020B0502040204020203" pitchFamily="34" charset="0"/>
              </a:rPr>
              <a:t> + PCA  </a:t>
            </a:r>
          </a:p>
          <a:p>
            <a:r>
              <a:rPr lang="en-US" dirty="0">
                <a:cs typeface="Segoe UI" panose="020B0502040204020203" pitchFamily="34" charset="0"/>
              </a:rPr>
              <a:t>PCA finds projection of PCs is on a </a:t>
            </a:r>
            <a:r>
              <a:rPr lang="en-US" b="1" dirty="0">
                <a:cs typeface="Segoe UI" panose="020B0502040204020203" pitchFamily="34" charset="0"/>
              </a:rPr>
              <a:t>linear manifold or hyperplane</a:t>
            </a:r>
          </a:p>
          <a:p>
            <a:r>
              <a:rPr lang="en-US" dirty="0">
                <a:cs typeface="Segoe UI" panose="020B0502040204020203" pitchFamily="34" charset="0"/>
              </a:rPr>
              <a:t>We will look at two nonlinear </a:t>
            </a:r>
            <a:r>
              <a:rPr lang="en-US" b="1" dirty="0">
                <a:cs typeface="Segoe UI" panose="020B0502040204020203" pitchFamily="34" charset="0"/>
              </a:rPr>
              <a:t>unsupervised algorithms </a:t>
            </a:r>
            <a:r>
              <a:rPr lang="en-US" dirty="0">
                <a:cs typeface="Segoe UI" panose="020B0502040204020203" pitchFamily="34" charset="0"/>
              </a:rPr>
              <a:t>in detail:  </a:t>
            </a:r>
          </a:p>
          <a:p>
            <a:pPr lvl="1"/>
            <a:r>
              <a:rPr lang="en-US" dirty="0">
                <a:cs typeface="Segoe UI" panose="020B0502040204020203" pitchFamily="34" charset="0"/>
              </a:rPr>
              <a:t>Spectral embedding   </a:t>
            </a:r>
          </a:p>
          <a:p>
            <a:pPr lvl="1"/>
            <a:r>
              <a:rPr lang="en-US" dirty="0">
                <a:cs typeface="Segoe UI" panose="020B0502040204020203" pitchFamily="34" charset="0"/>
              </a:rPr>
              <a:t>UMAP </a:t>
            </a: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4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8851A-1B74-9C6B-DB1E-4A5DA763F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72904-32D2-794A-7024-797AD7E08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72896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Manifold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05BB7-616F-D5D6-A5A9-49B3712D7BC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17428"/>
            <a:ext cx="5564086" cy="54583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Example: PCA is linear mapping to hyperplane manifold   </a:t>
            </a:r>
          </a:p>
          <a:p>
            <a:r>
              <a:rPr lang="en-US" dirty="0">
                <a:cs typeface="Segoe UI" panose="020B0502040204020203" pitchFamily="34" charset="0"/>
              </a:rPr>
              <a:t>Observed values are shown as red dots</a:t>
            </a:r>
          </a:p>
          <a:p>
            <a:r>
              <a:rPr lang="en-US" dirty="0">
                <a:cs typeface="Segoe UI" panose="020B0502040204020203" pitchFamily="34" charset="0"/>
              </a:rPr>
              <a:t>The observed values are mapped to the hyperplane, shown as blue +</a:t>
            </a:r>
          </a:p>
          <a:p>
            <a:r>
              <a:rPr lang="en-US" dirty="0">
                <a:cs typeface="Segoe UI" panose="020B0502040204020203" pitchFamily="34" charset="0"/>
              </a:rPr>
              <a:t>The hyperplane represents the manifold </a:t>
            </a:r>
          </a:p>
          <a:p>
            <a:pPr lvl="1"/>
            <a:r>
              <a:rPr lang="en-US" dirty="0">
                <a:cs typeface="Segoe UI" panose="020B0502040204020203" pitchFamily="34" charset="0"/>
              </a:rPr>
              <a:t>Is lower-dimensional than original space  </a:t>
            </a:r>
          </a:p>
          <a:p>
            <a:pPr lvl="1"/>
            <a:r>
              <a:rPr lang="en-US" dirty="0">
                <a:cs typeface="Segoe UI" panose="020B0502040204020203" pitchFamily="34" charset="0"/>
              </a:rPr>
              <a:t>Principle axes on the hyperplane </a:t>
            </a:r>
          </a:p>
          <a:p>
            <a:pPr lvl="1"/>
            <a:r>
              <a:rPr lang="en-US" dirty="0">
                <a:cs typeface="Segoe UI" panose="020B0502040204020203" pitchFamily="34" charset="0"/>
              </a:rPr>
              <a:t>Manifold represents the least squares loss projection  </a:t>
            </a: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452B66-1043-5A6B-D976-8A676C690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798" y="77320"/>
            <a:ext cx="5965116" cy="6267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EAB3DD-37D6-2DE6-FB47-84772D148332}"/>
              </a:ext>
            </a:extLst>
          </p:cNvPr>
          <p:cNvSpPr txBox="1"/>
          <p:nvPr/>
        </p:nvSpPr>
        <p:spPr>
          <a:xfrm>
            <a:off x="6446829" y="6344953"/>
            <a:ext cx="55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Image from blog post by Nguyen Ha Thai 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39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Spectral Embedding</a:t>
            </a: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1547234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Spectral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4051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cs typeface="Segoe UI" panose="020B0502040204020203" pitchFamily="34" charset="0"/>
              </a:rPr>
              <a:t>Spectral embedding</a:t>
            </a:r>
            <a:r>
              <a:rPr lang="en-US" dirty="0">
                <a:cs typeface="Segoe UI" panose="020B0502040204020203" pitchFamily="34" charset="0"/>
              </a:rPr>
              <a:t> uses graph-based construction  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Creates a low-dimensional map of high dimensional space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Closely related to spectral clustering algorithm 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Uses </a:t>
            </a:r>
            <a:r>
              <a:rPr lang="en-US" dirty="0" err="1">
                <a:cs typeface="Segoe UI" panose="020B0502040204020203" pitchFamily="34" charset="0"/>
              </a:rPr>
              <a:t>eigendecomposition</a:t>
            </a:r>
            <a:r>
              <a:rPr lang="en-US" dirty="0">
                <a:cs typeface="Segoe UI" panose="020B0502040204020203" pitchFamily="34" charset="0"/>
              </a:rPr>
              <a:t> of </a:t>
            </a:r>
            <a:r>
              <a:rPr lang="en-US" b="1" dirty="0">
                <a:cs typeface="Segoe UI" panose="020B0502040204020203" pitchFamily="34" charset="0"/>
              </a:rPr>
              <a:t>graph Laplacian 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Maps to </a:t>
            </a:r>
            <a:r>
              <a:rPr lang="en-US" b="1" dirty="0">
                <a:cs typeface="Segoe UI" panose="020B0502040204020203" pitchFamily="34" charset="0"/>
              </a:rPr>
              <a:t>nonlinear manifold </a:t>
            </a:r>
            <a:r>
              <a:rPr lang="en-US" dirty="0">
                <a:cs typeface="Segoe UI" panose="020B0502040204020203" pitchFamily="34" charset="0"/>
              </a:rPr>
              <a:t>from high-dimensional space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Preserves distances of most similar pairs on graph   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  <a:hlinkClick r:id="rId2"/>
              </a:rPr>
              <a:t>A standard implementation in Scikit-Learn</a:t>
            </a:r>
            <a:r>
              <a:rPr lang="en-US" dirty="0">
                <a:cs typeface="Segoe UI" panose="020B0502040204020203" pitchFamily="34" charset="0"/>
              </a:rPr>
              <a:t>    </a:t>
            </a:r>
          </a:p>
          <a:p>
            <a:pPr>
              <a:tabLst>
                <a:tab pos="7543800" algn="l"/>
              </a:tabLst>
            </a:pPr>
            <a:r>
              <a:rPr lang="en-US" dirty="0" err="1">
                <a:cs typeface="Segoe UI" panose="020B0502040204020203" pitchFamily="34" charset="0"/>
                <a:hlinkClick r:id="rId3"/>
              </a:rPr>
              <a:t>Megaman</a:t>
            </a:r>
            <a:r>
              <a:rPr lang="en-US" dirty="0">
                <a:cs typeface="Segoe UI" panose="020B0502040204020203" pitchFamily="34" charset="0"/>
                <a:hlinkClick r:id="rId3"/>
              </a:rPr>
              <a:t> package</a:t>
            </a:r>
            <a:r>
              <a:rPr lang="en-US" dirty="0">
                <a:cs typeface="Segoe UI" panose="020B0502040204020203" pitchFamily="34" charset="0"/>
              </a:rPr>
              <a:t> has a highly scalable implementation</a:t>
            </a:r>
          </a:p>
          <a:p>
            <a:pPr lvl="1"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Based on SciPy sparse matrices </a:t>
            </a:r>
          </a:p>
          <a:p>
            <a:pPr lvl="1"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Optimized eigen-decomposition  </a:t>
            </a:r>
          </a:p>
          <a:p>
            <a:pPr lvl="1"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Getting behind on maintenance   </a:t>
            </a: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457200" lvl="1" indent="0">
              <a:buNone/>
              <a:tabLst>
                <a:tab pos="7543800" algn="l"/>
              </a:tabLst>
            </a:pPr>
            <a:r>
              <a:rPr lang="en-US" i="1" dirty="0">
                <a:cs typeface="Segoe UI" panose="020B0502040204020203" pitchFamily="34" charset="0"/>
              </a:rPr>
              <a:t>For tutorial on spectral clustering, see </a:t>
            </a:r>
            <a:r>
              <a:rPr lang="en-US" i="1" dirty="0">
                <a:cs typeface="Segoe UI" panose="020B0502040204020203" pitchFamily="34" charset="0"/>
                <a:hlinkClick r:id="rId4"/>
              </a:rPr>
              <a:t>van </a:t>
            </a:r>
            <a:r>
              <a:rPr lang="en-US" i="1" dirty="0" err="1">
                <a:cs typeface="Segoe UI" panose="020B0502040204020203" pitchFamily="34" charset="0"/>
                <a:hlinkClick r:id="rId4"/>
              </a:rPr>
              <a:t>Luxburg</a:t>
            </a:r>
            <a:r>
              <a:rPr lang="en-US" i="1" dirty="0">
                <a:cs typeface="Segoe UI" panose="020B0502040204020203" pitchFamily="34" charset="0"/>
                <a:hlinkClick r:id="rId4"/>
              </a:rPr>
              <a:t>, 2007</a:t>
            </a:r>
            <a:endParaRPr lang="en-US" i="1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69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Spectral Embedding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cs typeface="Segoe UI" panose="020B0502040204020203" pitchFamily="34" charset="0"/>
                  </a:rPr>
                  <a:t>Spectral embedding</a:t>
                </a:r>
                <a:r>
                  <a:rPr lang="en-US" dirty="0">
                    <a:cs typeface="Segoe UI" panose="020B0502040204020203" pitchFamily="34" charset="0"/>
                  </a:rPr>
                  <a:t> uses graph-based construction    </a:t>
                </a:r>
              </a:p>
              <a:p>
                <a:pPr marL="514350" indent="-514350">
                  <a:buFont typeface="+mj-lt"/>
                  <a:buAutoNum type="arabicPeriod"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Construct undirected weighted graph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Edge weights are similarities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Use nearest neighbor methods to form scalable sparse graph association matrix,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Construct degree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𝐷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with node degree on diagonal    </a:t>
                </a:r>
              </a:p>
              <a:p>
                <a:pPr marL="514350" indent="-514350">
                  <a:buFont typeface="+mj-lt"/>
                  <a:buAutoNum type="arabicPeriod"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Compute unnormalized or </a:t>
                </a:r>
                <a:r>
                  <a:rPr lang="en-US" b="1" dirty="0">
                    <a:cs typeface="Segoe UI" panose="020B0502040204020203" pitchFamily="34" charset="0"/>
                  </a:rPr>
                  <a:t>normalized graph Laplacian  </a:t>
                </a: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 For association matrix, </a:t>
                </a:r>
                <a:r>
                  <a:rPr lang="en-US" i="1" dirty="0">
                    <a:cs typeface="Segoe UI" panose="020B0502040204020203" pitchFamily="34" charset="0"/>
                  </a:rPr>
                  <a:t>A</a:t>
                </a:r>
                <a:r>
                  <a:rPr lang="en-US" dirty="0">
                    <a:cs typeface="Segoe UI" panose="020B0502040204020203" pitchFamily="34" charset="0"/>
                  </a:rPr>
                  <a:t>, and degree matrix, </a:t>
                </a:r>
                <a:r>
                  <a:rPr lang="en-US" i="1" dirty="0">
                    <a:cs typeface="Segoe UI" panose="020B0502040204020203" pitchFamily="34" charset="0"/>
                  </a:rPr>
                  <a:t>D</a:t>
                </a:r>
                <a:r>
                  <a:rPr lang="en-US" dirty="0">
                    <a:cs typeface="Segoe UI" panose="020B0502040204020203" pitchFamily="34" charset="0"/>
                  </a:rPr>
                  <a:t>    </a:t>
                </a: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</m:oMath>
                  </m:oMathPara>
                </a14:m>
                <a:endParaRPr lang="en-US" b="0" dirty="0"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𝑳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𝑰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𝑫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𝑨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𝑫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/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>
                  <a:cs typeface="Segoe UI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Partial </a:t>
                </a:r>
                <a:r>
                  <a:rPr lang="en-US" dirty="0" err="1">
                    <a:cs typeface="Segoe UI" panose="020B0502040204020203" pitchFamily="34" charset="0"/>
                  </a:rPr>
                  <a:t>eigendecomposition</a:t>
                </a:r>
                <a:r>
                  <a:rPr lang="en-US" dirty="0">
                    <a:cs typeface="Segoe UI" panose="020B0502040204020203" pitchFamily="34" charset="0"/>
                  </a:rPr>
                  <a:t>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Only need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:r>
                  <a:rPr lang="en-US" b="1" dirty="0">
                    <a:cs typeface="Segoe UI" panose="020B0502040204020203" pitchFamily="34" charset="0"/>
                  </a:rPr>
                  <a:t>smallest nonzero eigenvalues and eigenvectors </a:t>
                </a:r>
                <a:r>
                  <a:rPr lang="en-US" dirty="0">
                    <a:cs typeface="Segoe UI" panose="020B0502040204020203" pitchFamily="34" charset="0"/>
                  </a:rPr>
                  <a:t>for </a:t>
                </a:r>
                <a:r>
                  <a:rPr lang="en-US" b="1" i="1" dirty="0">
                    <a:cs typeface="Segoe UI" panose="020B0502040204020203" pitchFamily="34" charset="0"/>
                  </a:rPr>
                  <a:t>m</a:t>
                </a:r>
                <a:r>
                  <a:rPr lang="en-US" dirty="0">
                    <a:cs typeface="Segoe UI" panose="020B0502040204020203" pitchFamily="34" charset="0"/>
                  </a:rPr>
                  <a:t> dimensional manifold</a:t>
                </a:r>
              </a:p>
              <a:p>
                <a:pPr lvl="1"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  <a:blipFill>
                <a:blip r:embed="rId2"/>
                <a:stretch>
                  <a:fillRect l="-1111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45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Spectral Embedding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cs typeface="Segoe UI" panose="020B0502040204020203" pitchFamily="34" charset="0"/>
                  </a:rPr>
                  <a:t>Spectral embedding</a:t>
                </a:r>
                <a:r>
                  <a:rPr lang="en-US" dirty="0">
                    <a:cs typeface="Segoe UI" panose="020B0502040204020203" pitchFamily="34" charset="0"/>
                  </a:rPr>
                  <a:t> uses graph-based construction  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Spectral embedding manifold constructed from </a:t>
                </a:r>
                <a:r>
                  <a:rPr lang="en-US" i="1" dirty="0">
                    <a:cs typeface="Segoe UI" panose="020B0502040204020203" pitchFamily="34" charset="0"/>
                  </a:rPr>
                  <a:t>m</a:t>
                </a:r>
                <a:r>
                  <a:rPr lang="en-US" dirty="0">
                    <a:cs typeface="Segoe UI" panose="020B0502040204020203" pitchFamily="34" charset="0"/>
                  </a:rPr>
                  <a:t> eigenvectors of the normalized graph Laplacian,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𝑳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with the </a:t>
                </a:r>
                <a:r>
                  <a:rPr lang="en-US" b="1" dirty="0">
                    <a:cs typeface="Segoe UI" panose="020B0502040204020203" pitchFamily="34" charset="0"/>
                  </a:rPr>
                  <a:t>smallest eigenvalues</a:t>
                </a:r>
                <a:r>
                  <a:rPr lang="en-US" dirty="0">
                    <a:cs typeface="Segoe UI" panose="020B0502040204020203" pitchFamily="34" charset="0"/>
                  </a:rPr>
                  <a:t>, 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endParaRPr lang="en-US" b="1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want a projection that best preserves similarity for the normalized graph Laplacian,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𝑳</m:t>
                    </m:r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𝑰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𝑫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𝟐</m:t>
                            </m:r>
                          </m:den>
                        </m:f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𝑨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𝑫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𝟏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/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Eigenvector projection for smallest eigenvalues has highest similarity to the original high-dimensional space        </a:t>
                </a: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lvl="1"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  <a:blipFill>
                <a:blip r:embed="rId2"/>
                <a:stretch>
                  <a:fillRect l="-1058" t="-1804" r="-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56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96AE5-CFF3-51E3-51F2-96FCC1AF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6596-B6CA-D0F9-5E66-CA3D556E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Spectral Embedding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F83EE5-917A-1022-8EC8-DE33B8700F9E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6770371" cy="54051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Why is Spectral embedding a </a:t>
                </a:r>
                <a:r>
                  <a:rPr lang="en-US" b="1" dirty="0">
                    <a:cs typeface="Segoe UI" panose="020B0502040204020203" pitchFamily="34" charset="0"/>
                  </a:rPr>
                  <a:t>nonlinear model</a:t>
                </a:r>
                <a:r>
                  <a:rPr lang="en-US" dirty="0">
                    <a:cs typeface="Segoe UI" panose="020B0502040204020203" pitchFamily="34" charset="0"/>
                  </a:rPr>
                  <a:t>?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choose an affinity algorithm for graph construction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Nearest neighbor – for </a:t>
                </a:r>
                <a:r>
                  <a:rPr lang="en-US" dirty="0" err="1">
                    <a:cs typeface="Segoe UI" panose="020B0502040204020203" pitchFamily="34" charset="0"/>
                  </a:rPr>
                  <a:t>Sklearn</a:t>
                </a:r>
                <a:r>
                  <a:rPr lang="en-US" dirty="0">
                    <a:cs typeface="Segoe UI" panose="020B0502040204020203" pitchFamily="34" charset="0"/>
                  </a:rPr>
                  <a:t> </a:t>
                </a:r>
                <a:r>
                  <a:rPr lang="en-US" dirty="0">
                    <a:cs typeface="Segoe UI" panose="020B0502040204020203" pitchFamily="34" charset="0"/>
                    <a:hlinkClick r:id="rId2"/>
                  </a:rPr>
                  <a:t>many algorithms </a:t>
                </a:r>
                <a:r>
                  <a:rPr lang="en-US" dirty="0">
                    <a:cs typeface="Segoe UI" panose="020B0502040204020203" pitchFamily="34" charset="0"/>
                  </a:rPr>
                  <a:t>and </a:t>
                </a:r>
                <a:r>
                  <a:rPr lang="en-US" dirty="0">
                    <a:cs typeface="Segoe UI" panose="020B0502040204020203" pitchFamily="34" charset="0"/>
                    <a:hlinkClick r:id="rId3"/>
                  </a:rPr>
                  <a:t>metrics</a:t>
                </a:r>
                <a:endParaRPr lang="en-US" dirty="0">
                  <a:cs typeface="Segoe UI" panose="020B0502040204020203" pitchFamily="34" charset="0"/>
                </a:endParaRP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Radial basis function – a default choice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…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Example, </a:t>
                </a:r>
                <a:r>
                  <a:rPr lang="en-US" b="1" dirty="0">
                    <a:cs typeface="Segoe UI" panose="020B0502040204020203" pitchFamily="34" charset="0"/>
                    <a:hlinkClick r:id="rId4"/>
                  </a:rPr>
                  <a:t>radial basis functions</a:t>
                </a:r>
                <a:r>
                  <a:rPr lang="en-US" b="1" dirty="0">
                    <a:cs typeface="Segoe UI" panose="020B0502040204020203" pitchFamily="34" charset="0"/>
                  </a:rPr>
                  <a:t> (RBF)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RBF downweighs similarity with respect to distance using a Gaussian Kernel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Bandwidth or span of kernel,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𝜀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determines rate of weight decay</a:t>
                </a:r>
              </a:p>
              <a:p>
                <a:pPr lvl="1"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lvl="1"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F83EE5-917A-1022-8EC8-DE33B8700F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6770371" cy="5405194"/>
              </a:xfrm>
              <a:blipFill>
                <a:blip r:embed="rId5"/>
                <a:stretch>
                  <a:fillRect l="-1800" t="-1804" b="-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A1C0697-DB0C-A70D-5DB5-5A1C2A5C14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9885" y="1068848"/>
            <a:ext cx="4928119" cy="51859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75C77-F660-E96B-6EA1-50F55A818848}"/>
              </a:ext>
            </a:extLst>
          </p:cNvPr>
          <p:cNvSpPr txBox="1"/>
          <p:nvPr/>
        </p:nvSpPr>
        <p:spPr>
          <a:xfrm>
            <a:off x="7904136" y="6254791"/>
            <a:ext cx="380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Illustration from Wikipedia Commons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85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171176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  <a:hlinkClick r:id="rId2"/>
                  </a:rPr>
                  <a:t>UMAP (</a:t>
                </a:r>
                <a:r>
                  <a:rPr lang="en-US" dirty="0">
                    <a:hlinkClick r:id="rId2"/>
                  </a:rPr>
                  <a:t>McInnes</a:t>
                </a:r>
                <a:r>
                  <a:rPr lang="en-US" dirty="0">
                    <a:cs typeface="Segoe UI" panose="020B0502040204020203" pitchFamily="34" charset="0"/>
                    <a:hlinkClick r:id="rId2"/>
                  </a:rPr>
                  <a:t>, Healy and Melville, 2018) </a:t>
                </a:r>
                <a:r>
                  <a:rPr lang="en-US" dirty="0">
                    <a:cs typeface="Segoe UI" panose="020B0502040204020203" pitchFamily="34" charset="0"/>
                  </a:rPr>
                  <a:t>maps to a low-dimensional manifold from a nearest-neighbor graph      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UMAP is (arguably) the state of the art in manifold learning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A generalization of the </a:t>
                </a:r>
                <a:r>
                  <a:rPr lang="en-US" b="1" dirty="0">
                    <a:cs typeface="Segoe UI" panose="020B0502040204020203" pitchFamily="34" charset="0"/>
                  </a:rPr>
                  <a:t>now obsolete </a:t>
                </a:r>
                <a:r>
                  <a:rPr lang="en-US" b="1" dirty="0" err="1">
                    <a:cs typeface="Segoe UI" panose="020B0502040204020203" pitchFamily="34" charset="0"/>
                  </a:rPr>
                  <a:t>tSNE</a:t>
                </a:r>
                <a:endParaRPr lang="en-US" b="1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Uses topological properties of metric spaces to create graph, mapping a high-dimensional space to a low-dimensional Euclidian manifold 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UMAP attempts to preserve marginal probability distribution and distance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 err="1">
                    <a:cs typeface="Segoe UI" panose="020B0502040204020203" pitchFamily="34" charset="0"/>
                  </a:rPr>
                  <a:t>tSNE</a:t>
                </a:r>
                <a:r>
                  <a:rPr lang="en-US" dirty="0">
                    <a:cs typeface="Segoe UI" panose="020B0502040204020203" pitchFamily="34" charset="0"/>
                  </a:rPr>
                  <a:t> does not try to preserve marginal </a:t>
                </a:r>
                <a:r>
                  <a:rPr lang="en-US" dirty="0" err="1">
                    <a:cs typeface="Segoe UI" panose="020B0502040204020203" pitchFamily="34" charset="0"/>
                  </a:rPr>
                  <a:t>distiributions</a:t>
                </a:r>
                <a:r>
                  <a:rPr lang="en-US" dirty="0">
                    <a:cs typeface="Segoe UI" panose="020B0502040204020203" pitchFamily="34" charset="0"/>
                  </a:rPr>
                  <a:t> 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Can be used to reduce dimensions for algorithms like clustering models</a:t>
                </a: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n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&gt;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𝒎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≥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 </a:t>
                </a:r>
                <a:r>
                  <a:rPr lang="en-US" dirty="0">
                    <a:cs typeface="Segoe UI" panose="020B0502040204020203" pitchFamily="34" charset="0"/>
                    <a:hlinkClick r:id="rId3"/>
                  </a:rPr>
                  <a:t>UMAP package</a:t>
                </a:r>
                <a:r>
                  <a:rPr lang="en-US" dirty="0">
                    <a:cs typeface="Segoe UI" panose="020B0502040204020203" pitchFamily="34" charset="0"/>
                  </a:rPr>
                  <a:t> has Python and R APIs and is very well documented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There are many variations and applications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b="1" dirty="0">
                    <a:solidFill>
                      <a:srgbClr val="FF0000"/>
                    </a:solidFill>
                    <a:cs typeface="Segoe UI" panose="020B0502040204020203" pitchFamily="34" charset="0"/>
                  </a:rPr>
                  <a:t>Read the docs!    </a:t>
                </a: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  <a:blipFill>
                <a:blip r:embed="rId4"/>
                <a:stretch>
                  <a:fillRect l="-952" t="-2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023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405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Key properties of UMAP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UMAP attempts to preserve probability distribution and distance  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Assumes the observations on a manifold are locally connected and uniformly distributed</a:t>
            </a:r>
          </a:p>
          <a:p>
            <a:pPr lvl="1"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High-dimensional manifold can use </a:t>
            </a:r>
            <a:r>
              <a:rPr lang="en-US" b="1" dirty="0">
                <a:cs typeface="Segoe UI" panose="020B0502040204020203" pitchFamily="34" charset="0"/>
              </a:rPr>
              <a:t>most any distance metric </a:t>
            </a:r>
          </a:p>
          <a:p>
            <a:pPr lvl="1"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Low-dimensional manifold is </a:t>
            </a:r>
            <a:r>
              <a:rPr lang="en-US" b="1" dirty="0">
                <a:cs typeface="Segoe UI" panose="020B0502040204020203" pitchFamily="34" charset="0"/>
              </a:rPr>
              <a:t>Euclidean</a:t>
            </a:r>
            <a:r>
              <a:rPr lang="en-US" dirty="0">
                <a:cs typeface="Segoe UI" panose="020B0502040204020203" pitchFamily="34" charset="0"/>
              </a:rPr>
              <a:t>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Algorithm relies on properties of </a:t>
            </a:r>
            <a:r>
              <a:rPr lang="en-US" b="1" dirty="0">
                <a:cs typeface="Segoe UI" panose="020B0502040204020203" pitchFamily="34" charset="0"/>
                <a:hlinkClick r:id="rId2"/>
              </a:rPr>
              <a:t>Reimann manifolds</a:t>
            </a:r>
            <a:endParaRPr lang="en-US" b="1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Reimann manifolds are </a:t>
            </a:r>
            <a:r>
              <a:rPr lang="en-US" b="1" dirty="0">
                <a:cs typeface="Segoe UI" panose="020B0502040204020203" pitchFamily="34" charset="0"/>
              </a:rPr>
              <a:t>locally smooth</a:t>
            </a:r>
          </a:p>
          <a:p>
            <a:pPr lvl="1"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Reimann manifolds have </a:t>
            </a:r>
            <a:r>
              <a:rPr lang="en-US" b="1" dirty="0">
                <a:cs typeface="Segoe UI" panose="020B0502040204020203" pitchFamily="34" charset="0"/>
              </a:rPr>
              <a:t>continuous first derivatives       </a:t>
            </a:r>
          </a:p>
          <a:p>
            <a:pPr marL="457200" lvl="1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60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405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Key properties of UMAP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Low-dimensional Euclidean Reimann manifold has desirable properties  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Human perception of visualizations in Euclidean space is good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Euclidean space has advantages for machine learning   </a:t>
            </a:r>
          </a:p>
          <a:p>
            <a:pPr lvl="1"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Wide choice of possible algorithms </a:t>
            </a:r>
          </a:p>
          <a:p>
            <a:pPr lvl="1"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Can compute sum of squares  </a:t>
            </a:r>
          </a:p>
          <a:p>
            <a:pPr lvl="1"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Clusters are elliptical or spherical    </a:t>
            </a:r>
          </a:p>
          <a:p>
            <a:pPr marL="457200" lvl="1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19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4921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How does the </a:t>
            </a:r>
            <a:r>
              <a:rPr lang="en-US" dirty="0">
                <a:cs typeface="Segoe UI" panose="020B0502040204020203" pitchFamily="34" charset="0"/>
                <a:hlinkClick r:id="rId2"/>
              </a:rPr>
              <a:t>UMAP algorithm work</a:t>
            </a:r>
            <a:r>
              <a:rPr lang="en-US" dirty="0">
                <a:cs typeface="Segoe UI" panose="020B0502040204020203" pitchFamily="34" charset="0"/>
              </a:rPr>
              <a:t>? </a:t>
            </a:r>
          </a:p>
          <a:p>
            <a:pPr marL="0" indent="0">
              <a:buNone/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Algorithm for mapping to low dimensional Euclidian space has 4 major steps:   </a:t>
            </a:r>
          </a:p>
          <a:p>
            <a:pPr marL="514350" indent="-514350">
              <a:buFont typeface="+mj-lt"/>
              <a:buAutoNum type="arabicPeriod"/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Locally compute </a:t>
            </a:r>
            <a:r>
              <a:rPr lang="en-US" b="1" dirty="0">
                <a:cs typeface="Segoe UI" panose="020B0502040204020203" pitchFamily="34" charset="0"/>
              </a:rPr>
              <a:t>fuzzy weights </a:t>
            </a:r>
          </a:p>
          <a:p>
            <a:pPr marL="514350" indent="-514350">
              <a:buFont typeface="+mj-lt"/>
              <a:buAutoNum type="arabicPeriod"/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Build </a:t>
            </a:r>
            <a:r>
              <a:rPr lang="en-US" b="1" dirty="0">
                <a:cs typeface="Segoe UI" panose="020B0502040204020203" pitchFamily="34" charset="0"/>
              </a:rPr>
              <a:t>nearest-neighbor graph  </a:t>
            </a:r>
          </a:p>
          <a:p>
            <a:pPr marL="514350" indent="-514350">
              <a:buFont typeface="+mj-lt"/>
              <a:buAutoNum type="arabicPeriod"/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Use spectral embedding to find good starting transformation   </a:t>
            </a:r>
          </a:p>
          <a:p>
            <a:pPr marL="514350" indent="-514350">
              <a:buFont typeface="+mj-lt"/>
              <a:buAutoNum type="arabicPeriod"/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Minimize </a:t>
            </a:r>
            <a:r>
              <a:rPr lang="en-US" b="1" dirty="0">
                <a:cs typeface="Segoe UI" panose="020B0502040204020203" pitchFamily="34" charset="0"/>
              </a:rPr>
              <a:t>cross-entropy </a:t>
            </a:r>
            <a:r>
              <a:rPr lang="en-US" dirty="0">
                <a:cs typeface="Segoe UI" panose="020B0502040204020203" pitchFamily="34" charset="0"/>
              </a:rPr>
              <a:t>to optimize low-dimensional Euclidian manifold and preserve marginal distributions </a:t>
            </a:r>
          </a:p>
          <a:p>
            <a:pPr marL="457200" lvl="1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15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68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How does the </a:t>
            </a:r>
            <a:r>
              <a:rPr lang="en-US" dirty="0">
                <a:cs typeface="Segoe UI" panose="020B0502040204020203" pitchFamily="34" charset="0"/>
                <a:hlinkClick r:id="rId2"/>
              </a:rPr>
              <a:t>UMAP algorithm work</a:t>
            </a:r>
            <a:r>
              <a:rPr lang="en-US" dirty="0">
                <a:cs typeface="Segoe UI" panose="020B0502040204020203" pitchFamily="34" charset="0"/>
              </a:rPr>
              <a:t>? </a:t>
            </a:r>
          </a:p>
          <a:p>
            <a:pPr marL="457200" lvl="1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A2E91-D069-B0ED-49B7-BCA2180C1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624" y="2130217"/>
            <a:ext cx="6805912" cy="394662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DA6765-A336-60EC-562D-62242214EAE7}"/>
              </a:ext>
            </a:extLst>
          </p:cNvPr>
          <p:cNvSpPr txBox="1">
            <a:spLocks/>
          </p:cNvSpPr>
          <p:nvPr/>
        </p:nvSpPr>
        <p:spPr>
          <a:xfrm>
            <a:off x="379514" y="1996005"/>
            <a:ext cx="4782927" cy="4331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Segoe UI" panose="020B0502040204020203" pitchFamily="34" charset="0"/>
              </a:rPr>
              <a:t>Consider an example of data on a manifold    </a:t>
            </a:r>
          </a:p>
          <a:p>
            <a:r>
              <a:rPr lang="en-US" dirty="0">
                <a:cs typeface="Segoe UI" panose="020B0502040204020203" pitchFamily="34" charset="0"/>
              </a:rPr>
              <a:t>Is a two-dimensional space  </a:t>
            </a:r>
          </a:p>
          <a:p>
            <a:r>
              <a:rPr lang="en-US" dirty="0">
                <a:cs typeface="Segoe UI" panose="020B0502040204020203" pitchFamily="34" charset="0"/>
              </a:rPr>
              <a:t>Sample values are predominantly on a </a:t>
            </a:r>
            <a:r>
              <a:rPr lang="en-US" b="1" dirty="0">
                <a:cs typeface="Segoe UI" panose="020B0502040204020203" pitchFamily="34" charset="0"/>
              </a:rPr>
              <a:t>1-dimensional smooth (Reimann) manifold</a:t>
            </a:r>
          </a:p>
          <a:p>
            <a:r>
              <a:rPr lang="en-US" dirty="0">
                <a:cs typeface="Segoe UI" panose="020B0502040204020203" pitchFamily="34" charset="0"/>
              </a:rPr>
              <a:t>How do we construct the low-dimensional manifold?   </a:t>
            </a:r>
          </a:p>
          <a:p>
            <a:pPr marL="457200" lvl="1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9DA3F6-77F8-F709-2502-5C69EF9CB0A7}"/>
              </a:ext>
            </a:extLst>
          </p:cNvPr>
          <p:cNvSpPr txBox="1"/>
          <p:nvPr/>
        </p:nvSpPr>
        <p:spPr>
          <a:xfrm>
            <a:off x="6557548" y="6227619"/>
            <a:ext cx="508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From UMAP documentation, Leland McInnis,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06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68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How does the </a:t>
            </a:r>
            <a:r>
              <a:rPr lang="en-US" dirty="0">
                <a:cs typeface="Segoe UI" panose="020B0502040204020203" pitchFamily="34" charset="0"/>
                <a:hlinkClick r:id="rId2"/>
              </a:rPr>
              <a:t>UMAP algorithm work</a:t>
            </a:r>
            <a:r>
              <a:rPr lang="en-US" dirty="0">
                <a:cs typeface="Segoe UI" panose="020B0502040204020203" pitchFamily="34" charset="0"/>
              </a:rPr>
              <a:t>? </a:t>
            </a:r>
          </a:p>
          <a:p>
            <a:pPr marL="457200" lvl="1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DA6765-A336-60EC-562D-62242214EAE7}"/>
              </a:ext>
            </a:extLst>
          </p:cNvPr>
          <p:cNvSpPr txBox="1">
            <a:spLocks/>
          </p:cNvSpPr>
          <p:nvPr/>
        </p:nvSpPr>
        <p:spPr>
          <a:xfrm>
            <a:off x="379514" y="1907177"/>
            <a:ext cx="11471110" cy="2591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Segoe UI" panose="020B0502040204020203" pitchFamily="34" charset="0"/>
              </a:rPr>
              <a:t>Construct the manifold as a set of simplexes</a:t>
            </a:r>
          </a:p>
          <a:p>
            <a:r>
              <a:rPr lang="en-US" dirty="0">
                <a:cs typeface="Segoe UI" panose="020B0502040204020203" pitchFamily="34" charset="0"/>
              </a:rPr>
              <a:t>K-simplex has k+1 fully connected nodes </a:t>
            </a:r>
          </a:p>
          <a:p>
            <a:r>
              <a:rPr lang="en-US" dirty="0">
                <a:cs typeface="Segoe UI" panose="020B0502040204020203" pitchFamily="34" charset="0"/>
              </a:rPr>
              <a:t>Can construct high-dimensional shapes by joining simplices  </a:t>
            </a:r>
          </a:p>
          <a:p>
            <a:pPr lvl="1"/>
            <a:r>
              <a:rPr lang="en-US" dirty="0">
                <a:cs typeface="Segoe UI" panose="020B0502040204020203" pitchFamily="34" charset="0"/>
              </a:rPr>
              <a:t>Simplices joined on common faces</a:t>
            </a:r>
          </a:p>
          <a:p>
            <a:r>
              <a:rPr lang="en-US" dirty="0">
                <a:cs typeface="Segoe UI" panose="020B0502040204020203" pitchFamily="34" charset="0"/>
              </a:rPr>
              <a:t>Represent complex manifold as </a:t>
            </a:r>
            <a:r>
              <a:rPr lang="en-US" b="1" dirty="0">
                <a:cs typeface="Segoe UI" panose="020B0502040204020203" pitchFamily="34" charset="0"/>
              </a:rPr>
              <a:t>simplicial complexes  </a:t>
            </a:r>
          </a:p>
          <a:p>
            <a:pPr marL="457200" lvl="1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03A321-E775-D6B9-EF0A-43F8EA1B6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698" y="4451987"/>
            <a:ext cx="8923907" cy="19385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02EAE6-8FA0-E316-BD62-6B0296AE449B}"/>
              </a:ext>
            </a:extLst>
          </p:cNvPr>
          <p:cNvSpPr txBox="1"/>
          <p:nvPr/>
        </p:nvSpPr>
        <p:spPr>
          <a:xfrm>
            <a:off x="3597491" y="6321603"/>
            <a:ext cx="508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From UMAP documentation, Leland McInnis,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84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68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How does the </a:t>
            </a:r>
            <a:r>
              <a:rPr lang="en-US" dirty="0">
                <a:cs typeface="Segoe UI" panose="020B0502040204020203" pitchFamily="34" charset="0"/>
                <a:hlinkClick r:id="rId2"/>
              </a:rPr>
              <a:t>UMAP algorithm work</a:t>
            </a:r>
            <a:r>
              <a:rPr lang="en-US" dirty="0">
                <a:cs typeface="Segoe UI" panose="020B0502040204020203" pitchFamily="34" charset="0"/>
              </a:rPr>
              <a:t>? </a:t>
            </a: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DA6765-A336-60EC-562D-62242214EAE7}"/>
              </a:ext>
            </a:extLst>
          </p:cNvPr>
          <p:cNvSpPr txBox="1">
            <a:spLocks/>
          </p:cNvSpPr>
          <p:nvPr/>
        </p:nvSpPr>
        <p:spPr>
          <a:xfrm>
            <a:off x="379514" y="1907177"/>
            <a:ext cx="7531862" cy="47966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Example of simplicial complex construction 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Start with some observations, 0-simplicies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Construct a first 1-simplex, joining faces of 2 0-simplicies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 Add 2 more 1-simplices, constructing a first 2-simplex 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Construct a second 2-simplex, creating a simplicial complex along the common face   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Construct a third 2-simplex, extending the simplicial complex along the common face </a:t>
            </a: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8E026C-1D38-B623-AE48-219451F703DD}"/>
              </a:ext>
            </a:extLst>
          </p:cNvPr>
          <p:cNvSpPr/>
          <p:nvPr/>
        </p:nvSpPr>
        <p:spPr>
          <a:xfrm>
            <a:off x="8847011" y="3429000"/>
            <a:ext cx="125404" cy="1201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38DC1D-486E-5BF0-044D-A13935A2F51C}"/>
              </a:ext>
            </a:extLst>
          </p:cNvPr>
          <p:cNvSpPr/>
          <p:nvPr/>
        </p:nvSpPr>
        <p:spPr>
          <a:xfrm>
            <a:off x="9636361" y="2318336"/>
            <a:ext cx="125404" cy="1201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364730-BB78-A8D0-1390-630DE16075F1}"/>
              </a:ext>
            </a:extLst>
          </p:cNvPr>
          <p:cNvSpPr/>
          <p:nvPr/>
        </p:nvSpPr>
        <p:spPr>
          <a:xfrm>
            <a:off x="10590361" y="3386511"/>
            <a:ext cx="125404" cy="1201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C5EE3A-6D30-7EA6-FF8F-2D33051BA2B7}"/>
              </a:ext>
            </a:extLst>
          </p:cNvPr>
          <p:cNvSpPr/>
          <p:nvPr/>
        </p:nvSpPr>
        <p:spPr>
          <a:xfrm>
            <a:off x="10244508" y="4539665"/>
            <a:ext cx="125404" cy="1201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309B7A-5510-41FE-AE7F-5800A89BAF78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8954050" y="2420914"/>
            <a:ext cx="700676" cy="10256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6A7FC9-CFA2-1BF6-1563-B667DBB039EF}"/>
              </a:ext>
            </a:extLst>
          </p:cNvPr>
          <p:cNvCxnSpPr>
            <a:cxnSpLocks/>
            <a:stCxn id="5" idx="4"/>
            <a:endCxn id="10" idx="1"/>
          </p:cNvCxnSpPr>
          <p:nvPr/>
        </p:nvCxnSpPr>
        <p:spPr>
          <a:xfrm>
            <a:off x="8909713" y="3549178"/>
            <a:ext cx="1353160" cy="10080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24122D-829C-7607-692C-6F8230A0A5C6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 flipV="1">
            <a:off x="8972415" y="3446600"/>
            <a:ext cx="1617946" cy="4248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82A567-5829-B416-5309-FC31B4DA64F2}"/>
              </a:ext>
            </a:extLst>
          </p:cNvPr>
          <p:cNvCxnSpPr>
            <a:cxnSpLocks/>
            <a:stCxn id="9" idx="1"/>
            <a:endCxn id="8" idx="5"/>
          </p:cNvCxnSpPr>
          <p:nvPr/>
        </p:nvCxnSpPr>
        <p:spPr>
          <a:xfrm flipH="1" flipV="1">
            <a:off x="9743400" y="2420914"/>
            <a:ext cx="865326" cy="98319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E92BC6-37A6-00D6-F5CB-69D6930E0A86}"/>
              </a:ext>
            </a:extLst>
          </p:cNvPr>
          <p:cNvCxnSpPr>
            <a:cxnSpLocks/>
            <a:stCxn id="9" idx="4"/>
            <a:endCxn id="10" idx="7"/>
          </p:cNvCxnSpPr>
          <p:nvPr/>
        </p:nvCxnSpPr>
        <p:spPr>
          <a:xfrm flipH="1">
            <a:off x="10351547" y="3506689"/>
            <a:ext cx="301516" cy="105057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3C2E54B3-A1B4-534A-4C2A-F6365C9DB711}"/>
              </a:ext>
            </a:extLst>
          </p:cNvPr>
          <p:cNvSpPr/>
          <p:nvPr/>
        </p:nvSpPr>
        <p:spPr>
          <a:xfrm>
            <a:off x="8847011" y="4747779"/>
            <a:ext cx="125404" cy="1201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07B1BE2-C012-C8DF-BE72-35A747DC669A}"/>
              </a:ext>
            </a:extLst>
          </p:cNvPr>
          <p:cNvCxnSpPr>
            <a:cxnSpLocks/>
            <a:stCxn id="5" idx="4"/>
            <a:endCxn id="41" idx="4"/>
          </p:cNvCxnSpPr>
          <p:nvPr/>
        </p:nvCxnSpPr>
        <p:spPr>
          <a:xfrm>
            <a:off x="8909713" y="3549178"/>
            <a:ext cx="0" cy="131877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EB22E51-126E-6A4A-DF29-DF471E2C13E4}"/>
              </a:ext>
            </a:extLst>
          </p:cNvPr>
          <p:cNvCxnSpPr>
            <a:cxnSpLocks/>
            <a:stCxn id="10" idx="3"/>
            <a:endCxn id="41" idx="6"/>
          </p:cNvCxnSpPr>
          <p:nvPr/>
        </p:nvCxnSpPr>
        <p:spPr>
          <a:xfrm flipH="1">
            <a:off x="8972415" y="4642243"/>
            <a:ext cx="1290458" cy="16562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A2D1AF0-AB2D-5D21-6213-1A4BB3A46716}"/>
              </a:ext>
            </a:extLst>
          </p:cNvPr>
          <p:cNvCxnSpPr>
            <a:cxnSpLocks/>
          </p:cNvCxnSpPr>
          <p:nvPr/>
        </p:nvCxnSpPr>
        <p:spPr>
          <a:xfrm flipV="1">
            <a:off x="6829586" y="3506689"/>
            <a:ext cx="2762437" cy="1453931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ED69BC1-C832-4EFC-0232-ABC8F943077E}"/>
              </a:ext>
            </a:extLst>
          </p:cNvPr>
          <p:cNvCxnSpPr>
            <a:cxnSpLocks/>
          </p:cNvCxnSpPr>
          <p:nvPr/>
        </p:nvCxnSpPr>
        <p:spPr>
          <a:xfrm flipV="1">
            <a:off x="6886414" y="4109085"/>
            <a:ext cx="2686211" cy="1769939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0D1FD6E-618D-4EBF-10A6-D3A385A08FC8}"/>
              </a:ext>
            </a:extLst>
          </p:cNvPr>
          <p:cNvCxnSpPr>
            <a:cxnSpLocks/>
          </p:cNvCxnSpPr>
          <p:nvPr/>
        </p:nvCxnSpPr>
        <p:spPr>
          <a:xfrm flipV="1">
            <a:off x="7563173" y="2805193"/>
            <a:ext cx="2464230" cy="38229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07C960-BACD-3B4F-712F-CC9579735592}"/>
              </a:ext>
            </a:extLst>
          </p:cNvPr>
          <p:cNvCxnSpPr>
            <a:cxnSpLocks/>
          </p:cNvCxnSpPr>
          <p:nvPr/>
        </p:nvCxnSpPr>
        <p:spPr>
          <a:xfrm flipV="1">
            <a:off x="7490847" y="3135824"/>
            <a:ext cx="1663485" cy="83690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69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4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68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How does the </a:t>
            </a:r>
            <a:r>
              <a:rPr lang="en-US" dirty="0">
                <a:cs typeface="Segoe UI" panose="020B0502040204020203" pitchFamily="34" charset="0"/>
                <a:hlinkClick r:id="rId2"/>
              </a:rPr>
              <a:t>UMAP algorithm work</a:t>
            </a:r>
            <a:r>
              <a:rPr lang="en-US" dirty="0">
                <a:cs typeface="Segoe UI" panose="020B0502040204020203" pitchFamily="34" charset="0"/>
              </a:rPr>
              <a:t>? </a:t>
            </a:r>
          </a:p>
          <a:p>
            <a:pPr marL="457200" lvl="1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DA6765-A336-60EC-562D-62242214EAE7}"/>
              </a:ext>
            </a:extLst>
          </p:cNvPr>
          <p:cNvSpPr txBox="1">
            <a:spLocks/>
          </p:cNvSpPr>
          <p:nvPr/>
        </p:nvSpPr>
        <p:spPr>
          <a:xfrm>
            <a:off x="379514" y="1996005"/>
            <a:ext cx="4782927" cy="4331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Segoe UI" panose="020B0502040204020203" pitchFamily="34" charset="0"/>
              </a:rPr>
              <a:t>Find manifold from connectivity of nearest neighbor graph  </a:t>
            </a:r>
          </a:p>
          <a:p>
            <a:r>
              <a:rPr lang="en-US">
                <a:cs typeface="Segoe UI" panose="020B0502040204020203" pitchFamily="34" charset="0"/>
              </a:rPr>
              <a:t>Place hyper-balls </a:t>
            </a:r>
            <a:r>
              <a:rPr lang="en-US" dirty="0">
                <a:cs typeface="Segoe UI" panose="020B0502040204020203" pitchFamily="34" charset="0"/>
              </a:rPr>
              <a:t>(circles in 2-d) of radius r on each point   </a:t>
            </a:r>
          </a:p>
          <a:p>
            <a:r>
              <a:rPr lang="en-US" dirty="0">
                <a:cs typeface="Segoe UI" panose="020B0502040204020203" pitchFamily="34" charset="0"/>
              </a:rPr>
              <a:t>Nearest neighbors within distance r</a:t>
            </a:r>
          </a:p>
          <a:p>
            <a:r>
              <a:rPr lang="en-US" dirty="0">
                <a:cs typeface="Segoe UI" panose="020B0502040204020203" pitchFamily="34" charset="0"/>
              </a:rPr>
              <a:t>Ideal if vertices (observations) </a:t>
            </a:r>
            <a:r>
              <a:rPr lang="en-US" b="1" dirty="0">
                <a:cs typeface="Segoe UI" panose="020B0502040204020203" pitchFamily="34" charset="0"/>
              </a:rPr>
              <a:t>uniformly distributed</a:t>
            </a:r>
          </a:p>
          <a:p>
            <a:endParaRPr lang="en-US" dirty="0">
              <a:cs typeface="Segoe UI" panose="020B0502040204020203" pitchFamily="34" charset="0"/>
            </a:endParaRPr>
          </a:p>
          <a:p>
            <a:pPr marL="457200" lvl="1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84268F-2476-DB39-95B4-08C9D7936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032" y="2248151"/>
            <a:ext cx="6870661" cy="39122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CC2B0E-0D42-FE17-C357-34442D56AB5E}"/>
              </a:ext>
            </a:extLst>
          </p:cNvPr>
          <p:cNvSpPr txBox="1"/>
          <p:nvPr/>
        </p:nvSpPr>
        <p:spPr>
          <a:xfrm>
            <a:off x="6557548" y="6227619"/>
            <a:ext cx="508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From UMAP documentation, Leland McInnis, 2018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F1095F8-F962-2795-F660-EA4478CB829B}"/>
              </a:ext>
            </a:extLst>
          </p:cNvPr>
          <p:cNvCxnSpPr>
            <a:cxnSpLocks/>
          </p:cNvCxnSpPr>
          <p:nvPr/>
        </p:nvCxnSpPr>
        <p:spPr>
          <a:xfrm>
            <a:off x="4765638" y="3766088"/>
            <a:ext cx="68459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6E42E3-72C3-69B7-47F9-ECDE885A324A}"/>
              </a:ext>
            </a:extLst>
          </p:cNvPr>
          <p:cNvCxnSpPr>
            <a:cxnSpLocks/>
          </p:cNvCxnSpPr>
          <p:nvPr/>
        </p:nvCxnSpPr>
        <p:spPr>
          <a:xfrm>
            <a:off x="4727986" y="3766088"/>
            <a:ext cx="629261" cy="29446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C98E2C-2D24-A65F-8A6F-963DE8F4DA5D}"/>
              </a:ext>
            </a:extLst>
          </p:cNvPr>
          <p:cNvCxnSpPr>
            <a:cxnSpLocks/>
          </p:cNvCxnSpPr>
          <p:nvPr/>
        </p:nvCxnSpPr>
        <p:spPr>
          <a:xfrm flipV="1">
            <a:off x="4515173" y="4316278"/>
            <a:ext cx="2585633" cy="18339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E7B3BA-46C4-235F-3AC3-2F0B077B738C}"/>
              </a:ext>
            </a:extLst>
          </p:cNvPr>
          <p:cNvCxnSpPr>
            <a:cxnSpLocks/>
          </p:cNvCxnSpPr>
          <p:nvPr/>
        </p:nvCxnSpPr>
        <p:spPr>
          <a:xfrm>
            <a:off x="4432515" y="4563735"/>
            <a:ext cx="2887851" cy="570473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79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A97872-3B45-0021-384A-7B434F3D6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525" y="2116183"/>
            <a:ext cx="6854222" cy="39345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68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How does the </a:t>
            </a:r>
            <a:r>
              <a:rPr lang="en-US" dirty="0">
                <a:cs typeface="Segoe UI" panose="020B0502040204020203" pitchFamily="34" charset="0"/>
                <a:hlinkClick r:id="rId3"/>
              </a:rPr>
              <a:t>UMAP algorithm work</a:t>
            </a:r>
            <a:r>
              <a:rPr lang="en-US" dirty="0">
                <a:cs typeface="Segoe UI" panose="020B0502040204020203" pitchFamily="34" charset="0"/>
              </a:rPr>
              <a:t>? </a:t>
            </a:r>
          </a:p>
          <a:p>
            <a:pPr marL="457200" lvl="1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DA6765-A336-60EC-562D-62242214EAE7}"/>
              </a:ext>
            </a:extLst>
          </p:cNvPr>
          <p:cNvSpPr txBox="1">
            <a:spLocks/>
          </p:cNvSpPr>
          <p:nvPr/>
        </p:nvSpPr>
        <p:spPr>
          <a:xfrm>
            <a:off x="379514" y="1996005"/>
            <a:ext cx="4782927" cy="45197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Segoe UI" panose="020B0502040204020203" pitchFamily="34" charset="0"/>
              </a:rPr>
              <a:t>Edges connect nearest neighbors within distance r</a:t>
            </a:r>
          </a:p>
          <a:p>
            <a:r>
              <a:rPr lang="en-US" dirty="0">
                <a:cs typeface="Segoe UI" panose="020B0502040204020203" pitchFamily="34" charset="0"/>
              </a:rPr>
              <a:t>The resulting graph is not ideal! </a:t>
            </a:r>
          </a:p>
          <a:p>
            <a:r>
              <a:rPr lang="en-US" dirty="0">
                <a:cs typeface="Segoe UI" panose="020B0502040204020203" pitchFamily="34" charset="0"/>
              </a:rPr>
              <a:t>Too dense in some places </a:t>
            </a:r>
          </a:p>
          <a:p>
            <a:r>
              <a:rPr lang="en-US" dirty="0">
                <a:cs typeface="Segoe UI" panose="020B0502040204020203" pitchFamily="34" charset="0"/>
              </a:rPr>
              <a:t>Graph may have </a:t>
            </a:r>
            <a:r>
              <a:rPr lang="en-US" b="1" dirty="0">
                <a:cs typeface="Segoe UI" panose="020B0502040204020203" pitchFamily="34" charset="0"/>
              </a:rPr>
              <a:t>disconnected components   </a:t>
            </a:r>
          </a:p>
          <a:p>
            <a:r>
              <a:rPr lang="en-US" dirty="0">
                <a:cs typeface="Segoe UI" panose="020B0502040204020203" pitchFamily="34" charset="0"/>
              </a:rPr>
              <a:t>Discontinuous in other places </a:t>
            </a:r>
          </a:p>
          <a:p>
            <a:r>
              <a:rPr lang="en-US" dirty="0">
                <a:cs typeface="Segoe UI" panose="020B0502040204020203" pitchFamily="34" charset="0"/>
              </a:rPr>
              <a:t>A poor representation of a smooth Reiman manifold</a:t>
            </a: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758549-461E-9E42-F20F-231BEB8E79C9}"/>
              </a:ext>
            </a:extLst>
          </p:cNvPr>
          <p:cNvCxnSpPr>
            <a:cxnSpLocks/>
          </p:cNvCxnSpPr>
          <p:nvPr/>
        </p:nvCxnSpPr>
        <p:spPr>
          <a:xfrm flipV="1">
            <a:off x="4485640" y="2769632"/>
            <a:ext cx="1509798" cy="1131808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D682453-6CCF-678C-936A-DB878DF7464A}"/>
              </a:ext>
            </a:extLst>
          </p:cNvPr>
          <p:cNvSpPr/>
          <p:nvPr/>
        </p:nvSpPr>
        <p:spPr>
          <a:xfrm rot="626517">
            <a:off x="8488848" y="3589674"/>
            <a:ext cx="579991" cy="11025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D797EB-C906-8023-DCC8-B28AECFA613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5017625" y="4088368"/>
            <a:ext cx="3476026" cy="1241774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B1CA5B1-277F-ABD7-B79C-A21758F40FDE}"/>
              </a:ext>
            </a:extLst>
          </p:cNvPr>
          <p:cNvSpPr/>
          <p:nvPr/>
        </p:nvSpPr>
        <p:spPr>
          <a:xfrm rot="626517">
            <a:off x="5960379" y="2210047"/>
            <a:ext cx="690516" cy="9302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690646-1F07-3624-8198-423E991BEC01}"/>
              </a:ext>
            </a:extLst>
          </p:cNvPr>
          <p:cNvSpPr txBox="1"/>
          <p:nvPr/>
        </p:nvSpPr>
        <p:spPr>
          <a:xfrm>
            <a:off x="6557548" y="6227619"/>
            <a:ext cx="508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From UMAP documentation, Leland McInnis, 2018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8BABD9-7F89-F998-9DBF-3CE51B93BCDD}"/>
              </a:ext>
            </a:extLst>
          </p:cNvPr>
          <p:cNvCxnSpPr>
            <a:cxnSpLocks/>
          </p:cNvCxnSpPr>
          <p:nvPr/>
        </p:nvCxnSpPr>
        <p:spPr>
          <a:xfrm flipV="1">
            <a:off x="4704080" y="4125578"/>
            <a:ext cx="771905" cy="663398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0D3CA870-E524-360E-04B7-62EF4D174671}"/>
              </a:ext>
            </a:extLst>
          </p:cNvPr>
          <p:cNvSpPr/>
          <p:nvPr/>
        </p:nvSpPr>
        <p:spPr>
          <a:xfrm rot="626517">
            <a:off x="5550190" y="3278128"/>
            <a:ext cx="325070" cy="8485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4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68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How does the </a:t>
            </a:r>
            <a:r>
              <a:rPr lang="en-US" dirty="0">
                <a:cs typeface="Segoe UI" panose="020B0502040204020203" pitchFamily="34" charset="0"/>
                <a:hlinkClick r:id="rId2"/>
              </a:rPr>
              <a:t>UMAP algorithm work</a:t>
            </a:r>
            <a:r>
              <a:rPr lang="en-US" dirty="0">
                <a:cs typeface="Segoe UI" panose="020B0502040204020203" pitchFamily="34" charset="0"/>
              </a:rPr>
              <a:t>? </a:t>
            </a:r>
          </a:p>
          <a:p>
            <a:pPr marL="457200" lvl="1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DA6765-A336-60EC-562D-62242214EAE7}"/>
              </a:ext>
            </a:extLst>
          </p:cNvPr>
          <p:cNvSpPr txBox="1">
            <a:spLocks/>
          </p:cNvSpPr>
          <p:nvPr/>
        </p:nvSpPr>
        <p:spPr>
          <a:xfrm>
            <a:off x="379514" y="1996005"/>
            <a:ext cx="4782927" cy="4331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Segoe UI" panose="020B0502040204020203" pitchFamily="34" charset="0"/>
              </a:rPr>
              <a:t>Use ‘fuzzy balls’ to represent similarity  </a:t>
            </a:r>
          </a:p>
          <a:p>
            <a:r>
              <a:rPr lang="en-US" dirty="0">
                <a:cs typeface="Segoe UI" panose="020B0502040204020203" pitchFamily="34" charset="0"/>
              </a:rPr>
              <a:t>Example; probability (weight) of connection decays exponentially     </a:t>
            </a:r>
          </a:p>
          <a:p>
            <a:r>
              <a:rPr lang="en-US" dirty="0">
                <a:cs typeface="Segoe UI" panose="020B0502040204020203" pitchFamily="34" charset="0"/>
              </a:rPr>
              <a:t>Connect vertices on the manifold that are not uniformly distributed   </a:t>
            </a: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88F93-AE30-37DC-B09F-50E6EBE1F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300" y="2006763"/>
            <a:ext cx="6991700" cy="4023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1B244C-87D9-0F1B-C80E-E4DDE426DF7D}"/>
              </a:ext>
            </a:extLst>
          </p:cNvPr>
          <p:cNvSpPr txBox="1"/>
          <p:nvPr/>
        </p:nvSpPr>
        <p:spPr>
          <a:xfrm>
            <a:off x="6557548" y="6227619"/>
            <a:ext cx="508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From UMAP documentation, Leland McInnis,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12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68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How does the </a:t>
            </a:r>
            <a:r>
              <a:rPr lang="en-US" dirty="0">
                <a:cs typeface="Segoe UI" panose="020B0502040204020203" pitchFamily="34" charset="0"/>
                <a:hlinkClick r:id="rId2"/>
              </a:rPr>
              <a:t>UMAP algorithm work</a:t>
            </a:r>
            <a:r>
              <a:rPr lang="en-US" dirty="0">
                <a:cs typeface="Segoe UI" panose="020B0502040204020203" pitchFamily="34" charset="0"/>
              </a:rPr>
              <a:t>? </a:t>
            </a:r>
          </a:p>
          <a:p>
            <a:pPr marL="457200" lvl="1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DA6765-A336-60EC-562D-62242214EAE7}"/>
              </a:ext>
            </a:extLst>
          </p:cNvPr>
          <p:cNvSpPr txBox="1">
            <a:spLocks/>
          </p:cNvSpPr>
          <p:nvPr/>
        </p:nvSpPr>
        <p:spPr>
          <a:xfrm>
            <a:off x="379514" y="1996005"/>
            <a:ext cx="4782927" cy="4331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Segoe UI" panose="020B0502040204020203" pitchFamily="34" charset="0"/>
              </a:rPr>
              <a:t>Size of fuzzy ball determined by local density metric   </a:t>
            </a:r>
          </a:p>
          <a:p>
            <a:r>
              <a:rPr lang="en-US" dirty="0">
                <a:cs typeface="Segoe UI" panose="020B0502040204020203" pitchFamily="34" charset="0"/>
              </a:rPr>
              <a:t>Works since we assume a Reimann manifold, smooth and continuous first derivatives  </a:t>
            </a: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93B5F-60E5-6D54-F77C-6461F5FC2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300" y="1996005"/>
            <a:ext cx="6991700" cy="40237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516E1F-957E-069B-6FD0-E057D30F80BE}"/>
              </a:ext>
            </a:extLst>
          </p:cNvPr>
          <p:cNvSpPr txBox="1"/>
          <p:nvPr/>
        </p:nvSpPr>
        <p:spPr>
          <a:xfrm>
            <a:off x="6557548" y="6227619"/>
            <a:ext cx="508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From UMAP documentation, Leland McInnis,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34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921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How does the </a:t>
                </a:r>
                <a:r>
                  <a:rPr lang="en-US" dirty="0">
                    <a:cs typeface="Segoe UI" panose="020B0502040204020203" pitchFamily="34" charset="0"/>
                    <a:hlinkClick r:id="rId2"/>
                  </a:rPr>
                  <a:t>UMAP algorithm work</a:t>
                </a:r>
                <a:r>
                  <a:rPr lang="en-US" dirty="0">
                    <a:cs typeface="Segoe UI" panose="020B0502040204020203" pitchFamily="34" charset="0"/>
                  </a:rPr>
                  <a:t>?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Construct nearest-neighbor graph as simplicial complex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A representation of the low-dimensional Reimann manifold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For low-dimensional manifold 1 and 2-simplexes are most important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Distances between nearest neighbors are </a:t>
                </a:r>
                <a:r>
                  <a:rPr lang="en-US" b="1" dirty="0">
                    <a:cs typeface="Segoe UI" panose="020B0502040204020203" pitchFamily="34" charset="0"/>
                  </a:rPr>
                  <a:t>need not be symmetric</a:t>
                </a:r>
                <a:r>
                  <a:rPr lang="en-US" dirty="0">
                    <a:cs typeface="Segoe UI" panose="020B0502040204020203" pitchFamily="34" charset="0"/>
                  </a:rPr>
                  <a:t>!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Weight is a probability of being connected on a graph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 probability that an edge exists is </a:t>
                </a:r>
                <a:r>
                  <a:rPr lang="en-US" b="1" dirty="0">
                    <a:cs typeface="Segoe UI" panose="020B0502040204020203" pitchFamily="34" charset="0"/>
                  </a:rPr>
                  <a:t>Bernoulli distributed </a:t>
                </a:r>
                <a:r>
                  <a:rPr lang="en-US" dirty="0">
                    <a:cs typeface="Segoe UI" panose="020B0502040204020203" pitchFamily="34" charset="0"/>
                  </a:rPr>
                  <a:t>– the edge either exists of it does not  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Combine the weights using rules of probabilities to get joint probability:   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𝑒𝑑𝑔𝑒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𝑎𝑏</m:t>
                      </m:r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lvl="1"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92159"/>
              </a:xfrm>
              <a:blipFill>
                <a:blip r:embed="rId3"/>
                <a:stretch>
                  <a:fillRect l="-1058" t="-1776" r="-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8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68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How does the </a:t>
            </a:r>
            <a:r>
              <a:rPr lang="en-US" dirty="0">
                <a:cs typeface="Segoe UI" panose="020B0502040204020203" pitchFamily="34" charset="0"/>
                <a:hlinkClick r:id="rId2"/>
              </a:rPr>
              <a:t>UMAP algorithm work</a:t>
            </a:r>
            <a:r>
              <a:rPr lang="en-US" dirty="0">
                <a:cs typeface="Segoe UI" panose="020B0502040204020203" pitchFamily="34" charset="0"/>
              </a:rPr>
              <a:t>? </a:t>
            </a: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DA6765-A336-60EC-562D-62242214EAE7}"/>
              </a:ext>
            </a:extLst>
          </p:cNvPr>
          <p:cNvSpPr txBox="1">
            <a:spLocks/>
          </p:cNvSpPr>
          <p:nvPr/>
        </p:nvSpPr>
        <p:spPr>
          <a:xfrm>
            <a:off x="379514" y="1996005"/>
            <a:ext cx="4782927" cy="4331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Segoe UI" panose="020B0502040204020203" pitchFamily="34" charset="0"/>
              </a:rPr>
              <a:t> Use the joint probabilities to define edges</a:t>
            </a:r>
          </a:p>
          <a:p>
            <a:r>
              <a:rPr lang="en-US" dirty="0">
                <a:cs typeface="Segoe UI" panose="020B0502040204020203" pitchFamily="34" charset="0"/>
              </a:rPr>
              <a:t>Each observation is now connected to near neighbors in the simplicial complex   </a:t>
            </a:r>
          </a:p>
          <a:p>
            <a:r>
              <a:rPr lang="en-US" b="1" dirty="0">
                <a:cs typeface="Segoe UI" panose="020B0502040204020203" pitchFamily="34" charset="0"/>
              </a:rPr>
              <a:t>Graph is a map of the low-dimensional manifold</a:t>
            </a:r>
            <a:r>
              <a:rPr lang="en-US" dirty="0">
                <a:cs typeface="Segoe UI" panose="020B0502040204020203" pitchFamily="34" charset="0"/>
              </a:rPr>
              <a:t>    </a:t>
            </a: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lvl="1"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F75176-6A54-0D08-D02E-61A67CFF8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071" y="1886741"/>
            <a:ext cx="6915112" cy="39711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7B5641-CA09-DE4C-22E2-11300EFC7099}"/>
              </a:ext>
            </a:extLst>
          </p:cNvPr>
          <p:cNvSpPr txBox="1"/>
          <p:nvPr/>
        </p:nvSpPr>
        <p:spPr>
          <a:xfrm>
            <a:off x="6557548" y="6227619"/>
            <a:ext cx="508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From UMAP documentation, Leland McInnis,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3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0777" cy="66623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Uniform Manifold Approximation and Projection (UMAP)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cs typeface="Segoe UI" panose="020B0502040204020203" pitchFamily="34" charset="0"/>
                  </a:rPr>
                  <a:t>Kullback-Liebler divergence </a:t>
                </a:r>
                <a:r>
                  <a:rPr lang="en-US" dirty="0">
                    <a:cs typeface="Segoe UI" panose="020B0502040204020203" pitchFamily="34" charset="0"/>
                  </a:rPr>
                  <a:t>compares the similarity of two distributions </a:t>
                </a:r>
                <a:endParaRPr lang="en-US" sz="2800" b="1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Want the distribution on the manifold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to match the distribution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as closely as possible,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  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Measure the difference between distributions </a:t>
                </a:r>
                <a:r>
                  <a:rPr lang="en-US" i="1" dirty="0">
                    <a:cs typeface="Segoe UI" panose="020B0502040204020203" pitchFamily="34" charset="0"/>
                  </a:rPr>
                  <a:t>P</a:t>
                </a:r>
                <a:r>
                  <a:rPr lang="en-US" dirty="0">
                    <a:cs typeface="Segoe UI" panose="020B0502040204020203" pitchFamily="34" charset="0"/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and </a:t>
                </a:r>
                <a:r>
                  <a:rPr lang="en-US" i="1" dirty="0">
                    <a:cs typeface="Segoe UI" panose="020B0502040204020203" pitchFamily="34" charset="0"/>
                  </a:rPr>
                  <a:t>Q</a:t>
                </a:r>
                <a:r>
                  <a:rPr lang="en-US" dirty="0">
                    <a:cs typeface="Segoe UI" panose="020B0502040204020203" pitchFamily="34" charset="0"/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with </a:t>
                </a:r>
                <a:r>
                  <a:rPr lang="en-US" b="1" dirty="0" err="1">
                    <a:cs typeface="Segoe UI" panose="020B0502040204020203" pitchFamily="34" charset="0"/>
                  </a:rPr>
                  <a:t>Kullback-Leibler</a:t>
                </a:r>
                <a:r>
                  <a:rPr lang="en-US" b="1" dirty="0">
                    <a:cs typeface="Segoe UI" panose="020B0502040204020203" pitchFamily="34" charset="0"/>
                  </a:rPr>
                  <a:t> divergence</a:t>
                </a:r>
                <a:r>
                  <a:rPr lang="en-US" dirty="0">
                    <a:cs typeface="Segoe UI" panose="020B0502040204020203" pitchFamily="34" charset="0"/>
                  </a:rPr>
                  <a:t>:  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𝐾𝐿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||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𝑙𝑜𝑔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However, KL divergence is an asymmetric measure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𝐾𝐿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e>
                    </m:d>
                    <m:r>
                      <m:rPr>
                        <m:brk m:alnAt="9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𝐾𝐿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𝑃</m:t>
                        </m:r>
                      </m:e>
                    </m:d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  <a:blipFill>
                <a:blip r:embed="rId2"/>
                <a:stretch>
                  <a:fillRect l="-1058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264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9349-62D4-418A-8328-7BCEB2B0A9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3116" y="1195060"/>
            <a:ext cx="11525250" cy="198672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300" dirty="0">
                <a:latin typeface="+mn-lt"/>
                <a:cs typeface="Segoe UI" panose="020B0502040204020203" pitchFamily="34" charset="0"/>
              </a:rPr>
              <a:t>The KL divergence is asymmetric</a:t>
            </a:r>
          </a:p>
          <a:p>
            <a:r>
              <a:rPr lang="en-US" sz="3300" dirty="0">
                <a:latin typeface="+mn-lt"/>
                <a:cs typeface="Segoe UI" panose="020B0502040204020203" pitchFamily="34" charset="0"/>
              </a:rPr>
              <a:t>For two distributions the KL divergence depend on the order or arguments</a:t>
            </a:r>
          </a:p>
          <a:p>
            <a:r>
              <a:rPr lang="en-US" sz="3300" dirty="0">
                <a:latin typeface="+mn-lt"/>
                <a:cs typeface="Segoe UI" panose="020B0502040204020203" pitchFamily="34" charset="0"/>
              </a:rPr>
              <a:t>Notice that the gradient becomes near zero on one side of the KL function</a:t>
            </a:r>
          </a:p>
          <a:p>
            <a:pPr marL="0" indent="0">
              <a:buNone/>
            </a:pP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2871F-1FB9-4FCC-AC15-2CFB31DCD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50" y="3181786"/>
            <a:ext cx="10414362" cy="345380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CF7879-763B-4B33-9D84-900F6BBFC94D}"/>
              </a:ext>
            </a:extLst>
          </p:cNvPr>
          <p:cNvCxnSpPr>
            <a:cxnSpLocks/>
          </p:cNvCxnSpPr>
          <p:nvPr/>
        </p:nvCxnSpPr>
        <p:spPr>
          <a:xfrm>
            <a:off x="5737609" y="2697982"/>
            <a:ext cx="1853921" cy="282358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F95F15-899F-445F-8E51-149212F3953E}"/>
              </a:ext>
            </a:extLst>
          </p:cNvPr>
          <p:cNvCxnSpPr>
            <a:cxnSpLocks/>
          </p:cNvCxnSpPr>
          <p:nvPr/>
        </p:nvCxnSpPr>
        <p:spPr>
          <a:xfrm flipH="1">
            <a:off x="10671349" y="2697982"/>
            <a:ext cx="658167" cy="282358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275FE07-B3C5-5A83-43E2-E9D9B9C7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222480"/>
            <a:ext cx="11524432" cy="102322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KL Divergence</a:t>
            </a:r>
          </a:p>
        </p:txBody>
      </p:sp>
    </p:spTree>
    <p:extLst>
      <p:ext uri="{BB962C8B-B14F-4D97-AF65-F5344CB8AC3E}">
        <p14:creationId xmlns:p14="http://schemas.microsoft.com/office/powerpoint/2010/main" val="291781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3A2-598A-4DD7-80C8-28094305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222480"/>
            <a:ext cx="11524432" cy="102322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KL Divergence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79349-62D4-418A-8328-7BCEB2B0A95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90845"/>
                <a:ext cx="11525250" cy="52109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KL divergence is based </a:t>
                </a: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on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  <a:hlinkClick r:id="rId3"/>
                  </a:rPr>
                  <a:t>Shannon Entropy</a:t>
                </a: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+mn-lt"/>
                    <a:cs typeface="Segoe UI" panose="020B0502040204020203" pitchFamily="34" charset="0"/>
                  </a:rPr>
                  <a:t>For a set of samples </a:t>
                </a:r>
                <a:r>
                  <a:rPr lang="en-US" i="1" dirty="0">
                    <a:latin typeface="+mn-lt"/>
                    <a:cs typeface="Segoe UI" panose="020B0502040204020203" pitchFamily="34" charset="0"/>
                  </a:rPr>
                  <a:t>X</a:t>
                </a: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, the Shannon entropy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is the expected value of the information in the samples,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 </m:t>
                    </m:r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: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ℋ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In terms of the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binary log</a:t>
                </a:r>
                <a:r>
                  <a:rPr lang="en-US" b="1" dirty="0">
                    <a:latin typeface="+mn-lt"/>
                    <a:cs typeface="Segoe UI" panose="020B0502040204020203" pitchFamily="34" charset="0"/>
                  </a:rPr>
                  <a:t>-likelihood</a:t>
                </a: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,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we can express the expectation for sample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 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+mn-lt"/>
                    <a:cs typeface="Segoe UI" panose="020B0502040204020203" pitchFamily="34" charset="0"/>
                  </a:rPr>
                  <a:t>Important property of Shannon entropy   </a:t>
                </a:r>
              </a:p>
              <a:p>
                <a:pPr lvl="1"/>
                <a:r>
                  <a:rPr lang="en-US" dirty="0">
                    <a:latin typeface="+mn-lt"/>
                    <a:cs typeface="Segoe UI" panose="020B0502040204020203" pitchFamily="34" charset="0"/>
                  </a:rPr>
                  <a:t>The less predictable the outcome the higher the entropy   </a:t>
                </a:r>
              </a:p>
              <a:p>
                <a:pPr lvl="1"/>
                <a:r>
                  <a:rPr lang="en-US" dirty="0">
                    <a:latin typeface="+mn-lt"/>
                    <a:cs typeface="Segoe UI" panose="020B0502040204020203" pitchFamily="34" charset="0"/>
                  </a:rPr>
                  <a:t>Example: if outcome is always the same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0</m:t>
                    </m:r>
                  </m:oMath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  <a:p>
                <a:pPr lvl="1"/>
                <a:r>
                  <a:rPr lang="en-US" dirty="0">
                    <a:latin typeface="+mn-lt"/>
                    <a:cs typeface="Segoe UI" panose="020B0502040204020203" pitchFamily="34" charset="0"/>
                  </a:rPr>
                  <a:t>Example: if outcome is completely random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𝑚𝑎𝑥𝑖𝑚𝑢𝑚</m:t>
                    </m:r>
                  </m:oMath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79349-62D4-418A-8328-7BCEB2B0A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90845"/>
                <a:ext cx="11525250" cy="5210931"/>
              </a:xfrm>
              <a:blipFill>
                <a:blip r:embed="rId4"/>
                <a:stretch>
                  <a:fillRect l="-1058" t="-1988" b="-2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4352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3A2-598A-4DD7-80C8-28094305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222480"/>
            <a:ext cx="11524432" cy="102322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KL Divergence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9349-62D4-418A-8328-7BCEB2B0A9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5431" y="2595707"/>
            <a:ext cx="5945541" cy="1666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Understanding </a:t>
            </a:r>
            <a:r>
              <a:rPr lang="en-US" sz="2800" b="1" dirty="0">
                <a:latin typeface="+mn-lt"/>
                <a:cs typeface="Segoe UI" panose="020B0502040204020203" pitchFamily="34" charset="0"/>
              </a:rPr>
              <a:t>Shannon Entropy</a:t>
            </a:r>
            <a:r>
              <a:rPr lang="en-US" sz="2800" dirty="0">
                <a:latin typeface="+mn-lt"/>
                <a:cs typeface="Segoe UI" panose="020B0502040204020203" pitchFamily="34" charset="0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Example: </a:t>
            </a:r>
            <a:r>
              <a:rPr lang="en-US" sz="2800" b="1" dirty="0">
                <a:latin typeface="+mn-lt"/>
                <a:cs typeface="Segoe UI" panose="020B0502040204020203" pitchFamily="34" charset="0"/>
              </a:rPr>
              <a:t>binomially distributed </a:t>
            </a:r>
            <a:r>
              <a:rPr lang="en-US" sz="2800" dirty="0">
                <a:latin typeface="+mn-lt"/>
                <a:cs typeface="Segoe UI" panose="020B0502040204020203" pitchFamily="34" charset="0"/>
              </a:rPr>
              <a:t>events</a:t>
            </a:r>
          </a:p>
          <a:p>
            <a:pPr marL="0" indent="0">
              <a:buNone/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9FEBBA-1D4E-4811-8447-18AB19D63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284" y="1528338"/>
            <a:ext cx="4894980" cy="4331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0A4CDA8-CAD4-A0FA-D3BF-2A942C653D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5771" y="5922700"/>
                <a:ext cx="6693407" cy="9353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400"/>
                  </a:spcBef>
                  <a:buFont typeface="Arial" panose="020B0604020202020204" pitchFamily="34" charset="0"/>
                  <a:buChar char="•"/>
                  <a:defRPr sz="2800" b="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Events with known outcome have </a:t>
                </a:r>
                <a:r>
                  <a:rPr lang="en-US" b="1" dirty="0">
                    <a:latin typeface="+mn-lt"/>
                    <a:cs typeface="Segoe UI" panose="020B0502040204020203" pitchFamily="34" charset="0"/>
                  </a:rPr>
                  <a:t>0 entropy</a:t>
                </a: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={0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1}</m:t>
                    </m:r>
                  </m:oMath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0A4CDA8-CAD4-A0FA-D3BF-2A942C653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771" y="5922700"/>
                <a:ext cx="6693407" cy="935300"/>
              </a:xfrm>
              <a:prstGeom prst="rect">
                <a:avLst/>
              </a:prstGeom>
              <a:blipFill>
                <a:blip r:embed="rId4"/>
                <a:stretch>
                  <a:fillRect l="-1275" t="-11111" r="-2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4216341-BA23-D10C-BEA6-61AE25996B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75227" y="407759"/>
                <a:ext cx="6473950" cy="9353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400"/>
                  </a:spcBef>
                  <a:buFont typeface="Arial" panose="020B0604020202020204" pitchFamily="34" charset="0"/>
                  <a:buChar char="•"/>
                  <a:defRPr sz="2800" b="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Events with random outcome have </a:t>
                </a:r>
                <a:r>
                  <a:rPr lang="en-US" b="1" dirty="0">
                    <a:latin typeface="+mn-lt"/>
                    <a:cs typeface="Segoe UI" panose="020B0502040204020203" pitchFamily="34" charset="0"/>
                  </a:rPr>
                  <a:t>maximum entropy</a:t>
                </a: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=0.5</m:t>
                    </m:r>
                  </m:oMath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4216341-BA23-D10C-BEA6-61AE25996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227" y="407759"/>
                <a:ext cx="6473950" cy="935300"/>
              </a:xfrm>
              <a:prstGeom prst="rect">
                <a:avLst/>
              </a:prstGeom>
              <a:blipFill>
                <a:blip r:embed="rId5"/>
                <a:stretch>
                  <a:fillRect t="-11111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9B9B84-A16F-AD25-8FF2-19661B82D9B8}"/>
              </a:ext>
            </a:extLst>
          </p:cNvPr>
          <p:cNvCxnSpPr>
            <a:cxnSpLocks/>
          </p:cNvCxnSpPr>
          <p:nvPr/>
        </p:nvCxnSpPr>
        <p:spPr>
          <a:xfrm>
            <a:off x="9232827" y="1245702"/>
            <a:ext cx="0" cy="42111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67CCC9-A601-0150-AADF-5056CD99088E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7247273" y="5329662"/>
            <a:ext cx="1455202" cy="59303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990236-F041-42C0-73B0-83576CD5CD9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702475" y="5361195"/>
            <a:ext cx="2442755" cy="56150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A70B593-3411-8BFC-B8CB-7B4583F33049}"/>
              </a:ext>
            </a:extLst>
          </p:cNvPr>
          <p:cNvSpPr txBox="1">
            <a:spLocks/>
          </p:cNvSpPr>
          <p:nvPr/>
        </p:nvSpPr>
        <p:spPr>
          <a:xfrm>
            <a:off x="730432" y="6166909"/>
            <a:ext cx="3055230" cy="35298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  <a:hlinkClick r:id="rId6"/>
              </a:rPr>
              <a:t>Credit: Wikipedia commons</a:t>
            </a:r>
            <a:endParaRPr lang="en-US" dirty="0">
              <a:latin typeface="+mn-lt"/>
            </a:endParaRPr>
          </a:p>
          <a:p>
            <a:pPr lvl="1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87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3A2-598A-4DD7-80C8-28094305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222480"/>
            <a:ext cx="11524432" cy="102322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KL Divergence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79349-62D4-418A-8328-7BCEB2B0A95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90845"/>
                <a:ext cx="11525250" cy="52109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KL divergence is based </a:t>
                </a: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on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Shannon Entropy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𝐾𝐿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Expanding: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𝐾𝐿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func>
                        <m:funcPr>
                          <m:ctrlPr>
                            <a:rPr lang="en-US" i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func>
                        <m:funcPr>
                          <m:ctrlPr>
                            <a:rPr lang="en-US" i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log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140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𝐾𝐿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𝐾𝐿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𝐸𝑛𝑡𝑟𝑜𝑝𝑦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)−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𝐶𝑟𝑜𝑠𝑠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𝐸𝑛𝑡𝑟𝑜𝑝𝑦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Notice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the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probability in the original sample space,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, is constant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79349-62D4-418A-8328-7BCEB2B0A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90845"/>
                <a:ext cx="11525250" cy="5210931"/>
              </a:xfrm>
              <a:blipFill>
                <a:blip r:embed="rId3"/>
                <a:stretch>
                  <a:fillRect l="-1058"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55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3A2-598A-4DD7-80C8-28094305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222480"/>
            <a:ext cx="11524432" cy="102322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KL Divergence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79349-62D4-418A-8328-7BCEB2B0A95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90845"/>
                <a:ext cx="11525250" cy="521093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What are the properties of cross entropy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log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0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+mn-lt"/>
                    <a:cs typeface="Segoe UI" panose="020B0502040204020203" pitchFamily="34" charset="0"/>
                  </a:rPr>
                  <a:t>A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e>
                    </m:d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is minimized and the distribution in </a:t>
                </a:r>
                <a:r>
                  <a:rPr lang="en-US" i="1" dirty="0">
                    <a:latin typeface="+mn-lt"/>
                    <a:cs typeface="Segoe UI" panose="020B0502040204020203" pitchFamily="34" charset="0"/>
                  </a:rPr>
                  <a:t>Q</a:t>
                </a: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approaches the distribution </a:t>
                </a:r>
                <a:r>
                  <a:rPr lang="en-US" i="1" dirty="0">
                    <a:latin typeface="+mn-lt"/>
                    <a:cs typeface="Segoe UI" panose="020B0502040204020203" pitchFamily="34" charset="0"/>
                  </a:rPr>
                  <a:t>P</a:t>
                </a: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in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In other words, minimizing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e>
                    </m:d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maps to the most similar distribution on the low-dimensional manifold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79349-62D4-418A-8328-7BCEB2B0A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90845"/>
                <a:ext cx="11525250" cy="5210931"/>
              </a:xfrm>
              <a:blipFill>
                <a:blip r:embed="rId3"/>
                <a:stretch>
                  <a:fillRect l="-1058"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99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79349-62D4-418A-8328-7BCEB2B0A95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90845"/>
                <a:ext cx="11525250" cy="521093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The UMAP algorithm employs a Binomial distribution to determine edges  </a:t>
                </a:r>
              </a:p>
              <a:p>
                <a:r>
                  <a:rPr lang="en-US" dirty="0">
                    <a:latin typeface="+mn-lt"/>
                    <a:cs typeface="Segoe UI" panose="020B0502040204020203" pitchFamily="34" charset="0"/>
                  </a:rPr>
                  <a:t>The cross entropy of a Binomial distribution is expressed:    </a:t>
                </a:r>
              </a:p>
              <a:p>
                <a:pPr marL="0" indent="0">
                  <a:buNone/>
                </a:pPr>
                <a:endParaRPr lang="en-US" sz="12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ℎ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∈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𝐺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ℎ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ℎ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𝑒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𝑒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𝑒</m:t>
                                  </m:r>
                                </m:e>
                              </m:d>
                            </m:e>
                          </m:d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𝐺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𝑙𝑜𝑔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ℎ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𝑒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𝑒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Where,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ℎ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graph weights on the high-dimensional manifold </a:t>
                </a:r>
              </a:p>
              <a:p>
                <a:pPr marL="457200" lvl="1" indent="0">
                  <a:buNone/>
                </a:pPr>
                <a:r>
                  <a:rPr lang="en-US" sz="2400" b="0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graph weights on the low-dimensional manifold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79349-62D4-418A-8328-7BCEB2B0A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90845"/>
                <a:ext cx="11525250" cy="5210931"/>
              </a:xfrm>
              <a:blipFill>
                <a:blip r:embed="rId3"/>
                <a:stretch>
                  <a:fillRect l="-1058"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18B66DCD-F210-F20E-463A-D0E970BB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0777" cy="66623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Uniform Manifold Approximation and Projection (UMAP)  </a:t>
            </a:r>
          </a:p>
        </p:txBody>
      </p:sp>
    </p:spTree>
    <p:extLst>
      <p:ext uri="{BB962C8B-B14F-4D97-AF65-F5344CB8AC3E}">
        <p14:creationId xmlns:p14="http://schemas.microsoft.com/office/powerpoint/2010/main" val="29490874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79349-62D4-418A-8328-7BCEB2B0A95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90845"/>
                <a:ext cx="11525250" cy="521093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The UMAP algorithm employs a Binomial distribution to determine edges  </a:t>
                </a:r>
              </a:p>
              <a:p>
                <a:r>
                  <a:rPr lang="en-US" dirty="0">
                    <a:latin typeface="+mn-lt"/>
                    <a:cs typeface="Segoe UI" panose="020B0502040204020203" pitchFamily="34" charset="0"/>
                  </a:rPr>
                  <a:t>The cross entropy of a Binomial distribution is expressed: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ℎ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𝑒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∈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𝐺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ℎ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ℎ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𝑒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𝑒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𝑒</m:t>
                                  </m:r>
                                </m:e>
                              </m:d>
                            </m:e>
                          </m:d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𝐺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𝑙𝑜𝑔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ℎ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𝑒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𝑒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+mn-lt"/>
                    <a:cs typeface="Segoe UI" panose="020B0502040204020203" pitchFamily="34" charset="0"/>
                  </a:rPr>
                  <a:t>The first term is an </a:t>
                </a:r>
                <a:r>
                  <a:rPr lang="en-US" b="1" dirty="0">
                    <a:solidFill>
                      <a:srgbClr val="C00000"/>
                    </a:solidFill>
                    <a:latin typeface="+mn-lt"/>
                    <a:cs typeface="Segoe UI" panose="020B0502040204020203" pitchFamily="34" charset="0"/>
                  </a:rPr>
                  <a:t>‘attraction’ </a:t>
                </a: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between nodes </a:t>
                </a:r>
              </a:p>
              <a:p>
                <a:pPr lvl="1"/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ℎ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is large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ℎ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is minimized by maximizing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𝑒</m:t>
                        </m:r>
                      </m:e>
                    </m:d>
                  </m:oMath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79349-62D4-418A-8328-7BCEB2B0A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90845"/>
                <a:ext cx="11525250" cy="5210931"/>
              </a:xfrm>
              <a:blipFill>
                <a:blip r:embed="rId3"/>
                <a:stretch>
                  <a:fillRect l="-1058"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18B66DCD-F210-F20E-463A-D0E970BB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0777" cy="66623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Uniform Manifold Approximation and Projection (UMAP)  </a:t>
            </a:r>
          </a:p>
        </p:txBody>
      </p:sp>
    </p:spTree>
    <p:extLst>
      <p:ext uri="{BB962C8B-B14F-4D97-AF65-F5344CB8AC3E}">
        <p14:creationId xmlns:p14="http://schemas.microsoft.com/office/powerpoint/2010/main" val="7325635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A9F5-BDF5-4C67-CD9C-33224520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2D7BB1-C377-4229-564F-DCC088D6D9F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90845"/>
                <a:ext cx="11525250" cy="521093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The UMAP algorithm employs a Binomial distribution to determine edges  </a:t>
                </a:r>
              </a:p>
              <a:p>
                <a:r>
                  <a:rPr lang="en-US" dirty="0">
                    <a:latin typeface="+mn-lt"/>
                    <a:cs typeface="Segoe UI" panose="020B0502040204020203" pitchFamily="34" charset="0"/>
                  </a:rPr>
                  <a:t>The cross entropy of a Binomial distribution is expressed: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ℎ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∈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𝐺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ℎ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ℎ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𝑒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𝑒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𝑒</m:t>
                                  </m:r>
                                </m:e>
                              </m:d>
                            </m:e>
                          </m:d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𝑒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∈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𝐺</m:t>
                              </m:r>
                            </m:sub>
                            <m:sup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𝑙𝑜𝑔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ℎ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𝑒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𝑒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+mn-lt"/>
                    <a:cs typeface="Segoe UI" panose="020B0502040204020203" pitchFamily="34" charset="0"/>
                  </a:rPr>
                  <a:t>The first term is an </a:t>
                </a:r>
                <a:r>
                  <a:rPr lang="en-US" b="1" dirty="0">
                    <a:latin typeface="+mn-lt"/>
                    <a:cs typeface="Segoe UI" panose="020B0502040204020203" pitchFamily="34" charset="0"/>
                  </a:rPr>
                  <a:t>‘attraction’ </a:t>
                </a: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between nodes </a:t>
                </a:r>
              </a:p>
              <a:p>
                <a:pPr lvl="1"/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ℎ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is large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ℎ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is minimized by maximizing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𝑒</m:t>
                        </m:r>
                      </m:e>
                    </m:d>
                  </m:oMath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+mn-lt"/>
                    <a:cs typeface="Segoe UI" panose="020B0502040204020203" pitchFamily="34" charset="0"/>
                  </a:rPr>
                  <a:t>The second term is a </a:t>
                </a:r>
                <a:r>
                  <a:rPr lang="en-US" b="1" dirty="0">
                    <a:solidFill>
                      <a:srgbClr val="C00000"/>
                    </a:solidFill>
                    <a:latin typeface="+mn-lt"/>
                    <a:cs typeface="Segoe UI" panose="020B0502040204020203" pitchFamily="34" charset="0"/>
                  </a:rPr>
                  <a:t>‘repulsion</a:t>
                </a:r>
                <a:r>
                  <a:rPr lang="en-US" b="1" dirty="0">
                    <a:latin typeface="+mn-lt"/>
                    <a:cs typeface="Segoe UI" panose="020B0502040204020203" pitchFamily="34" charset="0"/>
                  </a:rPr>
                  <a:t>’ </a:t>
                </a:r>
                <a:r>
                  <a:rPr lang="en-US" dirty="0">
                    <a:latin typeface="+mn-lt"/>
                    <a:cs typeface="Segoe UI" panose="020B0502040204020203" pitchFamily="34" charset="0"/>
                  </a:rPr>
                  <a:t>between nodes  </a:t>
                </a: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lvl="1"/>
                <a:r>
                  <a:rPr lang="en-US" dirty="0">
                    <a:latin typeface="+mn-lt"/>
                    <a:cs typeface="Segoe UI" panose="020B0502040204020203" pitchFamily="34" charset="0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ℎ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𝑒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is small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ℎ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is minimized by minimizing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𝑒</m:t>
                        </m:r>
                      </m:e>
                    </m:d>
                  </m:oMath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+mn-lt"/>
                    <a:cs typeface="Segoe UI" panose="020B0502040204020203" pitchFamily="34" charset="0"/>
                  </a:rPr>
                  <a:t>Optimal solution at the </a:t>
                </a:r>
                <a:r>
                  <a:rPr lang="en-US" b="1" dirty="0">
                    <a:latin typeface="+mn-lt"/>
                    <a:cs typeface="Segoe UI" panose="020B0502040204020203" pitchFamily="34" charset="0"/>
                  </a:rPr>
                  <a:t>equilibrium between attraction and repulsion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2D7BB1-C377-4229-564F-DCC088D6D9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90845"/>
                <a:ext cx="11525250" cy="5210931"/>
              </a:xfrm>
              <a:blipFill>
                <a:blip r:embed="rId3"/>
                <a:stretch>
                  <a:fillRect l="-1058"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2354966D-74EE-AB4F-B4E2-0124DAEEA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0777" cy="66623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Uniform Manifold Approximation and Projection (UMAP)  </a:t>
            </a:r>
          </a:p>
        </p:txBody>
      </p:sp>
    </p:spTree>
    <p:extLst>
      <p:ext uri="{BB962C8B-B14F-4D97-AF65-F5344CB8AC3E}">
        <p14:creationId xmlns:p14="http://schemas.microsoft.com/office/powerpoint/2010/main" val="62683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921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Steps and parameters of the UMAP algorithm, see </a:t>
                </a:r>
                <a:r>
                  <a:rPr lang="en-US" dirty="0">
                    <a:cs typeface="Segoe UI" panose="020B0502040204020203" pitchFamily="34" charset="0"/>
                    <a:hlinkClick r:id="rId2"/>
                  </a:rPr>
                  <a:t>documentation for details</a:t>
                </a:r>
                <a:r>
                  <a:rPr lang="en-US" dirty="0">
                    <a:cs typeface="Segoe UI" panose="020B0502040204020203" pitchFamily="34" charset="0"/>
                  </a:rPr>
                  <a:t>:   </a:t>
                </a:r>
              </a:p>
              <a:p>
                <a:pPr marL="514350" indent="-514350">
                  <a:buFont typeface="+mj-lt"/>
                  <a:buAutoNum type="arabicPeriod"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Locally compute fuzzy weights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metric</a:t>
                </a:r>
                <a:r>
                  <a:rPr lang="en-US" dirty="0">
                    <a:cs typeface="Segoe UI" panose="020B0502040204020203" pitchFamily="34" charset="0"/>
                  </a:rPr>
                  <a:t>: The distance metric to use from a wide range of choices </a:t>
                </a:r>
              </a:p>
              <a:p>
                <a:pPr marL="514350" indent="-514350">
                  <a:buFont typeface="+mj-lt"/>
                  <a:buAutoNum type="arabicPeriod"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Search for nearest-neighbors to build graph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n_neighbors</a:t>
                </a:r>
                <a:r>
                  <a:rPr lang="en-US" dirty="0">
                    <a:cs typeface="Segoe UI" panose="020B0502040204020203" pitchFamily="34" charset="0"/>
                  </a:rPr>
                  <a:t>: number of nearest neighbors  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Small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n_neighbors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⟶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manifold sampled locally – </a:t>
                </a:r>
                <a:r>
                  <a:rPr lang="en-US" b="1" dirty="0">
                    <a:cs typeface="Segoe UI" panose="020B0502040204020203" pitchFamily="34" charset="0"/>
                  </a:rPr>
                  <a:t>high level of detail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Large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n_neighbors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⟶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manifold sample less local – </a:t>
                </a:r>
                <a:r>
                  <a:rPr lang="en-US" b="1" dirty="0">
                    <a:cs typeface="Segoe UI" panose="020B0502040204020203" pitchFamily="34" charset="0"/>
                  </a:rPr>
                  <a:t>smooths space </a:t>
                </a:r>
              </a:p>
              <a:p>
                <a:pPr marL="514350" indent="-514350">
                  <a:buFont typeface="+mj-lt"/>
                  <a:buAutoNum type="arabicPeriod"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Use spectral embedding to find good starting transformation   </a:t>
                </a: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lvl="1"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92159"/>
              </a:xfrm>
              <a:blipFill>
                <a:blip r:embed="rId3"/>
                <a:stretch>
                  <a:fillRect l="-1111" t="-1776" r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40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6EDA-A633-D0E6-BDA8-9298641E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D2BDF-BF4B-F487-AC8C-8486BBC42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812AA2-77FB-06BE-B843-B749F8202AC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921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Steps and parameters of the UMAP algorithm, see </a:t>
                </a:r>
                <a:r>
                  <a:rPr lang="en-US" dirty="0">
                    <a:cs typeface="Segoe UI" panose="020B0502040204020203" pitchFamily="34" charset="0"/>
                    <a:hlinkClick r:id="rId2"/>
                  </a:rPr>
                  <a:t>documentation for details</a:t>
                </a:r>
                <a:r>
                  <a:rPr lang="en-US" dirty="0">
                    <a:cs typeface="Segoe UI" panose="020B0502040204020203" pitchFamily="34" charset="0"/>
                  </a:rPr>
                  <a:t>:   </a:t>
                </a:r>
              </a:p>
              <a:p>
                <a:pPr marL="514350" indent="-514350">
                  <a:buFont typeface="+mj-lt"/>
                  <a:buAutoNum type="arabicPeriod" startAt="4"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Minimize </a:t>
                </a:r>
                <a:r>
                  <a:rPr lang="en-US" b="1" dirty="0">
                    <a:cs typeface="Segoe UI" panose="020B0502040204020203" pitchFamily="34" charset="0"/>
                  </a:rPr>
                  <a:t>cross-entropy </a:t>
                </a:r>
                <a:r>
                  <a:rPr lang="en-US" dirty="0">
                    <a:cs typeface="Segoe UI" panose="020B0502040204020203" pitchFamily="34" charset="0"/>
                  </a:rPr>
                  <a:t>to optimize low-dimensional Euclidian manifold 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min_distance</a:t>
                </a:r>
                <a:r>
                  <a:rPr lang="en-US" dirty="0">
                    <a:cs typeface="Segoe UI" panose="020B0502040204020203" pitchFamily="34" charset="0"/>
                  </a:rPr>
                  <a:t>: minimum distance between points on low-dimensional manifold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n_components</a:t>
                </a:r>
                <a:r>
                  <a:rPr lang="en-US" dirty="0">
                    <a:cs typeface="Segoe UI" panose="020B0502040204020203" pitchFamily="34" charset="0"/>
                  </a:rPr>
                  <a:t>: dimensionality of low-dimensional manifold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min_distance</a:t>
                </a:r>
                <a:endParaRPr lang="en-US" dirty="0">
                  <a:cs typeface="Courier New" panose="02070309020205020404" pitchFamily="49" charset="0"/>
                </a:endParaRP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Courier New" panose="02070309020205020404" pitchFamily="49" charset="0"/>
                  </a:rPr>
                  <a:t>Large – ensures separation of points on manifold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Courier New" panose="02070309020205020404" pitchFamily="49" charset="0"/>
                  </a:rPr>
                  <a:t>Small – allows near-neighbors to be close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n_components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Courier New" panose="02070309020205020404" pitchFamily="49" charset="0"/>
                  </a:rPr>
                  <a:t>Large – minimize error and bias 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≫2</m:t>
                    </m:r>
                  </m:oMath>
                </a14:m>
                <a:r>
                  <a:rPr lang="en-US" dirty="0">
                    <a:cs typeface="Courier New" panose="02070309020205020404" pitchFamily="49" charset="0"/>
                  </a:rPr>
                  <a:t> best for ML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Courier New" panose="02070309020205020404" pitchFamily="49" charset="0"/>
                  </a:rPr>
                  <a:t>Small – greater compression of dimensionality </a:t>
                </a:r>
                <a:endParaRPr lang="en-US" dirty="0"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lvl="1"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812AA2-77FB-06BE-B843-B749F8202A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92159"/>
              </a:xfrm>
              <a:blipFill>
                <a:blip r:embed="rId3"/>
                <a:stretch>
                  <a:fillRect l="-1111" t="-1776" r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58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72" y="406926"/>
            <a:ext cx="10897471" cy="66623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Segoe UI" panose="020B0502040204020203" pitchFamily="34" charset="0"/>
              </a:rPr>
              <a:t>Uniform Manifold Approximation and Projection (UMAP)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22784" y="2211572"/>
            <a:ext cx="3761867" cy="291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How does </a:t>
            </a:r>
            <a:r>
              <a:rPr lang="en-US" dirty="0">
                <a:cs typeface="Segoe UI" panose="020B0502040204020203" pitchFamily="34" charset="0"/>
                <a:hlinkClick r:id="rId2"/>
              </a:rPr>
              <a:t>UMAP performance compare</a:t>
            </a:r>
            <a:r>
              <a:rPr lang="en-US" dirty="0">
                <a:cs typeface="Segoe UI" panose="020B0502040204020203" pitchFamily="34" charset="0"/>
              </a:rPr>
              <a:t>? </a:t>
            </a: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UMAP significantly outperforms </a:t>
            </a:r>
            <a:r>
              <a:rPr lang="en-US" dirty="0" err="1">
                <a:cs typeface="Segoe UI" panose="020B0502040204020203" pitchFamily="34" charset="0"/>
              </a:rPr>
              <a:t>tSNE</a:t>
            </a: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4691E2-6C87-D186-2EED-DF67E2A07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881" y="1031358"/>
            <a:ext cx="7027370" cy="5670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D58AAC-E9D3-205F-7845-7490FFA771E0}"/>
              </a:ext>
            </a:extLst>
          </p:cNvPr>
          <p:cNvSpPr txBox="1"/>
          <p:nvPr/>
        </p:nvSpPr>
        <p:spPr>
          <a:xfrm>
            <a:off x="2041451" y="5993703"/>
            <a:ext cx="3284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From UMAP documentation, Leland McInnis,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9552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79393-4143-8764-6730-6D241AC5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0F634-83EF-DC65-FD64-6F56ECF6DB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Projection Methods</a:t>
            </a: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2141871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04777"/>
            <a:ext cx="11525250" cy="5181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overcome the curse of dimensionality? </a:t>
            </a:r>
          </a:p>
          <a:p>
            <a:r>
              <a:rPr lang="en-US" b="1" dirty="0">
                <a:latin typeface="+mn-lt"/>
              </a:rPr>
              <a:t>Random projection </a:t>
            </a:r>
            <a:r>
              <a:rPr lang="en-US" dirty="0">
                <a:latin typeface="+mn-lt"/>
              </a:rPr>
              <a:t>methods sample random directions    </a:t>
            </a:r>
          </a:p>
          <a:p>
            <a:r>
              <a:rPr lang="en-US" dirty="0">
                <a:latin typeface="+mn-lt"/>
              </a:rPr>
              <a:t>Introduced in several contexts, including by </a:t>
            </a:r>
            <a:r>
              <a:rPr lang="en-US" dirty="0">
                <a:latin typeface="+mn-lt"/>
                <a:hlinkClick r:id="rId3"/>
              </a:rPr>
              <a:t>Bingham and </a:t>
            </a:r>
            <a:r>
              <a:rPr lang="en-US" dirty="0" err="1">
                <a:latin typeface="+mn-lt"/>
                <a:hlinkClick r:id="rId3"/>
              </a:rPr>
              <a:t>Mannila</a:t>
            </a:r>
            <a:r>
              <a:rPr lang="en-US" dirty="0">
                <a:latin typeface="+mn-lt"/>
                <a:hlinkClick r:id="rId3"/>
              </a:rPr>
              <a:t>, 2001</a:t>
            </a:r>
            <a:r>
              <a:rPr lang="en-US" dirty="0">
                <a:latin typeface="+mn-lt"/>
              </a:rPr>
              <a:t> and </a:t>
            </a:r>
            <a:r>
              <a:rPr lang="en-US" dirty="0" err="1">
                <a:latin typeface="+mn-lt"/>
                <a:hlinkClick r:id="rId4"/>
              </a:rPr>
              <a:t>Achliptas</a:t>
            </a:r>
            <a:r>
              <a:rPr lang="en-US" dirty="0">
                <a:latin typeface="+mn-lt"/>
                <a:hlinkClick r:id="rId4"/>
              </a:rPr>
              <a:t>, 2001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Alternative to PCA for very high dimensional spaces    </a:t>
            </a:r>
          </a:p>
          <a:p>
            <a:r>
              <a:rPr lang="en-US" dirty="0">
                <a:latin typeface="+mn-lt"/>
              </a:rPr>
              <a:t>Error of the random projection to lower dimensional space is bounded  </a:t>
            </a:r>
          </a:p>
          <a:p>
            <a:r>
              <a:rPr lang="en-US" b="1" dirty="0">
                <a:latin typeface="+mn-lt"/>
              </a:rPr>
              <a:t>Distance is therefore preserved</a:t>
            </a:r>
          </a:p>
          <a:p>
            <a:r>
              <a:rPr lang="en-US" dirty="0">
                <a:latin typeface="+mn-lt"/>
              </a:rPr>
              <a:t>Random projections in Euclidean space tend to create spherical clusters   </a:t>
            </a:r>
          </a:p>
          <a:p>
            <a:pPr lvl="1"/>
            <a:r>
              <a:rPr lang="en-US" dirty="0">
                <a:latin typeface="+mn-lt"/>
              </a:rPr>
              <a:t>Spherical clusters are easier for many algorithms to deal with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61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04777"/>
            <a:ext cx="7110413" cy="576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difficult dimensionality reduction    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071FD-A5DB-B0BF-67A9-25E7124A2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643" y="1581150"/>
            <a:ext cx="3980887" cy="417557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BCF635-4B9B-F272-5BBE-48BF6417BC41}"/>
              </a:ext>
            </a:extLst>
          </p:cNvPr>
          <p:cNvSpPr txBox="1">
            <a:spLocks/>
          </p:cNvSpPr>
          <p:nvPr/>
        </p:nvSpPr>
        <p:spPr>
          <a:xfrm>
            <a:off x="8236830" y="2705572"/>
            <a:ext cx="3262313" cy="936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Cluster centers aligned along x axis</a:t>
            </a:r>
          </a:p>
          <a:p>
            <a:pPr lvl="1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2029367-E34D-B9CB-B049-FB72292640B3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6479468" y="2691394"/>
            <a:ext cx="1757362" cy="48235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19BEDD-AEA8-9B07-1D44-241033347D98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274680" y="3173749"/>
            <a:ext cx="1962150" cy="141502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034625-6B90-1896-A10D-6DEE1A131A94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796650" y="3173749"/>
            <a:ext cx="1440180" cy="6057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F0CA866-1F44-9BB2-D479-280D0503A9BB}"/>
              </a:ext>
            </a:extLst>
          </p:cNvPr>
          <p:cNvSpPr txBox="1">
            <a:spLocks/>
          </p:cNvSpPr>
          <p:nvPr/>
        </p:nvSpPr>
        <p:spPr>
          <a:xfrm>
            <a:off x="3297482" y="6092265"/>
            <a:ext cx="4939348" cy="5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No apparent cluster along x axis</a:t>
            </a:r>
          </a:p>
          <a:p>
            <a:pPr lvl="1" algn="ctr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BE9D40-D59C-D350-EF30-E7AEFDB6A3EA}"/>
              </a:ext>
            </a:extLst>
          </p:cNvPr>
          <p:cNvCxnSpPr>
            <a:cxnSpLocks/>
          </p:cNvCxnSpPr>
          <p:nvPr/>
        </p:nvCxnSpPr>
        <p:spPr>
          <a:xfrm flipH="1">
            <a:off x="3777615" y="6001333"/>
            <a:ext cx="3829050" cy="0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D6AC1F0-8920-DF0E-04F6-3477FC28B90F}"/>
              </a:ext>
            </a:extLst>
          </p:cNvPr>
          <p:cNvSpPr txBox="1">
            <a:spLocks/>
          </p:cNvSpPr>
          <p:nvPr/>
        </p:nvSpPr>
        <p:spPr>
          <a:xfrm rot="16200000">
            <a:off x="654302" y="3319343"/>
            <a:ext cx="4175575" cy="5405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Apparent cluster along y axis</a:t>
            </a:r>
          </a:p>
          <a:p>
            <a:pPr lvl="1"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7C3747-2744-F4B6-6E36-349E35F5F5C9}"/>
              </a:ext>
            </a:extLst>
          </p:cNvPr>
          <p:cNvCxnSpPr>
            <a:cxnSpLocks/>
          </p:cNvCxnSpPr>
          <p:nvPr/>
        </p:nvCxnSpPr>
        <p:spPr>
          <a:xfrm>
            <a:off x="3297482" y="1780275"/>
            <a:ext cx="0" cy="3560075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1688D9-9416-C003-4025-E0B8A17CC7C1}"/>
              </a:ext>
            </a:extLst>
          </p:cNvPr>
          <p:cNvSpPr txBox="1">
            <a:spLocks/>
          </p:cNvSpPr>
          <p:nvPr/>
        </p:nvSpPr>
        <p:spPr>
          <a:xfrm>
            <a:off x="8658225" y="6128782"/>
            <a:ext cx="3055230" cy="35298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  <a:hlinkClick r:id="rId4"/>
              </a:rPr>
              <a:t>Credit Wikipedia commons</a:t>
            </a:r>
            <a:endParaRPr lang="en-US" dirty="0">
              <a:latin typeface="+mn-lt"/>
            </a:endParaRPr>
          </a:p>
          <a:p>
            <a:pPr lvl="1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9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1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725929"/>
            <a:ext cx="5711825" cy="4833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difficult dimensionality reduction   </a:t>
            </a:r>
          </a:p>
          <a:p>
            <a:r>
              <a:rPr lang="en-US" dirty="0">
                <a:latin typeface="+mn-lt"/>
              </a:rPr>
              <a:t>Highest variance direction aligned with axis</a:t>
            </a:r>
          </a:p>
          <a:p>
            <a:r>
              <a:rPr lang="en-US" b="1" dirty="0">
                <a:latin typeface="+mn-lt"/>
              </a:rPr>
              <a:t>Eigenvector for largest eigenvalue along axis!</a:t>
            </a:r>
            <a:r>
              <a:rPr lang="en-US" dirty="0">
                <a:latin typeface="+mn-lt"/>
              </a:rPr>
              <a:t>   </a:t>
            </a:r>
          </a:p>
          <a:p>
            <a:r>
              <a:rPr lang="en-US" dirty="0">
                <a:latin typeface="+mn-lt"/>
              </a:rPr>
              <a:t>Principal components same as axes   </a:t>
            </a:r>
          </a:p>
          <a:p>
            <a:r>
              <a:rPr lang="en-US" dirty="0">
                <a:latin typeface="+mn-lt"/>
              </a:rPr>
              <a:t>No dimensionality reduction!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071FD-A5DB-B0BF-67A9-25E7124A2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643" y="1584338"/>
            <a:ext cx="3980887" cy="417557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F0CA866-1F44-9BB2-D479-280D0503A9BB}"/>
              </a:ext>
            </a:extLst>
          </p:cNvPr>
          <p:cNvSpPr txBox="1">
            <a:spLocks/>
          </p:cNvSpPr>
          <p:nvPr/>
        </p:nvSpPr>
        <p:spPr>
          <a:xfrm>
            <a:off x="7107482" y="6095453"/>
            <a:ext cx="4939348" cy="5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Second Principle Component</a:t>
            </a:r>
          </a:p>
          <a:p>
            <a:pPr lvl="1" algn="ctr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BE9D40-D59C-D350-EF30-E7AEFDB6A3EA}"/>
              </a:ext>
            </a:extLst>
          </p:cNvPr>
          <p:cNvCxnSpPr>
            <a:cxnSpLocks/>
          </p:cNvCxnSpPr>
          <p:nvPr/>
        </p:nvCxnSpPr>
        <p:spPr>
          <a:xfrm flipH="1">
            <a:off x="7587615" y="6004521"/>
            <a:ext cx="3829050" cy="0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D6AC1F0-8920-DF0E-04F6-3477FC28B90F}"/>
              </a:ext>
            </a:extLst>
          </p:cNvPr>
          <p:cNvSpPr txBox="1">
            <a:spLocks/>
          </p:cNvSpPr>
          <p:nvPr/>
        </p:nvSpPr>
        <p:spPr>
          <a:xfrm rot="16200000">
            <a:off x="4464302" y="3322531"/>
            <a:ext cx="4175575" cy="5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First Principal Component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7C3747-2744-F4B6-6E36-349E35F5F5C9}"/>
              </a:ext>
            </a:extLst>
          </p:cNvPr>
          <p:cNvCxnSpPr>
            <a:cxnSpLocks/>
          </p:cNvCxnSpPr>
          <p:nvPr/>
        </p:nvCxnSpPr>
        <p:spPr>
          <a:xfrm>
            <a:off x="7107482" y="1783463"/>
            <a:ext cx="0" cy="3560075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2FE72C-B418-0E8A-16BB-8C7772028583}"/>
              </a:ext>
            </a:extLst>
          </p:cNvPr>
          <p:cNvSpPr txBox="1">
            <a:spLocks/>
          </p:cNvSpPr>
          <p:nvPr/>
        </p:nvSpPr>
        <p:spPr>
          <a:xfrm>
            <a:off x="2189077" y="6189239"/>
            <a:ext cx="3055230" cy="35298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  <a:hlinkClick r:id="rId4"/>
              </a:rPr>
              <a:t>Credit Wikipedia commons</a:t>
            </a:r>
            <a:endParaRPr lang="en-US" dirty="0">
              <a:latin typeface="+mn-lt"/>
            </a:endParaRPr>
          </a:p>
          <a:p>
            <a:pPr lvl="1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53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3472" y="850642"/>
            <a:ext cx="8872465" cy="955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difficult dimensionality reduction   </a:t>
            </a:r>
          </a:p>
          <a:p>
            <a:pPr lvl="1"/>
            <a:r>
              <a:rPr lang="en-US" dirty="0">
                <a:latin typeface="+mn-lt"/>
              </a:rPr>
              <a:t>Cluster models will struggle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071FD-A5DB-B0BF-67A9-25E7124A2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113" y="1806330"/>
            <a:ext cx="3980887" cy="417557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F0CA866-1F44-9BB2-D479-280D0503A9BB}"/>
              </a:ext>
            </a:extLst>
          </p:cNvPr>
          <p:cNvSpPr txBox="1">
            <a:spLocks/>
          </p:cNvSpPr>
          <p:nvPr/>
        </p:nvSpPr>
        <p:spPr>
          <a:xfrm>
            <a:off x="1723952" y="6317445"/>
            <a:ext cx="4939348" cy="5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Second Principle Component</a:t>
            </a:r>
          </a:p>
          <a:p>
            <a:pPr lvl="1" algn="ctr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BE9D40-D59C-D350-EF30-E7AEFDB6A3EA}"/>
              </a:ext>
            </a:extLst>
          </p:cNvPr>
          <p:cNvCxnSpPr>
            <a:cxnSpLocks/>
          </p:cNvCxnSpPr>
          <p:nvPr/>
        </p:nvCxnSpPr>
        <p:spPr>
          <a:xfrm flipH="1">
            <a:off x="2204085" y="6226513"/>
            <a:ext cx="3829050" cy="0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D6AC1F0-8920-DF0E-04F6-3477FC28B90F}"/>
              </a:ext>
            </a:extLst>
          </p:cNvPr>
          <p:cNvSpPr txBox="1">
            <a:spLocks/>
          </p:cNvSpPr>
          <p:nvPr/>
        </p:nvSpPr>
        <p:spPr>
          <a:xfrm rot="16200000">
            <a:off x="-919228" y="3544523"/>
            <a:ext cx="4175575" cy="5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First Principal Component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7C3747-2744-F4B6-6E36-349E35F5F5C9}"/>
              </a:ext>
            </a:extLst>
          </p:cNvPr>
          <p:cNvCxnSpPr>
            <a:cxnSpLocks/>
          </p:cNvCxnSpPr>
          <p:nvPr/>
        </p:nvCxnSpPr>
        <p:spPr>
          <a:xfrm>
            <a:off x="1723952" y="2005455"/>
            <a:ext cx="0" cy="3560075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795165-1E60-34C3-743E-31E361726843}"/>
              </a:ext>
            </a:extLst>
          </p:cNvPr>
          <p:cNvSpPr txBox="1">
            <a:spLocks/>
          </p:cNvSpPr>
          <p:nvPr/>
        </p:nvSpPr>
        <p:spPr>
          <a:xfrm>
            <a:off x="6341819" y="1806330"/>
            <a:ext cx="3648002" cy="893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+mn-lt"/>
              </a:rPr>
              <a:t>2 well defined clusters on both components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1A2CE6-693D-5284-E1FB-4DB926DB2B55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271963" y="2252933"/>
            <a:ext cx="2069856" cy="230701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F59820-2008-F13C-0C0F-6DB392BB76D5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752975" y="2252933"/>
            <a:ext cx="1588844" cy="25750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8D3B71F-85FF-378F-1670-DC590676F019}"/>
              </a:ext>
            </a:extLst>
          </p:cNvPr>
          <p:cNvSpPr txBox="1">
            <a:spLocks/>
          </p:cNvSpPr>
          <p:nvPr/>
        </p:nvSpPr>
        <p:spPr>
          <a:xfrm>
            <a:off x="7251456" y="3368196"/>
            <a:ext cx="3648002" cy="22540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+mn-lt"/>
              </a:rPr>
              <a:t>Cluster with low variance on first component, dispersed along second component - </a:t>
            </a:r>
            <a:r>
              <a:rPr lang="en-US" b="1" dirty="0">
                <a:latin typeface="+mn-lt"/>
              </a:rPr>
              <a:t>Not a spherical cluster!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06C1107-2874-6C86-3339-6D85DAC6C91D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5377778" y="3563826"/>
            <a:ext cx="1873678" cy="93139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5179B40-D92C-4A65-D727-4DAA5862C4C1}"/>
              </a:ext>
            </a:extLst>
          </p:cNvPr>
          <p:cNvSpPr txBox="1">
            <a:spLocks/>
          </p:cNvSpPr>
          <p:nvPr/>
        </p:nvSpPr>
        <p:spPr>
          <a:xfrm>
            <a:off x="8658225" y="6128782"/>
            <a:ext cx="3055230" cy="35298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  <a:hlinkClick r:id="rId4"/>
              </a:rPr>
              <a:t>Credit Wikipedia commons</a:t>
            </a:r>
            <a:endParaRPr lang="en-US" dirty="0">
              <a:latin typeface="+mn-lt"/>
            </a:endParaRPr>
          </a:p>
          <a:p>
            <a:pPr lvl="1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31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1404600" cy="530954"/>
          </a:xfrm>
        </p:spPr>
        <p:txBody>
          <a:bodyPr>
            <a:noAutofit/>
          </a:bodyPr>
          <a:lstStyle/>
          <a:p>
            <a:r>
              <a:rPr lang="en-US" sz="3200" dirty="0"/>
              <a:t>Subspace Projection Methods</a:t>
            </a:r>
            <a:endParaRPr lang="en-US" sz="4000" dirty="0">
              <a:latin typeface="Script MT Bold" panose="030406020406070809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extend clustering to higher dimensions?    </a:t>
            </a:r>
          </a:p>
          <a:p>
            <a:r>
              <a:rPr lang="en-US" b="1" dirty="0">
                <a:latin typeface="+mn-lt"/>
              </a:rPr>
              <a:t>Subspace clustering s</a:t>
            </a:r>
            <a:r>
              <a:rPr lang="en-US" dirty="0">
                <a:latin typeface="+mn-lt"/>
              </a:rPr>
              <a:t>amples many subspaces to find embedding  </a:t>
            </a:r>
            <a:r>
              <a:rPr lang="en-US" b="1" dirty="0">
                <a:latin typeface="+mn-lt"/>
              </a:rPr>
              <a:t> </a:t>
            </a:r>
          </a:p>
          <a:p>
            <a:r>
              <a:rPr lang="en-US" dirty="0">
                <a:latin typeface="+mn-lt"/>
              </a:rPr>
              <a:t>Limited scalability since there are infinite possible subspaces</a:t>
            </a:r>
          </a:p>
          <a:p>
            <a:r>
              <a:rPr lang="en-US" dirty="0">
                <a:latin typeface="+mn-lt"/>
              </a:rPr>
              <a:t>Heuristic, based on </a:t>
            </a:r>
            <a:r>
              <a:rPr lang="en-US" b="1" dirty="0">
                <a:latin typeface="+mn-lt"/>
              </a:rPr>
              <a:t>downward closure property</a:t>
            </a:r>
            <a:r>
              <a:rPr lang="en-US" dirty="0">
                <a:latin typeface="+mn-lt"/>
              </a:rPr>
              <a:t>, improves scalability - addressed in a subsequent lesson</a:t>
            </a:r>
          </a:p>
          <a:p>
            <a:r>
              <a:rPr lang="en-US" dirty="0">
                <a:latin typeface="+mn-lt"/>
              </a:rPr>
              <a:t>Python subspace clustering package in </a:t>
            </a:r>
            <a:r>
              <a:rPr lang="en-US" dirty="0">
                <a:latin typeface="+mn-lt"/>
                <a:hlinkClick r:id="rId3"/>
              </a:rPr>
              <a:t>Chong </a:t>
            </a:r>
            <a:r>
              <a:rPr lang="en-US" dirty="0" err="1">
                <a:latin typeface="+mn-lt"/>
                <a:hlinkClick r:id="rId3"/>
              </a:rPr>
              <a:t>You’s</a:t>
            </a:r>
            <a:r>
              <a:rPr lang="en-US" dirty="0">
                <a:latin typeface="+mn-lt"/>
                <a:hlinkClick r:id="rId3"/>
              </a:rPr>
              <a:t> GitHub repository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We will not pursue this method further here</a:t>
            </a:r>
          </a:p>
          <a:p>
            <a:r>
              <a:rPr lang="en-US" dirty="0">
                <a:latin typeface="+mn-lt"/>
              </a:rPr>
              <a:t>Random projection methods are a better alternative in many cases  </a:t>
            </a:r>
          </a:p>
          <a:p>
            <a:pPr lvl="1"/>
            <a:endParaRPr lang="en-US" dirty="0">
              <a:latin typeface="+mn-lt"/>
            </a:endParaRPr>
          </a:p>
          <a:p>
            <a:pPr marL="457200" lvl="1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226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Construct </a:t>
                </a:r>
                <a:r>
                  <a:rPr lang="en-US" b="1" dirty="0">
                    <a:latin typeface="+mn-lt"/>
                  </a:rPr>
                  <a:t>random projection matrix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US" dirty="0">
                    <a:latin typeface="+mn-lt"/>
                  </a:rPr>
                  <a:t>, maps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high dimensional samples,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Linear transformation </a:t>
                </a:r>
                <a:r>
                  <a:rPr lang="en-US" dirty="0">
                    <a:latin typeface="+mn-lt"/>
                  </a:rPr>
                  <a:t>is then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What are the properties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>
                    <a:latin typeface="+mn-lt"/>
                  </a:rPr>
                  <a:t>?     </a:t>
                </a:r>
              </a:p>
              <a:p>
                <a:pPr lvl="1"/>
                <a:r>
                  <a:rPr lang="en-US" dirty="0">
                    <a:latin typeface="+mn-lt"/>
                  </a:rPr>
                  <a:t>Example,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>
                    <a:latin typeface="+mn-lt"/>
                  </a:rPr>
                  <a:t> have values values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Elements of </a:t>
                </a:r>
                <a:r>
                  <a:rPr lang="en-US" i="1" dirty="0">
                    <a:latin typeface="+mn-lt"/>
                  </a:rPr>
                  <a:t>Y</a:t>
                </a:r>
                <a:r>
                  <a:rPr lang="en-US" dirty="0">
                    <a:latin typeface="+mn-lt"/>
                  </a:rPr>
                  <a:t> are linear superposition of projected elements of </a:t>
                </a:r>
                <a:r>
                  <a:rPr lang="en-US" i="1" dirty="0">
                    <a:latin typeface="+mn-lt"/>
                  </a:rPr>
                  <a:t>X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+mn-lt"/>
                  </a:rPr>
                  <a:t> elements in column </a:t>
                </a:r>
                <a:r>
                  <a:rPr lang="en-US" i="1" dirty="0" err="1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are projected to elements in column </a:t>
                </a:r>
                <a:r>
                  <a:rPr lang="en-US" i="1" dirty="0">
                    <a:latin typeface="+mn-lt"/>
                  </a:rPr>
                  <a:t>j</a:t>
                </a:r>
                <a:r>
                  <a:rPr lang="en-US" dirty="0">
                    <a:latin typeface="+mn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dirty="0">
                    <a:latin typeface="+mn-lt"/>
                  </a:rPr>
                  <a:t>elements in column </a:t>
                </a:r>
                <a:r>
                  <a:rPr lang="en-US" i="1" dirty="0" err="1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sz="2000" dirty="0">
                    <a:latin typeface="+mn-lt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are not projection </a:t>
                </a:r>
                <a:r>
                  <a:rPr lang="en-US" sz="2000" dirty="0"/>
                  <a:t> 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  <a:blipFill>
                <a:blip r:embed="rId3"/>
                <a:stretch>
                  <a:fillRect l="-1111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74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Construct random projection matrix,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US" dirty="0">
                    <a:latin typeface="+mn-lt"/>
                  </a:rPr>
                  <a:t>, maps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high dimensional samples,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How can we construct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US" dirty="0">
                    <a:latin typeface="+mn-lt"/>
                  </a:rPr>
                  <a:t>?</a:t>
                </a:r>
              </a:p>
              <a:p>
                <a:r>
                  <a:rPr lang="en-US" dirty="0">
                    <a:latin typeface="+mn-lt"/>
                  </a:rPr>
                  <a:t>Original algorithm (</a:t>
                </a:r>
                <a:r>
                  <a:rPr lang="en-US" dirty="0">
                    <a:latin typeface="+mn-lt"/>
                    <a:hlinkClick r:id="rId3"/>
                  </a:rPr>
                  <a:t>Bingham and Mannila, 2001</a:t>
                </a:r>
                <a:r>
                  <a:rPr lang="en-US" dirty="0">
                    <a:latin typeface="+mn-lt"/>
                  </a:rPr>
                  <a:t>), </a:t>
                </a:r>
                <a:r>
                  <a:rPr lang="en-US" dirty="0" err="1">
                    <a:latin typeface="+mn-lt"/>
                  </a:rPr>
                  <a:t>selectes</a:t>
                </a:r>
                <a:r>
                  <a:rPr lang="en-US" dirty="0">
                    <a:latin typeface="+mn-lt"/>
                  </a:rPr>
                  <a:t> random directions by sampling Gaussian distribution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Select </a:t>
                </a:r>
                <a:r>
                  <a:rPr lang="en-US" b="1" dirty="0">
                    <a:latin typeface="+mn-lt"/>
                  </a:rPr>
                  <a:t>Gaussian random unit vector </a:t>
                </a:r>
                <a:r>
                  <a:rPr lang="en-US" dirty="0">
                    <a:latin typeface="+mn-lt"/>
                  </a:rPr>
                  <a:t>as first row of </a:t>
                </a:r>
                <a:r>
                  <a:rPr lang="en-US" i="1" dirty="0">
                    <a:latin typeface="+mn-lt"/>
                  </a:rPr>
                  <a:t>R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Select Gaussian random unit vector </a:t>
                </a:r>
                <a:r>
                  <a:rPr lang="en-US" b="1" dirty="0">
                    <a:latin typeface="+mn-lt"/>
                  </a:rPr>
                  <a:t>orthogonal to previously selected rows of </a:t>
                </a:r>
                <a:r>
                  <a:rPr lang="en-US" b="1" i="1" dirty="0">
                    <a:latin typeface="+mn-lt"/>
                  </a:rPr>
                  <a:t>R</a:t>
                </a:r>
                <a:r>
                  <a:rPr lang="en-US" b="1" dirty="0">
                    <a:latin typeface="+mn-lt"/>
                  </a:rPr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Repeat step 2 until </a:t>
                </a:r>
                <a:r>
                  <a:rPr lang="en-US" i="1" dirty="0">
                    <a:latin typeface="+mn-lt"/>
                  </a:rPr>
                  <a:t>R</a:t>
                </a:r>
                <a:r>
                  <a:rPr lang="en-US" dirty="0">
                    <a:latin typeface="+mn-lt"/>
                  </a:rPr>
                  <a:t> constructed  </a:t>
                </a:r>
              </a:p>
              <a:p>
                <a:r>
                  <a:rPr lang="en-US" dirty="0">
                    <a:latin typeface="+mn-lt"/>
                  </a:rPr>
                  <a:t>A probabilistic sampling method  </a:t>
                </a:r>
              </a:p>
              <a:p>
                <a:pPr lvl="1"/>
                <a:r>
                  <a:rPr lang="en-US" dirty="0">
                    <a:latin typeface="+mn-lt"/>
                  </a:rPr>
                  <a:t>We have seen probabilistic sampling methods before, count-min-sketch, </a:t>
                </a:r>
                <a:r>
                  <a:rPr lang="en-US" dirty="0" err="1">
                    <a:latin typeface="+mn-lt"/>
                  </a:rPr>
                  <a:t>HyperLogLog</a:t>
                </a:r>
                <a:r>
                  <a:rPr lang="en-US" dirty="0">
                    <a:latin typeface="+mn-lt"/>
                  </a:rPr>
                  <a:t>, etc.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  <a:blipFill>
                <a:blip r:embed="rId4"/>
                <a:stretch>
                  <a:fillRect l="-1111" t="-2706" r="-1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64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Construct random projection matrix,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US" dirty="0">
                    <a:latin typeface="+mn-lt"/>
                  </a:rPr>
                  <a:t>, maps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high dimensional samples,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+mn-lt"/>
                  </a:rPr>
                  <a:t>Original idea (</a:t>
                </a:r>
                <a:r>
                  <a:rPr lang="en-US" dirty="0">
                    <a:latin typeface="+mn-lt"/>
                    <a:hlinkClick r:id="rId3"/>
                  </a:rPr>
                  <a:t>Bingham and </a:t>
                </a:r>
                <a:r>
                  <a:rPr lang="en-US" dirty="0" err="1">
                    <a:latin typeface="+mn-lt"/>
                    <a:hlinkClick r:id="rId3"/>
                  </a:rPr>
                  <a:t>Mannila</a:t>
                </a:r>
                <a:r>
                  <a:rPr lang="en-US" dirty="0">
                    <a:latin typeface="+mn-lt"/>
                    <a:hlinkClick r:id="rId3"/>
                  </a:rPr>
                  <a:t>, 2001</a:t>
                </a:r>
                <a:r>
                  <a:rPr lang="en-US" dirty="0">
                    <a:latin typeface="+mn-lt"/>
                  </a:rPr>
                  <a:t>), selected random directions by sampling Gaussian distribution    </a:t>
                </a:r>
              </a:p>
              <a:p>
                <a:r>
                  <a:rPr lang="en-US" dirty="0">
                    <a:latin typeface="+mn-lt"/>
                  </a:rPr>
                  <a:t>Properties of Gaussian random projection </a:t>
                </a:r>
                <a:endParaRPr lang="en-US" i="1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By construction the projected samples </a:t>
                </a:r>
                <a:r>
                  <a:rPr lang="en-US" i="1" dirty="0">
                    <a:latin typeface="+mn-lt"/>
                  </a:rPr>
                  <a:t>Y</a:t>
                </a:r>
                <a:r>
                  <a:rPr lang="en-US" dirty="0">
                    <a:latin typeface="+mn-lt"/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are </a:t>
                </a:r>
                <a:r>
                  <a:rPr lang="en-US" b="1" dirty="0">
                    <a:latin typeface="+mn-lt"/>
                  </a:rPr>
                  <a:t>orthogonal</a:t>
                </a:r>
              </a:p>
              <a:p>
                <a:pPr lvl="1"/>
                <a:r>
                  <a:rPr lang="en-US" dirty="0">
                    <a:latin typeface="+mn-lt"/>
                  </a:rPr>
                  <a:t>The projection is normalized and therefore </a:t>
                </a:r>
                <a:r>
                  <a:rPr lang="en-US" b="1" dirty="0">
                    <a:latin typeface="+mn-lt"/>
                  </a:rPr>
                  <a:t>distance preserving   </a:t>
                </a:r>
              </a:p>
              <a:p>
                <a:pPr lvl="1"/>
                <a:r>
                  <a:rPr lang="en-US" dirty="0">
                    <a:latin typeface="+mn-lt"/>
                  </a:rPr>
                  <a:t>The sample distribution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has the </a:t>
                </a:r>
                <a:r>
                  <a:rPr lang="en-US" b="1" dirty="0">
                    <a:latin typeface="+mn-lt"/>
                  </a:rPr>
                  <a:t>same variance giving spherical clusters </a:t>
                </a:r>
              </a:p>
              <a:p>
                <a:r>
                  <a:rPr lang="en-US" dirty="0">
                    <a:latin typeface="+mn-lt"/>
                  </a:rPr>
                  <a:t>But, the Gaussian random projection algorithm requires application of a </a:t>
                </a:r>
                <a:r>
                  <a:rPr lang="en-US" dirty="0">
                    <a:latin typeface="+mn-lt"/>
                    <a:hlinkClick r:id="rId4"/>
                  </a:rPr>
                  <a:t>Gramm-Schmidt orthogonalization </a:t>
                </a:r>
                <a:r>
                  <a:rPr lang="en-US" dirty="0">
                    <a:latin typeface="+mn-lt"/>
                  </a:rPr>
                  <a:t>at each step of construction of R</a:t>
                </a:r>
              </a:p>
              <a:p>
                <a:pPr lvl="1"/>
                <a:r>
                  <a:rPr lang="en-US" dirty="0">
                    <a:latin typeface="+mn-lt"/>
                  </a:rPr>
                  <a:t>Algorithm is </a:t>
                </a:r>
                <a:r>
                  <a:rPr lang="en-US" b="1" dirty="0">
                    <a:latin typeface="+mn-lt"/>
                  </a:rPr>
                  <a:t>computationally intensive</a:t>
                </a:r>
                <a:r>
                  <a:rPr lang="en-US" dirty="0">
                    <a:latin typeface="+mn-lt"/>
                  </a:rPr>
                  <a:t>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  <a:blipFill>
                <a:blip r:embed="rId5"/>
                <a:stretch>
                  <a:fillRect l="-1111" t="-2000" r="-1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303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efficiently construct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US" dirty="0">
                    <a:latin typeface="+mn-lt"/>
                  </a:rPr>
                  <a:t>?</a:t>
                </a:r>
              </a:p>
              <a:p>
                <a:r>
                  <a:rPr lang="en-US" dirty="0">
                    <a:latin typeface="+mn-lt"/>
                  </a:rPr>
                  <a:t>Selected random directions by simple probabilistic sampling </a:t>
                </a:r>
              </a:p>
              <a:p>
                <a:r>
                  <a:rPr lang="en-US" dirty="0" err="1">
                    <a:latin typeface="+mn-lt"/>
                    <a:hlinkClick r:id="rId3"/>
                  </a:rPr>
                  <a:t>Achliptas</a:t>
                </a:r>
                <a:r>
                  <a:rPr lang="en-US" dirty="0">
                    <a:latin typeface="+mn-lt"/>
                    <a:hlinkClick r:id="rId3"/>
                  </a:rPr>
                  <a:t>, 2001</a:t>
                </a:r>
                <a:r>
                  <a:rPr lang="en-US" dirty="0">
                    <a:latin typeface="+mn-lt"/>
                  </a:rPr>
                  <a:t> proposed a </a:t>
                </a:r>
                <a:r>
                  <a:rPr lang="en-US" b="1" dirty="0">
                    <a:latin typeface="+mn-lt"/>
                  </a:rPr>
                  <a:t>database scale algorithm</a:t>
                </a: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elements of </a:t>
                </a:r>
                <a:r>
                  <a:rPr lang="en-US" i="1" dirty="0">
                    <a:latin typeface="+mn-lt"/>
                  </a:rPr>
                  <a:t>R</a:t>
                </a:r>
                <a:r>
                  <a:rPr lang="en-US" dirty="0">
                    <a:latin typeface="+mn-lt"/>
                  </a:rPr>
                  <a:t> are randomly selected with the following probabilities, </a:t>
                </a:r>
                <a:r>
                  <a:rPr lang="en-US" i="1" dirty="0">
                    <a:latin typeface="+mn-lt"/>
                  </a:rPr>
                  <a:t>p</a:t>
                </a:r>
                <a:r>
                  <a:rPr lang="en-US" dirty="0">
                    <a:latin typeface="+mn-lt"/>
                  </a:rPr>
                  <a:t>:  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=1/6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=2/3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=1/6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Resulting projection is a reasonable approximation of the Gaussian random projection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  <a:blipFill>
                <a:blip r:embed="rId4"/>
                <a:stretch>
                  <a:fillRect l="-1111" t="-2000" r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47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Johnson-</a:t>
                </a:r>
                <a:r>
                  <a:rPr lang="en-US" b="1" dirty="0" err="1">
                    <a:latin typeface="+mn-lt"/>
                    <a:hlinkClick r:id="rId3"/>
                  </a:rPr>
                  <a:t>Lindenstrauss</a:t>
                </a:r>
                <a:r>
                  <a:rPr lang="en-US" b="1" dirty="0">
                    <a:latin typeface="+mn-lt"/>
                    <a:hlinkClick r:id="rId3"/>
                  </a:rPr>
                  <a:t> lemma </a:t>
                </a:r>
                <a:r>
                  <a:rPr lang="en-US" dirty="0">
                    <a:latin typeface="+mn-lt"/>
                  </a:rPr>
                  <a:t>puts bounds on the error of random projections    </a:t>
                </a:r>
              </a:p>
              <a:p>
                <a:r>
                  <a:rPr lang="en-US" dirty="0">
                    <a:latin typeface="+mn-lt"/>
                  </a:rPr>
                  <a:t>For the simple case of a </a:t>
                </a:r>
                <a:r>
                  <a:rPr lang="en-US" b="1" dirty="0">
                    <a:latin typeface="+mn-lt"/>
                  </a:rPr>
                  <a:t>Euclidean space</a:t>
                </a:r>
                <a:r>
                  <a:rPr lang="en-US" dirty="0">
                    <a:latin typeface="+mn-lt"/>
                  </a:rPr>
                  <a:t>, the </a:t>
                </a:r>
                <a:r>
                  <a:rPr lang="en-US" b="1" dirty="0">
                    <a:latin typeface="+mn-lt"/>
                  </a:rPr>
                  <a:t>Johnson-</a:t>
                </a:r>
                <a:r>
                  <a:rPr lang="en-US" b="1" dirty="0" err="1">
                    <a:latin typeface="+mn-lt"/>
                  </a:rPr>
                  <a:t>Lindenstrauss</a:t>
                </a:r>
                <a:r>
                  <a:rPr lang="en-US" b="1" dirty="0">
                    <a:latin typeface="+mn-lt"/>
                  </a:rPr>
                  <a:t> lemma</a:t>
                </a:r>
                <a:r>
                  <a:rPr lang="en-US" dirty="0">
                    <a:latin typeface="+mn-lt"/>
                  </a:rPr>
                  <a:t>:</a:t>
                </a:r>
              </a:p>
              <a:p>
                <a:pPr lvl="1"/>
                <a:r>
                  <a:rPr lang="en-US" dirty="0">
                    <a:latin typeface="+mn-lt"/>
                  </a:rPr>
                  <a:t>Distance error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u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latin typeface="+mn-lt"/>
                  </a:rPr>
                  <a:t> are sample vectors in the original space,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Define a linear map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():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error is then bounded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The error distance of a random projection,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1" dirty="0">
                    <a:latin typeface="+mn-lt"/>
                  </a:rPr>
                  <a:t>, is bounded </a:t>
                </a:r>
                <a:r>
                  <a:rPr lang="en-US" dirty="0">
                    <a:latin typeface="+mn-lt"/>
                  </a:rPr>
                  <a:t>by the Johnson-</a:t>
                </a:r>
                <a:r>
                  <a:rPr lang="en-US" dirty="0" err="1">
                    <a:latin typeface="+mn-lt"/>
                  </a:rPr>
                  <a:t>Lindenstrauss</a:t>
                </a:r>
                <a:r>
                  <a:rPr lang="en-US" dirty="0">
                    <a:latin typeface="+mn-lt"/>
                  </a:rPr>
                  <a:t> lemma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  <a:blipFill>
                <a:blip r:embed="rId4"/>
                <a:stretch>
                  <a:fillRect l="-1111" t="-2000" r="-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80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interpret the Johnson-</a:t>
                </a:r>
                <a:r>
                  <a:rPr lang="en-US" dirty="0" err="1">
                    <a:latin typeface="+mn-lt"/>
                  </a:rPr>
                  <a:t>Lindenstrauss</a:t>
                </a:r>
                <a:r>
                  <a:rPr lang="en-US" dirty="0">
                    <a:latin typeface="+mn-lt"/>
                  </a:rPr>
                  <a:t> lemma?  </a:t>
                </a:r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Start with the random projection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b="1" dirty="0">
                    <a:latin typeface="+mn-lt"/>
                  </a:rPr>
                  <a:t>, </a:t>
                </a:r>
                <a:r>
                  <a:rPr lang="en-US" dirty="0">
                    <a:latin typeface="+mn-lt"/>
                  </a:rPr>
                  <a:t>or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We want the random projection to be </a:t>
                </a:r>
                <a:r>
                  <a:rPr lang="en-US" b="1" dirty="0">
                    <a:latin typeface="+mn-lt"/>
                  </a:rPr>
                  <a:t>distance preserving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is the squared Euclidean distance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b="1" dirty="0">
                  <a:latin typeface="+mn-lt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is the squared Euclidean distance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lvl="1"/>
                <a:r>
                  <a:rPr lang="en-US" dirty="0">
                    <a:latin typeface="+mn-lt"/>
                  </a:rPr>
                  <a:t>The error is bounded by a factor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  <a:blipFill>
                <a:blip r:embed="rId3"/>
                <a:stretch>
                  <a:fillRect l="-1111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78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What are the implications of the the Johnson-</a:t>
                </a:r>
                <a:r>
                  <a:rPr lang="en-US" dirty="0" err="1">
                    <a:latin typeface="+mn-lt"/>
                  </a:rPr>
                  <a:t>Lindenstrauss</a:t>
                </a:r>
                <a:r>
                  <a:rPr lang="en-US" dirty="0">
                    <a:latin typeface="+mn-lt"/>
                  </a:rPr>
                  <a:t> lemma for dimensionality reduction?  </a:t>
                </a:r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After a lot of algebra, relationship between acceptable distance error,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>
                    <a:latin typeface="+mn-lt"/>
                  </a:rPr>
                  <a:t>, and reduction to lower dimensional 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for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samples: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Notice that random projection </a:t>
                </a:r>
                <a:r>
                  <a:rPr lang="en-US" b="1" dirty="0">
                    <a:latin typeface="+mn-lt"/>
                  </a:rPr>
                  <a:t>cannot work </a:t>
                </a:r>
                <a:r>
                  <a:rPr lang="en-US" dirty="0">
                    <a:latin typeface="+mn-lt"/>
                  </a:rPr>
                  <a:t>for data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Is an exponential trade-off between dimensionality reduction and preserving distance for fixed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4777"/>
                <a:ext cx="11525250" cy="5181690"/>
              </a:xfrm>
              <a:blipFill>
                <a:blip r:embed="rId3"/>
                <a:stretch>
                  <a:fillRect l="-1111" t="-2000" r="-1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5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04777"/>
            <a:ext cx="11525250" cy="919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Exponential trade-off between dimensionality reduction and preserving distance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1CCED-7804-CB50-FB5D-CFBD325B8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96" y="1924051"/>
            <a:ext cx="5342083" cy="4324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D0E3D0-12ED-0F5C-DD70-24CA66AE8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24051"/>
            <a:ext cx="5334462" cy="431329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0E428B-EA15-F649-0167-E098FC44FABA}"/>
              </a:ext>
            </a:extLst>
          </p:cNvPr>
          <p:cNvSpPr txBox="1">
            <a:spLocks/>
          </p:cNvSpPr>
          <p:nvPr/>
        </p:nvSpPr>
        <p:spPr>
          <a:xfrm>
            <a:off x="4152900" y="6459517"/>
            <a:ext cx="3055230" cy="35298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+mn-lt"/>
                <a:hlinkClick r:id="rId5"/>
              </a:rPr>
              <a:t>Credit: Scikit-Learn team</a:t>
            </a:r>
            <a:endParaRPr lang="en-US" dirty="0">
              <a:latin typeface="+mn-lt"/>
            </a:endParaRPr>
          </a:p>
          <a:p>
            <a:pPr lvl="1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5310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Projection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33412" y="961915"/>
            <a:ext cx="11525250" cy="623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does random projection compare to PCA?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E4BCC477-6740-151F-5E6A-5EFEA8B5C95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1050" y="1719552"/>
              <a:ext cx="10629900" cy="4846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72114">
                      <a:extLst>
                        <a:ext uri="{9D8B030D-6E8A-4147-A177-3AD203B41FA5}">
                          <a16:colId xmlns:a16="http://schemas.microsoft.com/office/drawing/2014/main" val="2092246063"/>
                        </a:ext>
                      </a:extLst>
                    </a:gridCol>
                    <a:gridCol w="2863378">
                      <a:extLst>
                        <a:ext uri="{9D8B030D-6E8A-4147-A177-3AD203B41FA5}">
                          <a16:colId xmlns:a16="http://schemas.microsoft.com/office/drawing/2014/main" val="1736292855"/>
                        </a:ext>
                      </a:extLst>
                    </a:gridCol>
                    <a:gridCol w="3694408">
                      <a:extLst>
                        <a:ext uri="{9D8B030D-6E8A-4147-A177-3AD203B41FA5}">
                          <a16:colId xmlns:a16="http://schemas.microsoft.com/office/drawing/2014/main" val="21668403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Property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PCA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Random Projection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75946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Preserves distance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90931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Complexity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40407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Minimum number of sample space dimensions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Works for most any sample space,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88399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Applicable to high-dimensional spaces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Yes, but slow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98676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Produces spherical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3613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Projection to orthogonal 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13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Works for nonlinear spaces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Yes, kernel PCA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Using tensor projection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0257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Works on aligned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8209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E4BCC477-6740-151F-5E6A-5EFEA8B5C9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3959166"/>
                  </p:ext>
                </p:extLst>
              </p:nvPr>
            </p:nvGraphicFramePr>
            <p:xfrm>
              <a:off x="781050" y="1719552"/>
              <a:ext cx="10629900" cy="4846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72114">
                      <a:extLst>
                        <a:ext uri="{9D8B030D-6E8A-4147-A177-3AD203B41FA5}">
                          <a16:colId xmlns:a16="http://schemas.microsoft.com/office/drawing/2014/main" val="2092246063"/>
                        </a:ext>
                      </a:extLst>
                    </a:gridCol>
                    <a:gridCol w="2863378">
                      <a:extLst>
                        <a:ext uri="{9D8B030D-6E8A-4147-A177-3AD203B41FA5}">
                          <a16:colId xmlns:a16="http://schemas.microsoft.com/office/drawing/2014/main" val="1736292855"/>
                        </a:ext>
                      </a:extLst>
                    </a:gridCol>
                    <a:gridCol w="3694408">
                      <a:extLst>
                        <a:ext uri="{9D8B030D-6E8A-4147-A177-3AD203B41FA5}">
                          <a16:colId xmlns:a16="http://schemas.microsoft.com/office/drawing/2014/main" val="216684036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Property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PCA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Random Projection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75946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Preserves distance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90931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Complexity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2340" t="-210667" r="-130000" b="-79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7954" t="-210667" r="-825" b="-79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040777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Minimum number of sample space dimensions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2340" t="-172593" r="-130000" b="-33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7954" t="-172593" r="-825" b="-3392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8839903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Applicable to high-dimensional spaces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Yes, but slow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986765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Produces spherical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36130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Projection to orthogonal 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82131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Works for nonlinear spaces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Yes, kernel PCA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Using tensor projection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02570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Works on aligned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8209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460613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E7C12-69FF-CF09-9FD8-F7932D3B0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478ED-EC0E-C16A-209E-3C896A04EF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Summary</a:t>
            </a: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295077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Dimensionality reduction is widely used in data mining</a:t>
            </a:r>
          </a:p>
          <a:p>
            <a:r>
              <a:rPr lang="en-US" dirty="0">
                <a:latin typeface="+mn-lt"/>
              </a:rPr>
              <a:t>Review of high-dimensional spaces and the </a:t>
            </a:r>
            <a:r>
              <a:rPr lang="en-US" sz="2800" dirty="0">
                <a:latin typeface="Script MT Bold" panose="03040602040607080904" pitchFamily="66" charset="0"/>
              </a:rPr>
              <a:t>Curse of Dimensionality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PCA and SVD are efficient linear algorithms </a:t>
            </a:r>
          </a:p>
          <a:p>
            <a:pPr lvl="1"/>
            <a:r>
              <a:rPr lang="en-US" dirty="0">
                <a:latin typeface="+mn-lt"/>
              </a:rPr>
              <a:t>Find linear projections to lower dimensional hyperplane</a:t>
            </a:r>
          </a:p>
          <a:p>
            <a:pPr lvl="1"/>
            <a:r>
              <a:rPr lang="en-US" dirty="0">
                <a:latin typeface="+mn-lt"/>
              </a:rPr>
              <a:t>SVD applied directly to rectangular model matrix, no need to compute covariance matrix </a:t>
            </a:r>
          </a:p>
          <a:p>
            <a:r>
              <a:rPr lang="en-US" dirty="0">
                <a:latin typeface="+mn-lt"/>
              </a:rPr>
              <a:t>Manifold learning for nonlinear dimensionality reduction and visualization in high dimensions  </a:t>
            </a:r>
          </a:p>
          <a:p>
            <a:pPr lvl="1"/>
            <a:r>
              <a:rPr lang="en-US" dirty="0">
                <a:latin typeface="+mn-lt"/>
              </a:rPr>
              <a:t>Project to low dimensional manifold   </a:t>
            </a:r>
          </a:p>
          <a:p>
            <a:pPr lvl="1"/>
            <a:r>
              <a:rPr lang="en-US" dirty="0">
                <a:latin typeface="+mn-lt"/>
              </a:rPr>
              <a:t>Can be distance preserving  </a:t>
            </a:r>
          </a:p>
          <a:p>
            <a:pPr lvl="1"/>
            <a:r>
              <a:rPr lang="en-US" dirty="0">
                <a:latin typeface="+mn-lt"/>
              </a:rPr>
              <a:t>UMAP is (arguably) the state-of-the-art manifold learning algorithm </a:t>
            </a:r>
          </a:p>
        </p:txBody>
      </p:sp>
    </p:spTree>
    <p:extLst>
      <p:ext uri="{BB962C8B-B14F-4D97-AF65-F5344CB8AC3E}">
        <p14:creationId xmlns:p14="http://schemas.microsoft.com/office/powerpoint/2010/main" val="3833364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28878</TotalTime>
  <Words>5354</Words>
  <Application>Microsoft Office PowerPoint</Application>
  <PresentationFormat>Widescreen</PresentationFormat>
  <Paragraphs>897</Paragraphs>
  <Slides>91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91</vt:i4>
      </vt:variant>
    </vt:vector>
  </HeadingPairs>
  <TitlesOfParts>
    <vt:vector size="101" baseType="lpstr">
      <vt:lpstr>Arial</vt:lpstr>
      <vt:lpstr>Calibri</vt:lpstr>
      <vt:lpstr>Calibri Light</vt:lpstr>
      <vt:lpstr>Cambria Math</vt:lpstr>
      <vt:lpstr>Courier New</vt:lpstr>
      <vt:lpstr>Script MT Bold</vt:lpstr>
      <vt:lpstr>Segoe UI</vt:lpstr>
      <vt:lpstr>Segoe UI Light</vt:lpstr>
      <vt:lpstr>Office Theme</vt:lpstr>
      <vt:lpstr>1_Office Theme</vt:lpstr>
      <vt:lpstr>CSCI E-96 Data Mining, Exploration and Discovery Introduction to Dimensionality Reduction</vt:lpstr>
      <vt:lpstr>Main topics in this course </vt:lpstr>
      <vt:lpstr>Introduction to Dimensionality Reduction</vt:lpstr>
      <vt:lpstr>Introduction to Dimensionality Reduction</vt:lpstr>
      <vt:lpstr>Introduction to Dimensionality Reduction</vt:lpstr>
      <vt:lpstr>Lesson Overview</vt:lpstr>
      <vt:lpstr>Curse of Dimensionality!</vt:lpstr>
      <vt:lpstr>What Could Possibly Go Wrong? Curse of Dimensionality!</vt:lpstr>
      <vt:lpstr>What Could Possibly Go Wrong? Curse of Dimensionality</vt:lpstr>
      <vt:lpstr>What Could Possibly Go Wrong? Curse of Dimensionality</vt:lpstr>
      <vt:lpstr>What Could Possibly Go Wrong? Curse of Dimensionality</vt:lpstr>
      <vt:lpstr>What Could Possibly Go Wrong? Curse of Dimensionality</vt:lpstr>
      <vt:lpstr>Properties of Dimensionality Reduction</vt:lpstr>
      <vt:lpstr>Properties of Dimensionality Reduction</vt:lpstr>
      <vt:lpstr>Properties of Dimensionality Reduction</vt:lpstr>
      <vt:lpstr>Properties of Dimensionality Reduction</vt:lpstr>
      <vt:lpstr>Linear Embedding with PCA</vt:lpstr>
      <vt:lpstr>Linear Dimensionality Reduction - PCA</vt:lpstr>
      <vt:lpstr>Principle Component Decomposition</vt:lpstr>
      <vt:lpstr>Linear Dimensionality Reduction - PCA</vt:lpstr>
      <vt:lpstr>Linear Dimensionality Reduction - PCA</vt:lpstr>
      <vt:lpstr>Linear Dimensionality Reduction - PCA</vt:lpstr>
      <vt:lpstr>Principal Component Dimensionality Reduction</vt:lpstr>
      <vt:lpstr>Principle Component Decomposition</vt:lpstr>
      <vt:lpstr>Principle Component Decomposition</vt:lpstr>
      <vt:lpstr>Principle Component Decomposition</vt:lpstr>
      <vt:lpstr>Principle Component Decomposition</vt:lpstr>
      <vt:lpstr>Principle Component Decomposition</vt:lpstr>
      <vt:lpstr>Principle Component Decomposition</vt:lpstr>
      <vt:lpstr>Principle Component Decomposition</vt:lpstr>
      <vt:lpstr>Singular Value Decomposition</vt:lpstr>
      <vt:lpstr>Singular Value Decomposition </vt:lpstr>
      <vt:lpstr>Singular Value Decomposition </vt:lpstr>
      <vt:lpstr>Feature Hashing </vt:lpstr>
      <vt:lpstr>Feature Hashing</vt:lpstr>
      <vt:lpstr>Feature Hashing</vt:lpstr>
      <vt:lpstr>Feature Hashing</vt:lpstr>
      <vt:lpstr>Manifold Learning </vt:lpstr>
      <vt:lpstr>Manifold Learning</vt:lpstr>
      <vt:lpstr>Manifold Learning</vt:lpstr>
      <vt:lpstr>Manifold Learning</vt:lpstr>
      <vt:lpstr>Manifold Learning</vt:lpstr>
      <vt:lpstr>Manifold Learning</vt:lpstr>
      <vt:lpstr>Spectral Embedding </vt:lpstr>
      <vt:lpstr>Spectral Embedding</vt:lpstr>
      <vt:lpstr>Spectral Embedding</vt:lpstr>
      <vt:lpstr>Spectral Embedding</vt:lpstr>
      <vt:lpstr>Spectral Embedding</vt:lpstr>
      <vt:lpstr>Uniform Manifold Approximation and Projection (UMAP) </vt:lpstr>
      <vt:lpstr>Uniform Manifold Approximation and Projection (UMAP)</vt:lpstr>
      <vt:lpstr>Uniform Manifold Approximation and Projection (UMAP)</vt:lpstr>
      <vt:lpstr>Uniform Manifold Approximation and Projection (UMAP)</vt:lpstr>
      <vt:lpstr>Uniform Manifold Approximation and Projection (UMAP)</vt:lpstr>
      <vt:lpstr>Uniform Manifold Approximation and Projection (UMAP)</vt:lpstr>
      <vt:lpstr>Uniform Manifold Approximation and Projection (UMAP)</vt:lpstr>
      <vt:lpstr>Uniform Manifold Approximation and Projection (UMAP)</vt:lpstr>
      <vt:lpstr>Uniform Manifold Approximation and Projection (UMAP)</vt:lpstr>
      <vt:lpstr>Uniform Manifold Approximation and Projection (UMAP)</vt:lpstr>
      <vt:lpstr>Uniform Manifold Approximation and Projection (UMAP)</vt:lpstr>
      <vt:lpstr>Uniform Manifold Approximation and Projection (UMAP)</vt:lpstr>
      <vt:lpstr>Uniform Manifold Approximation and Projection (UMAP)</vt:lpstr>
      <vt:lpstr>Uniform Manifold Approximation and Projection (UMAP)</vt:lpstr>
      <vt:lpstr>Uniform Manifold Approximation and Projection (UMAP)  </vt:lpstr>
      <vt:lpstr>KL Divergence</vt:lpstr>
      <vt:lpstr>KL Divergence</vt:lpstr>
      <vt:lpstr>KL Divergence</vt:lpstr>
      <vt:lpstr>KL Divergence</vt:lpstr>
      <vt:lpstr>KL Divergence</vt:lpstr>
      <vt:lpstr>Uniform Manifold Approximation and Projection (UMAP)  </vt:lpstr>
      <vt:lpstr>Uniform Manifold Approximation and Projection (UMAP)  </vt:lpstr>
      <vt:lpstr>Uniform Manifold Approximation and Projection (UMAP)  </vt:lpstr>
      <vt:lpstr>Uniform Manifold Approximation and Projection (UMAP)</vt:lpstr>
      <vt:lpstr>Uniform Manifold Approximation and Projection (UMAP)</vt:lpstr>
      <vt:lpstr>Uniform Manifold Approximation and Projection (UMAP)</vt:lpstr>
      <vt:lpstr>Projection Methods </vt:lpstr>
      <vt:lpstr>Random Projection Methods </vt:lpstr>
      <vt:lpstr>Random Projection Methods </vt:lpstr>
      <vt:lpstr>Random Projection Methods </vt:lpstr>
      <vt:lpstr>Random Projection Methods </vt:lpstr>
      <vt:lpstr>Subspace Projection Methods</vt:lpstr>
      <vt:lpstr>Random Projection Methods </vt:lpstr>
      <vt:lpstr>Random Projection Methods </vt:lpstr>
      <vt:lpstr>Random Projection Methods </vt:lpstr>
      <vt:lpstr>Random Projection Methods </vt:lpstr>
      <vt:lpstr>Random Projection Methods </vt:lpstr>
      <vt:lpstr>Random Projection Methods </vt:lpstr>
      <vt:lpstr>Random Projection Methods </vt:lpstr>
      <vt:lpstr>Random Projection Methods </vt:lpstr>
      <vt:lpstr>Random Projection Methods </vt:lpstr>
      <vt:lpstr>Summary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1085</cp:revision>
  <dcterms:created xsi:type="dcterms:W3CDTF">2020-07-25T22:15:22Z</dcterms:created>
  <dcterms:modified xsi:type="dcterms:W3CDTF">2026-09-29T01:38:59Z</dcterms:modified>
</cp:coreProperties>
</file>