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5"/>
  </p:notesMasterIdLst>
  <p:sldIdLst>
    <p:sldId id="256" r:id="rId2"/>
    <p:sldId id="819" r:id="rId3"/>
    <p:sldId id="257" r:id="rId4"/>
    <p:sldId id="448" r:id="rId5"/>
    <p:sldId id="382" r:id="rId6"/>
    <p:sldId id="261" r:id="rId7"/>
    <p:sldId id="258" r:id="rId8"/>
    <p:sldId id="503" r:id="rId9"/>
    <p:sldId id="504" r:id="rId10"/>
    <p:sldId id="259" r:id="rId11"/>
    <p:sldId id="389" r:id="rId12"/>
    <p:sldId id="260" r:id="rId13"/>
    <p:sldId id="263" r:id="rId14"/>
    <p:sldId id="437" r:id="rId15"/>
    <p:sldId id="444" r:id="rId16"/>
    <p:sldId id="365" r:id="rId17"/>
    <p:sldId id="371" r:id="rId18"/>
    <p:sldId id="372" r:id="rId19"/>
    <p:sldId id="478" r:id="rId20"/>
    <p:sldId id="270" r:id="rId21"/>
    <p:sldId id="480" r:id="rId22"/>
    <p:sldId id="458" r:id="rId23"/>
    <p:sldId id="438" r:id="rId24"/>
    <p:sldId id="479" r:id="rId25"/>
    <p:sldId id="501" r:id="rId26"/>
    <p:sldId id="265" r:id="rId27"/>
    <p:sldId id="266" r:id="rId28"/>
    <p:sldId id="262" r:id="rId29"/>
    <p:sldId id="267" r:id="rId30"/>
    <p:sldId id="439" r:id="rId31"/>
    <p:sldId id="427" r:id="rId32"/>
    <p:sldId id="500" r:id="rId33"/>
    <p:sldId id="435" r:id="rId34"/>
    <p:sldId id="428" r:id="rId35"/>
    <p:sldId id="429" r:id="rId36"/>
    <p:sldId id="431" r:id="rId37"/>
    <p:sldId id="430" r:id="rId38"/>
    <p:sldId id="432" r:id="rId39"/>
    <p:sldId id="433" r:id="rId40"/>
    <p:sldId id="434" r:id="rId41"/>
    <p:sldId id="440" r:id="rId42"/>
    <p:sldId id="385" r:id="rId43"/>
    <p:sldId id="499" r:id="rId44"/>
    <p:sldId id="276" r:id="rId45"/>
    <p:sldId id="285" r:id="rId46"/>
    <p:sldId id="286" r:id="rId47"/>
    <p:sldId id="446" r:id="rId48"/>
    <p:sldId id="284" r:id="rId49"/>
    <p:sldId id="445" r:id="rId50"/>
    <p:sldId id="279" r:id="rId51"/>
    <p:sldId id="280" r:id="rId52"/>
    <p:sldId id="281" r:id="rId53"/>
    <p:sldId id="282" r:id="rId54"/>
    <p:sldId id="283" r:id="rId55"/>
    <p:sldId id="820" r:id="rId56"/>
    <p:sldId id="377" r:id="rId57"/>
    <p:sldId id="390" r:id="rId58"/>
    <p:sldId id="391" r:id="rId59"/>
    <p:sldId id="394" r:id="rId60"/>
    <p:sldId id="393" r:id="rId61"/>
    <p:sldId id="395" r:id="rId62"/>
    <p:sldId id="397" r:id="rId63"/>
    <p:sldId id="396" r:id="rId64"/>
    <p:sldId id="421" r:id="rId65"/>
    <p:sldId id="441" r:id="rId66"/>
    <p:sldId id="398" r:id="rId67"/>
    <p:sldId id="502" r:id="rId68"/>
    <p:sldId id="410" r:id="rId69"/>
    <p:sldId id="399" r:id="rId70"/>
    <p:sldId id="406" r:id="rId71"/>
    <p:sldId id="400" r:id="rId72"/>
    <p:sldId id="401" r:id="rId73"/>
    <p:sldId id="402" r:id="rId74"/>
    <p:sldId id="403" r:id="rId75"/>
    <p:sldId id="404" r:id="rId76"/>
    <p:sldId id="405" r:id="rId77"/>
    <p:sldId id="407" r:id="rId78"/>
    <p:sldId id="409" r:id="rId79"/>
    <p:sldId id="426" r:id="rId80"/>
    <p:sldId id="408" r:id="rId81"/>
    <p:sldId id="449" r:id="rId82"/>
    <p:sldId id="450" r:id="rId83"/>
    <p:sldId id="383" r:id="rId8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77" autoAdjust="0"/>
    <p:restoredTop sz="94660"/>
  </p:normalViewPr>
  <p:slideViewPr>
    <p:cSldViewPr snapToGrid="0">
      <p:cViewPr varScale="1">
        <p:scale>
          <a:sx n="77" d="100"/>
          <a:sy n="77" d="100"/>
        </p:scale>
        <p:origin x="39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3ABF1A-8818-4472-8518-E71DC7B5D2F7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3E01E3-981B-4CB5-81ED-65C622C255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2892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3E01E3-981B-4CB5-81ED-65C622C255CB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6942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3E01E3-981B-4CB5-81ED-65C622C255CB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0633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3E01E3-981B-4CB5-81ED-65C622C255CB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6638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3E01E3-981B-4CB5-81ED-65C622C255CB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3220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3E01E3-981B-4CB5-81ED-65C622C255CB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4595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3E01E3-981B-4CB5-81ED-65C622C255CB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052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3E01E3-981B-4CB5-81ED-65C622C255CB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206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3E01E3-981B-4CB5-81ED-65C622C255CB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6496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3E01E3-981B-4CB5-81ED-65C622C255CB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0453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86250-30B3-4440-B9CA-6CD89E8421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6C1D0E-F224-4DFC-B433-DDBEB8C695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52B76A-D542-4D6C-BC2A-9D5525ACB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A31BF-7266-4BEB-918B-ADC21C630A6F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D8C785-3E64-4E7E-98F2-79BBF4577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7E6299-FBED-46F4-A1D3-99A064499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5037E-CA28-4CDA-B6A5-29C59D4F2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465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CBD87-9830-4447-9A42-E70DBB0CC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FAC98E-45EF-45BA-976D-099EB8DA42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D6A0C5-2664-4154-9CF3-A792DC121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A31BF-7266-4BEB-918B-ADC21C630A6F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3AC4A1-FBD2-4367-957A-935CAAE2C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564DFC-3150-4671-90C7-B0ED2580A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5037E-CA28-4CDA-B6A5-29C59D4F2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6213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C3A94-80B1-417B-9F26-32486FD2D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4A8258-5E15-4DA3-BD35-585D0038DA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5EBE7A-D80D-4349-88B2-488A581A4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A31BF-7266-4BEB-918B-ADC21C630A6F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B7FBCF-C82F-4BD2-B20D-9D01D88DB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80174E-D45E-4CF5-9882-29D8EA212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5037E-CA28-4CDA-B6A5-29C59D4F2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8171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F22EE-D66A-4384-8FBF-AE9323A94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457945-5425-4641-9A85-0724E33225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702B06-7F24-4709-A7AF-77EA3DFE8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0C8399-DF95-481E-B8B8-A3FB0B007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A31BF-7266-4BEB-918B-ADC21C630A6F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25B9E1-00EB-4CA2-BED7-78A815385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63F716-9AC8-4D98-BEDB-857C00CA8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5037E-CA28-4CDA-B6A5-29C59D4F2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080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B6F69-C710-4DA5-A3D7-E64030260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56E246-481C-4B82-9AC7-7B2337E208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678B35-3306-4056-8457-1A8FC16700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A9624D-F9B2-45D2-98DB-ECB59C206F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3D4646-020E-4233-86AE-5CE820054B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528D41-33BB-4B17-8AC2-2106431BD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A31BF-7266-4BEB-918B-ADC21C630A6F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23C38A-C699-4D18-AD06-A4621D5B6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85F1D2-3D93-4037-AA24-D8751337F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5037E-CA28-4CDA-B6A5-29C59D4F2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7124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7CF31-9AA8-4EE2-B6AB-127334CFB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6D4985-EFCD-400D-BB88-D85EDEF05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A31BF-7266-4BEB-918B-ADC21C630A6F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BB81C6-D770-48CD-BD8A-B8935628C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B224D0-B6EF-4B28-A989-BDD4DC864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5037E-CA28-4CDA-B6A5-29C59D4F2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9927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83803B-67FD-4A0B-A677-3220D1F81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A31BF-7266-4BEB-918B-ADC21C630A6F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936502-1388-404F-94BD-9C3DA6852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2CC76E-3282-460C-84B6-4D6B6352F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5037E-CA28-4CDA-B6A5-29C59D4F2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1019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0AA7C-2267-4709-A257-F71289FF2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1713FF-D5EF-4654-B7CC-C038F73F5B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D6FAF7-52CF-49B6-9F27-9EA41739A1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FC308E-739E-4EA4-BA18-D65202608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A31BF-7266-4BEB-918B-ADC21C630A6F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5D6736-265F-4B5C-9E70-82FD58614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C94178-C5F6-4C8A-9D8D-DBBB0A8C4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5037E-CA28-4CDA-B6A5-29C59D4F2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879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11154-F589-4F2B-8983-57CFD1945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58E3F7B-7142-4D69-A621-2DD003311C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99B56F-F30F-4059-82A6-F673E47446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90AC98-FA8A-42C8-A825-FBC2E537D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A31BF-7266-4BEB-918B-ADC21C630A6F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40DC8D-DB4A-47BC-999E-80DD8D8F0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0DA44B-31A1-41AB-A99A-BD9A91A19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5037E-CA28-4CDA-B6A5-29C59D4F2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8818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516EB-AEB6-4719-A991-E1B5007A8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C601E9-1673-4529-8E82-4D2328D5E0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9D1A43-853D-4BDC-B5E3-CFE7AE2AA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A31BF-7266-4BEB-918B-ADC21C630A6F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2D5CC1-1AD5-4BB9-A44A-D37C157B7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C1E12C-CA02-4235-90BB-F6DF59610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5037E-CA28-4CDA-B6A5-29C59D4F2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863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41E0C5-28B4-4838-8E2B-1BD5D4C259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C560D2-302D-4DD4-AA00-D9CEA6D238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2E13BB-C370-4AE0-9CBF-7E1E19FBC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A31BF-7266-4BEB-918B-ADC21C630A6F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ABF809-056F-4465-8874-D899218E0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469C55-4EC9-48A6-88D7-99BED028F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5037E-CA28-4CDA-B6A5-29C59D4F2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6715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A17A88-BD75-4F29-BB74-11A272EE5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912DA4-722C-4380-AB08-EEA9F8D9F5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6934F8-D72B-4919-920A-B3D01C6667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4A31BF-7266-4BEB-918B-ADC21C630A6F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69615E-63DF-436B-99F6-DD30AF2FE3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2725D5-D116-40CF-A73B-BD45313E6B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75037E-CA28-4CDA-B6A5-29C59D4F2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93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hyperlink" Target="https://www.manning.com/books/algorithms-and-data-structures-for-massive-datasets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pache/datasketches-bigquery" TargetMode="External"/><Relationship Id="rId2" Type="http://schemas.openxmlformats.org/officeDocument/2006/relationships/hyperlink" Target="https://apache.github.io/datasketches-python/5.2.0/frequency/index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pyprobables.readthedocs.io/en/latest/index.html" TargetMode="External"/><Relationship Id="rId4" Type="http://schemas.openxmlformats.org/officeDocument/2006/relationships/hyperlink" Target="https://github.com/apache/datasketches-spark" TargetMode="Externa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hyperlink" Target="https://datasketches.apache.org/docs/Sampling/ReservoirSamplingSketches.html" TargetMode="Externa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www.manning.com/books/algorithms-and-data-structures-for-massive-datasets" TargetMode="Externa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0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10.png"/><Relationship Id="rId4" Type="http://schemas.openxmlformats.org/officeDocument/2006/relationships/image" Target="../media/image910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9.png"/><Relationship Id="rId3" Type="http://schemas.openxmlformats.org/officeDocument/2006/relationships/image" Target="../media/image810.png"/><Relationship Id="rId7" Type="http://schemas.openxmlformats.org/officeDocument/2006/relationships/image" Target="../media/image131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10.png"/><Relationship Id="rId5" Type="http://schemas.openxmlformats.org/officeDocument/2006/relationships/image" Target="../media/image1010.png"/><Relationship Id="rId4" Type="http://schemas.openxmlformats.org/officeDocument/2006/relationships/image" Target="../media/image910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0.png"/><Relationship Id="rId4" Type="http://schemas.openxmlformats.org/officeDocument/2006/relationships/image" Target="../media/image170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Quotient_filter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manning.com/books/algorithms-and-data-structures-for-massive-datasets" TargetMode="External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40.png"/><Relationship Id="rId18" Type="http://schemas.openxmlformats.org/officeDocument/2006/relationships/image" Target="../media/image45.png"/><Relationship Id="rId3" Type="http://schemas.openxmlformats.org/officeDocument/2006/relationships/image" Target="../media/image30.png"/><Relationship Id="rId21" Type="http://schemas.openxmlformats.org/officeDocument/2006/relationships/image" Target="../media/image48.png"/><Relationship Id="rId7" Type="http://schemas.openxmlformats.org/officeDocument/2006/relationships/image" Target="../media/image34.png"/><Relationship Id="rId12" Type="http://schemas.openxmlformats.org/officeDocument/2006/relationships/image" Target="../media/image39.png"/><Relationship Id="rId17" Type="http://schemas.openxmlformats.org/officeDocument/2006/relationships/image" Target="../media/image44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43.png"/><Relationship Id="rId20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5" Type="http://schemas.openxmlformats.org/officeDocument/2006/relationships/image" Target="../media/image42.png"/><Relationship Id="rId10" Type="http://schemas.openxmlformats.org/officeDocument/2006/relationships/image" Target="../media/image37.png"/><Relationship Id="rId19" Type="http://schemas.openxmlformats.org/officeDocument/2006/relationships/image" Target="../media/image46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Relationship Id="rId14" Type="http://schemas.openxmlformats.org/officeDocument/2006/relationships/image" Target="../media/image41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3" Type="http://schemas.openxmlformats.org/officeDocument/2006/relationships/image" Target="../media/image52.png"/><Relationship Id="rId18" Type="http://schemas.openxmlformats.org/officeDocument/2006/relationships/image" Target="../media/image4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12" Type="http://schemas.openxmlformats.org/officeDocument/2006/relationships/image" Target="../media/image40.png"/><Relationship Id="rId17" Type="http://schemas.openxmlformats.org/officeDocument/2006/relationships/image" Target="../media/image45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44.png"/><Relationship Id="rId20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11" Type="http://schemas.openxmlformats.org/officeDocument/2006/relationships/image" Target="../media/image39.png"/><Relationship Id="rId5" Type="http://schemas.openxmlformats.org/officeDocument/2006/relationships/image" Target="../media/image33.png"/><Relationship Id="rId15" Type="http://schemas.openxmlformats.org/officeDocument/2006/relationships/image" Target="../media/image43.png"/><Relationship Id="rId10" Type="http://schemas.openxmlformats.org/officeDocument/2006/relationships/image" Target="../media/image38.png"/><Relationship Id="rId19" Type="http://schemas.openxmlformats.org/officeDocument/2006/relationships/image" Target="../media/image47.png"/><Relationship Id="rId4" Type="http://schemas.openxmlformats.org/officeDocument/2006/relationships/image" Target="../media/image49.png"/><Relationship Id="rId9" Type="http://schemas.openxmlformats.org/officeDocument/2006/relationships/image" Target="../media/image51.png"/><Relationship Id="rId14" Type="http://schemas.openxmlformats.org/officeDocument/2006/relationships/image" Target="../media/image42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0.png"/><Relationship Id="rId13" Type="http://schemas.openxmlformats.org/officeDocument/2006/relationships/image" Target="../media/image64.png"/><Relationship Id="rId18" Type="http://schemas.openxmlformats.org/officeDocument/2006/relationships/image" Target="../media/image69.png"/><Relationship Id="rId26" Type="http://schemas.openxmlformats.org/officeDocument/2006/relationships/image" Target="../media/image77.png"/><Relationship Id="rId3" Type="http://schemas.openxmlformats.org/officeDocument/2006/relationships/image" Target="../media/image53.png"/><Relationship Id="rId21" Type="http://schemas.openxmlformats.org/officeDocument/2006/relationships/image" Target="../media/image72.png"/><Relationship Id="rId7" Type="http://schemas.openxmlformats.org/officeDocument/2006/relationships/image" Target="../media/image57.png"/><Relationship Id="rId12" Type="http://schemas.openxmlformats.org/officeDocument/2006/relationships/image" Target="../media/image63.png"/><Relationship Id="rId17" Type="http://schemas.openxmlformats.org/officeDocument/2006/relationships/image" Target="../media/image68.png"/><Relationship Id="rId25" Type="http://schemas.openxmlformats.org/officeDocument/2006/relationships/image" Target="../media/image76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67.png"/><Relationship Id="rId20" Type="http://schemas.openxmlformats.org/officeDocument/2006/relationships/image" Target="../media/image22.png"/><Relationship Id="rId29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11" Type="http://schemas.openxmlformats.org/officeDocument/2006/relationships/image" Target="../media/image62.png"/><Relationship Id="rId24" Type="http://schemas.openxmlformats.org/officeDocument/2006/relationships/image" Target="../media/image75.png"/><Relationship Id="rId32" Type="http://schemas.openxmlformats.org/officeDocument/2006/relationships/image" Target="../media/image83.png"/><Relationship Id="rId5" Type="http://schemas.openxmlformats.org/officeDocument/2006/relationships/image" Target="../media/image55.png"/><Relationship Id="rId15" Type="http://schemas.openxmlformats.org/officeDocument/2006/relationships/image" Target="../media/image66.png"/><Relationship Id="rId23" Type="http://schemas.openxmlformats.org/officeDocument/2006/relationships/image" Target="../media/image74.png"/><Relationship Id="rId28" Type="http://schemas.openxmlformats.org/officeDocument/2006/relationships/image" Target="../media/image79.png"/><Relationship Id="rId10" Type="http://schemas.openxmlformats.org/officeDocument/2006/relationships/image" Target="../media/image61.png"/><Relationship Id="rId19" Type="http://schemas.openxmlformats.org/officeDocument/2006/relationships/image" Target="../media/image21.png"/><Relationship Id="rId31" Type="http://schemas.openxmlformats.org/officeDocument/2006/relationships/image" Target="../media/image82.png"/><Relationship Id="rId4" Type="http://schemas.openxmlformats.org/officeDocument/2006/relationships/image" Target="../media/image54.png"/><Relationship Id="rId9" Type="http://schemas.openxmlformats.org/officeDocument/2006/relationships/image" Target="../media/image59.png"/><Relationship Id="rId14" Type="http://schemas.openxmlformats.org/officeDocument/2006/relationships/image" Target="../media/image65.png"/><Relationship Id="rId22" Type="http://schemas.openxmlformats.org/officeDocument/2006/relationships/image" Target="../media/image73.png"/><Relationship Id="rId27" Type="http://schemas.openxmlformats.org/officeDocument/2006/relationships/image" Target="../media/image78.png"/><Relationship Id="rId30" Type="http://schemas.openxmlformats.org/officeDocument/2006/relationships/image" Target="../media/image81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en.wikipedia.org/wiki/Quotient_filter" TargetMode="External"/><Relationship Id="rId4" Type="http://schemas.openxmlformats.org/officeDocument/2006/relationships/image" Target="../media/image85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en.wikipedia.org/wiki/Quotient_filter" TargetMode="External"/><Relationship Id="rId4" Type="http://schemas.openxmlformats.org/officeDocument/2006/relationships/image" Target="../media/image86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en.wikipedia.org/wiki/Quotient_filter" TargetMode="External"/><Relationship Id="rId4" Type="http://schemas.openxmlformats.org/officeDocument/2006/relationships/image" Target="../media/image87.pn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5.png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1.png"/><Relationship Id="rId4" Type="http://schemas.openxmlformats.org/officeDocument/2006/relationships/image" Target="../media/image90.png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5.png"/><Relationship Id="rId4" Type="http://schemas.openxmlformats.org/officeDocument/2006/relationships/image" Target="../media/image94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9.png"/><Relationship Id="rId4" Type="http://schemas.openxmlformats.org/officeDocument/2006/relationships/image" Target="../media/image98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3.png"/><Relationship Id="rId4" Type="http://schemas.openxmlformats.org/officeDocument/2006/relationships/image" Target="../media/image102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7.png"/><Relationship Id="rId4" Type="http://schemas.openxmlformats.org/officeDocument/2006/relationships/image" Target="../media/image106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1.png"/><Relationship Id="rId4" Type="http://schemas.openxmlformats.org/officeDocument/2006/relationships/image" Target="../media/image110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5.png"/><Relationship Id="rId4" Type="http://schemas.openxmlformats.org/officeDocument/2006/relationships/image" Target="../media/image114.png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0.png"/><Relationship Id="rId7" Type="http://schemas.openxmlformats.org/officeDocument/2006/relationships/image" Target="../media/image26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11" Type="http://schemas.openxmlformats.org/officeDocument/2006/relationships/image" Target="../media/image84.png"/><Relationship Id="rId5" Type="http://schemas.openxmlformats.org/officeDocument/2006/relationships/image" Target="../media/image240.png"/><Relationship Id="rId10" Type="http://schemas.openxmlformats.org/officeDocument/2006/relationships/image" Target="../media/image29.png"/><Relationship Id="rId4" Type="http://schemas.openxmlformats.org/officeDocument/2006/relationships/image" Target="../media/image230.png"/><Relationship Id="rId9" Type="http://schemas.openxmlformats.org/officeDocument/2006/relationships/image" Target="../media/image28.png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EAD34-FE4D-4A41-82A2-2236156312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400" y="1715244"/>
            <a:ext cx="9601200" cy="238760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CSCI E-96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Data Mining, Discovery and Exploration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Online Algorithms and Steaming Analytics, Part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5A855A-A2B4-41D5-81C1-CAA6D45AA9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6894" y="4167618"/>
            <a:ext cx="9144000" cy="494102"/>
          </a:xfrm>
        </p:spPr>
        <p:txBody>
          <a:bodyPr/>
          <a:lstStyle/>
          <a:p>
            <a:r>
              <a:rPr lang="en-US" dirty="0"/>
              <a:t>Steve Elston</a:t>
            </a:r>
          </a:p>
          <a:p>
            <a:endParaRPr lang="en-US" dirty="0"/>
          </a:p>
        </p:txBody>
      </p:sp>
      <p:pic>
        <p:nvPicPr>
          <p:cNvPr id="1026" name="Picture 2" descr="Image result for harvard extension school logo">
            <a:extLst>
              <a:ext uri="{FF2B5EF4-FFF2-40B4-BE49-F238E27FC236}">
                <a16:creationId xmlns:a16="http://schemas.microsoft.com/office/drawing/2014/main" id="{0512F5AD-ED64-4E88-80AB-F8D75DDF28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7158" y="4791269"/>
            <a:ext cx="333375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AE6CDF6-26FF-4F68-942A-A7BA23A117D6}"/>
              </a:ext>
            </a:extLst>
          </p:cNvPr>
          <p:cNvSpPr txBox="1"/>
          <p:nvPr/>
        </p:nvSpPr>
        <p:spPr>
          <a:xfrm>
            <a:off x="3348567" y="6421967"/>
            <a:ext cx="5744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Copyright 2021, 2022, 2023, 2024, 2025, 2026, Stephen F Elston. All rights reserved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650567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A9242-6F04-0255-B6E4-003EE805C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0B4EF-F7E3-7E82-AE6D-66E8ED303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187" y="249623"/>
            <a:ext cx="10515600" cy="662230"/>
          </a:xfrm>
        </p:spPr>
        <p:txBody>
          <a:bodyPr>
            <a:normAutofit fontScale="90000"/>
          </a:bodyPr>
          <a:lstStyle/>
          <a:p>
            <a:r>
              <a:rPr lang="en-US" sz="4900" dirty="0">
                <a:latin typeface="+mn-lt"/>
              </a:rPr>
              <a:t>Main topics in this course</a:t>
            </a:r>
            <a:br>
              <a:rPr lang="en-US" sz="4000" dirty="0">
                <a:latin typeface="+mn-lt"/>
              </a:rPr>
            </a:br>
            <a:endParaRPr lang="en-US" sz="4000" dirty="0">
              <a:latin typeface="+mn-lt"/>
            </a:endParaRPr>
          </a:p>
        </p:txBody>
      </p:sp>
      <p:sp>
        <p:nvSpPr>
          <p:cNvPr id="3" name="Left Brace 2">
            <a:extLst>
              <a:ext uri="{FF2B5EF4-FFF2-40B4-BE49-F238E27FC236}">
                <a16:creationId xmlns:a16="http://schemas.microsoft.com/office/drawing/2014/main" id="{B43E0B5E-B811-4BBC-CEDF-97FC2AAC1766}"/>
              </a:ext>
            </a:extLst>
          </p:cNvPr>
          <p:cNvSpPr/>
          <p:nvPr/>
        </p:nvSpPr>
        <p:spPr>
          <a:xfrm>
            <a:off x="756889" y="1964356"/>
            <a:ext cx="225209" cy="1273261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BB0425-4708-2E61-70FB-876C788A79E2}"/>
              </a:ext>
            </a:extLst>
          </p:cNvPr>
          <p:cNvSpPr txBox="1"/>
          <p:nvPr/>
        </p:nvSpPr>
        <p:spPr>
          <a:xfrm rot="16200000">
            <a:off x="-238228" y="2251765"/>
            <a:ext cx="15715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Foundations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A42CDB-2EBC-28B2-6456-04829EC7EF48}"/>
              </a:ext>
            </a:extLst>
          </p:cNvPr>
          <p:cNvSpPr/>
          <p:nvPr/>
        </p:nvSpPr>
        <p:spPr>
          <a:xfrm>
            <a:off x="1259812" y="1983695"/>
            <a:ext cx="1951346" cy="125392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1. Hashing and K-V pair management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5C7F060-78DB-AC42-6BFD-05BD50198440}"/>
              </a:ext>
            </a:extLst>
          </p:cNvPr>
          <p:cNvSpPr/>
          <p:nvPr/>
        </p:nvSpPr>
        <p:spPr>
          <a:xfrm>
            <a:off x="3740233" y="2021536"/>
            <a:ext cx="2157426" cy="117823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2. Distance and Similarity Metrics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20B3888-4A09-E889-C7DE-5ECE32C17693}"/>
              </a:ext>
            </a:extLst>
          </p:cNvPr>
          <p:cNvSpPr/>
          <p:nvPr/>
        </p:nvSpPr>
        <p:spPr>
          <a:xfrm>
            <a:off x="6408020" y="2037908"/>
            <a:ext cx="2058805" cy="121333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3. Graph Algorithms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234FC6E-068F-82BA-D948-0872902BF117}"/>
              </a:ext>
            </a:extLst>
          </p:cNvPr>
          <p:cNvSpPr/>
          <p:nvPr/>
        </p:nvSpPr>
        <p:spPr>
          <a:xfrm>
            <a:off x="1215334" y="3591320"/>
            <a:ext cx="2085982" cy="107424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2. Dimensionality Reduction</a:t>
            </a:r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6B807C0C-B6B7-55FC-4A73-937C1A517C09}"/>
              </a:ext>
            </a:extLst>
          </p:cNvPr>
          <p:cNvSpPr/>
          <p:nvPr/>
        </p:nvSpPr>
        <p:spPr>
          <a:xfrm>
            <a:off x="865089" y="3571535"/>
            <a:ext cx="172578" cy="1094029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0513D5-3561-EC84-E71B-4706879A90A1}"/>
              </a:ext>
            </a:extLst>
          </p:cNvPr>
          <p:cNvSpPr txBox="1"/>
          <p:nvPr/>
        </p:nvSpPr>
        <p:spPr>
          <a:xfrm rot="16200000">
            <a:off x="-286998" y="3724841"/>
            <a:ext cx="15715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Core Algorithms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42D63B-E913-3364-5865-54C574ED22CD}"/>
              </a:ext>
            </a:extLst>
          </p:cNvPr>
          <p:cNvSpPr/>
          <p:nvPr/>
        </p:nvSpPr>
        <p:spPr>
          <a:xfrm>
            <a:off x="1280175" y="5154275"/>
            <a:ext cx="1961804" cy="126402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3. Social Network Analysis</a:t>
            </a:r>
          </a:p>
        </p:txBody>
      </p:sp>
      <p:sp>
        <p:nvSpPr>
          <p:cNvPr id="14" name="Left Brace 13">
            <a:extLst>
              <a:ext uri="{FF2B5EF4-FFF2-40B4-BE49-F238E27FC236}">
                <a16:creationId xmlns:a16="http://schemas.microsoft.com/office/drawing/2014/main" id="{35E5DEDA-5FFD-FC06-5888-EB758D78C155}"/>
              </a:ext>
            </a:extLst>
          </p:cNvPr>
          <p:cNvSpPr/>
          <p:nvPr/>
        </p:nvSpPr>
        <p:spPr>
          <a:xfrm>
            <a:off x="858563" y="5154275"/>
            <a:ext cx="164275" cy="1264024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061D0C7-FA6D-00D7-CF2A-B875D7CF029B}"/>
              </a:ext>
            </a:extLst>
          </p:cNvPr>
          <p:cNvSpPr txBox="1"/>
          <p:nvPr/>
        </p:nvSpPr>
        <p:spPr>
          <a:xfrm rot="16200000">
            <a:off x="-322189" y="5405146"/>
            <a:ext cx="15715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Taks </a:t>
            </a:r>
            <a:r>
              <a:rPr lang="en-US" sz="2000"/>
              <a:t>Speific </a:t>
            </a:r>
            <a:r>
              <a:rPr lang="en-US" sz="2000" dirty="0"/>
              <a:t>Algorithms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BCB2792-FBF9-D76F-A378-7E6596D54E0F}"/>
              </a:ext>
            </a:extLst>
          </p:cNvPr>
          <p:cNvSpPr/>
          <p:nvPr/>
        </p:nvSpPr>
        <p:spPr>
          <a:xfrm>
            <a:off x="3811677" y="3631085"/>
            <a:ext cx="2085982" cy="109402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5. Similarity Search and NN Algorithms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A8CAD2D-EC71-A5F3-683F-41BF65DE958F}"/>
              </a:ext>
            </a:extLst>
          </p:cNvPr>
          <p:cNvSpPr/>
          <p:nvPr/>
        </p:nvSpPr>
        <p:spPr>
          <a:xfrm>
            <a:off x="6408020" y="3640978"/>
            <a:ext cx="2038966" cy="112356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4. Online Algorithms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7EB3589-9BBE-D38D-C09A-C7A36757F4E1}"/>
              </a:ext>
            </a:extLst>
          </p:cNvPr>
          <p:cNvSpPr/>
          <p:nvPr/>
        </p:nvSpPr>
        <p:spPr>
          <a:xfrm>
            <a:off x="8985680" y="5155489"/>
            <a:ext cx="1894527" cy="126280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8. Clustering Algorithms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C5EBFDB-140B-9B88-CE63-77419A11C6E4}"/>
              </a:ext>
            </a:extLst>
          </p:cNvPr>
          <p:cNvSpPr/>
          <p:nvPr/>
        </p:nvSpPr>
        <p:spPr>
          <a:xfrm>
            <a:off x="6470354" y="5154275"/>
            <a:ext cx="2016833" cy="124568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7. Recommender  Algorithms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9AB1FD0-27FA-3784-41E8-6432B45E080D}"/>
              </a:ext>
            </a:extLst>
          </p:cNvPr>
          <p:cNvSpPr/>
          <p:nvPr/>
        </p:nvSpPr>
        <p:spPr>
          <a:xfrm>
            <a:off x="3760595" y="5172609"/>
            <a:ext cx="2085981" cy="124568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6. Web/Document ranking and search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302608D4-DE73-B603-CD44-1D4BB221F2DE}"/>
              </a:ext>
            </a:extLst>
          </p:cNvPr>
          <p:cNvSpPr txBox="1">
            <a:spLocks/>
          </p:cNvSpPr>
          <p:nvPr/>
        </p:nvSpPr>
        <p:spPr>
          <a:xfrm>
            <a:off x="865089" y="797597"/>
            <a:ext cx="10515600" cy="85057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The main topics in this course are interconnected and build on each other</a:t>
            </a:r>
          </a:p>
        </p:txBody>
      </p:sp>
    </p:spTree>
    <p:extLst>
      <p:ext uri="{BB962C8B-B14F-4D97-AF65-F5344CB8AC3E}">
        <p14:creationId xmlns:p14="http://schemas.microsoft.com/office/powerpoint/2010/main" val="5812348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7"/>
            <a:ext cx="10515600" cy="542200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3000" dirty="0"/>
              <a:t>Are analytics always computed in batch?   </a:t>
            </a:r>
            <a:endParaRPr lang="en-US" sz="3000" b="1" dirty="0"/>
          </a:p>
          <a:p>
            <a:r>
              <a:rPr lang="en-US" sz="3000" dirty="0"/>
              <a:t>No!    </a:t>
            </a:r>
          </a:p>
          <a:p>
            <a:r>
              <a:rPr lang="en-US" sz="3000" dirty="0"/>
              <a:t>Data often arrives in</a:t>
            </a:r>
            <a:r>
              <a:rPr lang="en-US" sz="3000" b="1" dirty="0"/>
              <a:t> massive volume streams, requiring online processing </a:t>
            </a:r>
          </a:p>
          <a:p>
            <a:pPr lvl="1"/>
            <a:r>
              <a:rPr lang="en-US" dirty="0"/>
              <a:t>IOT/Sensor data – many applications    </a:t>
            </a:r>
          </a:p>
          <a:p>
            <a:pPr lvl="1"/>
            <a:r>
              <a:rPr lang="en-US" dirty="0"/>
              <a:t>Capital markets data  </a:t>
            </a:r>
          </a:p>
          <a:p>
            <a:pPr lvl="1"/>
            <a:r>
              <a:rPr lang="en-US" dirty="0"/>
              <a:t>E-commerce click streams and purchases  </a:t>
            </a:r>
          </a:p>
          <a:p>
            <a:pPr lvl="1"/>
            <a:r>
              <a:rPr lang="en-US" dirty="0"/>
              <a:t>Emails, social media posts, etc.</a:t>
            </a:r>
          </a:p>
          <a:p>
            <a:pPr lvl="1"/>
            <a:r>
              <a:rPr lang="en-US" dirty="0"/>
              <a:t>Logistics information</a:t>
            </a:r>
          </a:p>
          <a:p>
            <a:pPr lvl="1"/>
            <a:r>
              <a:rPr lang="en-US" dirty="0"/>
              <a:t>Agricultural data </a:t>
            </a:r>
          </a:p>
          <a:p>
            <a:pPr lvl="1"/>
            <a:r>
              <a:rPr lang="en-US" dirty="0"/>
              <a:t>Internet packet streams for cybersecurity </a:t>
            </a:r>
          </a:p>
          <a:p>
            <a:pPr lvl="1"/>
            <a:r>
              <a:rPr lang="en-US" dirty="0"/>
              <a:t>Etc.</a:t>
            </a:r>
          </a:p>
          <a:p>
            <a:r>
              <a:rPr lang="en-US" sz="3000" dirty="0"/>
              <a:t>Analytics updated as data samples arrives</a:t>
            </a:r>
          </a:p>
          <a:p>
            <a:r>
              <a:rPr lang="en-US" sz="3000" dirty="0"/>
              <a:t>We call these </a:t>
            </a:r>
            <a:r>
              <a:rPr lang="en-US" sz="3000" b="1" dirty="0"/>
              <a:t>online analytic algorithms  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Massive Scale and Online Analytics </a:t>
            </a:r>
          </a:p>
        </p:txBody>
      </p:sp>
    </p:spTree>
    <p:extLst>
      <p:ext uri="{BB962C8B-B14F-4D97-AF65-F5344CB8AC3E}">
        <p14:creationId xmlns:p14="http://schemas.microsoft.com/office/powerpoint/2010/main" val="115420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284E7B-58C6-2524-FED0-02D4C2999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94B34-96A4-9D43-4C47-88522BB81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49585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Do we always apply online analytics to real-time data?   </a:t>
            </a:r>
            <a:endParaRPr lang="en-US" b="1" dirty="0"/>
          </a:p>
          <a:p>
            <a:r>
              <a:rPr lang="en-US" dirty="0"/>
              <a:t>No!    </a:t>
            </a:r>
          </a:p>
          <a:p>
            <a:r>
              <a:rPr lang="en-US" dirty="0"/>
              <a:t>We apply online algorithms </a:t>
            </a:r>
            <a:r>
              <a:rPr lang="en-US" b="1" dirty="0"/>
              <a:t>for analytics on beyond core memory size datasets</a:t>
            </a:r>
          </a:p>
          <a:p>
            <a:r>
              <a:rPr lang="en-US" dirty="0"/>
              <a:t>Data is processed in ‘chunks’  </a:t>
            </a:r>
          </a:p>
          <a:p>
            <a:pPr lvl="1"/>
            <a:r>
              <a:rPr lang="en-US" dirty="0"/>
              <a:t>Example, read files one or a few lines at a time </a:t>
            </a:r>
          </a:p>
          <a:p>
            <a:pPr lvl="1"/>
            <a:r>
              <a:rPr lang="en-US" dirty="0"/>
              <a:t>Example, use a series of limited data base queries </a:t>
            </a:r>
          </a:p>
          <a:p>
            <a:r>
              <a:rPr lang="en-US" dirty="0"/>
              <a:t>Analytics updated for each chuck</a:t>
            </a:r>
          </a:p>
          <a:p>
            <a:r>
              <a:rPr lang="en-US" dirty="0"/>
              <a:t>We will use the terms streaming and online interchangeably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9BE5BEF-12CD-C3DA-4799-663F58D1EE7D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Streaming Analytics</a:t>
            </a:r>
          </a:p>
        </p:txBody>
      </p:sp>
    </p:spTree>
    <p:extLst>
      <p:ext uri="{BB962C8B-B14F-4D97-AF65-F5344CB8AC3E}">
        <p14:creationId xmlns:p14="http://schemas.microsoft.com/office/powerpoint/2010/main" val="3776648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542794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Difficulties with streaming analytics      </a:t>
            </a:r>
            <a:endParaRPr lang="en-US" b="1" dirty="0"/>
          </a:p>
          <a:p>
            <a:r>
              <a:rPr lang="en-US" dirty="0"/>
              <a:t>Example – small scale    </a:t>
            </a:r>
          </a:p>
          <a:p>
            <a:pPr lvl="1"/>
            <a:r>
              <a:rPr lang="en-US" dirty="0"/>
              <a:t>US Geological Survey maintains about 13,500 stream gauges    </a:t>
            </a:r>
          </a:p>
          <a:p>
            <a:pPr lvl="1"/>
            <a:r>
              <a:rPr lang="en-US" dirty="0"/>
              <a:t>Average of 4 types of sensors per station  </a:t>
            </a:r>
          </a:p>
          <a:p>
            <a:pPr lvl="1"/>
            <a:r>
              <a:rPr lang="en-US" dirty="0"/>
              <a:t>Each measurement is 4 bytes - 16 bytes total per sample</a:t>
            </a:r>
          </a:p>
          <a:p>
            <a:pPr lvl="1"/>
            <a:r>
              <a:rPr lang="en-US" dirty="0"/>
              <a:t>Each gauge collects data sample every 15 mins    </a:t>
            </a:r>
          </a:p>
          <a:p>
            <a:pPr lvl="1"/>
            <a:r>
              <a:rPr lang="en-US" dirty="0"/>
              <a:t>Data uploaded every 4 hours – 6 sets of measurements per day – 1,536 bytes  </a:t>
            </a:r>
          </a:p>
          <a:p>
            <a:pPr lvl="1"/>
            <a:r>
              <a:rPr lang="en-US" dirty="0"/>
              <a:t>Total of 5.4 M bytes per day for network</a:t>
            </a:r>
          </a:p>
          <a:p>
            <a:pPr lvl="1"/>
            <a:r>
              <a:rPr lang="en-US" dirty="0"/>
              <a:t> 2 G bytes per year for archive </a:t>
            </a:r>
          </a:p>
          <a:p>
            <a:r>
              <a:rPr lang="en-US" dirty="0"/>
              <a:t>But, </a:t>
            </a:r>
            <a:r>
              <a:rPr lang="en-US" b="1" dirty="0"/>
              <a:t>network bandwidth is limited </a:t>
            </a:r>
          </a:p>
          <a:p>
            <a:pPr lvl="1"/>
            <a:r>
              <a:rPr lang="en-US" dirty="0"/>
              <a:t>Sensors often connected by point-to-point wireless connections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Streaming Analytics</a:t>
            </a:r>
          </a:p>
        </p:txBody>
      </p:sp>
    </p:spTree>
    <p:extLst>
      <p:ext uri="{BB962C8B-B14F-4D97-AF65-F5344CB8AC3E}">
        <p14:creationId xmlns:p14="http://schemas.microsoft.com/office/powerpoint/2010/main" val="4018650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495851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Difficulties with streaming analytics      </a:t>
            </a:r>
            <a:endParaRPr lang="en-US" b="1" dirty="0"/>
          </a:p>
          <a:p>
            <a:r>
              <a:rPr lang="en-US" dirty="0"/>
              <a:t>Data volumes can be massive   </a:t>
            </a:r>
          </a:p>
          <a:p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Example – Large scale    </a:t>
            </a:r>
          </a:p>
          <a:p>
            <a:pPr lvl="1"/>
            <a:r>
              <a:rPr lang="en-US" dirty="0"/>
              <a:t>Power generation company with 10</a:t>
            </a:r>
            <a:r>
              <a:rPr lang="en-US" baseline="30000" dirty="0"/>
              <a:t>6</a:t>
            </a:r>
            <a:r>
              <a:rPr lang="en-US" dirty="0"/>
              <a:t> solar panels and inverters      </a:t>
            </a:r>
          </a:p>
          <a:p>
            <a:pPr lvl="1"/>
            <a:r>
              <a:rPr lang="en-US" dirty="0"/>
              <a:t>5 sensors with 4 bytes per sensor every 10 </a:t>
            </a:r>
            <a:r>
              <a:rPr lang="en-US" dirty="0" err="1"/>
              <a:t>ms</a:t>
            </a:r>
            <a:r>
              <a:rPr lang="en-US" dirty="0"/>
              <a:t> per inverter  </a:t>
            </a:r>
          </a:p>
          <a:p>
            <a:pPr lvl="1"/>
            <a:r>
              <a:rPr lang="en-US" dirty="0"/>
              <a:t>1,7 x 10</a:t>
            </a:r>
            <a:r>
              <a:rPr lang="en-US" baseline="30000" dirty="0"/>
              <a:t>9</a:t>
            </a:r>
            <a:r>
              <a:rPr lang="en-US" dirty="0"/>
              <a:t>  bytes per inverter per day   </a:t>
            </a:r>
          </a:p>
          <a:p>
            <a:pPr lvl="1"/>
            <a:r>
              <a:rPr lang="en-US" dirty="0"/>
              <a:t>1.7 x 10</a:t>
            </a:r>
            <a:r>
              <a:rPr lang="en-US" baseline="30000" dirty="0"/>
              <a:t>15</a:t>
            </a:r>
            <a:r>
              <a:rPr lang="en-US" dirty="0"/>
              <a:t> bytes total per day = 1700 petabytes</a:t>
            </a:r>
          </a:p>
          <a:p>
            <a:r>
              <a:rPr lang="en-US" dirty="0"/>
              <a:t>Network bandwidth is limited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Streaming Analytics</a:t>
            </a:r>
          </a:p>
        </p:txBody>
      </p:sp>
    </p:spTree>
    <p:extLst>
      <p:ext uri="{BB962C8B-B14F-4D97-AF65-F5344CB8AC3E}">
        <p14:creationId xmlns:p14="http://schemas.microsoft.com/office/powerpoint/2010/main" val="3854372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495851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Difficulties with streaming analytics      </a:t>
            </a:r>
            <a:endParaRPr lang="en-US" b="1" dirty="0"/>
          </a:p>
          <a:p>
            <a:r>
              <a:rPr lang="en-US" dirty="0"/>
              <a:t>Streams are </a:t>
            </a:r>
            <a:r>
              <a:rPr lang="en-US" b="1" dirty="0"/>
              <a:t>infinite </a:t>
            </a:r>
            <a:r>
              <a:rPr lang="en-US" dirty="0"/>
              <a:t>with unlimited data volume</a:t>
            </a:r>
          </a:p>
          <a:p>
            <a:r>
              <a:rPr lang="en-US" dirty="0"/>
              <a:t>Results must be updated as new values arrive   </a:t>
            </a:r>
          </a:p>
          <a:p>
            <a:r>
              <a:rPr lang="en-US" dirty="0"/>
              <a:t>How to treat older values?  </a:t>
            </a:r>
          </a:p>
          <a:p>
            <a:pPr lvl="1"/>
            <a:r>
              <a:rPr lang="en-US" dirty="0"/>
              <a:t>How much should older values weight in the analytic results?  </a:t>
            </a:r>
          </a:p>
          <a:p>
            <a:pPr lvl="1"/>
            <a:r>
              <a:rPr lang="en-US" dirty="0"/>
              <a:t>How much storage capacity is required for the history?   </a:t>
            </a:r>
          </a:p>
          <a:p>
            <a:r>
              <a:rPr lang="en-US" dirty="0"/>
              <a:t>We can filter massive streams  </a:t>
            </a:r>
          </a:p>
          <a:p>
            <a:pPr lvl="1"/>
            <a:r>
              <a:rPr lang="en-US" dirty="0"/>
              <a:t>Reduce volume of stream data for processing   </a:t>
            </a:r>
          </a:p>
          <a:p>
            <a:pPr lvl="1"/>
            <a:r>
              <a:rPr lang="en-US" dirty="0"/>
              <a:t>Use filtered values to update analytics      </a:t>
            </a:r>
          </a:p>
          <a:p>
            <a:r>
              <a:rPr lang="en-US" dirty="0"/>
              <a:t>Idea: compute and store only summary statistics  </a:t>
            </a:r>
          </a:p>
          <a:p>
            <a:pPr lvl="1"/>
            <a:r>
              <a:rPr lang="en-US" dirty="0"/>
              <a:t>Massive reduction in volume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Streaming Analytics</a:t>
            </a:r>
          </a:p>
        </p:txBody>
      </p:sp>
    </p:spTree>
    <p:extLst>
      <p:ext uri="{BB962C8B-B14F-4D97-AF65-F5344CB8AC3E}">
        <p14:creationId xmlns:p14="http://schemas.microsoft.com/office/powerpoint/2010/main" val="4074095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67CE9-62D8-FA73-FF0B-7B188D7C0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A999B0-F547-CCFE-8346-C83223A52C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1" y="1222460"/>
            <a:ext cx="10775169" cy="50609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What are the key points to learn in this lesson?   </a:t>
            </a:r>
            <a:endParaRPr lang="en-US" b="1" dirty="0"/>
          </a:p>
          <a:p>
            <a:r>
              <a:rPr lang="en-US" dirty="0"/>
              <a:t>Massive dataset and infinite streams include both real-valued and discrete-valued (event) data</a:t>
            </a:r>
          </a:p>
          <a:p>
            <a:r>
              <a:rPr lang="en-US" dirty="0"/>
              <a:t>We must use probabilistic sketch (hash) algorithms to filter massive online datasets</a:t>
            </a:r>
          </a:p>
          <a:p>
            <a:r>
              <a:rPr lang="en-US" dirty="0"/>
              <a:t>Sketches (hashes) are used to perform streaming analytics within computation and memory limits for both real valued and discrete streams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7804F4F-2373-30AC-1B30-813DB7B5743B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Streaming Analytics</a:t>
            </a:r>
          </a:p>
        </p:txBody>
      </p:sp>
    </p:spTree>
    <p:extLst>
      <p:ext uri="{BB962C8B-B14F-4D97-AF65-F5344CB8AC3E}">
        <p14:creationId xmlns:p14="http://schemas.microsoft.com/office/powerpoint/2010/main" val="861719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58A53-02ED-2A92-6B34-3858E9540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6B006-2CF5-CECF-8F1E-0E2D08B2D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1" y="1222459"/>
            <a:ext cx="10775169" cy="537215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This lesson is divided into several parts  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Sampling methods for reducing volume of real-valued streams</a:t>
            </a:r>
          </a:p>
          <a:p>
            <a:pPr lvl="1"/>
            <a:r>
              <a:rPr lang="en-US" dirty="0"/>
              <a:t>We cannot process or store all of the values in a stream  </a:t>
            </a:r>
          </a:p>
          <a:p>
            <a:pPr lvl="1"/>
            <a:r>
              <a:rPr lang="en-US" dirty="0"/>
              <a:t>Use sampling methods to reduce volume to manageable level</a:t>
            </a:r>
          </a:p>
          <a:p>
            <a:pPr lvl="1"/>
            <a:r>
              <a:rPr lang="en-US" dirty="0"/>
              <a:t>Basic sampling and averaging  </a:t>
            </a:r>
          </a:p>
          <a:p>
            <a:pPr lvl="1"/>
            <a:r>
              <a:rPr lang="en-US" dirty="0"/>
              <a:t>Probabilistic sampling – the reservoir sampling algorithm for unbiased sampling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Probabilistic hash or sketch methods for reducing volume and summarizing discrete events  </a:t>
            </a:r>
          </a:p>
          <a:p>
            <a:pPr lvl="1"/>
            <a:r>
              <a:rPr lang="en-US" dirty="0"/>
              <a:t>Filtering discrete events to reduce volume – Bloom and quotient filters  </a:t>
            </a:r>
          </a:p>
          <a:p>
            <a:pPr lvl="1"/>
            <a:r>
              <a:rPr lang="en-US" dirty="0"/>
              <a:t>Estimating event frequency – count-min-sketch algorithm for counting events</a:t>
            </a:r>
          </a:p>
          <a:p>
            <a:pPr lvl="1"/>
            <a:r>
              <a:rPr lang="en-US" dirty="0"/>
              <a:t>Estimating event cardinality –</a:t>
            </a:r>
            <a:r>
              <a:rPr lang="en-US" dirty="0" err="1"/>
              <a:t>Hyperloglog</a:t>
            </a:r>
            <a:r>
              <a:rPr lang="en-US" dirty="0"/>
              <a:t> algorithm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Probabilistic hash or sketch methods for quantile estimation to summarize real-valued streams</a:t>
            </a:r>
          </a:p>
          <a:p>
            <a:pPr lvl="1"/>
            <a:r>
              <a:rPr lang="en-US" dirty="0"/>
              <a:t>The t-digest and relative error quantile (REQ) sketch algorithms 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F10B0F2-F2C1-F908-0B11-1B56CE8E6C71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Streaming Analytics</a:t>
            </a:r>
          </a:p>
        </p:txBody>
      </p:sp>
    </p:spTree>
    <p:extLst>
      <p:ext uri="{BB962C8B-B14F-4D97-AF65-F5344CB8AC3E}">
        <p14:creationId xmlns:p14="http://schemas.microsoft.com/office/powerpoint/2010/main" val="1849536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1" y="1324928"/>
            <a:ext cx="6903321" cy="54279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Useful book on algorithms for massive scale streaming analytics </a:t>
            </a:r>
          </a:p>
          <a:p>
            <a:r>
              <a:rPr lang="en-US" dirty="0">
                <a:hlinkClick r:id="rId2"/>
              </a:rPr>
              <a:t>Algorithms for Massive Datasets, </a:t>
            </a:r>
            <a:r>
              <a:rPr lang="en-US" dirty="0" err="1">
                <a:hlinkClick r:id="rId2"/>
              </a:rPr>
              <a:t>Medjedovic</a:t>
            </a:r>
            <a:r>
              <a:rPr lang="en-US" dirty="0">
                <a:hlinkClick r:id="rId2"/>
              </a:rPr>
              <a:t>, </a:t>
            </a:r>
            <a:r>
              <a:rPr lang="en-US" dirty="0" err="1">
                <a:hlinkClick r:id="rId2"/>
              </a:rPr>
              <a:t>Tahirovic</a:t>
            </a:r>
            <a:r>
              <a:rPr lang="en-US" dirty="0">
                <a:hlinkClick r:id="rId2"/>
              </a:rPr>
              <a:t>, and </a:t>
            </a:r>
            <a:r>
              <a:rPr lang="en-US" dirty="0" err="1">
                <a:hlinkClick r:id="rId2"/>
              </a:rPr>
              <a:t>Dedovic</a:t>
            </a:r>
            <a:r>
              <a:rPr lang="en-US" dirty="0">
                <a:hlinkClick r:id="rId2"/>
              </a:rPr>
              <a:t>, Manning, 202</a:t>
            </a:r>
            <a:r>
              <a:rPr lang="en-US" dirty="0"/>
              <a:t>2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Streaming Analytics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5203AD4-4884-5D0A-EDDC-437D2820F8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6534" y="1547208"/>
            <a:ext cx="3429000" cy="4295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18343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637D8-D9D7-CAF2-C7D0-710F2C880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Streaming Pipelines</a:t>
            </a:r>
          </a:p>
        </p:txBody>
      </p:sp>
    </p:spTree>
    <p:extLst>
      <p:ext uri="{BB962C8B-B14F-4D97-AF65-F5344CB8AC3E}">
        <p14:creationId xmlns:p14="http://schemas.microsoft.com/office/powerpoint/2010/main" val="32618164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144" y="1121422"/>
            <a:ext cx="4816492" cy="56363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Components of stream analytics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Multiple </a:t>
            </a:r>
            <a:r>
              <a:rPr lang="en-US" sz="2400" b="1" dirty="0"/>
              <a:t>input streams </a:t>
            </a:r>
            <a:r>
              <a:rPr lang="en-US" sz="2400" dirty="0"/>
              <a:t>– potentially different data types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Network bandwidth often limited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Real-time </a:t>
            </a:r>
            <a:r>
              <a:rPr lang="en-US" sz="2400" b="1" dirty="0"/>
              <a:t>stream processor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Real-time stream analytics </a:t>
            </a:r>
            <a:r>
              <a:rPr lang="en-US" sz="2400" b="1" dirty="0"/>
              <a:t>output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b="1" dirty="0"/>
              <a:t>Limited working storage</a:t>
            </a:r>
            <a:r>
              <a:rPr lang="en-US" sz="2400" dirty="0"/>
              <a:t> for real-time processing  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b="1" dirty="0"/>
              <a:t>Ad-Hoc query </a:t>
            </a:r>
            <a:r>
              <a:rPr lang="en-US" sz="2400" dirty="0"/>
              <a:t>capability – typically limited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Limited long-term </a:t>
            </a:r>
            <a:r>
              <a:rPr lang="en-US" sz="2400" b="1" dirty="0"/>
              <a:t>archival storage 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Streaming Analytics</a:t>
            </a:r>
          </a:p>
        </p:txBody>
      </p:sp>
      <p:sp>
        <p:nvSpPr>
          <p:cNvPr id="4" name="Footer Placeholder 18">
            <a:extLst>
              <a:ext uri="{FF2B5EF4-FFF2-40B4-BE49-F238E27FC236}">
                <a16:creationId xmlns:a16="http://schemas.microsoft.com/office/drawing/2014/main" id="{75EC02B1-885C-4C88-856F-12191C17A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906505" y="6546723"/>
            <a:ext cx="7233915" cy="274320"/>
          </a:xfrm>
        </p:spPr>
        <p:txBody>
          <a:bodyPr/>
          <a:lstStyle/>
          <a:p>
            <a:r>
              <a:rPr lang="en-US" dirty="0"/>
              <a:t>Credit: J. </a:t>
            </a:r>
            <a:r>
              <a:rPr lang="en-US" dirty="0" err="1"/>
              <a:t>Leskovec</a:t>
            </a:r>
            <a:r>
              <a:rPr lang="en-US" dirty="0"/>
              <a:t>, A. Rajaraman, J. Ullman: Mining of Massive Datasets, http://www.mmds.org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97F81AE0-D05E-4D33-83B0-3B85526BB7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39504" y="2013479"/>
            <a:ext cx="2057400" cy="1828800"/>
          </a:xfrm>
          <a:prstGeom prst="rect">
            <a:avLst/>
          </a:prstGeom>
          <a:solidFill>
            <a:srgbClr val="339966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b="1" dirty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en-US" sz="2400" b="1" dirty="0">
                <a:latin typeface="Arial" pitchFamily="34" charset="0"/>
                <a:cs typeface="Arial" pitchFamily="34" charset="0"/>
              </a:rPr>
              <a:t>Processor</a:t>
            </a:r>
            <a:endParaRPr lang="en-US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AutoShape 3">
            <a:extLst>
              <a:ext uri="{FF2B5EF4-FFF2-40B4-BE49-F238E27FC236}">
                <a16:creationId xmlns:a16="http://schemas.microsoft.com/office/drawing/2014/main" id="{9E988F44-8169-4785-BFE3-00D20D96CE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06980" y="4550403"/>
            <a:ext cx="1219200" cy="1676400"/>
          </a:xfrm>
          <a:prstGeom prst="can">
            <a:avLst>
              <a:gd name="adj" fmla="val 34375"/>
            </a:avLst>
          </a:prstGeom>
          <a:solidFill>
            <a:srgbClr val="FFFF00">
              <a:alpha val="50195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latin typeface="Arial" pitchFamily="34" charset="0"/>
                <a:cs typeface="Arial" pitchFamily="34" charset="0"/>
              </a:rPr>
              <a:t>Limited</a:t>
            </a:r>
          </a:p>
          <a:p>
            <a:pPr algn="ctr"/>
            <a:r>
              <a:rPr lang="en-US" b="1" dirty="0">
                <a:latin typeface="Arial" pitchFamily="34" charset="0"/>
                <a:cs typeface="Arial" pitchFamily="34" charset="0"/>
              </a:rPr>
              <a:t>Working</a:t>
            </a:r>
          </a:p>
          <a:p>
            <a:pPr algn="ctr"/>
            <a:r>
              <a:rPr lang="en-US" b="1" dirty="0">
                <a:latin typeface="Arial" pitchFamily="34" charset="0"/>
                <a:cs typeface="Arial" pitchFamily="34" charset="0"/>
              </a:rPr>
              <a:t>Storage</a:t>
            </a:r>
          </a:p>
        </p:txBody>
      </p:sp>
      <p:sp>
        <p:nvSpPr>
          <p:cNvPr id="9" name="Line 4">
            <a:extLst>
              <a:ext uri="{FF2B5EF4-FFF2-40B4-BE49-F238E27FC236}">
                <a16:creationId xmlns:a16="http://schemas.microsoft.com/office/drawing/2014/main" id="{8B628F77-2BB7-4811-9544-F6FFCFCAA12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139504" y="3636003"/>
            <a:ext cx="76200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Line 5">
            <a:extLst>
              <a:ext uri="{FF2B5EF4-FFF2-40B4-BE49-F238E27FC236}">
                <a16:creationId xmlns:a16="http://schemas.microsoft.com/office/drawing/2014/main" id="{FEB312B8-3B25-4539-A128-515C7850708F}"/>
              </a:ext>
            </a:extLst>
          </p:cNvPr>
          <p:cNvSpPr>
            <a:spLocks noChangeShapeType="1"/>
          </p:cNvSpPr>
          <p:nvPr/>
        </p:nvSpPr>
        <p:spPr bwMode="auto">
          <a:xfrm>
            <a:off x="7453704" y="2394479"/>
            <a:ext cx="685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Line 6">
            <a:extLst>
              <a:ext uri="{FF2B5EF4-FFF2-40B4-BE49-F238E27FC236}">
                <a16:creationId xmlns:a16="http://schemas.microsoft.com/office/drawing/2014/main" id="{3CE67D50-B772-43BA-8D06-7F8D0F8BBBF9}"/>
              </a:ext>
            </a:extLst>
          </p:cNvPr>
          <p:cNvSpPr>
            <a:spLocks noChangeShapeType="1"/>
          </p:cNvSpPr>
          <p:nvPr/>
        </p:nvSpPr>
        <p:spPr bwMode="auto">
          <a:xfrm>
            <a:off x="7453704" y="2927879"/>
            <a:ext cx="685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Line 7">
            <a:extLst>
              <a:ext uri="{FF2B5EF4-FFF2-40B4-BE49-F238E27FC236}">
                <a16:creationId xmlns:a16="http://schemas.microsoft.com/office/drawing/2014/main" id="{20302AF6-9301-4FC1-BF4A-5D8B26C3A02B}"/>
              </a:ext>
            </a:extLst>
          </p:cNvPr>
          <p:cNvSpPr>
            <a:spLocks noChangeShapeType="1"/>
          </p:cNvSpPr>
          <p:nvPr/>
        </p:nvSpPr>
        <p:spPr bwMode="auto">
          <a:xfrm>
            <a:off x="7453704" y="3461279"/>
            <a:ext cx="685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Text Box 8">
            <a:extLst>
              <a:ext uri="{FF2B5EF4-FFF2-40B4-BE49-F238E27FC236}">
                <a16:creationId xmlns:a16="http://schemas.microsoft.com/office/drawing/2014/main" id="{34CF8D37-126D-4928-B5D1-D5C230987C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6169" y="2165879"/>
            <a:ext cx="2236510" cy="31393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/>
            <a:r>
              <a:rPr lang="en-US" dirty="0">
                <a:latin typeface="Arial" pitchFamily="34" charset="0"/>
                <a:cs typeface="Arial" pitchFamily="34" charset="0"/>
              </a:rPr>
              <a:t>. . . 1, 5, 2, 7, 0, 9, 3</a:t>
            </a:r>
          </a:p>
          <a:p>
            <a:endParaRPr lang="en-US" dirty="0">
              <a:latin typeface="Arial" pitchFamily="34" charset="0"/>
              <a:cs typeface="Arial" pitchFamily="34" charset="0"/>
            </a:endParaRPr>
          </a:p>
          <a:p>
            <a:pPr algn="r"/>
            <a:r>
              <a:rPr lang="en-US" dirty="0">
                <a:latin typeface="Arial" pitchFamily="34" charset="0"/>
                <a:cs typeface="Arial" pitchFamily="34" charset="0"/>
              </a:rPr>
              <a:t>. . .   a, r, v, t, y, h, b</a:t>
            </a:r>
          </a:p>
          <a:p>
            <a:endParaRPr lang="en-US" dirty="0">
              <a:latin typeface="Arial" pitchFamily="34" charset="0"/>
              <a:cs typeface="Arial" pitchFamily="34" charset="0"/>
            </a:endParaRPr>
          </a:p>
          <a:p>
            <a:pPr algn="r"/>
            <a:r>
              <a:rPr lang="en-US" dirty="0">
                <a:latin typeface="Arial" pitchFamily="34" charset="0"/>
                <a:cs typeface="Arial" pitchFamily="34" charset="0"/>
              </a:rPr>
              <a:t>. . . 0, 0, 1, 0, 1, 1, 0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                     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time</a:t>
            </a:r>
          </a:p>
          <a:p>
            <a:endParaRPr lang="en-US" dirty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en-US" b="1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Streams Entering.</a:t>
            </a:r>
          </a:p>
          <a:p>
            <a:pPr algn="ctr"/>
            <a:r>
              <a:rPr lang="en-US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Each is stream is </a:t>
            </a:r>
            <a:br>
              <a:rPr lang="en-US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</a:br>
            <a:r>
              <a:rPr lang="en-US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composed of </a:t>
            </a:r>
            <a:br>
              <a:rPr lang="en-US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</a:br>
            <a:r>
              <a:rPr lang="en-US" b="1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elements</a:t>
            </a:r>
            <a:r>
              <a:rPr lang="en-US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/</a:t>
            </a:r>
            <a:r>
              <a:rPr lang="en-US" b="1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tuples</a:t>
            </a:r>
          </a:p>
        </p:txBody>
      </p:sp>
      <p:sp>
        <p:nvSpPr>
          <p:cNvPr id="14" name="Line 9">
            <a:extLst>
              <a:ext uri="{FF2B5EF4-FFF2-40B4-BE49-F238E27FC236}">
                <a16:creationId xmlns:a16="http://schemas.microsoft.com/office/drawing/2014/main" id="{B70F990C-79AB-41A9-ABE2-7BE35669E6F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43904" y="3749846"/>
            <a:ext cx="1175466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5" name="Text Box 10">
            <a:extLst>
              <a:ext uri="{FF2B5EF4-FFF2-40B4-BE49-F238E27FC236}">
                <a16:creationId xmlns:a16="http://schemas.microsoft.com/office/drawing/2014/main" id="{B770C673-A7DC-4450-AFA5-90E0FB2AC2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49104" y="1008472"/>
            <a:ext cx="1043876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Ad-Hoc</a:t>
            </a:r>
          </a:p>
          <a:p>
            <a:r>
              <a:rPr lang="en-US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Queries</a:t>
            </a:r>
          </a:p>
        </p:txBody>
      </p:sp>
      <p:sp>
        <p:nvSpPr>
          <p:cNvPr id="16" name="Line 11">
            <a:extLst>
              <a:ext uri="{FF2B5EF4-FFF2-40B4-BE49-F238E27FC236}">
                <a16:creationId xmlns:a16="http://schemas.microsoft.com/office/drawing/2014/main" id="{D220F095-33D9-4DFB-AFE4-E6A4719C6016}"/>
              </a:ext>
            </a:extLst>
          </p:cNvPr>
          <p:cNvSpPr>
            <a:spLocks noChangeShapeType="1"/>
          </p:cNvSpPr>
          <p:nvPr/>
        </p:nvSpPr>
        <p:spPr bwMode="auto">
          <a:xfrm>
            <a:off x="9206304" y="1578603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7" name="Text Box 12">
            <a:extLst>
              <a:ext uri="{FF2B5EF4-FFF2-40B4-BE49-F238E27FC236}">
                <a16:creationId xmlns:a16="http://schemas.microsoft.com/office/drawing/2014/main" id="{521FB31B-66BC-4506-A136-290FFB5C42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95428" y="2713566"/>
            <a:ext cx="94128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Output</a:t>
            </a:r>
          </a:p>
        </p:txBody>
      </p:sp>
      <p:sp>
        <p:nvSpPr>
          <p:cNvPr id="18" name="Line 14">
            <a:extLst>
              <a:ext uri="{FF2B5EF4-FFF2-40B4-BE49-F238E27FC236}">
                <a16:creationId xmlns:a16="http://schemas.microsoft.com/office/drawing/2014/main" id="{F08B25D9-387A-4670-A3C0-75772C905E8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196904" y="2927879"/>
            <a:ext cx="914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9" name="AutoShape 15">
            <a:extLst>
              <a:ext uri="{FF2B5EF4-FFF2-40B4-BE49-F238E27FC236}">
                <a16:creationId xmlns:a16="http://schemas.microsoft.com/office/drawing/2014/main" id="{774BDFEE-E9C1-4094-81E6-2CA81B8AC3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2980" y="4931403"/>
            <a:ext cx="1676400" cy="1676400"/>
          </a:xfrm>
          <a:prstGeom prst="can">
            <a:avLst>
              <a:gd name="adj" fmla="val 28409"/>
            </a:avLst>
          </a:prstGeom>
          <a:solidFill>
            <a:srgbClr val="FFFF00">
              <a:alpha val="50195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>
                <a:latin typeface="Arial" pitchFamily="34" charset="0"/>
                <a:cs typeface="Arial" pitchFamily="34" charset="0"/>
              </a:rPr>
              <a:t>Archival</a:t>
            </a:r>
          </a:p>
          <a:p>
            <a:pPr algn="ctr"/>
            <a:r>
              <a:rPr lang="en-US" b="1">
                <a:latin typeface="Arial" pitchFamily="34" charset="0"/>
                <a:cs typeface="Arial" pitchFamily="34" charset="0"/>
              </a:rPr>
              <a:t>Storage</a:t>
            </a:r>
          </a:p>
        </p:txBody>
      </p:sp>
      <p:sp>
        <p:nvSpPr>
          <p:cNvPr id="20" name="Line 16">
            <a:extLst>
              <a:ext uri="{FF2B5EF4-FFF2-40B4-BE49-F238E27FC236}">
                <a16:creationId xmlns:a16="http://schemas.microsoft.com/office/drawing/2014/main" id="{A795599F-9276-47EC-B6ED-3ED7EA665015}"/>
              </a:ext>
            </a:extLst>
          </p:cNvPr>
          <p:cNvSpPr>
            <a:spLocks noChangeShapeType="1"/>
          </p:cNvSpPr>
          <p:nvPr/>
        </p:nvSpPr>
        <p:spPr bwMode="auto">
          <a:xfrm>
            <a:off x="9358704" y="3636003"/>
            <a:ext cx="1295400" cy="1295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21" name="Rectangle 18">
            <a:extLst>
              <a:ext uri="{FF2B5EF4-FFF2-40B4-BE49-F238E27FC236}">
                <a16:creationId xmlns:a16="http://schemas.microsoft.com/office/drawing/2014/main" id="{C1BEF69B-DA2E-4ECB-83C2-2F17346882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53904" y="2089679"/>
            <a:ext cx="1066800" cy="685800"/>
          </a:xfrm>
          <a:prstGeom prst="rect">
            <a:avLst/>
          </a:prstGeom>
          <a:solidFill>
            <a:srgbClr val="FFCC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latin typeface="Arial" pitchFamily="34" charset="0"/>
                <a:cs typeface="Arial" pitchFamily="34" charset="0"/>
              </a:rPr>
              <a:t>Standing</a:t>
            </a:r>
          </a:p>
          <a:p>
            <a:pPr algn="ctr"/>
            <a:r>
              <a:rPr lang="en-US" b="1" dirty="0">
                <a:latin typeface="Arial" pitchFamily="34" charset="0"/>
                <a:cs typeface="Arial" pitchFamily="34" charset="0"/>
              </a:rPr>
              <a:t>Queries</a:t>
            </a:r>
          </a:p>
        </p:txBody>
      </p:sp>
    </p:spTree>
    <p:extLst>
      <p:ext uri="{BB962C8B-B14F-4D97-AF65-F5344CB8AC3E}">
        <p14:creationId xmlns:p14="http://schemas.microsoft.com/office/powerpoint/2010/main" val="2560967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/>
      <p:bldP spid="14" grpId="0" animBg="1"/>
      <p:bldP spid="15" grpId="0"/>
      <p:bldP spid="16" grpId="0" animBg="1"/>
      <p:bldP spid="17" grpId="0"/>
      <p:bldP spid="18" grpId="0" animBg="1"/>
      <p:bldP spid="19" grpId="0" animBg="1"/>
      <p:bldP spid="20" grpId="0" animBg="1"/>
      <p:bldP spid="2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495851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Push most processing to the periphery of network </a:t>
            </a:r>
            <a:endParaRPr lang="en-US" b="1" dirty="0"/>
          </a:p>
          <a:p>
            <a:r>
              <a:rPr lang="en-US" dirty="0"/>
              <a:t>Network bandwidth is major limitation for large networks </a:t>
            </a:r>
          </a:p>
          <a:p>
            <a:pPr lvl="1"/>
            <a:r>
              <a:rPr lang="en-US" dirty="0"/>
              <a:t>Consider IoT application with 100,000 sensors </a:t>
            </a:r>
          </a:p>
          <a:p>
            <a:pPr lvl="1"/>
            <a:r>
              <a:rPr lang="en-US" dirty="0"/>
              <a:t>At 1 sec sampling interval reporting rate is 360 M samples (messages) per hour</a:t>
            </a:r>
          </a:p>
          <a:p>
            <a:pPr lvl="1"/>
            <a:r>
              <a:rPr lang="en-US" dirty="0"/>
              <a:t>Statistic aggregated to 10 min reporting rate is 600 K samples (messages) per hour </a:t>
            </a:r>
          </a:p>
          <a:p>
            <a:r>
              <a:rPr lang="en-US" dirty="0"/>
              <a:t>Many peripheral devices have considerable processing power </a:t>
            </a:r>
          </a:p>
          <a:p>
            <a:pPr lvl="1"/>
            <a:r>
              <a:rPr lang="en-US" dirty="0"/>
              <a:t>We can take advantage of the idle capacity </a:t>
            </a:r>
          </a:p>
          <a:p>
            <a:pPr lvl="1"/>
            <a:r>
              <a:rPr lang="en-US" dirty="0"/>
              <a:t>Greatly reduce load on networks and central processing </a:t>
            </a:r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Processing of Stream Data</a:t>
            </a:r>
          </a:p>
        </p:txBody>
      </p:sp>
    </p:spTree>
    <p:extLst>
      <p:ext uri="{BB962C8B-B14F-4D97-AF65-F5344CB8AC3E}">
        <p14:creationId xmlns:p14="http://schemas.microsoft.com/office/powerpoint/2010/main" val="547470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2F3E4-DE52-444A-7FE0-6E42DA66E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5BE1092-1A71-885E-30E5-4F2F6052669F}"/>
              </a:ext>
            </a:extLst>
          </p:cNvPr>
          <p:cNvSpPr txBox="1">
            <a:spLocks/>
          </p:cNvSpPr>
          <p:nvPr/>
        </p:nvSpPr>
        <p:spPr>
          <a:xfrm>
            <a:off x="5686426" y="1609470"/>
            <a:ext cx="6257924" cy="8035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Further filtering, sampling and sketching performed as preprocessing for analytics</a:t>
            </a:r>
          </a:p>
          <a:p>
            <a:pPr marL="0" indent="0">
              <a:buNone/>
            </a:pPr>
            <a:endParaRPr lang="en-US" sz="2400" dirty="0"/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4AC73EE2-72CC-C189-8B84-98FF9FA853F4}"/>
              </a:ext>
            </a:extLst>
          </p:cNvPr>
          <p:cNvSpPr/>
          <p:nvPr/>
        </p:nvSpPr>
        <p:spPr>
          <a:xfrm>
            <a:off x="5843954" y="2543312"/>
            <a:ext cx="5509846" cy="3493477"/>
          </a:xfrm>
          <a:prstGeom prst="round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4B1087-9773-5D88-C9B6-89178EE023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144" y="1121422"/>
            <a:ext cx="11828522" cy="4725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Reducing stream data volume is key to providing real-time analytics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9AEBADD-2E30-CBE6-39E2-44F4E5A18E61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Volume Reduction and Streaming Analytics</a:t>
            </a:r>
          </a:p>
        </p:txBody>
      </p:sp>
      <p:sp>
        <p:nvSpPr>
          <p:cNvPr id="5" name="Cloud 4">
            <a:extLst>
              <a:ext uri="{FF2B5EF4-FFF2-40B4-BE49-F238E27FC236}">
                <a16:creationId xmlns:a16="http://schemas.microsoft.com/office/drawing/2014/main" id="{D08C65E3-FA95-2589-2F2D-F7D7A31FC805}"/>
              </a:ext>
            </a:extLst>
          </p:cNvPr>
          <p:cNvSpPr/>
          <p:nvPr/>
        </p:nvSpPr>
        <p:spPr>
          <a:xfrm>
            <a:off x="256557" y="2634096"/>
            <a:ext cx="1799461" cy="677078"/>
          </a:xfrm>
          <a:prstGeom prst="cloud">
            <a:avLst/>
          </a:prstGeom>
          <a:noFill/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Source</a:t>
            </a:r>
          </a:p>
        </p:txBody>
      </p:sp>
      <p:sp>
        <p:nvSpPr>
          <p:cNvPr id="22" name="Cloud 21">
            <a:extLst>
              <a:ext uri="{FF2B5EF4-FFF2-40B4-BE49-F238E27FC236}">
                <a16:creationId xmlns:a16="http://schemas.microsoft.com/office/drawing/2014/main" id="{80B060B4-BF4F-19A0-64EC-1D5FB9CD0503}"/>
              </a:ext>
            </a:extLst>
          </p:cNvPr>
          <p:cNvSpPr/>
          <p:nvPr/>
        </p:nvSpPr>
        <p:spPr>
          <a:xfrm>
            <a:off x="256556" y="3481389"/>
            <a:ext cx="1799461" cy="635095"/>
          </a:xfrm>
          <a:prstGeom prst="cloud">
            <a:avLst/>
          </a:prstGeom>
          <a:noFill/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Source</a:t>
            </a:r>
          </a:p>
        </p:txBody>
      </p:sp>
      <p:sp>
        <p:nvSpPr>
          <p:cNvPr id="23" name="Cloud 22">
            <a:extLst>
              <a:ext uri="{FF2B5EF4-FFF2-40B4-BE49-F238E27FC236}">
                <a16:creationId xmlns:a16="http://schemas.microsoft.com/office/drawing/2014/main" id="{DAA219F3-5C5A-B60B-974E-21BFFDFA1E2D}"/>
              </a:ext>
            </a:extLst>
          </p:cNvPr>
          <p:cNvSpPr/>
          <p:nvPr/>
        </p:nvSpPr>
        <p:spPr>
          <a:xfrm>
            <a:off x="227496" y="4694095"/>
            <a:ext cx="1799461" cy="694114"/>
          </a:xfrm>
          <a:prstGeom prst="cloud">
            <a:avLst/>
          </a:prstGeom>
          <a:noFill/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Source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1154615-99F6-8289-543F-B05470A2B5D1}"/>
                  </a:ext>
                </a:extLst>
              </p:cNvPr>
              <p:cNvSpPr txBox="1"/>
              <p:nvPr/>
            </p:nvSpPr>
            <p:spPr>
              <a:xfrm>
                <a:off x="885509" y="4059000"/>
                <a:ext cx="50995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1154615-99F6-8289-543F-B05470A2B5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509" y="4059000"/>
                <a:ext cx="509954" cy="70788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ctangle 24">
            <a:extLst>
              <a:ext uri="{FF2B5EF4-FFF2-40B4-BE49-F238E27FC236}">
                <a16:creationId xmlns:a16="http://schemas.microsoft.com/office/drawing/2014/main" id="{E0B6054B-B3D7-40EB-8F37-3D339B856202}"/>
              </a:ext>
            </a:extLst>
          </p:cNvPr>
          <p:cNvSpPr/>
          <p:nvPr/>
        </p:nvSpPr>
        <p:spPr>
          <a:xfrm>
            <a:off x="2332892" y="2689851"/>
            <a:ext cx="1488830" cy="621323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8545352-083A-AB8B-5BA7-F17E0A67D53A}"/>
              </a:ext>
            </a:extLst>
          </p:cNvPr>
          <p:cNvSpPr/>
          <p:nvPr/>
        </p:nvSpPr>
        <p:spPr>
          <a:xfrm>
            <a:off x="2291959" y="4766886"/>
            <a:ext cx="1488830" cy="621323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3A5C892-1371-D235-070F-D58E6AE553E8}"/>
              </a:ext>
            </a:extLst>
          </p:cNvPr>
          <p:cNvSpPr/>
          <p:nvPr/>
        </p:nvSpPr>
        <p:spPr>
          <a:xfrm>
            <a:off x="2311672" y="3495161"/>
            <a:ext cx="1488830" cy="621323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63C0B2A-FAAA-7283-9153-7EE44B280586}"/>
                  </a:ext>
                </a:extLst>
              </p:cNvPr>
              <p:cNvSpPr txBox="1"/>
              <p:nvPr/>
            </p:nvSpPr>
            <p:spPr>
              <a:xfrm>
                <a:off x="2801110" y="4028191"/>
                <a:ext cx="50995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63C0B2A-FAAA-7283-9153-7EE44B2805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1110" y="4028191"/>
                <a:ext cx="509954" cy="7078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tangle 30">
            <a:extLst>
              <a:ext uri="{FF2B5EF4-FFF2-40B4-BE49-F238E27FC236}">
                <a16:creationId xmlns:a16="http://schemas.microsoft.com/office/drawing/2014/main" id="{04FF9BF8-F6C2-D905-3F5A-787ACFC4C49F}"/>
              </a:ext>
            </a:extLst>
          </p:cNvPr>
          <p:cNvSpPr/>
          <p:nvPr/>
        </p:nvSpPr>
        <p:spPr>
          <a:xfrm>
            <a:off x="6119741" y="2696612"/>
            <a:ext cx="2513217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Filter/sample/sketch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C25E1F2-D0AC-60EC-98B2-9788D553D193}"/>
              </a:ext>
            </a:extLst>
          </p:cNvPr>
          <p:cNvSpPr/>
          <p:nvPr/>
        </p:nvSpPr>
        <p:spPr>
          <a:xfrm>
            <a:off x="6184219" y="3195319"/>
            <a:ext cx="2448740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Filter/sample/sketch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F314FFD-C2B8-0C24-67B6-EB0C1675A8EE}"/>
              </a:ext>
            </a:extLst>
          </p:cNvPr>
          <p:cNvSpPr/>
          <p:nvPr/>
        </p:nvSpPr>
        <p:spPr>
          <a:xfrm>
            <a:off x="6184219" y="4066156"/>
            <a:ext cx="2513216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Filter/sample/sketch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AB5C444-D8F2-B810-FE62-47D0C2A4F4B1}"/>
                  </a:ext>
                </a:extLst>
              </p:cNvPr>
              <p:cNvSpPr txBox="1"/>
              <p:nvPr/>
            </p:nvSpPr>
            <p:spPr>
              <a:xfrm>
                <a:off x="7209163" y="3369009"/>
                <a:ext cx="509954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54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AB5C444-D8F2-B810-FE62-47D0C2A4F4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9163" y="3369009"/>
                <a:ext cx="509954" cy="92333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24D86A61-1469-2A66-AC15-4371694EA552}"/>
              </a:ext>
            </a:extLst>
          </p:cNvPr>
          <p:cNvSpPr/>
          <p:nvPr/>
        </p:nvSpPr>
        <p:spPr>
          <a:xfrm>
            <a:off x="3864162" y="2901147"/>
            <a:ext cx="1979791" cy="288193"/>
          </a:xfrm>
          <a:custGeom>
            <a:avLst/>
            <a:gdLst>
              <a:gd name="connsiteX0" fmla="*/ 0 w 1937349"/>
              <a:gd name="connsiteY0" fmla="*/ 59181 h 276213"/>
              <a:gd name="connsiteX1" fmla="*/ 363415 w 1937349"/>
              <a:gd name="connsiteY1" fmla="*/ 276058 h 276213"/>
              <a:gd name="connsiteX2" fmla="*/ 363415 w 1937349"/>
              <a:gd name="connsiteY2" fmla="*/ 29874 h 276213"/>
              <a:gd name="connsiteX3" fmla="*/ 773723 w 1937349"/>
              <a:gd name="connsiteY3" fmla="*/ 240889 h 276213"/>
              <a:gd name="connsiteX4" fmla="*/ 791308 w 1937349"/>
              <a:gd name="connsiteY4" fmla="*/ 12289 h 276213"/>
              <a:gd name="connsiteX5" fmla="*/ 1125415 w 1937349"/>
              <a:gd name="connsiteY5" fmla="*/ 223305 h 276213"/>
              <a:gd name="connsiteX6" fmla="*/ 1178169 w 1937349"/>
              <a:gd name="connsiteY6" fmla="*/ 41597 h 276213"/>
              <a:gd name="connsiteX7" fmla="*/ 1541585 w 1937349"/>
              <a:gd name="connsiteY7" fmla="*/ 264335 h 276213"/>
              <a:gd name="connsiteX8" fmla="*/ 1570892 w 1937349"/>
              <a:gd name="connsiteY8" fmla="*/ 566 h 276213"/>
              <a:gd name="connsiteX9" fmla="*/ 1916723 w 1937349"/>
              <a:gd name="connsiteY9" fmla="*/ 193997 h 276213"/>
              <a:gd name="connsiteX10" fmla="*/ 1899138 w 1937349"/>
              <a:gd name="connsiteY10" fmla="*/ 188135 h 276213"/>
              <a:gd name="connsiteX11" fmla="*/ 1910861 w 1937349"/>
              <a:gd name="connsiteY11" fmla="*/ 205720 h 27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37349" h="276213">
                <a:moveTo>
                  <a:pt x="0" y="59181"/>
                </a:moveTo>
                <a:cubicBezTo>
                  <a:pt x="151423" y="170061"/>
                  <a:pt x="302846" y="280942"/>
                  <a:pt x="363415" y="276058"/>
                </a:cubicBezTo>
                <a:cubicBezTo>
                  <a:pt x="423984" y="271174"/>
                  <a:pt x="295030" y="35735"/>
                  <a:pt x="363415" y="29874"/>
                </a:cubicBezTo>
                <a:cubicBezTo>
                  <a:pt x="431800" y="24013"/>
                  <a:pt x="702408" y="243820"/>
                  <a:pt x="773723" y="240889"/>
                </a:cubicBezTo>
                <a:cubicBezTo>
                  <a:pt x="845038" y="237958"/>
                  <a:pt x="732693" y="15220"/>
                  <a:pt x="791308" y="12289"/>
                </a:cubicBezTo>
                <a:cubicBezTo>
                  <a:pt x="849923" y="9358"/>
                  <a:pt x="1060938" y="218420"/>
                  <a:pt x="1125415" y="223305"/>
                </a:cubicBezTo>
                <a:cubicBezTo>
                  <a:pt x="1189892" y="228190"/>
                  <a:pt x="1108807" y="34759"/>
                  <a:pt x="1178169" y="41597"/>
                </a:cubicBezTo>
                <a:cubicBezTo>
                  <a:pt x="1247531" y="48435"/>
                  <a:pt x="1476131" y="271174"/>
                  <a:pt x="1541585" y="264335"/>
                </a:cubicBezTo>
                <a:cubicBezTo>
                  <a:pt x="1607039" y="257497"/>
                  <a:pt x="1508369" y="12289"/>
                  <a:pt x="1570892" y="566"/>
                </a:cubicBezTo>
                <a:cubicBezTo>
                  <a:pt x="1633415" y="-11157"/>
                  <a:pt x="1862015" y="162736"/>
                  <a:pt x="1916723" y="193997"/>
                </a:cubicBezTo>
                <a:cubicBezTo>
                  <a:pt x="1971431" y="225258"/>
                  <a:pt x="1900115" y="186181"/>
                  <a:pt x="1899138" y="188135"/>
                </a:cubicBezTo>
                <a:cubicBezTo>
                  <a:pt x="1898161" y="190089"/>
                  <a:pt x="1916723" y="92397"/>
                  <a:pt x="1910861" y="205720"/>
                </a:cubicBezTo>
              </a:path>
            </a:pathLst>
          </a:custGeom>
          <a:noFill/>
          <a:ln w="444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A6B80842-EFA8-DD79-7131-65ACCBCC6D60}"/>
              </a:ext>
            </a:extLst>
          </p:cNvPr>
          <p:cNvSpPr/>
          <p:nvPr/>
        </p:nvSpPr>
        <p:spPr>
          <a:xfrm>
            <a:off x="3821722" y="3693497"/>
            <a:ext cx="2035067" cy="288193"/>
          </a:xfrm>
          <a:custGeom>
            <a:avLst/>
            <a:gdLst>
              <a:gd name="connsiteX0" fmla="*/ 0 w 1937349"/>
              <a:gd name="connsiteY0" fmla="*/ 59181 h 276213"/>
              <a:gd name="connsiteX1" fmla="*/ 363415 w 1937349"/>
              <a:gd name="connsiteY1" fmla="*/ 276058 h 276213"/>
              <a:gd name="connsiteX2" fmla="*/ 363415 w 1937349"/>
              <a:gd name="connsiteY2" fmla="*/ 29874 h 276213"/>
              <a:gd name="connsiteX3" fmla="*/ 773723 w 1937349"/>
              <a:gd name="connsiteY3" fmla="*/ 240889 h 276213"/>
              <a:gd name="connsiteX4" fmla="*/ 791308 w 1937349"/>
              <a:gd name="connsiteY4" fmla="*/ 12289 h 276213"/>
              <a:gd name="connsiteX5" fmla="*/ 1125415 w 1937349"/>
              <a:gd name="connsiteY5" fmla="*/ 223305 h 276213"/>
              <a:gd name="connsiteX6" fmla="*/ 1178169 w 1937349"/>
              <a:gd name="connsiteY6" fmla="*/ 41597 h 276213"/>
              <a:gd name="connsiteX7" fmla="*/ 1541585 w 1937349"/>
              <a:gd name="connsiteY7" fmla="*/ 264335 h 276213"/>
              <a:gd name="connsiteX8" fmla="*/ 1570892 w 1937349"/>
              <a:gd name="connsiteY8" fmla="*/ 566 h 276213"/>
              <a:gd name="connsiteX9" fmla="*/ 1916723 w 1937349"/>
              <a:gd name="connsiteY9" fmla="*/ 193997 h 276213"/>
              <a:gd name="connsiteX10" fmla="*/ 1899138 w 1937349"/>
              <a:gd name="connsiteY10" fmla="*/ 188135 h 276213"/>
              <a:gd name="connsiteX11" fmla="*/ 1910861 w 1937349"/>
              <a:gd name="connsiteY11" fmla="*/ 205720 h 27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37349" h="276213">
                <a:moveTo>
                  <a:pt x="0" y="59181"/>
                </a:moveTo>
                <a:cubicBezTo>
                  <a:pt x="151423" y="170061"/>
                  <a:pt x="302846" y="280942"/>
                  <a:pt x="363415" y="276058"/>
                </a:cubicBezTo>
                <a:cubicBezTo>
                  <a:pt x="423984" y="271174"/>
                  <a:pt x="295030" y="35735"/>
                  <a:pt x="363415" y="29874"/>
                </a:cubicBezTo>
                <a:cubicBezTo>
                  <a:pt x="431800" y="24013"/>
                  <a:pt x="702408" y="243820"/>
                  <a:pt x="773723" y="240889"/>
                </a:cubicBezTo>
                <a:cubicBezTo>
                  <a:pt x="845038" y="237958"/>
                  <a:pt x="732693" y="15220"/>
                  <a:pt x="791308" y="12289"/>
                </a:cubicBezTo>
                <a:cubicBezTo>
                  <a:pt x="849923" y="9358"/>
                  <a:pt x="1060938" y="218420"/>
                  <a:pt x="1125415" y="223305"/>
                </a:cubicBezTo>
                <a:cubicBezTo>
                  <a:pt x="1189892" y="228190"/>
                  <a:pt x="1108807" y="34759"/>
                  <a:pt x="1178169" y="41597"/>
                </a:cubicBezTo>
                <a:cubicBezTo>
                  <a:pt x="1247531" y="48435"/>
                  <a:pt x="1476131" y="271174"/>
                  <a:pt x="1541585" y="264335"/>
                </a:cubicBezTo>
                <a:cubicBezTo>
                  <a:pt x="1607039" y="257497"/>
                  <a:pt x="1508369" y="12289"/>
                  <a:pt x="1570892" y="566"/>
                </a:cubicBezTo>
                <a:cubicBezTo>
                  <a:pt x="1633415" y="-11157"/>
                  <a:pt x="1862015" y="162736"/>
                  <a:pt x="1916723" y="193997"/>
                </a:cubicBezTo>
                <a:cubicBezTo>
                  <a:pt x="1971431" y="225258"/>
                  <a:pt x="1900115" y="186181"/>
                  <a:pt x="1899138" y="188135"/>
                </a:cubicBezTo>
                <a:cubicBezTo>
                  <a:pt x="1898161" y="190089"/>
                  <a:pt x="1916723" y="92397"/>
                  <a:pt x="1910861" y="205720"/>
                </a:cubicBezTo>
              </a:path>
            </a:pathLst>
          </a:custGeom>
          <a:noFill/>
          <a:ln w="444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267E0EEA-9610-A113-DB03-A3506FB2B731}"/>
              </a:ext>
            </a:extLst>
          </p:cNvPr>
          <p:cNvSpPr/>
          <p:nvPr/>
        </p:nvSpPr>
        <p:spPr>
          <a:xfrm>
            <a:off x="3787666" y="4977477"/>
            <a:ext cx="2069123" cy="288193"/>
          </a:xfrm>
          <a:custGeom>
            <a:avLst/>
            <a:gdLst>
              <a:gd name="connsiteX0" fmla="*/ 0 w 1937349"/>
              <a:gd name="connsiteY0" fmla="*/ 59181 h 276213"/>
              <a:gd name="connsiteX1" fmla="*/ 363415 w 1937349"/>
              <a:gd name="connsiteY1" fmla="*/ 276058 h 276213"/>
              <a:gd name="connsiteX2" fmla="*/ 363415 w 1937349"/>
              <a:gd name="connsiteY2" fmla="*/ 29874 h 276213"/>
              <a:gd name="connsiteX3" fmla="*/ 773723 w 1937349"/>
              <a:gd name="connsiteY3" fmla="*/ 240889 h 276213"/>
              <a:gd name="connsiteX4" fmla="*/ 791308 w 1937349"/>
              <a:gd name="connsiteY4" fmla="*/ 12289 h 276213"/>
              <a:gd name="connsiteX5" fmla="*/ 1125415 w 1937349"/>
              <a:gd name="connsiteY5" fmla="*/ 223305 h 276213"/>
              <a:gd name="connsiteX6" fmla="*/ 1178169 w 1937349"/>
              <a:gd name="connsiteY6" fmla="*/ 41597 h 276213"/>
              <a:gd name="connsiteX7" fmla="*/ 1541585 w 1937349"/>
              <a:gd name="connsiteY7" fmla="*/ 264335 h 276213"/>
              <a:gd name="connsiteX8" fmla="*/ 1570892 w 1937349"/>
              <a:gd name="connsiteY8" fmla="*/ 566 h 276213"/>
              <a:gd name="connsiteX9" fmla="*/ 1916723 w 1937349"/>
              <a:gd name="connsiteY9" fmla="*/ 193997 h 276213"/>
              <a:gd name="connsiteX10" fmla="*/ 1899138 w 1937349"/>
              <a:gd name="connsiteY10" fmla="*/ 188135 h 276213"/>
              <a:gd name="connsiteX11" fmla="*/ 1910861 w 1937349"/>
              <a:gd name="connsiteY11" fmla="*/ 205720 h 27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37349" h="276213">
                <a:moveTo>
                  <a:pt x="0" y="59181"/>
                </a:moveTo>
                <a:cubicBezTo>
                  <a:pt x="151423" y="170061"/>
                  <a:pt x="302846" y="280942"/>
                  <a:pt x="363415" y="276058"/>
                </a:cubicBezTo>
                <a:cubicBezTo>
                  <a:pt x="423984" y="271174"/>
                  <a:pt x="295030" y="35735"/>
                  <a:pt x="363415" y="29874"/>
                </a:cubicBezTo>
                <a:cubicBezTo>
                  <a:pt x="431800" y="24013"/>
                  <a:pt x="702408" y="243820"/>
                  <a:pt x="773723" y="240889"/>
                </a:cubicBezTo>
                <a:cubicBezTo>
                  <a:pt x="845038" y="237958"/>
                  <a:pt x="732693" y="15220"/>
                  <a:pt x="791308" y="12289"/>
                </a:cubicBezTo>
                <a:cubicBezTo>
                  <a:pt x="849923" y="9358"/>
                  <a:pt x="1060938" y="218420"/>
                  <a:pt x="1125415" y="223305"/>
                </a:cubicBezTo>
                <a:cubicBezTo>
                  <a:pt x="1189892" y="228190"/>
                  <a:pt x="1108807" y="34759"/>
                  <a:pt x="1178169" y="41597"/>
                </a:cubicBezTo>
                <a:cubicBezTo>
                  <a:pt x="1247531" y="48435"/>
                  <a:pt x="1476131" y="271174"/>
                  <a:pt x="1541585" y="264335"/>
                </a:cubicBezTo>
                <a:cubicBezTo>
                  <a:pt x="1607039" y="257497"/>
                  <a:pt x="1508369" y="12289"/>
                  <a:pt x="1570892" y="566"/>
                </a:cubicBezTo>
                <a:cubicBezTo>
                  <a:pt x="1633415" y="-11157"/>
                  <a:pt x="1862015" y="162736"/>
                  <a:pt x="1916723" y="193997"/>
                </a:cubicBezTo>
                <a:cubicBezTo>
                  <a:pt x="1971431" y="225258"/>
                  <a:pt x="1900115" y="186181"/>
                  <a:pt x="1899138" y="188135"/>
                </a:cubicBezTo>
                <a:cubicBezTo>
                  <a:pt x="1898161" y="190089"/>
                  <a:pt x="1916723" y="92397"/>
                  <a:pt x="1910861" y="205720"/>
                </a:cubicBezTo>
              </a:path>
            </a:pathLst>
          </a:custGeom>
          <a:noFill/>
          <a:ln w="444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24D2803-1D7E-49FC-1C9B-D9D5FC43C9EF}"/>
              </a:ext>
            </a:extLst>
          </p:cNvPr>
          <p:cNvSpPr/>
          <p:nvPr/>
        </p:nvSpPr>
        <p:spPr>
          <a:xfrm>
            <a:off x="3928352" y="4059000"/>
            <a:ext cx="1878580" cy="668286"/>
          </a:xfrm>
          <a:prstGeom prst="rect">
            <a:avLst/>
          </a:prstGeom>
          <a:noFill/>
          <a:ln w="222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Bandwidth limited network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1D0B009-016C-EF27-1C61-8A3803F7156B}"/>
              </a:ext>
            </a:extLst>
          </p:cNvPr>
          <p:cNvSpPr/>
          <p:nvPr/>
        </p:nvSpPr>
        <p:spPr>
          <a:xfrm>
            <a:off x="9131897" y="2696612"/>
            <a:ext cx="1868449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Stream analytic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BBF23EE-DA3E-61EE-7D8E-46817A96C090}"/>
              </a:ext>
            </a:extLst>
          </p:cNvPr>
          <p:cNvSpPr/>
          <p:nvPr/>
        </p:nvSpPr>
        <p:spPr>
          <a:xfrm>
            <a:off x="9131897" y="3195319"/>
            <a:ext cx="1868449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Stream analytic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51F4B83-AA69-71F1-82F6-A8D9EDC0C3A3}"/>
              </a:ext>
            </a:extLst>
          </p:cNvPr>
          <p:cNvSpPr/>
          <p:nvPr/>
        </p:nvSpPr>
        <p:spPr>
          <a:xfrm>
            <a:off x="9131896" y="4066156"/>
            <a:ext cx="1868449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Stream analytic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5E0BB5A-9508-C399-6C07-CA3BCA5BEF02}"/>
              </a:ext>
            </a:extLst>
          </p:cNvPr>
          <p:cNvSpPr/>
          <p:nvPr/>
        </p:nvSpPr>
        <p:spPr>
          <a:xfrm>
            <a:off x="9135199" y="4722881"/>
            <a:ext cx="1868449" cy="861646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Classical supervised and unsupervised ML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9B9E79F-B39E-1B4A-AF1A-7D67ACC5D1E1}"/>
                  </a:ext>
                </a:extLst>
              </p:cNvPr>
              <p:cNvSpPr txBox="1"/>
              <p:nvPr/>
            </p:nvSpPr>
            <p:spPr>
              <a:xfrm>
                <a:off x="9811142" y="3451766"/>
                <a:ext cx="50995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9B9E79F-B39E-1B4A-AF1A-7D67ACC5D1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1142" y="3451766"/>
                <a:ext cx="509954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Cylinder 45">
            <a:extLst>
              <a:ext uri="{FF2B5EF4-FFF2-40B4-BE49-F238E27FC236}">
                <a16:creationId xmlns:a16="http://schemas.microsoft.com/office/drawing/2014/main" id="{CDF978BC-C8F2-94B1-7C29-0133DC4AF192}"/>
              </a:ext>
            </a:extLst>
          </p:cNvPr>
          <p:cNvSpPr/>
          <p:nvPr/>
        </p:nvSpPr>
        <p:spPr>
          <a:xfrm>
            <a:off x="6204768" y="4722881"/>
            <a:ext cx="2513216" cy="873333"/>
          </a:xfrm>
          <a:prstGeom prst="can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Archival storage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AE6CD984-85B0-8F37-B385-7345D979A53A}"/>
              </a:ext>
            </a:extLst>
          </p:cNvPr>
          <p:cNvCxnSpPr>
            <a:cxnSpLocks/>
            <a:stCxn id="5" idx="0"/>
            <a:endCxn id="25" idx="1"/>
          </p:cNvCxnSpPr>
          <p:nvPr/>
        </p:nvCxnSpPr>
        <p:spPr>
          <a:xfrm>
            <a:off x="2054518" y="2972635"/>
            <a:ext cx="278374" cy="27878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19944B8-ABED-7B26-68D0-44366B648F87}"/>
              </a:ext>
            </a:extLst>
          </p:cNvPr>
          <p:cNvCxnSpPr>
            <a:cxnSpLocks/>
            <a:stCxn id="22" idx="0"/>
            <a:endCxn id="27" idx="1"/>
          </p:cNvCxnSpPr>
          <p:nvPr/>
        </p:nvCxnSpPr>
        <p:spPr>
          <a:xfrm>
            <a:off x="2054517" y="3798937"/>
            <a:ext cx="257155" cy="6886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88606BE-A306-B934-BD79-5E9C7DA6481D}"/>
              </a:ext>
            </a:extLst>
          </p:cNvPr>
          <p:cNvCxnSpPr>
            <a:cxnSpLocks/>
            <a:stCxn id="23" idx="0"/>
            <a:endCxn id="26" idx="1"/>
          </p:cNvCxnSpPr>
          <p:nvPr/>
        </p:nvCxnSpPr>
        <p:spPr>
          <a:xfrm>
            <a:off x="2025457" y="5041152"/>
            <a:ext cx="266502" cy="36396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B4FB844-ED40-04B6-2570-6A6A5FC508F7}"/>
              </a:ext>
            </a:extLst>
          </p:cNvPr>
          <p:cNvCxnSpPr>
            <a:cxnSpLocks/>
            <a:endCxn id="31" idx="1"/>
          </p:cNvCxnSpPr>
          <p:nvPr/>
        </p:nvCxnSpPr>
        <p:spPr>
          <a:xfrm flipV="1">
            <a:off x="5837449" y="2874851"/>
            <a:ext cx="282292" cy="178238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DEE4A81-CBE7-29E1-D55D-49D1C7F44A49}"/>
              </a:ext>
            </a:extLst>
          </p:cNvPr>
          <p:cNvCxnSpPr>
            <a:cxnSpLocks/>
            <a:stCxn id="37" idx="9"/>
            <a:endCxn id="32" idx="1"/>
          </p:cNvCxnSpPr>
          <p:nvPr/>
        </p:nvCxnSpPr>
        <p:spPr>
          <a:xfrm flipV="1">
            <a:off x="5835123" y="3373558"/>
            <a:ext cx="349096" cy="52235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AA328CA-E4E2-4B43-F8E3-AA18DEA0BC96}"/>
              </a:ext>
            </a:extLst>
          </p:cNvPr>
          <p:cNvCxnSpPr>
            <a:cxnSpLocks/>
            <a:stCxn id="38" idx="9"/>
            <a:endCxn id="33" idx="1"/>
          </p:cNvCxnSpPr>
          <p:nvPr/>
        </p:nvCxnSpPr>
        <p:spPr>
          <a:xfrm flipV="1">
            <a:off x="5834760" y="4244395"/>
            <a:ext cx="349459" cy="935493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EDF4FFC-737C-903D-2C61-349F07E7ECE7}"/>
              </a:ext>
            </a:extLst>
          </p:cNvPr>
          <p:cNvCxnSpPr>
            <a:cxnSpLocks/>
            <a:stCxn id="33" idx="2"/>
            <a:endCxn id="46" idx="0"/>
          </p:cNvCxnSpPr>
          <p:nvPr/>
        </p:nvCxnSpPr>
        <p:spPr>
          <a:xfrm>
            <a:off x="7440827" y="4422633"/>
            <a:ext cx="20549" cy="518581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D71EEA6A-4597-5BA2-8BCA-B696A5EAB575}"/>
              </a:ext>
            </a:extLst>
          </p:cNvPr>
          <p:cNvCxnSpPr>
            <a:cxnSpLocks/>
            <a:stCxn id="33" idx="3"/>
          </p:cNvCxnSpPr>
          <p:nvPr/>
        </p:nvCxnSpPr>
        <p:spPr>
          <a:xfrm>
            <a:off x="8697435" y="4244395"/>
            <a:ext cx="389875" cy="875057"/>
          </a:xfrm>
          <a:prstGeom prst="straightConnector1">
            <a:avLst/>
          </a:prstGeom>
          <a:ln w="349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12AFA939-04F6-F92A-F820-A6CDEF64D2C6}"/>
              </a:ext>
            </a:extLst>
          </p:cNvPr>
          <p:cNvCxnSpPr>
            <a:cxnSpLocks/>
            <a:stCxn id="32" idx="3"/>
          </p:cNvCxnSpPr>
          <p:nvPr/>
        </p:nvCxnSpPr>
        <p:spPr>
          <a:xfrm>
            <a:off x="8632959" y="3373558"/>
            <a:ext cx="426376" cy="1632160"/>
          </a:xfrm>
          <a:prstGeom prst="straightConnector1">
            <a:avLst/>
          </a:prstGeom>
          <a:ln w="349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43B243B4-D5B2-DC11-F953-D169B494B3CC}"/>
              </a:ext>
            </a:extLst>
          </p:cNvPr>
          <p:cNvCxnSpPr>
            <a:cxnSpLocks/>
            <a:stCxn id="31" idx="3"/>
            <a:endCxn id="44" idx="1"/>
          </p:cNvCxnSpPr>
          <p:nvPr/>
        </p:nvCxnSpPr>
        <p:spPr>
          <a:xfrm>
            <a:off x="8632958" y="2874851"/>
            <a:ext cx="502241" cy="2278853"/>
          </a:xfrm>
          <a:prstGeom prst="straightConnector1">
            <a:avLst/>
          </a:prstGeom>
          <a:ln w="349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E98F13EE-CB94-EC0B-53B5-C991F40723BA}"/>
              </a:ext>
            </a:extLst>
          </p:cNvPr>
          <p:cNvCxnSpPr>
            <a:cxnSpLocks/>
            <a:stCxn id="46" idx="4"/>
            <a:endCxn id="44" idx="1"/>
          </p:cNvCxnSpPr>
          <p:nvPr/>
        </p:nvCxnSpPr>
        <p:spPr>
          <a:xfrm flipV="1">
            <a:off x="8717984" y="5153704"/>
            <a:ext cx="417215" cy="5844"/>
          </a:xfrm>
          <a:prstGeom prst="straightConnector1">
            <a:avLst/>
          </a:prstGeom>
          <a:ln w="3492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DE8CD1AA-1D45-2E81-7D69-E9BD754201B4}"/>
              </a:ext>
            </a:extLst>
          </p:cNvPr>
          <p:cNvCxnSpPr>
            <a:cxnSpLocks/>
            <a:stCxn id="31" idx="3"/>
            <a:endCxn id="40" idx="1"/>
          </p:cNvCxnSpPr>
          <p:nvPr/>
        </p:nvCxnSpPr>
        <p:spPr>
          <a:xfrm>
            <a:off x="8632958" y="2874851"/>
            <a:ext cx="498939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F6E50A4B-8F47-1E9B-39C3-072AE216BA27}"/>
              </a:ext>
            </a:extLst>
          </p:cNvPr>
          <p:cNvCxnSpPr>
            <a:cxnSpLocks/>
          </p:cNvCxnSpPr>
          <p:nvPr/>
        </p:nvCxnSpPr>
        <p:spPr>
          <a:xfrm>
            <a:off x="8632957" y="3373557"/>
            <a:ext cx="498939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A0655501-AD19-9833-7201-58FAD6968082}"/>
              </a:ext>
            </a:extLst>
          </p:cNvPr>
          <p:cNvCxnSpPr>
            <a:cxnSpLocks/>
          </p:cNvCxnSpPr>
          <p:nvPr/>
        </p:nvCxnSpPr>
        <p:spPr>
          <a:xfrm>
            <a:off x="8677121" y="4277288"/>
            <a:ext cx="498939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03404CD1-9C27-EDB9-2329-5EF91AF8AE6E}"/>
              </a:ext>
            </a:extLst>
          </p:cNvPr>
          <p:cNvCxnSpPr>
            <a:cxnSpLocks/>
            <a:stCxn id="43" idx="2"/>
            <a:endCxn id="44" idx="0"/>
          </p:cNvCxnSpPr>
          <p:nvPr/>
        </p:nvCxnSpPr>
        <p:spPr>
          <a:xfrm>
            <a:off x="10066121" y="4422633"/>
            <a:ext cx="3303" cy="300248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C687BF4D-0707-985D-0247-8911C6CD9336}"/>
              </a:ext>
            </a:extLst>
          </p:cNvPr>
          <p:cNvSpPr txBox="1">
            <a:spLocks/>
          </p:cNvSpPr>
          <p:nvPr/>
        </p:nvSpPr>
        <p:spPr>
          <a:xfrm>
            <a:off x="427654" y="1671281"/>
            <a:ext cx="3768035" cy="72628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Streams can be filtered and sampled near the source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0D32634-28A6-85EC-0932-3F091D114DDE}"/>
              </a:ext>
            </a:extLst>
          </p:cNvPr>
          <p:cNvSpPr txBox="1">
            <a:spLocks/>
          </p:cNvSpPr>
          <p:nvPr/>
        </p:nvSpPr>
        <p:spPr>
          <a:xfrm>
            <a:off x="1540950" y="5827194"/>
            <a:ext cx="3768035" cy="72628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Minimum (filtered) data and analytics archived 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B93D8A0-B707-ED17-06A8-37109F5B55DE}"/>
              </a:ext>
            </a:extLst>
          </p:cNvPr>
          <p:cNvSpPr txBox="1">
            <a:spLocks/>
          </p:cNvSpPr>
          <p:nvPr/>
        </p:nvSpPr>
        <p:spPr>
          <a:xfrm>
            <a:off x="7051729" y="6107624"/>
            <a:ext cx="4370522" cy="72628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Filtered streams and sketches used as input to classical ML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21FDDEF-45D4-A1CC-0F3F-1508A39E9BA3}"/>
              </a:ext>
            </a:extLst>
          </p:cNvPr>
          <p:cNvCxnSpPr>
            <a:cxnSpLocks/>
          </p:cNvCxnSpPr>
          <p:nvPr/>
        </p:nvCxnSpPr>
        <p:spPr>
          <a:xfrm>
            <a:off x="2407403" y="2295711"/>
            <a:ext cx="460458" cy="328615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73DEFCC-5A7D-A134-E88A-93EDBFAA9CE1}"/>
              </a:ext>
            </a:extLst>
          </p:cNvPr>
          <p:cNvCxnSpPr>
            <a:cxnSpLocks/>
            <a:endCxn id="46" idx="2"/>
          </p:cNvCxnSpPr>
          <p:nvPr/>
        </p:nvCxnSpPr>
        <p:spPr>
          <a:xfrm flipV="1">
            <a:off x="5221521" y="5159548"/>
            <a:ext cx="983247" cy="776218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4750C04-2EFD-14F6-9469-9C192060F4B7}"/>
              </a:ext>
            </a:extLst>
          </p:cNvPr>
          <p:cNvCxnSpPr>
            <a:cxnSpLocks/>
            <a:endCxn id="44" idx="2"/>
          </p:cNvCxnSpPr>
          <p:nvPr/>
        </p:nvCxnSpPr>
        <p:spPr>
          <a:xfrm flipV="1">
            <a:off x="9481399" y="5584527"/>
            <a:ext cx="588025" cy="582557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CE60D200-A8A4-A7B5-FF6B-B63C497B21ED}"/>
              </a:ext>
            </a:extLst>
          </p:cNvPr>
          <p:cNvCxnSpPr>
            <a:cxnSpLocks/>
          </p:cNvCxnSpPr>
          <p:nvPr/>
        </p:nvCxnSpPr>
        <p:spPr>
          <a:xfrm flipH="1">
            <a:off x="7496124" y="2295711"/>
            <a:ext cx="1221860" cy="400901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92F86D8C-E4A1-0FE7-CC71-C5BCDE898394}"/>
              </a:ext>
            </a:extLst>
          </p:cNvPr>
          <p:cNvSpPr/>
          <p:nvPr/>
        </p:nvSpPr>
        <p:spPr>
          <a:xfrm>
            <a:off x="7496123" y="5661834"/>
            <a:ext cx="2043953" cy="356477"/>
          </a:xfrm>
          <a:prstGeom prst="rect">
            <a:avLst/>
          </a:prstGeom>
          <a:noFill/>
          <a:ln w="222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Server/Cloud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AF1C2C0-68A7-40C1-938A-8BACDDDED0CF}"/>
              </a:ext>
            </a:extLst>
          </p:cNvPr>
          <p:cNvCxnSpPr>
            <a:cxnSpLocks/>
          </p:cNvCxnSpPr>
          <p:nvPr/>
        </p:nvCxnSpPr>
        <p:spPr>
          <a:xfrm flipH="1">
            <a:off x="8697435" y="2972635"/>
            <a:ext cx="434461" cy="2004842"/>
          </a:xfrm>
          <a:prstGeom prst="straightConnector1">
            <a:avLst/>
          </a:prstGeom>
          <a:ln w="3492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DCC96DB-55AC-CD18-65DD-E1D12D8A128F}"/>
              </a:ext>
            </a:extLst>
          </p:cNvPr>
          <p:cNvCxnSpPr>
            <a:cxnSpLocks/>
          </p:cNvCxnSpPr>
          <p:nvPr/>
        </p:nvCxnSpPr>
        <p:spPr>
          <a:xfrm flipH="1">
            <a:off x="8717984" y="3551796"/>
            <a:ext cx="502216" cy="1425681"/>
          </a:xfrm>
          <a:prstGeom prst="straightConnector1">
            <a:avLst/>
          </a:prstGeom>
          <a:ln w="3492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CC4BEE90-4F8E-6F71-1223-A54C51B8B79C}"/>
              </a:ext>
            </a:extLst>
          </p:cNvPr>
          <p:cNvCxnSpPr>
            <a:cxnSpLocks/>
          </p:cNvCxnSpPr>
          <p:nvPr/>
        </p:nvCxnSpPr>
        <p:spPr>
          <a:xfrm flipH="1">
            <a:off x="8717984" y="4422633"/>
            <a:ext cx="502216" cy="518581"/>
          </a:xfrm>
          <a:prstGeom prst="straightConnector1">
            <a:avLst/>
          </a:prstGeom>
          <a:ln w="3492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1678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30" grpId="0" animBg="1"/>
      <p:bldP spid="5" grpId="0" animBg="1"/>
      <p:bldP spid="22" grpId="0" animBg="1"/>
      <p:bldP spid="23" grpId="0" animBg="1"/>
      <p:bldP spid="24" grpId="0"/>
      <p:bldP spid="25" grpId="0" animBg="1"/>
      <p:bldP spid="26" grpId="0" animBg="1"/>
      <p:bldP spid="27" grpId="0" animBg="1"/>
      <p:bldP spid="28" grpId="0"/>
      <p:bldP spid="31" grpId="0" animBg="1"/>
      <p:bldP spid="32" grpId="0" animBg="1"/>
      <p:bldP spid="33" grpId="0" animBg="1"/>
      <p:bldP spid="34" grpId="0"/>
      <p:bldP spid="36" grpId="0" animBg="1"/>
      <p:bldP spid="37" grpId="0" animBg="1"/>
      <p:bldP spid="38" grpId="0" animBg="1"/>
      <p:bldP spid="39" grpId="0"/>
      <p:bldP spid="40" grpId="0" animBg="1"/>
      <p:bldP spid="42" grpId="0" animBg="1"/>
      <p:bldP spid="43" grpId="0" animBg="1"/>
      <p:bldP spid="44" grpId="0" animBg="1"/>
      <p:bldP spid="45" grpId="0"/>
      <p:bldP spid="46" grpId="0" animBg="1"/>
      <p:bldP spid="2" grpId="0"/>
      <p:bldP spid="9" grpId="0"/>
      <p:bldP spid="10" grpId="0"/>
      <p:bldP spid="5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637D8-D9D7-CAF2-C7D0-710F2C880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Case Study 1</a:t>
            </a:r>
          </a:p>
        </p:txBody>
      </p:sp>
    </p:spTree>
    <p:extLst>
      <p:ext uri="{BB962C8B-B14F-4D97-AF65-F5344CB8AC3E}">
        <p14:creationId xmlns:p14="http://schemas.microsoft.com/office/powerpoint/2010/main" val="32542355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49585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Goal: terminate calls from fraudulent accounts in real-time</a:t>
            </a:r>
          </a:p>
          <a:p>
            <a:r>
              <a:rPr lang="en-US" dirty="0"/>
              <a:t>Features  </a:t>
            </a:r>
          </a:p>
          <a:p>
            <a:pPr lvl="1"/>
            <a:r>
              <a:rPr lang="en-US" dirty="0"/>
              <a:t>Call history </a:t>
            </a:r>
          </a:p>
          <a:p>
            <a:pPr lvl="1"/>
            <a:r>
              <a:rPr lang="en-US" dirty="0"/>
              <a:t>Phone characteristics</a:t>
            </a:r>
          </a:p>
          <a:p>
            <a:pPr lvl="1"/>
            <a:r>
              <a:rPr lang="en-US" dirty="0"/>
              <a:t>Payment history  </a:t>
            </a:r>
          </a:p>
          <a:p>
            <a:pPr lvl="1"/>
            <a:r>
              <a:rPr lang="en-US" dirty="0"/>
              <a:t>Account types; individual, family, small business, corporate…. </a:t>
            </a:r>
          </a:p>
          <a:p>
            <a:pPr lvl="1"/>
            <a:r>
              <a:rPr lang="en-US" dirty="0"/>
              <a:t>Etc.</a:t>
            </a:r>
          </a:p>
          <a:p>
            <a:r>
              <a:rPr lang="en-US" dirty="0"/>
              <a:t>Fraud detection algorithm</a:t>
            </a:r>
          </a:p>
          <a:p>
            <a:pPr lvl="1"/>
            <a:r>
              <a:rPr lang="en-US" dirty="0"/>
              <a:t>Train in batch</a:t>
            </a:r>
          </a:p>
          <a:p>
            <a:pPr lvl="1"/>
            <a:r>
              <a:rPr lang="en-US" dirty="0"/>
              <a:t>Terminate fraudulent calls in real time in &lt; 1 sec - no billing record ‘residue’  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Case Study 1: Telecom Fraud Detection </a:t>
            </a:r>
          </a:p>
        </p:txBody>
      </p:sp>
    </p:spTree>
    <p:extLst>
      <p:ext uri="{BB962C8B-B14F-4D97-AF65-F5344CB8AC3E}">
        <p14:creationId xmlns:p14="http://schemas.microsoft.com/office/powerpoint/2010/main" val="3335158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51821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Model training</a:t>
            </a:r>
          </a:p>
          <a:p>
            <a:r>
              <a:rPr lang="en-US" dirty="0"/>
              <a:t>Ground truth is not known for 90-120 days  </a:t>
            </a:r>
          </a:p>
          <a:p>
            <a:pPr lvl="1"/>
            <a:r>
              <a:rPr lang="en-US" dirty="0"/>
              <a:t>Must use delayed training data</a:t>
            </a:r>
          </a:p>
          <a:p>
            <a:r>
              <a:rPr lang="en-US" dirty="0"/>
              <a:t>Fraud patterns change quickly   </a:t>
            </a:r>
          </a:p>
          <a:p>
            <a:pPr lvl="1"/>
            <a:r>
              <a:rPr lang="en-US" dirty="0"/>
              <a:t>Criminals constantly looking for greatest vulnerability </a:t>
            </a:r>
          </a:p>
          <a:p>
            <a:r>
              <a:rPr lang="en-US" dirty="0"/>
              <a:t>User behavior drifts with time 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Case Study 1: Telecom Fraud Detection </a:t>
            </a:r>
          </a:p>
        </p:txBody>
      </p:sp>
    </p:spTree>
    <p:extLst>
      <p:ext uri="{BB962C8B-B14F-4D97-AF65-F5344CB8AC3E}">
        <p14:creationId xmlns:p14="http://schemas.microsoft.com/office/powerpoint/2010/main" val="2656991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49585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Scaling </a:t>
            </a:r>
          </a:p>
          <a:p>
            <a:r>
              <a:rPr lang="en-US" dirty="0"/>
              <a:t>Training performed in batch – not time critical   </a:t>
            </a:r>
          </a:p>
          <a:p>
            <a:pPr lvl="1"/>
            <a:r>
              <a:rPr lang="en-US" dirty="0"/>
              <a:t>Data size often larger than core memory</a:t>
            </a:r>
          </a:p>
          <a:p>
            <a:r>
              <a:rPr lang="en-US" dirty="0"/>
              <a:t>Realtime fraud detection   </a:t>
            </a:r>
          </a:p>
          <a:p>
            <a:pPr lvl="1"/>
            <a:r>
              <a:rPr lang="en-US" dirty="0"/>
              <a:t>Move processing to edge – intercept communication between switch and billing system  </a:t>
            </a:r>
          </a:p>
          <a:p>
            <a:pPr lvl="1"/>
            <a:r>
              <a:rPr lang="en-US" dirty="0"/>
              <a:t>Update blocked account/number list  </a:t>
            </a:r>
          </a:p>
          <a:p>
            <a:pPr lvl="1"/>
            <a:endParaRPr lang="en-US" dirty="0"/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Case Study 1: Telecom Fraud Detection </a:t>
            </a:r>
          </a:p>
        </p:txBody>
      </p:sp>
    </p:spTree>
    <p:extLst>
      <p:ext uri="{BB962C8B-B14F-4D97-AF65-F5344CB8AC3E}">
        <p14:creationId xmlns:p14="http://schemas.microsoft.com/office/powerpoint/2010/main" val="2112713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1FAE1-AF27-69D6-5C12-D4F651414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6F02E-C2BD-F4AF-C1D6-7C5B4A1ED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Sketches as Approximate Representations </a:t>
            </a:r>
          </a:p>
        </p:txBody>
      </p:sp>
    </p:spTree>
    <p:extLst>
      <p:ext uri="{BB962C8B-B14F-4D97-AF65-F5344CB8AC3E}">
        <p14:creationId xmlns:p14="http://schemas.microsoft.com/office/powerpoint/2010/main" val="12700759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52127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For infinite streams we must accept a </a:t>
            </a:r>
            <a:r>
              <a:rPr lang="en-US" b="1" dirty="0"/>
              <a:t>sketch </a:t>
            </a:r>
            <a:r>
              <a:rPr lang="en-US" dirty="0"/>
              <a:t>as an approximate representation</a:t>
            </a:r>
            <a:endParaRPr lang="en-US" b="1" dirty="0"/>
          </a:p>
          <a:p>
            <a:r>
              <a:rPr lang="en-US" dirty="0"/>
              <a:t>Cannot store all history of streams in main memory!  </a:t>
            </a:r>
          </a:p>
          <a:p>
            <a:pPr lvl="1"/>
            <a:r>
              <a:rPr lang="en-US" dirty="0"/>
              <a:t>At large scale infinite streams will fill any disk array!   </a:t>
            </a:r>
          </a:p>
          <a:p>
            <a:r>
              <a:rPr lang="en-US" dirty="0"/>
              <a:t>Ideal sketch algorithms have three properties </a:t>
            </a:r>
          </a:p>
          <a:p>
            <a:pPr lvl="1"/>
            <a:r>
              <a:rPr lang="en-US" dirty="0"/>
              <a:t>Small memory footprint </a:t>
            </a:r>
          </a:p>
          <a:p>
            <a:pPr lvl="1"/>
            <a:r>
              <a:rPr lang="en-US" dirty="0"/>
              <a:t>Computationally efficient to construct</a:t>
            </a:r>
          </a:p>
          <a:p>
            <a:pPr lvl="1"/>
            <a:r>
              <a:rPr lang="en-US" dirty="0"/>
              <a:t>Approximation has bounded error </a:t>
            </a:r>
          </a:p>
          <a:p>
            <a:r>
              <a:rPr lang="en-US" dirty="0"/>
              <a:t>There is enviable tradeoff between the three dimensions of low memory use, computational efficiency and error  </a:t>
            </a:r>
          </a:p>
          <a:p>
            <a:pPr lvl="1"/>
            <a:r>
              <a:rPr lang="en-US" dirty="0"/>
              <a:t>Example, we can usually improve accuracy at the expense of memory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Sketches As Approximate Representations </a:t>
            </a:r>
          </a:p>
        </p:txBody>
      </p:sp>
    </p:spTree>
    <p:extLst>
      <p:ext uri="{BB962C8B-B14F-4D97-AF65-F5344CB8AC3E}">
        <p14:creationId xmlns:p14="http://schemas.microsoft.com/office/powerpoint/2010/main" val="2216499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0A4DB0-A272-D7F2-82AF-7AA2E1DDA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5045F8-34D1-ABDE-7216-E3EFBDA4E7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52127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For infinite streams we must accept a </a:t>
            </a:r>
            <a:r>
              <a:rPr lang="en-US" b="1" dirty="0"/>
              <a:t>sketch </a:t>
            </a:r>
            <a:r>
              <a:rPr lang="en-US" dirty="0"/>
              <a:t>as an approximate representation</a:t>
            </a:r>
            <a:endParaRPr lang="en-US" b="1" dirty="0"/>
          </a:p>
          <a:p>
            <a:r>
              <a:rPr lang="en-US" dirty="0"/>
              <a:t>Sketches for real-valued streams</a:t>
            </a:r>
          </a:p>
          <a:p>
            <a:pPr lvl="1"/>
            <a:r>
              <a:rPr lang="en-US" dirty="0"/>
              <a:t>Reservoir sampling </a:t>
            </a:r>
          </a:p>
          <a:p>
            <a:pPr lvl="1"/>
            <a:r>
              <a:rPr lang="en-US" dirty="0"/>
              <a:t>Quantile estimation </a:t>
            </a:r>
          </a:p>
          <a:p>
            <a:r>
              <a:rPr lang="en-US" dirty="0"/>
              <a:t>Sketches for discrete valued streams </a:t>
            </a:r>
          </a:p>
          <a:p>
            <a:pPr lvl="1"/>
            <a:r>
              <a:rPr lang="en-US" dirty="0"/>
              <a:t>Occurrence </a:t>
            </a:r>
          </a:p>
          <a:p>
            <a:pPr lvl="1"/>
            <a:r>
              <a:rPr lang="en-US" dirty="0"/>
              <a:t>Counts </a:t>
            </a:r>
          </a:p>
          <a:p>
            <a:pPr lvl="1"/>
            <a:r>
              <a:rPr lang="en-US" dirty="0"/>
              <a:t>Cardinality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DD30CE6-AFA4-8C6A-7CA9-C1EC71298361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Sketches As Approximate Representations </a:t>
            </a:r>
          </a:p>
        </p:txBody>
      </p:sp>
    </p:spTree>
    <p:extLst>
      <p:ext uri="{BB962C8B-B14F-4D97-AF65-F5344CB8AC3E}">
        <p14:creationId xmlns:p14="http://schemas.microsoft.com/office/powerpoint/2010/main" val="3057052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8DB8D-519A-2397-A518-46295B462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4B0482-A529-6730-3DD3-B6CDE8F9D6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095" y="1207969"/>
            <a:ext cx="10515600" cy="54852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Sketch algorithms can be found in several Python packages</a:t>
            </a:r>
          </a:p>
          <a:p>
            <a:r>
              <a:rPr lang="en-US" dirty="0"/>
              <a:t>The </a:t>
            </a:r>
            <a:r>
              <a:rPr lang="en-US" dirty="0">
                <a:hlinkClick r:id="rId2"/>
              </a:rPr>
              <a:t>Apache </a:t>
            </a:r>
            <a:r>
              <a:rPr lang="en-US" dirty="0" err="1">
                <a:hlinkClick r:id="rId2"/>
              </a:rPr>
              <a:t>DataSketches</a:t>
            </a:r>
            <a:r>
              <a:rPr lang="en-US" dirty="0">
                <a:hlinkClick r:id="rId2"/>
              </a:rPr>
              <a:t> </a:t>
            </a:r>
            <a:r>
              <a:rPr lang="en-US" dirty="0"/>
              <a:t>package is an enterprise-grade sketch package with Python, C++, and Java APIs </a:t>
            </a:r>
          </a:p>
          <a:p>
            <a:pPr lvl="1"/>
            <a:r>
              <a:rPr lang="en-US" dirty="0"/>
              <a:t>Integrated with enterprise platform, </a:t>
            </a:r>
            <a:r>
              <a:rPr lang="en-US" dirty="0">
                <a:hlinkClick r:id="rId3"/>
              </a:rPr>
              <a:t>Google </a:t>
            </a:r>
            <a:r>
              <a:rPr lang="en-US" dirty="0" err="1">
                <a:hlinkClick r:id="rId3"/>
              </a:rPr>
              <a:t>BigQuery</a:t>
            </a:r>
            <a:r>
              <a:rPr lang="en-US" dirty="0">
                <a:hlinkClick r:id="rId3"/>
              </a:rPr>
              <a:t>,</a:t>
            </a:r>
            <a:r>
              <a:rPr lang="en-US" dirty="0"/>
              <a:t> </a:t>
            </a:r>
            <a:r>
              <a:rPr lang="en-US" dirty="0">
                <a:hlinkClick r:id="rId4"/>
              </a:rPr>
              <a:t>Apache SPARK</a:t>
            </a:r>
            <a:endParaRPr lang="en-US" dirty="0"/>
          </a:p>
          <a:p>
            <a:pPr lvl="1"/>
            <a:r>
              <a:rPr lang="en-US" dirty="0"/>
              <a:t>Python API is a bit incomplete and inconsistent </a:t>
            </a:r>
          </a:p>
          <a:p>
            <a:r>
              <a:rPr lang="en-US" dirty="0"/>
              <a:t>Packages that implement sketch algorithms specifically with a Python API</a:t>
            </a:r>
          </a:p>
          <a:p>
            <a:pPr lvl="1"/>
            <a:r>
              <a:rPr lang="en-US" dirty="0" err="1">
                <a:hlinkClick r:id="rId5"/>
              </a:rPr>
              <a:t>PyProbables</a:t>
            </a:r>
            <a:endParaRPr lang="en-US" dirty="0"/>
          </a:p>
          <a:p>
            <a:pPr lvl="1"/>
            <a:r>
              <a:rPr lang="en-US" dirty="0" err="1">
                <a:hlinkClick r:id="rId5"/>
              </a:rPr>
              <a:t>DataSketch</a:t>
            </a:r>
            <a:endParaRPr lang="en-US" dirty="0"/>
          </a:p>
          <a:p>
            <a:r>
              <a:rPr lang="en-US" dirty="0"/>
              <a:t>Numerous specialized or single algorithm packages  </a:t>
            </a:r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C33464C-9FFB-E6B9-7CF5-3DB75B3C30C3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Sketch Software </a:t>
            </a:r>
          </a:p>
        </p:txBody>
      </p:sp>
    </p:spTree>
    <p:extLst>
      <p:ext uri="{BB962C8B-B14F-4D97-AF65-F5344CB8AC3E}">
        <p14:creationId xmlns:p14="http://schemas.microsoft.com/office/powerpoint/2010/main" val="2216851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EEF84-B806-8957-0755-373D1D3B19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Basic Sampling and Filtering</a:t>
            </a:r>
          </a:p>
        </p:txBody>
      </p:sp>
    </p:spTree>
    <p:extLst>
      <p:ext uri="{BB962C8B-B14F-4D97-AF65-F5344CB8AC3E}">
        <p14:creationId xmlns:p14="http://schemas.microsoft.com/office/powerpoint/2010/main" val="13073305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68B3BA-352C-17F5-DB5E-46FB8B440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4E2B2F-C8D1-2D95-F8C3-E2971031BE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52127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Cannot store all history of streams in main memory!  </a:t>
            </a:r>
          </a:p>
          <a:p>
            <a:r>
              <a:rPr lang="en-US" dirty="0"/>
              <a:t>Need a better approach</a:t>
            </a:r>
          </a:p>
          <a:p>
            <a:r>
              <a:rPr lang="en-US" dirty="0"/>
              <a:t>Some ideas:  </a:t>
            </a:r>
          </a:p>
          <a:p>
            <a:pPr lvl="1"/>
            <a:r>
              <a:rPr lang="en-US" b="1" dirty="0"/>
              <a:t>Delta coding</a:t>
            </a:r>
            <a:r>
              <a:rPr lang="en-US" dirty="0"/>
              <a:t>: Only update when there is substantial change  </a:t>
            </a:r>
          </a:p>
          <a:p>
            <a:pPr lvl="1"/>
            <a:r>
              <a:rPr lang="en-US" b="1" dirty="0"/>
              <a:t>Moving window</a:t>
            </a:r>
            <a:r>
              <a:rPr lang="en-US" dirty="0"/>
              <a:t>: Compute statistic for each window position </a:t>
            </a:r>
          </a:p>
          <a:p>
            <a:pPr lvl="1"/>
            <a:r>
              <a:rPr lang="en-US" b="1" dirty="0"/>
              <a:t>Decay window</a:t>
            </a:r>
            <a:r>
              <a:rPr lang="en-US" dirty="0"/>
              <a:t>: compute statistic down-weighting older event values</a:t>
            </a:r>
          </a:p>
          <a:p>
            <a:pPr lvl="1"/>
            <a:r>
              <a:rPr lang="en-US" b="1" dirty="0"/>
              <a:t>Reservoir sampling</a:t>
            </a:r>
            <a:r>
              <a:rPr lang="en-US" dirty="0"/>
              <a:t>: compute statistic from a random sample of the stream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77B6D00-36F0-65BC-2E9B-9DFE9AAC9EA7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Filtering and Sketching Real Valued Streams</a:t>
            </a:r>
          </a:p>
        </p:txBody>
      </p:sp>
    </p:spTree>
    <p:extLst>
      <p:ext uri="{BB962C8B-B14F-4D97-AF65-F5344CB8AC3E}">
        <p14:creationId xmlns:p14="http://schemas.microsoft.com/office/powerpoint/2010/main" val="4294330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FFE17-CFCF-EA25-327F-A7F22FE44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3FD7FE3-BC11-4AC2-2C3B-42C267363A8B}"/>
              </a:ext>
            </a:extLst>
          </p:cNvPr>
          <p:cNvSpPr txBox="1">
            <a:spLocks/>
          </p:cNvSpPr>
          <p:nvPr/>
        </p:nvSpPr>
        <p:spPr>
          <a:xfrm>
            <a:off x="5686426" y="1609470"/>
            <a:ext cx="6257924" cy="8035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Further filtering, sampling and sketching performed as preprocessing for analytics</a:t>
            </a:r>
          </a:p>
          <a:p>
            <a:pPr marL="0" indent="0">
              <a:buNone/>
            </a:pPr>
            <a:endParaRPr lang="en-US" sz="2400" dirty="0"/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EFF77B09-B96D-3A5E-DE94-A650EDC30675}"/>
              </a:ext>
            </a:extLst>
          </p:cNvPr>
          <p:cNvSpPr/>
          <p:nvPr/>
        </p:nvSpPr>
        <p:spPr>
          <a:xfrm>
            <a:off x="5843954" y="2543312"/>
            <a:ext cx="5509846" cy="3493477"/>
          </a:xfrm>
          <a:prstGeom prst="round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8FD76E-EE79-CFC6-182C-DD2FFADA9D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144" y="1121422"/>
            <a:ext cx="11828522" cy="4725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Event stream algorithms are both filters and analytics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C6DCE9E-DD81-FD69-923A-05DD8824AB51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Volume Reduction and Streaming Analytics</a:t>
            </a:r>
          </a:p>
        </p:txBody>
      </p:sp>
      <p:sp>
        <p:nvSpPr>
          <p:cNvPr id="5" name="Cloud 4">
            <a:extLst>
              <a:ext uri="{FF2B5EF4-FFF2-40B4-BE49-F238E27FC236}">
                <a16:creationId xmlns:a16="http://schemas.microsoft.com/office/drawing/2014/main" id="{5610344F-0069-87BE-33E7-AF5A6180F698}"/>
              </a:ext>
            </a:extLst>
          </p:cNvPr>
          <p:cNvSpPr/>
          <p:nvPr/>
        </p:nvSpPr>
        <p:spPr>
          <a:xfrm>
            <a:off x="256557" y="2634096"/>
            <a:ext cx="1799461" cy="677078"/>
          </a:xfrm>
          <a:prstGeom prst="cloud">
            <a:avLst/>
          </a:prstGeom>
          <a:noFill/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Source</a:t>
            </a:r>
          </a:p>
        </p:txBody>
      </p:sp>
      <p:sp>
        <p:nvSpPr>
          <p:cNvPr id="22" name="Cloud 21">
            <a:extLst>
              <a:ext uri="{FF2B5EF4-FFF2-40B4-BE49-F238E27FC236}">
                <a16:creationId xmlns:a16="http://schemas.microsoft.com/office/drawing/2014/main" id="{55DB1FA7-88CB-AD28-0A3C-67726C81149A}"/>
              </a:ext>
            </a:extLst>
          </p:cNvPr>
          <p:cNvSpPr/>
          <p:nvPr/>
        </p:nvSpPr>
        <p:spPr>
          <a:xfrm>
            <a:off x="256556" y="3481389"/>
            <a:ext cx="1799461" cy="635095"/>
          </a:xfrm>
          <a:prstGeom prst="cloud">
            <a:avLst/>
          </a:prstGeom>
          <a:noFill/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Source</a:t>
            </a:r>
          </a:p>
        </p:txBody>
      </p:sp>
      <p:sp>
        <p:nvSpPr>
          <p:cNvPr id="23" name="Cloud 22">
            <a:extLst>
              <a:ext uri="{FF2B5EF4-FFF2-40B4-BE49-F238E27FC236}">
                <a16:creationId xmlns:a16="http://schemas.microsoft.com/office/drawing/2014/main" id="{F0C69AC0-6F91-E692-4E3E-F54AAE421BD8}"/>
              </a:ext>
            </a:extLst>
          </p:cNvPr>
          <p:cNvSpPr/>
          <p:nvPr/>
        </p:nvSpPr>
        <p:spPr>
          <a:xfrm>
            <a:off x="227496" y="4694095"/>
            <a:ext cx="1799461" cy="694114"/>
          </a:xfrm>
          <a:prstGeom prst="cloud">
            <a:avLst/>
          </a:prstGeom>
          <a:noFill/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Source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F2A6DC4-D656-E2F5-0EC2-C1E47966385A}"/>
                  </a:ext>
                </a:extLst>
              </p:cNvPr>
              <p:cNvSpPr txBox="1"/>
              <p:nvPr/>
            </p:nvSpPr>
            <p:spPr>
              <a:xfrm>
                <a:off x="885509" y="4059000"/>
                <a:ext cx="50995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1154615-99F6-8289-543F-B05470A2B5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509" y="4059000"/>
                <a:ext cx="509954" cy="70788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ctangle 24">
            <a:extLst>
              <a:ext uri="{FF2B5EF4-FFF2-40B4-BE49-F238E27FC236}">
                <a16:creationId xmlns:a16="http://schemas.microsoft.com/office/drawing/2014/main" id="{BC0C4559-6090-232E-75D0-F75C2C377FD6}"/>
              </a:ext>
            </a:extLst>
          </p:cNvPr>
          <p:cNvSpPr/>
          <p:nvPr/>
        </p:nvSpPr>
        <p:spPr>
          <a:xfrm>
            <a:off x="2332892" y="2689851"/>
            <a:ext cx="1488830" cy="62132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E5C418A-7955-C0CC-34C9-D5CC93E26CB0}"/>
              </a:ext>
            </a:extLst>
          </p:cNvPr>
          <p:cNvSpPr/>
          <p:nvPr/>
        </p:nvSpPr>
        <p:spPr>
          <a:xfrm>
            <a:off x="2291959" y="4766886"/>
            <a:ext cx="1488830" cy="62132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793AC05-AD2B-196F-3D9C-858BF404EB57}"/>
              </a:ext>
            </a:extLst>
          </p:cNvPr>
          <p:cNvSpPr/>
          <p:nvPr/>
        </p:nvSpPr>
        <p:spPr>
          <a:xfrm>
            <a:off x="2311672" y="3495161"/>
            <a:ext cx="1488830" cy="62132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1AD4348-78E2-55C5-EFB9-472131956E1F}"/>
                  </a:ext>
                </a:extLst>
              </p:cNvPr>
              <p:cNvSpPr txBox="1"/>
              <p:nvPr/>
            </p:nvSpPr>
            <p:spPr>
              <a:xfrm>
                <a:off x="2801110" y="4028191"/>
                <a:ext cx="50995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63C0B2A-FAAA-7283-9153-7EE44B2805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1110" y="4028191"/>
                <a:ext cx="509954" cy="7078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tangle 30">
            <a:extLst>
              <a:ext uri="{FF2B5EF4-FFF2-40B4-BE49-F238E27FC236}">
                <a16:creationId xmlns:a16="http://schemas.microsoft.com/office/drawing/2014/main" id="{BF600C4C-174A-4788-4785-6BE0F3B57207}"/>
              </a:ext>
            </a:extLst>
          </p:cNvPr>
          <p:cNvSpPr/>
          <p:nvPr/>
        </p:nvSpPr>
        <p:spPr>
          <a:xfrm>
            <a:off x="6119741" y="2696612"/>
            <a:ext cx="2513217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Filter/sample/sketch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BA548D0-B1ED-C497-28B1-17AF459B3CC6}"/>
              </a:ext>
            </a:extLst>
          </p:cNvPr>
          <p:cNvSpPr/>
          <p:nvPr/>
        </p:nvSpPr>
        <p:spPr>
          <a:xfrm>
            <a:off x="6184219" y="3195319"/>
            <a:ext cx="2448740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Filter/sample/sketch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A6D5F53-2A48-2D75-6256-53468C56A5C7}"/>
              </a:ext>
            </a:extLst>
          </p:cNvPr>
          <p:cNvSpPr/>
          <p:nvPr/>
        </p:nvSpPr>
        <p:spPr>
          <a:xfrm>
            <a:off x="6184219" y="4066156"/>
            <a:ext cx="2513216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Filter/sample/sketch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B84168C-AAA3-FA94-A6A9-5DA6117B1C38}"/>
                  </a:ext>
                </a:extLst>
              </p:cNvPr>
              <p:cNvSpPr txBox="1"/>
              <p:nvPr/>
            </p:nvSpPr>
            <p:spPr>
              <a:xfrm>
                <a:off x="7209163" y="3369009"/>
                <a:ext cx="509954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54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AB5C444-D8F2-B810-FE62-47D0C2A4F4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9163" y="3369009"/>
                <a:ext cx="509954" cy="92333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79BCF774-29AC-9FBD-A361-72029CA347C8}"/>
              </a:ext>
            </a:extLst>
          </p:cNvPr>
          <p:cNvSpPr/>
          <p:nvPr/>
        </p:nvSpPr>
        <p:spPr>
          <a:xfrm>
            <a:off x="3864162" y="2901147"/>
            <a:ext cx="1979791" cy="288193"/>
          </a:xfrm>
          <a:custGeom>
            <a:avLst/>
            <a:gdLst>
              <a:gd name="connsiteX0" fmla="*/ 0 w 1937349"/>
              <a:gd name="connsiteY0" fmla="*/ 59181 h 276213"/>
              <a:gd name="connsiteX1" fmla="*/ 363415 w 1937349"/>
              <a:gd name="connsiteY1" fmla="*/ 276058 h 276213"/>
              <a:gd name="connsiteX2" fmla="*/ 363415 w 1937349"/>
              <a:gd name="connsiteY2" fmla="*/ 29874 h 276213"/>
              <a:gd name="connsiteX3" fmla="*/ 773723 w 1937349"/>
              <a:gd name="connsiteY3" fmla="*/ 240889 h 276213"/>
              <a:gd name="connsiteX4" fmla="*/ 791308 w 1937349"/>
              <a:gd name="connsiteY4" fmla="*/ 12289 h 276213"/>
              <a:gd name="connsiteX5" fmla="*/ 1125415 w 1937349"/>
              <a:gd name="connsiteY5" fmla="*/ 223305 h 276213"/>
              <a:gd name="connsiteX6" fmla="*/ 1178169 w 1937349"/>
              <a:gd name="connsiteY6" fmla="*/ 41597 h 276213"/>
              <a:gd name="connsiteX7" fmla="*/ 1541585 w 1937349"/>
              <a:gd name="connsiteY7" fmla="*/ 264335 h 276213"/>
              <a:gd name="connsiteX8" fmla="*/ 1570892 w 1937349"/>
              <a:gd name="connsiteY8" fmla="*/ 566 h 276213"/>
              <a:gd name="connsiteX9" fmla="*/ 1916723 w 1937349"/>
              <a:gd name="connsiteY9" fmla="*/ 193997 h 276213"/>
              <a:gd name="connsiteX10" fmla="*/ 1899138 w 1937349"/>
              <a:gd name="connsiteY10" fmla="*/ 188135 h 276213"/>
              <a:gd name="connsiteX11" fmla="*/ 1910861 w 1937349"/>
              <a:gd name="connsiteY11" fmla="*/ 205720 h 27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37349" h="276213">
                <a:moveTo>
                  <a:pt x="0" y="59181"/>
                </a:moveTo>
                <a:cubicBezTo>
                  <a:pt x="151423" y="170061"/>
                  <a:pt x="302846" y="280942"/>
                  <a:pt x="363415" y="276058"/>
                </a:cubicBezTo>
                <a:cubicBezTo>
                  <a:pt x="423984" y="271174"/>
                  <a:pt x="295030" y="35735"/>
                  <a:pt x="363415" y="29874"/>
                </a:cubicBezTo>
                <a:cubicBezTo>
                  <a:pt x="431800" y="24013"/>
                  <a:pt x="702408" y="243820"/>
                  <a:pt x="773723" y="240889"/>
                </a:cubicBezTo>
                <a:cubicBezTo>
                  <a:pt x="845038" y="237958"/>
                  <a:pt x="732693" y="15220"/>
                  <a:pt x="791308" y="12289"/>
                </a:cubicBezTo>
                <a:cubicBezTo>
                  <a:pt x="849923" y="9358"/>
                  <a:pt x="1060938" y="218420"/>
                  <a:pt x="1125415" y="223305"/>
                </a:cubicBezTo>
                <a:cubicBezTo>
                  <a:pt x="1189892" y="228190"/>
                  <a:pt x="1108807" y="34759"/>
                  <a:pt x="1178169" y="41597"/>
                </a:cubicBezTo>
                <a:cubicBezTo>
                  <a:pt x="1247531" y="48435"/>
                  <a:pt x="1476131" y="271174"/>
                  <a:pt x="1541585" y="264335"/>
                </a:cubicBezTo>
                <a:cubicBezTo>
                  <a:pt x="1607039" y="257497"/>
                  <a:pt x="1508369" y="12289"/>
                  <a:pt x="1570892" y="566"/>
                </a:cubicBezTo>
                <a:cubicBezTo>
                  <a:pt x="1633415" y="-11157"/>
                  <a:pt x="1862015" y="162736"/>
                  <a:pt x="1916723" y="193997"/>
                </a:cubicBezTo>
                <a:cubicBezTo>
                  <a:pt x="1971431" y="225258"/>
                  <a:pt x="1900115" y="186181"/>
                  <a:pt x="1899138" y="188135"/>
                </a:cubicBezTo>
                <a:cubicBezTo>
                  <a:pt x="1898161" y="190089"/>
                  <a:pt x="1916723" y="92397"/>
                  <a:pt x="1910861" y="205720"/>
                </a:cubicBezTo>
              </a:path>
            </a:pathLst>
          </a:custGeom>
          <a:noFill/>
          <a:ln w="444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B0AEB2F0-26D5-708C-71B9-A1BB65652149}"/>
              </a:ext>
            </a:extLst>
          </p:cNvPr>
          <p:cNvSpPr/>
          <p:nvPr/>
        </p:nvSpPr>
        <p:spPr>
          <a:xfrm>
            <a:off x="3821722" y="3693497"/>
            <a:ext cx="2035067" cy="288193"/>
          </a:xfrm>
          <a:custGeom>
            <a:avLst/>
            <a:gdLst>
              <a:gd name="connsiteX0" fmla="*/ 0 w 1937349"/>
              <a:gd name="connsiteY0" fmla="*/ 59181 h 276213"/>
              <a:gd name="connsiteX1" fmla="*/ 363415 w 1937349"/>
              <a:gd name="connsiteY1" fmla="*/ 276058 h 276213"/>
              <a:gd name="connsiteX2" fmla="*/ 363415 w 1937349"/>
              <a:gd name="connsiteY2" fmla="*/ 29874 h 276213"/>
              <a:gd name="connsiteX3" fmla="*/ 773723 w 1937349"/>
              <a:gd name="connsiteY3" fmla="*/ 240889 h 276213"/>
              <a:gd name="connsiteX4" fmla="*/ 791308 w 1937349"/>
              <a:gd name="connsiteY4" fmla="*/ 12289 h 276213"/>
              <a:gd name="connsiteX5" fmla="*/ 1125415 w 1937349"/>
              <a:gd name="connsiteY5" fmla="*/ 223305 h 276213"/>
              <a:gd name="connsiteX6" fmla="*/ 1178169 w 1937349"/>
              <a:gd name="connsiteY6" fmla="*/ 41597 h 276213"/>
              <a:gd name="connsiteX7" fmla="*/ 1541585 w 1937349"/>
              <a:gd name="connsiteY7" fmla="*/ 264335 h 276213"/>
              <a:gd name="connsiteX8" fmla="*/ 1570892 w 1937349"/>
              <a:gd name="connsiteY8" fmla="*/ 566 h 276213"/>
              <a:gd name="connsiteX9" fmla="*/ 1916723 w 1937349"/>
              <a:gd name="connsiteY9" fmla="*/ 193997 h 276213"/>
              <a:gd name="connsiteX10" fmla="*/ 1899138 w 1937349"/>
              <a:gd name="connsiteY10" fmla="*/ 188135 h 276213"/>
              <a:gd name="connsiteX11" fmla="*/ 1910861 w 1937349"/>
              <a:gd name="connsiteY11" fmla="*/ 205720 h 27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37349" h="276213">
                <a:moveTo>
                  <a:pt x="0" y="59181"/>
                </a:moveTo>
                <a:cubicBezTo>
                  <a:pt x="151423" y="170061"/>
                  <a:pt x="302846" y="280942"/>
                  <a:pt x="363415" y="276058"/>
                </a:cubicBezTo>
                <a:cubicBezTo>
                  <a:pt x="423984" y="271174"/>
                  <a:pt x="295030" y="35735"/>
                  <a:pt x="363415" y="29874"/>
                </a:cubicBezTo>
                <a:cubicBezTo>
                  <a:pt x="431800" y="24013"/>
                  <a:pt x="702408" y="243820"/>
                  <a:pt x="773723" y="240889"/>
                </a:cubicBezTo>
                <a:cubicBezTo>
                  <a:pt x="845038" y="237958"/>
                  <a:pt x="732693" y="15220"/>
                  <a:pt x="791308" y="12289"/>
                </a:cubicBezTo>
                <a:cubicBezTo>
                  <a:pt x="849923" y="9358"/>
                  <a:pt x="1060938" y="218420"/>
                  <a:pt x="1125415" y="223305"/>
                </a:cubicBezTo>
                <a:cubicBezTo>
                  <a:pt x="1189892" y="228190"/>
                  <a:pt x="1108807" y="34759"/>
                  <a:pt x="1178169" y="41597"/>
                </a:cubicBezTo>
                <a:cubicBezTo>
                  <a:pt x="1247531" y="48435"/>
                  <a:pt x="1476131" y="271174"/>
                  <a:pt x="1541585" y="264335"/>
                </a:cubicBezTo>
                <a:cubicBezTo>
                  <a:pt x="1607039" y="257497"/>
                  <a:pt x="1508369" y="12289"/>
                  <a:pt x="1570892" y="566"/>
                </a:cubicBezTo>
                <a:cubicBezTo>
                  <a:pt x="1633415" y="-11157"/>
                  <a:pt x="1862015" y="162736"/>
                  <a:pt x="1916723" y="193997"/>
                </a:cubicBezTo>
                <a:cubicBezTo>
                  <a:pt x="1971431" y="225258"/>
                  <a:pt x="1900115" y="186181"/>
                  <a:pt x="1899138" y="188135"/>
                </a:cubicBezTo>
                <a:cubicBezTo>
                  <a:pt x="1898161" y="190089"/>
                  <a:pt x="1916723" y="92397"/>
                  <a:pt x="1910861" y="205720"/>
                </a:cubicBezTo>
              </a:path>
            </a:pathLst>
          </a:custGeom>
          <a:noFill/>
          <a:ln w="444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585FFBFD-44AC-6CA2-58CB-DB504DC582B4}"/>
              </a:ext>
            </a:extLst>
          </p:cNvPr>
          <p:cNvSpPr/>
          <p:nvPr/>
        </p:nvSpPr>
        <p:spPr>
          <a:xfrm>
            <a:off x="3787666" y="4977477"/>
            <a:ext cx="2069123" cy="288193"/>
          </a:xfrm>
          <a:custGeom>
            <a:avLst/>
            <a:gdLst>
              <a:gd name="connsiteX0" fmla="*/ 0 w 1937349"/>
              <a:gd name="connsiteY0" fmla="*/ 59181 h 276213"/>
              <a:gd name="connsiteX1" fmla="*/ 363415 w 1937349"/>
              <a:gd name="connsiteY1" fmla="*/ 276058 h 276213"/>
              <a:gd name="connsiteX2" fmla="*/ 363415 w 1937349"/>
              <a:gd name="connsiteY2" fmla="*/ 29874 h 276213"/>
              <a:gd name="connsiteX3" fmla="*/ 773723 w 1937349"/>
              <a:gd name="connsiteY3" fmla="*/ 240889 h 276213"/>
              <a:gd name="connsiteX4" fmla="*/ 791308 w 1937349"/>
              <a:gd name="connsiteY4" fmla="*/ 12289 h 276213"/>
              <a:gd name="connsiteX5" fmla="*/ 1125415 w 1937349"/>
              <a:gd name="connsiteY5" fmla="*/ 223305 h 276213"/>
              <a:gd name="connsiteX6" fmla="*/ 1178169 w 1937349"/>
              <a:gd name="connsiteY6" fmla="*/ 41597 h 276213"/>
              <a:gd name="connsiteX7" fmla="*/ 1541585 w 1937349"/>
              <a:gd name="connsiteY7" fmla="*/ 264335 h 276213"/>
              <a:gd name="connsiteX8" fmla="*/ 1570892 w 1937349"/>
              <a:gd name="connsiteY8" fmla="*/ 566 h 276213"/>
              <a:gd name="connsiteX9" fmla="*/ 1916723 w 1937349"/>
              <a:gd name="connsiteY9" fmla="*/ 193997 h 276213"/>
              <a:gd name="connsiteX10" fmla="*/ 1899138 w 1937349"/>
              <a:gd name="connsiteY10" fmla="*/ 188135 h 276213"/>
              <a:gd name="connsiteX11" fmla="*/ 1910861 w 1937349"/>
              <a:gd name="connsiteY11" fmla="*/ 205720 h 27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37349" h="276213">
                <a:moveTo>
                  <a:pt x="0" y="59181"/>
                </a:moveTo>
                <a:cubicBezTo>
                  <a:pt x="151423" y="170061"/>
                  <a:pt x="302846" y="280942"/>
                  <a:pt x="363415" y="276058"/>
                </a:cubicBezTo>
                <a:cubicBezTo>
                  <a:pt x="423984" y="271174"/>
                  <a:pt x="295030" y="35735"/>
                  <a:pt x="363415" y="29874"/>
                </a:cubicBezTo>
                <a:cubicBezTo>
                  <a:pt x="431800" y="24013"/>
                  <a:pt x="702408" y="243820"/>
                  <a:pt x="773723" y="240889"/>
                </a:cubicBezTo>
                <a:cubicBezTo>
                  <a:pt x="845038" y="237958"/>
                  <a:pt x="732693" y="15220"/>
                  <a:pt x="791308" y="12289"/>
                </a:cubicBezTo>
                <a:cubicBezTo>
                  <a:pt x="849923" y="9358"/>
                  <a:pt x="1060938" y="218420"/>
                  <a:pt x="1125415" y="223305"/>
                </a:cubicBezTo>
                <a:cubicBezTo>
                  <a:pt x="1189892" y="228190"/>
                  <a:pt x="1108807" y="34759"/>
                  <a:pt x="1178169" y="41597"/>
                </a:cubicBezTo>
                <a:cubicBezTo>
                  <a:pt x="1247531" y="48435"/>
                  <a:pt x="1476131" y="271174"/>
                  <a:pt x="1541585" y="264335"/>
                </a:cubicBezTo>
                <a:cubicBezTo>
                  <a:pt x="1607039" y="257497"/>
                  <a:pt x="1508369" y="12289"/>
                  <a:pt x="1570892" y="566"/>
                </a:cubicBezTo>
                <a:cubicBezTo>
                  <a:pt x="1633415" y="-11157"/>
                  <a:pt x="1862015" y="162736"/>
                  <a:pt x="1916723" y="193997"/>
                </a:cubicBezTo>
                <a:cubicBezTo>
                  <a:pt x="1971431" y="225258"/>
                  <a:pt x="1900115" y="186181"/>
                  <a:pt x="1899138" y="188135"/>
                </a:cubicBezTo>
                <a:cubicBezTo>
                  <a:pt x="1898161" y="190089"/>
                  <a:pt x="1916723" y="92397"/>
                  <a:pt x="1910861" y="205720"/>
                </a:cubicBezTo>
              </a:path>
            </a:pathLst>
          </a:custGeom>
          <a:noFill/>
          <a:ln w="444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37F5578-17E4-ACF5-0D08-DA81672504E2}"/>
              </a:ext>
            </a:extLst>
          </p:cNvPr>
          <p:cNvSpPr/>
          <p:nvPr/>
        </p:nvSpPr>
        <p:spPr>
          <a:xfrm>
            <a:off x="3928352" y="4059000"/>
            <a:ext cx="1878580" cy="668286"/>
          </a:xfrm>
          <a:prstGeom prst="rect">
            <a:avLst/>
          </a:prstGeom>
          <a:noFill/>
          <a:ln w="222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Bandwidth limited network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C7F333B-662A-1059-119F-CE558C984457}"/>
              </a:ext>
            </a:extLst>
          </p:cNvPr>
          <p:cNvSpPr/>
          <p:nvPr/>
        </p:nvSpPr>
        <p:spPr>
          <a:xfrm>
            <a:off x="9131897" y="2696612"/>
            <a:ext cx="1868449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Stream analytic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E78F6D4-AADE-830E-C7B6-FB073B29234C}"/>
              </a:ext>
            </a:extLst>
          </p:cNvPr>
          <p:cNvSpPr/>
          <p:nvPr/>
        </p:nvSpPr>
        <p:spPr>
          <a:xfrm>
            <a:off x="9131897" y="3195319"/>
            <a:ext cx="1868449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Stream analytic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C5047DB-428F-BC2D-6C95-C146A2016731}"/>
              </a:ext>
            </a:extLst>
          </p:cNvPr>
          <p:cNvSpPr/>
          <p:nvPr/>
        </p:nvSpPr>
        <p:spPr>
          <a:xfrm>
            <a:off x="9131896" y="4066156"/>
            <a:ext cx="1868449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Stream analytic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F219D63-4EE5-E8C4-C648-35A00F5D1417}"/>
              </a:ext>
            </a:extLst>
          </p:cNvPr>
          <p:cNvSpPr/>
          <p:nvPr/>
        </p:nvSpPr>
        <p:spPr>
          <a:xfrm>
            <a:off x="9135199" y="4722881"/>
            <a:ext cx="1868449" cy="861646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Classical supervised and unsupervised ML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FEEF3185-0ADD-5220-A798-ED26094EB7E9}"/>
                  </a:ext>
                </a:extLst>
              </p:cNvPr>
              <p:cNvSpPr txBox="1"/>
              <p:nvPr/>
            </p:nvSpPr>
            <p:spPr>
              <a:xfrm>
                <a:off x="9811142" y="3451766"/>
                <a:ext cx="50995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9B9E79F-B39E-1B4A-AF1A-7D67ACC5D1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1142" y="3451766"/>
                <a:ext cx="509954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Cylinder 45">
            <a:extLst>
              <a:ext uri="{FF2B5EF4-FFF2-40B4-BE49-F238E27FC236}">
                <a16:creationId xmlns:a16="http://schemas.microsoft.com/office/drawing/2014/main" id="{058367DA-7451-383C-0162-62CACEF63DA8}"/>
              </a:ext>
            </a:extLst>
          </p:cNvPr>
          <p:cNvSpPr/>
          <p:nvPr/>
        </p:nvSpPr>
        <p:spPr>
          <a:xfrm>
            <a:off x="6204768" y="4722881"/>
            <a:ext cx="2513216" cy="873333"/>
          </a:xfrm>
          <a:prstGeom prst="can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Archival storage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D919956-575E-C7DE-99A5-37C524690BE2}"/>
              </a:ext>
            </a:extLst>
          </p:cNvPr>
          <p:cNvCxnSpPr>
            <a:cxnSpLocks/>
            <a:stCxn id="5" idx="0"/>
            <a:endCxn id="25" idx="1"/>
          </p:cNvCxnSpPr>
          <p:nvPr/>
        </p:nvCxnSpPr>
        <p:spPr>
          <a:xfrm>
            <a:off x="2054518" y="2972635"/>
            <a:ext cx="278374" cy="27878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53D2D09-270B-5573-96C3-6851DDFFDACA}"/>
              </a:ext>
            </a:extLst>
          </p:cNvPr>
          <p:cNvCxnSpPr>
            <a:cxnSpLocks/>
            <a:stCxn id="22" idx="0"/>
            <a:endCxn id="27" idx="1"/>
          </p:cNvCxnSpPr>
          <p:nvPr/>
        </p:nvCxnSpPr>
        <p:spPr>
          <a:xfrm>
            <a:off x="2054517" y="3798937"/>
            <a:ext cx="257155" cy="6886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8BCBD15-8F50-BBC8-E702-6C4F306DB9B3}"/>
              </a:ext>
            </a:extLst>
          </p:cNvPr>
          <p:cNvCxnSpPr>
            <a:cxnSpLocks/>
            <a:stCxn id="23" idx="0"/>
            <a:endCxn id="26" idx="1"/>
          </p:cNvCxnSpPr>
          <p:nvPr/>
        </p:nvCxnSpPr>
        <p:spPr>
          <a:xfrm>
            <a:off x="2025457" y="5041152"/>
            <a:ext cx="266502" cy="36396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B51E1E3-02CC-E050-F68D-7313CCC90EC5}"/>
              </a:ext>
            </a:extLst>
          </p:cNvPr>
          <p:cNvCxnSpPr>
            <a:cxnSpLocks/>
            <a:endCxn id="31" idx="1"/>
          </p:cNvCxnSpPr>
          <p:nvPr/>
        </p:nvCxnSpPr>
        <p:spPr>
          <a:xfrm flipV="1">
            <a:off x="5837449" y="2874851"/>
            <a:ext cx="282292" cy="178238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2709B55-0CAE-AA26-BA85-1619C88E1BBB}"/>
              </a:ext>
            </a:extLst>
          </p:cNvPr>
          <p:cNvCxnSpPr>
            <a:cxnSpLocks/>
            <a:stCxn id="37" idx="9"/>
            <a:endCxn id="32" idx="1"/>
          </p:cNvCxnSpPr>
          <p:nvPr/>
        </p:nvCxnSpPr>
        <p:spPr>
          <a:xfrm flipV="1">
            <a:off x="5835123" y="3373558"/>
            <a:ext cx="349096" cy="52235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99A8CD7-2A11-4B64-5DFC-876C5BDC777D}"/>
              </a:ext>
            </a:extLst>
          </p:cNvPr>
          <p:cNvCxnSpPr>
            <a:cxnSpLocks/>
            <a:stCxn id="38" idx="9"/>
            <a:endCxn id="33" idx="1"/>
          </p:cNvCxnSpPr>
          <p:nvPr/>
        </p:nvCxnSpPr>
        <p:spPr>
          <a:xfrm flipV="1">
            <a:off x="5834760" y="4244395"/>
            <a:ext cx="349459" cy="935493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1224BEE-E969-9BCD-05EB-0E7847A97A58}"/>
              </a:ext>
            </a:extLst>
          </p:cNvPr>
          <p:cNvCxnSpPr>
            <a:cxnSpLocks/>
            <a:stCxn id="33" idx="2"/>
            <a:endCxn id="46" idx="0"/>
          </p:cNvCxnSpPr>
          <p:nvPr/>
        </p:nvCxnSpPr>
        <p:spPr>
          <a:xfrm>
            <a:off x="7440827" y="4422633"/>
            <a:ext cx="20549" cy="518581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4901051F-334C-09A1-0ECE-86E33E6EB0C1}"/>
              </a:ext>
            </a:extLst>
          </p:cNvPr>
          <p:cNvCxnSpPr>
            <a:cxnSpLocks/>
            <a:stCxn id="33" idx="3"/>
          </p:cNvCxnSpPr>
          <p:nvPr/>
        </p:nvCxnSpPr>
        <p:spPr>
          <a:xfrm>
            <a:off x="8697435" y="4244395"/>
            <a:ext cx="389875" cy="875057"/>
          </a:xfrm>
          <a:prstGeom prst="straightConnector1">
            <a:avLst/>
          </a:prstGeom>
          <a:ln w="349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1D6E85A1-410C-4669-D33B-4B8D00B703AD}"/>
              </a:ext>
            </a:extLst>
          </p:cNvPr>
          <p:cNvCxnSpPr>
            <a:cxnSpLocks/>
            <a:stCxn id="32" idx="3"/>
          </p:cNvCxnSpPr>
          <p:nvPr/>
        </p:nvCxnSpPr>
        <p:spPr>
          <a:xfrm>
            <a:off x="8632959" y="3373558"/>
            <a:ext cx="426376" cy="1632160"/>
          </a:xfrm>
          <a:prstGeom prst="straightConnector1">
            <a:avLst/>
          </a:prstGeom>
          <a:ln w="349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A96AFAC3-50D3-E9A0-1371-88C981BAFCE3}"/>
              </a:ext>
            </a:extLst>
          </p:cNvPr>
          <p:cNvCxnSpPr>
            <a:cxnSpLocks/>
            <a:stCxn id="31" idx="3"/>
            <a:endCxn id="44" idx="1"/>
          </p:cNvCxnSpPr>
          <p:nvPr/>
        </p:nvCxnSpPr>
        <p:spPr>
          <a:xfrm>
            <a:off x="8632958" y="2874851"/>
            <a:ext cx="502241" cy="2278853"/>
          </a:xfrm>
          <a:prstGeom prst="straightConnector1">
            <a:avLst/>
          </a:prstGeom>
          <a:ln w="349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B8F6392A-1997-7184-4AA6-359CF3F75672}"/>
              </a:ext>
            </a:extLst>
          </p:cNvPr>
          <p:cNvCxnSpPr>
            <a:cxnSpLocks/>
            <a:stCxn id="46" idx="4"/>
            <a:endCxn id="44" idx="1"/>
          </p:cNvCxnSpPr>
          <p:nvPr/>
        </p:nvCxnSpPr>
        <p:spPr>
          <a:xfrm flipV="1">
            <a:off x="8717984" y="5153704"/>
            <a:ext cx="417215" cy="5844"/>
          </a:xfrm>
          <a:prstGeom prst="straightConnector1">
            <a:avLst/>
          </a:prstGeom>
          <a:ln w="3492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F2C0EAD3-6392-69CC-8CBD-EE2130B91412}"/>
              </a:ext>
            </a:extLst>
          </p:cNvPr>
          <p:cNvCxnSpPr>
            <a:cxnSpLocks/>
            <a:stCxn id="31" idx="3"/>
            <a:endCxn id="40" idx="1"/>
          </p:cNvCxnSpPr>
          <p:nvPr/>
        </p:nvCxnSpPr>
        <p:spPr>
          <a:xfrm>
            <a:off x="8632958" y="2874851"/>
            <a:ext cx="498939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CF14E6A4-B45A-9847-7A61-A53DE3F5BD43}"/>
              </a:ext>
            </a:extLst>
          </p:cNvPr>
          <p:cNvCxnSpPr>
            <a:cxnSpLocks/>
          </p:cNvCxnSpPr>
          <p:nvPr/>
        </p:nvCxnSpPr>
        <p:spPr>
          <a:xfrm>
            <a:off x="8632957" y="3373557"/>
            <a:ext cx="498939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8E18A2EB-C255-5AE9-AAA7-0824F3242A8D}"/>
              </a:ext>
            </a:extLst>
          </p:cNvPr>
          <p:cNvCxnSpPr>
            <a:cxnSpLocks/>
          </p:cNvCxnSpPr>
          <p:nvPr/>
        </p:nvCxnSpPr>
        <p:spPr>
          <a:xfrm>
            <a:off x="8677121" y="4277288"/>
            <a:ext cx="498939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7819DD5C-F38F-E0DF-4275-C86EEE161C5B}"/>
              </a:ext>
            </a:extLst>
          </p:cNvPr>
          <p:cNvCxnSpPr>
            <a:cxnSpLocks/>
            <a:stCxn id="43" idx="2"/>
            <a:endCxn id="44" idx="0"/>
          </p:cNvCxnSpPr>
          <p:nvPr/>
        </p:nvCxnSpPr>
        <p:spPr>
          <a:xfrm>
            <a:off x="10066121" y="4422633"/>
            <a:ext cx="3303" cy="300248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653255C-C97B-C787-E407-DC6583B9495C}"/>
              </a:ext>
            </a:extLst>
          </p:cNvPr>
          <p:cNvSpPr txBox="1">
            <a:spLocks/>
          </p:cNvSpPr>
          <p:nvPr/>
        </p:nvSpPr>
        <p:spPr>
          <a:xfrm>
            <a:off x="427654" y="1671281"/>
            <a:ext cx="3768035" cy="72628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b="1" dirty="0"/>
              <a:t>Streams can be filtered </a:t>
            </a:r>
            <a:r>
              <a:rPr lang="en-US" sz="2400" dirty="0"/>
              <a:t>and sampled near the source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8D6BAC1-D4EC-2A07-71FF-2AB99610BB57}"/>
              </a:ext>
            </a:extLst>
          </p:cNvPr>
          <p:cNvSpPr txBox="1">
            <a:spLocks/>
          </p:cNvSpPr>
          <p:nvPr/>
        </p:nvSpPr>
        <p:spPr>
          <a:xfrm>
            <a:off x="1540950" y="5827194"/>
            <a:ext cx="3768035" cy="72628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Minimum (filtered) data and analytics archived 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117F33E-0DC0-9FC8-8EED-59327B206FA0}"/>
              </a:ext>
            </a:extLst>
          </p:cNvPr>
          <p:cNvSpPr txBox="1">
            <a:spLocks/>
          </p:cNvSpPr>
          <p:nvPr/>
        </p:nvSpPr>
        <p:spPr>
          <a:xfrm>
            <a:off x="7051729" y="6107624"/>
            <a:ext cx="4370522" cy="72628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Filtered streams and sketches used as input to classical ML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62B7F2F-2942-E8F5-C510-39C8792C492D}"/>
              </a:ext>
            </a:extLst>
          </p:cNvPr>
          <p:cNvCxnSpPr>
            <a:cxnSpLocks/>
          </p:cNvCxnSpPr>
          <p:nvPr/>
        </p:nvCxnSpPr>
        <p:spPr>
          <a:xfrm>
            <a:off x="2407403" y="2295711"/>
            <a:ext cx="460458" cy="328615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C9CED80-C2C8-611D-C984-983BB03BAEAE}"/>
              </a:ext>
            </a:extLst>
          </p:cNvPr>
          <p:cNvCxnSpPr>
            <a:cxnSpLocks/>
            <a:endCxn id="46" idx="2"/>
          </p:cNvCxnSpPr>
          <p:nvPr/>
        </p:nvCxnSpPr>
        <p:spPr>
          <a:xfrm flipV="1">
            <a:off x="5221521" y="5159548"/>
            <a:ext cx="983247" cy="776218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ADE8216-C070-C253-8848-284A8B4BE765}"/>
              </a:ext>
            </a:extLst>
          </p:cNvPr>
          <p:cNvCxnSpPr>
            <a:cxnSpLocks/>
            <a:endCxn id="44" idx="2"/>
          </p:cNvCxnSpPr>
          <p:nvPr/>
        </p:nvCxnSpPr>
        <p:spPr>
          <a:xfrm flipV="1">
            <a:off x="9481399" y="5584527"/>
            <a:ext cx="588025" cy="582557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4FA3C1F5-D863-39DF-A172-91E6ED07486D}"/>
              </a:ext>
            </a:extLst>
          </p:cNvPr>
          <p:cNvCxnSpPr>
            <a:cxnSpLocks/>
          </p:cNvCxnSpPr>
          <p:nvPr/>
        </p:nvCxnSpPr>
        <p:spPr>
          <a:xfrm flipH="1">
            <a:off x="7496124" y="2295711"/>
            <a:ext cx="1221860" cy="400901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DF7C0ECD-48B7-C08A-719D-2016DAB7BE0A}"/>
              </a:ext>
            </a:extLst>
          </p:cNvPr>
          <p:cNvSpPr/>
          <p:nvPr/>
        </p:nvSpPr>
        <p:spPr>
          <a:xfrm>
            <a:off x="7496123" y="5661834"/>
            <a:ext cx="2043953" cy="356477"/>
          </a:xfrm>
          <a:prstGeom prst="rect">
            <a:avLst/>
          </a:prstGeom>
          <a:noFill/>
          <a:ln w="222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Server/Cloud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1B3A6D3-7076-549D-1D58-C2D5A5E21B9F}"/>
              </a:ext>
            </a:extLst>
          </p:cNvPr>
          <p:cNvCxnSpPr>
            <a:cxnSpLocks/>
          </p:cNvCxnSpPr>
          <p:nvPr/>
        </p:nvCxnSpPr>
        <p:spPr>
          <a:xfrm flipH="1">
            <a:off x="8697435" y="2972635"/>
            <a:ext cx="434461" cy="2004842"/>
          </a:xfrm>
          <a:prstGeom prst="straightConnector1">
            <a:avLst/>
          </a:prstGeom>
          <a:ln w="3492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E5961A5-36FC-B268-7130-F79796ED4F5E}"/>
              </a:ext>
            </a:extLst>
          </p:cNvPr>
          <p:cNvCxnSpPr>
            <a:cxnSpLocks/>
          </p:cNvCxnSpPr>
          <p:nvPr/>
        </p:nvCxnSpPr>
        <p:spPr>
          <a:xfrm flipH="1">
            <a:off x="8717984" y="3551796"/>
            <a:ext cx="502216" cy="1425681"/>
          </a:xfrm>
          <a:prstGeom prst="straightConnector1">
            <a:avLst/>
          </a:prstGeom>
          <a:ln w="3492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99E15801-DA67-A047-3428-F9B93E2C9751}"/>
              </a:ext>
            </a:extLst>
          </p:cNvPr>
          <p:cNvCxnSpPr>
            <a:cxnSpLocks/>
          </p:cNvCxnSpPr>
          <p:nvPr/>
        </p:nvCxnSpPr>
        <p:spPr>
          <a:xfrm flipH="1">
            <a:off x="8717984" y="4422633"/>
            <a:ext cx="502216" cy="518581"/>
          </a:xfrm>
          <a:prstGeom prst="straightConnector1">
            <a:avLst/>
          </a:prstGeom>
          <a:ln w="3492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31868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076379"/>
            <a:ext cx="10515600" cy="520706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Delta coding only transmits and processes values with significant differences </a:t>
            </a:r>
          </a:p>
          <a:p>
            <a:r>
              <a:rPr lang="en-US" dirty="0"/>
              <a:t>Example: consider a large network of sensors (IoT) </a:t>
            </a:r>
          </a:p>
          <a:p>
            <a:pPr lvl="1"/>
            <a:r>
              <a:rPr lang="en-US" dirty="0"/>
              <a:t>Values at most sensors do not change most of the time </a:t>
            </a:r>
          </a:p>
          <a:p>
            <a:pPr lvl="1"/>
            <a:r>
              <a:rPr lang="en-US" dirty="0"/>
              <a:t>Example: Temperature has not changed significantly </a:t>
            </a:r>
          </a:p>
          <a:p>
            <a:pPr lvl="1"/>
            <a:r>
              <a:rPr lang="en-US" dirty="0"/>
              <a:t>Example: Nothing moving in or out of image </a:t>
            </a:r>
          </a:p>
          <a:p>
            <a:pPr lvl="1"/>
            <a:r>
              <a:rPr lang="en-US" dirty="0"/>
              <a:t>Example: Current in transmission line has not changed</a:t>
            </a:r>
          </a:p>
          <a:p>
            <a:pPr lvl="1"/>
            <a:r>
              <a:rPr lang="en-US" dirty="0"/>
              <a:t>Etc. </a:t>
            </a:r>
          </a:p>
          <a:p>
            <a:r>
              <a:rPr lang="en-US" dirty="0"/>
              <a:t>Delta coding restricts transmission, processing and storage to </a:t>
            </a:r>
            <a:r>
              <a:rPr lang="en-US" b="1" dirty="0"/>
              <a:t>significant changes (deltas)</a:t>
            </a:r>
          </a:p>
          <a:p>
            <a:pPr lvl="1"/>
            <a:r>
              <a:rPr lang="en-US" dirty="0"/>
              <a:t>A threshold determines significance of change </a:t>
            </a:r>
          </a:p>
          <a:p>
            <a:pPr lvl="1"/>
            <a:r>
              <a:rPr lang="en-US" dirty="0"/>
              <a:t>Threshold values are solution specific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Delta Coding</a:t>
            </a:r>
          </a:p>
        </p:txBody>
      </p:sp>
    </p:spTree>
    <p:extLst>
      <p:ext uri="{BB962C8B-B14F-4D97-AF65-F5344CB8AC3E}">
        <p14:creationId xmlns:p14="http://schemas.microsoft.com/office/powerpoint/2010/main" val="2674841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076379"/>
            <a:ext cx="10515600" cy="520706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Delta coding moves filtering and initial processing to periphery of network</a:t>
            </a:r>
          </a:p>
          <a:p>
            <a:r>
              <a:rPr lang="en-US" dirty="0"/>
              <a:t>Example: Measuring flow in pipe network</a:t>
            </a:r>
          </a:p>
          <a:p>
            <a:pPr lvl="1"/>
            <a:r>
              <a:rPr lang="en-US" dirty="0"/>
              <a:t>100,000 flow sensors sampling every 1-sec with +/-3% standard error</a:t>
            </a:r>
          </a:p>
          <a:p>
            <a:pPr lvl="1"/>
            <a:r>
              <a:rPr lang="en-US" dirty="0"/>
              <a:t>Example: Set threshold and only report if change more than +/-3% of moving average </a:t>
            </a:r>
          </a:p>
          <a:p>
            <a:pPr lvl="1"/>
            <a:r>
              <a:rPr lang="en-US" dirty="0"/>
              <a:t>Can reduce network traffic and processing by orders of magnitude  </a:t>
            </a:r>
          </a:p>
          <a:p>
            <a:r>
              <a:rPr lang="en-US" dirty="0"/>
              <a:t>Example: Security camera watching gate </a:t>
            </a:r>
          </a:p>
          <a:p>
            <a:pPr lvl="1"/>
            <a:r>
              <a:rPr lang="en-US" dirty="0"/>
              <a:t>Image transmission expensive at raw 50-60 frames per second</a:t>
            </a:r>
          </a:p>
          <a:p>
            <a:pPr lvl="1"/>
            <a:r>
              <a:rPr lang="en-US" dirty="0"/>
              <a:t>Threshold on object greater than some number of pixels moving in frame  </a:t>
            </a:r>
          </a:p>
          <a:p>
            <a:pPr lvl="1"/>
            <a:r>
              <a:rPr lang="en-US" dirty="0"/>
              <a:t>Reduces transmission, processing and storage by many orders of magnitude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Delta Coding</a:t>
            </a:r>
          </a:p>
        </p:txBody>
      </p:sp>
    </p:spTree>
    <p:extLst>
      <p:ext uri="{BB962C8B-B14F-4D97-AF65-F5344CB8AC3E}">
        <p14:creationId xmlns:p14="http://schemas.microsoft.com/office/powerpoint/2010/main" val="4135699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495851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200" dirty="0"/>
              <a:t>Compute and store summary statistics from moving window</a:t>
            </a:r>
            <a:endParaRPr lang="en-US" sz="3200" b="1" dirty="0"/>
          </a:p>
          <a:p>
            <a:r>
              <a:rPr lang="en-US" dirty="0"/>
              <a:t>Need to update the analytic as new values received  </a:t>
            </a:r>
          </a:p>
          <a:p>
            <a:r>
              <a:rPr lang="en-US" dirty="0"/>
              <a:t>Must maintain samples in a window </a:t>
            </a:r>
          </a:p>
          <a:p>
            <a:r>
              <a:rPr lang="en-US" dirty="0"/>
              <a:t>Move window by a stride, number of samples</a:t>
            </a:r>
          </a:p>
          <a:p>
            <a:r>
              <a:rPr lang="en-US" dirty="0"/>
              <a:t>On update </a:t>
            </a:r>
          </a:p>
          <a:p>
            <a:pPr lvl="1"/>
            <a:r>
              <a:rPr lang="en-US" dirty="0"/>
              <a:t>Add new observations to the end of window</a:t>
            </a:r>
          </a:p>
          <a:p>
            <a:pPr lvl="1"/>
            <a:r>
              <a:rPr lang="en-US" dirty="0"/>
              <a:t>Remove old observations from beginning of window </a:t>
            </a:r>
          </a:p>
          <a:p>
            <a:pPr lvl="1"/>
            <a:r>
              <a:rPr lang="en-US" dirty="0"/>
              <a:t>Compute and store new estimate of statistic</a:t>
            </a:r>
          </a:p>
          <a:p>
            <a:r>
              <a:rPr lang="en-US" dirty="0"/>
              <a:t>Algorithm requires recomputing statistics using all observations in the window in main memory</a:t>
            </a:r>
          </a:p>
          <a:p>
            <a:r>
              <a:rPr lang="en-US" dirty="0"/>
              <a:t>May not scale well  </a:t>
            </a:r>
          </a:p>
          <a:p>
            <a:pPr lvl="1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Moving Window Analytics</a:t>
            </a:r>
          </a:p>
        </p:txBody>
      </p:sp>
    </p:spTree>
    <p:extLst>
      <p:ext uri="{BB962C8B-B14F-4D97-AF65-F5344CB8AC3E}">
        <p14:creationId xmlns:p14="http://schemas.microsoft.com/office/powerpoint/2010/main" val="2390928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234699"/>
            <a:ext cx="10515600" cy="7016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Compute and store summary statistics from moving window</a:t>
            </a:r>
            <a:endParaRPr lang="en-US" b="1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Moving Window Analytics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39DB8D8-F827-4BB3-A962-2FA8869EA91E}"/>
              </a:ext>
            </a:extLst>
          </p:cNvPr>
          <p:cNvSpPr txBox="1"/>
          <p:nvPr/>
        </p:nvSpPr>
        <p:spPr>
          <a:xfrm>
            <a:off x="1095086" y="2245827"/>
            <a:ext cx="6115675" cy="461665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 ... t</a:t>
            </a:r>
            <a:r>
              <a:rPr lang="en-US" sz="2400" baseline="-25000" dirty="0"/>
              <a:t>0  </a:t>
            </a:r>
            <a:r>
              <a:rPr lang="en-US" sz="2400" dirty="0"/>
              <a:t>t</a:t>
            </a:r>
            <a:r>
              <a:rPr lang="en-US" sz="2400" baseline="-25000" dirty="0"/>
              <a:t>1 </a:t>
            </a:r>
            <a:r>
              <a:rPr lang="en-US" sz="2400" dirty="0"/>
              <a:t> t</a:t>
            </a:r>
            <a:r>
              <a:rPr lang="en-US" sz="2400" baseline="-25000" dirty="0"/>
              <a:t>2</a:t>
            </a:r>
            <a:r>
              <a:rPr lang="en-US" sz="2400" dirty="0"/>
              <a:t>  t</a:t>
            </a:r>
            <a:r>
              <a:rPr lang="en-US" sz="2400" baseline="-25000" dirty="0"/>
              <a:t>3</a:t>
            </a:r>
            <a:r>
              <a:rPr lang="en-US" sz="2400" dirty="0"/>
              <a:t>  </a:t>
            </a:r>
            <a:r>
              <a:rPr lang="en-US" sz="2400" dirty="0" err="1"/>
              <a:t>t</a:t>
            </a:r>
            <a:r>
              <a:rPr lang="en-US" sz="2400" baseline="-25000" dirty="0" err="1"/>
              <a:t>3</a:t>
            </a:r>
            <a:r>
              <a:rPr lang="en-US" sz="2400" baseline="-25000" dirty="0"/>
              <a:t>  </a:t>
            </a:r>
            <a:r>
              <a:rPr lang="en-US" sz="2400" dirty="0"/>
              <a:t>t</a:t>
            </a:r>
            <a:r>
              <a:rPr lang="en-US" sz="2400" baseline="-25000" dirty="0"/>
              <a:t>4 </a:t>
            </a:r>
            <a:r>
              <a:rPr lang="en-US" sz="2400" dirty="0"/>
              <a:t>t</a:t>
            </a:r>
            <a:r>
              <a:rPr lang="en-US" sz="2400" baseline="-25000" dirty="0"/>
              <a:t>5 </a:t>
            </a:r>
            <a:r>
              <a:rPr lang="en-US" sz="2400" dirty="0"/>
              <a:t>t</a:t>
            </a:r>
            <a:r>
              <a:rPr lang="en-US" sz="2400" baseline="-25000" dirty="0"/>
              <a:t>6 </a:t>
            </a:r>
            <a:r>
              <a:rPr lang="en-US" sz="2400" dirty="0"/>
              <a:t>t</a:t>
            </a:r>
            <a:r>
              <a:rPr lang="en-US" sz="2400" baseline="-25000" dirty="0"/>
              <a:t>7 </a:t>
            </a:r>
            <a:r>
              <a:rPr lang="en-US" sz="2400" dirty="0"/>
              <a:t>t</a:t>
            </a:r>
            <a:r>
              <a:rPr lang="en-US" sz="2400" baseline="-25000" dirty="0"/>
              <a:t>8 </a:t>
            </a:r>
            <a:r>
              <a:rPr lang="en-US" sz="2400" dirty="0"/>
              <a:t>t</a:t>
            </a:r>
            <a:r>
              <a:rPr lang="en-US" sz="2400" baseline="-25000" dirty="0"/>
              <a:t>9 </a:t>
            </a:r>
            <a:r>
              <a:rPr lang="en-US" sz="2400" dirty="0"/>
              <a:t>t</a:t>
            </a:r>
            <a:r>
              <a:rPr lang="en-US" sz="2400" baseline="-25000" dirty="0"/>
              <a:t>10 </a:t>
            </a:r>
            <a:r>
              <a:rPr lang="en-US" sz="2400" dirty="0"/>
              <a:t>t</a:t>
            </a:r>
            <a:r>
              <a:rPr lang="en-US" sz="2400" baseline="-25000" dirty="0"/>
              <a:t>11 </a:t>
            </a:r>
            <a:r>
              <a:rPr lang="en-US" sz="2400" dirty="0"/>
              <a:t>t</a:t>
            </a:r>
            <a:r>
              <a:rPr lang="en-US" sz="2400" baseline="-25000" dirty="0"/>
              <a:t>12 </a:t>
            </a:r>
            <a:r>
              <a:rPr lang="en-US" sz="2400" dirty="0"/>
              <a:t>t</a:t>
            </a:r>
            <a:r>
              <a:rPr lang="en-US" sz="2400" baseline="-25000" dirty="0"/>
              <a:t>13 </a:t>
            </a:r>
            <a:r>
              <a:rPr lang="en-US" sz="2400" dirty="0"/>
              <a:t>t</a:t>
            </a:r>
            <a:r>
              <a:rPr lang="en-US" sz="2400" baseline="-25000" dirty="0"/>
              <a:t>14 </a:t>
            </a:r>
            <a:r>
              <a:rPr lang="en-US" sz="2400" dirty="0"/>
              <a:t>t</a:t>
            </a:r>
            <a:r>
              <a:rPr lang="en-US" sz="2400" baseline="-25000" dirty="0"/>
              <a:t>15 </a:t>
            </a:r>
            <a:r>
              <a:rPr lang="en-US" sz="2400" dirty="0"/>
              <a:t>…</a:t>
            </a:r>
            <a:endParaRPr lang="en-US" sz="2400" baseline="-25000" dirty="0"/>
          </a:p>
        </p:txBody>
      </p:sp>
      <p:sp>
        <p:nvSpPr>
          <p:cNvPr id="4" name="Right Brace 3">
            <a:extLst>
              <a:ext uri="{FF2B5EF4-FFF2-40B4-BE49-F238E27FC236}">
                <a16:creationId xmlns:a16="http://schemas.microsoft.com/office/drawing/2014/main" id="{C15128C2-B998-4C11-8D1A-E31F3E1960CE}"/>
              </a:ext>
            </a:extLst>
          </p:cNvPr>
          <p:cNvSpPr/>
          <p:nvPr/>
        </p:nvSpPr>
        <p:spPr>
          <a:xfrm rot="5400000">
            <a:off x="2576856" y="2243676"/>
            <a:ext cx="673396" cy="2498652"/>
          </a:xfrm>
          <a:prstGeom prst="righ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6FD6C752-9354-4A50-A7D8-D173C4665138}"/>
              </a:ext>
            </a:extLst>
          </p:cNvPr>
          <p:cNvSpPr/>
          <p:nvPr/>
        </p:nvSpPr>
        <p:spPr>
          <a:xfrm rot="5400000">
            <a:off x="3826182" y="3577238"/>
            <a:ext cx="673396" cy="2498652"/>
          </a:xfrm>
          <a:prstGeom prst="righ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E8A075D-BE5C-433E-8EC9-859C451635F9}"/>
              </a:ext>
            </a:extLst>
          </p:cNvPr>
          <p:cNvCxnSpPr/>
          <p:nvPr/>
        </p:nvCxnSpPr>
        <p:spPr>
          <a:xfrm>
            <a:off x="1664228" y="2822631"/>
            <a:ext cx="2498652" cy="0"/>
          </a:xfrm>
          <a:prstGeom prst="straightConnector1">
            <a:avLst/>
          </a:prstGeom>
          <a:ln w="508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7888F05-EF15-4D58-A6C9-D8D370BA2A88}"/>
              </a:ext>
            </a:extLst>
          </p:cNvPr>
          <p:cNvSpPr txBox="1"/>
          <p:nvPr/>
        </p:nvSpPr>
        <p:spPr>
          <a:xfrm>
            <a:off x="1230065" y="2773296"/>
            <a:ext cx="33669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Span of time window = 8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799DF79-E384-4675-BC91-11A5F47BCEBF}"/>
              </a:ext>
            </a:extLst>
          </p:cNvPr>
          <p:cNvCxnSpPr>
            <a:cxnSpLocks/>
          </p:cNvCxnSpPr>
          <p:nvPr/>
        </p:nvCxnSpPr>
        <p:spPr>
          <a:xfrm>
            <a:off x="2913554" y="4069685"/>
            <a:ext cx="1249326" cy="0"/>
          </a:xfrm>
          <a:prstGeom prst="straightConnector1">
            <a:avLst/>
          </a:prstGeom>
          <a:ln w="50800">
            <a:solidFill>
              <a:schemeClr val="tx1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D1907B2-BBE0-4A16-BD29-6A3FE3910247}"/>
              </a:ext>
            </a:extLst>
          </p:cNvPr>
          <p:cNvSpPr txBox="1"/>
          <p:nvPr/>
        </p:nvSpPr>
        <p:spPr>
          <a:xfrm>
            <a:off x="2405081" y="4059369"/>
            <a:ext cx="20858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Stride = 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2187EFD-9727-494F-874F-E39695778B81}"/>
              </a:ext>
            </a:extLst>
          </p:cNvPr>
          <p:cNvSpPr txBox="1"/>
          <p:nvPr/>
        </p:nvSpPr>
        <p:spPr>
          <a:xfrm>
            <a:off x="132371" y="4487710"/>
            <a:ext cx="21953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2"/>
                </a:solidFill>
              </a:rPr>
              <a:t>Statistic value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4E073B3-C041-405F-AC3C-568286CFCDD2}"/>
              </a:ext>
            </a:extLst>
          </p:cNvPr>
          <p:cNvCxnSpPr>
            <a:cxnSpLocks/>
            <a:endCxn id="12" idx="0"/>
          </p:cNvCxnSpPr>
          <p:nvPr/>
        </p:nvCxnSpPr>
        <p:spPr>
          <a:xfrm flipH="1">
            <a:off x="1230065" y="3951750"/>
            <a:ext cx="1683488" cy="535960"/>
          </a:xfrm>
          <a:prstGeom prst="straightConnector1">
            <a:avLst/>
          </a:prstGeom>
          <a:ln w="38100">
            <a:solidFill>
              <a:schemeClr val="accent2"/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2DACCAE2-1CA0-40E1-960D-3264F3F26406}"/>
              </a:ext>
            </a:extLst>
          </p:cNvPr>
          <p:cNvSpPr txBox="1"/>
          <p:nvPr/>
        </p:nvSpPr>
        <p:spPr>
          <a:xfrm>
            <a:off x="1284857" y="5773783"/>
            <a:ext cx="20858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2"/>
                </a:solidFill>
              </a:rPr>
              <a:t>Statistic value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184D43D-7E62-4DEF-AE0A-FBE6CA1BBCE0}"/>
              </a:ext>
            </a:extLst>
          </p:cNvPr>
          <p:cNvCxnSpPr>
            <a:cxnSpLocks/>
            <a:endCxn id="16" idx="0"/>
          </p:cNvCxnSpPr>
          <p:nvPr/>
        </p:nvCxnSpPr>
        <p:spPr>
          <a:xfrm flipH="1">
            <a:off x="2327758" y="5297950"/>
            <a:ext cx="1835122" cy="475833"/>
          </a:xfrm>
          <a:prstGeom prst="straightConnector1">
            <a:avLst/>
          </a:prstGeom>
          <a:ln w="38100">
            <a:solidFill>
              <a:schemeClr val="accent2"/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7BDBB3BA-172D-43C8-9C34-178852087C64}"/>
              </a:ext>
            </a:extLst>
          </p:cNvPr>
          <p:cNvSpPr txBox="1">
            <a:spLocks/>
          </p:cNvSpPr>
          <p:nvPr/>
        </p:nvSpPr>
        <p:spPr>
          <a:xfrm>
            <a:off x="7210762" y="2245827"/>
            <a:ext cx="4848868" cy="4306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Streaming data values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Window sample the stream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Compute statistic from samples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Move window by a Stride</a:t>
            </a:r>
          </a:p>
          <a:p>
            <a:pPr marL="0" indent="0">
              <a:buNone/>
            </a:pPr>
            <a:r>
              <a:rPr lang="en-US" dirty="0"/>
              <a:t>Repeat steps 1-3 indefinitely 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98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7" grpId="0" animBg="1"/>
      <p:bldP spid="9" grpId="0"/>
      <p:bldP spid="11" grpId="0"/>
      <p:bldP spid="12" grpId="0"/>
      <p:bldP spid="1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D3837-985B-A320-3040-762131EE6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A2FC9-23BB-9475-6ACE-7E252670F1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Reservoir Sampling</a:t>
            </a:r>
          </a:p>
        </p:txBody>
      </p:sp>
    </p:spTree>
    <p:extLst>
      <p:ext uri="{BB962C8B-B14F-4D97-AF65-F5344CB8AC3E}">
        <p14:creationId xmlns:p14="http://schemas.microsoft.com/office/powerpoint/2010/main" val="31421528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B25A34-09D0-9863-8B8E-2A7877E4E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538D6D-C896-057F-1876-31F8FE480D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143001"/>
            <a:ext cx="10515600" cy="54483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How can we randomly sample from infinite streams to compute an analytic?    </a:t>
            </a:r>
          </a:p>
          <a:p>
            <a:r>
              <a:rPr lang="en-US" dirty="0"/>
              <a:t>Why do we need random samples or </a:t>
            </a:r>
            <a:r>
              <a:rPr lang="en-US" b="1" dirty="0"/>
              <a:t>probabilistic sampling algorithms</a:t>
            </a:r>
            <a:r>
              <a:rPr lang="en-US" dirty="0"/>
              <a:t>? </a:t>
            </a:r>
          </a:p>
          <a:p>
            <a:r>
              <a:rPr lang="en-US" dirty="0"/>
              <a:t>Moving window samples only hold information for a finite time </a:t>
            </a:r>
          </a:p>
          <a:p>
            <a:pPr lvl="1"/>
            <a:r>
              <a:rPr lang="en-US" dirty="0"/>
              <a:t>Loose history  </a:t>
            </a:r>
          </a:p>
          <a:p>
            <a:r>
              <a:rPr lang="en-US" dirty="0"/>
              <a:t>Exponential smoothing methods only works for certain statistics  </a:t>
            </a:r>
          </a:p>
          <a:p>
            <a:pPr lvl="1"/>
            <a:r>
              <a:rPr lang="en-US" dirty="0"/>
              <a:t>We cannot derive closed form recursions for many statistics, e.g. median   </a:t>
            </a:r>
          </a:p>
          <a:p>
            <a:r>
              <a:rPr lang="en-US" dirty="0"/>
              <a:t>Idea: use a </a:t>
            </a:r>
            <a:r>
              <a:rPr lang="en-US" b="1" dirty="0"/>
              <a:t>random samples </a:t>
            </a:r>
            <a:r>
              <a:rPr lang="en-US" dirty="0"/>
              <a:t>to create a </a:t>
            </a:r>
            <a:r>
              <a:rPr lang="en-US" b="1" dirty="0"/>
              <a:t>sketch</a:t>
            </a:r>
            <a:r>
              <a:rPr lang="en-US" dirty="0"/>
              <a:t> of the observations   </a:t>
            </a:r>
          </a:p>
          <a:p>
            <a:pPr lvl="1"/>
            <a:r>
              <a:rPr lang="en-US" dirty="0"/>
              <a:t>Build a sketch representative of the full infinite stream</a:t>
            </a:r>
          </a:p>
          <a:p>
            <a:pPr lvl="1"/>
            <a:r>
              <a:rPr lang="en-US" dirty="0"/>
              <a:t>Updated random sample as new observations arrive</a:t>
            </a:r>
          </a:p>
          <a:p>
            <a:pPr marL="0" indent="0">
              <a:buNone/>
            </a:pPr>
            <a:r>
              <a:rPr lang="en-US" sz="2000" i="1" dirty="0"/>
              <a:t>Note: Reservoir sampling is implemented in the </a:t>
            </a:r>
            <a:r>
              <a:rPr lang="en-US" sz="2000" i="1" dirty="0">
                <a:hlinkClick r:id="rId2"/>
              </a:rPr>
              <a:t>Apache </a:t>
            </a:r>
            <a:r>
              <a:rPr lang="en-US" sz="2000" i="1" dirty="0" err="1">
                <a:hlinkClick r:id="rId2"/>
              </a:rPr>
              <a:t>DataSketches</a:t>
            </a:r>
            <a:r>
              <a:rPr lang="en-US" sz="2000" i="1" dirty="0">
                <a:hlinkClick r:id="rId2"/>
              </a:rPr>
              <a:t> package </a:t>
            </a:r>
            <a:endParaRPr lang="en-US" sz="2000" i="1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A29D0E8-589E-DBAF-C137-3E98400762B7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Reservoir Sampling</a:t>
            </a:r>
          </a:p>
        </p:txBody>
      </p:sp>
    </p:spTree>
    <p:extLst>
      <p:ext uri="{BB962C8B-B14F-4D97-AF65-F5344CB8AC3E}">
        <p14:creationId xmlns:p14="http://schemas.microsoft.com/office/powerpoint/2010/main" val="4131014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0F1B9-97E7-F2DD-66BC-F8DB1AFA1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A767386-1640-FF02-F24D-2EA50D6F14DA}"/>
              </a:ext>
            </a:extLst>
          </p:cNvPr>
          <p:cNvSpPr txBox="1">
            <a:spLocks/>
          </p:cNvSpPr>
          <p:nvPr/>
        </p:nvSpPr>
        <p:spPr>
          <a:xfrm>
            <a:off x="5686426" y="1609470"/>
            <a:ext cx="6257924" cy="8035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Further </a:t>
            </a:r>
            <a:r>
              <a:rPr lang="en-US" sz="2400" b="1" dirty="0"/>
              <a:t>filtering, sampling and sketching </a:t>
            </a:r>
            <a:r>
              <a:rPr lang="en-US" sz="2400" dirty="0"/>
              <a:t>performed as preprocessing for analytics</a:t>
            </a:r>
          </a:p>
          <a:p>
            <a:pPr marL="0" indent="0">
              <a:buNone/>
            </a:pPr>
            <a:endParaRPr lang="en-US" sz="2400" dirty="0"/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D8484DB8-FB79-6F97-7D87-BE5523A2C9F0}"/>
              </a:ext>
            </a:extLst>
          </p:cNvPr>
          <p:cNvSpPr/>
          <p:nvPr/>
        </p:nvSpPr>
        <p:spPr>
          <a:xfrm>
            <a:off x="5843954" y="2543312"/>
            <a:ext cx="5509846" cy="3493477"/>
          </a:xfrm>
          <a:prstGeom prst="round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EB8FA7-2253-5799-C779-EE541552BE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144" y="1121422"/>
            <a:ext cx="11828522" cy="4725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Event stream algorithms are both filters and analytics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6978D45-36E6-5755-1973-C26C1DED65AB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Volume Reduction and Streaming Analytics</a:t>
            </a:r>
          </a:p>
        </p:txBody>
      </p:sp>
      <p:sp>
        <p:nvSpPr>
          <p:cNvPr id="5" name="Cloud 4">
            <a:extLst>
              <a:ext uri="{FF2B5EF4-FFF2-40B4-BE49-F238E27FC236}">
                <a16:creationId xmlns:a16="http://schemas.microsoft.com/office/drawing/2014/main" id="{504A55CB-EDCD-D226-B82F-59BC46B208DB}"/>
              </a:ext>
            </a:extLst>
          </p:cNvPr>
          <p:cNvSpPr/>
          <p:nvPr/>
        </p:nvSpPr>
        <p:spPr>
          <a:xfrm>
            <a:off x="256557" y="2634096"/>
            <a:ext cx="1799461" cy="677078"/>
          </a:xfrm>
          <a:prstGeom prst="cloud">
            <a:avLst/>
          </a:prstGeom>
          <a:noFill/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Source</a:t>
            </a:r>
          </a:p>
        </p:txBody>
      </p:sp>
      <p:sp>
        <p:nvSpPr>
          <p:cNvPr id="22" name="Cloud 21">
            <a:extLst>
              <a:ext uri="{FF2B5EF4-FFF2-40B4-BE49-F238E27FC236}">
                <a16:creationId xmlns:a16="http://schemas.microsoft.com/office/drawing/2014/main" id="{5028BB68-459B-AB53-FEAA-D044951B97AA}"/>
              </a:ext>
            </a:extLst>
          </p:cNvPr>
          <p:cNvSpPr/>
          <p:nvPr/>
        </p:nvSpPr>
        <p:spPr>
          <a:xfrm>
            <a:off x="256556" y="3481389"/>
            <a:ext cx="1799461" cy="635095"/>
          </a:xfrm>
          <a:prstGeom prst="cloud">
            <a:avLst/>
          </a:prstGeom>
          <a:noFill/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Source</a:t>
            </a:r>
          </a:p>
        </p:txBody>
      </p:sp>
      <p:sp>
        <p:nvSpPr>
          <p:cNvPr id="23" name="Cloud 22">
            <a:extLst>
              <a:ext uri="{FF2B5EF4-FFF2-40B4-BE49-F238E27FC236}">
                <a16:creationId xmlns:a16="http://schemas.microsoft.com/office/drawing/2014/main" id="{B719C927-EC18-C95D-6C9B-CA23B982F4EC}"/>
              </a:ext>
            </a:extLst>
          </p:cNvPr>
          <p:cNvSpPr/>
          <p:nvPr/>
        </p:nvSpPr>
        <p:spPr>
          <a:xfrm>
            <a:off x="227496" y="4694095"/>
            <a:ext cx="1799461" cy="694114"/>
          </a:xfrm>
          <a:prstGeom prst="cloud">
            <a:avLst/>
          </a:prstGeom>
          <a:noFill/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Source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80FF598-5931-35E1-29AC-1441E9D56821}"/>
                  </a:ext>
                </a:extLst>
              </p:cNvPr>
              <p:cNvSpPr txBox="1"/>
              <p:nvPr/>
            </p:nvSpPr>
            <p:spPr>
              <a:xfrm>
                <a:off x="885509" y="4059000"/>
                <a:ext cx="50995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1154615-99F6-8289-543F-B05470A2B5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509" y="4059000"/>
                <a:ext cx="509954" cy="70788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ctangle 24">
            <a:extLst>
              <a:ext uri="{FF2B5EF4-FFF2-40B4-BE49-F238E27FC236}">
                <a16:creationId xmlns:a16="http://schemas.microsoft.com/office/drawing/2014/main" id="{596A58F0-25D2-ED9E-5D0B-6C6CD6F20567}"/>
              </a:ext>
            </a:extLst>
          </p:cNvPr>
          <p:cNvSpPr/>
          <p:nvPr/>
        </p:nvSpPr>
        <p:spPr>
          <a:xfrm>
            <a:off x="2332892" y="2689851"/>
            <a:ext cx="1488830" cy="621323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43521C1-2F0A-32BB-5F74-5C0D34305438}"/>
              </a:ext>
            </a:extLst>
          </p:cNvPr>
          <p:cNvSpPr/>
          <p:nvPr/>
        </p:nvSpPr>
        <p:spPr>
          <a:xfrm>
            <a:off x="2291959" y="4766886"/>
            <a:ext cx="1488830" cy="621323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FB09152-F398-29F9-DC4F-83444CFE1A1D}"/>
              </a:ext>
            </a:extLst>
          </p:cNvPr>
          <p:cNvSpPr/>
          <p:nvPr/>
        </p:nvSpPr>
        <p:spPr>
          <a:xfrm>
            <a:off x="2311672" y="3495161"/>
            <a:ext cx="1488830" cy="621323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612C0EC-7B9B-B3B3-123B-B36FDECBB1F0}"/>
                  </a:ext>
                </a:extLst>
              </p:cNvPr>
              <p:cNvSpPr txBox="1"/>
              <p:nvPr/>
            </p:nvSpPr>
            <p:spPr>
              <a:xfrm>
                <a:off x="2801110" y="4028191"/>
                <a:ext cx="50995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63C0B2A-FAAA-7283-9153-7EE44B2805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1110" y="4028191"/>
                <a:ext cx="509954" cy="7078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tangle 30">
            <a:extLst>
              <a:ext uri="{FF2B5EF4-FFF2-40B4-BE49-F238E27FC236}">
                <a16:creationId xmlns:a16="http://schemas.microsoft.com/office/drawing/2014/main" id="{FC9DA163-6FF7-CF77-A9CF-B69A591A3C2F}"/>
              </a:ext>
            </a:extLst>
          </p:cNvPr>
          <p:cNvSpPr/>
          <p:nvPr/>
        </p:nvSpPr>
        <p:spPr>
          <a:xfrm>
            <a:off x="6119741" y="2696612"/>
            <a:ext cx="2513217" cy="3564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Filter/sample/sketch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C62823D-702F-A03C-6358-BB9020754499}"/>
              </a:ext>
            </a:extLst>
          </p:cNvPr>
          <p:cNvSpPr/>
          <p:nvPr/>
        </p:nvSpPr>
        <p:spPr>
          <a:xfrm>
            <a:off x="6184219" y="3195319"/>
            <a:ext cx="2448740" cy="3564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Filter/sample/sketch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D22D509-CB98-307E-7BDF-08595E4F00E4}"/>
              </a:ext>
            </a:extLst>
          </p:cNvPr>
          <p:cNvSpPr/>
          <p:nvPr/>
        </p:nvSpPr>
        <p:spPr>
          <a:xfrm>
            <a:off x="6184219" y="4066156"/>
            <a:ext cx="2513216" cy="3564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Filter/sample/sketch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D7CC78E-5626-90F6-049D-8812A458AD6D}"/>
                  </a:ext>
                </a:extLst>
              </p:cNvPr>
              <p:cNvSpPr txBox="1"/>
              <p:nvPr/>
            </p:nvSpPr>
            <p:spPr>
              <a:xfrm>
                <a:off x="7209163" y="3369009"/>
                <a:ext cx="509954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54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AB5C444-D8F2-B810-FE62-47D0C2A4F4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9163" y="3369009"/>
                <a:ext cx="509954" cy="92333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34E3B2A2-933D-EB71-A321-055806775A8B}"/>
              </a:ext>
            </a:extLst>
          </p:cNvPr>
          <p:cNvSpPr/>
          <p:nvPr/>
        </p:nvSpPr>
        <p:spPr>
          <a:xfrm>
            <a:off x="3864162" y="2901147"/>
            <a:ext cx="1979791" cy="288193"/>
          </a:xfrm>
          <a:custGeom>
            <a:avLst/>
            <a:gdLst>
              <a:gd name="connsiteX0" fmla="*/ 0 w 1937349"/>
              <a:gd name="connsiteY0" fmla="*/ 59181 h 276213"/>
              <a:gd name="connsiteX1" fmla="*/ 363415 w 1937349"/>
              <a:gd name="connsiteY1" fmla="*/ 276058 h 276213"/>
              <a:gd name="connsiteX2" fmla="*/ 363415 w 1937349"/>
              <a:gd name="connsiteY2" fmla="*/ 29874 h 276213"/>
              <a:gd name="connsiteX3" fmla="*/ 773723 w 1937349"/>
              <a:gd name="connsiteY3" fmla="*/ 240889 h 276213"/>
              <a:gd name="connsiteX4" fmla="*/ 791308 w 1937349"/>
              <a:gd name="connsiteY4" fmla="*/ 12289 h 276213"/>
              <a:gd name="connsiteX5" fmla="*/ 1125415 w 1937349"/>
              <a:gd name="connsiteY5" fmla="*/ 223305 h 276213"/>
              <a:gd name="connsiteX6" fmla="*/ 1178169 w 1937349"/>
              <a:gd name="connsiteY6" fmla="*/ 41597 h 276213"/>
              <a:gd name="connsiteX7" fmla="*/ 1541585 w 1937349"/>
              <a:gd name="connsiteY7" fmla="*/ 264335 h 276213"/>
              <a:gd name="connsiteX8" fmla="*/ 1570892 w 1937349"/>
              <a:gd name="connsiteY8" fmla="*/ 566 h 276213"/>
              <a:gd name="connsiteX9" fmla="*/ 1916723 w 1937349"/>
              <a:gd name="connsiteY9" fmla="*/ 193997 h 276213"/>
              <a:gd name="connsiteX10" fmla="*/ 1899138 w 1937349"/>
              <a:gd name="connsiteY10" fmla="*/ 188135 h 276213"/>
              <a:gd name="connsiteX11" fmla="*/ 1910861 w 1937349"/>
              <a:gd name="connsiteY11" fmla="*/ 205720 h 27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37349" h="276213">
                <a:moveTo>
                  <a:pt x="0" y="59181"/>
                </a:moveTo>
                <a:cubicBezTo>
                  <a:pt x="151423" y="170061"/>
                  <a:pt x="302846" y="280942"/>
                  <a:pt x="363415" y="276058"/>
                </a:cubicBezTo>
                <a:cubicBezTo>
                  <a:pt x="423984" y="271174"/>
                  <a:pt x="295030" y="35735"/>
                  <a:pt x="363415" y="29874"/>
                </a:cubicBezTo>
                <a:cubicBezTo>
                  <a:pt x="431800" y="24013"/>
                  <a:pt x="702408" y="243820"/>
                  <a:pt x="773723" y="240889"/>
                </a:cubicBezTo>
                <a:cubicBezTo>
                  <a:pt x="845038" y="237958"/>
                  <a:pt x="732693" y="15220"/>
                  <a:pt x="791308" y="12289"/>
                </a:cubicBezTo>
                <a:cubicBezTo>
                  <a:pt x="849923" y="9358"/>
                  <a:pt x="1060938" y="218420"/>
                  <a:pt x="1125415" y="223305"/>
                </a:cubicBezTo>
                <a:cubicBezTo>
                  <a:pt x="1189892" y="228190"/>
                  <a:pt x="1108807" y="34759"/>
                  <a:pt x="1178169" y="41597"/>
                </a:cubicBezTo>
                <a:cubicBezTo>
                  <a:pt x="1247531" y="48435"/>
                  <a:pt x="1476131" y="271174"/>
                  <a:pt x="1541585" y="264335"/>
                </a:cubicBezTo>
                <a:cubicBezTo>
                  <a:pt x="1607039" y="257497"/>
                  <a:pt x="1508369" y="12289"/>
                  <a:pt x="1570892" y="566"/>
                </a:cubicBezTo>
                <a:cubicBezTo>
                  <a:pt x="1633415" y="-11157"/>
                  <a:pt x="1862015" y="162736"/>
                  <a:pt x="1916723" y="193997"/>
                </a:cubicBezTo>
                <a:cubicBezTo>
                  <a:pt x="1971431" y="225258"/>
                  <a:pt x="1900115" y="186181"/>
                  <a:pt x="1899138" y="188135"/>
                </a:cubicBezTo>
                <a:cubicBezTo>
                  <a:pt x="1898161" y="190089"/>
                  <a:pt x="1916723" y="92397"/>
                  <a:pt x="1910861" y="205720"/>
                </a:cubicBezTo>
              </a:path>
            </a:pathLst>
          </a:custGeom>
          <a:noFill/>
          <a:ln w="444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1178C609-729D-97FA-6516-2AA0C4AF11AB}"/>
              </a:ext>
            </a:extLst>
          </p:cNvPr>
          <p:cNvSpPr/>
          <p:nvPr/>
        </p:nvSpPr>
        <p:spPr>
          <a:xfrm>
            <a:off x="3821722" y="3693497"/>
            <a:ext cx="2035067" cy="288193"/>
          </a:xfrm>
          <a:custGeom>
            <a:avLst/>
            <a:gdLst>
              <a:gd name="connsiteX0" fmla="*/ 0 w 1937349"/>
              <a:gd name="connsiteY0" fmla="*/ 59181 h 276213"/>
              <a:gd name="connsiteX1" fmla="*/ 363415 w 1937349"/>
              <a:gd name="connsiteY1" fmla="*/ 276058 h 276213"/>
              <a:gd name="connsiteX2" fmla="*/ 363415 w 1937349"/>
              <a:gd name="connsiteY2" fmla="*/ 29874 h 276213"/>
              <a:gd name="connsiteX3" fmla="*/ 773723 w 1937349"/>
              <a:gd name="connsiteY3" fmla="*/ 240889 h 276213"/>
              <a:gd name="connsiteX4" fmla="*/ 791308 w 1937349"/>
              <a:gd name="connsiteY4" fmla="*/ 12289 h 276213"/>
              <a:gd name="connsiteX5" fmla="*/ 1125415 w 1937349"/>
              <a:gd name="connsiteY5" fmla="*/ 223305 h 276213"/>
              <a:gd name="connsiteX6" fmla="*/ 1178169 w 1937349"/>
              <a:gd name="connsiteY6" fmla="*/ 41597 h 276213"/>
              <a:gd name="connsiteX7" fmla="*/ 1541585 w 1937349"/>
              <a:gd name="connsiteY7" fmla="*/ 264335 h 276213"/>
              <a:gd name="connsiteX8" fmla="*/ 1570892 w 1937349"/>
              <a:gd name="connsiteY8" fmla="*/ 566 h 276213"/>
              <a:gd name="connsiteX9" fmla="*/ 1916723 w 1937349"/>
              <a:gd name="connsiteY9" fmla="*/ 193997 h 276213"/>
              <a:gd name="connsiteX10" fmla="*/ 1899138 w 1937349"/>
              <a:gd name="connsiteY10" fmla="*/ 188135 h 276213"/>
              <a:gd name="connsiteX11" fmla="*/ 1910861 w 1937349"/>
              <a:gd name="connsiteY11" fmla="*/ 205720 h 27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37349" h="276213">
                <a:moveTo>
                  <a:pt x="0" y="59181"/>
                </a:moveTo>
                <a:cubicBezTo>
                  <a:pt x="151423" y="170061"/>
                  <a:pt x="302846" y="280942"/>
                  <a:pt x="363415" y="276058"/>
                </a:cubicBezTo>
                <a:cubicBezTo>
                  <a:pt x="423984" y="271174"/>
                  <a:pt x="295030" y="35735"/>
                  <a:pt x="363415" y="29874"/>
                </a:cubicBezTo>
                <a:cubicBezTo>
                  <a:pt x="431800" y="24013"/>
                  <a:pt x="702408" y="243820"/>
                  <a:pt x="773723" y="240889"/>
                </a:cubicBezTo>
                <a:cubicBezTo>
                  <a:pt x="845038" y="237958"/>
                  <a:pt x="732693" y="15220"/>
                  <a:pt x="791308" y="12289"/>
                </a:cubicBezTo>
                <a:cubicBezTo>
                  <a:pt x="849923" y="9358"/>
                  <a:pt x="1060938" y="218420"/>
                  <a:pt x="1125415" y="223305"/>
                </a:cubicBezTo>
                <a:cubicBezTo>
                  <a:pt x="1189892" y="228190"/>
                  <a:pt x="1108807" y="34759"/>
                  <a:pt x="1178169" y="41597"/>
                </a:cubicBezTo>
                <a:cubicBezTo>
                  <a:pt x="1247531" y="48435"/>
                  <a:pt x="1476131" y="271174"/>
                  <a:pt x="1541585" y="264335"/>
                </a:cubicBezTo>
                <a:cubicBezTo>
                  <a:pt x="1607039" y="257497"/>
                  <a:pt x="1508369" y="12289"/>
                  <a:pt x="1570892" y="566"/>
                </a:cubicBezTo>
                <a:cubicBezTo>
                  <a:pt x="1633415" y="-11157"/>
                  <a:pt x="1862015" y="162736"/>
                  <a:pt x="1916723" y="193997"/>
                </a:cubicBezTo>
                <a:cubicBezTo>
                  <a:pt x="1971431" y="225258"/>
                  <a:pt x="1900115" y="186181"/>
                  <a:pt x="1899138" y="188135"/>
                </a:cubicBezTo>
                <a:cubicBezTo>
                  <a:pt x="1898161" y="190089"/>
                  <a:pt x="1916723" y="92397"/>
                  <a:pt x="1910861" y="205720"/>
                </a:cubicBezTo>
              </a:path>
            </a:pathLst>
          </a:custGeom>
          <a:noFill/>
          <a:ln w="444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3B0CA055-0D64-D846-03B6-69C1D7EFF63E}"/>
              </a:ext>
            </a:extLst>
          </p:cNvPr>
          <p:cNvSpPr/>
          <p:nvPr/>
        </p:nvSpPr>
        <p:spPr>
          <a:xfrm>
            <a:off x="3787666" y="4977477"/>
            <a:ext cx="2069123" cy="288193"/>
          </a:xfrm>
          <a:custGeom>
            <a:avLst/>
            <a:gdLst>
              <a:gd name="connsiteX0" fmla="*/ 0 w 1937349"/>
              <a:gd name="connsiteY0" fmla="*/ 59181 h 276213"/>
              <a:gd name="connsiteX1" fmla="*/ 363415 w 1937349"/>
              <a:gd name="connsiteY1" fmla="*/ 276058 h 276213"/>
              <a:gd name="connsiteX2" fmla="*/ 363415 w 1937349"/>
              <a:gd name="connsiteY2" fmla="*/ 29874 h 276213"/>
              <a:gd name="connsiteX3" fmla="*/ 773723 w 1937349"/>
              <a:gd name="connsiteY3" fmla="*/ 240889 h 276213"/>
              <a:gd name="connsiteX4" fmla="*/ 791308 w 1937349"/>
              <a:gd name="connsiteY4" fmla="*/ 12289 h 276213"/>
              <a:gd name="connsiteX5" fmla="*/ 1125415 w 1937349"/>
              <a:gd name="connsiteY5" fmla="*/ 223305 h 276213"/>
              <a:gd name="connsiteX6" fmla="*/ 1178169 w 1937349"/>
              <a:gd name="connsiteY6" fmla="*/ 41597 h 276213"/>
              <a:gd name="connsiteX7" fmla="*/ 1541585 w 1937349"/>
              <a:gd name="connsiteY7" fmla="*/ 264335 h 276213"/>
              <a:gd name="connsiteX8" fmla="*/ 1570892 w 1937349"/>
              <a:gd name="connsiteY8" fmla="*/ 566 h 276213"/>
              <a:gd name="connsiteX9" fmla="*/ 1916723 w 1937349"/>
              <a:gd name="connsiteY9" fmla="*/ 193997 h 276213"/>
              <a:gd name="connsiteX10" fmla="*/ 1899138 w 1937349"/>
              <a:gd name="connsiteY10" fmla="*/ 188135 h 276213"/>
              <a:gd name="connsiteX11" fmla="*/ 1910861 w 1937349"/>
              <a:gd name="connsiteY11" fmla="*/ 205720 h 27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37349" h="276213">
                <a:moveTo>
                  <a:pt x="0" y="59181"/>
                </a:moveTo>
                <a:cubicBezTo>
                  <a:pt x="151423" y="170061"/>
                  <a:pt x="302846" y="280942"/>
                  <a:pt x="363415" y="276058"/>
                </a:cubicBezTo>
                <a:cubicBezTo>
                  <a:pt x="423984" y="271174"/>
                  <a:pt x="295030" y="35735"/>
                  <a:pt x="363415" y="29874"/>
                </a:cubicBezTo>
                <a:cubicBezTo>
                  <a:pt x="431800" y="24013"/>
                  <a:pt x="702408" y="243820"/>
                  <a:pt x="773723" y="240889"/>
                </a:cubicBezTo>
                <a:cubicBezTo>
                  <a:pt x="845038" y="237958"/>
                  <a:pt x="732693" y="15220"/>
                  <a:pt x="791308" y="12289"/>
                </a:cubicBezTo>
                <a:cubicBezTo>
                  <a:pt x="849923" y="9358"/>
                  <a:pt x="1060938" y="218420"/>
                  <a:pt x="1125415" y="223305"/>
                </a:cubicBezTo>
                <a:cubicBezTo>
                  <a:pt x="1189892" y="228190"/>
                  <a:pt x="1108807" y="34759"/>
                  <a:pt x="1178169" y="41597"/>
                </a:cubicBezTo>
                <a:cubicBezTo>
                  <a:pt x="1247531" y="48435"/>
                  <a:pt x="1476131" y="271174"/>
                  <a:pt x="1541585" y="264335"/>
                </a:cubicBezTo>
                <a:cubicBezTo>
                  <a:pt x="1607039" y="257497"/>
                  <a:pt x="1508369" y="12289"/>
                  <a:pt x="1570892" y="566"/>
                </a:cubicBezTo>
                <a:cubicBezTo>
                  <a:pt x="1633415" y="-11157"/>
                  <a:pt x="1862015" y="162736"/>
                  <a:pt x="1916723" y="193997"/>
                </a:cubicBezTo>
                <a:cubicBezTo>
                  <a:pt x="1971431" y="225258"/>
                  <a:pt x="1900115" y="186181"/>
                  <a:pt x="1899138" y="188135"/>
                </a:cubicBezTo>
                <a:cubicBezTo>
                  <a:pt x="1898161" y="190089"/>
                  <a:pt x="1916723" y="92397"/>
                  <a:pt x="1910861" y="205720"/>
                </a:cubicBezTo>
              </a:path>
            </a:pathLst>
          </a:custGeom>
          <a:noFill/>
          <a:ln w="444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F22DC49-9D60-16A5-C2D2-0ECAD96CB2CA}"/>
              </a:ext>
            </a:extLst>
          </p:cNvPr>
          <p:cNvSpPr/>
          <p:nvPr/>
        </p:nvSpPr>
        <p:spPr>
          <a:xfrm>
            <a:off x="3928352" y="4059000"/>
            <a:ext cx="1878580" cy="668286"/>
          </a:xfrm>
          <a:prstGeom prst="rect">
            <a:avLst/>
          </a:prstGeom>
          <a:noFill/>
          <a:ln w="222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Bandwidth limited network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5F93918-50B9-5781-74C6-E9A1335BEA96}"/>
              </a:ext>
            </a:extLst>
          </p:cNvPr>
          <p:cNvSpPr/>
          <p:nvPr/>
        </p:nvSpPr>
        <p:spPr>
          <a:xfrm>
            <a:off x="9131897" y="2696612"/>
            <a:ext cx="1868449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Stream analytic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3CE898C-487C-E658-CAC1-F512DA7ACC57}"/>
              </a:ext>
            </a:extLst>
          </p:cNvPr>
          <p:cNvSpPr/>
          <p:nvPr/>
        </p:nvSpPr>
        <p:spPr>
          <a:xfrm>
            <a:off x="9131897" y="3195319"/>
            <a:ext cx="1868449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Stream analytic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3070EB9-D799-3A4F-880A-F7F38D946A80}"/>
              </a:ext>
            </a:extLst>
          </p:cNvPr>
          <p:cNvSpPr/>
          <p:nvPr/>
        </p:nvSpPr>
        <p:spPr>
          <a:xfrm>
            <a:off x="9131896" y="4066156"/>
            <a:ext cx="1868449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Stream analytic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A8E41BE-62A8-85D7-8CC6-22306C1AB453}"/>
              </a:ext>
            </a:extLst>
          </p:cNvPr>
          <p:cNvSpPr/>
          <p:nvPr/>
        </p:nvSpPr>
        <p:spPr>
          <a:xfrm>
            <a:off x="9135199" y="4722881"/>
            <a:ext cx="1868449" cy="861646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Classical supervised and unsupervised ML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FFFFF886-6B63-693E-A6EB-AB057179BD43}"/>
                  </a:ext>
                </a:extLst>
              </p:cNvPr>
              <p:cNvSpPr txBox="1"/>
              <p:nvPr/>
            </p:nvSpPr>
            <p:spPr>
              <a:xfrm>
                <a:off x="9811142" y="3451766"/>
                <a:ext cx="50995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9B9E79F-B39E-1B4A-AF1A-7D67ACC5D1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1142" y="3451766"/>
                <a:ext cx="509954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Cylinder 45">
            <a:extLst>
              <a:ext uri="{FF2B5EF4-FFF2-40B4-BE49-F238E27FC236}">
                <a16:creationId xmlns:a16="http://schemas.microsoft.com/office/drawing/2014/main" id="{6A848749-C57F-3430-96FA-717EF5A11BA4}"/>
              </a:ext>
            </a:extLst>
          </p:cNvPr>
          <p:cNvSpPr/>
          <p:nvPr/>
        </p:nvSpPr>
        <p:spPr>
          <a:xfrm>
            <a:off x="6204768" y="4722881"/>
            <a:ext cx="2513216" cy="873333"/>
          </a:xfrm>
          <a:prstGeom prst="can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Archival storage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E9110D7-A4FD-CFBE-B99D-44D143B5C6DF}"/>
              </a:ext>
            </a:extLst>
          </p:cNvPr>
          <p:cNvCxnSpPr>
            <a:cxnSpLocks/>
            <a:stCxn id="5" idx="0"/>
            <a:endCxn id="25" idx="1"/>
          </p:cNvCxnSpPr>
          <p:nvPr/>
        </p:nvCxnSpPr>
        <p:spPr>
          <a:xfrm>
            <a:off x="2054518" y="2972635"/>
            <a:ext cx="278374" cy="27878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7AF6C0E-C5D4-85F6-5319-0E5B5C3CE3A0}"/>
              </a:ext>
            </a:extLst>
          </p:cNvPr>
          <p:cNvCxnSpPr>
            <a:cxnSpLocks/>
            <a:stCxn id="22" idx="0"/>
            <a:endCxn id="27" idx="1"/>
          </p:cNvCxnSpPr>
          <p:nvPr/>
        </p:nvCxnSpPr>
        <p:spPr>
          <a:xfrm>
            <a:off x="2054517" y="3798937"/>
            <a:ext cx="257155" cy="6886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25A936E-0AD4-8430-48F7-EBA680B38026}"/>
              </a:ext>
            </a:extLst>
          </p:cNvPr>
          <p:cNvCxnSpPr>
            <a:cxnSpLocks/>
            <a:stCxn id="23" idx="0"/>
            <a:endCxn id="26" idx="1"/>
          </p:cNvCxnSpPr>
          <p:nvPr/>
        </p:nvCxnSpPr>
        <p:spPr>
          <a:xfrm>
            <a:off x="2025457" y="5041152"/>
            <a:ext cx="266502" cy="36396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E92DB35-BE34-36E5-2884-BCB6F9FF4812}"/>
              </a:ext>
            </a:extLst>
          </p:cNvPr>
          <p:cNvCxnSpPr>
            <a:cxnSpLocks/>
            <a:endCxn id="31" idx="1"/>
          </p:cNvCxnSpPr>
          <p:nvPr/>
        </p:nvCxnSpPr>
        <p:spPr>
          <a:xfrm flipV="1">
            <a:off x="5837449" y="2874851"/>
            <a:ext cx="282292" cy="178238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0BD4F27-C823-198F-B874-1373883D5CB3}"/>
              </a:ext>
            </a:extLst>
          </p:cNvPr>
          <p:cNvCxnSpPr>
            <a:cxnSpLocks/>
            <a:stCxn id="37" idx="9"/>
            <a:endCxn id="32" idx="1"/>
          </p:cNvCxnSpPr>
          <p:nvPr/>
        </p:nvCxnSpPr>
        <p:spPr>
          <a:xfrm flipV="1">
            <a:off x="5835123" y="3373558"/>
            <a:ext cx="349096" cy="52235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9241280-A2B0-C628-15F4-A5A2F832FC59}"/>
              </a:ext>
            </a:extLst>
          </p:cNvPr>
          <p:cNvCxnSpPr>
            <a:cxnSpLocks/>
            <a:stCxn id="38" idx="9"/>
            <a:endCxn id="33" idx="1"/>
          </p:cNvCxnSpPr>
          <p:nvPr/>
        </p:nvCxnSpPr>
        <p:spPr>
          <a:xfrm flipV="1">
            <a:off x="5834760" y="4244395"/>
            <a:ext cx="349459" cy="935493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B3EA6BC-E781-E1AD-D4E8-FC4A010FD900}"/>
              </a:ext>
            </a:extLst>
          </p:cNvPr>
          <p:cNvCxnSpPr>
            <a:cxnSpLocks/>
            <a:stCxn id="33" idx="2"/>
            <a:endCxn id="46" idx="0"/>
          </p:cNvCxnSpPr>
          <p:nvPr/>
        </p:nvCxnSpPr>
        <p:spPr>
          <a:xfrm>
            <a:off x="7440827" y="4422633"/>
            <a:ext cx="20549" cy="518581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87B868E1-B455-12CB-A1CD-4FD30F092D50}"/>
              </a:ext>
            </a:extLst>
          </p:cNvPr>
          <p:cNvCxnSpPr>
            <a:cxnSpLocks/>
            <a:stCxn id="33" idx="3"/>
          </p:cNvCxnSpPr>
          <p:nvPr/>
        </p:nvCxnSpPr>
        <p:spPr>
          <a:xfrm>
            <a:off x="8697435" y="4244395"/>
            <a:ext cx="389875" cy="875057"/>
          </a:xfrm>
          <a:prstGeom prst="straightConnector1">
            <a:avLst/>
          </a:prstGeom>
          <a:ln w="349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616FDC32-AA94-050A-4722-EBA818285B98}"/>
              </a:ext>
            </a:extLst>
          </p:cNvPr>
          <p:cNvCxnSpPr>
            <a:cxnSpLocks/>
            <a:stCxn id="32" idx="3"/>
          </p:cNvCxnSpPr>
          <p:nvPr/>
        </p:nvCxnSpPr>
        <p:spPr>
          <a:xfrm>
            <a:off x="8632959" y="3373558"/>
            <a:ext cx="426376" cy="1632160"/>
          </a:xfrm>
          <a:prstGeom prst="straightConnector1">
            <a:avLst/>
          </a:prstGeom>
          <a:ln w="349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C6AC7CBD-31A6-0B25-0C86-B83ADB183294}"/>
              </a:ext>
            </a:extLst>
          </p:cNvPr>
          <p:cNvCxnSpPr>
            <a:cxnSpLocks/>
            <a:stCxn id="31" idx="3"/>
            <a:endCxn id="44" idx="1"/>
          </p:cNvCxnSpPr>
          <p:nvPr/>
        </p:nvCxnSpPr>
        <p:spPr>
          <a:xfrm>
            <a:off x="8632958" y="2874851"/>
            <a:ext cx="502241" cy="2278853"/>
          </a:xfrm>
          <a:prstGeom prst="straightConnector1">
            <a:avLst/>
          </a:prstGeom>
          <a:ln w="349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CC5BB725-A5EF-A683-DB88-B74B893B5D36}"/>
              </a:ext>
            </a:extLst>
          </p:cNvPr>
          <p:cNvCxnSpPr>
            <a:cxnSpLocks/>
            <a:stCxn id="46" idx="4"/>
            <a:endCxn id="44" idx="1"/>
          </p:cNvCxnSpPr>
          <p:nvPr/>
        </p:nvCxnSpPr>
        <p:spPr>
          <a:xfrm flipV="1">
            <a:off x="8717984" y="5153704"/>
            <a:ext cx="417215" cy="5844"/>
          </a:xfrm>
          <a:prstGeom prst="straightConnector1">
            <a:avLst/>
          </a:prstGeom>
          <a:ln w="3492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0737B90A-37AD-8E66-5CC6-5A93BED2F61C}"/>
              </a:ext>
            </a:extLst>
          </p:cNvPr>
          <p:cNvCxnSpPr>
            <a:cxnSpLocks/>
            <a:stCxn id="31" idx="3"/>
            <a:endCxn id="40" idx="1"/>
          </p:cNvCxnSpPr>
          <p:nvPr/>
        </p:nvCxnSpPr>
        <p:spPr>
          <a:xfrm>
            <a:off x="8632958" y="2874851"/>
            <a:ext cx="498939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8173A954-209B-F4FD-79CC-C5EE29EA8078}"/>
              </a:ext>
            </a:extLst>
          </p:cNvPr>
          <p:cNvCxnSpPr>
            <a:cxnSpLocks/>
          </p:cNvCxnSpPr>
          <p:nvPr/>
        </p:nvCxnSpPr>
        <p:spPr>
          <a:xfrm>
            <a:off x="8632957" y="3373557"/>
            <a:ext cx="498939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8B37F2CD-4407-3940-A0F8-D21C358564DD}"/>
              </a:ext>
            </a:extLst>
          </p:cNvPr>
          <p:cNvCxnSpPr>
            <a:cxnSpLocks/>
          </p:cNvCxnSpPr>
          <p:nvPr/>
        </p:nvCxnSpPr>
        <p:spPr>
          <a:xfrm>
            <a:off x="8677121" y="4277288"/>
            <a:ext cx="498939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4D1C88D1-DCD0-E71C-9E68-4CB7577E8668}"/>
              </a:ext>
            </a:extLst>
          </p:cNvPr>
          <p:cNvCxnSpPr>
            <a:cxnSpLocks/>
            <a:stCxn id="43" idx="2"/>
            <a:endCxn id="44" idx="0"/>
          </p:cNvCxnSpPr>
          <p:nvPr/>
        </p:nvCxnSpPr>
        <p:spPr>
          <a:xfrm>
            <a:off x="10066121" y="4422633"/>
            <a:ext cx="3303" cy="300248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C7878A1-C376-C44C-9731-6CB5DC997443}"/>
              </a:ext>
            </a:extLst>
          </p:cNvPr>
          <p:cNvSpPr txBox="1">
            <a:spLocks/>
          </p:cNvSpPr>
          <p:nvPr/>
        </p:nvSpPr>
        <p:spPr>
          <a:xfrm>
            <a:off x="427654" y="1671281"/>
            <a:ext cx="3768035" cy="72628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Streams can be filtered and sampled near the source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0CF9D3F-8520-78E1-3CFA-A13700D43D1D}"/>
              </a:ext>
            </a:extLst>
          </p:cNvPr>
          <p:cNvSpPr txBox="1">
            <a:spLocks/>
          </p:cNvSpPr>
          <p:nvPr/>
        </p:nvSpPr>
        <p:spPr>
          <a:xfrm>
            <a:off x="1540950" y="5827194"/>
            <a:ext cx="3768035" cy="72628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Minimum (filtered) data and analytics archived 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E936EEF-9E5C-59F6-B72B-BC3128FBC6C4}"/>
              </a:ext>
            </a:extLst>
          </p:cNvPr>
          <p:cNvSpPr txBox="1">
            <a:spLocks/>
          </p:cNvSpPr>
          <p:nvPr/>
        </p:nvSpPr>
        <p:spPr>
          <a:xfrm>
            <a:off x="7051729" y="6107624"/>
            <a:ext cx="4370522" cy="72628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Filtered streams and sketches used as input to classical ML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4FD2D29-688E-D484-3C38-E3E29AB6534D}"/>
              </a:ext>
            </a:extLst>
          </p:cNvPr>
          <p:cNvCxnSpPr>
            <a:cxnSpLocks/>
          </p:cNvCxnSpPr>
          <p:nvPr/>
        </p:nvCxnSpPr>
        <p:spPr>
          <a:xfrm>
            <a:off x="2407403" y="2295711"/>
            <a:ext cx="460458" cy="328615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AD262F2-AEFC-D031-FF45-F116872CE23C}"/>
              </a:ext>
            </a:extLst>
          </p:cNvPr>
          <p:cNvCxnSpPr>
            <a:cxnSpLocks/>
            <a:endCxn id="46" idx="2"/>
          </p:cNvCxnSpPr>
          <p:nvPr/>
        </p:nvCxnSpPr>
        <p:spPr>
          <a:xfrm flipV="1">
            <a:off x="5221521" y="5159548"/>
            <a:ext cx="983247" cy="776218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51BB3AC-3634-47E7-8B56-2CC45534E753}"/>
              </a:ext>
            </a:extLst>
          </p:cNvPr>
          <p:cNvCxnSpPr>
            <a:cxnSpLocks/>
            <a:endCxn id="44" idx="2"/>
          </p:cNvCxnSpPr>
          <p:nvPr/>
        </p:nvCxnSpPr>
        <p:spPr>
          <a:xfrm flipV="1">
            <a:off x="9481399" y="5584527"/>
            <a:ext cx="588025" cy="582557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F792EA42-FB65-250B-C993-33535255A309}"/>
              </a:ext>
            </a:extLst>
          </p:cNvPr>
          <p:cNvCxnSpPr>
            <a:cxnSpLocks/>
          </p:cNvCxnSpPr>
          <p:nvPr/>
        </p:nvCxnSpPr>
        <p:spPr>
          <a:xfrm flipH="1">
            <a:off x="7496124" y="2295711"/>
            <a:ext cx="1221860" cy="400901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8F8D7C5E-4461-5BDD-2AB2-654C97BF872E}"/>
              </a:ext>
            </a:extLst>
          </p:cNvPr>
          <p:cNvSpPr/>
          <p:nvPr/>
        </p:nvSpPr>
        <p:spPr>
          <a:xfrm>
            <a:off x="7496123" y="5661834"/>
            <a:ext cx="2043953" cy="356477"/>
          </a:xfrm>
          <a:prstGeom prst="rect">
            <a:avLst/>
          </a:prstGeom>
          <a:noFill/>
          <a:ln w="222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Server/Cloud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47EC705-3967-AB75-31AB-929A1CC0DAAB}"/>
              </a:ext>
            </a:extLst>
          </p:cNvPr>
          <p:cNvCxnSpPr>
            <a:cxnSpLocks/>
          </p:cNvCxnSpPr>
          <p:nvPr/>
        </p:nvCxnSpPr>
        <p:spPr>
          <a:xfrm flipH="1">
            <a:off x="8697435" y="2972635"/>
            <a:ext cx="434461" cy="2004842"/>
          </a:xfrm>
          <a:prstGeom prst="straightConnector1">
            <a:avLst/>
          </a:prstGeom>
          <a:ln w="3492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A0D2788-A1D5-1F56-2DE6-C11E44A706F0}"/>
              </a:ext>
            </a:extLst>
          </p:cNvPr>
          <p:cNvCxnSpPr>
            <a:cxnSpLocks/>
          </p:cNvCxnSpPr>
          <p:nvPr/>
        </p:nvCxnSpPr>
        <p:spPr>
          <a:xfrm flipH="1">
            <a:off x="8717984" y="3551796"/>
            <a:ext cx="502216" cy="1425681"/>
          </a:xfrm>
          <a:prstGeom prst="straightConnector1">
            <a:avLst/>
          </a:prstGeom>
          <a:ln w="3492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B74FCC38-6B4D-277E-470A-0971ACBA4C86}"/>
              </a:ext>
            </a:extLst>
          </p:cNvPr>
          <p:cNvCxnSpPr>
            <a:cxnSpLocks/>
          </p:cNvCxnSpPr>
          <p:nvPr/>
        </p:nvCxnSpPr>
        <p:spPr>
          <a:xfrm flipH="1">
            <a:off x="8717984" y="4422633"/>
            <a:ext cx="502216" cy="518581"/>
          </a:xfrm>
          <a:prstGeom prst="straightConnector1">
            <a:avLst/>
          </a:prstGeom>
          <a:ln w="3492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99994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4F6DA2-7018-3355-EDD0-6051A0CC9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E11E44-AA94-5A14-44CB-A8FA2A74C81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4412" y="1143001"/>
                <a:ext cx="10515600" cy="54483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How can we randomly sample from infinite streams to compute an analytic?    </a:t>
                </a:r>
              </a:p>
              <a:p>
                <a:r>
                  <a:rPr lang="en-US" dirty="0"/>
                  <a:t>Could we Poisson sample from the stream? </a:t>
                </a:r>
              </a:p>
              <a:p>
                <a:r>
                  <a:rPr lang="en-US" dirty="0"/>
                  <a:t>Consider the required memory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≤1</m:t>
                    </m:r>
                  </m:oMath>
                </a14:m>
                <a:r>
                  <a:rPr lang="en-US" dirty="0"/>
                  <a:t>, the sampling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the number of sample seen from the stream at time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, size of the Poisson sample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⟶∞  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⟶∞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The memory required for a Poisson sample is </a:t>
                </a:r>
                <a:r>
                  <a:rPr lang="en-US" b="1" dirty="0"/>
                  <a:t>unbounded for an infinite stream!  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E11E44-AA94-5A14-44CB-A8FA2A74C8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4412" y="1143001"/>
                <a:ext cx="10515600" cy="5448300"/>
              </a:xfrm>
              <a:blipFill>
                <a:blip r:embed="rId2"/>
                <a:stretch>
                  <a:fillRect l="-1217" t="-19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0F111B46-A4F4-7899-E8FF-1492C12715B0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Reservoir Sampling</a:t>
            </a:r>
          </a:p>
        </p:txBody>
      </p:sp>
    </p:spTree>
    <p:extLst>
      <p:ext uri="{BB962C8B-B14F-4D97-AF65-F5344CB8AC3E}">
        <p14:creationId xmlns:p14="http://schemas.microsoft.com/office/powerpoint/2010/main" val="580547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BE7E5-D8F8-29D4-50B2-123A6858F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3F6978-85C6-8112-A7AB-52CE400A6C1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4412" y="1143001"/>
                <a:ext cx="10515600" cy="54483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How can we randomly sample from infinite streams?    </a:t>
                </a:r>
              </a:p>
              <a:p>
                <a:r>
                  <a:rPr lang="en-US" dirty="0"/>
                  <a:t>The reservoir sampling algorithm maintains a random sample </a:t>
                </a:r>
                <a:r>
                  <a:rPr lang="en-US" b="1" dirty="0"/>
                  <a:t>within fixed memory</a:t>
                </a:r>
              </a:p>
              <a:p>
                <a:r>
                  <a:rPr lang="en-US" dirty="0"/>
                  <a:t>Reservoir sampling is massively scalable for large number of streams</a:t>
                </a:r>
              </a:p>
              <a:p>
                <a:r>
                  <a:rPr lang="en-US" dirty="0"/>
                  <a:t>Apply sampling with fixed reservoir length,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    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Define reservoir,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Random sample </a:t>
                </a:r>
                <a:r>
                  <a:rPr lang="en-US" i="1" dirty="0"/>
                  <a:t>n</a:t>
                </a:r>
                <a:r>
                  <a:rPr lang="en-US" dirty="0"/>
                  <a:t>th observation </a:t>
                </a:r>
              </a:p>
              <a:p>
                <a:pPr marL="914400" lvl="2" indent="0">
                  <a:buNone/>
                </a:pPr>
                <a:r>
                  <a:rPr lang="en-US" dirty="0"/>
                  <a:t>draw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𝑈𝑛𝑖𝑓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b="0" dirty="0"/>
              </a:p>
              <a:p>
                <a:pPr marL="914400" lvl="2" indent="0">
                  <a:buNone/>
                </a:pPr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Repeat step 2 indefinitely for each new observation</a:t>
                </a:r>
              </a:p>
              <a:p>
                <a:pPr marL="457200" lvl="1" indent="0">
                  <a:buNone/>
                </a:pPr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Find details for reservoir sampling in </a:t>
                </a:r>
                <a:r>
                  <a:rPr lang="en-US" dirty="0">
                    <a:hlinkClick r:id="rId2"/>
                  </a:rPr>
                  <a:t>Algorithms and Structures for Massive Data Sets, </a:t>
                </a:r>
                <a:r>
                  <a:rPr lang="en-US" dirty="0" err="1">
                    <a:hlinkClick r:id="rId2"/>
                  </a:rPr>
                  <a:t>Medjodovic</a:t>
                </a:r>
                <a:r>
                  <a:rPr lang="en-US" dirty="0">
                    <a:hlinkClick r:id="rId2"/>
                  </a:rPr>
                  <a:t>, et al., 2022, Manning</a:t>
                </a:r>
                <a:r>
                  <a:rPr lang="en-US" dirty="0"/>
                  <a:t>   </a:t>
                </a:r>
              </a:p>
              <a:p>
                <a:pPr marL="457200" lvl="1" indent="0">
                  <a:buNone/>
                </a:pPr>
                <a:endParaRPr lang="en-US" dirty="0"/>
              </a:p>
              <a:p>
                <a:endParaRPr lang="en-US" dirty="0"/>
              </a:p>
              <a:p>
                <a:pPr marL="914400" lvl="1" indent="-457200">
                  <a:buFont typeface="+mj-lt"/>
                  <a:buAutoNum type="arabicPeriod"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3F6978-85C6-8112-A7AB-52CE400A6C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4412" y="1143001"/>
                <a:ext cx="10515600" cy="5448300"/>
              </a:xfrm>
              <a:blipFill>
                <a:blip r:embed="rId3"/>
                <a:stretch>
                  <a:fillRect l="-1217" t="-1904" b="-8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FBC0191A-EC6B-467A-4BD5-3EEECD14F2B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Reservoir Sampling</a:t>
            </a:r>
          </a:p>
        </p:txBody>
      </p:sp>
    </p:spTree>
    <p:extLst>
      <p:ext uri="{BB962C8B-B14F-4D97-AF65-F5344CB8AC3E}">
        <p14:creationId xmlns:p14="http://schemas.microsoft.com/office/powerpoint/2010/main" val="1014179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2B159-F634-7F0E-2C68-E0B921B2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5845BB-38AF-D1A6-710E-5053EACA0E9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4412" y="1143001"/>
                <a:ext cx="10515600" cy="5448300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US" dirty="0"/>
                  <a:t>How can we randomly sample from infinite streams?    </a:t>
                </a:r>
              </a:p>
              <a:p>
                <a:r>
                  <a:rPr lang="en-US" dirty="0"/>
                  <a:t>Why does reservoir sampling algorithm produce a random sample?   </a:t>
                </a:r>
              </a:p>
              <a:p>
                <a:r>
                  <a:rPr lang="en-US" dirty="0"/>
                  <a:t>First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samples are included in the reservoir with probability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1.0</m:t>
                    </m:r>
                  </m:oMath>
                </a14:m>
                <a:endParaRPr lang="en-US" dirty="0"/>
              </a:p>
              <a:p>
                <a:r>
                  <a:rPr lang="en-US" dirty="0"/>
                  <a:t>For samples,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Sample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is added to the reservoir with probability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probability that sample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resides in the reservoir just before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dirty="0"/>
                  <a:t> sample arrives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</a:p>
              <a:p>
                <a:pPr lvl="1"/>
                <a:r>
                  <a:rPr lang="en-US" dirty="0"/>
                  <a:t>The probability that sample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dirty="0"/>
                  <a:t> is replaced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probability that sample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is still in the reservoir after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dirty="0"/>
                  <a:t> sample arrives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The probability of including a new sample is the same as the probability of retaining that sample when a new sample arrives, e.g. random sampling!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5845BB-38AF-D1A6-710E-5053EACA0E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4412" y="1143001"/>
                <a:ext cx="10515600" cy="5448300"/>
              </a:xfrm>
              <a:blipFill>
                <a:blip r:embed="rId2"/>
                <a:stretch>
                  <a:fillRect l="-1043" t="-1792" r="-116" b="-12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81022D6F-3193-3ECF-F840-DF813D9DE990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Reservoir Sampling</a:t>
            </a:r>
          </a:p>
        </p:txBody>
      </p:sp>
    </p:spTree>
    <p:extLst>
      <p:ext uri="{BB962C8B-B14F-4D97-AF65-F5344CB8AC3E}">
        <p14:creationId xmlns:p14="http://schemas.microsoft.com/office/powerpoint/2010/main" val="1803621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24D776-E7E8-2269-454F-ECD4B8847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37006358-7A7B-88C9-1E21-8211D87559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5883" y="3720212"/>
            <a:ext cx="3534268" cy="311511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DA7AC4AC-0E58-CD34-15F6-EFB09EAFEF43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Reservoir Sampling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D234D6-3429-19CF-D83D-7A71768A1E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2599" y="614629"/>
            <a:ext cx="3591426" cy="310558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D2BD6D28-1CE2-DEEE-20F3-772692DC8AD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12092" y="1478686"/>
                <a:ext cx="6606174" cy="435195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/>
                  <a:t>Compare reservoir sampling to Poisson sampling    </a:t>
                </a:r>
              </a:p>
              <a:p>
                <a:r>
                  <a:rPr lang="en-US" sz="2400" dirty="0"/>
                  <a:t>A Poisson sample grows linearly, whereas the reservoir sample is constant,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The probability of a sample residing in a </a:t>
                </a:r>
                <a:r>
                  <a:rPr lang="en-US" sz="2400" b="1" dirty="0"/>
                  <a:t>Poisson sample is constant</a:t>
                </a:r>
                <a:endParaRPr lang="en-US" sz="2400" dirty="0"/>
              </a:p>
              <a:p>
                <a:r>
                  <a:rPr lang="en-US" sz="2400" dirty="0"/>
                  <a:t>The </a:t>
                </a:r>
                <a:r>
                  <a:rPr lang="en-US" sz="2400" b="1" dirty="0"/>
                  <a:t>probability of a sample residing in the reservoir declines for reservoir sampling</a:t>
                </a:r>
                <a:r>
                  <a:rPr lang="en-US" sz="2400" dirty="0"/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  <a:p>
                <a:r>
                  <a:rPr lang="en-US" sz="2400" dirty="0"/>
                  <a:t>Size of the reservoir is constant</a:t>
                </a:r>
              </a:p>
              <a:p>
                <a:endParaRPr lang="en-US" sz="2600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D2BD6D28-1CE2-DEEE-20F3-772692DC8A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092" y="1478686"/>
                <a:ext cx="6606174" cy="4351957"/>
              </a:xfrm>
              <a:prstGeom prst="rect">
                <a:avLst/>
              </a:prstGeom>
              <a:blipFill>
                <a:blip r:embed="rId4"/>
                <a:stretch>
                  <a:fillRect l="-1845" t="-2384" b="-22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C8BF40B-1E30-7A3A-9025-F1E825ECE14E}"/>
              </a:ext>
            </a:extLst>
          </p:cNvPr>
          <p:cNvCxnSpPr>
            <a:cxnSpLocks/>
          </p:cNvCxnSpPr>
          <p:nvPr/>
        </p:nvCxnSpPr>
        <p:spPr>
          <a:xfrm flipV="1">
            <a:off x="6804212" y="2384529"/>
            <a:ext cx="2829261" cy="25809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ECF7E5D-B997-1F69-F474-51730F40DE06}"/>
              </a:ext>
            </a:extLst>
          </p:cNvPr>
          <p:cNvCxnSpPr>
            <a:cxnSpLocks/>
          </p:cNvCxnSpPr>
          <p:nvPr/>
        </p:nvCxnSpPr>
        <p:spPr>
          <a:xfrm>
            <a:off x="6525816" y="4292301"/>
            <a:ext cx="2741897" cy="22591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153CD297-2BA3-0FAC-C7BC-EF4B2F626009}"/>
              </a:ext>
            </a:extLst>
          </p:cNvPr>
          <p:cNvCxnSpPr>
            <a:cxnSpLocks/>
          </p:cNvCxnSpPr>
          <p:nvPr/>
        </p:nvCxnSpPr>
        <p:spPr>
          <a:xfrm flipV="1">
            <a:off x="7105426" y="3055350"/>
            <a:ext cx="2603350" cy="49311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31C7EFC-4F8B-034C-861B-CB0C947EFEBF}"/>
              </a:ext>
            </a:extLst>
          </p:cNvPr>
          <p:cNvCxnSpPr>
            <a:cxnSpLocks/>
          </p:cNvCxnSpPr>
          <p:nvPr/>
        </p:nvCxnSpPr>
        <p:spPr>
          <a:xfrm>
            <a:off x="5066852" y="5663901"/>
            <a:ext cx="3792070" cy="57947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1079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7A012-CF26-CB0B-B0C0-00CA15677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00A0780-1D9C-6E94-2505-109747AEA7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4412" y="1143001"/>
                <a:ext cx="10515600" cy="54483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How can we scale reservoir sampling?    </a:t>
                </a:r>
              </a:p>
              <a:p>
                <a:r>
                  <a:rPr lang="en-US" dirty="0"/>
                  <a:t>The simple algorithm requires generating a random integer for each arriving sample   </a:t>
                </a:r>
              </a:p>
              <a:p>
                <a:pPr lvl="1"/>
                <a:r>
                  <a:rPr lang="en-US" dirty="0"/>
                  <a:t>Random number generation is computationally intensive   </a:t>
                </a:r>
              </a:p>
              <a:p>
                <a:pPr lvl="1"/>
                <a:r>
                  <a:rPr lang="en-US" dirty="0"/>
                  <a:t>Computational complexity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 for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sample arrivals </a:t>
                </a:r>
              </a:p>
              <a:p>
                <a:r>
                  <a:rPr lang="en-US" dirty="0"/>
                  <a:t>Idea: sample from a probability distribution of the </a:t>
                </a:r>
                <a:r>
                  <a:rPr lang="en-US" b="1" dirty="0"/>
                  <a:t>interval between samples</a:t>
                </a:r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dirty="0"/>
                  <a:t> </a:t>
                </a:r>
              </a:p>
              <a:p>
                <a:endParaRPr lang="en-US" dirty="0"/>
              </a:p>
              <a:p>
                <a:pPr marL="914400" lvl="1" indent="-457200">
                  <a:buFont typeface="+mj-lt"/>
                  <a:buAutoNum type="arabicPeriod"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00A0780-1D9C-6E94-2505-109747AEA7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4412" y="1143001"/>
                <a:ext cx="10515600" cy="5448300"/>
              </a:xfrm>
              <a:blipFill>
                <a:blip r:embed="rId2"/>
                <a:stretch>
                  <a:fillRect l="-1217" t="-19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ADEB1F33-F9C7-CEE6-290E-4B3E24E0CCCB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Reservoir Sampling</a:t>
            </a:r>
          </a:p>
        </p:txBody>
      </p:sp>
    </p:spTree>
    <p:extLst>
      <p:ext uri="{BB962C8B-B14F-4D97-AF65-F5344CB8AC3E}">
        <p14:creationId xmlns:p14="http://schemas.microsoft.com/office/powerpoint/2010/main" val="3342133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03B4B-DD1E-A67E-CBA9-34A33CBDC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049B439-7837-F184-B221-ED3924F2DCA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4412" y="1143001"/>
                <a:ext cx="10515600" cy="54483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How can we scale reservoir sampling?    </a:t>
                </a:r>
              </a:p>
              <a:p>
                <a:r>
                  <a:rPr lang="en-US" dirty="0"/>
                  <a:t>Idea: sample from a probability distribution of the interval between samples,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Consider a uniformly distributed set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values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indices of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smallest sample values,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, are uniformly distributed, with the index of the largest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If a new random sample arrive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en-US" dirty="0"/>
                  <a:t> then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i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dirty="0"/>
                  <a:t>, maintaining the set as the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smallest random index values </a:t>
                </a:r>
              </a:p>
              <a:p>
                <a:r>
                  <a:rPr lang="en-US" dirty="0"/>
                  <a:t>We can avoid testing each new sample,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+2</m:t>
                        </m:r>
                      </m:sub>
                    </m:sSub>
                  </m:oMath>
                </a14:m>
                <a:r>
                  <a:rPr lang="en-US" dirty="0"/>
                  <a:t>,… if we take draws from a </a:t>
                </a:r>
                <a:r>
                  <a:rPr lang="en-US" b="1" dirty="0"/>
                  <a:t>geometric distribution </a:t>
                </a:r>
                <a:r>
                  <a:rPr lang="en-US" dirty="0"/>
                  <a:t>of the interval,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dirty="0"/>
                  <a:t>, until the next accepted sample,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US" dirty="0"/>
                  <a:t>, since  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lvl="1"/>
                <a:endParaRPr lang="en-US" dirty="0"/>
              </a:p>
              <a:p>
                <a:pPr marL="914400" lvl="1" indent="-457200">
                  <a:buFont typeface="+mj-lt"/>
                  <a:buAutoNum type="arabicPeriod"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049B439-7837-F184-B221-ED3924F2DC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4412" y="1143001"/>
                <a:ext cx="10515600" cy="5448300"/>
              </a:xfrm>
              <a:blipFill>
                <a:blip r:embed="rId2"/>
                <a:stretch>
                  <a:fillRect l="-1217" t="-1904" r="-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F5CA1E99-E416-A055-7BD8-3DA8B33F2916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Reservoir Sampling</a:t>
            </a:r>
          </a:p>
        </p:txBody>
      </p:sp>
    </p:spTree>
    <p:extLst>
      <p:ext uri="{BB962C8B-B14F-4D97-AF65-F5344CB8AC3E}">
        <p14:creationId xmlns:p14="http://schemas.microsoft.com/office/powerpoint/2010/main" val="26051266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728E8-4C5F-CE4C-1035-20A2CC599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5A4531-B0B2-78F1-63AB-1C0406352E7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4412" y="1143001"/>
                <a:ext cx="10515600" cy="5448300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How can we scale reservoir sampling?    </a:t>
                </a:r>
              </a:p>
              <a:p>
                <a:r>
                  <a:rPr lang="en-US" dirty="0"/>
                  <a:t>Idea: sample from a Geometric probability distribution of the interval between samples,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First take a random draw from the geometric distribution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𝑒𝑥𝑝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𝑙𝑜𝑔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𝑈𝑛𝑖𝑓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0,1</m:t>
                                      </m:r>
                                    </m:e>
                                  </m:d>
                                </m:e>
                              </m:d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Then draw an index for the next sample to include in the reservoir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𝑛𝑒𝑥𝑡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𝑓𝑙𝑜𝑜𝑟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𝑙𝑜𝑔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𝑈𝑛𝑖𝑓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0,1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den>
                              </m:f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+1=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Draw a random index from the reservoir to determine which sample,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dirty="0"/>
                  <a:t>, to replace,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r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𝑈𝑛𝑖𝑓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The three random draws need only be done when a sample is </a:t>
                </a:r>
                <a:r>
                  <a:rPr lang="en-US" b="1" dirty="0"/>
                  <a:t>accepted</a:t>
                </a:r>
                <a:r>
                  <a:rPr lang="en-US" dirty="0"/>
                  <a:t> into the reservoir</a:t>
                </a:r>
              </a:p>
              <a:p>
                <a:pPr lvl="1"/>
                <a:r>
                  <a:rPr lang="en-US" dirty="0"/>
                  <a:t>Computational complexity is now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𝑙𝑜𝑔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den>
                                </m:f>
                              </m:e>
                            </m:d>
                          </m:e>
                        </m:d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5A4531-B0B2-78F1-63AB-1C0406352E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4412" y="1143001"/>
                <a:ext cx="10515600" cy="5448300"/>
              </a:xfrm>
              <a:blipFill>
                <a:blip r:embed="rId2"/>
                <a:stretch>
                  <a:fillRect l="-928" t="-25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165DAAEA-C9FF-6AD5-5C04-B414ABDEEB37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Reservoir Sampling</a:t>
            </a:r>
          </a:p>
        </p:txBody>
      </p:sp>
    </p:spTree>
    <p:extLst>
      <p:ext uri="{BB962C8B-B14F-4D97-AF65-F5344CB8AC3E}">
        <p14:creationId xmlns:p14="http://schemas.microsoft.com/office/powerpoint/2010/main" val="2729801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838E46-6DA7-5973-6D5F-F08C23232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582F9-095B-074B-E20C-5B02CD5A40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9783" y="1735893"/>
            <a:ext cx="3450956" cy="4855407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Take an initial random draw from geometric distribution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Compute index of next sample to expect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Add sample to random location in reservoir buffer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Update random geometric distributed sample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50D59AB-D34D-218F-6EA3-E2E64FCCEF47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Reservoir Sampling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C47AE66-7C97-801C-417A-BF719471842B}"/>
              </a:ext>
            </a:extLst>
          </p:cNvPr>
          <p:cNvSpPr txBox="1">
            <a:spLocks/>
          </p:cNvSpPr>
          <p:nvPr/>
        </p:nvSpPr>
        <p:spPr>
          <a:xfrm>
            <a:off x="750183" y="1101004"/>
            <a:ext cx="11181841" cy="44784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How can we scale reservoir sampling?   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8715753-ABAE-FC1B-108B-57FF26E768FC}"/>
              </a:ext>
            </a:extLst>
          </p:cNvPr>
          <p:cNvSpPr txBox="1">
            <a:spLocks/>
          </p:cNvSpPr>
          <p:nvPr/>
        </p:nvSpPr>
        <p:spPr>
          <a:xfrm>
            <a:off x="4151475" y="1662547"/>
            <a:ext cx="7911760" cy="50609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200"/>
              </a:spcBef>
              <a:buNone/>
            </a:pPr>
            <a:r>
              <a:rPr lang="en-US" sz="2200" dirty="0"/>
              <a:t>W = </a:t>
            </a:r>
            <a:r>
              <a:rPr lang="en-US" sz="2200" dirty="0" err="1"/>
              <a:t>math.exp</a:t>
            </a:r>
            <a:r>
              <a:rPr lang="en-US" sz="2200" dirty="0"/>
              <a:t>(math.log(</a:t>
            </a:r>
            <a:r>
              <a:rPr lang="en-US" sz="2200" dirty="0" err="1"/>
              <a:t>random.random</a:t>
            </a:r>
            <a:r>
              <a:rPr lang="en-US" sz="2200" dirty="0"/>
              <a:t>())/k)        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2200" dirty="0"/>
              <a:t>## Loop over the </a:t>
            </a:r>
            <a:r>
              <a:rPr lang="en-US" sz="2200" dirty="0" err="1"/>
              <a:t>remianing</a:t>
            </a:r>
            <a:r>
              <a:rPr lang="en-US" sz="2200" dirty="0"/>
              <a:t> samples in the stream    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2200" dirty="0"/>
              <a:t>while </a:t>
            </a:r>
            <a:r>
              <a:rPr lang="en-US" sz="2200" dirty="0" err="1"/>
              <a:t>i</a:t>
            </a:r>
            <a:r>
              <a:rPr lang="en-US" sz="2200" dirty="0"/>
              <a:t> &lt; n:        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2200" dirty="0"/>
              <a:t>    </a:t>
            </a:r>
            <a:r>
              <a:rPr lang="en-US" sz="2200" dirty="0" err="1"/>
              <a:t>i</a:t>
            </a:r>
            <a:r>
              <a:rPr lang="en-US" sz="2200" dirty="0"/>
              <a:t> = </a:t>
            </a:r>
            <a:r>
              <a:rPr lang="en-US" sz="2200" dirty="0" err="1"/>
              <a:t>i</a:t>
            </a:r>
            <a:r>
              <a:rPr lang="en-US" sz="2200" dirty="0"/>
              <a:t> + </a:t>
            </a:r>
            <a:r>
              <a:rPr lang="en-US" sz="2200" dirty="0" err="1"/>
              <a:t>math.floor</a:t>
            </a:r>
            <a:r>
              <a:rPr lang="en-US" sz="2200" dirty="0"/>
              <a:t>(math.log(</a:t>
            </a:r>
            <a:r>
              <a:rPr lang="en-US" sz="2200" dirty="0" err="1"/>
              <a:t>random.random</a:t>
            </a:r>
            <a:r>
              <a:rPr lang="en-US" sz="2200" dirty="0"/>
              <a:t>())/math.log(1 - W))     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2200" dirty="0"/>
              <a:t>    if </a:t>
            </a:r>
            <a:r>
              <a:rPr lang="en-US" sz="2200" dirty="0" err="1"/>
              <a:t>i</a:t>
            </a:r>
            <a:r>
              <a:rPr lang="en-US" sz="2200" dirty="0"/>
              <a:t> &lt; n:            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2200" dirty="0"/>
              <a:t>        </a:t>
            </a:r>
            <a:r>
              <a:rPr lang="en-US" sz="2200" dirty="0" err="1"/>
              <a:t>indx</a:t>
            </a:r>
            <a:r>
              <a:rPr lang="en-US" sz="2200" dirty="0"/>
              <a:t> = </a:t>
            </a:r>
            <a:r>
              <a:rPr lang="en-US" sz="2200" dirty="0" err="1"/>
              <a:t>random.randint</a:t>
            </a:r>
            <a:r>
              <a:rPr lang="en-US" sz="2200" dirty="0"/>
              <a:t>(1, k) -1             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2200" dirty="0"/>
              <a:t>        </a:t>
            </a:r>
            <a:r>
              <a:rPr lang="en-US" sz="2200" dirty="0" err="1"/>
              <a:t>reservoir_buffer</a:t>
            </a:r>
            <a:r>
              <a:rPr lang="en-US" sz="2200" dirty="0"/>
              <a:t>[</a:t>
            </a:r>
            <a:r>
              <a:rPr lang="en-US" sz="2200" dirty="0" err="1"/>
              <a:t>indx</a:t>
            </a:r>
            <a:r>
              <a:rPr lang="en-US" sz="2200" dirty="0"/>
              <a:t>] = stream[</a:t>
            </a:r>
            <a:r>
              <a:rPr lang="en-US" sz="2200" dirty="0" err="1"/>
              <a:t>i</a:t>
            </a:r>
            <a:r>
              <a:rPr lang="en-US" sz="2200" dirty="0"/>
              <a:t>]            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2200" dirty="0"/>
              <a:t>        W = W * </a:t>
            </a:r>
            <a:r>
              <a:rPr lang="en-US" sz="2200" dirty="0" err="1"/>
              <a:t>math.exp</a:t>
            </a:r>
            <a:r>
              <a:rPr lang="en-US" sz="2200" dirty="0"/>
              <a:t>(math.log(</a:t>
            </a:r>
            <a:r>
              <a:rPr lang="en-US" sz="2200" dirty="0" err="1"/>
              <a:t>random.random</a:t>
            </a:r>
            <a:r>
              <a:rPr lang="en-US" sz="2200" dirty="0"/>
              <a:t>())/k)</a:t>
            </a:r>
          </a:p>
          <a:p>
            <a:pPr marL="0" indent="0">
              <a:buNone/>
            </a:pPr>
            <a:r>
              <a:rPr lang="en-US" dirty="0"/>
              <a:t>          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08B29A3-F261-6616-2B77-6E95DDF4F231}"/>
              </a:ext>
            </a:extLst>
          </p:cNvPr>
          <p:cNvCxnSpPr>
            <a:cxnSpLocks/>
          </p:cNvCxnSpPr>
          <p:nvPr/>
        </p:nvCxnSpPr>
        <p:spPr>
          <a:xfrm flipV="1">
            <a:off x="3683431" y="1907037"/>
            <a:ext cx="468044" cy="32471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60A8C5A-155F-4EB5-0EE6-B8A3400BA3B7}"/>
              </a:ext>
            </a:extLst>
          </p:cNvPr>
          <p:cNvCxnSpPr>
            <a:cxnSpLocks/>
          </p:cNvCxnSpPr>
          <p:nvPr/>
        </p:nvCxnSpPr>
        <p:spPr>
          <a:xfrm flipV="1">
            <a:off x="3547189" y="2823882"/>
            <a:ext cx="922613" cy="58790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D3FA9B3-C0DC-A747-5820-00567FFC22A8}"/>
              </a:ext>
            </a:extLst>
          </p:cNvPr>
          <p:cNvCxnSpPr>
            <a:cxnSpLocks/>
          </p:cNvCxnSpPr>
          <p:nvPr/>
        </p:nvCxnSpPr>
        <p:spPr>
          <a:xfrm flipV="1">
            <a:off x="3631769" y="3517751"/>
            <a:ext cx="1058565" cy="121956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8BFED9F-FB06-8761-1ED2-CB393AE88153}"/>
              </a:ext>
            </a:extLst>
          </p:cNvPr>
          <p:cNvCxnSpPr>
            <a:cxnSpLocks/>
          </p:cNvCxnSpPr>
          <p:nvPr/>
        </p:nvCxnSpPr>
        <p:spPr>
          <a:xfrm flipV="1">
            <a:off x="3424844" y="4281544"/>
            <a:ext cx="1351551" cy="152628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8C3A9B9-DC1D-EC7A-A49F-6E80691E1F36}"/>
              </a:ext>
            </a:extLst>
          </p:cNvPr>
          <p:cNvCxnSpPr>
            <a:cxnSpLocks/>
          </p:cNvCxnSpPr>
          <p:nvPr/>
        </p:nvCxnSpPr>
        <p:spPr>
          <a:xfrm flipV="1">
            <a:off x="3750590" y="3851238"/>
            <a:ext cx="982775" cy="88607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9064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82986-DD84-0A7E-C97A-7B899004D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473F5-9C84-DD36-420B-3526B53671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Evaluating Stream Filtering </a:t>
            </a:r>
          </a:p>
        </p:txBody>
      </p:sp>
    </p:spTree>
    <p:extLst>
      <p:ext uri="{BB962C8B-B14F-4D97-AF65-F5344CB8AC3E}">
        <p14:creationId xmlns:p14="http://schemas.microsoft.com/office/powerpoint/2010/main" val="294278849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7B91D-A415-5792-855E-06CC34017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CF5A2D-5230-DA9A-25FA-B5E69536E9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100381"/>
            <a:ext cx="10515600" cy="55587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How can we evaluate the effect of filtering and decimation of time series? </a:t>
            </a:r>
          </a:p>
          <a:p>
            <a:r>
              <a:rPr lang="en-US" dirty="0"/>
              <a:t>Evaluated the differences between original series and the filtered/decimated series  </a:t>
            </a:r>
          </a:p>
          <a:p>
            <a:r>
              <a:rPr lang="en-US" dirty="0"/>
              <a:t>What does the difference series look like  </a:t>
            </a:r>
          </a:p>
          <a:p>
            <a:pPr lvl="1"/>
            <a:r>
              <a:rPr lang="en-US" dirty="0"/>
              <a:t>How does the magnitude of the errors compare to original values?  </a:t>
            </a:r>
          </a:p>
          <a:p>
            <a:pPr lvl="1"/>
            <a:r>
              <a:rPr lang="en-US" dirty="0"/>
              <a:t>Are the errors fairly uniformly distributed?   </a:t>
            </a:r>
          </a:p>
          <a:p>
            <a:r>
              <a:rPr lang="en-US" dirty="0"/>
              <a:t>Error metrics</a:t>
            </a:r>
          </a:p>
          <a:p>
            <a:pPr lvl="1"/>
            <a:r>
              <a:rPr lang="en-US" dirty="0"/>
              <a:t>RMSE  </a:t>
            </a:r>
          </a:p>
          <a:p>
            <a:pPr lvl="1"/>
            <a:r>
              <a:rPr lang="en-US" dirty="0"/>
              <a:t>MAE</a:t>
            </a:r>
          </a:p>
          <a:p>
            <a:pPr lvl="1"/>
            <a:r>
              <a:rPr lang="en-US" dirty="0"/>
              <a:t>Max deviation</a:t>
            </a:r>
          </a:p>
          <a:p>
            <a:pPr lvl="1"/>
            <a:r>
              <a:rPr lang="en-US" dirty="0"/>
              <a:t>Etc.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036E439-EF53-994E-9510-D7CDD6B5037E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Evaluating Stream Filtering</a:t>
            </a:r>
          </a:p>
        </p:txBody>
      </p:sp>
    </p:spTree>
    <p:extLst>
      <p:ext uri="{BB962C8B-B14F-4D97-AF65-F5344CB8AC3E}">
        <p14:creationId xmlns:p14="http://schemas.microsoft.com/office/powerpoint/2010/main" val="211162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B3BAAC-0658-1B7F-A113-B26E40A56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F6128-5982-337C-059F-481D8DD55D7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Discrete Streaming Events</a:t>
            </a:r>
          </a:p>
        </p:txBody>
      </p:sp>
    </p:spTree>
    <p:extLst>
      <p:ext uri="{BB962C8B-B14F-4D97-AF65-F5344CB8AC3E}">
        <p14:creationId xmlns:p14="http://schemas.microsoft.com/office/powerpoint/2010/main" val="156820382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495851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Discrete streaming data is common  </a:t>
            </a:r>
          </a:p>
          <a:p>
            <a:r>
              <a:rPr lang="en-US" dirty="0"/>
              <a:t>Clicks on a web site</a:t>
            </a:r>
          </a:p>
          <a:p>
            <a:r>
              <a:rPr lang="en-US" dirty="0"/>
              <a:t>Counts of Key-value lookups</a:t>
            </a:r>
          </a:p>
          <a:p>
            <a:r>
              <a:rPr lang="en-US" dirty="0"/>
              <a:t>Counts of IP address pairs in internet traffic</a:t>
            </a:r>
          </a:p>
          <a:p>
            <a:r>
              <a:rPr lang="en-US" dirty="0"/>
              <a:t>Sensors count events </a:t>
            </a:r>
          </a:p>
          <a:p>
            <a:pPr lvl="1"/>
            <a:r>
              <a:rPr lang="en-US" dirty="0"/>
              <a:t>Vehicles passing </a:t>
            </a:r>
          </a:p>
          <a:p>
            <a:pPr lvl="1"/>
            <a:r>
              <a:rPr lang="en-US" dirty="0"/>
              <a:t>People entering a building</a:t>
            </a:r>
          </a:p>
          <a:p>
            <a:pPr lvl="1"/>
            <a:r>
              <a:rPr lang="en-US" dirty="0"/>
              <a:t>Wildlife sightings </a:t>
            </a:r>
          </a:p>
          <a:p>
            <a:pPr lvl="1"/>
            <a:r>
              <a:rPr lang="en-US" dirty="0"/>
              <a:t>…</a:t>
            </a:r>
          </a:p>
          <a:p>
            <a:r>
              <a:rPr lang="en-US" dirty="0"/>
              <a:t>And many more…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Discrete Event Data</a:t>
            </a:r>
          </a:p>
        </p:txBody>
      </p:sp>
    </p:spTree>
    <p:extLst>
      <p:ext uri="{BB962C8B-B14F-4D97-AF65-F5344CB8AC3E}">
        <p14:creationId xmlns:p14="http://schemas.microsoft.com/office/powerpoint/2010/main" val="1347772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49585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What types of operations can we do with discrete event data? </a:t>
            </a:r>
          </a:p>
          <a:p>
            <a:r>
              <a:rPr lang="en-US" b="1" dirty="0"/>
              <a:t>Filter events </a:t>
            </a:r>
            <a:r>
              <a:rPr lang="en-US" dirty="0"/>
              <a:t>to only process those of interest</a:t>
            </a:r>
          </a:p>
          <a:p>
            <a:r>
              <a:rPr lang="en-US" b="1" dirty="0"/>
              <a:t>Count events </a:t>
            </a:r>
            <a:r>
              <a:rPr lang="en-US" dirty="0"/>
              <a:t>in a time window or in a reservoir sample</a:t>
            </a:r>
          </a:p>
          <a:p>
            <a:r>
              <a:rPr lang="en-US" dirty="0"/>
              <a:t>Unique types of events occurring in time window, or </a:t>
            </a:r>
            <a:r>
              <a:rPr lang="en-US" b="1" dirty="0"/>
              <a:t>cardinality</a:t>
            </a:r>
          </a:p>
          <a:p>
            <a:r>
              <a:rPr lang="en-US" dirty="0"/>
              <a:t>Can concatenate operations, for example:</a:t>
            </a:r>
          </a:p>
          <a:p>
            <a:pPr lvl="1"/>
            <a:r>
              <a:rPr lang="en-US" dirty="0"/>
              <a:t>Filter events by type</a:t>
            </a:r>
          </a:p>
          <a:p>
            <a:pPr lvl="1"/>
            <a:r>
              <a:rPr lang="en-US" dirty="0"/>
              <a:t>Count events </a:t>
            </a:r>
          </a:p>
          <a:p>
            <a:pPr lvl="1"/>
            <a:r>
              <a:rPr lang="en-US" dirty="0"/>
              <a:t>Find cardinality of filtered stream</a:t>
            </a:r>
          </a:p>
          <a:p>
            <a:pPr lvl="1"/>
            <a:r>
              <a:rPr lang="en-US" dirty="0"/>
              <a:t>Query specific events</a:t>
            </a:r>
          </a:p>
          <a:p>
            <a:pPr lvl="1"/>
            <a:r>
              <a:rPr lang="en-US" dirty="0"/>
              <a:t>Etc.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Discrete Event Data</a:t>
            </a:r>
          </a:p>
        </p:txBody>
      </p:sp>
    </p:spTree>
    <p:extLst>
      <p:ext uri="{BB962C8B-B14F-4D97-AF65-F5344CB8AC3E}">
        <p14:creationId xmlns:p14="http://schemas.microsoft.com/office/powerpoint/2010/main" val="3964344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141709"/>
            <a:ext cx="10515600" cy="540890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What limits discrete event data analytics? </a:t>
            </a:r>
          </a:p>
          <a:p>
            <a:r>
              <a:rPr lang="en-US" dirty="0"/>
              <a:t>Consider volume of events:</a:t>
            </a:r>
          </a:p>
          <a:p>
            <a:pPr lvl="1"/>
            <a:r>
              <a:rPr lang="en-US" dirty="0"/>
              <a:t>Storing all events is prohibitive </a:t>
            </a:r>
          </a:p>
          <a:p>
            <a:pPr lvl="1"/>
            <a:r>
              <a:rPr lang="en-US" dirty="0"/>
              <a:t>Want to push processing as far to periphery as possible  </a:t>
            </a:r>
          </a:p>
          <a:p>
            <a:r>
              <a:rPr lang="en-US" dirty="0"/>
              <a:t>Use computationally and memory efficient approximate algorithms</a:t>
            </a:r>
          </a:p>
          <a:p>
            <a:pPr lvl="1"/>
            <a:r>
              <a:rPr lang="en-US" b="1" dirty="0"/>
              <a:t>Accept some error in exchange for orders of magnitude improvement in memory and computation </a:t>
            </a:r>
          </a:p>
          <a:p>
            <a:pPr lvl="1"/>
            <a:r>
              <a:rPr lang="en-US" dirty="0"/>
              <a:t>For large volume streams, approximations generally converge toward exact values</a:t>
            </a:r>
          </a:p>
          <a:p>
            <a:r>
              <a:rPr lang="en-US" dirty="0"/>
              <a:t>Many algorithms have been developed </a:t>
            </a:r>
          </a:p>
          <a:p>
            <a:pPr lvl="1"/>
            <a:r>
              <a:rPr lang="en-US" dirty="0"/>
              <a:t>Bloom filter and quotient filter for event history</a:t>
            </a:r>
          </a:p>
          <a:p>
            <a:pPr lvl="1"/>
            <a:r>
              <a:rPr lang="en-US" dirty="0"/>
              <a:t>Count-min-sketch algorithm for event counts</a:t>
            </a:r>
          </a:p>
          <a:p>
            <a:pPr lvl="1"/>
            <a:r>
              <a:rPr lang="en-US" dirty="0" err="1"/>
              <a:t>Flajolet</a:t>
            </a:r>
            <a:r>
              <a:rPr lang="en-US" dirty="0"/>
              <a:t>-Martin and hyper-log-log algorithms for cardinality </a:t>
            </a:r>
          </a:p>
          <a:p>
            <a:pPr lvl="1"/>
            <a:r>
              <a:rPr lang="en-US" dirty="0"/>
              <a:t>Etc. </a:t>
            </a:r>
          </a:p>
          <a:p>
            <a:r>
              <a:rPr lang="en-US" dirty="0"/>
              <a:t>These algorithms can be applied in batch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Discrete Event Data</a:t>
            </a:r>
          </a:p>
        </p:txBody>
      </p:sp>
    </p:spTree>
    <p:extLst>
      <p:ext uri="{BB962C8B-B14F-4D97-AF65-F5344CB8AC3E}">
        <p14:creationId xmlns:p14="http://schemas.microsoft.com/office/powerpoint/2010/main" val="1041428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8AF8B1-B41F-1221-8C47-11CF8B21E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E39A6-30D0-07F9-7BC2-17EE7C5B6B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Filtering Discrete Events</a:t>
            </a:r>
            <a:br>
              <a:rPr lang="en-US" dirty="0"/>
            </a:br>
            <a:r>
              <a:rPr lang="en-US" dirty="0"/>
              <a:t>Bloom Filters</a:t>
            </a:r>
          </a:p>
        </p:txBody>
      </p:sp>
    </p:spTree>
    <p:extLst>
      <p:ext uri="{BB962C8B-B14F-4D97-AF65-F5344CB8AC3E}">
        <p14:creationId xmlns:p14="http://schemas.microsoft.com/office/powerpoint/2010/main" val="44623660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495851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Often need to exclude events </a:t>
            </a:r>
          </a:p>
          <a:p>
            <a:r>
              <a:rPr lang="en-US" dirty="0"/>
              <a:t>Messages from IP addresses not on an authorized list  </a:t>
            </a:r>
          </a:p>
          <a:p>
            <a:r>
              <a:rPr lang="en-US" dirty="0"/>
              <a:t>Is the originating phone one of our accounts? </a:t>
            </a:r>
          </a:p>
          <a:p>
            <a:r>
              <a:rPr lang="en-US" dirty="0"/>
              <a:t>Is this a sensor reading we need to process? </a:t>
            </a:r>
          </a:p>
          <a:p>
            <a:r>
              <a:rPr lang="en-US" dirty="0"/>
              <a:t>Has an event already occurred previously? </a:t>
            </a:r>
          </a:p>
          <a:p>
            <a:r>
              <a:rPr lang="en-US" dirty="0"/>
              <a:t>Etc.</a:t>
            </a:r>
          </a:p>
          <a:p>
            <a:r>
              <a:rPr lang="en-US" dirty="0"/>
              <a:t>The majority of traffic is often filtered in stream processing  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Filtering Event Data </a:t>
            </a:r>
          </a:p>
        </p:txBody>
      </p:sp>
    </p:spTree>
    <p:extLst>
      <p:ext uri="{BB962C8B-B14F-4D97-AF65-F5344CB8AC3E}">
        <p14:creationId xmlns:p14="http://schemas.microsoft.com/office/powerpoint/2010/main" val="272880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94A83-9B70-C234-DC87-4E63A66AA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563E6B9-CA39-FE2C-3C1E-360BA44E7B1A}"/>
                  </a:ext>
                </a:extLst>
              </p:cNvPr>
              <p:cNvSpPr txBox="1"/>
              <p:nvPr/>
            </p:nvSpPr>
            <p:spPr>
              <a:xfrm>
                <a:off x="2801110" y="4028191"/>
                <a:ext cx="509954" cy="70788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563E6B9-CA39-FE2C-3C1E-360BA44E7B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1110" y="4028191"/>
                <a:ext cx="509954" cy="70788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0679190-61F1-C2FB-CC47-74902A30C25D}"/>
              </a:ext>
            </a:extLst>
          </p:cNvPr>
          <p:cNvSpPr txBox="1">
            <a:spLocks/>
          </p:cNvSpPr>
          <p:nvPr/>
        </p:nvSpPr>
        <p:spPr>
          <a:xfrm>
            <a:off x="5686426" y="1609470"/>
            <a:ext cx="6257924" cy="8035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Further </a:t>
            </a:r>
            <a:r>
              <a:rPr lang="en-US" sz="2400" b="1" dirty="0"/>
              <a:t>filtering, sampling and sketching </a:t>
            </a:r>
            <a:r>
              <a:rPr lang="en-US" sz="2400" dirty="0"/>
              <a:t>performed as preprocessing for analytics</a:t>
            </a:r>
          </a:p>
          <a:p>
            <a:pPr marL="0" indent="0">
              <a:buNone/>
            </a:pPr>
            <a:endParaRPr lang="en-US" sz="2400" dirty="0"/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A32C4DCF-C628-BC73-BC77-CA5F86DC172B}"/>
              </a:ext>
            </a:extLst>
          </p:cNvPr>
          <p:cNvSpPr/>
          <p:nvPr/>
        </p:nvSpPr>
        <p:spPr>
          <a:xfrm>
            <a:off x="5843954" y="2543312"/>
            <a:ext cx="5509846" cy="3493477"/>
          </a:xfrm>
          <a:prstGeom prst="round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991BCB-CCBB-D4C8-7E3E-66769A0AC3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144" y="1121422"/>
            <a:ext cx="11828522" cy="4725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Event stream algorithms are both filters and analytics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A3FB0F1-D082-B4BC-E48F-DF59A7CCD277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Volume Reduction and Streaming Analytics</a:t>
            </a:r>
          </a:p>
        </p:txBody>
      </p:sp>
      <p:sp>
        <p:nvSpPr>
          <p:cNvPr id="5" name="Cloud 4">
            <a:extLst>
              <a:ext uri="{FF2B5EF4-FFF2-40B4-BE49-F238E27FC236}">
                <a16:creationId xmlns:a16="http://schemas.microsoft.com/office/drawing/2014/main" id="{9004E1FA-C9EC-9ED5-34B6-8AD2C830C08D}"/>
              </a:ext>
            </a:extLst>
          </p:cNvPr>
          <p:cNvSpPr/>
          <p:nvPr/>
        </p:nvSpPr>
        <p:spPr>
          <a:xfrm>
            <a:off x="256557" y="2634096"/>
            <a:ext cx="1799461" cy="677078"/>
          </a:xfrm>
          <a:prstGeom prst="cloud">
            <a:avLst/>
          </a:prstGeom>
          <a:noFill/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Source</a:t>
            </a:r>
          </a:p>
        </p:txBody>
      </p:sp>
      <p:sp>
        <p:nvSpPr>
          <p:cNvPr id="22" name="Cloud 21">
            <a:extLst>
              <a:ext uri="{FF2B5EF4-FFF2-40B4-BE49-F238E27FC236}">
                <a16:creationId xmlns:a16="http://schemas.microsoft.com/office/drawing/2014/main" id="{8F608DD3-04F7-5A5F-1DCC-7A22A0DDEBF6}"/>
              </a:ext>
            </a:extLst>
          </p:cNvPr>
          <p:cNvSpPr/>
          <p:nvPr/>
        </p:nvSpPr>
        <p:spPr>
          <a:xfrm>
            <a:off x="256556" y="3481389"/>
            <a:ext cx="1799461" cy="635095"/>
          </a:xfrm>
          <a:prstGeom prst="cloud">
            <a:avLst/>
          </a:prstGeom>
          <a:noFill/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Source</a:t>
            </a:r>
          </a:p>
        </p:txBody>
      </p:sp>
      <p:sp>
        <p:nvSpPr>
          <p:cNvPr id="23" name="Cloud 22">
            <a:extLst>
              <a:ext uri="{FF2B5EF4-FFF2-40B4-BE49-F238E27FC236}">
                <a16:creationId xmlns:a16="http://schemas.microsoft.com/office/drawing/2014/main" id="{6138E06F-B4BA-B824-9F92-5BC3DDF3F403}"/>
              </a:ext>
            </a:extLst>
          </p:cNvPr>
          <p:cNvSpPr/>
          <p:nvPr/>
        </p:nvSpPr>
        <p:spPr>
          <a:xfrm>
            <a:off x="227496" y="4694095"/>
            <a:ext cx="1799461" cy="694114"/>
          </a:xfrm>
          <a:prstGeom prst="cloud">
            <a:avLst/>
          </a:prstGeom>
          <a:noFill/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Source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6D5264A-68F4-10AE-60D9-D8C1F850E5E4}"/>
                  </a:ext>
                </a:extLst>
              </p:cNvPr>
              <p:cNvSpPr txBox="1"/>
              <p:nvPr/>
            </p:nvSpPr>
            <p:spPr>
              <a:xfrm>
                <a:off x="885509" y="4059000"/>
                <a:ext cx="50995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1154615-99F6-8289-543F-B05470A2B5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509" y="4059000"/>
                <a:ext cx="509954" cy="7078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ctangle 24">
            <a:extLst>
              <a:ext uri="{FF2B5EF4-FFF2-40B4-BE49-F238E27FC236}">
                <a16:creationId xmlns:a16="http://schemas.microsoft.com/office/drawing/2014/main" id="{FF122301-7082-0EE8-2E9E-D02A5E822CB6}"/>
              </a:ext>
            </a:extLst>
          </p:cNvPr>
          <p:cNvSpPr/>
          <p:nvPr/>
        </p:nvSpPr>
        <p:spPr>
          <a:xfrm>
            <a:off x="2332892" y="2689851"/>
            <a:ext cx="1488830" cy="62132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66BAAC3-C331-E648-6F6A-F71842702B4E}"/>
              </a:ext>
            </a:extLst>
          </p:cNvPr>
          <p:cNvSpPr/>
          <p:nvPr/>
        </p:nvSpPr>
        <p:spPr>
          <a:xfrm>
            <a:off x="2291959" y="4766886"/>
            <a:ext cx="1488830" cy="62132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3C69664-7DE2-332C-36E7-6A7C3CA08A7C}"/>
              </a:ext>
            </a:extLst>
          </p:cNvPr>
          <p:cNvSpPr/>
          <p:nvPr/>
        </p:nvSpPr>
        <p:spPr>
          <a:xfrm>
            <a:off x="2311672" y="3495161"/>
            <a:ext cx="1488830" cy="62132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CCC4547-536E-FBFC-5456-26D923CA937E}"/>
              </a:ext>
            </a:extLst>
          </p:cNvPr>
          <p:cNvSpPr/>
          <p:nvPr/>
        </p:nvSpPr>
        <p:spPr>
          <a:xfrm>
            <a:off x="6119741" y="2696612"/>
            <a:ext cx="2513217" cy="3564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Filter/sample/sketch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DFDA4DA-3150-2DCB-C97E-1A19BAD59C9B}"/>
              </a:ext>
            </a:extLst>
          </p:cNvPr>
          <p:cNvSpPr/>
          <p:nvPr/>
        </p:nvSpPr>
        <p:spPr>
          <a:xfrm>
            <a:off x="6184219" y="3195319"/>
            <a:ext cx="2448740" cy="3564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Filter/sample/sketch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D8D2837-E311-4A6C-4A4E-B5C90D411065}"/>
              </a:ext>
            </a:extLst>
          </p:cNvPr>
          <p:cNvSpPr/>
          <p:nvPr/>
        </p:nvSpPr>
        <p:spPr>
          <a:xfrm>
            <a:off x="6184219" y="4066156"/>
            <a:ext cx="2513216" cy="3564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Filter/sample/sketch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180AD40E-87A9-7FF6-D14E-08122B2A4A7C}"/>
                  </a:ext>
                </a:extLst>
              </p:cNvPr>
              <p:cNvSpPr txBox="1"/>
              <p:nvPr/>
            </p:nvSpPr>
            <p:spPr>
              <a:xfrm>
                <a:off x="7209163" y="3369009"/>
                <a:ext cx="509954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54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AB5C444-D8F2-B810-FE62-47D0C2A4F4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9163" y="3369009"/>
                <a:ext cx="509954" cy="92333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A892B51E-FB68-290A-0155-34CC67833495}"/>
              </a:ext>
            </a:extLst>
          </p:cNvPr>
          <p:cNvSpPr/>
          <p:nvPr/>
        </p:nvSpPr>
        <p:spPr>
          <a:xfrm>
            <a:off x="3864162" y="2901147"/>
            <a:ext cx="1979791" cy="288193"/>
          </a:xfrm>
          <a:custGeom>
            <a:avLst/>
            <a:gdLst>
              <a:gd name="connsiteX0" fmla="*/ 0 w 1937349"/>
              <a:gd name="connsiteY0" fmla="*/ 59181 h 276213"/>
              <a:gd name="connsiteX1" fmla="*/ 363415 w 1937349"/>
              <a:gd name="connsiteY1" fmla="*/ 276058 h 276213"/>
              <a:gd name="connsiteX2" fmla="*/ 363415 w 1937349"/>
              <a:gd name="connsiteY2" fmla="*/ 29874 h 276213"/>
              <a:gd name="connsiteX3" fmla="*/ 773723 w 1937349"/>
              <a:gd name="connsiteY3" fmla="*/ 240889 h 276213"/>
              <a:gd name="connsiteX4" fmla="*/ 791308 w 1937349"/>
              <a:gd name="connsiteY4" fmla="*/ 12289 h 276213"/>
              <a:gd name="connsiteX5" fmla="*/ 1125415 w 1937349"/>
              <a:gd name="connsiteY5" fmla="*/ 223305 h 276213"/>
              <a:gd name="connsiteX6" fmla="*/ 1178169 w 1937349"/>
              <a:gd name="connsiteY6" fmla="*/ 41597 h 276213"/>
              <a:gd name="connsiteX7" fmla="*/ 1541585 w 1937349"/>
              <a:gd name="connsiteY7" fmla="*/ 264335 h 276213"/>
              <a:gd name="connsiteX8" fmla="*/ 1570892 w 1937349"/>
              <a:gd name="connsiteY8" fmla="*/ 566 h 276213"/>
              <a:gd name="connsiteX9" fmla="*/ 1916723 w 1937349"/>
              <a:gd name="connsiteY9" fmla="*/ 193997 h 276213"/>
              <a:gd name="connsiteX10" fmla="*/ 1899138 w 1937349"/>
              <a:gd name="connsiteY10" fmla="*/ 188135 h 276213"/>
              <a:gd name="connsiteX11" fmla="*/ 1910861 w 1937349"/>
              <a:gd name="connsiteY11" fmla="*/ 205720 h 27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37349" h="276213">
                <a:moveTo>
                  <a:pt x="0" y="59181"/>
                </a:moveTo>
                <a:cubicBezTo>
                  <a:pt x="151423" y="170061"/>
                  <a:pt x="302846" y="280942"/>
                  <a:pt x="363415" y="276058"/>
                </a:cubicBezTo>
                <a:cubicBezTo>
                  <a:pt x="423984" y="271174"/>
                  <a:pt x="295030" y="35735"/>
                  <a:pt x="363415" y="29874"/>
                </a:cubicBezTo>
                <a:cubicBezTo>
                  <a:pt x="431800" y="24013"/>
                  <a:pt x="702408" y="243820"/>
                  <a:pt x="773723" y="240889"/>
                </a:cubicBezTo>
                <a:cubicBezTo>
                  <a:pt x="845038" y="237958"/>
                  <a:pt x="732693" y="15220"/>
                  <a:pt x="791308" y="12289"/>
                </a:cubicBezTo>
                <a:cubicBezTo>
                  <a:pt x="849923" y="9358"/>
                  <a:pt x="1060938" y="218420"/>
                  <a:pt x="1125415" y="223305"/>
                </a:cubicBezTo>
                <a:cubicBezTo>
                  <a:pt x="1189892" y="228190"/>
                  <a:pt x="1108807" y="34759"/>
                  <a:pt x="1178169" y="41597"/>
                </a:cubicBezTo>
                <a:cubicBezTo>
                  <a:pt x="1247531" y="48435"/>
                  <a:pt x="1476131" y="271174"/>
                  <a:pt x="1541585" y="264335"/>
                </a:cubicBezTo>
                <a:cubicBezTo>
                  <a:pt x="1607039" y="257497"/>
                  <a:pt x="1508369" y="12289"/>
                  <a:pt x="1570892" y="566"/>
                </a:cubicBezTo>
                <a:cubicBezTo>
                  <a:pt x="1633415" y="-11157"/>
                  <a:pt x="1862015" y="162736"/>
                  <a:pt x="1916723" y="193997"/>
                </a:cubicBezTo>
                <a:cubicBezTo>
                  <a:pt x="1971431" y="225258"/>
                  <a:pt x="1900115" y="186181"/>
                  <a:pt x="1899138" y="188135"/>
                </a:cubicBezTo>
                <a:cubicBezTo>
                  <a:pt x="1898161" y="190089"/>
                  <a:pt x="1916723" y="92397"/>
                  <a:pt x="1910861" y="205720"/>
                </a:cubicBezTo>
              </a:path>
            </a:pathLst>
          </a:custGeom>
          <a:noFill/>
          <a:ln w="444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964059C4-7C30-35C8-02B7-A8B1B72FC785}"/>
              </a:ext>
            </a:extLst>
          </p:cNvPr>
          <p:cNvSpPr/>
          <p:nvPr/>
        </p:nvSpPr>
        <p:spPr>
          <a:xfrm>
            <a:off x="3821722" y="3693497"/>
            <a:ext cx="2035067" cy="288193"/>
          </a:xfrm>
          <a:custGeom>
            <a:avLst/>
            <a:gdLst>
              <a:gd name="connsiteX0" fmla="*/ 0 w 1937349"/>
              <a:gd name="connsiteY0" fmla="*/ 59181 h 276213"/>
              <a:gd name="connsiteX1" fmla="*/ 363415 w 1937349"/>
              <a:gd name="connsiteY1" fmla="*/ 276058 h 276213"/>
              <a:gd name="connsiteX2" fmla="*/ 363415 w 1937349"/>
              <a:gd name="connsiteY2" fmla="*/ 29874 h 276213"/>
              <a:gd name="connsiteX3" fmla="*/ 773723 w 1937349"/>
              <a:gd name="connsiteY3" fmla="*/ 240889 h 276213"/>
              <a:gd name="connsiteX4" fmla="*/ 791308 w 1937349"/>
              <a:gd name="connsiteY4" fmla="*/ 12289 h 276213"/>
              <a:gd name="connsiteX5" fmla="*/ 1125415 w 1937349"/>
              <a:gd name="connsiteY5" fmla="*/ 223305 h 276213"/>
              <a:gd name="connsiteX6" fmla="*/ 1178169 w 1937349"/>
              <a:gd name="connsiteY6" fmla="*/ 41597 h 276213"/>
              <a:gd name="connsiteX7" fmla="*/ 1541585 w 1937349"/>
              <a:gd name="connsiteY7" fmla="*/ 264335 h 276213"/>
              <a:gd name="connsiteX8" fmla="*/ 1570892 w 1937349"/>
              <a:gd name="connsiteY8" fmla="*/ 566 h 276213"/>
              <a:gd name="connsiteX9" fmla="*/ 1916723 w 1937349"/>
              <a:gd name="connsiteY9" fmla="*/ 193997 h 276213"/>
              <a:gd name="connsiteX10" fmla="*/ 1899138 w 1937349"/>
              <a:gd name="connsiteY10" fmla="*/ 188135 h 276213"/>
              <a:gd name="connsiteX11" fmla="*/ 1910861 w 1937349"/>
              <a:gd name="connsiteY11" fmla="*/ 205720 h 27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37349" h="276213">
                <a:moveTo>
                  <a:pt x="0" y="59181"/>
                </a:moveTo>
                <a:cubicBezTo>
                  <a:pt x="151423" y="170061"/>
                  <a:pt x="302846" y="280942"/>
                  <a:pt x="363415" y="276058"/>
                </a:cubicBezTo>
                <a:cubicBezTo>
                  <a:pt x="423984" y="271174"/>
                  <a:pt x="295030" y="35735"/>
                  <a:pt x="363415" y="29874"/>
                </a:cubicBezTo>
                <a:cubicBezTo>
                  <a:pt x="431800" y="24013"/>
                  <a:pt x="702408" y="243820"/>
                  <a:pt x="773723" y="240889"/>
                </a:cubicBezTo>
                <a:cubicBezTo>
                  <a:pt x="845038" y="237958"/>
                  <a:pt x="732693" y="15220"/>
                  <a:pt x="791308" y="12289"/>
                </a:cubicBezTo>
                <a:cubicBezTo>
                  <a:pt x="849923" y="9358"/>
                  <a:pt x="1060938" y="218420"/>
                  <a:pt x="1125415" y="223305"/>
                </a:cubicBezTo>
                <a:cubicBezTo>
                  <a:pt x="1189892" y="228190"/>
                  <a:pt x="1108807" y="34759"/>
                  <a:pt x="1178169" y="41597"/>
                </a:cubicBezTo>
                <a:cubicBezTo>
                  <a:pt x="1247531" y="48435"/>
                  <a:pt x="1476131" y="271174"/>
                  <a:pt x="1541585" y="264335"/>
                </a:cubicBezTo>
                <a:cubicBezTo>
                  <a:pt x="1607039" y="257497"/>
                  <a:pt x="1508369" y="12289"/>
                  <a:pt x="1570892" y="566"/>
                </a:cubicBezTo>
                <a:cubicBezTo>
                  <a:pt x="1633415" y="-11157"/>
                  <a:pt x="1862015" y="162736"/>
                  <a:pt x="1916723" y="193997"/>
                </a:cubicBezTo>
                <a:cubicBezTo>
                  <a:pt x="1971431" y="225258"/>
                  <a:pt x="1900115" y="186181"/>
                  <a:pt x="1899138" y="188135"/>
                </a:cubicBezTo>
                <a:cubicBezTo>
                  <a:pt x="1898161" y="190089"/>
                  <a:pt x="1916723" y="92397"/>
                  <a:pt x="1910861" y="205720"/>
                </a:cubicBezTo>
              </a:path>
            </a:pathLst>
          </a:custGeom>
          <a:noFill/>
          <a:ln w="444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59F76824-595F-2195-CB69-13235EB388FD}"/>
              </a:ext>
            </a:extLst>
          </p:cNvPr>
          <p:cNvSpPr/>
          <p:nvPr/>
        </p:nvSpPr>
        <p:spPr>
          <a:xfrm>
            <a:off x="3787666" y="4977477"/>
            <a:ext cx="2069123" cy="288193"/>
          </a:xfrm>
          <a:custGeom>
            <a:avLst/>
            <a:gdLst>
              <a:gd name="connsiteX0" fmla="*/ 0 w 1937349"/>
              <a:gd name="connsiteY0" fmla="*/ 59181 h 276213"/>
              <a:gd name="connsiteX1" fmla="*/ 363415 w 1937349"/>
              <a:gd name="connsiteY1" fmla="*/ 276058 h 276213"/>
              <a:gd name="connsiteX2" fmla="*/ 363415 w 1937349"/>
              <a:gd name="connsiteY2" fmla="*/ 29874 h 276213"/>
              <a:gd name="connsiteX3" fmla="*/ 773723 w 1937349"/>
              <a:gd name="connsiteY3" fmla="*/ 240889 h 276213"/>
              <a:gd name="connsiteX4" fmla="*/ 791308 w 1937349"/>
              <a:gd name="connsiteY4" fmla="*/ 12289 h 276213"/>
              <a:gd name="connsiteX5" fmla="*/ 1125415 w 1937349"/>
              <a:gd name="connsiteY5" fmla="*/ 223305 h 276213"/>
              <a:gd name="connsiteX6" fmla="*/ 1178169 w 1937349"/>
              <a:gd name="connsiteY6" fmla="*/ 41597 h 276213"/>
              <a:gd name="connsiteX7" fmla="*/ 1541585 w 1937349"/>
              <a:gd name="connsiteY7" fmla="*/ 264335 h 276213"/>
              <a:gd name="connsiteX8" fmla="*/ 1570892 w 1937349"/>
              <a:gd name="connsiteY8" fmla="*/ 566 h 276213"/>
              <a:gd name="connsiteX9" fmla="*/ 1916723 w 1937349"/>
              <a:gd name="connsiteY9" fmla="*/ 193997 h 276213"/>
              <a:gd name="connsiteX10" fmla="*/ 1899138 w 1937349"/>
              <a:gd name="connsiteY10" fmla="*/ 188135 h 276213"/>
              <a:gd name="connsiteX11" fmla="*/ 1910861 w 1937349"/>
              <a:gd name="connsiteY11" fmla="*/ 205720 h 27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37349" h="276213">
                <a:moveTo>
                  <a:pt x="0" y="59181"/>
                </a:moveTo>
                <a:cubicBezTo>
                  <a:pt x="151423" y="170061"/>
                  <a:pt x="302846" y="280942"/>
                  <a:pt x="363415" y="276058"/>
                </a:cubicBezTo>
                <a:cubicBezTo>
                  <a:pt x="423984" y="271174"/>
                  <a:pt x="295030" y="35735"/>
                  <a:pt x="363415" y="29874"/>
                </a:cubicBezTo>
                <a:cubicBezTo>
                  <a:pt x="431800" y="24013"/>
                  <a:pt x="702408" y="243820"/>
                  <a:pt x="773723" y="240889"/>
                </a:cubicBezTo>
                <a:cubicBezTo>
                  <a:pt x="845038" y="237958"/>
                  <a:pt x="732693" y="15220"/>
                  <a:pt x="791308" y="12289"/>
                </a:cubicBezTo>
                <a:cubicBezTo>
                  <a:pt x="849923" y="9358"/>
                  <a:pt x="1060938" y="218420"/>
                  <a:pt x="1125415" y="223305"/>
                </a:cubicBezTo>
                <a:cubicBezTo>
                  <a:pt x="1189892" y="228190"/>
                  <a:pt x="1108807" y="34759"/>
                  <a:pt x="1178169" y="41597"/>
                </a:cubicBezTo>
                <a:cubicBezTo>
                  <a:pt x="1247531" y="48435"/>
                  <a:pt x="1476131" y="271174"/>
                  <a:pt x="1541585" y="264335"/>
                </a:cubicBezTo>
                <a:cubicBezTo>
                  <a:pt x="1607039" y="257497"/>
                  <a:pt x="1508369" y="12289"/>
                  <a:pt x="1570892" y="566"/>
                </a:cubicBezTo>
                <a:cubicBezTo>
                  <a:pt x="1633415" y="-11157"/>
                  <a:pt x="1862015" y="162736"/>
                  <a:pt x="1916723" y="193997"/>
                </a:cubicBezTo>
                <a:cubicBezTo>
                  <a:pt x="1971431" y="225258"/>
                  <a:pt x="1900115" y="186181"/>
                  <a:pt x="1899138" y="188135"/>
                </a:cubicBezTo>
                <a:cubicBezTo>
                  <a:pt x="1898161" y="190089"/>
                  <a:pt x="1916723" y="92397"/>
                  <a:pt x="1910861" y="205720"/>
                </a:cubicBezTo>
              </a:path>
            </a:pathLst>
          </a:custGeom>
          <a:noFill/>
          <a:ln w="444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D3DA5A2-0287-A68D-B225-697F2F814412}"/>
              </a:ext>
            </a:extLst>
          </p:cNvPr>
          <p:cNvSpPr/>
          <p:nvPr/>
        </p:nvSpPr>
        <p:spPr>
          <a:xfrm>
            <a:off x="3928352" y="4059000"/>
            <a:ext cx="1878580" cy="668286"/>
          </a:xfrm>
          <a:prstGeom prst="rect">
            <a:avLst/>
          </a:prstGeom>
          <a:noFill/>
          <a:ln w="222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Bandwidth limited network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0BB146B-EB4D-D8BD-44C8-398C7FEFE394}"/>
              </a:ext>
            </a:extLst>
          </p:cNvPr>
          <p:cNvSpPr/>
          <p:nvPr/>
        </p:nvSpPr>
        <p:spPr>
          <a:xfrm>
            <a:off x="9131897" y="2696612"/>
            <a:ext cx="1868449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Stream analytic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CD5F3A4-A98B-BD53-450C-645553A20041}"/>
              </a:ext>
            </a:extLst>
          </p:cNvPr>
          <p:cNvSpPr/>
          <p:nvPr/>
        </p:nvSpPr>
        <p:spPr>
          <a:xfrm>
            <a:off x="9131897" y="3195319"/>
            <a:ext cx="1868449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Stream analytic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2D48F12-AA8A-FBAF-8B39-9141702F6478}"/>
              </a:ext>
            </a:extLst>
          </p:cNvPr>
          <p:cNvSpPr/>
          <p:nvPr/>
        </p:nvSpPr>
        <p:spPr>
          <a:xfrm>
            <a:off x="9131896" y="4066156"/>
            <a:ext cx="1868449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Stream analytic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684CFEA-9CC4-5F5C-6E47-E69EE8A0ED2B}"/>
              </a:ext>
            </a:extLst>
          </p:cNvPr>
          <p:cNvSpPr/>
          <p:nvPr/>
        </p:nvSpPr>
        <p:spPr>
          <a:xfrm>
            <a:off x="9135199" y="4722881"/>
            <a:ext cx="1868449" cy="861646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Classical supervised and unsupervised ML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01B585B-A368-8378-88A0-3C00C4614A82}"/>
                  </a:ext>
                </a:extLst>
              </p:cNvPr>
              <p:cNvSpPr txBox="1"/>
              <p:nvPr/>
            </p:nvSpPr>
            <p:spPr>
              <a:xfrm>
                <a:off x="9811142" y="3451766"/>
                <a:ext cx="50995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9B9E79F-B39E-1B4A-AF1A-7D67ACC5D1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1142" y="3451766"/>
                <a:ext cx="509954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Cylinder 45">
            <a:extLst>
              <a:ext uri="{FF2B5EF4-FFF2-40B4-BE49-F238E27FC236}">
                <a16:creationId xmlns:a16="http://schemas.microsoft.com/office/drawing/2014/main" id="{DF6BAAFB-BBC2-2562-F96A-52EA1DD94ED4}"/>
              </a:ext>
            </a:extLst>
          </p:cNvPr>
          <p:cNvSpPr/>
          <p:nvPr/>
        </p:nvSpPr>
        <p:spPr>
          <a:xfrm>
            <a:off x="6204768" y="4722881"/>
            <a:ext cx="2513216" cy="873333"/>
          </a:xfrm>
          <a:prstGeom prst="can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Archival storage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054F2617-189E-4686-A7DA-62B6BFB37D4E}"/>
              </a:ext>
            </a:extLst>
          </p:cNvPr>
          <p:cNvCxnSpPr>
            <a:cxnSpLocks/>
            <a:stCxn id="5" idx="0"/>
            <a:endCxn id="25" idx="1"/>
          </p:cNvCxnSpPr>
          <p:nvPr/>
        </p:nvCxnSpPr>
        <p:spPr>
          <a:xfrm>
            <a:off x="2054518" y="2972635"/>
            <a:ext cx="278374" cy="27878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71D7EC6-A182-5BEB-02DA-8B9533DD6E53}"/>
              </a:ext>
            </a:extLst>
          </p:cNvPr>
          <p:cNvCxnSpPr>
            <a:cxnSpLocks/>
            <a:stCxn id="22" idx="0"/>
            <a:endCxn id="27" idx="1"/>
          </p:cNvCxnSpPr>
          <p:nvPr/>
        </p:nvCxnSpPr>
        <p:spPr>
          <a:xfrm>
            <a:off x="2054517" y="3798937"/>
            <a:ext cx="257155" cy="6886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64268FA-6BAD-8689-4654-C3C4C34377F5}"/>
              </a:ext>
            </a:extLst>
          </p:cNvPr>
          <p:cNvCxnSpPr>
            <a:cxnSpLocks/>
            <a:stCxn id="23" idx="0"/>
            <a:endCxn id="26" idx="1"/>
          </p:cNvCxnSpPr>
          <p:nvPr/>
        </p:nvCxnSpPr>
        <p:spPr>
          <a:xfrm>
            <a:off x="2025457" y="5041152"/>
            <a:ext cx="266502" cy="36396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3430D7C-5BD3-E932-0846-53371E8DB6D8}"/>
              </a:ext>
            </a:extLst>
          </p:cNvPr>
          <p:cNvCxnSpPr>
            <a:cxnSpLocks/>
            <a:endCxn id="31" idx="1"/>
          </p:cNvCxnSpPr>
          <p:nvPr/>
        </p:nvCxnSpPr>
        <p:spPr>
          <a:xfrm flipV="1">
            <a:off x="5837449" y="2874851"/>
            <a:ext cx="282292" cy="178238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7BB2EDB-F9C1-7080-10E1-C0EFF0D93FE0}"/>
              </a:ext>
            </a:extLst>
          </p:cNvPr>
          <p:cNvCxnSpPr>
            <a:cxnSpLocks/>
            <a:stCxn id="37" idx="9"/>
            <a:endCxn id="32" idx="1"/>
          </p:cNvCxnSpPr>
          <p:nvPr/>
        </p:nvCxnSpPr>
        <p:spPr>
          <a:xfrm flipV="1">
            <a:off x="5835123" y="3373558"/>
            <a:ext cx="349096" cy="52235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4F2D996-8078-1642-7B77-A5D9E05D4451}"/>
              </a:ext>
            </a:extLst>
          </p:cNvPr>
          <p:cNvCxnSpPr>
            <a:cxnSpLocks/>
            <a:stCxn id="38" idx="9"/>
            <a:endCxn id="33" idx="1"/>
          </p:cNvCxnSpPr>
          <p:nvPr/>
        </p:nvCxnSpPr>
        <p:spPr>
          <a:xfrm flipV="1">
            <a:off x="5834760" y="4244395"/>
            <a:ext cx="349459" cy="935493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91C70FF3-5337-FDEA-24F6-09CE911950FB}"/>
              </a:ext>
            </a:extLst>
          </p:cNvPr>
          <p:cNvCxnSpPr>
            <a:cxnSpLocks/>
            <a:stCxn id="33" idx="2"/>
            <a:endCxn id="46" idx="0"/>
          </p:cNvCxnSpPr>
          <p:nvPr/>
        </p:nvCxnSpPr>
        <p:spPr>
          <a:xfrm>
            <a:off x="7440827" y="4422633"/>
            <a:ext cx="20549" cy="518581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F44A73FF-2C92-1C54-199E-189EAE25AB87}"/>
              </a:ext>
            </a:extLst>
          </p:cNvPr>
          <p:cNvCxnSpPr>
            <a:cxnSpLocks/>
            <a:stCxn id="33" idx="3"/>
          </p:cNvCxnSpPr>
          <p:nvPr/>
        </p:nvCxnSpPr>
        <p:spPr>
          <a:xfrm>
            <a:off x="8697435" y="4244395"/>
            <a:ext cx="389875" cy="875057"/>
          </a:xfrm>
          <a:prstGeom prst="straightConnector1">
            <a:avLst/>
          </a:prstGeom>
          <a:ln w="349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48F2027A-8D29-8E84-2604-A0DAA441AA0A}"/>
              </a:ext>
            </a:extLst>
          </p:cNvPr>
          <p:cNvCxnSpPr>
            <a:cxnSpLocks/>
            <a:stCxn id="32" idx="3"/>
          </p:cNvCxnSpPr>
          <p:nvPr/>
        </p:nvCxnSpPr>
        <p:spPr>
          <a:xfrm>
            <a:off x="8632959" y="3373558"/>
            <a:ext cx="426376" cy="1632160"/>
          </a:xfrm>
          <a:prstGeom prst="straightConnector1">
            <a:avLst/>
          </a:prstGeom>
          <a:ln w="349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C1185896-4B79-D643-FFCD-4F31C86CEF30}"/>
              </a:ext>
            </a:extLst>
          </p:cNvPr>
          <p:cNvCxnSpPr>
            <a:cxnSpLocks/>
            <a:stCxn id="31" idx="3"/>
            <a:endCxn id="44" idx="1"/>
          </p:cNvCxnSpPr>
          <p:nvPr/>
        </p:nvCxnSpPr>
        <p:spPr>
          <a:xfrm>
            <a:off x="8632958" y="2874851"/>
            <a:ext cx="502241" cy="2278853"/>
          </a:xfrm>
          <a:prstGeom prst="straightConnector1">
            <a:avLst/>
          </a:prstGeom>
          <a:ln w="349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242A22C4-5EAC-09C8-F5A7-E28C3BCFBC69}"/>
              </a:ext>
            </a:extLst>
          </p:cNvPr>
          <p:cNvCxnSpPr>
            <a:cxnSpLocks/>
            <a:stCxn id="46" idx="4"/>
            <a:endCxn id="44" idx="1"/>
          </p:cNvCxnSpPr>
          <p:nvPr/>
        </p:nvCxnSpPr>
        <p:spPr>
          <a:xfrm flipV="1">
            <a:off x="8717984" y="5153704"/>
            <a:ext cx="417215" cy="5844"/>
          </a:xfrm>
          <a:prstGeom prst="straightConnector1">
            <a:avLst/>
          </a:prstGeom>
          <a:ln w="3492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1B382B60-E33F-E438-32E5-8F81C71467DA}"/>
              </a:ext>
            </a:extLst>
          </p:cNvPr>
          <p:cNvCxnSpPr>
            <a:cxnSpLocks/>
            <a:stCxn id="31" idx="3"/>
            <a:endCxn id="40" idx="1"/>
          </p:cNvCxnSpPr>
          <p:nvPr/>
        </p:nvCxnSpPr>
        <p:spPr>
          <a:xfrm>
            <a:off x="8632958" y="2874851"/>
            <a:ext cx="498939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B3871910-E72D-AF6D-5BD7-AA9850736722}"/>
              </a:ext>
            </a:extLst>
          </p:cNvPr>
          <p:cNvCxnSpPr>
            <a:cxnSpLocks/>
          </p:cNvCxnSpPr>
          <p:nvPr/>
        </p:nvCxnSpPr>
        <p:spPr>
          <a:xfrm>
            <a:off x="8632957" y="3373557"/>
            <a:ext cx="498939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47ABBBBE-A4C2-0A87-D2B8-BC0D5AE2902E}"/>
              </a:ext>
            </a:extLst>
          </p:cNvPr>
          <p:cNvCxnSpPr>
            <a:cxnSpLocks/>
          </p:cNvCxnSpPr>
          <p:nvPr/>
        </p:nvCxnSpPr>
        <p:spPr>
          <a:xfrm>
            <a:off x="8677121" y="4277288"/>
            <a:ext cx="498939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58D77110-CB86-5F75-6AB0-A6BB22F744C1}"/>
              </a:ext>
            </a:extLst>
          </p:cNvPr>
          <p:cNvCxnSpPr>
            <a:cxnSpLocks/>
            <a:stCxn id="43" idx="2"/>
            <a:endCxn id="44" idx="0"/>
          </p:cNvCxnSpPr>
          <p:nvPr/>
        </p:nvCxnSpPr>
        <p:spPr>
          <a:xfrm>
            <a:off x="10066121" y="4422633"/>
            <a:ext cx="3303" cy="300248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125474E-3B66-FE0B-C996-320B6636C694}"/>
              </a:ext>
            </a:extLst>
          </p:cNvPr>
          <p:cNvSpPr txBox="1">
            <a:spLocks/>
          </p:cNvSpPr>
          <p:nvPr/>
        </p:nvSpPr>
        <p:spPr>
          <a:xfrm>
            <a:off x="427654" y="1671281"/>
            <a:ext cx="3768035" cy="72628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b="1" dirty="0"/>
              <a:t>Streams can be filtered </a:t>
            </a:r>
            <a:r>
              <a:rPr lang="en-US" sz="2400" dirty="0"/>
              <a:t>and sampled near the source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3C68D70-A99A-DBEE-8A83-11AA89F556D5}"/>
              </a:ext>
            </a:extLst>
          </p:cNvPr>
          <p:cNvSpPr txBox="1">
            <a:spLocks/>
          </p:cNvSpPr>
          <p:nvPr/>
        </p:nvSpPr>
        <p:spPr>
          <a:xfrm>
            <a:off x="1540950" y="5827194"/>
            <a:ext cx="3768035" cy="72628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Minimum (filtered) data and analytics archived 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E435737-1962-EE41-0F12-3FEC1F71194E}"/>
              </a:ext>
            </a:extLst>
          </p:cNvPr>
          <p:cNvSpPr txBox="1">
            <a:spLocks/>
          </p:cNvSpPr>
          <p:nvPr/>
        </p:nvSpPr>
        <p:spPr>
          <a:xfrm>
            <a:off x="7051729" y="6107624"/>
            <a:ext cx="4370522" cy="72628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Filtered streams and sketches used as input to classical ML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E23759A-F48C-3139-A47F-E92B2A909F1E}"/>
              </a:ext>
            </a:extLst>
          </p:cNvPr>
          <p:cNvCxnSpPr>
            <a:cxnSpLocks/>
          </p:cNvCxnSpPr>
          <p:nvPr/>
        </p:nvCxnSpPr>
        <p:spPr>
          <a:xfrm>
            <a:off x="2407403" y="2295711"/>
            <a:ext cx="460458" cy="328615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3FA1978-F257-772F-7CD3-852E9884CE38}"/>
              </a:ext>
            </a:extLst>
          </p:cNvPr>
          <p:cNvCxnSpPr>
            <a:cxnSpLocks/>
            <a:endCxn id="46" idx="2"/>
          </p:cNvCxnSpPr>
          <p:nvPr/>
        </p:nvCxnSpPr>
        <p:spPr>
          <a:xfrm flipV="1">
            <a:off x="5221521" y="5159548"/>
            <a:ext cx="983247" cy="776218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7E43180-9DA6-5771-80ED-08BDCC675973}"/>
              </a:ext>
            </a:extLst>
          </p:cNvPr>
          <p:cNvCxnSpPr>
            <a:cxnSpLocks/>
            <a:endCxn id="44" idx="2"/>
          </p:cNvCxnSpPr>
          <p:nvPr/>
        </p:nvCxnSpPr>
        <p:spPr>
          <a:xfrm flipV="1">
            <a:off x="9481399" y="5584527"/>
            <a:ext cx="588025" cy="582557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45A803CE-E76C-656E-FA15-BFB6300053F8}"/>
              </a:ext>
            </a:extLst>
          </p:cNvPr>
          <p:cNvCxnSpPr>
            <a:cxnSpLocks/>
          </p:cNvCxnSpPr>
          <p:nvPr/>
        </p:nvCxnSpPr>
        <p:spPr>
          <a:xfrm flipH="1">
            <a:off x="7496124" y="2295711"/>
            <a:ext cx="1221860" cy="400901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455AB11B-0690-D1B5-6816-F0A2FB824A4E}"/>
              </a:ext>
            </a:extLst>
          </p:cNvPr>
          <p:cNvSpPr/>
          <p:nvPr/>
        </p:nvSpPr>
        <p:spPr>
          <a:xfrm>
            <a:off x="7496123" y="5661834"/>
            <a:ext cx="2043953" cy="356477"/>
          </a:xfrm>
          <a:prstGeom prst="rect">
            <a:avLst/>
          </a:prstGeom>
          <a:noFill/>
          <a:ln w="222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Server/Cloud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F45DEB5-F128-5180-F826-DC6122D686E4}"/>
              </a:ext>
            </a:extLst>
          </p:cNvPr>
          <p:cNvCxnSpPr>
            <a:cxnSpLocks/>
          </p:cNvCxnSpPr>
          <p:nvPr/>
        </p:nvCxnSpPr>
        <p:spPr>
          <a:xfrm flipH="1">
            <a:off x="8697435" y="2972635"/>
            <a:ext cx="434461" cy="2004842"/>
          </a:xfrm>
          <a:prstGeom prst="straightConnector1">
            <a:avLst/>
          </a:prstGeom>
          <a:ln w="3492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4B17028-E764-B0F7-159E-A0B9A191927B}"/>
              </a:ext>
            </a:extLst>
          </p:cNvPr>
          <p:cNvCxnSpPr>
            <a:cxnSpLocks/>
          </p:cNvCxnSpPr>
          <p:nvPr/>
        </p:nvCxnSpPr>
        <p:spPr>
          <a:xfrm flipH="1">
            <a:off x="8717984" y="3551796"/>
            <a:ext cx="502216" cy="1425681"/>
          </a:xfrm>
          <a:prstGeom prst="straightConnector1">
            <a:avLst/>
          </a:prstGeom>
          <a:ln w="3492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01B7597B-E49D-0590-95FF-DF9500CB2B60}"/>
              </a:ext>
            </a:extLst>
          </p:cNvPr>
          <p:cNvCxnSpPr>
            <a:cxnSpLocks/>
          </p:cNvCxnSpPr>
          <p:nvPr/>
        </p:nvCxnSpPr>
        <p:spPr>
          <a:xfrm flipH="1">
            <a:off x="8717984" y="4422633"/>
            <a:ext cx="502216" cy="518581"/>
          </a:xfrm>
          <a:prstGeom prst="straightConnector1">
            <a:avLst/>
          </a:prstGeom>
          <a:ln w="3492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508743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44327" y="1324928"/>
                <a:ext cx="5518591" cy="4958516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How does a </a:t>
                </a:r>
                <a:r>
                  <a:rPr lang="en-US" b="1" dirty="0"/>
                  <a:t>Bloom filter </a:t>
                </a:r>
                <a:r>
                  <a:rPr lang="en-US" dirty="0"/>
                  <a:t>work?</a:t>
                </a:r>
              </a:p>
              <a:p>
                <a:r>
                  <a:rPr lang="en-US" dirty="0"/>
                  <a:t>Start with </a:t>
                </a:r>
                <a:r>
                  <a:rPr lang="en-US" b="1" dirty="0"/>
                  <a:t>bit array </a:t>
                </a:r>
                <a:r>
                  <a:rPr lang="en-US" dirty="0"/>
                  <a:t>or</a:t>
                </a:r>
                <a:r>
                  <a:rPr lang="en-US" b="1" dirty="0"/>
                  <a:t> bitmap </a:t>
                </a:r>
                <a:r>
                  <a:rPr lang="en-US" dirty="0"/>
                  <a:t>of length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b="0" dirty="0"/>
                  <a:t> of all 0s</a:t>
                </a:r>
              </a:p>
              <a:p>
                <a:r>
                  <a:rPr lang="en-US" dirty="0"/>
                  <a:t>Use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hash functions that address bit locations 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44327" y="1324928"/>
                <a:ext cx="5518591" cy="4958516"/>
              </a:xfrm>
              <a:blipFill>
                <a:blip r:embed="rId2"/>
                <a:stretch>
                  <a:fillRect l="-2208" t="-19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Filtering Event Data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E896BD-0B0D-4913-A3DA-C1D02C596658}"/>
              </a:ext>
            </a:extLst>
          </p:cNvPr>
          <p:cNvSpPr/>
          <p:nvPr/>
        </p:nvSpPr>
        <p:spPr>
          <a:xfrm>
            <a:off x="10369450" y="1392855"/>
            <a:ext cx="570190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D32689-AB05-4CF7-BD9E-FD91372C4673}"/>
              </a:ext>
            </a:extLst>
          </p:cNvPr>
          <p:cNvSpPr/>
          <p:nvPr/>
        </p:nvSpPr>
        <p:spPr>
          <a:xfrm>
            <a:off x="10369450" y="1392856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D83DCA-E3F0-4DFE-B14E-2108ED8F4A6A}"/>
              </a:ext>
            </a:extLst>
          </p:cNvPr>
          <p:cNvSpPr/>
          <p:nvPr/>
        </p:nvSpPr>
        <p:spPr>
          <a:xfrm>
            <a:off x="10369450" y="1705502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B3FB7A-1EB5-48AC-A874-E3CD4AFE1945}"/>
              </a:ext>
            </a:extLst>
          </p:cNvPr>
          <p:cNvSpPr/>
          <p:nvPr/>
        </p:nvSpPr>
        <p:spPr>
          <a:xfrm>
            <a:off x="10369450" y="2320903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19FA4E9-116F-47F2-ABAA-771BA2DAA19B}"/>
              </a:ext>
            </a:extLst>
          </p:cNvPr>
          <p:cNvSpPr/>
          <p:nvPr/>
        </p:nvSpPr>
        <p:spPr>
          <a:xfrm>
            <a:off x="10369450" y="2018150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AA4668-AE55-44C8-B0CB-719602161EC2}"/>
              </a:ext>
            </a:extLst>
          </p:cNvPr>
          <p:cNvSpPr/>
          <p:nvPr/>
        </p:nvSpPr>
        <p:spPr>
          <a:xfrm rot="5400000">
            <a:off x="10429791" y="4991372"/>
            <a:ext cx="449506" cy="570191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AA0621B-6066-488B-85BF-143C0468504B}"/>
              </a:ext>
            </a:extLst>
          </p:cNvPr>
          <p:cNvSpPr/>
          <p:nvPr/>
        </p:nvSpPr>
        <p:spPr>
          <a:xfrm>
            <a:off x="10369450" y="2633549"/>
            <a:ext cx="570190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C620371-B16E-4AD3-BE13-CE343CE1E0F9}"/>
              </a:ext>
            </a:extLst>
          </p:cNvPr>
          <p:cNvSpPr/>
          <p:nvPr/>
        </p:nvSpPr>
        <p:spPr>
          <a:xfrm>
            <a:off x="10369450" y="2633550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BD01237-B25E-4186-9190-F659E00E3ECA}"/>
              </a:ext>
            </a:extLst>
          </p:cNvPr>
          <p:cNvSpPr/>
          <p:nvPr/>
        </p:nvSpPr>
        <p:spPr>
          <a:xfrm>
            <a:off x="10369450" y="2946196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D79D90E-607B-4203-9D57-996723EE8B31}"/>
              </a:ext>
            </a:extLst>
          </p:cNvPr>
          <p:cNvSpPr/>
          <p:nvPr/>
        </p:nvSpPr>
        <p:spPr>
          <a:xfrm>
            <a:off x="10369450" y="3561597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6FB5D5F-7619-44CF-9F58-EC2252CB9287}"/>
              </a:ext>
            </a:extLst>
          </p:cNvPr>
          <p:cNvSpPr/>
          <p:nvPr/>
        </p:nvSpPr>
        <p:spPr>
          <a:xfrm>
            <a:off x="10369450" y="3258844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30C0AEA-820E-4EE1-B5E8-3C9E6D8A64CD}"/>
              </a:ext>
            </a:extLst>
          </p:cNvPr>
          <p:cNvSpPr/>
          <p:nvPr/>
        </p:nvSpPr>
        <p:spPr>
          <a:xfrm>
            <a:off x="10369449" y="5485034"/>
            <a:ext cx="570191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0B3F160-597D-4932-87A5-CD21EA8C4A07}"/>
              </a:ext>
            </a:extLst>
          </p:cNvPr>
          <p:cNvSpPr/>
          <p:nvPr/>
        </p:nvSpPr>
        <p:spPr>
          <a:xfrm>
            <a:off x="10369449" y="5485035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4E4B58A-C998-4BAF-BD46-74A4E07CA10C}"/>
              </a:ext>
            </a:extLst>
          </p:cNvPr>
          <p:cNvSpPr/>
          <p:nvPr/>
        </p:nvSpPr>
        <p:spPr>
          <a:xfrm>
            <a:off x="10369449" y="5797681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8554467-C787-4593-806A-5564214B6CC4}"/>
              </a:ext>
            </a:extLst>
          </p:cNvPr>
          <p:cNvSpPr/>
          <p:nvPr/>
        </p:nvSpPr>
        <p:spPr>
          <a:xfrm>
            <a:off x="10369449" y="6413082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0847208-04B2-481C-8584-04ABE0DC0645}"/>
              </a:ext>
            </a:extLst>
          </p:cNvPr>
          <p:cNvSpPr/>
          <p:nvPr/>
        </p:nvSpPr>
        <p:spPr>
          <a:xfrm>
            <a:off x="10369449" y="6110329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D9576BE-B268-47CD-B8CB-898C30E6BF20}"/>
              </a:ext>
            </a:extLst>
          </p:cNvPr>
          <p:cNvSpPr/>
          <p:nvPr/>
        </p:nvSpPr>
        <p:spPr>
          <a:xfrm>
            <a:off x="10369449" y="3861828"/>
            <a:ext cx="570191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E45D0BF-04F7-4F1B-9014-B8882B3E00F7}"/>
              </a:ext>
            </a:extLst>
          </p:cNvPr>
          <p:cNvSpPr/>
          <p:nvPr/>
        </p:nvSpPr>
        <p:spPr>
          <a:xfrm>
            <a:off x="10369449" y="3861829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644B1BA-A866-40A8-85D8-A25E0CFDBF24}"/>
              </a:ext>
            </a:extLst>
          </p:cNvPr>
          <p:cNvSpPr/>
          <p:nvPr/>
        </p:nvSpPr>
        <p:spPr>
          <a:xfrm>
            <a:off x="10369449" y="4174475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495F579-D097-45D6-885E-85A8CE329E25}"/>
              </a:ext>
            </a:extLst>
          </p:cNvPr>
          <p:cNvSpPr/>
          <p:nvPr/>
        </p:nvSpPr>
        <p:spPr>
          <a:xfrm>
            <a:off x="10369449" y="4789876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57AEF6A-5341-4E7E-82DD-0BB4021DC863}"/>
              </a:ext>
            </a:extLst>
          </p:cNvPr>
          <p:cNvSpPr/>
          <p:nvPr/>
        </p:nvSpPr>
        <p:spPr>
          <a:xfrm>
            <a:off x="10369449" y="4487123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CFA0D95-D13E-46C2-A319-826194DBFC10}"/>
              </a:ext>
            </a:extLst>
          </p:cNvPr>
          <p:cNvSpPr/>
          <p:nvPr/>
        </p:nvSpPr>
        <p:spPr>
          <a:xfrm>
            <a:off x="10369449" y="162053"/>
            <a:ext cx="570191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0B8A708-6D27-4EE5-9557-D5574A874A7C}"/>
              </a:ext>
            </a:extLst>
          </p:cNvPr>
          <p:cNvSpPr/>
          <p:nvPr/>
        </p:nvSpPr>
        <p:spPr>
          <a:xfrm>
            <a:off x="10369449" y="162054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C682E5F-099A-4A8F-BEFB-0150E95CC031}"/>
              </a:ext>
            </a:extLst>
          </p:cNvPr>
          <p:cNvSpPr/>
          <p:nvPr/>
        </p:nvSpPr>
        <p:spPr>
          <a:xfrm>
            <a:off x="10369449" y="474700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3A79036-F08A-413E-93E0-4314C4FA4339}"/>
              </a:ext>
            </a:extLst>
          </p:cNvPr>
          <p:cNvSpPr/>
          <p:nvPr/>
        </p:nvSpPr>
        <p:spPr>
          <a:xfrm>
            <a:off x="10369449" y="1090101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6A34AC3-4614-404D-A9B2-950DEFB30227}"/>
              </a:ext>
            </a:extLst>
          </p:cNvPr>
          <p:cNvSpPr/>
          <p:nvPr/>
        </p:nvSpPr>
        <p:spPr>
          <a:xfrm>
            <a:off x="10369449" y="787348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919366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9" grpId="0" animBg="1"/>
      <p:bldP spid="10" grpId="0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44327" y="1324928"/>
                <a:ext cx="5518591" cy="495851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How does a Bloom filter work?</a:t>
                </a:r>
              </a:p>
              <a:p>
                <a:r>
                  <a:rPr lang="en-US" dirty="0"/>
                  <a:t>Start with </a:t>
                </a:r>
                <a:r>
                  <a:rPr lang="en-US" b="1" dirty="0"/>
                  <a:t>bit array </a:t>
                </a:r>
                <a:r>
                  <a:rPr lang="en-US" dirty="0"/>
                  <a:t>of length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b="0" dirty="0"/>
                  <a:t> of all 0s</a:t>
                </a:r>
              </a:p>
              <a:p>
                <a:r>
                  <a:rPr lang="en-US" dirty="0"/>
                  <a:t>Use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hash functions to address bit locations  </a:t>
                </a:r>
              </a:p>
              <a:p>
                <a:r>
                  <a:rPr lang="en-US" dirty="0"/>
                  <a:t>Hashes address bits to set to 1 </a:t>
                </a:r>
              </a:p>
              <a:p>
                <a:pPr lvl="1"/>
                <a:r>
                  <a:rPr lang="en-US" dirty="0"/>
                  <a:t>Insert event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44327" y="1324928"/>
                <a:ext cx="5518591" cy="4958516"/>
              </a:xfrm>
              <a:blipFill>
                <a:blip r:embed="rId2"/>
                <a:stretch>
                  <a:fillRect l="-2208" t="-1966" r="-32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Filtering Event Data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E896BD-0B0D-4913-A3DA-C1D02C596658}"/>
              </a:ext>
            </a:extLst>
          </p:cNvPr>
          <p:cNvSpPr/>
          <p:nvPr/>
        </p:nvSpPr>
        <p:spPr>
          <a:xfrm>
            <a:off x="10369450" y="1392855"/>
            <a:ext cx="570190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D32689-AB05-4CF7-BD9E-FD91372C4673}"/>
              </a:ext>
            </a:extLst>
          </p:cNvPr>
          <p:cNvSpPr/>
          <p:nvPr/>
        </p:nvSpPr>
        <p:spPr>
          <a:xfrm>
            <a:off x="10369450" y="1392856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D83DCA-E3F0-4DFE-B14E-2108ED8F4A6A}"/>
              </a:ext>
            </a:extLst>
          </p:cNvPr>
          <p:cNvSpPr/>
          <p:nvPr/>
        </p:nvSpPr>
        <p:spPr>
          <a:xfrm>
            <a:off x="10369450" y="1705502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B3FB7A-1EB5-48AC-A874-E3CD4AFE1945}"/>
              </a:ext>
            </a:extLst>
          </p:cNvPr>
          <p:cNvSpPr/>
          <p:nvPr/>
        </p:nvSpPr>
        <p:spPr>
          <a:xfrm>
            <a:off x="10369450" y="2320903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19FA4E9-116F-47F2-ABAA-771BA2DAA19B}"/>
              </a:ext>
            </a:extLst>
          </p:cNvPr>
          <p:cNvSpPr/>
          <p:nvPr/>
        </p:nvSpPr>
        <p:spPr>
          <a:xfrm>
            <a:off x="10369450" y="2018150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AA4668-AE55-44C8-B0CB-719602161EC2}"/>
              </a:ext>
            </a:extLst>
          </p:cNvPr>
          <p:cNvSpPr/>
          <p:nvPr/>
        </p:nvSpPr>
        <p:spPr>
          <a:xfrm rot="5400000">
            <a:off x="10429791" y="4991372"/>
            <a:ext cx="449506" cy="570191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AA0621B-6066-488B-85BF-143C0468504B}"/>
              </a:ext>
            </a:extLst>
          </p:cNvPr>
          <p:cNvSpPr/>
          <p:nvPr/>
        </p:nvSpPr>
        <p:spPr>
          <a:xfrm>
            <a:off x="10369450" y="2633549"/>
            <a:ext cx="570190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C620371-B16E-4AD3-BE13-CE343CE1E0F9}"/>
              </a:ext>
            </a:extLst>
          </p:cNvPr>
          <p:cNvSpPr/>
          <p:nvPr/>
        </p:nvSpPr>
        <p:spPr>
          <a:xfrm>
            <a:off x="10369450" y="2633550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BD01237-B25E-4186-9190-F659E00E3ECA}"/>
              </a:ext>
            </a:extLst>
          </p:cNvPr>
          <p:cNvSpPr/>
          <p:nvPr/>
        </p:nvSpPr>
        <p:spPr>
          <a:xfrm>
            <a:off x="10369450" y="2946196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D79D90E-607B-4203-9D57-996723EE8B31}"/>
              </a:ext>
            </a:extLst>
          </p:cNvPr>
          <p:cNvSpPr/>
          <p:nvPr/>
        </p:nvSpPr>
        <p:spPr>
          <a:xfrm>
            <a:off x="10369450" y="3561597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6FB5D5F-7619-44CF-9F58-EC2252CB9287}"/>
              </a:ext>
            </a:extLst>
          </p:cNvPr>
          <p:cNvSpPr/>
          <p:nvPr/>
        </p:nvSpPr>
        <p:spPr>
          <a:xfrm>
            <a:off x="10369450" y="3258844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30C0AEA-820E-4EE1-B5E8-3C9E6D8A64CD}"/>
              </a:ext>
            </a:extLst>
          </p:cNvPr>
          <p:cNvSpPr/>
          <p:nvPr/>
        </p:nvSpPr>
        <p:spPr>
          <a:xfrm>
            <a:off x="10369449" y="5485034"/>
            <a:ext cx="570191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0B3F160-597D-4932-87A5-CD21EA8C4A07}"/>
              </a:ext>
            </a:extLst>
          </p:cNvPr>
          <p:cNvSpPr/>
          <p:nvPr/>
        </p:nvSpPr>
        <p:spPr>
          <a:xfrm>
            <a:off x="10369449" y="5485035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4E4B58A-C998-4BAF-BD46-74A4E07CA10C}"/>
              </a:ext>
            </a:extLst>
          </p:cNvPr>
          <p:cNvSpPr/>
          <p:nvPr/>
        </p:nvSpPr>
        <p:spPr>
          <a:xfrm>
            <a:off x="10369449" y="5797681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8554467-C787-4593-806A-5564214B6CC4}"/>
              </a:ext>
            </a:extLst>
          </p:cNvPr>
          <p:cNvSpPr/>
          <p:nvPr/>
        </p:nvSpPr>
        <p:spPr>
          <a:xfrm>
            <a:off x="10369449" y="6413082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0847208-04B2-481C-8584-04ABE0DC0645}"/>
              </a:ext>
            </a:extLst>
          </p:cNvPr>
          <p:cNvSpPr/>
          <p:nvPr/>
        </p:nvSpPr>
        <p:spPr>
          <a:xfrm>
            <a:off x="10369449" y="6110329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D9576BE-B268-47CD-B8CB-898C30E6BF20}"/>
              </a:ext>
            </a:extLst>
          </p:cNvPr>
          <p:cNvSpPr/>
          <p:nvPr/>
        </p:nvSpPr>
        <p:spPr>
          <a:xfrm>
            <a:off x="10369449" y="3861828"/>
            <a:ext cx="570191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E45D0BF-04F7-4F1B-9014-B8882B3E00F7}"/>
              </a:ext>
            </a:extLst>
          </p:cNvPr>
          <p:cNvSpPr/>
          <p:nvPr/>
        </p:nvSpPr>
        <p:spPr>
          <a:xfrm>
            <a:off x="10369449" y="3861829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644B1BA-A866-40A8-85D8-A25E0CFDBF24}"/>
              </a:ext>
            </a:extLst>
          </p:cNvPr>
          <p:cNvSpPr/>
          <p:nvPr/>
        </p:nvSpPr>
        <p:spPr>
          <a:xfrm>
            <a:off x="10369449" y="4174475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495F579-D097-45D6-885E-85A8CE329E25}"/>
              </a:ext>
            </a:extLst>
          </p:cNvPr>
          <p:cNvSpPr/>
          <p:nvPr/>
        </p:nvSpPr>
        <p:spPr>
          <a:xfrm>
            <a:off x="10369449" y="4789876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57AEF6A-5341-4E7E-82DD-0BB4021DC863}"/>
              </a:ext>
            </a:extLst>
          </p:cNvPr>
          <p:cNvSpPr/>
          <p:nvPr/>
        </p:nvSpPr>
        <p:spPr>
          <a:xfrm>
            <a:off x="10369449" y="4487123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CFA0D95-D13E-46C2-A319-826194DBFC10}"/>
              </a:ext>
            </a:extLst>
          </p:cNvPr>
          <p:cNvSpPr/>
          <p:nvPr/>
        </p:nvSpPr>
        <p:spPr>
          <a:xfrm>
            <a:off x="10369449" y="162053"/>
            <a:ext cx="570191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0B8A708-6D27-4EE5-9557-D5574A874A7C}"/>
              </a:ext>
            </a:extLst>
          </p:cNvPr>
          <p:cNvSpPr/>
          <p:nvPr/>
        </p:nvSpPr>
        <p:spPr>
          <a:xfrm>
            <a:off x="10369449" y="162054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C682E5F-099A-4A8F-BEFB-0150E95CC031}"/>
              </a:ext>
            </a:extLst>
          </p:cNvPr>
          <p:cNvSpPr/>
          <p:nvPr/>
        </p:nvSpPr>
        <p:spPr>
          <a:xfrm>
            <a:off x="10369449" y="474700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3A79036-F08A-413E-93E0-4314C4FA4339}"/>
              </a:ext>
            </a:extLst>
          </p:cNvPr>
          <p:cNvSpPr/>
          <p:nvPr/>
        </p:nvSpPr>
        <p:spPr>
          <a:xfrm>
            <a:off x="10369449" y="1090101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6A34AC3-4614-404D-A9B2-950DEFB30227}"/>
              </a:ext>
            </a:extLst>
          </p:cNvPr>
          <p:cNvSpPr/>
          <p:nvPr/>
        </p:nvSpPr>
        <p:spPr>
          <a:xfrm>
            <a:off x="10369449" y="787348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B6C0C19-CE96-4CEF-88BB-5D563D5936CA}"/>
                  </a:ext>
                </a:extLst>
              </p:cNvPr>
              <p:cNvSpPr txBox="1"/>
              <p:nvPr/>
            </p:nvSpPr>
            <p:spPr>
              <a:xfrm>
                <a:off x="6600891" y="919429"/>
                <a:ext cx="1515291" cy="5600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d>
                            <m:d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B6C0C19-CE96-4CEF-88BB-5D563D5936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0891" y="919429"/>
                <a:ext cx="1515291" cy="56009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D97495C-027D-4B19-8556-592F90B9B53C}"/>
                  </a:ext>
                </a:extLst>
              </p:cNvPr>
              <p:cNvSpPr txBox="1"/>
              <p:nvPr/>
            </p:nvSpPr>
            <p:spPr>
              <a:xfrm>
                <a:off x="6600890" y="1542870"/>
                <a:ext cx="1515291" cy="5600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d>
                            <m:d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D97495C-027D-4B19-8556-592F90B9B5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0890" y="1542870"/>
                <a:ext cx="1515291" cy="56009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EBE435B-FC04-48CA-8B6D-1B51A3DA30F7}"/>
                  </a:ext>
                </a:extLst>
              </p:cNvPr>
              <p:cNvSpPr txBox="1"/>
              <p:nvPr/>
            </p:nvSpPr>
            <p:spPr>
              <a:xfrm>
                <a:off x="6600889" y="2166311"/>
                <a:ext cx="1515291" cy="5600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d>
                            <m:d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EBE435B-FC04-48CA-8B6D-1B51A3DA30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0889" y="2166311"/>
                <a:ext cx="1515291" cy="56009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0240BF14-9AFA-40C4-AE8F-931F358A0532}"/>
              </a:ext>
            </a:extLst>
          </p:cNvPr>
          <p:cNvCxnSpPr>
            <a:stCxn id="2" idx="3"/>
            <a:endCxn id="33" idx="1"/>
          </p:cNvCxnSpPr>
          <p:nvPr/>
        </p:nvCxnSpPr>
        <p:spPr>
          <a:xfrm flipV="1">
            <a:off x="8116182" y="626077"/>
            <a:ext cx="2253267" cy="57339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0F0F239-1554-49AD-89C3-F10DFA68AA3A}"/>
              </a:ext>
            </a:extLst>
          </p:cNvPr>
          <p:cNvCxnSpPr>
            <a:cxnSpLocks/>
            <a:stCxn id="36" idx="3"/>
            <a:endCxn id="24" idx="1"/>
          </p:cNvCxnSpPr>
          <p:nvPr/>
        </p:nvCxnSpPr>
        <p:spPr>
          <a:xfrm>
            <a:off x="8116181" y="1822915"/>
            <a:ext cx="2253268" cy="311833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9607E929-9FEC-468F-95F0-27996B07632B}"/>
              </a:ext>
            </a:extLst>
          </p:cNvPr>
          <p:cNvCxnSpPr>
            <a:cxnSpLocks/>
            <a:stCxn id="37" idx="3"/>
            <a:endCxn id="8" idx="1"/>
          </p:cNvCxnSpPr>
          <p:nvPr/>
        </p:nvCxnSpPr>
        <p:spPr>
          <a:xfrm>
            <a:off x="8116180" y="2446356"/>
            <a:ext cx="2253270" cy="2592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196109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44327" y="1324928"/>
                <a:ext cx="5518591" cy="495851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How does a Bloom filter work?</a:t>
                </a:r>
              </a:p>
              <a:p>
                <a:r>
                  <a:rPr lang="en-US" dirty="0"/>
                  <a:t>Start with </a:t>
                </a:r>
                <a:r>
                  <a:rPr lang="en-US" b="1" dirty="0"/>
                  <a:t>bit array </a:t>
                </a:r>
                <a:r>
                  <a:rPr lang="en-US" dirty="0"/>
                  <a:t>of length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b="0" dirty="0"/>
                  <a:t> of all 0s</a:t>
                </a:r>
              </a:p>
              <a:p>
                <a:r>
                  <a:rPr lang="en-US" dirty="0"/>
                  <a:t>Use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hash functions to address bit locations  </a:t>
                </a:r>
              </a:p>
              <a:p>
                <a:r>
                  <a:rPr lang="en-US" dirty="0"/>
                  <a:t>Inserts turn the hashed bits to 1 </a:t>
                </a:r>
              </a:p>
              <a:p>
                <a:pPr lvl="1"/>
                <a:r>
                  <a:rPr lang="en-US" dirty="0"/>
                  <a:t>Insert event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Insert event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with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Can have </a:t>
                </a:r>
                <a:r>
                  <a:rPr lang="en-US" b="1" dirty="0">
                    <a:solidFill>
                      <a:srgbClr val="C00000"/>
                    </a:solidFill>
                  </a:rPr>
                  <a:t>hash collisions </a:t>
                </a:r>
              </a:p>
              <a:p>
                <a:pPr lvl="1"/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44327" y="1324928"/>
                <a:ext cx="5518591" cy="4958516"/>
              </a:xfrm>
              <a:blipFill>
                <a:blip r:embed="rId2"/>
                <a:stretch>
                  <a:fillRect l="-2208" t="-1966" r="-32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Filtering Event Data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E896BD-0B0D-4913-A3DA-C1D02C596658}"/>
              </a:ext>
            </a:extLst>
          </p:cNvPr>
          <p:cNvSpPr/>
          <p:nvPr/>
        </p:nvSpPr>
        <p:spPr>
          <a:xfrm>
            <a:off x="10369450" y="1392855"/>
            <a:ext cx="570190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D32689-AB05-4CF7-BD9E-FD91372C4673}"/>
              </a:ext>
            </a:extLst>
          </p:cNvPr>
          <p:cNvSpPr/>
          <p:nvPr/>
        </p:nvSpPr>
        <p:spPr>
          <a:xfrm>
            <a:off x="10369450" y="1392856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D83DCA-E3F0-4DFE-B14E-2108ED8F4A6A}"/>
              </a:ext>
            </a:extLst>
          </p:cNvPr>
          <p:cNvSpPr/>
          <p:nvPr/>
        </p:nvSpPr>
        <p:spPr>
          <a:xfrm>
            <a:off x="10369450" y="1705502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B3FB7A-1EB5-48AC-A874-E3CD4AFE1945}"/>
              </a:ext>
            </a:extLst>
          </p:cNvPr>
          <p:cNvSpPr/>
          <p:nvPr/>
        </p:nvSpPr>
        <p:spPr>
          <a:xfrm>
            <a:off x="10369450" y="2320903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19FA4E9-116F-47F2-ABAA-771BA2DAA19B}"/>
              </a:ext>
            </a:extLst>
          </p:cNvPr>
          <p:cNvSpPr/>
          <p:nvPr/>
        </p:nvSpPr>
        <p:spPr>
          <a:xfrm>
            <a:off x="10369450" y="2018150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AA4668-AE55-44C8-B0CB-719602161EC2}"/>
              </a:ext>
            </a:extLst>
          </p:cNvPr>
          <p:cNvSpPr/>
          <p:nvPr/>
        </p:nvSpPr>
        <p:spPr>
          <a:xfrm rot="5400000">
            <a:off x="10429791" y="4991372"/>
            <a:ext cx="449506" cy="570191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AA0621B-6066-488B-85BF-143C0468504B}"/>
              </a:ext>
            </a:extLst>
          </p:cNvPr>
          <p:cNvSpPr/>
          <p:nvPr/>
        </p:nvSpPr>
        <p:spPr>
          <a:xfrm>
            <a:off x="10369450" y="2633549"/>
            <a:ext cx="570190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C620371-B16E-4AD3-BE13-CE343CE1E0F9}"/>
              </a:ext>
            </a:extLst>
          </p:cNvPr>
          <p:cNvSpPr/>
          <p:nvPr/>
        </p:nvSpPr>
        <p:spPr>
          <a:xfrm>
            <a:off x="10369450" y="2633550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BD01237-B25E-4186-9190-F659E00E3ECA}"/>
              </a:ext>
            </a:extLst>
          </p:cNvPr>
          <p:cNvSpPr/>
          <p:nvPr/>
        </p:nvSpPr>
        <p:spPr>
          <a:xfrm>
            <a:off x="10369450" y="2946196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D79D90E-607B-4203-9D57-996723EE8B31}"/>
              </a:ext>
            </a:extLst>
          </p:cNvPr>
          <p:cNvSpPr/>
          <p:nvPr/>
        </p:nvSpPr>
        <p:spPr>
          <a:xfrm>
            <a:off x="10369450" y="3561597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6FB5D5F-7619-44CF-9F58-EC2252CB9287}"/>
              </a:ext>
            </a:extLst>
          </p:cNvPr>
          <p:cNvSpPr/>
          <p:nvPr/>
        </p:nvSpPr>
        <p:spPr>
          <a:xfrm>
            <a:off x="10369450" y="3258844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30C0AEA-820E-4EE1-B5E8-3C9E6D8A64CD}"/>
              </a:ext>
            </a:extLst>
          </p:cNvPr>
          <p:cNvSpPr/>
          <p:nvPr/>
        </p:nvSpPr>
        <p:spPr>
          <a:xfrm>
            <a:off x="10369449" y="5485034"/>
            <a:ext cx="570191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0B3F160-597D-4932-87A5-CD21EA8C4A07}"/>
              </a:ext>
            </a:extLst>
          </p:cNvPr>
          <p:cNvSpPr/>
          <p:nvPr/>
        </p:nvSpPr>
        <p:spPr>
          <a:xfrm>
            <a:off x="10369449" y="5485035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4E4B58A-C998-4BAF-BD46-74A4E07CA10C}"/>
              </a:ext>
            </a:extLst>
          </p:cNvPr>
          <p:cNvSpPr/>
          <p:nvPr/>
        </p:nvSpPr>
        <p:spPr>
          <a:xfrm>
            <a:off x="10369449" y="5797681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8554467-C787-4593-806A-5564214B6CC4}"/>
              </a:ext>
            </a:extLst>
          </p:cNvPr>
          <p:cNvSpPr/>
          <p:nvPr/>
        </p:nvSpPr>
        <p:spPr>
          <a:xfrm>
            <a:off x="10369449" y="6413082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0847208-04B2-481C-8584-04ABE0DC0645}"/>
              </a:ext>
            </a:extLst>
          </p:cNvPr>
          <p:cNvSpPr/>
          <p:nvPr/>
        </p:nvSpPr>
        <p:spPr>
          <a:xfrm>
            <a:off x="10369449" y="6110329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D9576BE-B268-47CD-B8CB-898C30E6BF20}"/>
              </a:ext>
            </a:extLst>
          </p:cNvPr>
          <p:cNvSpPr/>
          <p:nvPr/>
        </p:nvSpPr>
        <p:spPr>
          <a:xfrm>
            <a:off x="10369449" y="3861828"/>
            <a:ext cx="570191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E45D0BF-04F7-4F1B-9014-B8882B3E00F7}"/>
              </a:ext>
            </a:extLst>
          </p:cNvPr>
          <p:cNvSpPr/>
          <p:nvPr/>
        </p:nvSpPr>
        <p:spPr>
          <a:xfrm>
            <a:off x="10369449" y="3861829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644B1BA-A866-40A8-85D8-A25E0CFDBF24}"/>
              </a:ext>
            </a:extLst>
          </p:cNvPr>
          <p:cNvSpPr/>
          <p:nvPr/>
        </p:nvSpPr>
        <p:spPr>
          <a:xfrm>
            <a:off x="10369449" y="4174475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495F579-D097-45D6-885E-85A8CE329E25}"/>
              </a:ext>
            </a:extLst>
          </p:cNvPr>
          <p:cNvSpPr/>
          <p:nvPr/>
        </p:nvSpPr>
        <p:spPr>
          <a:xfrm>
            <a:off x="10369449" y="4789876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57AEF6A-5341-4E7E-82DD-0BB4021DC863}"/>
              </a:ext>
            </a:extLst>
          </p:cNvPr>
          <p:cNvSpPr/>
          <p:nvPr/>
        </p:nvSpPr>
        <p:spPr>
          <a:xfrm>
            <a:off x="10369449" y="4487123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CFA0D95-D13E-46C2-A319-826194DBFC10}"/>
              </a:ext>
            </a:extLst>
          </p:cNvPr>
          <p:cNvSpPr/>
          <p:nvPr/>
        </p:nvSpPr>
        <p:spPr>
          <a:xfrm>
            <a:off x="10369449" y="162053"/>
            <a:ext cx="570191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0B8A708-6D27-4EE5-9557-D5574A874A7C}"/>
              </a:ext>
            </a:extLst>
          </p:cNvPr>
          <p:cNvSpPr/>
          <p:nvPr/>
        </p:nvSpPr>
        <p:spPr>
          <a:xfrm>
            <a:off x="10369449" y="162054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C682E5F-099A-4A8F-BEFB-0150E95CC031}"/>
              </a:ext>
            </a:extLst>
          </p:cNvPr>
          <p:cNvSpPr/>
          <p:nvPr/>
        </p:nvSpPr>
        <p:spPr>
          <a:xfrm>
            <a:off x="10369449" y="474700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3A79036-F08A-413E-93E0-4314C4FA4339}"/>
              </a:ext>
            </a:extLst>
          </p:cNvPr>
          <p:cNvSpPr/>
          <p:nvPr/>
        </p:nvSpPr>
        <p:spPr>
          <a:xfrm>
            <a:off x="10369449" y="1090101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6A34AC3-4614-404D-A9B2-950DEFB30227}"/>
              </a:ext>
            </a:extLst>
          </p:cNvPr>
          <p:cNvSpPr/>
          <p:nvPr/>
        </p:nvSpPr>
        <p:spPr>
          <a:xfrm>
            <a:off x="10369449" y="787348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B6C0C19-CE96-4CEF-88BB-5D563D5936CA}"/>
                  </a:ext>
                </a:extLst>
              </p:cNvPr>
              <p:cNvSpPr txBox="1"/>
              <p:nvPr/>
            </p:nvSpPr>
            <p:spPr>
              <a:xfrm>
                <a:off x="6600891" y="919429"/>
                <a:ext cx="1515291" cy="5600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d>
                            <m:d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B6C0C19-CE96-4CEF-88BB-5D563D5936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0891" y="919429"/>
                <a:ext cx="1515291" cy="56009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D97495C-027D-4B19-8556-592F90B9B53C}"/>
                  </a:ext>
                </a:extLst>
              </p:cNvPr>
              <p:cNvSpPr txBox="1"/>
              <p:nvPr/>
            </p:nvSpPr>
            <p:spPr>
              <a:xfrm>
                <a:off x="6600890" y="1542870"/>
                <a:ext cx="1515291" cy="5600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d>
                            <m:d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D97495C-027D-4B19-8556-592F90B9B5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0890" y="1542870"/>
                <a:ext cx="1515291" cy="56009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EBE435B-FC04-48CA-8B6D-1B51A3DA30F7}"/>
                  </a:ext>
                </a:extLst>
              </p:cNvPr>
              <p:cNvSpPr txBox="1"/>
              <p:nvPr/>
            </p:nvSpPr>
            <p:spPr>
              <a:xfrm>
                <a:off x="6600889" y="2166311"/>
                <a:ext cx="1515291" cy="5600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d>
                            <m:d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EBE435B-FC04-48CA-8B6D-1B51A3DA30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0889" y="2166311"/>
                <a:ext cx="1515291" cy="56009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0240BF14-9AFA-40C4-AE8F-931F358A0532}"/>
              </a:ext>
            </a:extLst>
          </p:cNvPr>
          <p:cNvCxnSpPr>
            <a:stCxn id="2" idx="3"/>
            <a:endCxn id="33" idx="1"/>
          </p:cNvCxnSpPr>
          <p:nvPr/>
        </p:nvCxnSpPr>
        <p:spPr>
          <a:xfrm flipV="1">
            <a:off x="8116182" y="626077"/>
            <a:ext cx="2253267" cy="57339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0F0F239-1554-49AD-89C3-F10DFA68AA3A}"/>
              </a:ext>
            </a:extLst>
          </p:cNvPr>
          <p:cNvCxnSpPr>
            <a:cxnSpLocks/>
            <a:stCxn id="36" idx="3"/>
            <a:endCxn id="24" idx="1"/>
          </p:cNvCxnSpPr>
          <p:nvPr/>
        </p:nvCxnSpPr>
        <p:spPr>
          <a:xfrm>
            <a:off x="8116181" y="1822915"/>
            <a:ext cx="2253268" cy="311833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9607E929-9FEC-468F-95F0-27996B07632B}"/>
              </a:ext>
            </a:extLst>
          </p:cNvPr>
          <p:cNvCxnSpPr>
            <a:cxnSpLocks/>
            <a:stCxn id="37" idx="3"/>
            <a:endCxn id="8" idx="1"/>
          </p:cNvCxnSpPr>
          <p:nvPr/>
        </p:nvCxnSpPr>
        <p:spPr>
          <a:xfrm>
            <a:off x="8116180" y="2446356"/>
            <a:ext cx="2253270" cy="2592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48683725-853E-4D65-9AF7-8FB8BC74EE69}"/>
                  </a:ext>
                </a:extLst>
              </p:cNvPr>
              <p:cNvSpPr txBox="1"/>
              <p:nvPr/>
            </p:nvSpPr>
            <p:spPr>
              <a:xfrm>
                <a:off x="6600888" y="3397112"/>
                <a:ext cx="1515291" cy="5600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d>
                            <m:d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48683725-853E-4D65-9AF7-8FB8BC74EE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0888" y="3397112"/>
                <a:ext cx="1515291" cy="56009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51A1596-B991-4EA1-8172-F227EE7D9CC6}"/>
                  </a:ext>
                </a:extLst>
              </p:cNvPr>
              <p:cNvSpPr txBox="1"/>
              <p:nvPr/>
            </p:nvSpPr>
            <p:spPr>
              <a:xfrm>
                <a:off x="6600887" y="4020553"/>
                <a:ext cx="1515291" cy="5600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d>
                            <m:d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51A1596-B991-4EA1-8172-F227EE7D9C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0887" y="4020553"/>
                <a:ext cx="1515291" cy="56009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975761BC-68EC-4A98-9D3F-751882FA9073}"/>
                  </a:ext>
                </a:extLst>
              </p:cNvPr>
              <p:cNvSpPr txBox="1"/>
              <p:nvPr/>
            </p:nvSpPr>
            <p:spPr>
              <a:xfrm>
                <a:off x="6600886" y="4643994"/>
                <a:ext cx="1515291" cy="5600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d>
                            <m:d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975761BC-68EC-4A98-9D3F-751882FA90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0886" y="4643994"/>
                <a:ext cx="1515291" cy="56009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1FF579D0-2996-4559-81A5-DE1B618CB8CA}"/>
              </a:ext>
            </a:extLst>
          </p:cNvPr>
          <p:cNvCxnSpPr>
            <a:stCxn id="38" idx="3"/>
          </p:cNvCxnSpPr>
          <p:nvPr/>
        </p:nvCxnSpPr>
        <p:spPr>
          <a:xfrm flipV="1">
            <a:off x="8116179" y="3103760"/>
            <a:ext cx="2253267" cy="57339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FCE34402-F84B-4D4B-9209-984EE92F7BCC}"/>
              </a:ext>
            </a:extLst>
          </p:cNvPr>
          <p:cNvCxnSpPr>
            <a:cxnSpLocks/>
            <a:stCxn id="41" idx="3"/>
            <a:endCxn id="14" idx="1"/>
          </p:cNvCxnSpPr>
          <p:nvPr/>
        </p:nvCxnSpPr>
        <p:spPr>
          <a:xfrm flipV="1">
            <a:off x="8116178" y="3712974"/>
            <a:ext cx="2253272" cy="58762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43242E62-6C30-4B6B-883D-247997FB4450}"/>
              </a:ext>
            </a:extLst>
          </p:cNvPr>
          <p:cNvCxnSpPr>
            <a:cxnSpLocks/>
            <a:stCxn id="42" idx="3"/>
            <a:endCxn id="33" idx="1"/>
          </p:cNvCxnSpPr>
          <p:nvPr/>
        </p:nvCxnSpPr>
        <p:spPr>
          <a:xfrm flipV="1">
            <a:off x="8116177" y="626077"/>
            <a:ext cx="2253272" cy="429796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F754602A-B71A-CE9F-3F2C-24CFA7FC02ED}"/>
              </a:ext>
            </a:extLst>
          </p:cNvPr>
          <p:cNvSpPr/>
          <p:nvPr/>
        </p:nvSpPr>
        <p:spPr>
          <a:xfrm>
            <a:off x="10333084" y="371956"/>
            <a:ext cx="680478" cy="543782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62612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44327" y="1324927"/>
                <a:ext cx="5518591" cy="5472983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How does a Bloom filter work?</a:t>
                </a:r>
              </a:p>
              <a:p>
                <a:r>
                  <a:rPr lang="en-US" dirty="0"/>
                  <a:t>Start with </a:t>
                </a:r>
                <a:r>
                  <a:rPr lang="en-US" b="1" dirty="0"/>
                  <a:t>bit array </a:t>
                </a:r>
                <a:r>
                  <a:rPr lang="en-US" dirty="0"/>
                  <a:t>of length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b="0" dirty="0"/>
                  <a:t> of all 0s</a:t>
                </a:r>
              </a:p>
              <a:p>
                <a:r>
                  <a:rPr lang="en-US" dirty="0"/>
                  <a:t>Use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hash functions to address bit locations  </a:t>
                </a:r>
              </a:p>
              <a:p>
                <a:r>
                  <a:rPr lang="en-US" dirty="0"/>
                  <a:t>Inserts turn the hashed bits to 1 </a:t>
                </a:r>
              </a:p>
              <a:p>
                <a:pPr lvl="1"/>
                <a:r>
                  <a:rPr lang="en-US" dirty="0"/>
                  <a:t>Insert event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Insert event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with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Can have hash collisions </a:t>
                </a:r>
              </a:p>
              <a:p>
                <a:r>
                  <a:rPr lang="en-US" dirty="0"/>
                  <a:t>Lookups use same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hash functions</a:t>
                </a:r>
              </a:p>
              <a:p>
                <a:pPr lvl="1"/>
                <a:r>
                  <a:rPr lang="en-US" dirty="0"/>
                  <a:t>Look up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No match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</m:oMath>
                </a14:m>
                <a:r>
                  <a:rPr lang="en-US" dirty="0"/>
                  <a:t> have not seen event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44327" y="1324927"/>
                <a:ext cx="5518591" cy="5472983"/>
              </a:xfrm>
              <a:blipFill>
                <a:blip r:embed="rId2"/>
                <a:stretch>
                  <a:fillRect l="-2208" t="-2450" r="-32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Filtering Event Data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E896BD-0B0D-4913-A3DA-C1D02C596658}"/>
              </a:ext>
            </a:extLst>
          </p:cNvPr>
          <p:cNvSpPr/>
          <p:nvPr/>
        </p:nvSpPr>
        <p:spPr>
          <a:xfrm>
            <a:off x="10369450" y="1392855"/>
            <a:ext cx="570190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D32689-AB05-4CF7-BD9E-FD91372C4673}"/>
              </a:ext>
            </a:extLst>
          </p:cNvPr>
          <p:cNvSpPr/>
          <p:nvPr/>
        </p:nvSpPr>
        <p:spPr>
          <a:xfrm>
            <a:off x="10369450" y="1392856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D83DCA-E3F0-4DFE-B14E-2108ED8F4A6A}"/>
              </a:ext>
            </a:extLst>
          </p:cNvPr>
          <p:cNvSpPr/>
          <p:nvPr/>
        </p:nvSpPr>
        <p:spPr>
          <a:xfrm>
            <a:off x="10369450" y="1705502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B3FB7A-1EB5-48AC-A874-E3CD4AFE1945}"/>
              </a:ext>
            </a:extLst>
          </p:cNvPr>
          <p:cNvSpPr/>
          <p:nvPr/>
        </p:nvSpPr>
        <p:spPr>
          <a:xfrm>
            <a:off x="10369450" y="2320903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19FA4E9-116F-47F2-ABAA-771BA2DAA19B}"/>
              </a:ext>
            </a:extLst>
          </p:cNvPr>
          <p:cNvSpPr/>
          <p:nvPr/>
        </p:nvSpPr>
        <p:spPr>
          <a:xfrm>
            <a:off x="10369450" y="2018150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AA4668-AE55-44C8-B0CB-719602161EC2}"/>
              </a:ext>
            </a:extLst>
          </p:cNvPr>
          <p:cNvSpPr/>
          <p:nvPr/>
        </p:nvSpPr>
        <p:spPr>
          <a:xfrm rot="5400000">
            <a:off x="10429791" y="4991372"/>
            <a:ext cx="449506" cy="570191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AA0621B-6066-488B-85BF-143C0468504B}"/>
              </a:ext>
            </a:extLst>
          </p:cNvPr>
          <p:cNvSpPr/>
          <p:nvPr/>
        </p:nvSpPr>
        <p:spPr>
          <a:xfrm>
            <a:off x="10369450" y="2633549"/>
            <a:ext cx="570190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C620371-B16E-4AD3-BE13-CE343CE1E0F9}"/>
              </a:ext>
            </a:extLst>
          </p:cNvPr>
          <p:cNvSpPr/>
          <p:nvPr/>
        </p:nvSpPr>
        <p:spPr>
          <a:xfrm>
            <a:off x="10369450" y="2633550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BD01237-B25E-4186-9190-F659E00E3ECA}"/>
              </a:ext>
            </a:extLst>
          </p:cNvPr>
          <p:cNvSpPr/>
          <p:nvPr/>
        </p:nvSpPr>
        <p:spPr>
          <a:xfrm>
            <a:off x="10369450" y="2946196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D79D90E-607B-4203-9D57-996723EE8B31}"/>
              </a:ext>
            </a:extLst>
          </p:cNvPr>
          <p:cNvSpPr/>
          <p:nvPr/>
        </p:nvSpPr>
        <p:spPr>
          <a:xfrm>
            <a:off x="10369450" y="3561597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6FB5D5F-7619-44CF-9F58-EC2252CB9287}"/>
              </a:ext>
            </a:extLst>
          </p:cNvPr>
          <p:cNvSpPr/>
          <p:nvPr/>
        </p:nvSpPr>
        <p:spPr>
          <a:xfrm>
            <a:off x="10369450" y="3258844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30C0AEA-820E-4EE1-B5E8-3C9E6D8A64CD}"/>
              </a:ext>
            </a:extLst>
          </p:cNvPr>
          <p:cNvSpPr/>
          <p:nvPr/>
        </p:nvSpPr>
        <p:spPr>
          <a:xfrm>
            <a:off x="10369449" y="5485034"/>
            <a:ext cx="570191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0B3F160-597D-4932-87A5-CD21EA8C4A07}"/>
              </a:ext>
            </a:extLst>
          </p:cNvPr>
          <p:cNvSpPr/>
          <p:nvPr/>
        </p:nvSpPr>
        <p:spPr>
          <a:xfrm>
            <a:off x="10369449" y="5485035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4E4B58A-C998-4BAF-BD46-74A4E07CA10C}"/>
              </a:ext>
            </a:extLst>
          </p:cNvPr>
          <p:cNvSpPr/>
          <p:nvPr/>
        </p:nvSpPr>
        <p:spPr>
          <a:xfrm>
            <a:off x="10369449" y="5797681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8554467-C787-4593-806A-5564214B6CC4}"/>
              </a:ext>
            </a:extLst>
          </p:cNvPr>
          <p:cNvSpPr/>
          <p:nvPr/>
        </p:nvSpPr>
        <p:spPr>
          <a:xfrm>
            <a:off x="10369449" y="6413082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0847208-04B2-481C-8584-04ABE0DC0645}"/>
              </a:ext>
            </a:extLst>
          </p:cNvPr>
          <p:cNvSpPr/>
          <p:nvPr/>
        </p:nvSpPr>
        <p:spPr>
          <a:xfrm>
            <a:off x="10369449" y="6110329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D9576BE-B268-47CD-B8CB-898C30E6BF20}"/>
              </a:ext>
            </a:extLst>
          </p:cNvPr>
          <p:cNvSpPr/>
          <p:nvPr/>
        </p:nvSpPr>
        <p:spPr>
          <a:xfrm>
            <a:off x="10369449" y="3861828"/>
            <a:ext cx="570191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E45D0BF-04F7-4F1B-9014-B8882B3E00F7}"/>
              </a:ext>
            </a:extLst>
          </p:cNvPr>
          <p:cNvSpPr/>
          <p:nvPr/>
        </p:nvSpPr>
        <p:spPr>
          <a:xfrm>
            <a:off x="10369449" y="3861829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644B1BA-A866-40A8-85D8-A25E0CFDBF24}"/>
              </a:ext>
            </a:extLst>
          </p:cNvPr>
          <p:cNvSpPr/>
          <p:nvPr/>
        </p:nvSpPr>
        <p:spPr>
          <a:xfrm>
            <a:off x="10369449" y="4174475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495F579-D097-45D6-885E-85A8CE329E25}"/>
              </a:ext>
            </a:extLst>
          </p:cNvPr>
          <p:cNvSpPr/>
          <p:nvPr/>
        </p:nvSpPr>
        <p:spPr>
          <a:xfrm>
            <a:off x="10369449" y="4789876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57AEF6A-5341-4E7E-82DD-0BB4021DC863}"/>
              </a:ext>
            </a:extLst>
          </p:cNvPr>
          <p:cNvSpPr/>
          <p:nvPr/>
        </p:nvSpPr>
        <p:spPr>
          <a:xfrm>
            <a:off x="10369449" y="4487123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CFA0D95-D13E-46C2-A319-826194DBFC10}"/>
              </a:ext>
            </a:extLst>
          </p:cNvPr>
          <p:cNvSpPr/>
          <p:nvPr/>
        </p:nvSpPr>
        <p:spPr>
          <a:xfrm>
            <a:off x="10369449" y="162053"/>
            <a:ext cx="570191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0B8A708-6D27-4EE5-9557-D5574A874A7C}"/>
              </a:ext>
            </a:extLst>
          </p:cNvPr>
          <p:cNvSpPr/>
          <p:nvPr/>
        </p:nvSpPr>
        <p:spPr>
          <a:xfrm>
            <a:off x="10369449" y="162054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C682E5F-099A-4A8F-BEFB-0150E95CC031}"/>
              </a:ext>
            </a:extLst>
          </p:cNvPr>
          <p:cNvSpPr/>
          <p:nvPr/>
        </p:nvSpPr>
        <p:spPr>
          <a:xfrm>
            <a:off x="10369449" y="474700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3A79036-F08A-413E-93E0-4314C4FA4339}"/>
              </a:ext>
            </a:extLst>
          </p:cNvPr>
          <p:cNvSpPr/>
          <p:nvPr/>
        </p:nvSpPr>
        <p:spPr>
          <a:xfrm>
            <a:off x="10369449" y="1090101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6A34AC3-4614-404D-A9B2-950DEFB30227}"/>
              </a:ext>
            </a:extLst>
          </p:cNvPr>
          <p:cNvSpPr/>
          <p:nvPr/>
        </p:nvSpPr>
        <p:spPr>
          <a:xfrm>
            <a:off x="10369449" y="787348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B6C0C19-CE96-4CEF-88BB-5D563D5936CA}"/>
                  </a:ext>
                </a:extLst>
              </p:cNvPr>
              <p:cNvSpPr txBox="1"/>
              <p:nvPr/>
            </p:nvSpPr>
            <p:spPr>
              <a:xfrm>
                <a:off x="6600891" y="919429"/>
                <a:ext cx="1515291" cy="5600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d>
                            <m:d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B6C0C19-CE96-4CEF-88BB-5D563D5936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0891" y="919429"/>
                <a:ext cx="1515291" cy="56009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D97495C-027D-4B19-8556-592F90B9B53C}"/>
                  </a:ext>
                </a:extLst>
              </p:cNvPr>
              <p:cNvSpPr txBox="1"/>
              <p:nvPr/>
            </p:nvSpPr>
            <p:spPr>
              <a:xfrm>
                <a:off x="6600890" y="1542870"/>
                <a:ext cx="1515291" cy="5600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d>
                            <m:d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D97495C-027D-4B19-8556-592F90B9B5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0890" y="1542870"/>
                <a:ext cx="1515291" cy="56009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EBE435B-FC04-48CA-8B6D-1B51A3DA30F7}"/>
                  </a:ext>
                </a:extLst>
              </p:cNvPr>
              <p:cNvSpPr txBox="1"/>
              <p:nvPr/>
            </p:nvSpPr>
            <p:spPr>
              <a:xfrm>
                <a:off x="6600889" y="2166311"/>
                <a:ext cx="1515291" cy="5600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d>
                            <m:d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EBE435B-FC04-48CA-8B6D-1B51A3DA30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0889" y="2166311"/>
                <a:ext cx="1515291" cy="56009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0240BF14-9AFA-40C4-AE8F-931F358A0532}"/>
              </a:ext>
            </a:extLst>
          </p:cNvPr>
          <p:cNvCxnSpPr>
            <a:cxnSpLocks/>
          </p:cNvCxnSpPr>
          <p:nvPr/>
        </p:nvCxnSpPr>
        <p:spPr>
          <a:xfrm>
            <a:off x="8116180" y="1199475"/>
            <a:ext cx="2253268" cy="132180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0F0F239-1554-49AD-89C3-F10DFA68AA3A}"/>
              </a:ext>
            </a:extLst>
          </p:cNvPr>
          <p:cNvCxnSpPr>
            <a:cxnSpLocks/>
            <a:stCxn id="36" idx="3"/>
            <a:endCxn id="23" idx="1"/>
          </p:cNvCxnSpPr>
          <p:nvPr/>
        </p:nvCxnSpPr>
        <p:spPr>
          <a:xfrm>
            <a:off x="8116181" y="1822915"/>
            <a:ext cx="2253268" cy="250293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9607E929-9FEC-468F-95F0-27996B07632B}"/>
              </a:ext>
            </a:extLst>
          </p:cNvPr>
          <p:cNvCxnSpPr>
            <a:cxnSpLocks/>
            <a:stCxn id="37" idx="3"/>
            <a:endCxn id="14" idx="1"/>
          </p:cNvCxnSpPr>
          <p:nvPr/>
        </p:nvCxnSpPr>
        <p:spPr>
          <a:xfrm>
            <a:off x="8116180" y="2446356"/>
            <a:ext cx="2253270" cy="126661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D249323B-20F4-4D26-B143-0F82D58B6578}"/>
              </a:ext>
            </a:extLst>
          </p:cNvPr>
          <p:cNvSpPr/>
          <p:nvPr/>
        </p:nvSpPr>
        <p:spPr>
          <a:xfrm>
            <a:off x="10314306" y="4053962"/>
            <a:ext cx="680478" cy="543782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97333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4412" y="1324928"/>
                <a:ext cx="10515600" cy="5533072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What are the properties of a Bloom filter? </a:t>
                </a:r>
                <a:endParaRPr lang="en-US" b="1" dirty="0"/>
              </a:p>
              <a:p>
                <a:r>
                  <a:rPr lang="en-US" dirty="0"/>
                  <a:t>Probability of false negative = 0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</m:oMath>
                </a14:m>
                <a:r>
                  <a:rPr lang="en-US" dirty="0"/>
                  <a:t> </a:t>
                </a:r>
                <a:r>
                  <a:rPr lang="en-US" b="1" dirty="0"/>
                  <a:t>no Type II Errors!</a:t>
                </a:r>
              </a:p>
              <a:p>
                <a:pPr lvl="1"/>
                <a:r>
                  <a:rPr lang="en-US" dirty="0"/>
                  <a:t>Any 0s from hash functions is negative result  </a:t>
                </a:r>
              </a:p>
              <a:p>
                <a:r>
                  <a:rPr lang="en-US" dirty="0"/>
                  <a:t>What is the probability of </a:t>
                </a:r>
                <a:r>
                  <a:rPr lang="en-US" b="1" dirty="0"/>
                  <a:t>Type I Error</a:t>
                </a:r>
                <a:r>
                  <a:rPr lang="en-US" dirty="0"/>
                  <a:t>, false positive? </a:t>
                </a:r>
              </a:p>
              <a:p>
                <a:pPr lvl="1"/>
                <a:r>
                  <a:rPr lang="en-US" dirty="0"/>
                  <a:t>For an ideal hash function the probability of selecting a bit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</a:p>
              <a:p>
                <a:pPr lvl="1"/>
                <a:r>
                  <a:rPr lang="en-US" dirty="0"/>
                  <a:t>The probability of no hash collision between 2 hashes: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𝑛𝑜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𝑐𝑜𝑙𝑙𝑖𝑠𝑖𝑜𝑛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lvl="1"/>
                <a:r>
                  <a:rPr lang="en-US" dirty="0"/>
                  <a:t>The probability of Type I Error,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dirty="0"/>
                  <a:t>, depends 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the number of items hashed and k the number of hashes 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∙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𝑛</m:t>
                                      </m:r>
                                    </m:num>
                                    <m:den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𝑚</m:t>
                                      </m:r>
                                    </m:den>
                                  </m:f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4412" y="1324928"/>
                <a:ext cx="10515600" cy="5533072"/>
              </a:xfrm>
              <a:blipFill>
                <a:blip r:embed="rId2"/>
                <a:stretch>
                  <a:fillRect l="-1217" t="-17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Filtering Event Data </a:t>
            </a:r>
          </a:p>
        </p:txBody>
      </p:sp>
    </p:spTree>
    <p:extLst>
      <p:ext uri="{BB962C8B-B14F-4D97-AF65-F5344CB8AC3E}">
        <p14:creationId xmlns:p14="http://schemas.microsoft.com/office/powerpoint/2010/main" val="3624387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BE0EE-5A73-46CA-7613-CC2BF059F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9F65E-2747-2F50-A9C4-2E990297A7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Filtering Discrete Events</a:t>
            </a:r>
            <a:br>
              <a:rPr lang="en-US" dirty="0"/>
            </a:br>
            <a:r>
              <a:rPr lang="en-US" dirty="0"/>
              <a:t>Quotient Filters</a:t>
            </a:r>
          </a:p>
        </p:txBody>
      </p:sp>
    </p:spTree>
    <p:extLst>
      <p:ext uri="{BB962C8B-B14F-4D97-AF65-F5344CB8AC3E}">
        <p14:creationId xmlns:p14="http://schemas.microsoft.com/office/powerpoint/2010/main" val="273391708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553307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Alternatives to Bloom filter</a:t>
            </a:r>
            <a:endParaRPr lang="en-US" b="1" dirty="0"/>
          </a:p>
          <a:p>
            <a:r>
              <a:rPr lang="en-US" dirty="0"/>
              <a:t>Variation capable of deletes: </a:t>
            </a:r>
          </a:p>
          <a:p>
            <a:pPr lvl="1"/>
            <a:r>
              <a:rPr lang="en-US" dirty="0"/>
              <a:t>Each bit location has a counter </a:t>
            </a:r>
          </a:p>
          <a:p>
            <a:pPr lvl="1"/>
            <a:r>
              <a:rPr lang="en-US" dirty="0"/>
              <a:t>When event type is deleted, a count is decremented from each hash location </a:t>
            </a:r>
          </a:p>
          <a:p>
            <a:r>
              <a:rPr lang="en-US" dirty="0">
                <a:hlinkClick r:id="rId3"/>
              </a:rPr>
              <a:t>Quotient filter </a:t>
            </a:r>
            <a:r>
              <a:rPr lang="en-US" dirty="0"/>
              <a:t>is a sketch using a more sophisticated hashing scheme  </a:t>
            </a:r>
          </a:p>
          <a:p>
            <a:pPr lvl="1"/>
            <a:r>
              <a:rPr lang="en-US" dirty="0"/>
              <a:t>Memory efficient     </a:t>
            </a:r>
          </a:p>
          <a:p>
            <a:pPr lvl="1"/>
            <a:r>
              <a:rPr lang="en-US" dirty="0"/>
              <a:t>Generally lower false positive rate</a:t>
            </a:r>
          </a:p>
          <a:p>
            <a:pPr lvl="1"/>
            <a:r>
              <a:rPr lang="en-US" dirty="0"/>
              <a:t>Manages counts in buckets</a:t>
            </a:r>
          </a:p>
          <a:p>
            <a:pPr lvl="1"/>
            <a:r>
              <a:rPr lang="en-US" dirty="0"/>
              <a:t>Better use of memory and computation compared to Bloom filter   </a:t>
            </a:r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000" dirty="0"/>
              <a:t>Find details for quotient filter in </a:t>
            </a:r>
            <a:r>
              <a:rPr lang="en-US" sz="2000" dirty="0">
                <a:hlinkClick r:id="rId4"/>
              </a:rPr>
              <a:t>Algorithms and Structures for Massive Data Sets, </a:t>
            </a:r>
            <a:r>
              <a:rPr lang="en-US" sz="2000" dirty="0" err="1">
                <a:hlinkClick r:id="rId4"/>
              </a:rPr>
              <a:t>Medjodovic</a:t>
            </a:r>
            <a:r>
              <a:rPr lang="en-US" sz="2000" dirty="0">
                <a:hlinkClick r:id="rId4"/>
              </a:rPr>
              <a:t>, et al., 2022, Manning</a:t>
            </a:r>
            <a:r>
              <a:rPr lang="en-US" sz="2000" dirty="0"/>
              <a:t>  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Filtering Event Data </a:t>
            </a:r>
          </a:p>
        </p:txBody>
      </p:sp>
    </p:spTree>
    <p:extLst>
      <p:ext uri="{BB962C8B-B14F-4D97-AF65-F5344CB8AC3E}">
        <p14:creationId xmlns:p14="http://schemas.microsoft.com/office/powerpoint/2010/main" val="3209979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91693"/>
            <a:ext cx="10515600" cy="6527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Quotient filter </a:t>
            </a:r>
            <a:r>
              <a:rPr lang="en-US" dirty="0"/>
              <a:t>is memory and computationally efficient  </a:t>
            </a:r>
            <a:endParaRPr lang="en-US" b="1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Filtering Event Data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Content Placeholder 2">
                <a:extLst>
                  <a:ext uri="{FF2B5EF4-FFF2-40B4-BE49-F238E27FC236}">
                    <a16:creationId xmlns:a16="http://schemas.microsoft.com/office/drawing/2014/main" id="{F7BB06DE-AF76-5C7D-05E6-A34A38F4FB5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2108747"/>
                <a:ext cx="4584405" cy="439650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/>
                  <a:t>Quotient filter is based on a binary hash function,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𝜉</m:t>
                        </m:r>
                      </m:e>
                    </m:d>
                  </m:oMath>
                </a14:m>
                <a:endParaRPr lang="en-US" b="0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Compute n bit binary hash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Divide the hash into a quotient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/>
                  <a:t> bits and a remainder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 bits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Content Placeholder 2">
                <a:extLst>
                  <a:ext uri="{FF2B5EF4-FFF2-40B4-BE49-F238E27FC236}">
                    <a16:creationId xmlns:a16="http://schemas.microsoft.com/office/drawing/2014/main" id="{F7BB06DE-AF76-5C7D-05E6-A34A38F4FB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108747"/>
                <a:ext cx="4584405" cy="4396501"/>
              </a:xfrm>
              <a:prstGeom prst="rect">
                <a:avLst/>
              </a:prstGeom>
              <a:blipFill>
                <a:blip r:embed="rId3"/>
                <a:stretch>
                  <a:fillRect l="-2793" t="-2358" r="-9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37">
            <a:extLst>
              <a:ext uri="{FF2B5EF4-FFF2-40B4-BE49-F238E27FC236}">
                <a16:creationId xmlns:a16="http://schemas.microsoft.com/office/drawing/2014/main" id="{4D62FC44-A2A7-E9F1-F5E0-8FA81D9B8C6E}"/>
              </a:ext>
            </a:extLst>
          </p:cNvPr>
          <p:cNvSpPr/>
          <p:nvPr/>
        </p:nvSpPr>
        <p:spPr>
          <a:xfrm>
            <a:off x="9046664" y="4713834"/>
            <a:ext cx="1258314" cy="6154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3D01093-BEC0-3B0F-1D0C-B275D419F783}"/>
              </a:ext>
            </a:extLst>
          </p:cNvPr>
          <p:cNvSpPr/>
          <p:nvPr/>
        </p:nvSpPr>
        <p:spPr>
          <a:xfrm>
            <a:off x="9039482" y="3203767"/>
            <a:ext cx="1258314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03928F68-B69A-E0DC-A2E0-864FC2FE7134}"/>
                  </a:ext>
                </a:extLst>
              </p:cNvPr>
              <p:cNvSpPr/>
              <p:nvPr/>
            </p:nvSpPr>
            <p:spPr>
              <a:xfrm>
                <a:off x="9039482" y="3203768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10001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03928F68-B69A-E0DC-A2E0-864FC2FE71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9482" y="3203768"/>
                <a:ext cx="1258314" cy="302753"/>
              </a:xfrm>
              <a:prstGeom prst="rect">
                <a:avLst/>
              </a:prstGeom>
              <a:blipFill>
                <a:blip r:embed="rId4"/>
                <a:stretch>
                  <a:fillRect b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390FE40D-BECF-5351-FBA8-BFDA3788858B}"/>
                  </a:ext>
                </a:extLst>
              </p:cNvPr>
              <p:cNvSpPr/>
              <p:nvPr/>
            </p:nvSpPr>
            <p:spPr>
              <a:xfrm>
                <a:off x="9039482" y="3516414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0011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390FE40D-BECF-5351-FBA8-BFDA378885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9482" y="3516414"/>
                <a:ext cx="1258314" cy="302753"/>
              </a:xfrm>
              <a:prstGeom prst="rect">
                <a:avLst/>
              </a:prstGeom>
              <a:blipFill>
                <a:blip r:embed="rId5"/>
                <a:stretch>
                  <a:fillRect b="-384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Rectangle 41">
            <a:extLst>
              <a:ext uri="{FF2B5EF4-FFF2-40B4-BE49-F238E27FC236}">
                <a16:creationId xmlns:a16="http://schemas.microsoft.com/office/drawing/2014/main" id="{E9ECC5E5-9AF4-79CA-DDCE-1658C0F7F285}"/>
              </a:ext>
            </a:extLst>
          </p:cNvPr>
          <p:cNvSpPr/>
          <p:nvPr/>
        </p:nvSpPr>
        <p:spPr>
          <a:xfrm>
            <a:off x="10304978" y="4713834"/>
            <a:ext cx="1258314" cy="6154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2422440-121D-2A57-8671-2F1587976B21}"/>
              </a:ext>
            </a:extLst>
          </p:cNvPr>
          <p:cNvSpPr/>
          <p:nvPr/>
        </p:nvSpPr>
        <p:spPr>
          <a:xfrm>
            <a:off x="10297796" y="3203767"/>
            <a:ext cx="1258314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9D84F680-5A48-63CA-EF4D-6BDEFBB7B1DD}"/>
                  </a:ext>
                </a:extLst>
              </p:cNvPr>
              <p:cNvSpPr/>
              <p:nvPr/>
            </p:nvSpPr>
            <p:spPr>
              <a:xfrm>
                <a:off x="10297796" y="3203768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001010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9D84F680-5A48-63CA-EF4D-6BDEFBB7B1D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7796" y="3203768"/>
                <a:ext cx="1258314" cy="302753"/>
              </a:xfrm>
              <a:prstGeom prst="rect">
                <a:avLst/>
              </a:prstGeom>
              <a:blipFill>
                <a:blip r:embed="rId6"/>
                <a:stretch>
                  <a:fillRect b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0BB20C77-8D4D-4F03-1936-9CA4D8096BBE}"/>
                  </a:ext>
                </a:extLst>
              </p:cNvPr>
              <p:cNvSpPr/>
              <p:nvPr/>
            </p:nvSpPr>
            <p:spPr>
              <a:xfrm>
                <a:off x="10297796" y="3516414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00111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0BB20C77-8D4D-4F03-1936-9CA4D8096BB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7796" y="3516414"/>
                <a:ext cx="1258314" cy="302753"/>
              </a:xfrm>
              <a:prstGeom prst="rect">
                <a:avLst/>
              </a:prstGeom>
              <a:blipFill>
                <a:blip r:embed="rId7"/>
                <a:stretch>
                  <a:fillRect b="-384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TextBox 45">
            <a:extLst>
              <a:ext uri="{FF2B5EF4-FFF2-40B4-BE49-F238E27FC236}">
                <a16:creationId xmlns:a16="http://schemas.microsoft.com/office/drawing/2014/main" id="{661E2A1F-FD64-F86F-692B-2AC09D0A3668}"/>
              </a:ext>
            </a:extLst>
          </p:cNvPr>
          <p:cNvSpPr txBox="1"/>
          <p:nvPr/>
        </p:nvSpPr>
        <p:spPr>
          <a:xfrm>
            <a:off x="8830341" y="2742102"/>
            <a:ext cx="14674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Quotient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E9EC40A-AB78-294E-B2FD-5C837DB923BB}"/>
              </a:ext>
            </a:extLst>
          </p:cNvPr>
          <p:cNvSpPr txBox="1"/>
          <p:nvPr/>
        </p:nvSpPr>
        <p:spPr>
          <a:xfrm>
            <a:off x="10297796" y="2759758"/>
            <a:ext cx="15468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Remainder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CEE7F517-072F-2426-E25C-13FC5E76A51D}"/>
                  </a:ext>
                </a:extLst>
              </p:cNvPr>
              <p:cNvSpPr txBox="1"/>
              <p:nvPr/>
            </p:nvSpPr>
            <p:spPr>
              <a:xfrm>
                <a:off x="5490345" y="3119693"/>
                <a:ext cx="35419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=10001001010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CEE7F517-072F-2426-E25C-13FC5E76A5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0345" y="3119693"/>
                <a:ext cx="3541955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FB388490-66DD-952D-AAB4-58D04E0B09B6}"/>
                  </a:ext>
                </a:extLst>
              </p:cNvPr>
              <p:cNvSpPr txBox="1"/>
              <p:nvPr/>
            </p:nvSpPr>
            <p:spPr>
              <a:xfrm>
                <a:off x="5497526" y="3439318"/>
                <a:ext cx="35419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=10011000111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FB388490-66DD-952D-AAB4-58D04E0B09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7526" y="3439318"/>
                <a:ext cx="3541955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F0CB97AA-66AD-0095-132B-DAB948E24B49}"/>
                  </a:ext>
                </a:extLst>
              </p:cNvPr>
              <p:cNvSpPr txBox="1"/>
              <p:nvPr/>
            </p:nvSpPr>
            <p:spPr>
              <a:xfrm>
                <a:off x="5497525" y="3757742"/>
                <a:ext cx="35419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=10011111111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F0CB97AA-66AD-0095-132B-DAB948E24B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7525" y="3757742"/>
                <a:ext cx="3541955" cy="46166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D18E624B-E579-5436-7EB2-628C7A025FDC}"/>
                  </a:ext>
                </a:extLst>
              </p:cNvPr>
              <p:cNvSpPr txBox="1"/>
              <p:nvPr/>
            </p:nvSpPr>
            <p:spPr>
              <a:xfrm>
                <a:off x="5462426" y="4342145"/>
                <a:ext cx="35419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=10101101101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D18E624B-E579-5436-7EB2-628C7A025F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2426" y="4342145"/>
                <a:ext cx="3541955" cy="461665"/>
              </a:xfrm>
              <a:prstGeom prst="rect">
                <a:avLst/>
              </a:prstGeom>
              <a:blipFill>
                <a:blip r:embed="rId11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6452341A-5733-FC80-D106-84686D532D0A}"/>
                  </a:ext>
                </a:extLst>
              </p:cNvPr>
              <p:cNvSpPr txBox="1"/>
              <p:nvPr/>
            </p:nvSpPr>
            <p:spPr>
              <a:xfrm>
                <a:off x="5504706" y="4685789"/>
                <a:ext cx="35419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=10110000111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6452341A-5733-FC80-D106-84686D532D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4706" y="4685789"/>
                <a:ext cx="3541955" cy="46166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02C6CE2B-1C18-11A4-040D-40E280747FDC}"/>
                  </a:ext>
                </a:extLst>
              </p:cNvPr>
              <p:cNvSpPr txBox="1"/>
              <p:nvPr/>
            </p:nvSpPr>
            <p:spPr>
              <a:xfrm>
                <a:off x="5511888" y="5016146"/>
                <a:ext cx="35419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=00111111110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02C6CE2B-1C18-11A4-040D-40E280747F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1888" y="5016146"/>
                <a:ext cx="3541955" cy="461665"/>
              </a:xfrm>
              <a:prstGeom prst="rect">
                <a:avLst/>
              </a:prstGeom>
              <a:blipFill>
                <a:blip r:embed="rId13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A046EAC1-C08B-30B3-111C-BA39CE495C9A}"/>
                  </a:ext>
                </a:extLst>
              </p:cNvPr>
              <p:cNvSpPr/>
              <p:nvPr/>
            </p:nvSpPr>
            <p:spPr>
              <a:xfrm>
                <a:off x="9039482" y="3816908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0011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A046EAC1-C08B-30B3-111C-BA39CE495C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9482" y="3816908"/>
                <a:ext cx="1258314" cy="302753"/>
              </a:xfrm>
              <a:prstGeom prst="rect">
                <a:avLst/>
              </a:prstGeom>
              <a:blipFill>
                <a:blip r:embed="rId14"/>
                <a:stretch>
                  <a:fillRect b="-384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DA3ACDC7-6695-E769-5586-ACAC09B06642}"/>
                  </a:ext>
                </a:extLst>
              </p:cNvPr>
              <p:cNvSpPr/>
              <p:nvPr/>
            </p:nvSpPr>
            <p:spPr>
              <a:xfrm>
                <a:off x="10318530" y="3824114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11111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DA3ACDC7-6695-E769-5586-ACAC09B066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18530" y="3824114"/>
                <a:ext cx="1258314" cy="302753"/>
              </a:xfrm>
              <a:prstGeom prst="rect">
                <a:avLst/>
              </a:prstGeom>
              <a:blipFill>
                <a:blip r:embed="rId15"/>
                <a:stretch>
                  <a:fillRect b="-57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21DF6716-E8C7-D543-F7B6-13CA3D21EC9F}"/>
                  </a:ext>
                </a:extLst>
              </p:cNvPr>
              <p:cNvSpPr/>
              <p:nvPr/>
            </p:nvSpPr>
            <p:spPr>
              <a:xfrm>
                <a:off x="9032300" y="4396665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0101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21DF6716-E8C7-D543-F7B6-13CA3D21EC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2300" y="4396665"/>
                <a:ext cx="1258314" cy="302753"/>
              </a:xfrm>
              <a:prstGeom prst="rect">
                <a:avLst/>
              </a:prstGeom>
              <a:blipFill>
                <a:blip r:embed="rId16"/>
                <a:stretch>
                  <a:fillRect b="-57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379C7BCE-D941-BE3F-B217-C852E2B52C4C}"/>
                  </a:ext>
                </a:extLst>
              </p:cNvPr>
              <p:cNvSpPr/>
              <p:nvPr/>
            </p:nvSpPr>
            <p:spPr>
              <a:xfrm>
                <a:off x="10297796" y="4402739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01101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379C7BCE-D941-BE3F-B217-C852E2B52C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7796" y="4402739"/>
                <a:ext cx="1258314" cy="302753"/>
              </a:xfrm>
              <a:prstGeom prst="rect">
                <a:avLst/>
              </a:prstGeom>
              <a:blipFill>
                <a:blip r:embed="rId17"/>
                <a:stretch>
                  <a:fillRect b="-57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9A1AD76F-2950-90B3-E42C-726B5C14DF79}"/>
                  </a:ext>
                </a:extLst>
              </p:cNvPr>
              <p:cNvSpPr/>
              <p:nvPr/>
            </p:nvSpPr>
            <p:spPr>
              <a:xfrm>
                <a:off x="10318530" y="4701124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000111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9A1AD76F-2950-90B3-E42C-726B5C14DF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18530" y="4701124"/>
                <a:ext cx="1258314" cy="302753"/>
              </a:xfrm>
              <a:prstGeom prst="rect">
                <a:avLst/>
              </a:prstGeom>
              <a:blipFill>
                <a:blip r:embed="rId18"/>
                <a:stretch>
                  <a:fillRect b="-57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365242A1-7750-5B18-70B1-8900BD907391}"/>
                  </a:ext>
                </a:extLst>
              </p:cNvPr>
              <p:cNvSpPr/>
              <p:nvPr/>
            </p:nvSpPr>
            <p:spPr>
              <a:xfrm>
                <a:off x="10332894" y="5021534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11110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365242A1-7750-5B18-70B1-8900BD90739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2894" y="5021534"/>
                <a:ext cx="1258314" cy="302753"/>
              </a:xfrm>
              <a:prstGeom prst="rect">
                <a:avLst/>
              </a:prstGeom>
              <a:blipFill>
                <a:blip r:embed="rId19"/>
                <a:stretch>
                  <a:fillRect b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E299E166-E0E1-C11C-556E-14CC0D113294}"/>
                  </a:ext>
                </a:extLst>
              </p:cNvPr>
              <p:cNvSpPr/>
              <p:nvPr/>
            </p:nvSpPr>
            <p:spPr>
              <a:xfrm>
                <a:off x="9060216" y="4740180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0110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E299E166-E0E1-C11C-556E-14CC0D11329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0216" y="4740180"/>
                <a:ext cx="1258314" cy="302753"/>
              </a:xfrm>
              <a:prstGeom prst="rect">
                <a:avLst/>
              </a:prstGeom>
              <a:blipFill>
                <a:blip r:embed="rId20"/>
                <a:stretch>
                  <a:fillRect b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D1D80592-E302-5163-7908-E0BC37482442}"/>
                  </a:ext>
                </a:extLst>
              </p:cNvPr>
              <p:cNvSpPr/>
              <p:nvPr/>
            </p:nvSpPr>
            <p:spPr>
              <a:xfrm>
                <a:off x="9081759" y="5044099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0111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D1D80592-E302-5163-7908-E0BC374824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1759" y="5044099"/>
                <a:ext cx="1258314" cy="302753"/>
              </a:xfrm>
              <a:prstGeom prst="rect">
                <a:avLst/>
              </a:prstGeom>
              <a:blipFill>
                <a:blip r:embed="rId21"/>
                <a:stretch>
                  <a:fillRect b="-57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6443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/>
      <p:bldP spid="47" grpId="0"/>
      <p:bldP spid="48" grpId="0"/>
      <p:bldP spid="49" grpId="0"/>
      <p:bldP spid="50" grpId="0"/>
      <p:bldP spid="51" grpId="0"/>
      <p:bldP spid="52" grpId="0"/>
      <p:bldP spid="53" grpId="0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1005"/>
            <a:ext cx="10515600" cy="6527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Quotient filter is memory and computationally efficient  </a:t>
            </a:r>
            <a:endParaRPr lang="en-US" b="1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Filtering Event Data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A1A2ED5-7137-E3B3-7B38-B32CF29A670F}"/>
              </a:ext>
            </a:extLst>
          </p:cNvPr>
          <p:cNvSpPr/>
          <p:nvPr/>
        </p:nvSpPr>
        <p:spPr>
          <a:xfrm>
            <a:off x="9046664" y="4713834"/>
            <a:ext cx="1258314" cy="6154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716C91A-4CB9-AACD-04C5-986072932429}"/>
              </a:ext>
            </a:extLst>
          </p:cNvPr>
          <p:cNvSpPr/>
          <p:nvPr/>
        </p:nvSpPr>
        <p:spPr>
          <a:xfrm>
            <a:off x="9039482" y="3203767"/>
            <a:ext cx="1258314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D51F7936-A5D8-7176-488C-51D50E8BC8B2}"/>
                  </a:ext>
                </a:extLst>
              </p:cNvPr>
              <p:cNvSpPr/>
              <p:nvPr/>
            </p:nvSpPr>
            <p:spPr>
              <a:xfrm>
                <a:off x="9039482" y="3203768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10001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D51F7936-A5D8-7176-488C-51D50E8BC8B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9482" y="3203768"/>
                <a:ext cx="1258314" cy="302753"/>
              </a:xfrm>
              <a:prstGeom prst="rect">
                <a:avLst/>
              </a:prstGeom>
              <a:blipFill>
                <a:blip r:embed="rId3"/>
                <a:stretch>
                  <a:fillRect b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86F8819D-7542-9CF1-1BE4-CE0FE65700FF}"/>
                  </a:ext>
                </a:extLst>
              </p:cNvPr>
              <p:cNvSpPr/>
              <p:nvPr/>
            </p:nvSpPr>
            <p:spPr>
              <a:xfrm>
                <a:off x="9039482" y="3516414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0011</m:t>
                      </m:r>
                    </m:oMath>
                  </m:oMathPara>
                </a14:m>
                <a:endParaRPr lang="en-US" sz="2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86F8819D-7542-9CF1-1BE4-CE0FE65700F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9482" y="3516414"/>
                <a:ext cx="1258314" cy="302753"/>
              </a:xfrm>
              <a:prstGeom prst="rect">
                <a:avLst/>
              </a:prstGeom>
              <a:blipFill>
                <a:blip r:embed="rId4"/>
                <a:stretch>
                  <a:fillRect b="-384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27089B98-C466-A9BF-F229-9C1D30667252}"/>
              </a:ext>
            </a:extLst>
          </p:cNvPr>
          <p:cNvSpPr/>
          <p:nvPr/>
        </p:nvSpPr>
        <p:spPr>
          <a:xfrm>
            <a:off x="10304978" y="4713834"/>
            <a:ext cx="1258314" cy="6154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D216362-217E-AF7F-21CD-915F8D515D43}"/>
              </a:ext>
            </a:extLst>
          </p:cNvPr>
          <p:cNvSpPr/>
          <p:nvPr/>
        </p:nvSpPr>
        <p:spPr>
          <a:xfrm>
            <a:off x="10297796" y="3203767"/>
            <a:ext cx="1258314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C29F09C5-7C7F-8077-4383-9EBE2365993D}"/>
                  </a:ext>
                </a:extLst>
              </p:cNvPr>
              <p:cNvSpPr/>
              <p:nvPr/>
            </p:nvSpPr>
            <p:spPr>
              <a:xfrm>
                <a:off x="10297796" y="3203768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001010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C29F09C5-7C7F-8077-4383-9EBE2365993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7796" y="3203768"/>
                <a:ext cx="1258314" cy="302753"/>
              </a:xfrm>
              <a:prstGeom prst="rect">
                <a:avLst/>
              </a:prstGeom>
              <a:blipFill>
                <a:blip r:embed="rId5"/>
                <a:stretch>
                  <a:fillRect b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9C29514F-F3C9-BBB8-A2B4-3BB1D4EF6492}"/>
                  </a:ext>
                </a:extLst>
              </p:cNvPr>
              <p:cNvSpPr/>
              <p:nvPr/>
            </p:nvSpPr>
            <p:spPr>
              <a:xfrm>
                <a:off x="10297796" y="3516414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00111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9C29514F-F3C9-BBB8-A2B4-3BB1D4EF64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7796" y="3516414"/>
                <a:ext cx="1258314" cy="302753"/>
              </a:xfrm>
              <a:prstGeom prst="rect">
                <a:avLst/>
              </a:prstGeom>
              <a:blipFill>
                <a:blip r:embed="rId6"/>
                <a:stretch>
                  <a:fillRect b="-384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18BCA582-5571-F9C0-080D-242BB9368D06}"/>
              </a:ext>
            </a:extLst>
          </p:cNvPr>
          <p:cNvSpPr txBox="1"/>
          <p:nvPr/>
        </p:nvSpPr>
        <p:spPr>
          <a:xfrm>
            <a:off x="8830341" y="2742102"/>
            <a:ext cx="14674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Quotient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290D569-3207-94ED-A8A6-D0C7C7F6C588}"/>
              </a:ext>
            </a:extLst>
          </p:cNvPr>
          <p:cNvSpPr txBox="1"/>
          <p:nvPr/>
        </p:nvSpPr>
        <p:spPr>
          <a:xfrm>
            <a:off x="10297796" y="2759758"/>
            <a:ext cx="15468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Remainder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FADB48E-AA00-7D79-F51C-FC01BC23D0FD}"/>
                  </a:ext>
                </a:extLst>
              </p:cNvPr>
              <p:cNvSpPr txBox="1"/>
              <p:nvPr/>
            </p:nvSpPr>
            <p:spPr>
              <a:xfrm>
                <a:off x="5490345" y="3119693"/>
                <a:ext cx="35419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=10001001010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FADB48E-AA00-7D79-F51C-FC01BC23D0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0345" y="3119693"/>
                <a:ext cx="3541955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69EC445-7BD5-E65C-AC22-71FCA044B527}"/>
                  </a:ext>
                </a:extLst>
              </p:cNvPr>
              <p:cNvSpPr txBox="1"/>
              <p:nvPr/>
            </p:nvSpPr>
            <p:spPr>
              <a:xfrm>
                <a:off x="5497526" y="3439318"/>
                <a:ext cx="35419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=10011000111</m:t>
                      </m:r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69EC445-7BD5-E65C-AC22-71FCA044B5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7526" y="3439318"/>
                <a:ext cx="3541955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40D8508-854A-9B43-1631-58D3DE46B0E4}"/>
                  </a:ext>
                </a:extLst>
              </p:cNvPr>
              <p:cNvSpPr txBox="1"/>
              <p:nvPr/>
            </p:nvSpPr>
            <p:spPr>
              <a:xfrm>
                <a:off x="5497525" y="3757742"/>
                <a:ext cx="35419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=10011111111</m:t>
                      </m:r>
                      <m:r>
                        <a:rPr lang="en-US" sz="2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40D8508-854A-9B43-1631-58D3DE46B0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7525" y="3757742"/>
                <a:ext cx="3541955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3867577-69FA-B397-29FF-4F6427C33C4E}"/>
                  </a:ext>
                </a:extLst>
              </p:cNvPr>
              <p:cNvSpPr txBox="1"/>
              <p:nvPr/>
            </p:nvSpPr>
            <p:spPr>
              <a:xfrm>
                <a:off x="5462426" y="4342145"/>
                <a:ext cx="35419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=10101101101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3867577-69FA-B397-29FF-4F6427C33C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2426" y="4342145"/>
                <a:ext cx="3541955" cy="461665"/>
              </a:xfrm>
              <a:prstGeom prst="rect">
                <a:avLst/>
              </a:prstGeom>
              <a:blipFill>
                <a:blip r:embed="rId10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048E63F-6662-6A37-3BE1-3BE0610493E9}"/>
                  </a:ext>
                </a:extLst>
              </p:cNvPr>
              <p:cNvSpPr txBox="1"/>
              <p:nvPr/>
            </p:nvSpPr>
            <p:spPr>
              <a:xfrm>
                <a:off x="5504706" y="4685789"/>
                <a:ext cx="35419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=10110000111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048E63F-6662-6A37-3BE1-3BE0610493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4706" y="4685789"/>
                <a:ext cx="3541955" cy="46166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E3F5B14-46B0-CDD7-C381-D77CFE74D674}"/>
                  </a:ext>
                </a:extLst>
              </p:cNvPr>
              <p:cNvSpPr txBox="1"/>
              <p:nvPr/>
            </p:nvSpPr>
            <p:spPr>
              <a:xfrm>
                <a:off x="5511888" y="5016146"/>
                <a:ext cx="35419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=00111111110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E3F5B14-46B0-CDD7-C381-D77CFE74D6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1888" y="5016146"/>
                <a:ext cx="3541955" cy="461665"/>
              </a:xfrm>
              <a:prstGeom prst="rect">
                <a:avLst/>
              </a:prstGeom>
              <a:blipFill>
                <a:blip r:embed="rId12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6A0F1591-61C1-1B72-654E-EEA77C6B9058}"/>
                  </a:ext>
                </a:extLst>
              </p:cNvPr>
              <p:cNvSpPr/>
              <p:nvPr/>
            </p:nvSpPr>
            <p:spPr>
              <a:xfrm>
                <a:off x="9039482" y="3816908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0011</m:t>
                      </m:r>
                    </m:oMath>
                  </m:oMathPara>
                </a14:m>
                <a:endParaRPr lang="en-US" sz="2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6A0F1591-61C1-1B72-654E-EEA77C6B90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9482" y="3816908"/>
                <a:ext cx="1258314" cy="302753"/>
              </a:xfrm>
              <a:prstGeom prst="rect">
                <a:avLst/>
              </a:prstGeom>
              <a:blipFill>
                <a:blip r:embed="rId13"/>
                <a:stretch>
                  <a:fillRect b="-384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40B77091-AD9C-C4FB-A2F3-5779CC6E0A78}"/>
                  </a:ext>
                </a:extLst>
              </p:cNvPr>
              <p:cNvSpPr/>
              <p:nvPr/>
            </p:nvSpPr>
            <p:spPr>
              <a:xfrm>
                <a:off x="10318530" y="3824114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11111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40B77091-AD9C-C4FB-A2F3-5779CC6E0A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18530" y="3824114"/>
                <a:ext cx="1258314" cy="302753"/>
              </a:xfrm>
              <a:prstGeom prst="rect">
                <a:avLst/>
              </a:prstGeom>
              <a:blipFill>
                <a:blip r:embed="rId14"/>
                <a:stretch>
                  <a:fillRect b="-57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C79157E9-78A6-A557-F812-7D605B4AB627}"/>
                  </a:ext>
                </a:extLst>
              </p:cNvPr>
              <p:cNvSpPr/>
              <p:nvPr/>
            </p:nvSpPr>
            <p:spPr>
              <a:xfrm>
                <a:off x="9032300" y="4396665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0101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C79157E9-78A6-A557-F812-7D605B4AB6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2300" y="4396665"/>
                <a:ext cx="1258314" cy="302753"/>
              </a:xfrm>
              <a:prstGeom prst="rect">
                <a:avLst/>
              </a:prstGeom>
              <a:blipFill>
                <a:blip r:embed="rId15"/>
                <a:stretch>
                  <a:fillRect b="-57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4147BB53-2AFE-724F-D819-A269C0A9E63B}"/>
                  </a:ext>
                </a:extLst>
              </p:cNvPr>
              <p:cNvSpPr/>
              <p:nvPr/>
            </p:nvSpPr>
            <p:spPr>
              <a:xfrm>
                <a:off x="10297796" y="4402739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01101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4147BB53-2AFE-724F-D819-A269C0A9E63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7796" y="4402739"/>
                <a:ext cx="1258314" cy="302753"/>
              </a:xfrm>
              <a:prstGeom prst="rect">
                <a:avLst/>
              </a:prstGeom>
              <a:blipFill>
                <a:blip r:embed="rId16"/>
                <a:stretch>
                  <a:fillRect b="-57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C4B3FA7E-3659-EAC3-27B0-AE1936003D71}"/>
                  </a:ext>
                </a:extLst>
              </p:cNvPr>
              <p:cNvSpPr/>
              <p:nvPr/>
            </p:nvSpPr>
            <p:spPr>
              <a:xfrm>
                <a:off x="10318530" y="4701124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000111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C4B3FA7E-3659-EAC3-27B0-AE1936003D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18530" y="4701124"/>
                <a:ext cx="1258314" cy="302753"/>
              </a:xfrm>
              <a:prstGeom prst="rect">
                <a:avLst/>
              </a:prstGeom>
              <a:blipFill>
                <a:blip r:embed="rId17"/>
                <a:stretch>
                  <a:fillRect b="-57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9DD3CE7B-A7DD-07B8-86DE-48F42DC27198}"/>
                  </a:ext>
                </a:extLst>
              </p:cNvPr>
              <p:cNvSpPr/>
              <p:nvPr/>
            </p:nvSpPr>
            <p:spPr>
              <a:xfrm>
                <a:off x="10332894" y="5021534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11110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9DD3CE7B-A7DD-07B8-86DE-48F42DC271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2894" y="5021534"/>
                <a:ext cx="1258314" cy="302753"/>
              </a:xfrm>
              <a:prstGeom prst="rect">
                <a:avLst/>
              </a:prstGeom>
              <a:blipFill>
                <a:blip r:embed="rId18"/>
                <a:stretch>
                  <a:fillRect b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DC78AF52-B701-C7A7-3235-7826B4EF1A39}"/>
                  </a:ext>
                </a:extLst>
              </p:cNvPr>
              <p:cNvSpPr/>
              <p:nvPr/>
            </p:nvSpPr>
            <p:spPr>
              <a:xfrm>
                <a:off x="9060216" y="4740180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0110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DC78AF52-B701-C7A7-3235-7826B4EF1A3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0216" y="4740180"/>
                <a:ext cx="1258314" cy="302753"/>
              </a:xfrm>
              <a:prstGeom prst="rect">
                <a:avLst/>
              </a:prstGeom>
              <a:blipFill>
                <a:blip r:embed="rId19"/>
                <a:stretch>
                  <a:fillRect b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08AD32B2-7B89-1F2C-EFCB-893AC922ED52}"/>
                  </a:ext>
                </a:extLst>
              </p:cNvPr>
              <p:cNvSpPr/>
              <p:nvPr/>
            </p:nvSpPr>
            <p:spPr>
              <a:xfrm>
                <a:off x="9081759" y="5044099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0111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08AD32B2-7B89-1F2C-EFCB-893AC922ED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1759" y="5044099"/>
                <a:ext cx="1258314" cy="302753"/>
              </a:xfrm>
              <a:prstGeom prst="rect">
                <a:avLst/>
              </a:prstGeom>
              <a:blipFill>
                <a:blip r:embed="rId20"/>
                <a:stretch>
                  <a:fillRect b="-57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F7BB06DE-AF76-5C7D-05E6-A34A38F4FB53}"/>
              </a:ext>
            </a:extLst>
          </p:cNvPr>
          <p:cNvSpPr txBox="1">
            <a:spLocks/>
          </p:cNvSpPr>
          <p:nvPr/>
        </p:nvSpPr>
        <p:spPr>
          <a:xfrm>
            <a:off x="838200" y="2108747"/>
            <a:ext cx="4584405" cy="43965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 </a:t>
            </a:r>
            <a:r>
              <a:rPr lang="en-US" b="1" dirty="0"/>
              <a:t>quotient</a:t>
            </a:r>
            <a:r>
              <a:rPr lang="en-US" dirty="0"/>
              <a:t> defines a hash bucket</a:t>
            </a:r>
          </a:p>
          <a:p>
            <a:r>
              <a:rPr lang="en-US" dirty="0"/>
              <a:t>The </a:t>
            </a:r>
            <a:r>
              <a:rPr lang="en-US" b="1" dirty="0"/>
              <a:t>remainder</a:t>
            </a:r>
            <a:r>
              <a:rPr lang="en-US" dirty="0"/>
              <a:t> is the value </a:t>
            </a:r>
          </a:p>
          <a:p>
            <a:r>
              <a:rPr lang="en-US" dirty="0"/>
              <a:t>Notice the </a:t>
            </a:r>
            <a:r>
              <a:rPr lang="en-US" b="1" dirty="0"/>
              <a:t>hash collision 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BD66A78-8121-2A8B-4F8C-6E12C4E60EA9}"/>
              </a:ext>
            </a:extLst>
          </p:cNvPr>
          <p:cNvCxnSpPr>
            <a:cxnSpLocks/>
          </p:cNvCxnSpPr>
          <p:nvPr/>
        </p:nvCxnSpPr>
        <p:spPr>
          <a:xfrm>
            <a:off x="4864395" y="3816908"/>
            <a:ext cx="821297" cy="7206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117322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55330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Quotient filter </a:t>
            </a:r>
            <a:r>
              <a:rPr lang="en-US" dirty="0"/>
              <a:t>is memory and computationally efficient  </a:t>
            </a:r>
          </a:p>
          <a:p>
            <a:r>
              <a:rPr lang="en-US" dirty="0"/>
              <a:t>Two key concepts used to manage hash collisions in quotient filters</a:t>
            </a:r>
          </a:p>
          <a:p>
            <a:r>
              <a:rPr lang="en-US" dirty="0"/>
              <a:t>A </a:t>
            </a:r>
            <a:r>
              <a:rPr lang="en-US" b="1" dirty="0"/>
              <a:t>run</a:t>
            </a:r>
            <a:r>
              <a:rPr lang="en-US" dirty="0"/>
              <a:t> is a consecutive sequence of slots occupied with remainders with the same quotient</a:t>
            </a:r>
          </a:p>
          <a:p>
            <a:r>
              <a:rPr lang="en-US" dirty="0"/>
              <a:t>A  </a:t>
            </a:r>
            <a:r>
              <a:rPr lang="en-US" b="1" dirty="0"/>
              <a:t>cluster</a:t>
            </a:r>
            <a:r>
              <a:rPr lang="en-US" dirty="0"/>
              <a:t> is a continuous sequence of one or more runs </a:t>
            </a:r>
          </a:p>
          <a:p>
            <a:pPr lvl="1"/>
            <a:r>
              <a:rPr lang="en-US" dirty="0"/>
              <a:t>Performance of quotient filter relies on the empirical evidence for the prevalence of short clusters    </a:t>
            </a:r>
          </a:p>
          <a:p>
            <a:r>
              <a:rPr lang="en-US" b="1" dirty="0"/>
              <a:t>Linear probing </a:t>
            </a:r>
            <a:r>
              <a:rPr lang="en-US" dirty="0"/>
              <a:t>is used to find open slots for remainders  </a:t>
            </a:r>
          </a:p>
          <a:p>
            <a:pPr lvl="1"/>
            <a:r>
              <a:rPr lang="en-US" dirty="0"/>
              <a:t>Stored consecutively  </a:t>
            </a:r>
          </a:p>
          <a:p>
            <a:pPr lvl="1"/>
            <a:r>
              <a:rPr lang="en-US" dirty="0"/>
              <a:t>Stored in sort order to improve search efficiency  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Filtering Event Data </a:t>
            </a:r>
          </a:p>
        </p:txBody>
      </p:sp>
    </p:spTree>
    <p:extLst>
      <p:ext uri="{BB962C8B-B14F-4D97-AF65-F5344CB8AC3E}">
        <p14:creationId xmlns:p14="http://schemas.microsoft.com/office/powerpoint/2010/main" val="391244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4109"/>
            <a:ext cx="10515600" cy="6527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Quotient filter is memory and computationally efficient  </a:t>
            </a:r>
            <a:endParaRPr lang="en-US" b="1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Filtering Event Data </a:t>
            </a:r>
          </a:p>
        </p:txBody>
      </p: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F7BB06DE-AF76-5C7D-05E6-A34A38F4FB53}"/>
              </a:ext>
            </a:extLst>
          </p:cNvPr>
          <p:cNvSpPr txBox="1">
            <a:spLocks/>
          </p:cNvSpPr>
          <p:nvPr/>
        </p:nvSpPr>
        <p:spPr>
          <a:xfrm>
            <a:off x="800986" y="1716837"/>
            <a:ext cx="7027336" cy="49657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Quotient filters use three bits to manage linear probing to resolve hash collisions</a:t>
            </a:r>
          </a:p>
          <a:p>
            <a:r>
              <a:rPr lang="en-US" b="1" dirty="0"/>
              <a:t>Run Continued </a:t>
            </a:r>
            <a:r>
              <a:rPr lang="en-US" dirty="0"/>
              <a:t>bit is set when the slot is occupied but not the first element of the run   </a:t>
            </a:r>
          </a:p>
          <a:p>
            <a:r>
              <a:rPr lang="en-US" b="1" dirty="0"/>
              <a:t>Is Occupied</a:t>
            </a:r>
            <a:r>
              <a:rPr lang="en-US" dirty="0"/>
              <a:t> bit is set when the slot is occupied by a different hash from another location   </a:t>
            </a:r>
          </a:p>
          <a:p>
            <a:r>
              <a:rPr lang="en-US" b="1" dirty="0"/>
              <a:t>Is Shifted </a:t>
            </a:r>
            <a:r>
              <a:rPr lang="en-US" dirty="0"/>
              <a:t>bit is set to indicate the value in the slot is from another bucket   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3BE99404-657D-559A-AF18-072825E704C3}"/>
                  </a:ext>
                </a:extLst>
              </p:cNvPr>
              <p:cNvSpPr/>
              <p:nvPr/>
            </p:nvSpPr>
            <p:spPr>
              <a:xfrm>
                <a:off x="8793669" y="4148491"/>
                <a:ext cx="426566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3BE99404-657D-559A-AF18-072825E704C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3669" y="4148491"/>
                <a:ext cx="426566" cy="302753"/>
              </a:xfrm>
              <a:prstGeom prst="rect">
                <a:avLst/>
              </a:prstGeom>
              <a:blipFill>
                <a:blip r:embed="rId3"/>
                <a:stretch>
                  <a:fillRect b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81230471-0A69-E963-8702-CB79BF6C2699}"/>
              </a:ext>
            </a:extLst>
          </p:cNvPr>
          <p:cNvSpPr txBox="1"/>
          <p:nvPr/>
        </p:nvSpPr>
        <p:spPr>
          <a:xfrm rot="5400000">
            <a:off x="7410666" y="2735298"/>
            <a:ext cx="23925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/>
              <a:t>Bucket Occupied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0CBEC5-BF46-5AC2-8E58-F27735CC7316}"/>
              </a:ext>
            </a:extLst>
          </p:cNvPr>
          <p:cNvSpPr txBox="1"/>
          <p:nvPr/>
        </p:nvSpPr>
        <p:spPr>
          <a:xfrm rot="5400000">
            <a:off x="7028203" y="2913631"/>
            <a:ext cx="23925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Run Continued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51E5A3-F557-7642-DFF2-C8DF2CCB676B}"/>
              </a:ext>
            </a:extLst>
          </p:cNvPr>
          <p:cNvSpPr txBox="1"/>
          <p:nvPr/>
        </p:nvSpPr>
        <p:spPr>
          <a:xfrm rot="5400000">
            <a:off x="8238740" y="3151919"/>
            <a:ext cx="14598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/>
              <a:t>Is Shifted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97F0162-A5E3-662F-F3CE-88BDFCD09CFA}"/>
              </a:ext>
            </a:extLst>
          </p:cNvPr>
          <p:cNvSpPr/>
          <p:nvPr/>
        </p:nvSpPr>
        <p:spPr>
          <a:xfrm>
            <a:off x="9241781" y="5375059"/>
            <a:ext cx="1258314" cy="6154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A475C2D-116A-B744-97CC-6AAFE2083577}"/>
              </a:ext>
            </a:extLst>
          </p:cNvPr>
          <p:cNvSpPr/>
          <p:nvPr/>
        </p:nvSpPr>
        <p:spPr>
          <a:xfrm>
            <a:off x="9227417" y="4151145"/>
            <a:ext cx="1258314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411030F3-F102-225A-4BC0-A34F8A31B88A}"/>
                  </a:ext>
                </a:extLst>
              </p:cNvPr>
              <p:cNvSpPr/>
              <p:nvPr/>
            </p:nvSpPr>
            <p:spPr>
              <a:xfrm>
                <a:off x="9227417" y="4151146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10001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411030F3-F102-225A-4BC0-A34F8A31B88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7417" y="4151146"/>
                <a:ext cx="1258314" cy="302753"/>
              </a:xfrm>
              <a:prstGeom prst="rect">
                <a:avLst/>
              </a:prstGeom>
              <a:blipFill>
                <a:blip r:embed="rId4"/>
                <a:stretch>
                  <a:fillRect b="-384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D2A74668-3870-E422-4CC3-1E31EB5980F5}"/>
                  </a:ext>
                </a:extLst>
              </p:cNvPr>
              <p:cNvSpPr/>
              <p:nvPr/>
            </p:nvSpPr>
            <p:spPr>
              <a:xfrm>
                <a:off x="9227417" y="4463792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0011</m:t>
                      </m:r>
                    </m:oMath>
                  </m:oMathPara>
                </a14:m>
                <a:endParaRPr lang="en-US" sz="2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D2A74668-3870-E422-4CC3-1E31EB5980F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7417" y="4463792"/>
                <a:ext cx="1258314" cy="302753"/>
              </a:xfrm>
              <a:prstGeom prst="rect">
                <a:avLst/>
              </a:prstGeom>
              <a:blipFill>
                <a:blip r:embed="rId5"/>
                <a:stretch>
                  <a:fillRect b="-57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37">
            <a:extLst>
              <a:ext uri="{FF2B5EF4-FFF2-40B4-BE49-F238E27FC236}">
                <a16:creationId xmlns:a16="http://schemas.microsoft.com/office/drawing/2014/main" id="{D9B76409-1D02-CB61-6B1C-FBD3E9F074BC}"/>
              </a:ext>
            </a:extLst>
          </p:cNvPr>
          <p:cNvSpPr/>
          <p:nvPr/>
        </p:nvSpPr>
        <p:spPr>
          <a:xfrm>
            <a:off x="10500095" y="5375059"/>
            <a:ext cx="1258314" cy="6154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B78C94E-6974-B282-16DE-A26B9A7C97F4}"/>
              </a:ext>
            </a:extLst>
          </p:cNvPr>
          <p:cNvSpPr/>
          <p:nvPr/>
        </p:nvSpPr>
        <p:spPr>
          <a:xfrm>
            <a:off x="10485731" y="4151145"/>
            <a:ext cx="1258314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88761BAE-DB02-30ED-5AF7-35257A784926}"/>
                  </a:ext>
                </a:extLst>
              </p:cNvPr>
              <p:cNvSpPr/>
              <p:nvPr/>
            </p:nvSpPr>
            <p:spPr>
              <a:xfrm>
                <a:off x="10485731" y="4151146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001010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88761BAE-DB02-30ED-5AF7-35257A7849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85731" y="4151146"/>
                <a:ext cx="1258314" cy="302753"/>
              </a:xfrm>
              <a:prstGeom prst="rect">
                <a:avLst/>
              </a:prstGeom>
              <a:blipFill>
                <a:blip r:embed="rId6"/>
                <a:stretch>
                  <a:fillRect b="-384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E57BEB4E-33FB-40D0-083F-4AE82C1B9E82}"/>
                  </a:ext>
                </a:extLst>
              </p:cNvPr>
              <p:cNvSpPr/>
              <p:nvPr/>
            </p:nvSpPr>
            <p:spPr>
              <a:xfrm>
                <a:off x="10485731" y="4463792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00111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E57BEB4E-33FB-40D0-083F-4AE82C1B9E8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85731" y="4463792"/>
                <a:ext cx="1258314" cy="302753"/>
              </a:xfrm>
              <a:prstGeom prst="rect">
                <a:avLst/>
              </a:prstGeom>
              <a:blipFill>
                <a:blip r:embed="rId7"/>
                <a:stretch>
                  <a:fillRect b="-57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BE928574-24E5-498F-835A-DB3A4AC09BAB}"/>
                  </a:ext>
                </a:extLst>
              </p:cNvPr>
              <p:cNvSpPr/>
              <p:nvPr/>
            </p:nvSpPr>
            <p:spPr>
              <a:xfrm>
                <a:off x="9227417" y="4764286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000" dirty="0">
                    <a:solidFill>
                      <a:srgbClr val="C00000"/>
                    </a:solidFill>
                  </a:rPr>
                  <a:t>011</a:t>
                </a:r>
              </a:p>
            </p:txBody>
          </p:sp>
        </mc:Choice>
        <mc:Fallback xmlns=""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BE928574-24E5-498F-835A-DB3A4AC09B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7417" y="4764286"/>
                <a:ext cx="1258314" cy="302753"/>
              </a:xfrm>
              <a:prstGeom prst="rect">
                <a:avLst/>
              </a:prstGeom>
              <a:blipFill>
                <a:blip r:embed="rId8"/>
                <a:stretch>
                  <a:fillRect t="-25490" b="-4902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91E88AB4-27D1-B78D-BAAA-F9BF1B91CA26}"/>
                  </a:ext>
                </a:extLst>
              </p:cNvPr>
              <p:cNvSpPr/>
              <p:nvPr/>
            </p:nvSpPr>
            <p:spPr>
              <a:xfrm>
                <a:off x="10506465" y="4771492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11111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91E88AB4-27D1-B78D-BAAA-F9BF1B91CA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06465" y="4771492"/>
                <a:ext cx="1258314" cy="302753"/>
              </a:xfrm>
              <a:prstGeom prst="rect">
                <a:avLst/>
              </a:prstGeom>
              <a:blipFill>
                <a:blip r:embed="rId9"/>
                <a:stretch>
                  <a:fillRect b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2616CAE3-8F69-0AB9-93D0-9A1631E59A05}"/>
                  </a:ext>
                </a:extLst>
              </p:cNvPr>
              <p:cNvSpPr/>
              <p:nvPr/>
            </p:nvSpPr>
            <p:spPr>
              <a:xfrm>
                <a:off x="9227417" y="5057890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0101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2616CAE3-8F69-0AB9-93D0-9A1631E59A0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7417" y="5057890"/>
                <a:ext cx="1258314" cy="302753"/>
              </a:xfrm>
              <a:prstGeom prst="rect">
                <a:avLst/>
              </a:prstGeom>
              <a:blipFill>
                <a:blip r:embed="rId10"/>
                <a:stretch>
                  <a:fillRect b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200102D1-0230-93FF-F8AF-4145B1055C1E}"/>
                  </a:ext>
                </a:extLst>
              </p:cNvPr>
              <p:cNvSpPr/>
              <p:nvPr/>
            </p:nvSpPr>
            <p:spPr>
              <a:xfrm>
                <a:off x="10492913" y="5063964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01101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200102D1-0230-93FF-F8AF-4145B1055C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92913" y="5063964"/>
                <a:ext cx="1258314" cy="302753"/>
              </a:xfrm>
              <a:prstGeom prst="rect">
                <a:avLst/>
              </a:prstGeom>
              <a:blipFill>
                <a:blip r:embed="rId11"/>
                <a:stretch>
                  <a:fillRect b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1C371798-94BA-1571-DC24-839B1734E887}"/>
                  </a:ext>
                </a:extLst>
              </p:cNvPr>
              <p:cNvSpPr/>
              <p:nvPr/>
            </p:nvSpPr>
            <p:spPr>
              <a:xfrm>
                <a:off x="10513647" y="5362349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000111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1C371798-94BA-1571-DC24-839B1734E8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3647" y="5362349"/>
                <a:ext cx="1258314" cy="302753"/>
              </a:xfrm>
              <a:prstGeom prst="rect">
                <a:avLst/>
              </a:prstGeom>
              <a:blipFill>
                <a:blip r:embed="rId12"/>
                <a:stretch>
                  <a:fillRect b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F1645C09-4A42-0B21-3D07-EA8033EFA638}"/>
                  </a:ext>
                </a:extLst>
              </p:cNvPr>
              <p:cNvSpPr/>
              <p:nvPr/>
            </p:nvSpPr>
            <p:spPr>
              <a:xfrm>
                <a:off x="10528011" y="5682759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11110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F1645C09-4A42-0B21-3D07-EA8033EFA6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28011" y="5682759"/>
                <a:ext cx="1258314" cy="302753"/>
              </a:xfrm>
              <a:prstGeom prst="rect">
                <a:avLst/>
              </a:prstGeom>
              <a:blipFill>
                <a:blip r:embed="rId13"/>
                <a:stretch>
                  <a:fillRect b="-57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CB328CDE-1277-97C5-BC5F-87ED725C893B}"/>
                  </a:ext>
                </a:extLst>
              </p:cNvPr>
              <p:cNvSpPr/>
              <p:nvPr/>
            </p:nvSpPr>
            <p:spPr>
              <a:xfrm>
                <a:off x="9255333" y="5401405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0110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CB328CDE-1277-97C5-BC5F-87ED725C893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5333" y="5401405"/>
                <a:ext cx="1258314" cy="302753"/>
              </a:xfrm>
              <a:prstGeom prst="rect">
                <a:avLst/>
              </a:prstGeom>
              <a:blipFill>
                <a:blip r:embed="rId14"/>
                <a:stretch>
                  <a:fillRect b="-384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35F7129A-955C-9682-20E3-B542A320EF10}"/>
                  </a:ext>
                </a:extLst>
              </p:cNvPr>
              <p:cNvSpPr/>
              <p:nvPr/>
            </p:nvSpPr>
            <p:spPr>
              <a:xfrm>
                <a:off x="9276876" y="5705324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0111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35F7129A-955C-9682-20E3-B542A320EF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6876" y="5705324"/>
                <a:ext cx="1258314" cy="302753"/>
              </a:xfrm>
              <a:prstGeom prst="rect">
                <a:avLst/>
              </a:prstGeom>
              <a:blipFill>
                <a:blip r:embed="rId15"/>
                <a:stretch>
                  <a:fillRect b="-384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TextBox 49">
            <a:extLst>
              <a:ext uri="{FF2B5EF4-FFF2-40B4-BE49-F238E27FC236}">
                <a16:creationId xmlns:a16="http://schemas.microsoft.com/office/drawing/2014/main" id="{DC270471-41AC-D380-9C65-6FEB6768F342}"/>
              </a:ext>
            </a:extLst>
          </p:cNvPr>
          <p:cNvSpPr txBox="1"/>
          <p:nvPr/>
        </p:nvSpPr>
        <p:spPr>
          <a:xfrm>
            <a:off x="9039009" y="3731203"/>
            <a:ext cx="14674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Quotient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C7D334D-3199-9B7A-0D2D-3837E7BF2690}"/>
              </a:ext>
            </a:extLst>
          </p:cNvPr>
          <p:cNvSpPr txBox="1"/>
          <p:nvPr/>
        </p:nvSpPr>
        <p:spPr>
          <a:xfrm>
            <a:off x="10506464" y="3748859"/>
            <a:ext cx="15468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Remainder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CF9D4E44-68A3-77A3-E786-5DC0A6BBD4D9}"/>
                  </a:ext>
                </a:extLst>
              </p:cNvPr>
              <p:cNvSpPr/>
              <p:nvPr/>
            </p:nvSpPr>
            <p:spPr>
              <a:xfrm>
                <a:off x="8383289" y="4147240"/>
                <a:ext cx="419385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CF9D4E44-68A3-77A3-E786-5DC0A6BBD4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3289" y="4147240"/>
                <a:ext cx="419385" cy="302753"/>
              </a:xfrm>
              <a:prstGeom prst="rect">
                <a:avLst/>
              </a:prstGeom>
              <a:blipFill>
                <a:blip r:embed="rId16"/>
                <a:stretch>
                  <a:fillRect b="-57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2E9B754D-42F0-191D-C1FC-EFB0A2432962}"/>
                  </a:ext>
                </a:extLst>
              </p:cNvPr>
              <p:cNvSpPr/>
              <p:nvPr/>
            </p:nvSpPr>
            <p:spPr>
              <a:xfrm>
                <a:off x="8014380" y="4145989"/>
                <a:ext cx="361727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2E9B754D-42F0-191D-C1FC-EFB0A24329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4380" y="4145989"/>
                <a:ext cx="361727" cy="302753"/>
              </a:xfrm>
              <a:prstGeom prst="rect">
                <a:avLst/>
              </a:prstGeom>
              <a:blipFill>
                <a:blip r:embed="rId17"/>
                <a:stretch>
                  <a:fillRect b="-384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442E89CA-3F54-BE95-60FB-7DA86E35502A}"/>
                  </a:ext>
                </a:extLst>
              </p:cNvPr>
              <p:cNvSpPr/>
              <p:nvPr/>
            </p:nvSpPr>
            <p:spPr>
              <a:xfrm>
                <a:off x="8795295" y="4448912"/>
                <a:ext cx="426566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442E89CA-3F54-BE95-60FB-7DA86E3550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5295" y="4448912"/>
                <a:ext cx="426566" cy="302753"/>
              </a:xfrm>
              <a:prstGeom prst="rect">
                <a:avLst/>
              </a:prstGeom>
              <a:blipFill>
                <a:blip r:embed="rId18"/>
                <a:stretch>
                  <a:fillRect b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55DAAE93-E3F4-2FEA-F785-CBFB2815F87F}"/>
                  </a:ext>
                </a:extLst>
              </p:cNvPr>
              <p:cNvSpPr/>
              <p:nvPr/>
            </p:nvSpPr>
            <p:spPr>
              <a:xfrm>
                <a:off x="8387274" y="4440212"/>
                <a:ext cx="419385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55DAAE93-E3F4-2FEA-F785-CBFB2815F8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7274" y="4440212"/>
                <a:ext cx="419385" cy="302753"/>
              </a:xfrm>
              <a:prstGeom prst="rect">
                <a:avLst/>
              </a:prstGeom>
              <a:blipFill>
                <a:blip r:embed="rId19"/>
                <a:stretch>
                  <a:fillRect b="-57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FDE5F5B7-6BEC-281B-6E13-149623CD39DA}"/>
                  </a:ext>
                </a:extLst>
              </p:cNvPr>
              <p:cNvSpPr/>
              <p:nvPr/>
            </p:nvSpPr>
            <p:spPr>
              <a:xfrm>
                <a:off x="8017158" y="4447011"/>
                <a:ext cx="361727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FDE5F5B7-6BEC-281B-6E13-149623CD39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7158" y="4447011"/>
                <a:ext cx="361727" cy="302753"/>
              </a:xfrm>
              <a:prstGeom prst="rect">
                <a:avLst/>
              </a:prstGeom>
              <a:blipFill>
                <a:blip r:embed="rId20"/>
                <a:stretch>
                  <a:fillRect b="-57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9229E4C6-2F4C-9C56-63C5-644915C2332F}"/>
                  </a:ext>
                </a:extLst>
              </p:cNvPr>
              <p:cNvSpPr/>
              <p:nvPr/>
            </p:nvSpPr>
            <p:spPr>
              <a:xfrm>
                <a:off x="8808847" y="4755332"/>
                <a:ext cx="426566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9229E4C6-2F4C-9C56-63C5-644915C233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8847" y="4755332"/>
                <a:ext cx="426566" cy="302753"/>
              </a:xfrm>
              <a:prstGeom prst="rect">
                <a:avLst/>
              </a:prstGeom>
              <a:blipFill>
                <a:blip r:embed="rId21"/>
                <a:stretch>
                  <a:fillRect b="-384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39FF6DF3-E92B-D38E-15D5-08DFD2C348AE}"/>
                  </a:ext>
                </a:extLst>
              </p:cNvPr>
              <p:cNvSpPr/>
              <p:nvPr/>
            </p:nvSpPr>
            <p:spPr>
              <a:xfrm>
                <a:off x="8398467" y="4754081"/>
                <a:ext cx="419385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39FF6DF3-E92B-D38E-15D5-08DFD2C348A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8467" y="4754081"/>
                <a:ext cx="419385" cy="302753"/>
              </a:xfrm>
              <a:prstGeom prst="rect">
                <a:avLst/>
              </a:prstGeom>
              <a:blipFill>
                <a:blip r:embed="rId22"/>
                <a:stretch>
                  <a:fillRect b="-384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09A37509-77B7-3881-3ECF-71B6F387A0BF}"/>
                  </a:ext>
                </a:extLst>
              </p:cNvPr>
              <p:cNvSpPr/>
              <p:nvPr/>
            </p:nvSpPr>
            <p:spPr>
              <a:xfrm>
                <a:off x="8029558" y="4752830"/>
                <a:ext cx="361727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09A37509-77B7-3881-3ECF-71B6F387A0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9558" y="4752830"/>
                <a:ext cx="361727" cy="302753"/>
              </a:xfrm>
              <a:prstGeom prst="rect">
                <a:avLst/>
              </a:prstGeom>
              <a:blipFill>
                <a:blip r:embed="rId23"/>
                <a:stretch>
                  <a:fillRect b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FCC43CA1-5559-EEAD-FF08-52BD3F3C8962}"/>
                  </a:ext>
                </a:extLst>
              </p:cNvPr>
              <p:cNvSpPr/>
              <p:nvPr/>
            </p:nvSpPr>
            <p:spPr>
              <a:xfrm>
                <a:off x="8801665" y="5063279"/>
                <a:ext cx="426566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FCC43CA1-5559-EEAD-FF08-52BD3F3C89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1665" y="5063279"/>
                <a:ext cx="426566" cy="302753"/>
              </a:xfrm>
              <a:prstGeom prst="rect">
                <a:avLst/>
              </a:prstGeom>
              <a:blipFill>
                <a:blip r:embed="rId24"/>
                <a:stretch>
                  <a:fillRect b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7298AF09-0551-0C83-2661-0854872ABFEF}"/>
                  </a:ext>
                </a:extLst>
              </p:cNvPr>
              <p:cNvSpPr/>
              <p:nvPr/>
            </p:nvSpPr>
            <p:spPr>
              <a:xfrm>
                <a:off x="8391285" y="5062028"/>
                <a:ext cx="419385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7298AF09-0551-0C83-2661-0854872ABFE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1285" y="5062028"/>
                <a:ext cx="419385" cy="302753"/>
              </a:xfrm>
              <a:prstGeom prst="rect">
                <a:avLst/>
              </a:prstGeom>
              <a:blipFill>
                <a:blip r:embed="rId25"/>
                <a:stretch>
                  <a:fillRect b="-57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F1DB7E31-BF87-FD4B-CF92-24040148F269}"/>
                  </a:ext>
                </a:extLst>
              </p:cNvPr>
              <p:cNvSpPr/>
              <p:nvPr/>
            </p:nvSpPr>
            <p:spPr>
              <a:xfrm>
                <a:off x="8022376" y="5060777"/>
                <a:ext cx="361727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F1DB7E31-BF87-FD4B-CF92-24040148F2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2376" y="5060777"/>
                <a:ext cx="361727" cy="302753"/>
              </a:xfrm>
              <a:prstGeom prst="rect">
                <a:avLst/>
              </a:prstGeom>
              <a:blipFill>
                <a:blip r:embed="rId26"/>
                <a:stretch>
                  <a:fillRect b="-57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B6915627-86B8-44C2-3648-18831C90DF89}"/>
                  </a:ext>
                </a:extLst>
              </p:cNvPr>
              <p:cNvSpPr/>
              <p:nvPr/>
            </p:nvSpPr>
            <p:spPr>
              <a:xfrm>
                <a:off x="8808847" y="5380448"/>
                <a:ext cx="426566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B6915627-86B8-44C2-3648-18831C90DF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8847" y="5380448"/>
                <a:ext cx="426566" cy="302753"/>
              </a:xfrm>
              <a:prstGeom prst="rect">
                <a:avLst/>
              </a:prstGeom>
              <a:blipFill>
                <a:blip r:embed="rId27"/>
                <a:stretch>
                  <a:fillRect b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3DC0FAF2-EBCA-A27E-F8D5-CB738CB5C200}"/>
                  </a:ext>
                </a:extLst>
              </p:cNvPr>
              <p:cNvSpPr/>
              <p:nvPr/>
            </p:nvSpPr>
            <p:spPr>
              <a:xfrm>
                <a:off x="8398467" y="5379197"/>
                <a:ext cx="419385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3DC0FAF2-EBCA-A27E-F8D5-CB738CB5C20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8467" y="5379197"/>
                <a:ext cx="419385" cy="302753"/>
              </a:xfrm>
              <a:prstGeom prst="rect">
                <a:avLst/>
              </a:prstGeom>
              <a:blipFill>
                <a:blip r:embed="rId28"/>
                <a:stretch>
                  <a:fillRect b="-57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1F541AC8-A568-406F-2A11-45DE677FDF8A}"/>
                  </a:ext>
                </a:extLst>
              </p:cNvPr>
              <p:cNvSpPr/>
              <p:nvPr/>
            </p:nvSpPr>
            <p:spPr>
              <a:xfrm>
                <a:off x="8029558" y="5377946"/>
                <a:ext cx="361727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1F541AC8-A568-406F-2A11-45DE677FDF8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9558" y="5377946"/>
                <a:ext cx="361727" cy="302753"/>
              </a:xfrm>
              <a:prstGeom prst="rect">
                <a:avLst/>
              </a:prstGeom>
              <a:blipFill>
                <a:blip r:embed="rId29"/>
                <a:stretch>
                  <a:fillRect b="-57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A30B02E6-1B9F-FE08-818A-231C83C0196C}"/>
                  </a:ext>
                </a:extLst>
              </p:cNvPr>
              <p:cNvSpPr/>
              <p:nvPr/>
            </p:nvSpPr>
            <p:spPr>
              <a:xfrm>
                <a:off x="8800851" y="5674918"/>
                <a:ext cx="426566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A30B02E6-1B9F-FE08-818A-231C83C0196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0851" y="5674918"/>
                <a:ext cx="426566" cy="302753"/>
              </a:xfrm>
              <a:prstGeom prst="rect">
                <a:avLst/>
              </a:prstGeom>
              <a:blipFill>
                <a:blip r:embed="rId30"/>
                <a:stretch>
                  <a:fillRect b="-384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BBB779B9-AC79-0F10-BE76-1C8A37C1FD14}"/>
                  </a:ext>
                </a:extLst>
              </p:cNvPr>
              <p:cNvSpPr/>
              <p:nvPr/>
            </p:nvSpPr>
            <p:spPr>
              <a:xfrm>
                <a:off x="8390471" y="5673667"/>
                <a:ext cx="419385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BBB779B9-AC79-0F10-BE76-1C8A37C1FD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0471" y="5673667"/>
                <a:ext cx="419385" cy="302753"/>
              </a:xfrm>
              <a:prstGeom prst="rect">
                <a:avLst/>
              </a:prstGeom>
              <a:blipFill>
                <a:blip r:embed="rId31"/>
                <a:stretch>
                  <a:fillRect b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47F0EE82-B621-A538-F821-127A33FBB5FD}"/>
                  </a:ext>
                </a:extLst>
              </p:cNvPr>
              <p:cNvSpPr/>
              <p:nvPr/>
            </p:nvSpPr>
            <p:spPr>
              <a:xfrm>
                <a:off x="8021562" y="5672416"/>
                <a:ext cx="361727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47F0EE82-B621-A538-F821-127A33FBB5F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1562" y="5672416"/>
                <a:ext cx="361727" cy="302753"/>
              </a:xfrm>
              <a:prstGeom prst="rect">
                <a:avLst/>
              </a:prstGeom>
              <a:blipFill>
                <a:blip r:embed="rId32"/>
                <a:stretch>
                  <a:fillRect b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2547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/>
      <p:bldP spid="11" grpId="0"/>
      <p:bldP spid="12" grpId="0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4109"/>
            <a:ext cx="10515600" cy="5573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Quotient filter is memory and computationally efficient  </a:t>
            </a:r>
            <a:endParaRPr lang="en-US" b="1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Filtering Event Data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85AF48-CB5A-9978-EB1F-EEF91CF22B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1623" y="1462670"/>
            <a:ext cx="5996398" cy="512309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A991E4A4-9693-2724-DED8-73197909965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06302" y="2233153"/>
                <a:ext cx="5267796" cy="446536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2400" dirty="0"/>
                  <a:t>Example of linear probing for quotient filter </a:t>
                </a:r>
              </a:p>
              <a:p>
                <a:r>
                  <a:rPr lang="en-US" sz="2400" b="1" dirty="0"/>
                  <a:t>State 1</a:t>
                </a:r>
                <a:r>
                  <a:rPr lang="en-US" sz="2400" dirty="0"/>
                  <a:t> Add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sz="26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sz="2600" dirty="0"/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sz="2600" dirty="0"/>
                  <a:t> </a:t>
                </a:r>
                <a:r>
                  <a:rPr lang="en-US" sz="2400" dirty="0"/>
                  <a:t>to quotient filter </a:t>
                </a:r>
              </a:p>
              <a:p>
                <a:r>
                  <a:rPr lang="en-US" sz="2400" dirty="0"/>
                  <a:t>3 elements in </a:t>
                </a:r>
                <a:r>
                  <a:rPr lang="en-US" sz="2400" b="1" dirty="0"/>
                  <a:t>3 runs </a:t>
                </a:r>
                <a:r>
                  <a:rPr lang="en-US" sz="2400" dirty="0"/>
                  <a:t>and </a:t>
                </a:r>
                <a:r>
                  <a:rPr lang="en-US" sz="2400" b="1" dirty="0"/>
                  <a:t>3 clusters   </a:t>
                </a:r>
              </a:p>
              <a:p>
                <a:r>
                  <a:rPr lang="en-US" sz="2400" dirty="0"/>
                  <a:t>Set </a:t>
                </a:r>
                <a:r>
                  <a:rPr lang="en-US" sz="2400" b="1" dirty="0"/>
                  <a:t>is occupied </a:t>
                </a:r>
                <a:r>
                  <a:rPr lang="en-US" sz="2400" dirty="0"/>
                  <a:t>bit for each </a:t>
                </a:r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A991E4A4-9693-2724-DED8-7319790996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302" y="2233153"/>
                <a:ext cx="5267796" cy="4465360"/>
              </a:xfrm>
              <a:prstGeom prst="rect">
                <a:avLst/>
              </a:prstGeom>
              <a:blipFill>
                <a:blip r:embed="rId4"/>
                <a:stretch>
                  <a:fillRect l="-1736" t="-19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Oval 17">
            <a:extLst>
              <a:ext uri="{FF2B5EF4-FFF2-40B4-BE49-F238E27FC236}">
                <a16:creationId xmlns:a16="http://schemas.microsoft.com/office/drawing/2014/main" id="{3A5811E2-369D-6B60-DF95-0B2652ADC6E5}"/>
              </a:ext>
            </a:extLst>
          </p:cNvPr>
          <p:cNvSpPr/>
          <p:nvPr/>
        </p:nvSpPr>
        <p:spPr>
          <a:xfrm>
            <a:off x="6001623" y="2892446"/>
            <a:ext cx="767953" cy="478465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519F0F-A68C-484D-7582-7E244D106940}"/>
              </a:ext>
            </a:extLst>
          </p:cNvPr>
          <p:cNvSpPr txBox="1"/>
          <p:nvPr/>
        </p:nvSpPr>
        <p:spPr>
          <a:xfrm>
            <a:off x="6729098" y="6457473"/>
            <a:ext cx="4693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5"/>
              </a:rPr>
              <a:t>Illustration from Wikipedia quotient filter article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962144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ACB872A-0082-D237-24D3-5BDD4534D0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1955" y="1444766"/>
            <a:ext cx="5996398" cy="512309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4109"/>
            <a:ext cx="10515600" cy="5573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Quotient filter is memory and computationally efficient  </a:t>
            </a:r>
            <a:endParaRPr lang="en-US" b="1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Filtering Event Data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A991E4A4-9693-2724-DED8-73197909965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00986" y="2233153"/>
                <a:ext cx="5267796" cy="446536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47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5100" dirty="0"/>
                  <a:t>Example of linear probing for quotient filter </a:t>
                </a:r>
              </a:p>
              <a:p>
                <a:r>
                  <a:rPr lang="en-US" sz="5100" b="1" dirty="0"/>
                  <a:t>State 2</a:t>
                </a:r>
                <a:r>
                  <a:rPr lang="en-US" sz="5100" dirty="0"/>
                  <a:t> Add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5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51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5100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sz="5100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sz="5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51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5100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sz="5100" dirty="0"/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5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51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5100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sz="5100" dirty="0"/>
                  <a:t> with different quotient, creating </a:t>
                </a:r>
                <a:r>
                  <a:rPr lang="en-US" sz="5100" b="1" dirty="0"/>
                  <a:t>hash collisions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5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51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5100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sz="5100" dirty="0"/>
                  <a:t> has </a:t>
                </a:r>
                <a:r>
                  <a:rPr lang="en-US" sz="5100" b="1" dirty="0"/>
                  <a:t>is occupied </a:t>
                </a:r>
                <a:r>
                  <a:rPr lang="en-US" sz="5100" dirty="0"/>
                  <a:t>set, so prob one position to right to find slot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51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51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5100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endParaRPr lang="en-US" sz="51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5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51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5100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sz="5100" dirty="0"/>
                  <a:t> </a:t>
                </a:r>
                <a:r>
                  <a:rPr lang="en-US" sz="5100" b="1" dirty="0"/>
                  <a:t>continues run </a:t>
                </a:r>
                <a:r>
                  <a:rPr lang="en-US" sz="5100" dirty="0"/>
                  <a:t>so set </a:t>
                </a:r>
                <a:r>
                  <a:rPr lang="en-US" sz="5100" b="1" dirty="0"/>
                  <a:t>is occupied</a:t>
                </a:r>
                <a:r>
                  <a:rPr lang="en-US" sz="5100" dirty="0"/>
                  <a:t>, </a:t>
                </a:r>
                <a:r>
                  <a:rPr lang="en-US" sz="5100" b="1" dirty="0"/>
                  <a:t>is continuation </a:t>
                </a:r>
                <a:r>
                  <a:rPr lang="en-US" sz="5100" dirty="0"/>
                  <a:t>and </a:t>
                </a:r>
                <a:r>
                  <a:rPr lang="en-US" sz="5100" b="1" dirty="0"/>
                  <a:t>is shifted</a:t>
                </a:r>
                <a:r>
                  <a:rPr lang="en-US" sz="5100" dirty="0"/>
                  <a:t> bits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51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51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5100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sz="5100" dirty="0"/>
                  <a:t> slot </a:t>
                </a:r>
                <a:r>
                  <a:rPr lang="en-US" sz="5100" b="1" dirty="0"/>
                  <a:t>is occupied</a:t>
                </a:r>
                <a:r>
                  <a:rPr lang="en-US" sz="5100" dirty="0"/>
                  <a:t>, by previous run, so probe one position to right, start </a:t>
                </a:r>
                <a:r>
                  <a:rPr lang="en-US" sz="5100" b="1" dirty="0"/>
                  <a:t>new run in cluster</a:t>
                </a:r>
                <a:r>
                  <a:rPr lang="en-US" sz="5100" dirty="0"/>
                  <a:t> and set </a:t>
                </a:r>
                <a:r>
                  <a:rPr lang="en-US" sz="5100" b="1" dirty="0"/>
                  <a:t>is shifted </a:t>
                </a:r>
                <a:r>
                  <a:rPr lang="en-US" sz="5100" dirty="0"/>
                  <a:t>bit</a:t>
                </a:r>
                <a:endParaRPr lang="en-US" sz="5100" b="1" dirty="0"/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A991E4A4-9693-2724-DED8-7319790996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986" y="2233153"/>
                <a:ext cx="5267796" cy="4465360"/>
              </a:xfrm>
              <a:prstGeom prst="rect">
                <a:avLst/>
              </a:prstGeom>
              <a:blipFill>
                <a:blip r:embed="rId4"/>
                <a:stretch>
                  <a:fillRect l="-1734" t="-3138" r="-2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Oval 1">
            <a:extLst>
              <a:ext uri="{FF2B5EF4-FFF2-40B4-BE49-F238E27FC236}">
                <a16:creationId xmlns:a16="http://schemas.microsoft.com/office/drawing/2014/main" id="{3009D14F-5F80-7326-684F-9755610B5CE2}"/>
              </a:ext>
            </a:extLst>
          </p:cNvPr>
          <p:cNvSpPr/>
          <p:nvPr/>
        </p:nvSpPr>
        <p:spPr>
          <a:xfrm>
            <a:off x="5961145" y="4006313"/>
            <a:ext cx="767953" cy="478465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28A344-2FDA-4552-3C8B-B5104B4B98A4}"/>
              </a:ext>
            </a:extLst>
          </p:cNvPr>
          <p:cNvSpPr txBox="1"/>
          <p:nvPr/>
        </p:nvSpPr>
        <p:spPr>
          <a:xfrm>
            <a:off x="6729098" y="6457473"/>
            <a:ext cx="4693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5"/>
              </a:rPr>
              <a:t>Illustration from Wikipedia quotient filter article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836542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1D71823-806F-92F0-A526-D5945355FC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1623" y="1462670"/>
            <a:ext cx="5996398" cy="512309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4109"/>
            <a:ext cx="10515600" cy="5573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Quotient filter is memory and computationally efficient  </a:t>
            </a:r>
            <a:endParaRPr lang="en-US" b="1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Filtering Event Data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A991E4A4-9693-2724-DED8-73197909965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70560" y="1716836"/>
                <a:ext cx="5532120" cy="500908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dirty="0"/>
                  <a:t>Example of linear probing for quotient filter </a:t>
                </a:r>
              </a:p>
              <a:p>
                <a:r>
                  <a:rPr lang="en-US" b="1" dirty="0"/>
                  <a:t>State 3</a:t>
                </a:r>
                <a:r>
                  <a:rPr lang="en-US" dirty="0"/>
                  <a:t> add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dirty="0"/>
                  <a:t> to first run </a:t>
                </a:r>
              </a:p>
              <a:p>
                <a:pPr lvl="1"/>
                <a:r>
                  <a:rPr lang="en-US" dirty="0"/>
                  <a:t>Is occupied bit is unset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  <a:p>
                <a:pPr lvl="1"/>
                <a:r>
                  <a:rPr lang="en-US" b="1" dirty="0"/>
                  <a:t>Recursive linear probing </a:t>
                </a:r>
                <a:r>
                  <a:rPr lang="en-US" dirty="0"/>
                  <a:t>shifts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dirty="0"/>
                  <a:t> to right, and all are now in </a:t>
                </a:r>
                <a:r>
                  <a:rPr lang="en-US" b="1" dirty="0"/>
                  <a:t>same cluster </a:t>
                </a:r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dirty="0"/>
                  <a:t> is now in </a:t>
                </a:r>
                <a:r>
                  <a:rPr lang="en-US" b="1" dirty="0"/>
                  <a:t>first of cluster and run </a:t>
                </a:r>
                <a:r>
                  <a:rPr lang="en-US" dirty="0"/>
                  <a:t>with </a:t>
                </a:r>
                <a:r>
                  <a:rPr lang="en-US" b="1" dirty="0"/>
                  <a:t>is occupied </a:t>
                </a:r>
                <a:r>
                  <a:rPr lang="en-US" dirty="0"/>
                  <a:t>bit set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dirty="0"/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in one run</a:t>
                </a:r>
              </a:p>
              <a:p>
                <a:pPr lvl="1"/>
                <a:r>
                  <a:rPr lang="en-US" dirty="0"/>
                  <a:t>Set status bits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A991E4A4-9693-2724-DED8-7319790996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560" y="1716836"/>
                <a:ext cx="5532120" cy="5009083"/>
              </a:xfrm>
              <a:prstGeom prst="rect">
                <a:avLst/>
              </a:prstGeom>
              <a:blipFill>
                <a:blip r:embed="rId4"/>
                <a:stretch>
                  <a:fillRect l="-2203" t="-2071" r="-7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Oval 6">
            <a:extLst>
              <a:ext uri="{FF2B5EF4-FFF2-40B4-BE49-F238E27FC236}">
                <a16:creationId xmlns:a16="http://schemas.microsoft.com/office/drawing/2014/main" id="{BC014049-B347-5630-86DF-BD1FBFF834C1}"/>
              </a:ext>
            </a:extLst>
          </p:cNvPr>
          <p:cNvSpPr/>
          <p:nvPr/>
        </p:nvSpPr>
        <p:spPr>
          <a:xfrm>
            <a:off x="5989809" y="5156097"/>
            <a:ext cx="767953" cy="478465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0D9A79-5BA3-E778-D1FC-7B84AC69FE62}"/>
              </a:ext>
            </a:extLst>
          </p:cNvPr>
          <p:cNvSpPr txBox="1"/>
          <p:nvPr/>
        </p:nvSpPr>
        <p:spPr>
          <a:xfrm>
            <a:off x="6729098" y="6457473"/>
            <a:ext cx="4693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5"/>
              </a:rPr>
              <a:t>Illustration from Wikipedia quotient filter article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9026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55330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Merging</a:t>
            </a:r>
            <a:r>
              <a:rPr lang="en-US" dirty="0"/>
              <a:t> and </a:t>
            </a:r>
            <a:r>
              <a:rPr lang="en-US" b="1" dirty="0"/>
              <a:t>resizing</a:t>
            </a:r>
            <a:r>
              <a:rPr lang="en-US" dirty="0"/>
              <a:t> the quotient filter</a:t>
            </a:r>
          </a:p>
          <a:p>
            <a:r>
              <a:rPr lang="en-US" dirty="0"/>
              <a:t>Merging and resizing are important features of sketch hashes</a:t>
            </a:r>
          </a:p>
          <a:p>
            <a:r>
              <a:rPr lang="en-US" dirty="0"/>
              <a:t>Quotient filters can be merged by adding remainders of one filter to the bins defined by the quotients of another filter </a:t>
            </a:r>
          </a:p>
          <a:p>
            <a:pPr lvl="1"/>
            <a:r>
              <a:rPr lang="en-US" dirty="0"/>
              <a:t>Merging filters allows aggregation    </a:t>
            </a:r>
          </a:p>
          <a:p>
            <a:pPr lvl="1"/>
            <a:r>
              <a:rPr lang="en-US" dirty="0"/>
              <a:t>Quotients must have same number of bits, or can resize, so quotients match</a:t>
            </a:r>
          </a:p>
          <a:p>
            <a:pPr lvl="1"/>
            <a:r>
              <a:rPr lang="en-US" dirty="0"/>
              <a:t>Need to ensure table is large enough to prevent quotient (hash) collisions.    </a:t>
            </a:r>
          </a:p>
          <a:p>
            <a:r>
              <a:rPr lang="en-US" dirty="0"/>
              <a:t>Merging filters is useful for aggregation over multiple time periods </a:t>
            </a:r>
          </a:p>
          <a:p>
            <a:r>
              <a:rPr lang="en-US" dirty="0"/>
              <a:t>Can easily double the size of a quotient filter   </a:t>
            </a:r>
          </a:p>
          <a:p>
            <a:pPr lvl="1"/>
            <a:r>
              <a:rPr lang="en-US" dirty="0"/>
              <a:t>Most significant bit of reminder becomes least significant bit of quotient</a:t>
            </a:r>
          </a:p>
          <a:p>
            <a:pPr lvl="1"/>
            <a:r>
              <a:rPr lang="en-US" dirty="0"/>
              <a:t>Adding a bit to the quotient doubles the size of the filter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Filtering Event Data </a:t>
            </a:r>
          </a:p>
        </p:txBody>
      </p:sp>
    </p:spTree>
    <p:extLst>
      <p:ext uri="{BB962C8B-B14F-4D97-AF65-F5344CB8AC3E}">
        <p14:creationId xmlns:p14="http://schemas.microsoft.com/office/powerpoint/2010/main" val="3244269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5CB873-6452-3E12-8DDE-DC1C3E32E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9BA00-C360-948D-43F5-D09B93CD39D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Counting Discrete Events</a:t>
            </a:r>
          </a:p>
        </p:txBody>
      </p:sp>
    </p:spTree>
    <p:extLst>
      <p:ext uri="{BB962C8B-B14F-4D97-AF65-F5344CB8AC3E}">
        <p14:creationId xmlns:p14="http://schemas.microsoft.com/office/powerpoint/2010/main" val="344921189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9847" y="1324928"/>
            <a:ext cx="10515600" cy="495851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Many applications of large-scale event counting</a:t>
            </a:r>
          </a:p>
          <a:p>
            <a:r>
              <a:rPr lang="en-US" dirty="0"/>
              <a:t>Events can be counted online or from streams</a:t>
            </a:r>
          </a:p>
          <a:p>
            <a:pPr lvl="1"/>
            <a:r>
              <a:rPr lang="en-US" dirty="0"/>
              <a:t>Counting events by scanning massive databases online   </a:t>
            </a:r>
          </a:p>
          <a:p>
            <a:pPr lvl="1"/>
            <a:r>
              <a:rPr lang="en-US" dirty="0"/>
              <a:t>Counting events in streams in time windows</a:t>
            </a:r>
          </a:p>
          <a:p>
            <a:r>
              <a:rPr lang="en-US" dirty="0"/>
              <a:t>Applications   </a:t>
            </a:r>
          </a:p>
          <a:p>
            <a:pPr lvl="1"/>
            <a:r>
              <a:rPr lang="en-US" dirty="0"/>
              <a:t>Count vehicles in highway sensors    </a:t>
            </a:r>
          </a:p>
          <a:p>
            <a:pPr lvl="1"/>
            <a:r>
              <a:rPr lang="en-US" dirty="0"/>
              <a:t>Count trade volume in capital markets </a:t>
            </a:r>
          </a:p>
          <a:p>
            <a:pPr lvl="1"/>
            <a:r>
              <a:rPr lang="en-US" dirty="0"/>
              <a:t>Counts of packets to manage capacity or find suspicious activity in networks </a:t>
            </a:r>
          </a:p>
          <a:p>
            <a:pPr lvl="1"/>
            <a:r>
              <a:rPr lang="en-US" dirty="0"/>
              <a:t>Counts of transactions to find fraudulent activity   </a:t>
            </a:r>
          </a:p>
          <a:p>
            <a:pPr lvl="1"/>
            <a:r>
              <a:rPr lang="en-US" dirty="0"/>
              <a:t>Counts from wearable technology</a:t>
            </a:r>
          </a:p>
          <a:p>
            <a:pPr lvl="1"/>
            <a:r>
              <a:rPr lang="en-US" dirty="0"/>
              <a:t>……</a:t>
            </a:r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Counting Events </a:t>
            </a:r>
          </a:p>
        </p:txBody>
      </p:sp>
    </p:spTree>
    <p:extLst>
      <p:ext uri="{BB962C8B-B14F-4D97-AF65-F5344CB8AC3E}">
        <p14:creationId xmlns:p14="http://schemas.microsoft.com/office/powerpoint/2010/main" val="4221221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D2147F-41EC-1745-8313-17355B0B0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5B63561-4146-D654-4F4B-97AB97EBDD23}"/>
              </a:ext>
            </a:extLst>
          </p:cNvPr>
          <p:cNvSpPr txBox="1">
            <a:spLocks/>
          </p:cNvSpPr>
          <p:nvPr/>
        </p:nvSpPr>
        <p:spPr>
          <a:xfrm>
            <a:off x="5686426" y="1609470"/>
            <a:ext cx="6257924" cy="8035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Further filtering, sampling and sketching performed as preprocessing for analytics</a:t>
            </a:r>
          </a:p>
          <a:p>
            <a:pPr marL="0" indent="0">
              <a:buNone/>
            </a:pPr>
            <a:endParaRPr lang="en-US" sz="2400" dirty="0"/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C19928F-64D1-BC33-4B6C-7D987C4A2408}"/>
              </a:ext>
            </a:extLst>
          </p:cNvPr>
          <p:cNvSpPr/>
          <p:nvPr/>
        </p:nvSpPr>
        <p:spPr>
          <a:xfrm>
            <a:off x="5843954" y="2543312"/>
            <a:ext cx="5509846" cy="3493477"/>
          </a:xfrm>
          <a:prstGeom prst="round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DE4071-E356-9ADB-9B8A-CED7D71AB5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144" y="1121422"/>
            <a:ext cx="11828522" cy="4725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Event stream algorithms are both filters and analytics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FC3C0CF-1E68-E3D6-544D-0FC5A1AD852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Volume Reduction and Streaming Analytics</a:t>
            </a:r>
          </a:p>
        </p:txBody>
      </p:sp>
      <p:sp>
        <p:nvSpPr>
          <p:cNvPr id="5" name="Cloud 4">
            <a:extLst>
              <a:ext uri="{FF2B5EF4-FFF2-40B4-BE49-F238E27FC236}">
                <a16:creationId xmlns:a16="http://schemas.microsoft.com/office/drawing/2014/main" id="{E7C1FD3E-B0E9-90DC-CEDC-F4950BBD5458}"/>
              </a:ext>
            </a:extLst>
          </p:cNvPr>
          <p:cNvSpPr/>
          <p:nvPr/>
        </p:nvSpPr>
        <p:spPr>
          <a:xfrm>
            <a:off x="256557" y="2634096"/>
            <a:ext cx="1799461" cy="677078"/>
          </a:xfrm>
          <a:prstGeom prst="cloud">
            <a:avLst/>
          </a:prstGeom>
          <a:noFill/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Source</a:t>
            </a:r>
          </a:p>
        </p:txBody>
      </p:sp>
      <p:sp>
        <p:nvSpPr>
          <p:cNvPr id="22" name="Cloud 21">
            <a:extLst>
              <a:ext uri="{FF2B5EF4-FFF2-40B4-BE49-F238E27FC236}">
                <a16:creationId xmlns:a16="http://schemas.microsoft.com/office/drawing/2014/main" id="{92CF76C6-179B-85E9-825E-3FD47F82C282}"/>
              </a:ext>
            </a:extLst>
          </p:cNvPr>
          <p:cNvSpPr/>
          <p:nvPr/>
        </p:nvSpPr>
        <p:spPr>
          <a:xfrm>
            <a:off x="256556" y="3481389"/>
            <a:ext cx="1799461" cy="635095"/>
          </a:xfrm>
          <a:prstGeom prst="cloud">
            <a:avLst/>
          </a:prstGeom>
          <a:noFill/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Source</a:t>
            </a:r>
          </a:p>
        </p:txBody>
      </p:sp>
      <p:sp>
        <p:nvSpPr>
          <p:cNvPr id="23" name="Cloud 22">
            <a:extLst>
              <a:ext uri="{FF2B5EF4-FFF2-40B4-BE49-F238E27FC236}">
                <a16:creationId xmlns:a16="http://schemas.microsoft.com/office/drawing/2014/main" id="{C3231CBD-3542-B258-2B50-DFCFDFC251F6}"/>
              </a:ext>
            </a:extLst>
          </p:cNvPr>
          <p:cNvSpPr/>
          <p:nvPr/>
        </p:nvSpPr>
        <p:spPr>
          <a:xfrm>
            <a:off x="227496" y="4694095"/>
            <a:ext cx="1799461" cy="694114"/>
          </a:xfrm>
          <a:prstGeom prst="cloud">
            <a:avLst/>
          </a:prstGeom>
          <a:noFill/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Source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7D3123E-8F11-32CF-5672-DA818A1E8828}"/>
                  </a:ext>
                </a:extLst>
              </p:cNvPr>
              <p:cNvSpPr txBox="1"/>
              <p:nvPr/>
            </p:nvSpPr>
            <p:spPr>
              <a:xfrm>
                <a:off x="885509" y="4059000"/>
                <a:ext cx="50995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1154615-99F6-8289-543F-B05470A2B5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509" y="4059000"/>
                <a:ext cx="509954" cy="70788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ctangle 24">
            <a:extLst>
              <a:ext uri="{FF2B5EF4-FFF2-40B4-BE49-F238E27FC236}">
                <a16:creationId xmlns:a16="http://schemas.microsoft.com/office/drawing/2014/main" id="{FCE5F414-CA27-917A-3061-F94BB0FDF1E6}"/>
              </a:ext>
            </a:extLst>
          </p:cNvPr>
          <p:cNvSpPr/>
          <p:nvPr/>
        </p:nvSpPr>
        <p:spPr>
          <a:xfrm>
            <a:off x="2332892" y="2689851"/>
            <a:ext cx="1488830" cy="621323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8E01BCE-3D0C-AC2F-DE2C-D5677E29C1A7}"/>
              </a:ext>
            </a:extLst>
          </p:cNvPr>
          <p:cNvSpPr/>
          <p:nvPr/>
        </p:nvSpPr>
        <p:spPr>
          <a:xfrm>
            <a:off x="2291959" y="4766886"/>
            <a:ext cx="1488830" cy="621323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8CB35D8-7A6F-D007-E9D4-CC39D6C605C8}"/>
              </a:ext>
            </a:extLst>
          </p:cNvPr>
          <p:cNvSpPr/>
          <p:nvPr/>
        </p:nvSpPr>
        <p:spPr>
          <a:xfrm>
            <a:off x="2311672" y="3495161"/>
            <a:ext cx="1488830" cy="621323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CFD13DE-7021-1C4B-92C0-C221E8BADB56}"/>
                  </a:ext>
                </a:extLst>
              </p:cNvPr>
              <p:cNvSpPr txBox="1"/>
              <p:nvPr/>
            </p:nvSpPr>
            <p:spPr>
              <a:xfrm>
                <a:off x="2801110" y="4028191"/>
                <a:ext cx="50995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63C0B2A-FAAA-7283-9153-7EE44B2805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1110" y="4028191"/>
                <a:ext cx="509954" cy="7078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tangle 30">
            <a:extLst>
              <a:ext uri="{FF2B5EF4-FFF2-40B4-BE49-F238E27FC236}">
                <a16:creationId xmlns:a16="http://schemas.microsoft.com/office/drawing/2014/main" id="{1E618BB7-4A29-1D20-AC44-1B70C58D4BA2}"/>
              </a:ext>
            </a:extLst>
          </p:cNvPr>
          <p:cNvSpPr/>
          <p:nvPr/>
        </p:nvSpPr>
        <p:spPr>
          <a:xfrm>
            <a:off x="6119741" y="2696612"/>
            <a:ext cx="2513217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Filter/sample/sketch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8D884B5-F1CC-1309-7E92-E69E5DA8E11B}"/>
              </a:ext>
            </a:extLst>
          </p:cNvPr>
          <p:cNvSpPr/>
          <p:nvPr/>
        </p:nvSpPr>
        <p:spPr>
          <a:xfrm>
            <a:off x="6184219" y="3195319"/>
            <a:ext cx="2448740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Filter/sample/sketch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07D842E-4B8B-3837-DEDE-09FE836A8996}"/>
              </a:ext>
            </a:extLst>
          </p:cNvPr>
          <p:cNvSpPr/>
          <p:nvPr/>
        </p:nvSpPr>
        <p:spPr>
          <a:xfrm>
            <a:off x="6184219" y="4066156"/>
            <a:ext cx="2513216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Filter/sample/sketch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EB4B3E7-ED9E-5593-DCF7-F16A0871EA69}"/>
                  </a:ext>
                </a:extLst>
              </p:cNvPr>
              <p:cNvSpPr txBox="1"/>
              <p:nvPr/>
            </p:nvSpPr>
            <p:spPr>
              <a:xfrm>
                <a:off x="7209163" y="3369009"/>
                <a:ext cx="509954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54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AB5C444-D8F2-B810-FE62-47D0C2A4F4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9163" y="3369009"/>
                <a:ext cx="509954" cy="92333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8637F55B-9D0B-45BB-9B3B-8204B8FFA9F4}"/>
              </a:ext>
            </a:extLst>
          </p:cNvPr>
          <p:cNvSpPr/>
          <p:nvPr/>
        </p:nvSpPr>
        <p:spPr>
          <a:xfrm>
            <a:off x="3864162" y="2901147"/>
            <a:ext cx="1979791" cy="288193"/>
          </a:xfrm>
          <a:custGeom>
            <a:avLst/>
            <a:gdLst>
              <a:gd name="connsiteX0" fmla="*/ 0 w 1937349"/>
              <a:gd name="connsiteY0" fmla="*/ 59181 h 276213"/>
              <a:gd name="connsiteX1" fmla="*/ 363415 w 1937349"/>
              <a:gd name="connsiteY1" fmla="*/ 276058 h 276213"/>
              <a:gd name="connsiteX2" fmla="*/ 363415 w 1937349"/>
              <a:gd name="connsiteY2" fmla="*/ 29874 h 276213"/>
              <a:gd name="connsiteX3" fmla="*/ 773723 w 1937349"/>
              <a:gd name="connsiteY3" fmla="*/ 240889 h 276213"/>
              <a:gd name="connsiteX4" fmla="*/ 791308 w 1937349"/>
              <a:gd name="connsiteY4" fmla="*/ 12289 h 276213"/>
              <a:gd name="connsiteX5" fmla="*/ 1125415 w 1937349"/>
              <a:gd name="connsiteY5" fmla="*/ 223305 h 276213"/>
              <a:gd name="connsiteX6" fmla="*/ 1178169 w 1937349"/>
              <a:gd name="connsiteY6" fmla="*/ 41597 h 276213"/>
              <a:gd name="connsiteX7" fmla="*/ 1541585 w 1937349"/>
              <a:gd name="connsiteY7" fmla="*/ 264335 h 276213"/>
              <a:gd name="connsiteX8" fmla="*/ 1570892 w 1937349"/>
              <a:gd name="connsiteY8" fmla="*/ 566 h 276213"/>
              <a:gd name="connsiteX9" fmla="*/ 1916723 w 1937349"/>
              <a:gd name="connsiteY9" fmla="*/ 193997 h 276213"/>
              <a:gd name="connsiteX10" fmla="*/ 1899138 w 1937349"/>
              <a:gd name="connsiteY10" fmla="*/ 188135 h 276213"/>
              <a:gd name="connsiteX11" fmla="*/ 1910861 w 1937349"/>
              <a:gd name="connsiteY11" fmla="*/ 205720 h 27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37349" h="276213">
                <a:moveTo>
                  <a:pt x="0" y="59181"/>
                </a:moveTo>
                <a:cubicBezTo>
                  <a:pt x="151423" y="170061"/>
                  <a:pt x="302846" y="280942"/>
                  <a:pt x="363415" y="276058"/>
                </a:cubicBezTo>
                <a:cubicBezTo>
                  <a:pt x="423984" y="271174"/>
                  <a:pt x="295030" y="35735"/>
                  <a:pt x="363415" y="29874"/>
                </a:cubicBezTo>
                <a:cubicBezTo>
                  <a:pt x="431800" y="24013"/>
                  <a:pt x="702408" y="243820"/>
                  <a:pt x="773723" y="240889"/>
                </a:cubicBezTo>
                <a:cubicBezTo>
                  <a:pt x="845038" y="237958"/>
                  <a:pt x="732693" y="15220"/>
                  <a:pt x="791308" y="12289"/>
                </a:cubicBezTo>
                <a:cubicBezTo>
                  <a:pt x="849923" y="9358"/>
                  <a:pt x="1060938" y="218420"/>
                  <a:pt x="1125415" y="223305"/>
                </a:cubicBezTo>
                <a:cubicBezTo>
                  <a:pt x="1189892" y="228190"/>
                  <a:pt x="1108807" y="34759"/>
                  <a:pt x="1178169" y="41597"/>
                </a:cubicBezTo>
                <a:cubicBezTo>
                  <a:pt x="1247531" y="48435"/>
                  <a:pt x="1476131" y="271174"/>
                  <a:pt x="1541585" y="264335"/>
                </a:cubicBezTo>
                <a:cubicBezTo>
                  <a:pt x="1607039" y="257497"/>
                  <a:pt x="1508369" y="12289"/>
                  <a:pt x="1570892" y="566"/>
                </a:cubicBezTo>
                <a:cubicBezTo>
                  <a:pt x="1633415" y="-11157"/>
                  <a:pt x="1862015" y="162736"/>
                  <a:pt x="1916723" y="193997"/>
                </a:cubicBezTo>
                <a:cubicBezTo>
                  <a:pt x="1971431" y="225258"/>
                  <a:pt x="1900115" y="186181"/>
                  <a:pt x="1899138" y="188135"/>
                </a:cubicBezTo>
                <a:cubicBezTo>
                  <a:pt x="1898161" y="190089"/>
                  <a:pt x="1916723" y="92397"/>
                  <a:pt x="1910861" y="205720"/>
                </a:cubicBezTo>
              </a:path>
            </a:pathLst>
          </a:custGeom>
          <a:noFill/>
          <a:ln w="444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A31A2C5F-38D8-B2B2-A12B-748D55268139}"/>
              </a:ext>
            </a:extLst>
          </p:cNvPr>
          <p:cNvSpPr/>
          <p:nvPr/>
        </p:nvSpPr>
        <p:spPr>
          <a:xfrm>
            <a:off x="3821722" y="3693497"/>
            <a:ext cx="2035067" cy="288193"/>
          </a:xfrm>
          <a:custGeom>
            <a:avLst/>
            <a:gdLst>
              <a:gd name="connsiteX0" fmla="*/ 0 w 1937349"/>
              <a:gd name="connsiteY0" fmla="*/ 59181 h 276213"/>
              <a:gd name="connsiteX1" fmla="*/ 363415 w 1937349"/>
              <a:gd name="connsiteY1" fmla="*/ 276058 h 276213"/>
              <a:gd name="connsiteX2" fmla="*/ 363415 w 1937349"/>
              <a:gd name="connsiteY2" fmla="*/ 29874 h 276213"/>
              <a:gd name="connsiteX3" fmla="*/ 773723 w 1937349"/>
              <a:gd name="connsiteY3" fmla="*/ 240889 h 276213"/>
              <a:gd name="connsiteX4" fmla="*/ 791308 w 1937349"/>
              <a:gd name="connsiteY4" fmla="*/ 12289 h 276213"/>
              <a:gd name="connsiteX5" fmla="*/ 1125415 w 1937349"/>
              <a:gd name="connsiteY5" fmla="*/ 223305 h 276213"/>
              <a:gd name="connsiteX6" fmla="*/ 1178169 w 1937349"/>
              <a:gd name="connsiteY6" fmla="*/ 41597 h 276213"/>
              <a:gd name="connsiteX7" fmla="*/ 1541585 w 1937349"/>
              <a:gd name="connsiteY7" fmla="*/ 264335 h 276213"/>
              <a:gd name="connsiteX8" fmla="*/ 1570892 w 1937349"/>
              <a:gd name="connsiteY8" fmla="*/ 566 h 276213"/>
              <a:gd name="connsiteX9" fmla="*/ 1916723 w 1937349"/>
              <a:gd name="connsiteY9" fmla="*/ 193997 h 276213"/>
              <a:gd name="connsiteX10" fmla="*/ 1899138 w 1937349"/>
              <a:gd name="connsiteY10" fmla="*/ 188135 h 276213"/>
              <a:gd name="connsiteX11" fmla="*/ 1910861 w 1937349"/>
              <a:gd name="connsiteY11" fmla="*/ 205720 h 27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37349" h="276213">
                <a:moveTo>
                  <a:pt x="0" y="59181"/>
                </a:moveTo>
                <a:cubicBezTo>
                  <a:pt x="151423" y="170061"/>
                  <a:pt x="302846" y="280942"/>
                  <a:pt x="363415" y="276058"/>
                </a:cubicBezTo>
                <a:cubicBezTo>
                  <a:pt x="423984" y="271174"/>
                  <a:pt x="295030" y="35735"/>
                  <a:pt x="363415" y="29874"/>
                </a:cubicBezTo>
                <a:cubicBezTo>
                  <a:pt x="431800" y="24013"/>
                  <a:pt x="702408" y="243820"/>
                  <a:pt x="773723" y="240889"/>
                </a:cubicBezTo>
                <a:cubicBezTo>
                  <a:pt x="845038" y="237958"/>
                  <a:pt x="732693" y="15220"/>
                  <a:pt x="791308" y="12289"/>
                </a:cubicBezTo>
                <a:cubicBezTo>
                  <a:pt x="849923" y="9358"/>
                  <a:pt x="1060938" y="218420"/>
                  <a:pt x="1125415" y="223305"/>
                </a:cubicBezTo>
                <a:cubicBezTo>
                  <a:pt x="1189892" y="228190"/>
                  <a:pt x="1108807" y="34759"/>
                  <a:pt x="1178169" y="41597"/>
                </a:cubicBezTo>
                <a:cubicBezTo>
                  <a:pt x="1247531" y="48435"/>
                  <a:pt x="1476131" y="271174"/>
                  <a:pt x="1541585" y="264335"/>
                </a:cubicBezTo>
                <a:cubicBezTo>
                  <a:pt x="1607039" y="257497"/>
                  <a:pt x="1508369" y="12289"/>
                  <a:pt x="1570892" y="566"/>
                </a:cubicBezTo>
                <a:cubicBezTo>
                  <a:pt x="1633415" y="-11157"/>
                  <a:pt x="1862015" y="162736"/>
                  <a:pt x="1916723" y="193997"/>
                </a:cubicBezTo>
                <a:cubicBezTo>
                  <a:pt x="1971431" y="225258"/>
                  <a:pt x="1900115" y="186181"/>
                  <a:pt x="1899138" y="188135"/>
                </a:cubicBezTo>
                <a:cubicBezTo>
                  <a:pt x="1898161" y="190089"/>
                  <a:pt x="1916723" y="92397"/>
                  <a:pt x="1910861" y="205720"/>
                </a:cubicBezTo>
              </a:path>
            </a:pathLst>
          </a:custGeom>
          <a:noFill/>
          <a:ln w="444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10D54E2C-9608-5D05-DD11-0CA80FF20A90}"/>
              </a:ext>
            </a:extLst>
          </p:cNvPr>
          <p:cNvSpPr/>
          <p:nvPr/>
        </p:nvSpPr>
        <p:spPr>
          <a:xfrm>
            <a:off x="3787666" y="4977477"/>
            <a:ext cx="2069123" cy="288193"/>
          </a:xfrm>
          <a:custGeom>
            <a:avLst/>
            <a:gdLst>
              <a:gd name="connsiteX0" fmla="*/ 0 w 1937349"/>
              <a:gd name="connsiteY0" fmla="*/ 59181 h 276213"/>
              <a:gd name="connsiteX1" fmla="*/ 363415 w 1937349"/>
              <a:gd name="connsiteY1" fmla="*/ 276058 h 276213"/>
              <a:gd name="connsiteX2" fmla="*/ 363415 w 1937349"/>
              <a:gd name="connsiteY2" fmla="*/ 29874 h 276213"/>
              <a:gd name="connsiteX3" fmla="*/ 773723 w 1937349"/>
              <a:gd name="connsiteY3" fmla="*/ 240889 h 276213"/>
              <a:gd name="connsiteX4" fmla="*/ 791308 w 1937349"/>
              <a:gd name="connsiteY4" fmla="*/ 12289 h 276213"/>
              <a:gd name="connsiteX5" fmla="*/ 1125415 w 1937349"/>
              <a:gd name="connsiteY5" fmla="*/ 223305 h 276213"/>
              <a:gd name="connsiteX6" fmla="*/ 1178169 w 1937349"/>
              <a:gd name="connsiteY6" fmla="*/ 41597 h 276213"/>
              <a:gd name="connsiteX7" fmla="*/ 1541585 w 1937349"/>
              <a:gd name="connsiteY7" fmla="*/ 264335 h 276213"/>
              <a:gd name="connsiteX8" fmla="*/ 1570892 w 1937349"/>
              <a:gd name="connsiteY8" fmla="*/ 566 h 276213"/>
              <a:gd name="connsiteX9" fmla="*/ 1916723 w 1937349"/>
              <a:gd name="connsiteY9" fmla="*/ 193997 h 276213"/>
              <a:gd name="connsiteX10" fmla="*/ 1899138 w 1937349"/>
              <a:gd name="connsiteY10" fmla="*/ 188135 h 276213"/>
              <a:gd name="connsiteX11" fmla="*/ 1910861 w 1937349"/>
              <a:gd name="connsiteY11" fmla="*/ 205720 h 27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37349" h="276213">
                <a:moveTo>
                  <a:pt x="0" y="59181"/>
                </a:moveTo>
                <a:cubicBezTo>
                  <a:pt x="151423" y="170061"/>
                  <a:pt x="302846" y="280942"/>
                  <a:pt x="363415" y="276058"/>
                </a:cubicBezTo>
                <a:cubicBezTo>
                  <a:pt x="423984" y="271174"/>
                  <a:pt x="295030" y="35735"/>
                  <a:pt x="363415" y="29874"/>
                </a:cubicBezTo>
                <a:cubicBezTo>
                  <a:pt x="431800" y="24013"/>
                  <a:pt x="702408" y="243820"/>
                  <a:pt x="773723" y="240889"/>
                </a:cubicBezTo>
                <a:cubicBezTo>
                  <a:pt x="845038" y="237958"/>
                  <a:pt x="732693" y="15220"/>
                  <a:pt x="791308" y="12289"/>
                </a:cubicBezTo>
                <a:cubicBezTo>
                  <a:pt x="849923" y="9358"/>
                  <a:pt x="1060938" y="218420"/>
                  <a:pt x="1125415" y="223305"/>
                </a:cubicBezTo>
                <a:cubicBezTo>
                  <a:pt x="1189892" y="228190"/>
                  <a:pt x="1108807" y="34759"/>
                  <a:pt x="1178169" y="41597"/>
                </a:cubicBezTo>
                <a:cubicBezTo>
                  <a:pt x="1247531" y="48435"/>
                  <a:pt x="1476131" y="271174"/>
                  <a:pt x="1541585" y="264335"/>
                </a:cubicBezTo>
                <a:cubicBezTo>
                  <a:pt x="1607039" y="257497"/>
                  <a:pt x="1508369" y="12289"/>
                  <a:pt x="1570892" y="566"/>
                </a:cubicBezTo>
                <a:cubicBezTo>
                  <a:pt x="1633415" y="-11157"/>
                  <a:pt x="1862015" y="162736"/>
                  <a:pt x="1916723" y="193997"/>
                </a:cubicBezTo>
                <a:cubicBezTo>
                  <a:pt x="1971431" y="225258"/>
                  <a:pt x="1900115" y="186181"/>
                  <a:pt x="1899138" y="188135"/>
                </a:cubicBezTo>
                <a:cubicBezTo>
                  <a:pt x="1898161" y="190089"/>
                  <a:pt x="1916723" y="92397"/>
                  <a:pt x="1910861" y="205720"/>
                </a:cubicBezTo>
              </a:path>
            </a:pathLst>
          </a:custGeom>
          <a:noFill/>
          <a:ln w="444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62B0E93-3943-953C-B3F2-B96F683FDA59}"/>
              </a:ext>
            </a:extLst>
          </p:cNvPr>
          <p:cNvSpPr/>
          <p:nvPr/>
        </p:nvSpPr>
        <p:spPr>
          <a:xfrm>
            <a:off x="3928352" y="4059000"/>
            <a:ext cx="1878580" cy="668286"/>
          </a:xfrm>
          <a:prstGeom prst="rect">
            <a:avLst/>
          </a:prstGeom>
          <a:noFill/>
          <a:ln w="222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Bandwidth limited network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39CD74E-07A6-37AD-414A-53DEFE9D54F9}"/>
              </a:ext>
            </a:extLst>
          </p:cNvPr>
          <p:cNvSpPr/>
          <p:nvPr/>
        </p:nvSpPr>
        <p:spPr>
          <a:xfrm>
            <a:off x="9131897" y="2696612"/>
            <a:ext cx="1868449" cy="3564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Stream analytic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364A167-B926-98E1-4E5A-9B5DD7FED225}"/>
              </a:ext>
            </a:extLst>
          </p:cNvPr>
          <p:cNvSpPr/>
          <p:nvPr/>
        </p:nvSpPr>
        <p:spPr>
          <a:xfrm>
            <a:off x="9131897" y="3195319"/>
            <a:ext cx="1868449" cy="3564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Stream analytic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14A346A-AD98-3106-B5B7-0AA9C51A58E9}"/>
              </a:ext>
            </a:extLst>
          </p:cNvPr>
          <p:cNvSpPr/>
          <p:nvPr/>
        </p:nvSpPr>
        <p:spPr>
          <a:xfrm>
            <a:off x="9131896" y="4066156"/>
            <a:ext cx="1868449" cy="3564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Stream analytic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0BFCE92-CD45-1F2E-BAC3-3D5664421EEC}"/>
              </a:ext>
            </a:extLst>
          </p:cNvPr>
          <p:cNvSpPr/>
          <p:nvPr/>
        </p:nvSpPr>
        <p:spPr>
          <a:xfrm>
            <a:off x="9135199" y="4722881"/>
            <a:ext cx="1868449" cy="861646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Classical supervised and unsupervised ML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8D29F56F-C3B7-87DD-BED0-7AB4923F3488}"/>
                  </a:ext>
                </a:extLst>
              </p:cNvPr>
              <p:cNvSpPr txBox="1"/>
              <p:nvPr/>
            </p:nvSpPr>
            <p:spPr>
              <a:xfrm>
                <a:off x="9811142" y="3451766"/>
                <a:ext cx="50995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8D29F56F-C3B7-87DD-BED0-7AB4923F34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1142" y="3451766"/>
                <a:ext cx="509954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Cylinder 45">
            <a:extLst>
              <a:ext uri="{FF2B5EF4-FFF2-40B4-BE49-F238E27FC236}">
                <a16:creationId xmlns:a16="http://schemas.microsoft.com/office/drawing/2014/main" id="{6E6E6B44-3FC1-9008-08D6-3DD1C7C55563}"/>
              </a:ext>
            </a:extLst>
          </p:cNvPr>
          <p:cNvSpPr/>
          <p:nvPr/>
        </p:nvSpPr>
        <p:spPr>
          <a:xfrm>
            <a:off x="6204768" y="4722881"/>
            <a:ext cx="2513216" cy="873333"/>
          </a:xfrm>
          <a:prstGeom prst="can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Archival storage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B51E0218-3F41-7C13-5390-73A8DC83519C}"/>
              </a:ext>
            </a:extLst>
          </p:cNvPr>
          <p:cNvCxnSpPr>
            <a:cxnSpLocks/>
            <a:stCxn id="5" idx="0"/>
            <a:endCxn id="25" idx="1"/>
          </p:cNvCxnSpPr>
          <p:nvPr/>
        </p:nvCxnSpPr>
        <p:spPr>
          <a:xfrm>
            <a:off x="2054518" y="2972635"/>
            <a:ext cx="278374" cy="27878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E8EECDF-E457-621F-FD3F-713EA0EF80D1}"/>
              </a:ext>
            </a:extLst>
          </p:cNvPr>
          <p:cNvCxnSpPr>
            <a:cxnSpLocks/>
            <a:stCxn id="22" idx="0"/>
            <a:endCxn id="27" idx="1"/>
          </p:cNvCxnSpPr>
          <p:nvPr/>
        </p:nvCxnSpPr>
        <p:spPr>
          <a:xfrm>
            <a:off x="2054517" y="3798937"/>
            <a:ext cx="257155" cy="6886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82F6063-6991-2858-3611-9A080A4A5E6E}"/>
              </a:ext>
            </a:extLst>
          </p:cNvPr>
          <p:cNvCxnSpPr>
            <a:cxnSpLocks/>
            <a:stCxn id="23" idx="0"/>
            <a:endCxn id="26" idx="1"/>
          </p:cNvCxnSpPr>
          <p:nvPr/>
        </p:nvCxnSpPr>
        <p:spPr>
          <a:xfrm>
            <a:off x="2025457" y="5041152"/>
            <a:ext cx="266502" cy="36396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AD28109-E642-4689-F507-1CF4266FB4A7}"/>
              </a:ext>
            </a:extLst>
          </p:cNvPr>
          <p:cNvCxnSpPr>
            <a:cxnSpLocks/>
            <a:endCxn id="31" idx="1"/>
          </p:cNvCxnSpPr>
          <p:nvPr/>
        </p:nvCxnSpPr>
        <p:spPr>
          <a:xfrm flipV="1">
            <a:off x="5837449" y="2874851"/>
            <a:ext cx="282292" cy="178238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DE1F9EF-56D5-B3E5-CD7C-A66F827BD708}"/>
              </a:ext>
            </a:extLst>
          </p:cNvPr>
          <p:cNvCxnSpPr>
            <a:cxnSpLocks/>
            <a:stCxn id="37" idx="9"/>
            <a:endCxn id="32" idx="1"/>
          </p:cNvCxnSpPr>
          <p:nvPr/>
        </p:nvCxnSpPr>
        <p:spPr>
          <a:xfrm flipV="1">
            <a:off x="5835123" y="3373558"/>
            <a:ext cx="349096" cy="52235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A1CAB4C-F072-CC56-89FB-1AF72DFB2C8A}"/>
              </a:ext>
            </a:extLst>
          </p:cNvPr>
          <p:cNvCxnSpPr>
            <a:cxnSpLocks/>
            <a:stCxn id="38" idx="9"/>
            <a:endCxn id="33" idx="1"/>
          </p:cNvCxnSpPr>
          <p:nvPr/>
        </p:nvCxnSpPr>
        <p:spPr>
          <a:xfrm flipV="1">
            <a:off x="5834760" y="4244395"/>
            <a:ext cx="349459" cy="935493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4DB641CD-1957-A7FD-0DAB-DE0776A03237}"/>
              </a:ext>
            </a:extLst>
          </p:cNvPr>
          <p:cNvCxnSpPr>
            <a:cxnSpLocks/>
            <a:stCxn id="33" idx="2"/>
            <a:endCxn id="46" idx="0"/>
          </p:cNvCxnSpPr>
          <p:nvPr/>
        </p:nvCxnSpPr>
        <p:spPr>
          <a:xfrm>
            <a:off x="7440827" y="4422633"/>
            <a:ext cx="20549" cy="518581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5DADC93-C2D6-AB84-AA03-6D048B54CE10}"/>
              </a:ext>
            </a:extLst>
          </p:cNvPr>
          <p:cNvCxnSpPr>
            <a:cxnSpLocks/>
            <a:stCxn id="33" idx="3"/>
          </p:cNvCxnSpPr>
          <p:nvPr/>
        </p:nvCxnSpPr>
        <p:spPr>
          <a:xfrm>
            <a:off x="8697435" y="4244395"/>
            <a:ext cx="389875" cy="875057"/>
          </a:xfrm>
          <a:prstGeom prst="straightConnector1">
            <a:avLst/>
          </a:prstGeom>
          <a:ln w="349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F7F65591-3037-33B3-7B54-2A1765DEF082}"/>
              </a:ext>
            </a:extLst>
          </p:cNvPr>
          <p:cNvCxnSpPr>
            <a:cxnSpLocks/>
            <a:stCxn id="32" idx="3"/>
          </p:cNvCxnSpPr>
          <p:nvPr/>
        </p:nvCxnSpPr>
        <p:spPr>
          <a:xfrm>
            <a:off x="8632959" y="3373558"/>
            <a:ext cx="426376" cy="1632160"/>
          </a:xfrm>
          <a:prstGeom prst="straightConnector1">
            <a:avLst/>
          </a:prstGeom>
          <a:ln w="349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9E7D02E5-6303-25E3-0928-42F96D47ECB7}"/>
              </a:ext>
            </a:extLst>
          </p:cNvPr>
          <p:cNvCxnSpPr>
            <a:cxnSpLocks/>
            <a:stCxn id="31" idx="3"/>
            <a:endCxn id="44" idx="1"/>
          </p:cNvCxnSpPr>
          <p:nvPr/>
        </p:nvCxnSpPr>
        <p:spPr>
          <a:xfrm>
            <a:off x="8632958" y="2874851"/>
            <a:ext cx="502241" cy="2278853"/>
          </a:xfrm>
          <a:prstGeom prst="straightConnector1">
            <a:avLst/>
          </a:prstGeom>
          <a:ln w="349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184A2591-29C2-7E5D-1A4A-8B1BFE4DAAF6}"/>
              </a:ext>
            </a:extLst>
          </p:cNvPr>
          <p:cNvCxnSpPr>
            <a:cxnSpLocks/>
            <a:stCxn id="46" idx="4"/>
            <a:endCxn id="44" idx="1"/>
          </p:cNvCxnSpPr>
          <p:nvPr/>
        </p:nvCxnSpPr>
        <p:spPr>
          <a:xfrm flipV="1">
            <a:off x="8717984" y="5153704"/>
            <a:ext cx="417215" cy="5844"/>
          </a:xfrm>
          <a:prstGeom prst="straightConnector1">
            <a:avLst/>
          </a:prstGeom>
          <a:ln w="3492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642906AC-9F1D-E9C0-AB5F-C339A0A2D955}"/>
              </a:ext>
            </a:extLst>
          </p:cNvPr>
          <p:cNvCxnSpPr>
            <a:cxnSpLocks/>
            <a:stCxn id="31" idx="3"/>
            <a:endCxn id="40" idx="1"/>
          </p:cNvCxnSpPr>
          <p:nvPr/>
        </p:nvCxnSpPr>
        <p:spPr>
          <a:xfrm>
            <a:off x="8632958" y="2874851"/>
            <a:ext cx="498939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FB0218A8-51CE-A713-CA90-8F2111EB0327}"/>
              </a:ext>
            </a:extLst>
          </p:cNvPr>
          <p:cNvCxnSpPr>
            <a:cxnSpLocks/>
          </p:cNvCxnSpPr>
          <p:nvPr/>
        </p:nvCxnSpPr>
        <p:spPr>
          <a:xfrm>
            <a:off x="8632957" y="3373557"/>
            <a:ext cx="498939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8F2A95F1-52C0-9583-7C69-41A44F70DD6F}"/>
              </a:ext>
            </a:extLst>
          </p:cNvPr>
          <p:cNvCxnSpPr>
            <a:cxnSpLocks/>
          </p:cNvCxnSpPr>
          <p:nvPr/>
        </p:nvCxnSpPr>
        <p:spPr>
          <a:xfrm>
            <a:off x="8677121" y="4277288"/>
            <a:ext cx="498939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11F6F2C-8680-4682-07B9-A73049FC5508}"/>
              </a:ext>
            </a:extLst>
          </p:cNvPr>
          <p:cNvCxnSpPr>
            <a:cxnSpLocks/>
            <a:stCxn id="43" idx="2"/>
            <a:endCxn id="44" idx="0"/>
          </p:cNvCxnSpPr>
          <p:nvPr/>
        </p:nvCxnSpPr>
        <p:spPr>
          <a:xfrm>
            <a:off x="10066121" y="4422633"/>
            <a:ext cx="3303" cy="300248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7090DB8-78A8-4FFE-B4CA-1B58E8C646FD}"/>
              </a:ext>
            </a:extLst>
          </p:cNvPr>
          <p:cNvSpPr txBox="1">
            <a:spLocks/>
          </p:cNvSpPr>
          <p:nvPr/>
        </p:nvSpPr>
        <p:spPr>
          <a:xfrm>
            <a:off x="427654" y="1671281"/>
            <a:ext cx="3768035" cy="72628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Streams can be filtered and sampled near the source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BE42AA9-2217-0BE4-9DF5-5BAC09302A05}"/>
              </a:ext>
            </a:extLst>
          </p:cNvPr>
          <p:cNvSpPr txBox="1">
            <a:spLocks/>
          </p:cNvSpPr>
          <p:nvPr/>
        </p:nvSpPr>
        <p:spPr>
          <a:xfrm>
            <a:off x="1540950" y="5827194"/>
            <a:ext cx="3768035" cy="72628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Minimum (filtered) data and analytics archived 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1F3C5B9-4BC8-FE5A-9D36-4FF77AE5C2F9}"/>
              </a:ext>
            </a:extLst>
          </p:cNvPr>
          <p:cNvSpPr txBox="1">
            <a:spLocks/>
          </p:cNvSpPr>
          <p:nvPr/>
        </p:nvSpPr>
        <p:spPr>
          <a:xfrm>
            <a:off x="7051729" y="6107624"/>
            <a:ext cx="4370522" cy="72628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Filtered streams and sketches used as input to classical ML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4E17356-02A5-5A9C-DA41-A052207E81D5}"/>
              </a:ext>
            </a:extLst>
          </p:cNvPr>
          <p:cNvCxnSpPr>
            <a:cxnSpLocks/>
          </p:cNvCxnSpPr>
          <p:nvPr/>
        </p:nvCxnSpPr>
        <p:spPr>
          <a:xfrm>
            <a:off x="2407403" y="2295711"/>
            <a:ext cx="460458" cy="328615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3F18C9F-74FA-247A-75D7-99FF178138FE}"/>
              </a:ext>
            </a:extLst>
          </p:cNvPr>
          <p:cNvCxnSpPr>
            <a:cxnSpLocks/>
            <a:endCxn id="46" idx="2"/>
          </p:cNvCxnSpPr>
          <p:nvPr/>
        </p:nvCxnSpPr>
        <p:spPr>
          <a:xfrm flipV="1">
            <a:off x="5221521" y="5159548"/>
            <a:ext cx="983247" cy="776218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DB36079-8E59-DDD0-B06B-679271349A28}"/>
              </a:ext>
            </a:extLst>
          </p:cNvPr>
          <p:cNvCxnSpPr>
            <a:cxnSpLocks/>
            <a:endCxn id="44" idx="2"/>
          </p:cNvCxnSpPr>
          <p:nvPr/>
        </p:nvCxnSpPr>
        <p:spPr>
          <a:xfrm flipV="1">
            <a:off x="9481399" y="5584527"/>
            <a:ext cx="588025" cy="582557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1F8F89D1-355A-3F18-1B02-4A04FAA114A8}"/>
              </a:ext>
            </a:extLst>
          </p:cNvPr>
          <p:cNvCxnSpPr>
            <a:cxnSpLocks/>
          </p:cNvCxnSpPr>
          <p:nvPr/>
        </p:nvCxnSpPr>
        <p:spPr>
          <a:xfrm flipH="1">
            <a:off x="7496124" y="2295711"/>
            <a:ext cx="1221860" cy="400901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157E3301-4B16-54CC-7667-81997F867D15}"/>
              </a:ext>
            </a:extLst>
          </p:cNvPr>
          <p:cNvSpPr/>
          <p:nvPr/>
        </p:nvSpPr>
        <p:spPr>
          <a:xfrm>
            <a:off x="7496123" y="5661834"/>
            <a:ext cx="2043953" cy="356477"/>
          </a:xfrm>
          <a:prstGeom prst="rect">
            <a:avLst/>
          </a:prstGeom>
          <a:noFill/>
          <a:ln w="222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Server/Cloud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2BAEE4C-A2B8-A0A4-1F12-1043A76D7EB8}"/>
              </a:ext>
            </a:extLst>
          </p:cNvPr>
          <p:cNvCxnSpPr>
            <a:cxnSpLocks/>
          </p:cNvCxnSpPr>
          <p:nvPr/>
        </p:nvCxnSpPr>
        <p:spPr>
          <a:xfrm flipH="1">
            <a:off x="8697435" y="2972635"/>
            <a:ext cx="434461" cy="2004842"/>
          </a:xfrm>
          <a:prstGeom prst="straightConnector1">
            <a:avLst/>
          </a:prstGeom>
          <a:ln w="3492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9223B7C-EEF5-53F3-3BB2-26DA92581E11}"/>
              </a:ext>
            </a:extLst>
          </p:cNvPr>
          <p:cNvCxnSpPr>
            <a:cxnSpLocks/>
          </p:cNvCxnSpPr>
          <p:nvPr/>
        </p:nvCxnSpPr>
        <p:spPr>
          <a:xfrm flipH="1">
            <a:off x="8717984" y="3551796"/>
            <a:ext cx="502216" cy="1425681"/>
          </a:xfrm>
          <a:prstGeom prst="straightConnector1">
            <a:avLst/>
          </a:prstGeom>
          <a:ln w="3492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FDDDF9A6-A30D-A4F5-ED6F-FC4FDE4CE2D0}"/>
              </a:ext>
            </a:extLst>
          </p:cNvPr>
          <p:cNvCxnSpPr>
            <a:cxnSpLocks/>
          </p:cNvCxnSpPr>
          <p:nvPr/>
        </p:nvCxnSpPr>
        <p:spPr>
          <a:xfrm flipH="1">
            <a:off x="8717984" y="4422633"/>
            <a:ext cx="502216" cy="518581"/>
          </a:xfrm>
          <a:prstGeom prst="straightConnector1">
            <a:avLst/>
          </a:prstGeom>
          <a:ln w="3492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61527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49585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Count-min-sketch</a:t>
            </a:r>
            <a:r>
              <a:rPr lang="en-US" dirty="0"/>
              <a:t> algorithm efficiently counts events  </a:t>
            </a:r>
            <a:endParaRPr lang="en-US" b="1" dirty="0"/>
          </a:p>
          <a:p>
            <a:r>
              <a:rPr lang="en-US" dirty="0"/>
              <a:t>A full count table needs an entry for every possible event identifier   </a:t>
            </a:r>
          </a:p>
          <a:p>
            <a:pPr lvl="1"/>
            <a:r>
              <a:rPr lang="en-US" dirty="0"/>
              <a:t>Size is unbounded</a:t>
            </a:r>
          </a:p>
          <a:p>
            <a:pPr lvl="1"/>
            <a:r>
              <a:rPr lang="en-US" dirty="0"/>
              <a:t>Unmanageable for large event set</a:t>
            </a:r>
          </a:p>
          <a:p>
            <a:r>
              <a:rPr lang="en-US" dirty="0"/>
              <a:t>We need a better approach!    </a:t>
            </a:r>
          </a:p>
          <a:p>
            <a:r>
              <a:rPr lang="en-US" dirty="0"/>
              <a:t>A </a:t>
            </a:r>
            <a:r>
              <a:rPr lang="en-US" b="1" dirty="0"/>
              <a:t>sketch</a:t>
            </a:r>
            <a:r>
              <a:rPr lang="en-US" dirty="0"/>
              <a:t> is a minimal (approximate) representation of a data structure   </a:t>
            </a:r>
          </a:p>
          <a:p>
            <a:pPr lvl="1"/>
            <a:r>
              <a:rPr lang="en-US" dirty="0"/>
              <a:t>Use probabilistic sampling for approximate solution </a:t>
            </a:r>
          </a:p>
          <a:p>
            <a:pPr lvl="1"/>
            <a:r>
              <a:rPr lang="en-US" dirty="0"/>
              <a:t>Compact hash table as representation   </a:t>
            </a:r>
          </a:p>
          <a:p>
            <a:r>
              <a:rPr lang="en-US" dirty="0"/>
              <a:t>Create a hash </a:t>
            </a:r>
            <a:r>
              <a:rPr lang="en-US" b="1" dirty="0"/>
              <a:t>sketch</a:t>
            </a:r>
            <a:r>
              <a:rPr lang="en-US" dirty="0"/>
              <a:t> of the counts using hash functions    </a:t>
            </a:r>
          </a:p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Counting Events </a:t>
            </a:r>
          </a:p>
        </p:txBody>
      </p:sp>
    </p:spTree>
    <p:extLst>
      <p:ext uri="{BB962C8B-B14F-4D97-AF65-F5344CB8AC3E}">
        <p14:creationId xmlns:p14="http://schemas.microsoft.com/office/powerpoint/2010/main" val="870398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7"/>
            <a:ext cx="10515600" cy="2143776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Count-min-sketch</a:t>
            </a:r>
            <a:r>
              <a:rPr lang="en-US" dirty="0"/>
              <a:t> employs a compact 2-dimensional data structure</a:t>
            </a:r>
          </a:p>
          <a:p>
            <a:r>
              <a:rPr lang="en-US" dirty="0"/>
              <a:t>Depth, </a:t>
            </a:r>
            <a:r>
              <a:rPr lang="en-US" i="1" dirty="0"/>
              <a:t>d</a:t>
            </a:r>
            <a:r>
              <a:rPr lang="en-US" dirty="0"/>
              <a:t>, hash functions, typically 10s </a:t>
            </a:r>
          </a:p>
          <a:p>
            <a:r>
              <a:rPr lang="en-US" dirty="0"/>
              <a:t>Width, </a:t>
            </a:r>
            <a:r>
              <a:rPr lang="en-US" i="1" dirty="0"/>
              <a:t>w</a:t>
            </a:r>
            <a:r>
              <a:rPr lang="en-US" dirty="0"/>
              <a:t>, buckets, typically 1000s   </a:t>
            </a:r>
            <a:endParaRPr lang="en-US" b="1" dirty="0"/>
          </a:p>
          <a:p>
            <a:r>
              <a:rPr lang="en-US" dirty="0"/>
              <a:t>Compact data structure size leads to hash collisions  </a:t>
            </a:r>
          </a:p>
          <a:p>
            <a:pPr lvl="1"/>
            <a:endParaRPr lang="en-US" dirty="0">
              <a:highlight>
                <a:srgbClr val="4472C4"/>
              </a:highlight>
              <a:latin typeface="Arial" panose="020B0604020202020204" pitchFamily="34" charset="0"/>
            </a:endParaRPr>
          </a:p>
          <a:p>
            <a:pPr lvl="1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Counting Events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83E69D-DC0B-489F-12B2-55C3BC54CB51}"/>
                  </a:ext>
                </a:extLst>
              </p:cNvPr>
              <p:cNvSpPr txBox="1"/>
              <p:nvPr/>
            </p:nvSpPr>
            <p:spPr>
              <a:xfrm>
                <a:off x="2643145" y="4469405"/>
                <a:ext cx="101990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/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83E69D-DC0B-489F-12B2-55C3BC54CB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3145" y="4469405"/>
                <a:ext cx="1019908" cy="461665"/>
              </a:xfrm>
              <a:prstGeom prst="rect">
                <a:avLst/>
              </a:prstGeom>
              <a:blipFill>
                <a:blip r:embed="rId2"/>
                <a:stretch>
                  <a:fillRect l="-1796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71330FF-7D8B-EB4A-83C7-6E422CD41A28}"/>
                  </a:ext>
                </a:extLst>
              </p:cNvPr>
              <p:cNvSpPr txBox="1"/>
              <p:nvPr/>
            </p:nvSpPr>
            <p:spPr>
              <a:xfrm>
                <a:off x="2643145" y="4919690"/>
                <a:ext cx="101990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/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71330FF-7D8B-EB4A-83C7-6E422CD41A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3145" y="4919690"/>
                <a:ext cx="1019908" cy="461665"/>
              </a:xfrm>
              <a:prstGeom prst="rect">
                <a:avLst/>
              </a:prstGeom>
              <a:blipFill>
                <a:blip r:embed="rId3"/>
                <a:stretch>
                  <a:fillRect l="-1796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463B6E-DAD6-9FFC-2DAD-38ABE7788857}"/>
                  </a:ext>
                </a:extLst>
              </p:cNvPr>
              <p:cNvSpPr txBox="1"/>
              <p:nvPr/>
            </p:nvSpPr>
            <p:spPr>
              <a:xfrm>
                <a:off x="2643145" y="5369975"/>
                <a:ext cx="101990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/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463B6E-DAD6-9FFC-2DAD-38ABE77888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3145" y="5369975"/>
                <a:ext cx="1019908" cy="461665"/>
              </a:xfrm>
              <a:prstGeom prst="rect">
                <a:avLst/>
              </a:prstGeom>
              <a:blipFill>
                <a:blip r:embed="rId4"/>
                <a:stretch>
                  <a:fillRect l="-17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86DB07-CC93-6ADC-CE2E-28454D30DE35}"/>
                  </a:ext>
                </a:extLst>
              </p:cNvPr>
              <p:cNvSpPr txBox="1"/>
              <p:nvPr/>
            </p:nvSpPr>
            <p:spPr>
              <a:xfrm>
                <a:off x="2643145" y="5820260"/>
                <a:ext cx="101990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/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86DB07-CC93-6ADC-CE2E-28454D30D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3145" y="5820260"/>
                <a:ext cx="1019908" cy="461665"/>
              </a:xfrm>
              <a:prstGeom prst="rect">
                <a:avLst/>
              </a:prstGeom>
              <a:blipFill>
                <a:blip r:embed="rId5"/>
                <a:stretch>
                  <a:fillRect l="-1796"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061A3BD-4862-5A07-0286-5CF93765C0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2843086"/>
              </p:ext>
            </p:extLst>
          </p:nvPr>
        </p:nvGraphicFramePr>
        <p:xfrm>
          <a:off x="3770514" y="4082544"/>
          <a:ext cx="8128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345504184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627631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68823034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44477571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7472831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6274949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93218125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7677781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5524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5797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083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274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5044137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AFA28E64-333A-4387-E5FC-A77C30999DFB}"/>
              </a:ext>
            </a:extLst>
          </p:cNvPr>
          <p:cNvSpPr txBox="1"/>
          <p:nvPr/>
        </p:nvSpPr>
        <p:spPr>
          <a:xfrm>
            <a:off x="357144" y="5000643"/>
            <a:ext cx="19870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Depth, </a:t>
            </a:r>
            <a:r>
              <a:rPr lang="en-US" sz="2400" i="1" dirty="0"/>
              <a:t>d</a:t>
            </a:r>
            <a:r>
              <a:rPr lang="en-US" sz="2400" dirty="0"/>
              <a:t>, hash functions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9DA85E0-978C-52BE-6CB8-1A7D33E9ABFD}"/>
              </a:ext>
            </a:extLst>
          </p:cNvPr>
          <p:cNvCxnSpPr>
            <a:cxnSpLocks/>
            <a:stCxn id="15" idx="0"/>
          </p:cNvCxnSpPr>
          <p:nvPr/>
        </p:nvCxnSpPr>
        <p:spPr>
          <a:xfrm flipV="1">
            <a:off x="1350675" y="4456796"/>
            <a:ext cx="0" cy="543847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BB0DD11-C18A-F999-3D58-7F2EDEBFBFEF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1350675" y="5831640"/>
            <a:ext cx="6351" cy="536904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99F213C9-E40A-FC07-2914-3F1523E740F4}"/>
              </a:ext>
            </a:extLst>
          </p:cNvPr>
          <p:cNvSpPr txBox="1"/>
          <p:nvPr/>
        </p:nvSpPr>
        <p:spPr>
          <a:xfrm>
            <a:off x="6565979" y="3544791"/>
            <a:ext cx="2537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Width, </a:t>
            </a:r>
            <a:r>
              <a:rPr lang="en-US" sz="2400" i="1" dirty="0"/>
              <a:t>w</a:t>
            </a:r>
            <a:r>
              <a:rPr lang="en-US" sz="2400" dirty="0"/>
              <a:t>, buckets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AA2D7EF-2029-3900-DF49-6F0BF05A8D04}"/>
              </a:ext>
            </a:extLst>
          </p:cNvPr>
          <p:cNvCxnSpPr>
            <a:cxnSpLocks/>
            <a:stCxn id="22" idx="3"/>
          </p:cNvCxnSpPr>
          <p:nvPr/>
        </p:nvCxnSpPr>
        <p:spPr>
          <a:xfrm>
            <a:off x="9103048" y="3775624"/>
            <a:ext cx="2795466" cy="12339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DF951D2-E896-1262-1904-D73C4F8B6DB2}"/>
              </a:ext>
            </a:extLst>
          </p:cNvPr>
          <p:cNvCxnSpPr>
            <a:cxnSpLocks/>
          </p:cNvCxnSpPr>
          <p:nvPr/>
        </p:nvCxnSpPr>
        <p:spPr>
          <a:xfrm flipH="1" flipV="1">
            <a:off x="3770514" y="3775623"/>
            <a:ext cx="2676769" cy="617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3687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  <p:bldP spid="8" grpId="0"/>
      <p:bldP spid="15" grpId="0"/>
      <p:bldP spid="22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495851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Count-min-sketch</a:t>
            </a:r>
            <a:r>
              <a:rPr lang="en-US" dirty="0"/>
              <a:t> algorithm efficiently counts events  </a:t>
            </a:r>
            <a:endParaRPr lang="en-US" b="1" dirty="0"/>
          </a:p>
          <a:p>
            <a:r>
              <a:rPr lang="en-US" dirty="0"/>
              <a:t>A sketch is a minimal (approximate) representation of a data structure   </a:t>
            </a:r>
          </a:p>
          <a:p>
            <a:r>
              <a:rPr lang="en-US" dirty="0"/>
              <a:t>The count-min-sketch algorithm uses </a:t>
            </a:r>
            <a:r>
              <a:rPr lang="en-US" b="1" dirty="0"/>
              <a:t>probabilistic sampling  </a:t>
            </a:r>
          </a:p>
          <a:p>
            <a:r>
              <a:rPr lang="en-US" dirty="0"/>
              <a:t>Counts of events are added to the hash buckets in the sketch data structure</a:t>
            </a:r>
          </a:p>
          <a:p>
            <a:r>
              <a:rPr lang="en-US" dirty="0"/>
              <a:t>If no hash collisions, event counts in buckets for event identifier are exact</a:t>
            </a:r>
          </a:p>
          <a:p>
            <a:r>
              <a:rPr lang="en-US" dirty="0"/>
              <a:t>With inevitable </a:t>
            </a:r>
            <a:r>
              <a:rPr lang="en-US" b="1" dirty="0"/>
              <a:t>hash collisions use minimum count </a:t>
            </a:r>
            <a:r>
              <a:rPr lang="en-US" dirty="0"/>
              <a:t>in the hash buckets for the event identifier  </a:t>
            </a:r>
          </a:p>
          <a:p>
            <a:pPr lvl="1"/>
            <a:r>
              <a:rPr lang="en-US" dirty="0"/>
              <a:t>Never get an under-count</a:t>
            </a:r>
          </a:p>
          <a:p>
            <a:pPr lvl="1"/>
            <a:r>
              <a:rPr lang="en-US" dirty="0"/>
              <a:t>Get over-count with some probability  </a:t>
            </a:r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Counting Events </a:t>
            </a:r>
          </a:p>
        </p:txBody>
      </p:sp>
    </p:spTree>
    <p:extLst>
      <p:ext uri="{BB962C8B-B14F-4D97-AF65-F5344CB8AC3E}">
        <p14:creationId xmlns:p14="http://schemas.microsoft.com/office/powerpoint/2010/main" val="3526724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192822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Count-min-sketch</a:t>
            </a:r>
            <a:r>
              <a:rPr lang="en-US" dirty="0"/>
              <a:t> employs a 2-dimensional data structure   </a:t>
            </a:r>
            <a:endParaRPr lang="en-US" b="1" dirty="0"/>
          </a:p>
          <a:p>
            <a:r>
              <a:rPr lang="en-US" dirty="0"/>
              <a:t>Example, count events u, v, w, x, y</a:t>
            </a:r>
          </a:p>
          <a:p>
            <a:r>
              <a:rPr lang="en-US" dirty="0"/>
              <a:t>Event is tuple, </a:t>
            </a:r>
            <a:r>
              <a:rPr lang="en-US" i="1" dirty="0"/>
              <a:t>(identifier, occurrences) </a:t>
            </a:r>
          </a:p>
          <a:p>
            <a:r>
              <a:rPr lang="en-US" b="1" dirty="0"/>
              <a:t>Event </a:t>
            </a:r>
            <a:r>
              <a:rPr lang="en-US" b="1" i="1" dirty="0"/>
              <a:t>(u,1)</a:t>
            </a:r>
            <a:r>
              <a:rPr lang="en-US" dirty="0"/>
              <a:t>, add 1 to buckets indexed by hash functions for key </a:t>
            </a:r>
            <a:r>
              <a:rPr lang="en-US" i="1" dirty="0"/>
              <a:t>u</a:t>
            </a:r>
            <a:r>
              <a:rPr lang="en-US" dirty="0"/>
              <a:t>  </a:t>
            </a:r>
            <a:endParaRPr lang="en-US" dirty="0">
              <a:highlight>
                <a:srgbClr val="4472C4"/>
              </a:highlight>
              <a:latin typeface="Arial" panose="020B0604020202020204" pitchFamily="34" charset="0"/>
            </a:endParaRPr>
          </a:p>
          <a:p>
            <a:pPr lvl="1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Counting Events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83E69D-DC0B-489F-12B2-55C3BC54CB51}"/>
                  </a:ext>
                </a:extLst>
              </p:cNvPr>
              <p:cNvSpPr txBox="1"/>
              <p:nvPr/>
            </p:nvSpPr>
            <p:spPr>
              <a:xfrm>
                <a:off x="2045676" y="3991708"/>
                <a:ext cx="16705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83E69D-DC0B-489F-12B2-55C3BC54CB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6" y="3991708"/>
                <a:ext cx="1670540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71330FF-7D8B-EB4A-83C7-6E422CD41A28}"/>
                  </a:ext>
                </a:extLst>
              </p:cNvPr>
              <p:cNvSpPr txBox="1"/>
              <p:nvPr/>
            </p:nvSpPr>
            <p:spPr>
              <a:xfrm>
                <a:off x="2045677" y="4441993"/>
                <a:ext cx="16705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=7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71330FF-7D8B-EB4A-83C7-6E422CD41A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7" y="4441993"/>
                <a:ext cx="1670540" cy="461665"/>
              </a:xfrm>
              <a:prstGeom prst="rect">
                <a:avLst/>
              </a:prstGeom>
              <a:blipFill>
                <a:blip r:embed="rId3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463B6E-DAD6-9FFC-2DAD-38ABE7788857}"/>
                  </a:ext>
                </a:extLst>
              </p:cNvPr>
              <p:cNvSpPr txBox="1"/>
              <p:nvPr/>
            </p:nvSpPr>
            <p:spPr>
              <a:xfrm>
                <a:off x="2045676" y="4892278"/>
                <a:ext cx="16705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463B6E-DAD6-9FFC-2DAD-38ABE77888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6" y="4892278"/>
                <a:ext cx="1670540" cy="461665"/>
              </a:xfrm>
              <a:prstGeom prst="rect">
                <a:avLst/>
              </a:prstGeom>
              <a:blipFill>
                <a:blip r:embed="rId4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86DB07-CC93-6ADC-CE2E-28454D30DE35}"/>
                  </a:ext>
                </a:extLst>
              </p:cNvPr>
              <p:cNvSpPr txBox="1"/>
              <p:nvPr/>
            </p:nvSpPr>
            <p:spPr>
              <a:xfrm>
                <a:off x="2045675" y="5342563"/>
                <a:ext cx="167054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86DB07-CC93-6ADC-CE2E-28454D30D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5" y="5342563"/>
                <a:ext cx="1670541" cy="461665"/>
              </a:xfrm>
              <a:prstGeom prst="rect">
                <a:avLst/>
              </a:prstGeom>
              <a:blipFill>
                <a:blip r:embed="rId5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061A3BD-4862-5A07-0286-5CF93765C0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5812917"/>
              </p:ext>
            </p:extLst>
          </p:nvPr>
        </p:nvGraphicFramePr>
        <p:xfrm>
          <a:off x="3823677" y="3604847"/>
          <a:ext cx="8128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345504184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627631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68823034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44477571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7472831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6274949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93218125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7677781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5524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5797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083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274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50441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7742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  <p:bldP spid="8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7"/>
            <a:ext cx="10515600" cy="221649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Count-min-sketch</a:t>
            </a:r>
            <a:r>
              <a:rPr lang="en-US" dirty="0"/>
              <a:t> employs a 2-dimensional data structure   </a:t>
            </a:r>
            <a:endParaRPr lang="en-US" b="1" dirty="0"/>
          </a:p>
          <a:p>
            <a:r>
              <a:rPr lang="en-US" dirty="0"/>
              <a:t>Example, count events u, v, w, x, y</a:t>
            </a:r>
          </a:p>
          <a:p>
            <a:r>
              <a:rPr lang="en-US" dirty="0"/>
              <a:t>Event is tuple, (identifier, occurrences) </a:t>
            </a:r>
          </a:p>
          <a:p>
            <a:r>
              <a:rPr lang="en-US" b="1" dirty="0"/>
              <a:t>Event (v,2)</a:t>
            </a:r>
            <a:r>
              <a:rPr lang="en-US" dirty="0"/>
              <a:t>, add 2 to buckets indexed by hash functions, hash collision</a:t>
            </a:r>
            <a:endParaRPr lang="en-US" dirty="0">
              <a:highlight>
                <a:srgbClr val="4472C4"/>
              </a:highlight>
              <a:latin typeface="Arial" panose="020B0604020202020204" pitchFamily="34" charset="0"/>
            </a:endParaRPr>
          </a:p>
          <a:p>
            <a:pPr lvl="1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Counting Events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83E69D-DC0B-489F-12B2-55C3BC54CB51}"/>
                  </a:ext>
                </a:extLst>
              </p:cNvPr>
              <p:cNvSpPr txBox="1"/>
              <p:nvPr/>
            </p:nvSpPr>
            <p:spPr>
              <a:xfrm>
                <a:off x="2045676" y="3991708"/>
                <a:ext cx="16705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83E69D-DC0B-489F-12B2-55C3BC54CB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6" y="3991708"/>
                <a:ext cx="1670540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71330FF-7D8B-EB4A-83C7-6E422CD41A28}"/>
                  </a:ext>
                </a:extLst>
              </p:cNvPr>
              <p:cNvSpPr txBox="1"/>
              <p:nvPr/>
            </p:nvSpPr>
            <p:spPr>
              <a:xfrm>
                <a:off x="2045677" y="4441993"/>
                <a:ext cx="16705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71330FF-7D8B-EB4A-83C7-6E422CD41A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7" y="4441993"/>
                <a:ext cx="1670540" cy="461665"/>
              </a:xfrm>
              <a:prstGeom prst="rect">
                <a:avLst/>
              </a:prstGeom>
              <a:blipFill>
                <a:blip r:embed="rId3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463B6E-DAD6-9FFC-2DAD-38ABE7788857}"/>
                  </a:ext>
                </a:extLst>
              </p:cNvPr>
              <p:cNvSpPr txBox="1"/>
              <p:nvPr/>
            </p:nvSpPr>
            <p:spPr>
              <a:xfrm>
                <a:off x="2045676" y="4892278"/>
                <a:ext cx="16705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463B6E-DAD6-9FFC-2DAD-38ABE77888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6" y="4892278"/>
                <a:ext cx="1670540" cy="461665"/>
              </a:xfrm>
              <a:prstGeom prst="rect">
                <a:avLst/>
              </a:prstGeom>
              <a:blipFill>
                <a:blip r:embed="rId4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86DB07-CC93-6ADC-CE2E-28454D30DE35}"/>
                  </a:ext>
                </a:extLst>
              </p:cNvPr>
              <p:cNvSpPr txBox="1"/>
              <p:nvPr/>
            </p:nvSpPr>
            <p:spPr>
              <a:xfrm>
                <a:off x="2045675" y="5342563"/>
                <a:ext cx="167054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86DB07-CC93-6ADC-CE2E-28454D30D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5" y="5342563"/>
                <a:ext cx="1670541" cy="461665"/>
              </a:xfrm>
              <a:prstGeom prst="rect">
                <a:avLst/>
              </a:prstGeom>
              <a:blipFill>
                <a:blip r:embed="rId5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061A3BD-4862-5A07-0286-5CF93765C0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3493742"/>
              </p:ext>
            </p:extLst>
          </p:nvPr>
        </p:nvGraphicFramePr>
        <p:xfrm>
          <a:off x="3823677" y="3604847"/>
          <a:ext cx="8128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345504184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627631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68823034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44477571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7472831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6274949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93218125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7677781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5524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5797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083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274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50441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677195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192822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Count-min-sketch</a:t>
            </a:r>
            <a:r>
              <a:rPr lang="en-US" dirty="0"/>
              <a:t> employs a 2-dimensional data structure   </a:t>
            </a:r>
            <a:endParaRPr lang="en-US" b="1" dirty="0"/>
          </a:p>
          <a:p>
            <a:r>
              <a:rPr lang="en-US" dirty="0"/>
              <a:t>Example, count events u, v, w, x, y</a:t>
            </a:r>
          </a:p>
          <a:p>
            <a:r>
              <a:rPr lang="en-US" dirty="0"/>
              <a:t>Event is tuple, (identifier, occurrences) </a:t>
            </a:r>
          </a:p>
          <a:p>
            <a:r>
              <a:rPr lang="en-US" b="1" dirty="0"/>
              <a:t>Event (w,1)</a:t>
            </a:r>
            <a:r>
              <a:rPr lang="en-US" dirty="0"/>
              <a:t>, add 1 to buckets, hash collision </a:t>
            </a:r>
            <a:endParaRPr lang="en-US" dirty="0">
              <a:highlight>
                <a:srgbClr val="4472C4"/>
              </a:highlight>
              <a:latin typeface="Arial" panose="020B0604020202020204" pitchFamily="34" charset="0"/>
            </a:endParaRPr>
          </a:p>
          <a:p>
            <a:pPr lvl="1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Counting Events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83E69D-DC0B-489F-12B2-55C3BC54CB51}"/>
                  </a:ext>
                </a:extLst>
              </p:cNvPr>
              <p:cNvSpPr txBox="1"/>
              <p:nvPr/>
            </p:nvSpPr>
            <p:spPr>
              <a:xfrm>
                <a:off x="2045676" y="3991708"/>
                <a:ext cx="16705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83E69D-DC0B-489F-12B2-55C3BC54CB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6" y="3991708"/>
                <a:ext cx="1670540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71330FF-7D8B-EB4A-83C7-6E422CD41A28}"/>
                  </a:ext>
                </a:extLst>
              </p:cNvPr>
              <p:cNvSpPr txBox="1"/>
              <p:nvPr/>
            </p:nvSpPr>
            <p:spPr>
              <a:xfrm>
                <a:off x="2045677" y="4441993"/>
                <a:ext cx="16705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71330FF-7D8B-EB4A-83C7-6E422CD41A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7" y="4441993"/>
                <a:ext cx="1670540" cy="461665"/>
              </a:xfrm>
              <a:prstGeom prst="rect">
                <a:avLst/>
              </a:prstGeom>
              <a:blipFill>
                <a:blip r:embed="rId3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463B6E-DAD6-9FFC-2DAD-38ABE7788857}"/>
                  </a:ext>
                </a:extLst>
              </p:cNvPr>
              <p:cNvSpPr txBox="1"/>
              <p:nvPr/>
            </p:nvSpPr>
            <p:spPr>
              <a:xfrm>
                <a:off x="2045676" y="4892278"/>
                <a:ext cx="16705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463B6E-DAD6-9FFC-2DAD-38ABE77888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6" y="4892278"/>
                <a:ext cx="1670540" cy="461665"/>
              </a:xfrm>
              <a:prstGeom prst="rect">
                <a:avLst/>
              </a:prstGeom>
              <a:blipFill>
                <a:blip r:embed="rId4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86DB07-CC93-6ADC-CE2E-28454D30DE35}"/>
                  </a:ext>
                </a:extLst>
              </p:cNvPr>
              <p:cNvSpPr txBox="1"/>
              <p:nvPr/>
            </p:nvSpPr>
            <p:spPr>
              <a:xfrm>
                <a:off x="2045675" y="5342563"/>
                <a:ext cx="167054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86DB07-CC93-6ADC-CE2E-28454D30D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5" y="5342563"/>
                <a:ext cx="1670541" cy="461665"/>
              </a:xfrm>
              <a:prstGeom prst="rect">
                <a:avLst/>
              </a:prstGeom>
              <a:blipFill>
                <a:blip r:embed="rId5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061A3BD-4862-5A07-0286-5CF93765C0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0172519"/>
              </p:ext>
            </p:extLst>
          </p:nvPr>
        </p:nvGraphicFramePr>
        <p:xfrm>
          <a:off x="3823677" y="3604847"/>
          <a:ext cx="8128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345504184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627631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68823034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44477571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7472831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6274949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93218125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7677781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5524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5797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083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274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50441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637632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192822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Count-min-sketch</a:t>
            </a:r>
            <a:r>
              <a:rPr lang="en-US" dirty="0"/>
              <a:t> employs a 2-dimensional data structure   </a:t>
            </a:r>
            <a:endParaRPr lang="en-US" b="1" dirty="0"/>
          </a:p>
          <a:p>
            <a:r>
              <a:rPr lang="en-US" dirty="0"/>
              <a:t>Example, count events u, v, w, x, y</a:t>
            </a:r>
          </a:p>
          <a:p>
            <a:r>
              <a:rPr lang="en-US" dirty="0"/>
              <a:t>Event is tuple, (identifier, occurrences) </a:t>
            </a:r>
          </a:p>
          <a:p>
            <a:r>
              <a:rPr lang="en-US" b="1" dirty="0"/>
              <a:t>Event (x,3)</a:t>
            </a:r>
            <a:r>
              <a:rPr lang="en-US" dirty="0"/>
              <a:t>, add 3 to buckets, multiple hash collisions </a:t>
            </a:r>
            <a:endParaRPr lang="en-US" dirty="0">
              <a:highlight>
                <a:srgbClr val="4472C4"/>
              </a:highlight>
              <a:latin typeface="Arial" panose="020B0604020202020204" pitchFamily="34" charset="0"/>
            </a:endParaRPr>
          </a:p>
          <a:p>
            <a:pPr lvl="1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Counting Events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83E69D-DC0B-489F-12B2-55C3BC54CB51}"/>
                  </a:ext>
                </a:extLst>
              </p:cNvPr>
              <p:cNvSpPr txBox="1"/>
              <p:nvPr/>
            </p:nvSpPr>
            <p:spPr>
              <a:xfrm>
                <a:off x="2045676" y="3991708"/>
                <a:ext cx="16705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83E69D-DC0B-489F-12B2-55C3BC54CB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6" y="3991708"/>
                <a:ext cx="1670540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71330FF-7D8B-EB4A-83C7-6E422CD41A28}"/>
                  </a:ext>
                </a:extLst>
              </p:cNvPr>
              <p:cNvSpPr txBox="1"/>
              <p:nvPr/>
            </p:nvSpPr>
            <p:spPr>
              <a:xfrm>
                <a:off x="2045677" y="4441993"/>
                <a:ext cx="16705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71330FF-7D8B-EB4A-83C7-6E422CD41A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7" y="4441993"/>
                <a:ext cx="1670540" cy="461665"/>
              </a:xfrm>
              <a:prstGeom prst="rect">
                <a:avLst/>
              </a:prstGeom>
              <a:blipFill>
                <a:blip r:embed="rId3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463B6E-DAD6-9FFC-2DAD-38ABE7788857}"/>
                  </a:ext>
                </a:extLst>
              </p:cNvPr>
              <p:cNvSpPr txBox="1"/>
              <p:nvPr/>
            </p:nvSpPr>
            <p:spPr>
              <a:xfrm>
                <a:off x="2045676" y="4892278"/>
                <a:ext cx="16705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463B6E-DAD6-9FFC-2DAD-38ABE77888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6" y="4892278"/>
                <a:ext cx="1670540" cy="461665"/>
              </a:xfrm>
              <a:prstGeom prst="rect">
                <a:avLst/>
              </a:prstGeom>
              <a:blipFill>
                <a:blip r:embed="rId4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86DB07-CC93-6ADC-CE2E-28454D30DE35}"/>
                  </a:ext>
                </a:extLst>
              </p:cNvPr>
              <p:cNvSpPr txBox="1"/>
              <p:nvPr/>
            </p:nvSpPr>
            <p:spPr>
              <a:xfrm>
                <a:off x="2045675" y="5342563"/>
                <a:ext cx="167054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86DB07-CC93-6ADC-CE2E-28454D30D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5" y="5342563"/>
                <a:ext cx="1670541" cy="461665"/>
              </a:xfrm>
              <a:prstGeom prst="rect">
                <a:avLst/>
              </a:prstGeom>
              <a:blipFill>
                <a:blip r:embed="rId5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061A3BD-4862-5A07-0286-5CF93765C0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4319368"/>
              </p:ext>
            </p:extLst>
          </p:nvPr>
        </p:nvGraphicFramePr>
        <p:xfrm>
          <a:off x="3823677" y="3604847"/>
          <a:ext cx="8128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345504184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627631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68823034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44477571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7472831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6274949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93218125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7677781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5524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5797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083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274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50441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534594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192822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Count-min-sketch</a:t>
            </a:r>
            <a:r>
              <a:rPr lang="en-US" dirty="0"/>
              <a:t> employs a 2-dimensional data structure   </a:t>
            </a:r>
            <a:endParaRPr lang="en-US" b="1" dirty="0"/>
          </a:p>
          <a:p>
            <a:r>
              <a:rPr lang="en-US" dirty="0"/>
              <a:t>Example, count events u, v, w, x, y</a:t>
            </a:r>
          </a:p>
          <a:p>
            <a:r>
              <a:rPr lang="en-US" dirty="0"/>
              <a:t>Event is tuple, (identifier, occurrences) </a:t>
            </a:r>
          </a:p>
          <a:p>
            <a:r>
              <a:rPr lang="en-US" b="1" dirty="0"/>
              <a:t>Event (y,2)</a:t>
            </a:r>
            <a:r>
              <a:rPr lang="en-US" dirty="0"/>
              <a:t>, add 2 to buckets, hash collision </a:t>
            </a:r>
            <a:endParaRPr lang="en-US" dirty="0">
              <a:highlight>
                <a:srgbClr val="4472C4"/>
              </a:highlight>
              <a:latin typeface="Arial" panose="020B0604020202020204" pitchFamily="34" charset="0"/>
            </a:endParaRPr>
          </a:p>
          <a:p>
            <a:pPr lvl="1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Counting Events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83E69D-DC0B-489F-12B2-55C3BC54CB51}"/>
                  </a:ext>
                </a:extLst>
              </p:cNvPr>
              <p:cNvSpPr txBox="1"/>
              <p:nvPr/>
            </p:nvSpPr>
            <p:spPr>
              <a:xfrm>
                <a:off x="2045676" y="3991708"/>
                <a:ext cx="16705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83E69D-DC0B-489F-12B2-55C3BC54CB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6" y="3991708"/>
                <a:ext cx="1670540" cy="461665"/>
              </a:xfrm>
              <a:prstGeom prst="rect">
                <a:avLst/>
              </a:prstGeom>
              <a:blipFill>
                <a:blip r:embed="rId2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71330FF-7D8B-EB4A-83C7-6E422CD41A28}"/>
                  </a:ext>
                </a:extLst>
              </p:cNvPr>
              <p:cNvSpPr txBox="1"/>
              <p:nvPr/>
            </p:nvSpPr>
            <p:spPr>
              <a:xfrm>
                <a:off x="2045677" y="4441993"/>
                <a:ext cx="16705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71330FF-7D8B-EB4A-83C7-6E422CD41A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7" y="4441993"/>
                <a:ext cx="1670540" cy="461665"/>
              </a:xfrm>
              <a:prstGeom prst="rect">
                <a:avLst/>
              </a:prstGeom>
              <a:blipFill>
                <a:blip r:embed="rId3"/>
                <a:stretch>
                  <a:fillRect b="-1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463B6E-DAD6-9FFC-2DAD-38ABE7788857}"/>
                  </a:ext>
                </a:extLst>
              </p:cNvPr>
              <p:cNvSpPr txBox="1"/>
              <p:nvPr/>
            </p:nvSpPr>
            <p:spPr>
              <a:xfrm>
                <a:off x="2045676" y="4892278"/>
                <a:ext cx="16705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463B6E-DAD6-9FFC-2DAD-38ABE77888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6" y="4892278"/>
                <a:ext cx="1670540" cy="461665"/>
              </a:xfrm>
              <a:prstGeom prst="rect">
                <a:avLst/>
              </a:prstGeom>
              <a:blipFill>
                <a:blip r:embed="rId4"/>
                <a:stretch>
                  <a:fillRect b="-1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86DB07-CC93-6ADC-CE2E-28454D30DE35}"/>
                  </a:ext>
                </a:extLst>
              </p:cNvPr>
              <p:cNvSpPr txBox="1"/>
              <p:nvPr/>
            </p:nvSpPr>
            <p:spPr>
              <a:xfrm>
                <a:off x="2045675" y="5342563"/>
                <a:ext cx="167054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=8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86DB07-CC93-6ADC-CE2E-28454D30D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5" y="5342563"/>
                <a:ext cx="1670541" cy="461665"/>
              </a:xfrm>
              <a:prstGeom prst="rect">
                <a:avLst/>
              </a:prstGeom>
              <a:blipFill>
                <a:blip r:embed="rId5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061A3BD-4862-5A07-0286-5CF93765C0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9741995"/>
              </p:ext>
            </p:extLst>
          </p:nvPr>
        </p:nvGraphicFramePr>
        <p:xfrm>
          <a:off x="3823677" y="3604847"/>
          <a:ext cx="8128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345504184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627631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68823034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44477571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7472831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6274949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93218125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7677781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5524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5797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083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274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50441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735170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941" y="1252187"/>
            <a:ext cx="10515600" cy="172307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Best estimate of count is </a:t>
            </a:r>
            <a:r>
              <a:rPr lang="en-US" b="1" dirty="0"/>
              <a:t>minimum of counts in buckets </a:t>
            </a:r>
            <a:r>
              <a:rPr lang="en-US" dirty="0"/>
              <a:t>of sketch data structure </a:t>
            </a:r>
          </a:p>
          <a:p>
            <a:r>
              <a:rPr lang="en-US" dirty="0"/>
              <a:t>Count-min-sketch algorithm finds upper bound on count</a:t>
            </a:r>
          </a:p>
          <a:p>
            <a:r>
              <a:rPr lang="en-US" b="1" dirty="0"/>
              <a:t>Estimate can be greater than actual count, never less!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Counting Events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83E69D-DC0B-489F-12B2-55C3BC54CB51}"/>
                  </a:ext>
                </a:extLst>
              </p:cNvPr>
              <p:cNvSpPr txBox="1"/>
              <p:nvPr/>
            </p:nvSpPr>
            <p:spPr>
              <a:xfrm>
                <a:off x="3206262" y="3587262"/>
                <a:ext cx="50995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83E69D-DC0B-489F-12B2-55C3BC54CB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6262" y="3587262"/>
                <a:ext cx="509954" cy="461665"/>
              </a:xfrm>
              <a:prstGeom prst="rect">
                <a:avLst/>
              </a:prstGeom>
              <a:blipFill>
                <a:blip r:embed="rId2"/>
                <a:stretch>
                  <a:fillRect l="-1190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71330FF-7D8B-EB4A-83C7-6E422CD41A28}"/>
                  </a:ext>
                </a:extLst>
              </p:cNvPr>
              <p:cNvSpPr txBox="1"/>
              <p:nvPr/>
            </p:nvSpPr>
            <p:spPr>
              <a:xfrm>
                <a:off x="3206261" y="4037547"/>
                <a:ext cx="5099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71330FF-7D8B-EB4A-83C7-6E422CD41A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6261" y="4037547"/>
                <a:ext cx="509955" cy="461665"/>
              </a:xfrm>
              <a:prstGeom prst="rect">
                <a:avLst/>
              </a:prstGeom>
              <a:blipFill>
                <a:blip r:embed="rId3"/>
                <a:stretch>
                  <a:fillRect l="-2381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463B6E-DAD6-9FFC-2DAD-38ABE7788857}"/>
                  </a:ext>
                </a:extLst>
              </p:cNvPr>
              <p:cNvSpPr txBox="1"/>
              <p:nvPr/>
            </p:nvSpPr>
            <p:spPr>
              <a:xfrm>
                <a:off x="3206260" y="4487832"/>
                <a:ext cx="50995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463B6E-DAD6-9FFC-2DAD-38ABE77888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6260" y="4487832"/>
                <a:ext cx="509956" cy="461665"/>
              </a:xfrm>
              <a:prstGeom prst="rect">
                <a:avLst/>
              </a:prstGeom>
              <a:blipFill>
                <a:blip r:embed="rId4"/>
                <a:stretch>
                  <a:fillRect l="-2381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86DB07-CC93-6ADC-CE2E-28454D30DE35}"/>
                  </a:ext>
                </a:extLst>
              </p:cNvPr>
              <p:cNvSpPr txBox="1"/>
              <p:nvPr/>
            </p:nvSpPr>
            <p:spPr>
              <a:xfrm>
                <a:off x="3206259" y="4938117"/>
                <a:ext cx="50995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86DB07-CC93-6ADC-CE2E-28454D30D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6259" y="4938117"/>
                <a:ext cx="509957" cy="461665"/>
              </a:xfrm>
              <a:prstGeom prst="rect">
                <a:avLst/>
              </a:prstGeom>
              <a:blipFill>
                <a:blip r:embed="rId5"/>
                <a:stretch>
                  <a:fillRect l="-2381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061A3BD-4862-5A07-0286-5CF93765C0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7151747"/>
              </p:ext>
            </p:extLst>
          </p:nvPr>
        </p:nvGraphicFramePr>
        <p:xfrm>
          <a:off x="3823677" y="3200401"/>
          <a:ext cx="50800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345504184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627631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68823034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44477571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747283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5524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5797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83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274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50441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65898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5939955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66A970E8-543D-D81B-8ECB-BEA426900423}"/>
              </a:ext>
            </a:extLst>
          </p:cNvPr>
          <p:cNvSpPr txBox="1"/>
          <p:nvPr/>
        </p:nvSpPr>
        <p:spPr>
          <a:xfrm>
            <a:off x="1869831" y="5457218"/>
            <a:ext cx="1817079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Min count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48E08C-C114-CB33-0776-3D29E4A68C5F}"/>
              </a:ext>
            </a:extLst>
          </p:cNvPr>
          <p:cNvSpPr txBox="1"/>
          <p:nvPr/>
        </p:nvSpPr>
        <p:spPr>
          <a:xfrm>
            <a:off x="1869831" y="5939044"/>
            <a:ext cx="1817079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Actual count</a:t>
            </a:r>
          </a:p>
        </p:txBody>
      </p:sp>
    </p:spTree>
    <p:extLst>
      <p:ext uri="{BB962C8B-B14F-4D97-AF65-F5344CB8AC3E}">
        <p14:creationId xmlns:p14="http://schemas.microsoft.com/office/powerpoint/2010/main" val="4007927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  <p:bldP spid="8" grpId="0"/>
      <p:bldP spid="2" grpId="0" animBg="1"/>
      <p:bldP spid="10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4412" y="1324928"/>
                <a:ext cx="10515600" cy="4958516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1" dirty="0"/>
                  <a:t>Count-min-sketch</a:t>
                </a:r>
                <a:r>
                  <a:rPr lang="en-US" dirty="0"/>
                  <a:t> algorithm employs probabilistic sampling</a:t>
                </a:r>
                <a:endParaRPr lang="en-US" b="1" dirty="0"/>
              </a:p>
              <a:p>
                <a:r>
                  <a:rPr lang="en-US" dirty="0"/>
                  <a:t>With inevitable </a:t>
                </a:r>
                <a:r>
                  <a:rPr lang="en-US" b="1" dirty="0"/>
                  <a:t>hash collisions use minimum count </a:t>
                </a:r>
                <a:r>
                  <a:rPr lang="en-US" dirty="0"/>
                  <a:t>in the hash buckets for the event identifier  </a:t>
                </a:r>
              </a:p>
              <a:p>
                <a:r>
                  <a:rPr lang="en-US" dirty="0"/>
                  <a:t>Over time window,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, the stream is comprised of event tuples 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,…,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With some probability,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dirty="0"/>
                  <a:t>, we can bound the error,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𝑒𝑠𝑡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𝜖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 is the total sum of frequencies in the stream, over time slot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4412" y="1324928"/>
                <a:ext cx="10515600" cy="4958516"/>
              </a:xfrm>
              <a:blipFill>
                <a:blip r:embed="rId2"/>
                <a:stretch>
                  <a:fillRect l="-1217" t="-19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Counting Events </a:t>
            </a:r>
          </a:p>
        </p:txBody>
      </p:sp>
    </p:spTree>
    <p:extLst>
      <p:ext uri="{BB962C8B-B14F-4D97-AF65-F5344CB8AC3E}">
        <p14:creationId xmlns:p14="http://schemas.microsoft.com/office/powerpoint/2010/main" val="2934155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9095" y="1207969"/>
                <a:ext cx="10515600" cy="548522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/>
                  <a:t>Count-min-sketch</a:t>
                </a:r>
                <a:r>
                  <a:rPr lang="en-US" dirty="0"/>
                  <a:t> algorithm employs probabilistic sampling</a:t>
                </a:r>
                <a:endParaRPr lang="en-US" b="1" dirty="0"/>
              </a:p>
              <a:p>
                <a:r>
                  <a:rPr lang="en-US" dirty="0"/>
                  <a:t>With some probability,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dirty="0"/>
                  <a:t>, we can bound the error,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𝑒𝑠𝑡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𝜖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For a desired error bound,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, with probability,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1−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dirty="0"/>
                  <a:t>, we can work out the required size of the data structure, given expected hash collisions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𝑙𝑜𝑔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𝜖</m:t>
                                  </m:r>
                                </m:den>
                              </m:f>
                            </m:e>
                          </m:d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𝑙𝑛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𝛿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sz="1400" dirty="0"/>
                  <a:t>Note, </a:t>
                </a:r>
                <a:r>
                  <a:rPr lang="en-US" sz="1400" dirty="0" err="1"/>
                  <a:t>Medjedovic</a:t>
                </a:r>
                <a:r>
                  <a:rPr lang="en-US" sz="1400" dirty="0"/>
                  <a:t>, et. al., 2022, appear to have these formulas reversed</a:t>
                </a:r>
              </a:p>
              <a:p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9095" y="1207969"/>
                <a:ext cx="10515600" cy="5485225"/>
              </a:xfrm>
              <a:blipFill>
                <a:blip r:embed="rId2"/>
                <a:stretch>
                  <a:fillRect l="-1217" t="-1778" r="-1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Counting Events </a:t>
            </a:r>
          </a:p>
        </p:txBody>
      </p:sp>
    </p:spTree>
    <p:extLst>
      <p:ext uri="{BB962C8B-B14F-4D97-AF65-F5344CB8AC3E}">
        <p14:creationId xmlns:p14="http://schemas.microsoft.com/office/powerpoint/2010/main" val="3576439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9095" y="1207969"/>
                <a:ext cx="10515600" cy="5485225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b="1" dirty="0"/>
                  <a:t>Count-min-sketch</a:t>
                </a:r>
                <a:r>
                  <a:rPr lang="en-US" dirty="0"/>
                  <a:t> algorithm employs probabilistic sampling</a:t>
                </a:r>
                <a:endParaRPr lang="en-US" b="1" dirty="0"/>
              </a:p>
              <a:p>
                <a:r>
                  <a:rPr lang="en-US" dirty="0"/>
                  <a:t>With some probability,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dirty="0"/>
                  <a:t>, we can bound the error,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𝑒𝑠𝑡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𝜖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For a desired error bound,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, with probability,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1−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dirty="0"/>
                  <a:t>, we can work out the required size of the data structure, given expected hash collisions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𝑙𝑜𝑔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𝜖</m:t>
                                  </m:r>
                                </m:den>
                              </m:f>
                            </m:e>
                          </m:d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,  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𝑙𝑛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𝛿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Count-min-sketch has a trade-off between error and space requirement</a:t>
                </a:r>
              </a:p>
              <a:p>
                <a:r>
                  <a:rPr lang="en-US" dirty="0"/>
                  <a:t>For required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dirty="0"/>
                  <a:t> the data structure requires memory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𝑙𝑛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𝛿</m:t>
                                      </m:r>
                                    </m:den>
                                  </m:f>
                                </m:e>
                              </m:d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𝜖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9095" y="1207969"/>
                <a:ext cx="10515600" cy="5485225"/>
              </a:xfrm>
              <a:blipFill>
                <a:blip r:embed="rId2"/>
                <a:stretch>
                  <a:fillRect l="-1217" t="-2444" r="-1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Counting Events </a:t>
            </a:r>
          </a:p>
        </p:txBody>
      </p:sp>
    </p:spTree>
    <p:extLst>
      <p:ext uri="{BB962C8B-B14F-4D97-AF65-F5344CB8AC3E}">
        <p14:creationId xmlns:p14="http://schemas.microsoft.com/office/powerpoint/2010/main" val="4148324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9095" y="1207969"/>
                <a:ext cx="10515600" cy="548522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/>
                  <a:t>Count-min-sketch</a:t>
                </a:r>
                <a:r>
                  <a:rPr lang="en-US" dirty="0"/>
                  <a:t> algorithm employs probabilistic sampling  </a:t>
                </a:r>
                <a:endParaRPr lang="en-US" b="1" dirty="0"/>
              </a:p>
              <a:p>
                <a:r>
                  <a:rPr lang="en-US" dirty="0"/>
                  <a:t>With some probability,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dirty="0"/>
                  <a:t>, we can bound the error,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𝑒𝑠𝑡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𝜖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Notice that the upper bound on error is the product of the sum of total counts,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, and the error fraction,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endParaRPr lang="en-US" dirty="0"/>
              </a:p>
              <a:p>
                <a:r>
                  <a:rPr lang="en-US" dirty="0"/>
                  <a:t>The bound is probabilistic </a:t>
                </a:r>
              </a:p>
              <a:p>
                <a:pPr lvl="1"/>
                <a:r>
                  <a:rPr lang="en-US" dirty="0"/>
                  <a:t>Bound can be exceeded with probability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</m:oMath>
                </a14:m>
                <a:endParaRPr lang="en-US" dirty="0"/>
              </a:p>
              <a:p>
                <a:pPr lvl="1"/>
                <a:r>
                  <a:rPr lang="en-US" b="1" dirty="0"/>
                  <a:t>The worst-case error is unbonded </a:t>
                </a:r>
              </a:p>
              <a:p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9095" y="1207969"/>
                <a:ext cx="10515600" cy="5485225"/>
              </a:xfrm>
              <a:blipFill>
                <a:blip r:embed="rId2"/>
                <a:stretch>
                  <a:fillRect l="-1217" t="-1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Counting Events </a:t>
            </a:r>
          </a:p>
        </p:txBody>
      </p:sp>
    </p:spTree>
    <p:extLst>
      <p:ext uri="{BB962C8B-B14F-4D97-AF65-F5344CB8AC3E}">
        <p14:creationId xmlns:p14="http://schemas.microsoft.com/office/powerpoint/2010/main" val="1675822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F380E-E433-B8CE-6EDE-9509FF13A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B679B3-2D60-349C-FC06-53C57EA3C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095" y="1207969"/>
            <a:ext cx="10515600" cy="54852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We can </a:t>
            </a:r>
            <a:r>
              <a:rPr lang="en-US" b="1" dirty="0"/>
              <a:t>merge </a:t>
            </a:r>
            <a:r>
              <a:rPr lang="en-US" dirty="0"/>
              <a:t>the sketches   </a:t>
            </a:r>
          </a:p>
          <a:p>
            <a:r>
              <a:rPr lang="en-US" b="1" dirty="0"/>
              <a:t>Mergeability</a:t>
            </a:r>
            <a:r>
              <a:rPr lang="en-US" dirty="0"/>
              <a:t> is a key property of sketches   </a:t>
            </a:r>
          </a:p>
          <a:p>
            <a:r>
              <a:rPr lang="en-US" dirty="0"/>
              <a:t>Examples of merging count min sketches: </a:t>
            </a:r>
          </a:p>
          <a:p>
            <a:pPr lvl="1"/>
            <a:r>
              <a:rPr lang="en-US" dirty="0"/>
              <a:t>Merge multiple sketches to represent longer time periods   </a:t>
            </a:r>
          </a:p>
          <a:p>
            <a:pPr lvl="1"/>
            <a:r>
              <a:rPr lang="en-US" dirty="0"/>
              <a:t>Merge sketches from several independent streams </a:t>
            </a:r>
          </a:p>
          <a:p>
            <a:r>
              <a:rPr lang="en-US" dirty="0"/>
              <a:t>Mergeable sketches allows parallel processing  </a:t>
            </a:r>
          </a:p>
          <a:p>
            <a:pPr lvl="1"/>
            <a:r>
              <a:rPr lang="en-US" dirty="0"/>
              <a:t>Process each stream independently</a:t>
            </a:r>
          </a:p>
          <a:p>
            <a:pPr lvl="1"/>
            <a:r>
              <a:rPr lang="en-US" dirty="0"/>
              <a:t>Process multiple sub-queries from a database</a:t>
            </a:r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0C7F496-08FA-6EFC-A18D-E845B7FAE3F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Counting Events </a:t>
            </a:r>
          </a:p>
        </p:txBody>
      </p:sp>
    </p:spTree>
    <p:extLst>
      <p:ext uri="{BB962C8B-B14F-4D97-AF65-F5344CB8AC3E}">
        <p14:creationId xmlns:p14="http://schemas.microsoft.com/office/powerpoint/2010/main" val="3457432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AFA25F-502C-9D20-786C-95DB8487D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A67316-178B-FAD9-A499-7145C1E54F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095" y="1207970"/>
            <a:ext cx="10515600" cy="16798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We can </a:t>
            </a:r>
            <a:r>
              <a:rPr lang="en-US" b="1" dirty="0"/>
              <a:t>merge </a:t>
            </a:r>
            <a:r>
              <a:rPr lang="en-US" dirty="0"/>
              <a:t>the sketches   </a:t>
            </a:r>
          </a:p>
          <a:p>
            <a:r>
              <a:rPr lang="en-US" b="1" dirty="0"/>
              <a:t>Mergeability</a:t>
            </a:r>
            <a:r>
              <a:rPr lang="en-US" dirty="0"/>
              <a:t> is a key property of sketches   </a:t>
            </a:r>
          </a:p>
          <a:p>
            <a:r>
              <a:rPr lang="en-US" dirty="0"/>
              <a:t>Sketches of same dimensions merged by </a:t>
            </a:r>
            <a:r>
              <a:rPr lang="en-US" b="1" dirty="0"/>
              <a:t>summing elementwise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45618A6-30C9-3D7C-C714-D0E4136AB0E7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Counting Events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D56BEFA-9E19-6A81-2A18-182321086A6D}"/>
                  </a:ext>
                </a:extLst>
              </p:cNvPr>
              <p:cNvSpPr txBox="1"/>
              <p:nvPr/>
            </p:nvSpPr>
            <p:spPr>
              <a:xfrm>
                <a:off x="1427548" y="3448806"/>
                <a:ext cx="50995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D56BEFA-9E19-6A81-2A18-182321086A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7548" y="3448806"/>
                <a:ext cx="509954" cy="461665"/>
              </a:xfrm>
              <a:prstGeom prst="rect">
                <a:avLst/>
              </a:prstGeom>
              <a:blipFill>
                <a:blip r:embed="rId2"/>
                <a:stretch>
                  <a:fillRect l="-1190"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32ED05B-F9ED-9495-331B-616FB42FA90E}"/>
                  </a:ext>
                </a:extLst>
              </p:cNvPr>
              <p:cNvSpPr txBox="1"/>
              <p:nvPr/>
            </p:nvSpPr>
            <p:spPr>
              <a:xfrm>
                <a:off x="1427547" y="3899091"/>
                <a:ext cx="5099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32ED05B-F9ED-9495-331B-616FB42FA9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7547" y="3899091"/>
                <a:ext cx="509955" cy="461665"/>
              </a:xfrm>
              <a:prstGeom prst="rect">
                <a:avLst/>
              </a:prstGeom>
              <a:blipFill>
                <a:blip r:embed="rId3"/>
                <a:stretch>
                  <a:fillRect l="-2381"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0DA9F82-FDA9-7604-DD87-5CD9DC5002C3}"/>
                  </a:ext>
                </a:extLst>
              </p:cNvPr>
              <p:cNvSpPr txBox="1"/>
              <p:nvPr/>
            </p:nvSpPr>
            <p:spPr>
              <a:xfrm>
                <a:off x="1427546" y="4349376"/>
                <a:ext cx="50995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0DA9F82-FDA9-7604-DD87-5CD9DC5002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7546" y="4349376"/>
                <a:ext cx="509956" cy="461665"/>
              </a:xfrm>
              <a:prstGeom prst="rect">
                <a:avLst/>
              </a:prstGeom>
              <a:blipFill>
                <a:blip r:embed="rId4"/>
                <a:stretch>
                  <a:fillRect l="-2381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CF106D5-E26B-8C84-07C0-D739726FD3A5}"/>
                  </a:ext>
                </a:extLst>
              </p:cNvPr>
              <p:cNvSpPr txBox="1"/>
              <p:nvPr/>
            </p:nvSpPr>
            <p:spPr>
              <a:xfrm>
                <a:off x="1427545" y="4799661"/>
                <a:ext cx="50995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CF106D5-E26B-8C84-07C0-D739726FD3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7545" y="4799661"/>
                <a:ext cx="509957" cy="461665"/>
              </a:xfrm>
              <a:prstGeom prst="rect">
                <a:avLst/>
              </a:prstGeom>
              <a:blipFill>
                <a:blip r:embed="rId5"/>
                <a:stretch>
                  <a:fillRect l="-2381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2CFAAB2-6379-AFAE-055C-791B025893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5549149"/>
              </p:ext>
            </p:extLst>
          </p:nvPr>
        </p:nvGraphicFramePr>
        <p:xfrm>
          <a:off x="2044964" y="3061945"/>
          <a:ext cx="273727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7454">
                  <a:extLst>
                    <a:ext uri="{9D8B030D-6E8A-4147-A177-3AD203B41FA5}">
                      <a16:colId xmlns:a16="http://schemas.microsoft.com/office/drawing/2014/main" val="3455041843"/>
                    </a:ext>
                  </a:extLst>
                </a:gridCol>
                <a:gridCol w="547454">
                  <a:extLst>
                    <a:ext uri="{9D8B030D-6E8A-4147-A177-3AD203B41FA5}">
                      <a16:colId xmlns:a16="http://schemas.microsoft.com/office/drawing/2014/main" val="416276313"/>
                    </a:ext>
                  </a:extLst>
                </a:gridCol>
                <a:gridCol w="547454">
                  <a:extLst>
                    <a:ext uri="{9D8B030D-6E8A-4147-A177-3AD203B41FA5}">
                      <a16:colId xmlns:a16="http://schemas.microsoft.com/office/drawing/2014/main" val="1688230340"/>
                    </a:ext>
                  </a:extLst>
                </a:gridCol>
                <a:gridCol w="547454">
                  <a:extLst>
                    <a:ext uri="{9D8B030D-6E8A-4147-A177-3AD203B41FA5}">
                      <a16:colId xmlns:a16="http://schemas.microsoft.com/office/drawing/2014/main" val="3444775713"/>
                    </a:ext>
                  </a:extLst>
                </a:gridCol>
                <a:gridCol w="547454">
                  <a:extLst>
                    <a:ext uri="{9D8B030D-6E8A-4147-A177-3AD203B41FA5}">
                      <a16:colId xmlns:a16="http://schemas.microsoft.com/office/drawing/2014/main" val="1747283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5524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5797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83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274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50441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50276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7069688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2FA2508D-6E64-8ED8-6DDD-2425BB21EF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9310675"/>
              </p:ext>
            </p:extLst>
          </p:nvPr>
        </p:nvGraphicFramePr>
        <p:xfrm>
          <a:off x="9333326" y="3020308"/>
          <a:ext cx="273727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7454">
                  <a:extLst>
                    <a:ext uri="{9D8B030D-6E8A-4147-A177-3AD203B41FA5}">
                      <a16:colId xmlns:a16="http://schemas.microsoft.com/office/drawing/2014/main" val="3455041843"/>
                    </a:ext>
                  </a:extLst>
                </a:gridCol>
                <a:gridCol w="547454">
                  <a:extLst>
                    <a:ext uri="{9D8B030D-6E8A-4147-A177-3AD203B41FA5}">
                      <a16:colId xmlns:a16="http://schemas.microsoft.com/office/drawing/2014/main" val="416276313"/>
                    </a:ext>
                  </a:extLst>
                </a:gridCol>
                <a:gridCol w="547454">
                  <a:extLst>
                    <a:ext uri="{9D8B030D-6E8A-4147-A177-3AD203B41FA5}">
                      <a16:colId xmlns:a16="http://schemas.microsoft.com/office/drawing/2014/main" val="1688230340"/>
                    </a:ext>
                  </a:extLst>
                </a:gridCol>
                <a:gridCol w="547454">
                  <a:extLst>
                    <a:ext uri="{9D8B030D-6E8A-4147-A177-3AD203B41FA5}">
                      <a16:colId xmlns:a16="http://schemas.microsoft.com/office/drawing/2014/main" val="3444775713"/>
                    </a:ext>
                  </a:extLst>
                </a:gridCol>
                <a:gridCol w="547454">
                  <a:extLst>
                    <a:ext uri="{9D8B030D-6E8A-4147-A177-3AD203B41FA5}">
                      <a16:colId xmlns:a16="http://schemas.microsoft.com/office/drawing/2014/main" val="1747283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5524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5797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83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274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50441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65898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593995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E141129-73B7-9EEE-3D58-A757A6DCAA6A}"/>
                  </a:ext>
                </a:extLst>
              </p:cNvPr>
              <p:cNvSpPr txBox="1"/>
              <p:nvPr/>
            </p:nvSpPr>
            <p:spPr>
              <a:xfrm>
                <a:off x="8799773" y="3429000"/>
                <a:ext cx="50995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E141129-73B7-9EEE-3D58-A757A6DCA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9773" y="3429000"/>
                <a:ext cx="509954" cy="461665"/>
              </a:xfrm>
              <a:prstGeom prst="rect">
                <a:avLst/>
              </a:prstGeom>
              <a:blipFill>
                <a:blip r:embed="rId6"/>
                <a:stretch>
                  <a:fillRect l="-1205"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8E52075-C6D7-110B-0AAE-7C0D683C64DB}"/>
                  </a:ext>
                </a:extLst>
              </p:cNvPr>
              <p:cNvSpPr txBox="1"/>
              <p:nvPr/>
            </p:nvSpPr>
            <p:spPr>
              <a:xfrm>
                <a:off x="8799772" y="3879285"/>
                <a:ext cx="5099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8E52075-C6D7-110B-0AAE-7C0D683C64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9772" y="3879285"/>
                <a:ext cx="509955" cy="461665"/>
              </a:xfrm>
              <a:prstGeom prst="rect">
                <a:avLst/>
              </a:prstGeom>
              <a:blipFill>
                <a:blip r:embed="rId7"/>
                <a:stretch>
                  <a:fillRect l="-2410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496A772-E071-C8B5-F029-CFEFF5AC5AA9}"/>
                  </a:ext>
                </a:extLst>
              </p:cNvPr>
              <p:cNvSpPr txBox="1"/>
              <p:nvPr/>
            </p:nvSpPr>
            <p:spPr>
              <a:xfrm>
                <a:off x="8799771" y="4329570"/>
                <a:ext cx="50995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496A772-E071-C8B5-F029-CFEFF5AC5A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9771" y="4329570"/>
                <a:ext cx="509956" cy="461665"/>
              </a:xfrm>
              <a:prstGeom prst="rect">
                <a:avLst/>
              </a:prstGeom>
              <a:blipFill>
                <a:blip r:embed="rId8"/>
                <a:stretch>
                  <a:fillRect l="-2410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A04B0EC-D2BB-DFC5-DEF1-7E55A7BC0DEF}"/>
                  </a:ext>
                </a:extLst>
              </p:cNvPr>
              <p:cNvSpPr txBox="1"/>
              <p:nvPr/>
            </p:nvSpPr>
            <p:spPr>
              <a:xfrm>
                <a:off x="8799770" y="4779855"/>
                <a:ext cx="50995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A04B0EC-D2BB-DFC5-DEF1-7E55A7BC0D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9770" y="4779855"/>
                <a:ext cx="509957" cy="461665"/>
              </a:xfrm>
              <a:prstGeom prst="rect">
                <a:avLst/>
              </a:prstGeom>
              <a:blipFill>
                <a:blip r:embed="rId9"/>
                <a:stretch>
                  <a:fillRect l="-2410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2002AAEF-CDA8-09E8-59DD-A3CF3E11282B}"/>
              </a:ext>
            </a:extLst>
          </p:cNvPr>
          <p:cNvSpPr txBox="1"/>
          <p:nvPr/>
        </p:nvSpPr>
        <p:spPr>
          <a:xfrm>
            <a:off x="174154" y="5360615"/>
            <a:ext cx="1817079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Min count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609D9AE-82C6-BABB-4006-BB4D786D1A74}"/>
              </a:ext>
            </a:extLst>
          </p:cNvPr>
          <p:cNvSpPr txBox="1"/>
          <p:nvPr/>
        </p:nvSpPr>
        <p:spPr>
          <a:xfrm>
            <a:off x="174154" y="5842441"/>
            <a:ext cx="1817079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Actual count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7B5F119E-F135-DDA4-8A8C-8A31229CCD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3849243"/>
              </p:ext>
            </p:extLst>
          </p:nvPr>
        </p:nvGraphicFramePr>
        <p:xfrm>
          <a:off x="5496780" y="3061945"/>
          <a:ext cx="273727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7454">
                  <a:extLst>
                    <a:ext uri="{9D8B030D-6E8A-4147-A177-3AD203B41FA5}">
                      <a16:colId xmlns:a16="http://schemas.microsoft.com/office/drawing/2014/main" val="3455041843"/>
                    </a:ext>
                  </a:extLst>
                </a:gridCol>
                <a:gridCol w="547454">
                  <a:extLst>
                    <a:ext uri="{9D8B030D-6E8A-4147-A177-3AD203B41FA5}">
                      <a16:colId xmlns:a16="http://schemas.microsoft.com/office/drawing/2014/main" val="416276313"/>
                    </a:ext>
                  </a:extLst>
                </a:gridCol>
                <a:gridCol w="547454">
                  <a:extLst>
                    <a:ext uri="{9D8B030D-6E8A-4147-A177-3AD203B41FA5}">
                      <a16:colId xmlns:a16="http://schemas.microsoft.com/office/drawing/2014/main" val="1688230340"/>
                    </a:ext>
                  </a:extLst>
                </a:gridCol>
                <a:gridCol w="547454">
                  <a:extLst>
                    <a:ext uri="{9D8B030D-6E8A-4147-A177-3AD203B41FA5}">
                      <a16:colId xmlns:a16="http://schemas.microsoft.com/office/drawing/2014/main" val="3444775713"/>
                    </a:ext>
                  </a:extLst>
                </a:gridCol>
                <a:gridCol w="547454">
                  <a:extLst>
                    <a:ext uri="{9D8B030D-6E8A-4147-A177-3AD203B41FA5}">
                      <a16:colId xmlns:a16="http://schemas.microsoft.com/office/drawing/2014/main" val="1747283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5524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5797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83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274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50441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24330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376018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62ED1BC-9D06-ABEE-40D2-6D6B43BCB0A4}"/>
                  </a:ext>
                </a:extLst>
              </p:cNvPr>
              <p:cNvSpPr txBox="1"/>
              <p:nvPr/>
            </p:nvSpPr>
            <p:spPr>
              <a:xfrm>
                <a:off x="4884530" y="3879285"/>
                <a:ext cx="509954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62ED1BC-9D06-ABEE-40D2-6D6B43BCB0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4530" y="3879285"/>
                <a:ext cx="509954" cy="76944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A83BAE6-0291-71A5-0BA5-BE02AFFB22CF}"/>
                  </a:ext>
                </a:extLst>
              </p:cNvPr>
              <p:cNvSpPr txBox="1"/>
              <p:nvPr/>
            </p:nvSpPr>
            <p:spPr>
              <a:xfrm>
                <a:off x="8312747" y="3810767"/>
                <a:ext cx="509954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A83BAE6-0291-71A5-0BA5-BE02AFFB22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2747" y="3810767"/>
                <a:ext cx="509954" cy="76944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93617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7" grpId="0"/>
      <p:bldP spid="12" grpId="0"/>
      <p:bldP spid="13" grpId="0"/>
      <p:bldP spid="14" grpId="0"/>
      <p:bldP spid="15" grpId="0"/>
      <p:bldP spid="16" grpId="0" animBg="1"/>
      <p:bldP spid="17" grpId="0" animBg="1"/>
      <p:bldP spid="19" grpId="0"/>
      <p:bldP spid="20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3747" y="1324928"/>
            <a:ext cx="10515600" cy="52935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Key points for this lesson</a:t>
            </a:r>
          </a:p>
          <a:p>
            <a:r>
              <a:rPr lang="en-US" dirty="0"/>
              <a:t>Streaming data often arrives at a massive scale</a:t>
            </a:r>
          </a:p>
          <a:p>
            <a:r>
              <a:rPr lang="en-US" dirty="0"/>
              <a:t>Down sample streams with real-number values</a:t>
            </a:r>
          </a:p>
          <a:p>
            <a:pPr lvl="1"/>
            <a:r>
              <a:rPr lang="en-US" dirty="0"/>
              <a:t>Moving averages</a:t>
            </a:r>
          </a:p>
          <a:p>
            <a:pPr lvl="1"/>
            <a:r>
              <a:rPr lang="en-US" dirty="0"/>
              <a:t>Delta coding </a:t>
            </a:r>
          </a:p>
          <a:p>
            <a:pPr lvl="1"/>
            <a:r>
              <a:rPr lang="en-US" dirty="0"/>
              <a:t>Reservoir sampling </a:t>
            </a:r>
          </a:p>
          <a:p>
            <a:pPr lvl="1"/>
            <a:r>
              <a:rPr lang="en-US" dirty="0"/>
              <a:t>….</a:t>
            </a:r>
          </a:p>
          <a:p>
            <a:r>
              <a:rPr lang="en-US" dirty="0"/>
              <a:t>Use probabilistic sketch algorithms for discrete event streams   </a:t>
            </a:r>
          </a:p>
          <a:p>
            <a:pPr lvl="1"/>
            <a:r>
              <a:rPr lang="en-US" dirty="0"/>
              <a:t>Uniqueness – have we seen this event type before? </a:t>
            </a:r>
          </a:p>
          <a:p>
            <a:pPr lvl="1"/>
            <a:r>
              <a:rPr lang="en-US" dirty="0"/>
              <a:t>Counts – how many of these events in time interval?</a:t>
            </a:r>
          </a:p>
          <a:p>
            <a:pPr lvl="1"/>
            <a:r>
              <a:rPr lang="en-US" dirty="0"/>
              <a:t>… </a:t>
            </a:r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283198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34551</TotalTime>
  <Words>6071</Words>
  <Application>Microsoft Office PowerPoint</Application>
  <PresentationFormat>Widescreen</PresentationFormat>
  <Paragraphs>1387</Paragraphs>
  <Slides>83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83</vt:i4>
      </vt:variant>
    </vt:vector>
  </HeadingPairs>
  <TitlesOfParts>
    <vt:vector size="88" baseType="lpstr">
      <vt:lpstr>Arial</vt:lpstr>
      <vt:lpstr>Calibri</vt:lpstr>
      <vt:lpstr>Calibri Light</vt:lpstr>
      <vt:lpstr>Cambria Math</vt:lpstr>
      <vt:lpstr>Office Theme</vt:lpstr>
      <vt:lpstr>CSCI E-96 Data Mining, Discovery and Exploration Online Algorithms and Steaming Analytics, Part 1</vt:lpstr>
      <vt:lpstr>Main topics in this course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Streaming Pipelines</vt:lpstr>
      <vt:lpstr>PowerPoint Presentation</vt:lpstr>
      <vt:lpstr>PowerPoint Presentation</vt:lpstr>
      <vt:lpstr>PowerPoint Presentation</vt:lpstr>
      <vt:lpstr>Case Study 1</vt:lpstr>
      <vt:lpstr>PowerPoint Presentation</vt:lpstr>
      <vt:lpstr>PowerPoint Presentation</vt:lpstr>
      <vt:lpstr>PowerPoint Presentation</vt:lpstr>
      <vt:lpstr>Sketches as Approximate Representations </vt:lpstr>
      <vt:lpstr>PowerPoint Presentation</vt:lpstr>
      <vt:lpstr>PowerPoint Presentation</vt:lpstr>
      <vt:lpstr>PowerPoint Presentation</vt:lpstr>
      <vt:lpstr>Basic Sampling and Filtering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Reservoir Sampling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Evaluating Stream Filtering </vt:lpstr>
      <vt:lpstr>PowerPoint Presentation</vt:lpstr>
      <vt:lpstr>Discrete Streaming Events</vt:lpstr>
      <vt:lpstr>PowerPoint Presentation</vt:lpstr>
      <vt:lpstr>PowerPoint Presentation</vt:lpstr>
      <vt:lpstr>PowerPoint Presentation</vt:lpstr>
      <vt:lpstr>Filtering Discrete Events Bloom Filters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Filtering Discrete Events Quotient Filters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Counting Discrete Events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CSCI E-82a Probabilistic Programming and AI Introduction</dc:title>
  <dc:creator>Stephen Elston</dc:creator>
  <cp:lastModifiedBy>Stephen Elston</cp:lastModifiedBy>
  <cp:revision>874</cp:revision>
  <cp:lastPrinted>2019-09-03T23:18:19Z</cp:lastPrinted>
  <dcterms:created xsi:type="dcterms:W3CDTF">2019-08-02T23:14:29Z</dcterms:created>
  <dcterms:modified xsi:type="dcterms:W3CDTF">2026-07-06T22:38:14Z</dcterms:modified>
</cp:coreProperties>
</file>