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65"/>
  </p:notesMasterIdLst>
  <p:sldIdLst>
    <p:sldId id="275" r:id="rId3"/>
    <p:sldId id="819" r:id="rId4"/>
    <p:sldId id="764" r:id="rId5"/>
    <p:sldId id="717" r:id="rId6"/>
    <p:sldId id="676" r:id="rId7"/>
    <p:sldId id="726" r:id="rId8"/>
    <p:sldId id="729" r:id="rId9"/>
    <p:sldId id="730" r:id="rId10"/>
    <p:sldId id="731" r:id="rId11"/>
    <p:sldId id="734" r:id="rId12"/>
    <p:sldId id="759" r:id="rId13"/>
    <p:sldId id="704" r:id="rId14"/>
    <p:sldId id="700" r:id="rId15"/>
    <p:sldId id="701" r:id="rId16"/>
    <p:sldId id="702" r:id="rId17"/>
    <p:sldId id="703" r:id="rId18"/>
    <p:sldId id="648" r:id="rId19"/>
    <p:sldId id="733" r:id="rId20"/>
    <p:sldId id="698" r:id="rId21"/>
    <p:sldId id="774" r:id="rId22"/>
    <p:sldId id="727" r:id="rId23"/>
    <p:sldId id="728" r:id="rId24"/>
    <p:sldId id="775" r:id="rId25"/>
    <p:sldId id="650" r:id="rId26"/>
    <p:sldId id="649" r:id="rId27"/>
    <p:sldId id="776" r:id="rId28"/>
    <p:sldId id="651" r:id="rId29"/>
    <p:sldId id="652" r:id="rId30"/>
    <p:sldId id="767" r:id="rId31"/>
    <p:sldId id="765" r:id="rId32"/>
    <p:sldId id="653" r:id="rId33"/>
    <p:sldId id="756" r:id="rId34"/>
    <p:sldId id="757" r:id="rId35"/>
    <p:sldId id="656" r:id="rId36"/>
    <p:sldId id="654" r:id="rId37"/>
    <p:sldId id="657" r:id="rId38"/>
    <p:sldId id="758" r:id="rId39"/>
    <p:sldId id="699" r:id="rId40"/>
    <p:sldId id="766" r:id="rId41"/>
    <p:sldId id="768" r:id="rId42"/>
    <p:sldId id="769" r:id="rId43"/>
    <p:sldId id="770" r:id="rId44"/>
    <p:sldId id="773" r:id="rId45"/>
    <p:sldId id="771" r:id="rId46"/>
    <p:sldId id="781" r:id="rId47"/>
    <p:sldId id="780" r:id="rId48"/>
    <p:sldId id="782" r:id="rId49"/>
    <p:sldId id="778" r:id="rId50"/>
    <p:sldId id="779" r:id="rId51"/>
    <p:sldId id="784" r:id="rId52"/>
    <p:sldId id="786" r:id="rId53"/>
    <p:sldId id="783" r:id="rId54"/>
    <p:sldId id="785" r:id="rId55"/>
    <p:sldId id="777" r:id="rId56"/>
    <p:sldId id="789" r:id="rId57"/>
    <p:sldId id="788" r:id="rId58"/>
    <p:sldId id="787" r:id="rId59"/>
    <p:sldId id="662" r:id="rId60"/>
    <p:sldId id="762" r:id="rId61"/>
    <p:sldId id="760" r:id="rId62"/>
    <p:sldId id="663" r:id="rId63"/>
    <p:sldId id="669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38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6112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1902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7180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883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1505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235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4344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0973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198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358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1874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485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638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5015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6B7E6-3A54-072C-D558-74AAB7AD1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A85061-2B68-DBA2-5254-A6D265B813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DE9137-B94D-9BAB-3E87-8FC4B25044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93A27A-1895-09D2-E7F8-4A331E4005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8260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413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2974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0994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1491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1E612-BBAE-7DF3-78E1-270668590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2FD181-BCCE-3C9E-7C7B-82873EF8DB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148EBE-9880-891B-4DCB-FE9B9D348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AA851-25CA-D4A5-F846-BC07F02A37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2479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4157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0462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19915-AA99-14C9-908B-42C579697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248C45-E599-F861-7292-C5D269C056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DD99FD-C363-DC1F-8B81-9AF0DE738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2C6B93-B8E1-6E95-CF55-3398B29584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7232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7206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2464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38587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2862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59970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21666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361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60527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80D71-17A1-BC77-A33B-44BF24926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05363E-F54B-35CA-2525-D2EA120628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849DD-2FD6-1DA4-12F9-ECCCC4E61E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B72610-C9BF-A495-FDB3-499152DF63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05969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09001-884F-A130-D1AA-DD33FC74E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2770B5-4DD0-75AD-A9D3-983113C89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8AD64-83F9-F403-195B-4F83370B6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E0A2AB-D64F-9841-9321-AFCD4A7F3F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55826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10030-7C84-7A72-C399-958D8A4CE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37F444-4829-961E-A6A4-5F159C4A79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D2432C-EA19-E015-395A-4C077017DA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79C473-FFF6-B8BE-43FB-B693DA1F57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78451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7AE2E-4D82-10E3-D4B2-D1BE6BEC9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70064D-B254-3FE8-8C71-75FC795C8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7A6DE1-53F5-A7F9-4B92-349E0384B8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CCFDA8-B86B-775A-C35B-6082C6643A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96193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34F1A-96BE-C8D9-791F-96888F45D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EF71F5-C759-F592-100E-AAC7FCE44B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4290EC-F910-F735-0BA4-F1899F8D30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DF7CF-65CB-BEBD-FAC3-5EBCDFAFDC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81820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75CC0-63DD-8A6F-7619-9472558BD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B2F26E-7502-498A-BAFA-48DD45BD3F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52D572-BA42-3F2A-B00A-1816869C31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DF33F-3E7F-8FA0-F9CB-406DC2844D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0294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010CD-BA42-0DF0-C21C-B75AE4B00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2347E6-FA90-E803-39FE-C2108A936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BCD547-2F49-DB62-6CD0-F03BF880B2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3B9A0-0C39-F610-40E6-4084ABDB42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3663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1DA3A-C730-0DCE-8B02-597E45386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6E1DB9-4FA9-FD1A-AD9E-A1AA59EE2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E8D2D2-7132-4D43-281A-AF2884CBC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0B23D1-3BF7-85DA-F624-3200A16E63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20722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D831A-198E-28BF-D4C2-A372D6B42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C38F94-C75B-23E1-3F2A-2DCFD0361A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A31514-E47B-CF15-2A6A-7682D5FB0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C2B70E-3EAE-6B1A-7329-203DA013F1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46935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BC9BC-DB15-132D-EFCB-652FC7754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503F4-458C-2A8D-F658-25B08AEB9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B75903-4499-692F-FA17-0EA4E0C38E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1F4E61-E046-FC52-27E1-CC9CD61018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15311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35D00-ABE2-8BB8-C6A9-9C5B96174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932E47-72BA-18E6-95FA-201660514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A4F64D-ACDC-84E1-A0DC-1E67C3E709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DE802C-8D9B-85FD-21E4-B28FE71F3C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49240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5F21B-5525-2015-F95E-0226D7A38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A95F12-D591-D94D-8D09-872F44D736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18A4EC-3A36-DF91-5E1B-D6F153CB78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BF8093-4A37-3D46-969C-767F9EC33F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1948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D7509-F6D2-F6C0-0E45-DE665DD1E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B93ACB-A58A-7431-8D4F-0E909568F1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F34A1B-E51C-4C7D-4892-5AE287B1CB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AFC8B-80C1-49D4-1EED-24F23FB519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49912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82DC5-DD74-81A4-C90F-89C30BDA3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C9242D-0A82-CD16-547E-C3D4ED2E20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71EED6-8CE9-9FFA-3B71-22AFA25E1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87760-8B84-EB06-033A-98F4A921B5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22912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19D81-5B85-6D31-F57E-F2759E212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1DE656-17DC-1350-E082-F662831B9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9FC7F-EE51-883D-47EA-E6689E3EDA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1421BE-F617-C25F-D973-86DE2F39D3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61274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87B1C-43C7-9811-1815-62CA067A0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36EF48-52B2-4CC4-9352-2DCE0505F8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140C4E-1907-ECA3-C2EA-5FCAE4F70D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95DD6B-E20E-9DCB-E34D-9C15131EEA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0579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2E36C-ACDB-7F4B-FF7F-B62C38C0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C8A632-8222-4F26-D500-F1631D8B3A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21FD83-D52B-B93F-5FC1-A77CF053F0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482383-9B7C-D502-7FA2-EFC8FFEE62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85067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76437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94948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21362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039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5212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.oup.com/academic/product/networks-9780198805090?cc=us&amp;lang=en&amp;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0711.0189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BSCAN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cdn.aaai.org/KDD/1996/KDD96-037.pdf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BSCAN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BSCAN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OPTICS_algorithm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dl.acm.org/doi/10.1145/304181.304187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en.wikipedia.org/wiki/OPTICS_algorithm" TargetMode="External"/><Relationship Id="rId4" Type="http://schemas.openxmlformats.org/officeDocument/2006/relationships/image" Target="../media/image1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nning.com/books/advanced-algorithms-and-data-structures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#dbscan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9.png"/><Relationship Id="rId4" Type="http://schemas.openxmlformats.org/officeDocument/2006/relationships/hyperlink" Target="https://pyclustering.github.io/docs/0.8.2/html/index.html" TargetMode="Externa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chapter/10.1007/978-3-642-37456-2_14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.png"/><Relationship Id="rId4" Type="http://schemas.openxmlformats.org/officeDocument/2006/relationships/hyperlink" Target="https://hdbscan.readthedocs.io/en/latest/index.html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hdbscan.readthedocs.io/en/latest/how_hdbscan_works.html" TargetMode="External"/><Relationship Id="rId4" Type="http://schemas.openxmlformats.org/officeDocument/2006/relationships/image" Target="../media/image2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hdbscan.readthedocs.io/en/latest/how_hdbscan_works.html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hdbscan.readthedocs.io/en/latest/how_hdbscan_works.html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hdbscan.readthedocs.io/en/latest/how_hdbscan_works.html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Prim%27s_algorithm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Prim%27s_algorithm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hyperlink" Target="https://hdbscan.readthedocs.io/en/latest/how_hdbscan_works.html" TargetMode="External"/><Relationship Id="rId4" Type="http://schemas.openxmlformats.org/officeDocument/2006/relationships/hyperlink" Target="https://en.wikipedia.org/wiki/Prim%27s_algorithm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51.png"/><Relationship Id="rId4" Type="http://schemas.openxmlformats.org/officeDocument/2006/relationships/hyperlink" Target="https://hdbscan.readthedocs.io/en/latest/how_hdbscan_works.html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60.png"/><Relationship Id="rId4" Type="http://schemas.openxmlformats.org/officeDocument/2006/relationships/hyperlink" Target="https://hdbscan.readthedocs.io/en/latest/how_hdbscan_works.html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0.png"/><Relationship Id="rId5" Type="http://schemas.openxmlformats.org/officeDocument/2006/relationships/hyperlink" Target="https://link.springer.com/chapter/10.1007/978-3-642-37456-2_14" TargetMode="External"/><Relationship Id="rId4" Type="http://schemas.openxmlformats.org/officeDocument/2006/relationships/image" Target="../media/image2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6.png"/><Relationship Id="rId5" Type="http://schemas.openxmlformats.org/officeDocument/2006/relationships/hyperlink" Target="https://link.springer.com/chapter/10.1007/978-3-642-37456-2_14" TargetMode="External"/><Relationship Id="rId4" Type="http://schemas.openxmlformats.org/officeDocument/2006/relationships/image" Target="../media/image3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9.png"/><Relationship Id="rId4" Type="http://schemas.openxmlformats.org/officeDocument/2006/relationships/hyperlink" Target="https://hdbscan.readthedocs.io/en/latest/how_hdbscan_works.html" TargetMode="Externa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hdbscan.readthedocs.io/en/latest/parameter_selection.html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hdbscan.readthedocs.io/en/latest/api.html" TargetMode="Externa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cikit-learn.org/stable/modules/clustering.html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1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619" y="968479"/>
            <a:ext cx="11016761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to Clustering Models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Part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0291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2020,2021, 2022, 2023, 2024, 2025, 2026, 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Algorithms for Non-Euclidean 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Euclidean spaces are optimal only for Normally distributed variables    </a:t>
            </a:r>
          </a:p>
          <a:p>
            <a:r>
              <a:rPr lang="en-US" dirty="0">
                <a:latin typeface="+mn-lt"/>
              </a:rPr>
              <a:t>Common examples of variables in non-Euclidean spaces  </a:t>
            </a:r>
          </a:p>
          <a:p>
            <a:pPr lvl="1"/>
            <a:r>
              <a:rPr lang="en-US" dirty="0">
                <a:latin typeface="+mn-lt"/>
              </a:rPr>
              <a:t>Categorical variables including NLP problems </a:t>
            </a:r>
          </a:p>
          <a:p>
            <a:pPr lvl="1"/>
            <a:r>
              <a:rPr lang="en-US" dirty="0">
                <a:latin typeface="+mn-lt"/>
              </a:rPr>
              <a:t>Binary variables </a:t>
            </a:r>
          </a:p>
          <a:p>
            <a:pPr lvl="1"/>
            <a:r>
              <a:rPr lang="en-US" dirty="0">
                <a:latin typeface="+mn-lt"/>
              </a:rPr>
              <a:t>Ordinal variables </a:t>
            </a:r>
          </a:p>
          <a:p>
            <a:r>
              <a:rPr lang="en-US" dirty="0">
                <a:latin typeface="+mn-lt"/>
              </a:rPr>
              <a:t>Algorithms for non-Euclidian spaces </a:t>
            </a:r>
          </a:p>
          <a:p>
            <a:pPr lvl="1"/>
            <a:r>
              <a:rPr lang="en-US" dirty="0">
                <a:latin typeface="+mn-lt"/>
              </a:rPr>
              <a:t>Tree-graph-based Agglomerative clustering </a:t>
            </a:r>
          </a:p>
          <a:p>
            <a:pPr lvl="1"/>
            <a:r>
              <a:rPr lang="en-US" dirty="0">
                <a:latin typeface="+mn-lt"/>
              </a:rPr>
              <a:t>Graph-based affinity clustering – slow and not discussed further here</a:t>
            </a:r>
          </a:p>
          <a:p>
            <a:pPr lvl="1"/>
            <a:r>
              <a:rPr lang="en-US" dirty="0">
                <a:latin typeface="+mn-lt"/>
              </a:rPr>
              <a:t>NN graph-based spectral clustering </a:t>
            </a:r>
          </a:p>
          <a:p>
            <a:pPr lvl="1"/>
            <a:r>
              <a:rPr lang="en-US" dirty="0">
                <a:latin typeface="+mn-lt"/>
              </a:rPr>
              <a:t>NN graph-based density algorithms  </a:t>
            </a:r>
          </a:p>
        </p:txBody>
      </p:sp>
    </p:spTree>
    <p:extLst>
      <p:ext uri="{BB962C8B-B14F-4D97-AF65-F5344CB8AC3E}">
        <p14:creationId xmlns:p14="http://schemas.microsoft.com/office/powerpoint/2010/main" val="3728896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Graph-Based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252733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Graph Based Clustering Models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Many cluster models use a graph-based associations    </a:t>
            </a:r>
          </a:p>
          <a:p>
            <a:r>
              <a:rPr lang="en-US" dirty="0">
                <a:latin typeface="+mn-lt"/>
              </a:rPr>
              <a:t>A graph is constructed for the distance or similarity relationships </a:t>
            </a:r>
          </a:p>
          <a:p>
            <a:pPr lvl="1"/>
            <a:r>
              <a:rPr lang="en-US" dirty="0">
                <a:latin typeface="+mn-lt"/>
              </a:rPr>
              <a:t>Observations (samples) are nodes </a:t>
            </a:r>
          </a:p>
          <a:p>
            <a:pPr lvl="1"/>
            <a:r>
              <a:rPr lang="en-US" dirty="0">
                <a:latin typeface="+mn-lt"/>
              </a:rPr>
              <a:t>Edges connect samples</a:t>
            </a:r>
          </a:p>
          <a:p>
            <a:pPr lvl="1"/>
            <a:r>
              <a:rPr lang="en-US" dirty="0">
                <a:latin typeface="+mn-lt"/>
              </a:rPr>
              <a:t>Edge weights are distance or similarity </a:t>
            </a:r>
          </a:p>
          <a:p>
            <a:r>
              <a:rPr lang="en-US" dirty="0">
                <a:latin typeface="+mn-lt"/>
              </a:rPr>
              <a:t>Relationships on the graph are used to separate data into clusters </a:t>
            </a:r>
          </a:p>
          <a:p>
            <a:r>
              <a:rPr lang="en-US" dirty="0">
                <a:latin typeface="+mn-lt"/>
              </a:rPr>
              <a:t> Several commonly used classes of clustering algorithms are graph-based</a:t>
            </a:r>
          </a:p>
          <a:p>
            <a:pPr lvl="1"/>
            <a:r>
              <a:rPr lang="en-US" dirty="0">
                <a:latin typeface="+mn-lt"/>
              </a:rPr>
              <a:t>Hierarchical </a:t>
            </a:r>
          </a:p>
          <a:p>
            <a:pPr lvl="1"/>
            <a:r>
              <a:rPr lang="en-US" dirty="0">
                <a:latin typeface="+mn-lt"/>
              </a:rPr>
              <a:t>Affinity clustering</a:t>
            </a:r>
          </a:p>
          <a:p>
            <a:pPr lvl="1"/>
            <a:r>
              <a:rPr lang="en-US" dirty="0">
                <a:latin typeface="+mn-lt"/>
              </a:rPr>
              <a:t>Spectral clustering</a:t>
            </a:r>
          </a:p>
          <a:p>
            <a:pPr lvl="1"/>
            <a:r>
              <a:rPr lang="en-US" dirty="0">
                <a:latin typeface="+mn-lt"/>
              </a:rPr>
              <a:t>Density clustering </a:t>
            </a:r>
          </a:p>
        </p:txBody>
      </p:sp>
    </p:spTree>
    <p:extLst>
      <p:ext uri="{BB962C8B-B14F-4D97-AF65-F5344CB8AC3E}">
        <p14:creationId xmlns:p14="http://schemas.microsoft.com/office/powerpoint/2010/main" val="277496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Scaling distance and similarity measures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5237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 dissimilarity matrix contains the differences between each case </a:t>
                </a:r>
                <a:r>
                  <a:rPr lang="en-US" i="1" dirty="0">
                    <a:latin typeface="+mn-lt"/>
                  </a:rPr>
                  <a:t>x</a:t>
                </a:r>
                <a:r>
                  <a:rPr lang="en-US" i="1" baseline="-25000" dirty="0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 and every other case </a:t>
                </a:r>
                <a:r>
                  <a:rPr lang="en-US" i="1" dirty="0" err="1">
                    <a:latin typeface="+mn-lt"/>
                  </a:rPr>
                  <a:t>x’</a:t>
                </a:r>
                <a:r>
                  <a:rPr lang="en-US" i="1" baseline="-25000" dirty="0" err="1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,</a:t>
                </a:r>
                <a:r>
                  <a:rPr lang="en-US" i="1" dirty="0">
                    <a:latin typeface="+mn-lt"/>
                  </a:rPr>
                  <a:t> d(x</a:t>
                </a:r>
                <a:r>
                  <a:rPr lang="en-US" i="1" baseline="-25000" dirty="0">
                    <a:latin typeface="+mn-lt"/>
                  </a:rPr>
                  <a:t>i</a:t>
                </a:r>
                <a:r>
                  <a:rPr lang="en-US" i="1" dirty="0">
                    <a:latin typeface="+mn-lt"/>
                  </a:rPr>
                  <a:t>, </a:t>
                </a:r>
                <a:r>
                  <a:rPr lang="en-US" i="1" dirty="0" err="1">
                    <a:latin typeface="+mn-lt"/>
                  </a:rPr>
                  <a:t>x’</a:t>
                </a:r>
                <a:r>
                  <a:rPr lang="en-US" i="1" baseline="-25000" dirty="0" err="1">
                    <a:latin typeface="+mn-lt"/>
                  </a:rPr>
                  <a:t>i</a:t>
                </a:r>
                <a:r>
                  <a:rPr lang="en-US" i="1" dirty="0">
                    <a:latin typeface="+mn-lt"/>
                  </a:rPr>
                  <a:t>)</a:t>
                </a:r>
                <a:endParaRPr lang="en-US" sz="2800" i="1" baseline="-25000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Dense representation is computationally intensive and memory intensive: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p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How can we do better?    </a:t>
                </a:r>
              </a:p>
              <a:p>
                <a:r>
                  <a:rPr lang="en-US" b="1" dirty="0">
                    <a:latin typeface="+mn-lt"/>
                  </a:rPr>
                  <a:t>Use a sparse graph representation!</a:t>
                </a:r>
              </a:p>
              <a:p>
                <a:r>
                  <a:rPr lang="en-US" dirty="0">
                    <a:latin typeface="+mn-lt"/>
                  </a:rPr>
                  <a:t>A</a:t>
                </a:r>
                <a:r>
                  <a:rPr lang="en-US" b="1" dirty="0">
                    <a:latin typeface="+mn-lt"/>
                  </a:rPr>
                  <a:t> proximity graph</a:t>
                </a:r>
                <a:r>
                  <a:rPr lang="en-US" dirty="0">
                    <a:latin typeface="+mn-lt"/>
                  </a:rPr>
                  <a:t> or </a:t>
                </a:r>
                <a:r>
                  <a:rPr lang="en-US" b="1" dirty="0">
                    <a:latin typeface="+mn-lt"/>
                  </a:rPr>
                  <a:t>nearest neighbor similarity graph</a:t>
                </a:r>
              </a:p>
              <a:p>
                <a:pPr marL="0" indent="0">
                  <a:buNone/>
                </a:pPr>
                <a:endParaRPr lang="en-US" b="1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523771"/>
              </a:xfrm>
              <a:blipFill>
                <a:blip r:embed="rId3"/>
                <a:stretch>
                  <a:fillRect l="-1111" t="-1876" r="-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8216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Scaling distance and similarity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5237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 dissimilarity matrix contains the differences between each case </a:t>
            </a:r>
            <a:r>
              <a:rPr lang="en-US" i="1" dirty="0">
                <a:latin typeface="+mn-lt"/>
              </a:rPr>
              <a:t>x</a:t>
            </a:r>
            <a:r>
              <a:rPr lang="en-US" i="1" baseline="-25000" dirty="0">
                <a:latin typeface="+mn-lt"/>
              </a:rPr>
              <a:t>i</a:t>
            </a:r>
            <a:r>
              <a:rPr lang="en-US" dirty="0">
                <a:latin typeface="+mn-lt"/>
              </a:rPr>
              <a:t> and every other case </a:t>
            </a:r>
            <a:r>
              <a:rPr lang="en-US" i="1" dirty="0" err="1">
                <a:latin typeface="+mn-lt"/>
              </a:rPr>
              <a:t>x’</a:t>
            </a:r>
            <a:r>
              <a:rPr lang="en-US" i="1" baseline="-25000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,</a:t>
            </a:r>
            <a:r>
              <a:rPr lang="en-US" i="1" dirty="0">
                <a:latin typeface="+mn-lt"/>
              </a:rPr>
              <a:t> d(x</a:t>
            </a:r>
            <a:r>
              <a:rPr lang="en-US" i="1" baseline="-25000" dirty="0">
                <a:latin typeface="+mn-lt"/>
              </a:rPr>
              <a:t>i</a:t>
            </a:r>
            <a:r>
              <a:rPr lang="en-US" i="1" dirty="0">
                <a:latin typeface="+mn-lt"/>
              </a:rPr>
              <a:t>, </a:t>
            </a:r>
            <a:r>
              <a:rPr lang="en-US" i="1" dirty="0" err="1">
                <a:latin typeface="+mn-lt"/>
              </a:rPr>
              <a:t>x’</a:t>
            </a:r>
            <a:r>
              <a:rPr lang="en-US" i="1" baseline="-25000" dirty="0" err="1">
                <a:latin typeface="+mn-lt"/>
              </a:rPr>
              <a:t>i</a:t>
            </a:r>
            <a:r>
              <a:rPr lang="en-US" i="1" dirty="0">
                <a:latin typeface="+mn-lt"/>
              </a:rPr>
              <a:t>)</a:t>
            </a:r>
            <a:endParaRPr lang="en-US" sz="2800" i="1" baseline="-25000" dirty="0">
              <a:latin typeface="+mn-lt"/>
            </a:endParaRPr>
          </a:p>
          <a:p>
            <a:r>
              <a:rPr lang="en-US" b="1" dirty="0">
                <a:latin typeface="+mn-lt"/>
              </a:rPr>
              <a:t>Sparse graph representation</a:t>
            </a:r>
            <a:r>
              <a:rPr lang="en-US" dirty="0">
                <a:latin typeface="+mn-lt"/>
              </a:rPr>
              <a:t> reduces computation and memory use    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sparser the graph the greater the approximation </a:t>
            </a:r>
          </a:p>
          <a:p>
            <a:r>
              <a:rPr lang="en-US" dirty="0">
                <a:latin typeface="+mn-lt"/>
              </a:rPr>
              <a:t>In many practical situations only need metric for closest neighbors   </a:t>
            </a:r>
          </a:p>
          <a:p>
            <a:pPr lvl="1"/>
            <a:r>
              <a:rPr lang="en-US" dirty="0">
                <a:latin typeface="+mn-lt"/>
              </a:rPr>
              <a:t>Construct graph of </a:t>
            </a:r>
            <a:r>
              <a:rPr lang="en-US" b="1" dirty="0">
                <a:latin typeface="+mn-lt"/>
              </a:rPr>
              <a:t>nearest neighbors     </a:t>
            </a:r>
          </a:p>
          <a:p>
            <a:pPr lvl="1"/>
            <a:r>
              <a:rPr lang="en-US" dirty="0">
                <a:latin typeface="+mn-lt"/>
              </a:rPr>
              <a:t>Only compute and store metric for edges between nearest neighbors    </a:t>
            </a:r>
          </a:p>
          <a:p>
            <a:pPr lvl="1"/>
            <a:r>
              <a:rPr lang="en-US" dirty="0">
                <a:latin typeface="+mn-lt"/>
              </a:rPr>
              <a:t>Approximation ignores other associations </a:t>
            </a:r>
          </a:p>
          <a:p>
            <a:r>
              <a:rPr lang="en-US" dirty="0">
                <a:latin typeface="+mn-lt"/>
              </a:rPr>
              <a:t>Ways to define nearest neighbor      </a:t>
            </a:r>
          </a:p>
          <a:p>
            <a:pPr lvl="1"/>
            <a:r>
              <a:rPr lang="en-US" dirty="0">
                <a:latin typeface="+mn-lt"/>
              </a:rPr>
              <a:t>Neighbors within distance </a:t>
            </a:r>
            <a:r>
              <a:rPr lang="en-US" b="1" dirty="0">
                <a:latin typeface="+mn-lt"/>
              </a:rPr>
              <a:t>r</a:t>
            </a:r>
          </a:p>
          <a:p>
            <a:pPr lvl="1"/>
            <a:r>
              <a:rPr lang="en-US" dirty="0">
                <a:latin typeface="+mn-lt"/>
              </a:rPr>
              <a:t>Nearest </a:t>
            </a:r>
            <a:r>
              <a:rPr lang="en-US" b="1" dirty="0">
                <a:latin typeface="+mn-lt"/>
              </a:rPr>
              <a:t>k </a:t>
            </a:r>
            <a:r>
              <a:rPr lang="en-US" dirty="0">
                <a:latin typeface="+mn-lt"/>
              </a:rPr>
              <a:t>neighbors     </a:t>
            </a:r>
            <a:endParaRPr lang="en-US" b="1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69366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Scaling distance and similarity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Sparse graph representation</a:t>
            </a:r>
            <a:r>
              <a:rPr lang="en-US" dirty="0">
                <a:latin typeface="+mn-lt"/>
              </a:rPr>
              <a:t> reduces computation and memory use  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548DED-98F8-A31E-5342-F683E842C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362" y="1398559"/>
            <a:ext cx="5263486" cy="53799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F104C8-939D-17AC-9595-D23F88C334CA}"/>
                  </a:ext>
                </a:extLst>
              </p:cNvPr>
              <p:cNvSpPr txBox="1"/>
              <p:nvPr/>
            </p:nvSpPr>
            <p:spPr>
              <a:xfrm>
                <a:off x="396498" y="1709893"/>
                <a:ext cx="5584552" cy="4401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Nearest neighbors within a fixed radius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Need to select a radius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Connectivity increases with radius 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𝑠𝑝𝑎𝑠𝑒𝑟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𝑔𝑟𝑎𝑝h</m:t>
                    </m:r>
                  </m:oMath>
                </a14:m>
                <a:r>
                  <a:rPr lang="en-US" sz="280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𝑙𝑒𝑠𝑠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𝑐𝑜𝑚𝑝𝑢𝑡𝑎𝑡𝑖𝑜𝑛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𝑙𝑒𝑠𝑠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𝑚𝑒𝑚𝑜𝑟𝑦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𝑑𝑖𝑠𝑐𝑜𝑛𝑛𝑒𝑐𝑡𝑒𝑑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𝑔𝑟𝑎𝑝h</m:t>
                    </m:r>
                  </m:oMath>
                </a14:m>
                <a:endParaRPr lang="en-US" sz="2800" b="0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b="1" dirty="0">
                    <a:solidFill>
                      <a:srgbClr val="C00000"/>
                    </a:solidFill>
                  </a:rPr>
                  <a:t>Do not confuse this idea with the cluster assignment model!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F104C8-939D-17AC-9595-D23F88C334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498" y="1709893"/>
                <a:ext cx="5584552" cy="4401205"/>
              </a:xfrm>
              <a:prstGeom prst="rect">
                <a:avLst/>
              </a:prstGeom>
              <a:blipFill>
                <a:blip r:embed="rId4"/>
                <a:stretch>
                  <a:fillRect l="-1965" t="-1247" r="-4367" b="-30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4900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Scaling distance and similarity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Sparse graph representation</a:t>
            </a:r>
            <a:r>
              <a:rPr lang="en-US" dirty="0">
                <a:latin typeface="+mn-lt"/>
              </a:rPr>
              <a:t> reduces computation and memory use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F104C8-939D-17AC-9595-D23F88C334CA}"/>
                  </a:ext>
                </a:extLst>
              </p:cNvPr>
              <p:cNvSpPr txBox="1"/>
              <p:nvPr/>
            </p:nvSpPr>
            <p:spPr>
              <a:xfrm>
                <a:off x="396498" y="1709893"/>
                <a:ext cx="5584552" cy="5262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Nearest neighbors within a fixed number of neighbors, </a:t>
                </a:r>
                <a:r>
                  <a:rPr lang="en-US" sz="2800" i="1" dirty="0"/>
                  <a:t>k</a:t>
                </a:r>
                <a:r>
                  <a:rPr lang="en-US" sz="280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Need to select </a:t>
                </a:r>
                <a:r>
                  <a:rPr lang="en-US" sz="2800" i="1" dirty="0"/>
                  <a:t>k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Connectivity increases with </a:t>
                </a:r>
                <a:r>
                  <a:rPr lang="en-US" sz="2800" i="1" dirty="0"/>
                  <a:t>k</a:t>
                </a:r>
                <a:r>
                  <a:rPr lang="en-US" sz="2800" dirty="0"/>
                  <a:t> 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𝑠𝑝𝑎𝑠𝑒𝑟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𝑔𝑟𝑎𝑝h</m:t>
                    </m:r>
                  </m:oMath>
                </a14:m>
                <a:r>
                  <a:rPr lang="en-US" sz="280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𝑙𝑒𝑠𝑠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𝑐𝑜𝑚𝑝𝑢𝑡𝑎𝑡𝑖𝑜𝑛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𝑙𝑒𝑠𝑠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𝑚𝑒𝑚𝑜𝑟𝑦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Can have disconnected graph components </a:t>
                </a:r>
                <a:endParaRPr lang="en-US" sz="2800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b="1" dirty="0">
                    <a:solidFill>
                      <a:srgbClr val="C00000"/>
                    </a:solidFill>
                  </a:rPr>
                  <a:t>Do not confuse this idea with the cluster assignment model! </a:t>
                </a:r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F104C8-939D-17AC-9595-D23F88C334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498" y="1709893"/>
                <a:ext cx="5584552" cy="5262979"/>
              </a:xfrm>
              <a:prstGeom prst="rect">
                <a:avLst/>
              </a:prstGeom>
              <a:blipFill>
                <a:blip r:embed="rId3"/>
                <a:stretch>
                  <a:fillRect l="-1965" t="-10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297319D1-4DCF-AFF0-425A-78BBDE86D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5349" y="1319284"/>
            <a:ext cx="5225962" cy="5477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259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Spectral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40673440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Spectral clustering algorithm finds the minimum cuts by three steps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Construct </a:t>
            </a:r>
            <a:r>
              <a:rPr lang="en-US" b="1" dirty="0">
                <a:latin typeface="+mn-lt"/>
              </a:rPr>
              <a:t>association matrix</a:t>
            </a:r>
            <a:r>
              <a:rPr lang="en-US" dirty="0">
                <a:latin typeface="+mn-lt"/>
              </a:rPr>
              <a:t> for the </a:t>
            </a:r>
            <a:r>
              <a:rPr lang="en-US" b="1" dirty="0">
                <a:latin typeface="+mn-lt"/>
              </a:rPr>
              <a:t>graph of the samples</a:t>
            </a:r>
          </a:p>
          <a:p>
            <a:pPr lvl="1"/>
            <a:r>
              <a:rPr lang="en-US" dirty="0">
                <a:latin typeface="+mn-lt"/>
              </a:rPr>
              <a:t>Fully connected graph or, </a:t>
            </a:r>
            <a:r>
              <a:rPr lang="en-US" b="1" dirty="0">
                <a:latin typeface="+mn-lt"/>
              </a:rPr>
              <a:t>sparse K-nearest-neighbor </a:t>
            </a:r>
            <a:r>
              <a:rPr lang="en-US" dirty="0">
                <a:latin typeface="+mn-lt"/>
              </a:rPr>
              <a:t>graph </a:t>
            </a:r>
          </a:p>
          <a:p>
            <a:pPr lvl="1"/>
            <a:r>
              <a:rPr lang="en-US" dirty="0">
                <a:latin typeface="+mn-lt"/>
              </a:rPr>
              <a:t>KD-tree, ball-tree or other NN algorithm </a:t>
            </a:r>
          </a:p>
          <a:p>
            <a:pPr lvl="1"/>
            <a:r>
              <a:rPr lang="en-US" dirty="0">
                <a:latin typeface="+mn-lt"/>
              </a:rPr>
              <a:t>The edges are undirected and weighted  </a:t>
            </a:r>
          </a:p>
          <a:p>
            <a:pPr lvl="1"/>
            <a:r>
              <a:rPr lang="en-US" dirty="0">
                <a:latin typeface="+mn-lt"/>
              </a:rPr>
              <a:t>Weights are similarity between the samples     </a:t>
            </a:r>
          </a:p>
          <a:p>
            <a:pPr lvl="1"/>
            <a:r>
              <a:rPr lang="en-US" dirty="0">
                <a:latin typeface="+mn-lt"/>
              </a:rPr>
              <a:t>Generally, use symmetric nearest neighbors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graph Laplacian </a:t>
            </a:r>
            <a:r>
              <a:rPr lang="en-US" dirty="0">
                <a:latin typeface="+mn-lt"/>
              </a:rPr>
              <a:t>matrix is constructed from the association matrix </a:t>
            </a:r>
          </a:p>
          <a:p>
            <a:pPr lvl="1"/>
            <a:r>
              <a:rPr lang="en-US" dirty="0">
                <a:latin typeface="+mn-lt"/>
              </a:rPr>
              <a:t>Full matrix for fully connected graph </a:t>
            </a:r>
          </a:p>
          <a:p>
            <a:pPr lvl="1"/>
            <a:r>
              <a:rPr lang="en-US" dirty="0">
                <a:latin typeface="+mn-lt"/>
              </a:rPr>
              <a:t>Sparse matrix for nearest-neighbor graph – faster algorithm!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Partition graph Laplacian by </a:t>
            </a:r>
            <a:r>
              <a:rPr lang="en-US" b="1" dirty="0">
                <a:latin typeface="+mn-lt"/>
              </a:rPr>
              <a:t>minimum weight cuts</a:t>
            </a:r>
          </a:p>
          <a:p>
            <a:pPr lvl="1"/>
            <a:r>
              <a:rPr lang="en-US" dirty="0">
                <a:latin typeface="+mn-lt"/>
              </a:rPr>
              <a:t>A </a:t>
            </a:r>
            <a:r>
              <a:rPr lang="en-US" b="1" dirty="0">
                <a:latin typeface="+mn-lt"/>
              </a:rPr>
              <a:t>min-cut algorithm</a:t>
            </a:r>
          </a:p>
        </p:txBody>
      </p:sp>
    </p:spTree>
    <p:extLst>
      <p:ext uri="{BB962C8B-B14F-4D97-AF65-F5344CB8AC3E}">
        <p14:creationId xmlns:p14="http://schemas.microsoft.com/office/powerpoint/2010/main" val="1895616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34D421C-B98F-4F57-B2CC-5DA80E108DCA}"/>
              </a:ext>
            </a:extLst>
          </p:cNvPr>
          <p:cNvCxnSpPr>
            <a:cxnSpLocks/>
          </p:cNvCxnSpPr>
          <p:nvPr/>
        </p:nvCxnSpPr>
        <p:spPr>
          <a:xfrm>
            <a:off x="685898" y="2081508"/>
            <a:ext cx="1154066" cy="17898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50148" y="896079"/>
            <a:ext cx="6508476" cy="56028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Steps of spectral clustering algorithm </a:t>
            </a:r>
          </a:p>
          <a:p>
            <a:r>
              <a:rPr lang="en-US" dirty="0">
                <a:latin typeface="+mn-lt"/>
              </a:rPr>
              <a:t>Start with samples  </a:t>
            </a:r>
          </a:p>
          <a:p>
            <a:r>
              <a:rPr lang="en-US" dirty="0">
                <a:latin typeface="+mn-lt"/>
              </a:rPr>
              <a:t>Construct graph </a:t>
            </a:r>
          </a:p>
          <a:p>
            <a:pPr lvl="1"/>
            <a:r>
              <a:rPr lang="en-US" dirty="0">
                <a:latin typeface="+mn-lt"/>
              </a:rPr>
              <a:t>3-nearest-neighbors in this case </a:t>
            </a:r>
          </a:p>
          <a:p>
            <a:pPr lvl="1"/>
            <a:r>
              <a:rPr lang="en-US" dirty="0">
                <a:latin typeface="+mn-lt"/>
              </a:rPr>
              <a:t>Use undirected edges</a:t>
            </a:r>
          </a:p>
          <a:p>
            <a:pPr lvl="1"/>
            <a:r>
              <a:rPr lang="en-US" dirty="0">
                <a:latin typeface="+mn-lt"/>
              </a:rPr>
              <a:t>Edge weights are similarity </a:t>
            </a:r>
          </a:p>
          <a:p>
            <a:r>
              <a:rPr lang="en-US" dirty="0">
                <a:latin typeface="+mn-lt"/>
              </a:rPr>
              <a:t>Association matrix constructed from graph </a:t>
            </a:r>
          </a:p>
          <a:p>
            <a:pPr lvl="1"/>
            <a:r>
              <a:rPr lang="en-US" dirty="0">
                <a:latin typeface="+mn-lt"/>
              </a:rPr>
              <a:t>Weighted by similarity between points</a:t>
            </a:r>
          </a:p>
          <a:p>
            <a:r>
              <a:rPr lang="en-US" dirty="0">
                <a:latin typeface="+mn-lt"/>
              </a:rPr>
              <a:t>Compute </a:t>
            </a:r>
            <a:r>
              <a:rPr lang="en-US" b="1" dirty="0">
                <a:latin typeface="+mn-lt"/>
              </a:rPr>
              <a:t>graph Laplacian </a:t>
            </a:r>
          </a:p>
          <a:p>
            <a:r>
              <a:rPr lang="en-US" dirty="0">
                <a:latin typeface="+mn-lt"/>
              </a:rPr>
              <a:t>Perform clustering by </a:t>
            </a:r>
            <a:r>
              <a:rPr lang="en-US" b="1" dirty="0" err="1">
                <a:latin typeface="+mn-lt"/>
              </a:rPr>
              <a:t>partioning</a:t>
            </a:r>
            <a:r>
              <a:rPr lang="en-US" b="1" dirty="0">
                <a:latin typeface="+mn-lt"/>
              </a:rPr>
              <a:t> graph on eigenvectors</a:t>
            </a:r>
            <a:r>
              <a:rPr lang="en-US" dirty="0">
                <a:latin typeface="+mn-lt"/>
              </a:rPr>
              <a:t> of graph Laplacian</a:t>
            </a:r>
          </a:p>
          <a:p>
            <a:endParaRPr lang="en-US" dirty="0">
              <a:latin typeface="+mn-lt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08A190B-B202-422A-89B8-6F7261719F1C}"/>
              </a:ext>
            </a:extLst>
          </p:cNvPr>
          <p:cNvSpPr/>
          <p:nvPr/>
        </p:nvSpPr>
        <p:spPr>
          <a:xfrm>
            <a:off x="594539" y="1993345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F9F88FF-9850-4E7F-B467-A9FC1F7E6E7F}"/>
              </a:ext>
            </a:extLst>
          </p:cNvPr>
          <p:cNvSpPr/>
          <p:nvPr/>
        </p:nvSpPr>
        <p:spPr>
          <a:xfrm>
            <a:off x="1748605" y="2172328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1FA0E56-FB83-46A7-8FBA-7DD99C125C1F}"/>
              </a:ext>
            </a:extLst>
          </p:cNvPr>
          <p:cNvSpPr/>
          <p:nvPr/>
        </p:nvSpPr>
        <p:spPr>
          <a:xfrm>
            <a:off x="980092" y="3951209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D855A26-478F-4BE5-89AF-AAFC8ECEEF9B}"/>
              </a:ext>
            </a:extLst>
          </p:cNvPr>
          <p:cNvSpPr/>
          <p:nvPr/>
        </p:nvSpPr>
        <p:spPr>
          <a:xfrm>
            <a:off x="1655208" y="3400577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1E40EF4-15FC-4B3D-84E2-F25AEC708349}"/>
              </a:ext>
            </a:extLst>
          </p:cNvPr>
          <p:cNvSpPr/>
          <p:nvPr/>
        </p:nvSpPr>
        <p:spPr>
          <a:xfrm>
            <a:off x="2075214" y="2775304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DBFEDF8-7036-4147-96EE-0D4149411B94}"/>
              </a:ext>
            </a:extLst>
          </p:cNvPr>
          <p:cNvSpPr/>
          <p:nvPr/>
        </p:nvSpPr>
        <p:spPr>
          <a:xfrm>
            <a:off x="2994030" y="1852953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CBE48A6-C0C7-43D0-B95D-4CC35CF114E2}"/>
              </a:ext>
            </a:extLst>
          </p:cNvPr>
          <p:cNvSpPr/>
          <p:nvPr/>
        </p:nvSpPr>
        <p:spPr>
          <a:xfrm>
            <a:off x="3202251" y="2576089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F7739B5-6F7E-4BB9-A7BB-FB60C9823460}"/>
              </a:ext>
            </a:extLst>
          </p:cNvPr>
          <p:cNvSpPr/>
          <p:nvPr/>
        </p:nvSpPr>
        <p:spPr>
          <a:xfrm>
            <a:off x="3988778" y="1852953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8A998D9-0328-4637-BDE5-D30BF625EA70}"/>
              </a:ext>
            </a:extLst>
          </p:cNvPr>
          <p:cNvSpPr/>
          <p:nvPr/>
        </p:nvSpPr>
        <p:spPr>
          <a:xfrm>
            <a:off x="4014608" y="3041787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51A9DE0-DC4C-446A-8304-1BD6003C9A95}"/>
              </a:ext>
            </a:extLst>
          </p:cNvPr>
          <p:cNvSpPr/>
          <p:nvPr/>
        </p:nvSpPr>
        <p:spPr>
          <a:xfrm>
            <a:off x="4668999" y="2398434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2469E07-D5BA-41DB-A638-EFD084E75FF0}"/>
              </a:ext>
            </a:extLst>
          </p:cNvPr>
          <p:cNvCxnSpPr>
            <a:cxnSpLocks/>
            <a:stCxn id="4" idx="4"/>
            <a:endCxn id="8" idx="2"/>
          </p:cNvCxnSpPr>
          <p:nvPr/>
        </p:nvCxnSpPr>
        <p:spPr>
          <a:xfrm>
            <a:off x="685898" y="2171000"/>
            <a:ext cx="1389316" cy="693132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E619F0-327B-4383-A59F-C05C33D4A846}"/>
              </a:ext>
            </a:extLst>
          </p:cNvPr>
          <p:cNvCxnSpPr>
            <a:cxnSpLocks/>
            <a:stCxn id="7" idx="7"/>
            <a:endCxn id="8" idx="4"/>
          </p:cNvCxnSpPr>
          <p:nvPr/>
        </p:nvCxnSpPr>
        <p:spPr>
          <a:xfrm flipV="1">
            <a:off x="1811168" y="2952959"/>
            <a:ext cx="355405" cy="47363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9C228DD-DB29-41D1-8E5F-B1B96349F92C}"/>
              </a:ext>
            </a:extLst>
          </p:cNvPr>
          <p:cNvCxnSpPr>
            <a:cxnSpLocks/>
            <a:stCxn id="6" idx="7"/>
            <a:endCxn id="7" idx="3"/>
          </p:cNvCxnSpPr>
          <p:nvPr/>
        </p:nvCxnSpPr>
        <p:spPr>
          <a:xfrm flipV="1">
            <a:off x="1136052" y="3552215"/>
            <a:ext cx="545914" cy="4250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FC357AF-FE44-4BCF-B761-7AAEA1C3CC3A}"/>
              </a:ext>
            </a:extLst>
          </p:cNvPr>
          <p:cNvCxnSpPr>
            <a:cxnSpLocks/>
            <a:stCxn id="8" idx="0"/>
            <a:endCxn id="5" idx="5"/>
          </p:cNvCxnSpPr>
          <p:nvPr/>
        </p:nvCxnSpPr>
        <p:spPr>
          <a:xfrm flipH="1" flipV="1">
            <a:off x="1904565" y="2323966"/>
            <a:ext cx="262008" cy="45133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CB365D4-57D5-4282-963A-D47C57672EC0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621297" y="2144983"/>
            <a:ext cx="1060669" cy="12816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37DF2EA-B0D3-4B8A-974B-3EAC576552A1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 flipV="1">
            <a:off x="1931323" y="1941781"/>
            <a:ext cx="1062707" cy="31937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F09DC46-7CBB-4787-93AA-B4A9D6354656}"/>
              </a:ext>
            </a:extLst>
          </p:cNvPr>
          <p:cNvCxnSpPr>
            <a:cxnSpLocks/>
            <a:stCxn id="8" idx="6"/>
            <a:endCxn id="10" idx="2"/>
          </p:cNvCxnSpPr>
          <p:nvPr/>
        </p:nvCxnSpPr>
        <p:spPr>
          <a:xfrm flipV="1">
            <a:off x="2257932" y="2664917"/>
            <a:ext cx="944319" cy="19921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58CEE78-FBDD-4074-8168-5AFA9DB293F7}"/>
              </a:ext>
            </a:extLst>
          </p:cNvPr>
          <p:cNvCxnSpPr>
            <a:cxnSpLocks/>
            <a:stCxn id="5" idx="3"/>
            <a:endCxn id="6" idx="0"/>
          </p:cNvCxnSpPr>
          <p:nvPr/>
        </p:nvCxnSpPr>
        <p:spPr>
          <a:xfrm flipH="1">
            <a:off x="1071451" y="2323966"/>
            <a:ext cx="703912" cy="1627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4567B11-0D0D-4156-89A7-16DAA1FA1872}"/>
              </a:ext>
            </a:extLst>
          </p:cNvPr>
          <p:cNvCxnSpPr>
            <a:cxnSpLocks/>
            <a:stCxn id="8" idx="3"/>
            <a:endCxn id="6" idx="0"/>
          </p:cNvCxnSpPr>
          <p:nvPr/>
        </p:nvCxnSpPr>
        <p:spPr>
          <a:xfrm flipH="1">
            <a:off x="1071451" y="2926942"/>
            <a:ext cx="1030521" cy="102426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0A5093A-52C2-40EC-8B8E-0E7395D2FE41}"/>
              </a:ext>
            </a:extLst>
          </p:cNvPr>
          <p:cNvCxnSpPr>
            <a:cxnSpLocks/>
            <a:stCxn id="12" idx="2"/>
            <a:endCxn id="10" idx="5"/>
          </p:cNvCxnSpPr>
          <p:nvPr/>
        </p:nvCxnSpPr>
        <p:spPr>
          <a:xfrm flipH="1" flipV="1">
            <a:off x="3358211" y="2727727"/>
            <a:ext cx="656397" cy="40288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33CD1EC-471C-4898-B21E-CAB746ED8E21}"/>
              </a:ext>
            </a:extLst>
          </p:cNvPr>
          <p:cNvCxnSpPr>
            <a:cxnSpLocks/>
            <a:stCxn id="10" idx="0"/>
            <a:endCxn id="9" idx="4"/>
          </p:cNvCxnSpPr>
          <p:nvPr/>
        </p:nvCxnSpPr>
        <p:spPr>
          <a:xfrm flipH="1" flipV="1">
            <a:off x="3085389" y="2030608"/>
            <a:ext cx="208221" cy="54548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CEF8E58-A7D2-4062-893F-1D575800AB63}"/>
              </a:ext>
            </a:extLst>
          </p:cNvPr>
          <p:cNvCxnSpPr>
            <a:cxnSpLocks/>
            <a:stCxn id="12" idx="0"/>
            <a:endCxn id="11" idx="4"/>
          </p:cNvCxnSpPr>
          <p:nvPr/>
        </p:nvCxnSpPr>
        <p:spPr>
          <a:xfrm flipH="1" flipV="1">
            <a:off x="4080137" y="2030608"/>
            <a:ext cx="25830" cy="101117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627C3E1-AA2E-4352-8AAE-70E59EC9E409}"/>
              </a:ext>
            </a:extLst>
          </p:cNvPr>
          <p:cNvCxnSpPr>
            <a:cxnSpLocks/>
            <a:stCxn id="12" idx="7"/>
          </p:cNvCxnSpPr>
          <p:nvPr/>
        </p:nvCxnSpPr>
        <p:spPr>
          <a:xfrm flipV="1">
            <a:off x="4170568" y="2561040"/>
            <a:ext cx="616548" cy="50676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4F70BFB-1512-4F20-8D1B-5D098CF9381C}"/>
              </a:ext>
            </a:extLst>
          </p:cNvPr>
          <p:cNvCxnSpPr>
            <a:cxnSpLocks/>
            <a:stCxn id="11" idx="5"/>
          </p:cNvCxnSpPr>
          <p:nvPr/>
        </p:nvCxnSpPr>
        <p:spPr>
          <a:xfrm>
            <a:off x="4144738" y="2004591"/>
            <a:ext cx="577777" cy="4048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396BE56-3AEA-4289-A29C-18AB052A783D}"/>
              </a:ext>
            </a:extLst>
          </p:cNvPr>
          <p:cNvCxnSpPr>
            <a:cxnSpLocks/>
            <a:stCxn id="9" idx="6"/>
            <a:endCxn id="11" idx="2"/>
          </p:cNvCxnSpPr>
          <p:nvPr/>
        </p:nvCxnSpPr>
        <p:spPr>
          <a:xfrm>
            <a:off x="3176748" y="1941781"/>
            <a:ext cx="81203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19393F8-AE33-4F39-AEBB-2C2B1DD720C2}"/>
              </a:ext>
            </a:extLst>
          </p:cNvPr>
          <p:cNvCxnSpPr>
            <a:cxnSpLocks/>
            <a:stCxn id="10" idx="6"/>
          </p:cNvCxnSpPr>
          <p:nvPr/>
        </p:nvCxnSpPr>
        <p:spPr>
          <a:xfrm flipV="1">
            <a:off x="3384969" y="2472213"/>
            <a:ext cx="1310788" cy="19270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AEC305C-0145-4BBB-B3E3-ED97309238FD}"/>
              </a:ext>
            </a:extLst>
          </p:cNvPr>
          <p:cNvCxnSpPr>
            <a:cxnSpLocks/>
          </p:cNvCxnSpPr>
          <p:nvPr/>
        </p:nvCxnSpPr>
        <p:spPr>
          <a:xfrm>
            <a:off x="2290118" y="1425844"/>
            <a:ext cx="723659" cy="2271673"/>
          </a:xfrm>
          <a:prstGeom prst="line">
            <a:avLst/>
          </a:prstGeom>
          <a:ln w="50800">
            <a:solidFill>
              <a:srgbClr val="00B05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132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Compute </a:t>
                </a:r>
                <a:r>
                  <a:rPr lang="en-US" b="1" dirty="0">
                    <a:latin typeface="+mn-lt"/>
                  </a:rPr>
                  <a:t>graph Laplacian  </a:t>
                </a:r>
              </a:p>
              <a:p>
                <a:r>
                  <a:rPr lang="en-US" dirty="0">
                    <a:latin typeface="+mn-lt"/>
                  </a:rPr>
                  <a:t>Several possible definitions of graph Laplacian  </a:t>
                </a:r>
              </a:p>
              <a:p>
                <a:r>
                  <a:rPr lang="en-US" dirty="0">
                    <a:latin typeface="+mn-lt"/>
                  </a:rPr>
                  <a:t>Starting with weighted association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n-lt"/>
                  </a:rPr>
                  <a:t>, compute the diagonal matrix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of out degree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b="0" dirty="0"/>
                  <a:t>			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The unnormalized graph Laplacian: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Alternatively, the normalized graph Laplacian: </a:t>
                </a:r>
              </a:p>
              <a:p>
                <a:pPr marL="0" indent="0">
                  <a:buNone/>
                </a:pPr>
                <a:endParaRPr lang="en-US" sz="10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𝑛𝑜𝑟𝑚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−1/2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−1/2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−1/2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−1/2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1077" t="-1850" r="-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762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Factor the graph Laplacian  </a:t>
                </a:r>
              </a:p>
              <a:p>
                <a:r>
                  <a:rPr lang="en-US" dirty="0">
                    <a:latin typeface="+mn-lt"/>
                  </a:rPr>
                  <a:t>Apply </a:t>
                </a:r>
                <a:r>
                  <a:rPr lang="en-US" dirty="0" err="1">
                    <a:latin typeface="+mn-lt"/>
                  </a:rPr>
                  <a:t>eigendecomposition</a:t>
                </a:r>
                <a:r>
                  <a:rPr lang="en-US" dirty="0">
                    <a:latin typeface="+mn-lt"/>
                  </a:rPr>
                  <a:t> to the graph Laplacian: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Λ</m:t>
                      </m:r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</a:rPr>
                  <a:t>For a single eigenvalue,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>
                    <a:latin typeface="+mn-lt"/>
                  </a:rPr>
                  <a:t>, and eigenvector,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𝜈</m:t>
                    </m:r>
                  </m:oMath>
                </a14:m>
                <a:r>
                  <a:rPr lang="en-US" dirty="0">
                    <a:latin typeface="+mn-lt"/>
                  </a:rPr>
                  <a:t>, we can write the relationship: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Graph Laplacian and its eigenvalues and eigenvectors have some important properties (skipping proofs)   </a:t>
                </a:r>
              </a:p>
              <a:p>
                <a:pPr lvl="1"/>
                <a:r>
                  <a:rPr lang="en-US" sz="2600" dirty="0">
                    <a:latin typeface="+mn-lt"/>
                  </a:rPr>
                  <a:t>The row sum are zero,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6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𝑜𝑤</m:t>
                        </m:r>
                      </m:sub>
                      <m:sup/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nary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600" dirty="0">
                    <a:latin typeface="+mn-lt"/>
                  </a:rPr>
                  <a:t> </a:t>
                </a:r>
              </a:p>
              <a:p>
                <a:pPr lvl="1"/>
                <a:r>
                  <a:rPr lang="en-US" sz="2600" dirty="0">
                    <a:latin typeface="+mn-lt"/>
                  </a:rPr>
                  <a:t>For a </a:t>
                </a:r>
                <a:r>
                  <a:rPr lang="en-US" sz="2600" b="1" dirty="0">
                    <a:latin typeface="+mn-lt"/>
                  </a:rPr>
                  <a:t>single graph component </a:t>
                </a:r>
                <a:r>
                  <a:rPr lang="en-US" sz="2600" dirty="0">
                    <a:latin typeface="+mn-lt"/>
                  </a:rPr>
                  <a:t>the smallest eigenvalue, </a:t>
                </a:r>
                <a14:m>
                  <m:oMath xmlns:m="http://schemas.openxmlformats.org/officeDocument/2006/math">
                    <m:r>
                      <a:rPr lang="en-US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 </m:t>
                    </m:r>
                  </m:oMath>
                </a14:m>
                <a:r>
                  <a:rPr lang="en-US" sz="2600" dirty="0">
                    <a:latin typeface="+mn-lt"/>
                  </a:rPr>
                  <a:t> </a:t>
                </a:r>
              </a:p>
              <a:p>
                <a:pPr lvl="1"/>
                <a:r>
                  <a:rPr lang="en-US" sz="2600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600" dirty="0">
                    <a:latin typeface="+mn-lt"/>
                  </a:rPr>
                  <a:t>, the corresponding eigenvector is all 1s,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1, 1, 1, …, 1</m:t>
                        </m:r>
                      </m:e>
                    </m:d>
                  </m:oMath>
                </a14:m>
                <a:endParaRPr lang="en-US" sz="2600" dirty="0">
                  <a:latin typeface="+mn-lt"/>
                </a:endParaRPr>
              </a:p>
              <a:p>
                <a:pPr marL="0" indent="0">
                  <a:buNone/>
                </a:pPr>
                <a:endParaRPr lang="en-US" sz="2600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sz="1700" dirty="0">
                    <a:latin typeface="+mn-lt"/>
                  </a:rPr>
                  <a:t>For a comprehensive treatment of graph partitioning and the graph Laplacian, see Sections 6.13 and 6.14 of </a:t>
                </a:r>
                <a:r>
                  <a:rPr lang="en-US" sz="1700" dirty="0">
                    <a:latin typeface="+mn-lt"/>
                    <a:hlinkClick r:id="rId3"/>
                  </a:rPr>
                  <a:t> Networks, second edition, Newman, Oxford, 2019</a:t>
                </a:r>
                <a:endParaRPr lang="en-US" sz="17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4"/>
                <a:stretch>
                  <a:fillRect l="-969" t="-1632" r="-4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6643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Cut the graph using the graph Laplacian</a:t>
                </a:r>
              </a:p>
              <a:p>
                <a:r>
                  <a:rPr lang="en-US" dirty="0">
                    <a:latin typeface="+mn-lt"/>
                  </a:rPr>
                  <a:t>We want to cut the graph to minimize the sum of weights of the cuts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𝑐𝑜𝑚𝑝𝑜𝑛𝑒𝑛𝑡𝑠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𝑐𝑜𝑚𝑝𝑜𝑛𝑒𝑛𝑡𝑠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node (sample)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define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+1, 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𝑛𝑜𝑑𝑒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𝑐𝑙𝑢𝑠𝑡𝑒𝑟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−1, 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𝑛𝑜𝑑𝑒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𝑛𝑜𝑡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𝑐𝑙𝑢𝑠𝑡𝑒𝑟</m:t>
                            </m:r>
                          </m:e>
                        </m:eqArr>
                      </m:e>
                    </m:d>
                  </m:oMath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We can rewrite the first relationship for a single cut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𝑐𝑜𝑚𝑝𝑜𝑛𝑒𝑛𝑡𝑠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nary>
                            <m:naryPr>
                              <m:chr m:val="∑"/>
                              <m:supHide m:val="on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Rearranging terms and using matrix form we find: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𝑐𝑜𝑚𝑝𝑜𝑛𝑒𝑛𝑡𝑠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969" t="-1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6528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Cut the graph and find clusters   </a:t>
                </a:r>
              </a:p>
              <a:p>
                <a:r>
                  <a:rPr lang="en-US" dirty="0">
                    <a:latin typeface="+mn-lt"/>
                  </a:rPr>
                  <a:t>This relation is in the form of an </a:t>
                </a:r>
                <a:r>
                  <a:rPr lang="en-US" dirty="0" err="1">
                    <a:latin typeface="+mn-lt"/>
                  </a:rPr>
                  <a:t>eigendecomposition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𝑐𝑜𝑚𝑝𝑜𝑛𝑒𝑛𝑡𝑠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In this factorization,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>
                    <a:latin typeface="+mn-lt"/>
                  </a:rPr>
                  <a:t> are eigenvectors!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eigenvector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b="1" dirty="0">
                    <a:latin typeface="+mn-lt"/>
                  </a:rPr>
                  <a:t> for the smallest nonzero eigenvalue defines the min-cut </a:t>
                </a:r>
                <a:r>
                  <a:rPr lang="en-US" dirty="0">
                    <a:latin typeface="+mn-lt"/>
                  </a:rPr>
                  <a:t>to partition the graph </a:t>
                </a:r>
              </a:p>
              <a:p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clusters, need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latin typeface="+mn-lt"/>
                  </a:rPr>
                  <a:t> eigenvectors </a:t>
                </a:r>
              </a:p>
              <a:p>
                <a:pPr lvl="1"/>
                <a:r>
                  <a:rPr lang="en-US" dirty="0">
                    <a:latin typeface="+mn-lt"/>
                  </a:rPr>
                  <a:t>Start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latin typeface="+mn-lt"/>
                  </a:rPr>
                  <a:t> eigenvectors corresponding to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latin typeface="+mn-lt"/>
                  </a:rPr>
                  <a:t> smallest nonzero eigenvalues  </a:t>
                </a:r>
              </a:p>
              <a:p>
                <a:pPr lvl="1"/>
                <a:r>
                  <a:rPr lang="en-US" dirty="0">
                    <a:latin typeface="+mn-lt"/>
                  </a:rPr>
                  <a:t>Apply cut algorithm to the eigenvectors  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1077" t="-1850" r="-17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2194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Spectral clustering </a:t>
            </a:r>
            <a:r>
              <a:rPr lang="en-US" dirty="0">
                <a:latin typeface="+mn-lt"/>
              </a:rPr>
              <a:t>is a graph-based state of the art clustering method</a:t>
            </a:r>
          </a:p>
          <a:p>
            <a:r>
              <a:rPr lang="en-US" dirty="0">
                <a:latin typeface="+mn-lt"/>
              </a:rPr>
              <a:t>Spectral clustering (min-cut algorithm) follows these steps: 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Construct the association matrix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Compute the graph Laplacian from the association matrix 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Factorize the graph Laplacian 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Partition the graph by k-1 eigenvectors </a:t>
            </a:r>
          </a:p>
          <a:p>
            <a:r>
              <a:rPr lang="en-US" dirty="0">
                <a:latin typeface="+mn-lt"/>
              </a:rPr>
              <a:t>In summary, spectral clustering constructs clusters on the orthogonal projections of the Laplacian matrix   </a:t>
            </a:r>
          </a:p>
          <a:p>
            <a:endParaRPr lang="en-US" sz="2800" dirty="0">
              <a:latin typeface="+mn-lt"/>
            </a:endParaRPr>
          </a:p>
          <a:p>
            <a:pPr marL="0" indent="0">
              <a:buNone/>
            </a:pPr>
            <a:r>
              <a:rPr lang="en-US" sz="2400" dirty="0">
                <a:latin typeface="+mn-lt"/>
              </a:rPr>
              <a:t>For a rigorous introduction to spectral clustering see </a:t>
            </a:r>
            <a:r>
              <a:rPr lang="en-US" sz="2400" dirty="0">
                <a:latin typeface="+mn-lt"/>
                <a:hlinkClick r:id="rId3"/>
              </a:rPr>
              <a:t>this tutorial article by von </a:t>
            </a:r>
            <a:r>
              <a:rPr lang="en-US" sz="2400" dirty="0" err="1">
                <a:latin typeface="+mn-lt"/>
                <a:hlinkClick r:id="rId3"/>
              </a:rPr>
              <a:t>Luxburg</a:t>
            </a:r>
            <a:endParaRPr lang="en-US" sz="2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6862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Density-Based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1663736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Density Clustering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Using sample density is another way to form clusters</a:t>
            </a:r>
          </a:p>
          <a:p>
            <a:r>
              <a:rPr lang="en-US" dirty="0">
                <a:latin typeface="+mn-lt"/>
              </a:rPr>
              <a:t>High density points form clusters</a:t>
            </a:r>
          </a:p>
          <a:p>
            <a:r>
              <a:rPr lang="en-US" dirty="0">
                <a:latin typeface="+mn-lt"/>
              </a:rPr>
              <a:t>How can we find high density points? </a:t>
            </a:r>
          </a:p>
          <a:p>
            <a:pPr lvl="1"/>
            <a:r>
              <a:rPr lang="en-US" sz="2800" dirty="0">
                <a:latin typeface="+mn-lt"/>
              </a:rPr>
              <a:t>Find points with large number of near neighbors</a:t>
            </a:r>
          </a:p>
          <a:p>
            <a:pPr lvl="1"/>
            <a:r>
              <a:rPr lang="en-US" sz="2800" dirty="0">
                <a:latin typeface="+mn-lt"/>
              </a:rPr>
              <a:t>Form clusters around these high-density points</a:t>
            </a:r>
          </a:p>
          <a:p>
            <a:pPr lvl="1"/>
            <a:r>
              <a:rPr lang="en-US" sz="2800" dirty="0">
                <a:latin typeface="+mn-lt"/>
              </a:rPr>
              <a:t>Naive algorithms have high complexity</a:t>
            </a:r>
          </a:p>
          <a:p>
            <a:pPr lvl="1"/>
            <a:r>
              <a:rPr lang="en-US" sz="2800" dirty="0">
                <a:latin typeface="+mn-lt"/>
              </a:rPr>
              <a:t>Scalable algorithms are largely heuristic</a:t>
            </a:r>
          </a:p>
          <a:p>
            <a:r>
              <a:rPr lang="en-US" dirty="0">
                <a:latin typeface="+mn-lt"/>
              </a:rPr>
              <a:t>Many algorithms proposed, including</a:t>
            </a:r>
          </a:p>
          <a:p>
            <a:pPr lvl="1"/>
            <a:r>
              <a:rPr lang="en-US" sz="2800" dirty="0">
                <a:latin typeface="+mn-lt"/>
              </a:rPr>
              <a:t>DBSCAN</a:t>
            </a:r>
          </a:p>
          <a:p>
            <a:pPr lvl="1"/>
            <a:r>
              <a:rPr lang="en-US" sz="2800" dirty="0">
                <a:latin typeface="+mn-lt"/>
              </a:rPr>
              <a:t>OPTICS</a:t>
            </a:r>
          </a:p>
          <a:p>
            <a:pPr lvl="1"/>
            <a:r>
              <a:rPr lang="en-US" sz="2800" dirty="0">
                <a:latin typeface="+mn-lt"/>
              </a:rPr>
              <a:t>HDBSCAN</a:t>
            </a:r>
          </a:p>
          <a:p>
            <a:pPr marL="914400" lvl="1" indent="-457200">
              <a:buFont typeface="+mj-lt"/>
              <a:buAutoNum type="arabicPeriod" startAt="4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 startAt="4"/>
            </a:pP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00514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F962C-32E6-3F81-DC91-396F0206B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E69D7-85BE-8A3F-64BC-5806113C6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Density Clustering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982022-D461-0735-86E3-49AF931EFABA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Density clusters are constructed using a proximity graph</a:t>
                </a:r>
              </a:p>
              <a:p>
                <a:r>
                  <a:rPr lang="en-US" dirty="0">
                    <a:latin typeface="+mn-lt"/>
                  </a:rPr>
                  <a:t>Density clusters are constructed using </a:t>
                </a:r>
                <a:r>
                  <a:rPr lang="en-US" b="1" dirty="0">
                    <a:latin typeface="+mn-lt"/>
                  </a:rPr>
                  <a:t>proximity graphs</a:t>
                </a:r>
              </a:p>
              <a:p>
                <a:r>
                  <a:rPr lang="en-US" dirty="0">
                    <a:latin typeface="+mn-lt"/>
                  </a:rPr>
                  <a:t>For a set of points,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…,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latin typeface="+mn-lt"/>
                  </a:rPr>
                  <a:t>, an edge between points,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sz="2800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sz="2800" dirty="0">
                    <a:latin typeface="+mn-lt"/>
                  </a:rPr>
                  <a:t>, in a proximity graph </a:t>
                </a:r>
                <a:r>
                  <a:rPr lang="en-US" dirty="0">
                    <a:latin typeface="+mn-lt"/>
                  </a:rPr>
                  <a:t>is</a:t>
                </a:r>
                <a:r>
                  <a:rPr lang="en-US" sz="2800" dirty="0">
                    <a:latin typeface="+mn-lt"/>
                  </a:rPr>
                  <a:t> constructed if a </a:t>
                </a:r>
                <a:r>
                  <a:rPr lang="en-US" sz="2800" b="1" dirty="0">
                    <a:latin typeface="+mn-lt"/>
                  </a:rPr>
                  <a:t>proximity condition </a:t>
                </a:r>
                <a:r>
                  <a:rPr lang="en-US" sz="2800" dirty="0">
                    <a:latin typeface="+mn-lt"/>
                  </a:rPr>
                  <a:t>is met  </a:t>
                </a:r>
              </a:p>
              <a:p>
                <a:pPr lvl="1"/>
                <a:r>
                  <a:rPr lang="en-US" dirty="0">
                    <a:latin typeface="+mn-lt"/>
                  </a:rPr>
                  <a:t>Example: in a metric space points are considered in the set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US" sz="2000" b="1" dirty="0"/>
                  <a:t>-</a:t>
                </a:r>
                <a:r>
                  <a:rPr lang="en-US" b="1" dirty="0">
                    <a:latin typeface="+mn-lt"/>
                  </a:rPr>
                  <a:t>neighbors,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b="1" dirty="0">
                    <a:latin typeface="+mn-lt"/>
                  </a:rPr>
                  <a:t>, on the proximity graph</a:t>
                </a:r>
                <a:r>
                  <a:rPr lang="en-US" dirty="0">
                    <a:latin typeface="+mn-lt"/>
                  </a:rPr>
                  <a:t>  </a:t>
                </a:r>
                <a:endParaRPr lang="en-US" b="1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𝑡h𝑒𝑛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0" dirty="0">
                  <a:latin typeface="+mn-lt"/>
                  <a:ea typeface="Cambria Math" panose="02040503050406030204" pitchFamily="18" charset="0"/>
                </a:endParaRPr>
              </a:p>
              <a:p>
                <a:r>
                  <a:rPr lang="en-US" b="1" dirty="0">
                    <a:latin typeface="+mn-lt"/>
                  </a:rPr>
                  <a:t>Core points </a:t>
                </a:r>
                <a:r>
                  <a:rPr lang="en-US" dirty="0">
                    <a:latin typeface="+mn-lt"/>
                  </a:rPr>
                  <a:t>are high-density areas where the set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-neighbors is greater than or equal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𝑝𝑜𝑖𝑛𝑡𝑠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|=|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𝑝𝑜𝑖𝑛𝑡𝑠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 startAt="4"/>
                </a:pPr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982022-D461-0735-86E3-49AF931EFA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1077" t="-18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2666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Density Clustering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DBSCAN finds a</a:t>
                </a:r>
                <a:r>
                  <a:rPr lang="en-US" b="1" dirty="0">
                    <a:latin typeface="+mn-lt"/>
                  </a:rPr>
                  <a:t> directed graph of nearest neighbors</a:t>
                </a:r>
              </a:p>
              <a:p>
                <a:r>
                  <a:rPr lang="en-US" dirty="0">
                    <a:latin typeface="+mn-lt"/>
                  </a:rPr>
                  <a:t>Two core points,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are considered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US" b="1" dirty="0">
                    <a:latin typeface="+mn-lt"/>
                  </a:rPr>
                  <a:t>-reachable</a:t>
                </a:r>
                <a:r>
                  <a:rPr lang="en-US" dirty="0">
                    <a:latin typeface="+mn-lt"/>
                  </a:rPr>
                  <a:t> if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𝑝𝑜𝑖𝑛𝑡𝑠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𝑝𝑜𝑖𝑛𝑡𝑠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</m:sub>
                      </m:sSub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𝑎𝑛𝑑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𝑎𝑛𝑑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Clusters are formed by a set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US" b="1" dirty="0">
                    <a:latin typeface="+mn-lt"/>
                  </a:rPr>
                  <a:t>-reachable</a:t>
                </a:r>
                <a:r>
                  <a:rPr lang="en-US" dirty="0">
                    <a:latin typeface="+mn-lt"/>
                  </a:rPr>
                  <a:t> points   </a:t>
                </a:r>
              </a:p>
              <a:p>
                <a:r>
                  <a:rPr lang="en-US" b="1" dirty="0">
                    <a:latin typeface="+mn-lt"/>
                  </a:rPr>
                  <a:t>Unreachable points </a:t>
                </a:r>
                <a:r>
                  <a:rPr lang="en-US" dirty="0">
                    <a:latin typeface="+mn-lt"/>
                  </a:rPr>
                  <a:t>are not in a cluster</a:t>
                </a:r>
              </a:p>
              <a:p>
                <a:pPr lvl="1"/>
                <a:r>
                  <a:rPr lang="en-US" dirty="0">
                    <a:latin typeface="+mn-lt"/>
                  </a:rPr>
                  <a:t>These points are considered </a:t>
                </a:r>
                <a:r>
                  <a:rPr lang="en-US" b="1" dirty="0">
                    <a:latin typeface="+mn-lt"/>
                  </a:rPr>
                  <a:t>outliers</a:t>
                </a:r>
              </a:p>
              <a:p>
                <a:pPr marL="914400" lvl="1" indent="-457200">
                  <a:buFont typeface="+mj-lt"/>
                  <a:buAutoNum type="arabicPeriod" startAt="4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 startAt="4"/>
                </a:pPr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1077" t="-18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5281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Density Clustering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define </a:t>
                </a:r>
                <a:r>
                  <a:rPr lang="en-US" b="1" dirty="0">
                    <a:latin typeface="+mn-lt"/>
                  </a:rPr>
                  <a:t>reachability </a:t>
                </a:r>
                <a:r>
                  <a:rPr lang="en-US" dirty="0">
                    <a:latin typeface="+mn-lt"/>
                  </a:rPr>
                  <a:t>for cluster formation</a:t>
                </a:r>
                <a:r>
                  <a:rPr lang="en-US" b="1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Clusters are formed by a set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US" b="1" dirty="0">
                    <a:latin typeface="+mn-lt"/>
                  </a:rPr>
                  <a:t>-reachable</a:t>
                </a:r>
                <a:r>
                  <a:rPr lang="en-US" dirty="0">
                    <a:latin typeface="+mn-lt"/>
                  </a:rPr>
                  <a:t> points </a:t>
                </a:r>
              </a:p>
              <a:p>
                <a:r>
                  <a:rPr lang="en-US" dirty="0">
                    <a:latin typeface="+mn-lt"/>
                  </a:rPr>
                  <a:t>Must have a </a:t>
                </a:r>
                <a:r>
                  <a:rPr lang="en-US" b="1" dirty="0">
                    <a:latin typeface="+mn-lt"/>
                  </a:rPr>
                  <a:t>path</a:t>
                </a:r>
                <a:r>
                  <a:rPr lang="en-US" dirty="0">
                    <a:latin typeface="+mn-lt"/>
                  </a:rPr>
                  <a:t> on the graph between points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i="1" baseline="-250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path can pass through other points,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…,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Distance to neighbors must be less than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US" b="1" dirty="0"/>
                  <a:t>-</a:t>
                </a:r>
                <a:r>
                  <a:rPr lang="en-US" b="1" dirty="0">
                    <a:latin typeface="+mn-lt"/>
                  </a:rPr>
                  <a:t>reachability distance</a:t>
                </a:r>
                <a:endParaRPr lang="en-US" dirty="0">
                  <a:latin typeface="Symbol" panose="05050102010706020507" pitchFamily="18" charset="2"/>
                </a:endParaRPr>
              </a:p>
              <a:p>
                <a:r>
                  <a:rPr lang="en-US" dirty="0">
                    <a:latin typeface="+mn-lt"/>
                  </a:rPr>
                  <a:t>Points,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, not reachable from any other point,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>
                    <a:latin typeface="+mn-lt"/>
                  </a:rPr>
                  <a:t>, are </a:t>
                </a:r>
                <a:r>
                  <a:rPr lang="en-US" b="1" dirty="0">
                    <a:latin typeface="+mn-lt"/>
                  </a:rPr>
                  <a:t>non-reachable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1077" t="-18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6140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CF13E-B21C-5630-BBD3-86572BCE7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61A4F-432B-6D3F-F470-B9E7A91C2E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DBSCAN Algorithm</a:t>
            </a:r>
          </a:p>
        </p:txBody>
      </p:sp>
    </p:spTree>
    <p:extLst>
      <p:ext uri="{BB962C8B-B14F-4D97-AF65-F5344CB8AC3E}">
        <p14:creationId xmlns:p14="http://schemas.microsoft.com/office/powerpoint/2010/main" val="6507397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DBSCAN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  <a:hlinkClick r:id="rId3"/>
              </a:rPr>
              <a:t>DBSCAN</a:t>
            </a:r>
            <a:r>
              <a:rPr lang="en-US" dirty="0">
                <a:latin typeface="+mn-lt"/>
              </a:rPr>
              <a:t> was the first large-scale density-based clustering algorithm, </a:t>
            </a:r>
            <a:r>
              <a:rPr lang="en-US" dirty="0">
                <a:latin typeface="+mn-lt"/>
                <a:hlinkClick r:id="rId4"/>
              </a:rPr>
              <a:t>Ester, et. al. 1996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DBSCAN still in use today</a:t>
            </a:r>
          </a:p>
          <a:p>
            <a:r>
              <a:rPr lang="en-US" dirty="0">
                <a:latin typeface="+mn-lt"/>
              </a:rPr>
              <a:t>Many variations created</a:t>
            </a:r>
          </a:p>
          <a:p>
            <a:r>
              <a:rPr lang="en-US" dirty="0">
                <a:latin typeface="+mn-lt"/>
              </a:rPr>
              <a:t>DBSCAN scales to out of memory dataset size</a:t>
            </a:r>
          </a:p>
          <a:p>
            <a:r>
              <a:rPr lang="en-US" dirty="0">
                <a:latin typeface="+mn-lt"/>
              </a:rPr>
              <a:t>DBSCAN minimizes the number of passes through the data base</a:t>
            </a:r>
          </a:p>
          <a:p>
            <a:r>
              <a:rPr lang="en-US" dirty="0">
                <a:latin typeface="+mn-lt"/>
              </a:rPr>
              <a:t>Can scale DBSCAN with MapReduce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3257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DBSCAN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Properties of DBSCAN algorithm</a:t>
            </a:r>
          </a:p>
          <a:p>
            <a:r>
              <a:rPr lang="en-US" dirty="0">
                <a:latin typeface="+mn-lt"/>
              </a:rPr>
              <a:t>DBSCAN has two hyperparameters</a:t>
            </a:r>
          </a:p>
          <a:p>
            <a:pPr lvl="1"/>
            <a:r>
              <a:rPr lang="en-US" b="1" dirty="0" err="1">
                <a:latin typeface="+mn-lt"/>
              </a:rPr>
              <a:t>minPts</a:t>
            </a:r>
            <a:r>
              <a:rPr lang="en-US" dirty="0">
                <a:latin typeface="+mn-lt"/>
              </a:rPr>
              <a:t> is the minimum number of near neighbors required for core points</a:t>
            </a:r>
          </a:p>
          <a:p>
            <a:pPr lvl="1"/>
            <a:r>
              <a:rPr lang="en-US" b="1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 is the maximum distance between neighbors</a:t>
            </a:r>
          </a:p>
          <a:p>
            <a:r>
              <a:rPr lang="en-US" dirty="0">
                <a:latin typeface="+mn-lt"/>
              </a:rPr>
              <a:t>DBSCAN makes passes thorough a database to create the graph</a:t>
            </a:r>
          </a:p>
          <a:p>
            <a:pPr lvl="1"/>
            <a:r>
              <a:rPr lang="en-US" dirty="0">
                <a:latin typeface="+mn-lt"/>
              </a:rPr>
              <a:t>Scalable, average runtime </a:t>
            </a:r>
            <a:r>
              <a:rPr lang="en-US" i="1" dirty="0">
                <a:latin typeface="+mn-lt"/>
              </a:rPr>
              <a:t>O(n log(n))  </a:t>
            </a:r>
          </a:p>
          <a:p>
            <a:pPr lvl="1"/>
            <a:r>
              <a:rPr lang="en-US" dirty="0">
                <a:latin typeface="+mn-lt"/>
              </a:rPr>
              <a:t>Uses memory, </a:t>
            </a:r>
            <a:r>
              <a:rPr lang="en-US" i="1" dirty="0">
                <a:latin typeface="+mn-lt"/>
              </a:rPr>
              <a:t>O(n</a:t>
            </a:r>
            <a:r>
              <a:rPr lang="en-US" i="1" baseline="30000" dirty="0">
                <a:latin typeface="+mn-lt"/>
              </a:rPr>
              <a:t>2</a:t>
            </a:r>
            <a:r>
              <a:rPr lang="en-US" i="1" dirty="0">
                <a:latin typeface="+mn-lt"/>
              </a:rPr>
              <a:t>)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5428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8192C-ED4B-4152-FAB7-3F285FB3B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D2BDB-5ABE-B6B2-62EE-DD4691E15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DBSCAN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F3D4A1-4FB3-234C-32F7-95DE5F90057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Properties of DBSCAN algorithm</a:t>
            </a:r>
          </a:p>
          <a:p>
            <a:r>
              <a:rPr lang="en-US" dirty="0">
                <a:latin typeface="+mn-lt"/>
              </a:rPr>
              <a:t>DBSCAN constructed with proximity graph with node types</a:t>
            </a:r>
          </a:p>
          <a:p>
            <a:pPr lvl="1"/>
            <a:r>
              <a:rPr lang="en-US" b="1" dirty="0">
                <a:latin typeface="+mn-lt"/>
              </a:rPr>
              <a:t>Reachable, core </a:t>
            </a:r>
            <a:r>
              <a:rPr lang="en-US" dirty="0">
                <a:latin typeface="+mn-lt"/>
              </a:rPr>
              <a:t>– points in the dense core of the cluster</a:t>
            </a:r>
          </a:p>
          <a:p>
            <a:pPr lvl="1"/>
            <a:r>
              <a:rPr lang="en-US" b="1" dirty="0">
                <a:latin typeface="+mn-lt"/>
              </a:rPr>
              <a:t>Reachable, noncore </a:t>
            </a:r>
            <a:r>
              <a:rPr lang="en-US" dirty="0">
                <a:latin typeface="+mn-lt"/>
              </a:rPr>
              <a:t>– reachable points in low-density regions   </a:t>
            </a:r>
          </a:p>
          <a:p>
            <a:pPr lvl="1"/>
            <a:r>
              <a:rPr lang="en-US" b="1" dirty="0">
                <a:latin typeface="+mn-lt"/>
              </a:rPr>
              <a:t>Non-reachable</a:t>
            </a:r>
            <a:r>
              <a:rPr lang="en-US" dirty="0">
                <a:latin typeface="+mn-lt"/>
              </a:rPr>
              <a:t>, outliers not in any cluster</a:t>
            </a:r>
          </a:p>
          <a:p>
            <a:r>
              <a:rPr lang="en-US" dirty="0">
                <a:latin typeface="+mn-lt"/>
              </a:rPr>
              <a:t>Points are classified as Graph edge is bidirectional (undirected) if both points are core</a:t>
            </a:r>
          </a:p>
          <a:p>
            <a:r>
              <a:rPr lang="en-US" dirty="0">
                <a:latin typeface="+mn-lt"/>
              </a:rPr>
              <a:t>Graph edges from core to reachable non-core point are unidirectional (directed)</a:t>
            </a:r>
          </a:p>
          <a:p>
            <a:endParaRPr lang="en-US" i="1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01661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DBSCAN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470725" y="656095"/>
            <a:ext cx="6387899" cy="60856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What are the steps of DBSCAN?</a:t>
            </a:r>
          </a:p>
          <a:p>
            <a:r>
              <a:rPr lang="en-US" dirty="0">
                <a:latin typeface="+mn-lt"/>
              </a:rPr>
              <a:t>Start with some samples or observations</a:t>
            </a:r>
          </a:p>
          <a:p>
            <a:r>
              <a:rPr lang="en-US" dirty="0">
                <a:latin typeface="+mn-lt"/>
              </a:rPr>
              <a:t>For each point, find near neighbors within distance </a:t>
            </a:r>
            <a:r>
              <a:rPr lang="en-US" dirty="0">
                <a:latin typeface="Symbol" panose="05050102010706020507" pitchFamily="18" charset="2"/>
              </a:rPr>
              <a:t>e</a:t>
            </a:r>
          </a:p>
          <a:p>
            <a:r>
              <a:rPr lang="en-US" dirty="0">
                <a:latin typeface="+mn-lt"/>
              </a:rPr>
              <a:t>A point is core if it has &gt; </a:t>
            </a:r>
            <a:r>
              <a:rPr lang="en-US" dirty="0" err="1">
                <a:latin typeface="+mn-lt"/>
              </a:rPr>
              <a:t>minPts</a:t>
            </a:r>
            <a:r>
              <a:rPr lang="en-US" dirty="0">
                <a:latin typeface="+mn-lt"/>
              </a:rPr>
              <a:t> near neighbors (2 in this example)</a:t>
            </a:r>
          </a:p>
          <a:p>
            <a:r>
              <a:rPr lang="en-US" dirty="0">
                <a:latin typeface="+mn-lt"/>
              </a:rPr>
              <a:t>If two point are core, connect with undirected edge</a:t>
            </a:r>
          </a:p>
          <a:p>
            <a:r>
              <a:rPr lang="en-US" dirty="0">
                <a:latin typeface="+mn-lt"/>
              </a:rPr>
              <a:t>If point is non-core, connect with directed edge</a:t>
            </a:r>
          </a:p>
          <a:p>
            <a:r>
              <a:rPr lang="en-US" dirty="0">
                <a:latin typeface="+mn-lt"/>
              </a:rPr>
              <a:t>If point further that </a:t>
            </a:r>
            <a:r>
              <a:rPr lang="en-US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 from neighbors, point is non-reachable</a:t>
            </a:r>
          </a:p>
          <a:p>
            <a:r>
              <a:rPr lang="en-US" dirty="0">
                <a:latin typeface="+mn-lt"/>
              </a:rPr>
              <a:t>Result is an NN graph</a:t>
            </a:r>
          </a:p>
          <a:p>
            <a:pPr marL="914400" lvl="1" indent="-457200">
              <a:buFont typeface="+mj-lt"/>
              <a:buAutoNum type="arabicPeriod" startAt="4"/>
            </a:pP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543DE26-DB74-46D2-B06F-B5C772EE0143}"/>
              </a:ext>
            </a:extLst>
          </p:cNvPr>
          <p:cNvSpPr/>
          <p:nvPr/>
        </p:nvSpPr>
        <p:spPr>
          <a:xfrm>
            <a:off x="1932206" y="3874799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FAFC799-F8FB-440D-A092-F42B07121008}"/>
              </a:ext>
            </a:extLst>
          </p:cNvPr>
          <p:cNvSpPr/>
          <p:nvPr/>
        </p:nvSpPr>
        <p:spPr>
          <a:xfrm>
            <a:off x="1204812" y="3785971"/>
            <a:ext cx="182718" cy="17765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7CECE43-FA8E-4F9A-ACA2-DB990517B9B1}"/>
              </a:ext>
            </a:extLst>
          </p:cNvPr>
          <p:cNvSpPr/>
          <p:nvPr/>
        </p:nvSpPr>
        <p:spPr>
          <a:xfrm>
            <a:off x="2239614" y="1829929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525AE1A-0317-4E93-98B5-EB73E484924C}"/>
              </a:ext>
            </a:extLst>
          </p:cNvPr>
          <p:cNvSpPr/>
          <p:nvPr/>
        </p:nvSpPr>
        <p:spPr>
          <a:xfrm>
            <a:off x="1848213" y="4433887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802C5CB-EE6E-4498-9B08-1192583C4B53}"/>
              </a:ext>
            </a:extLst>
          </p:cNvPr>
          <p:cNvSpPr/>
          <p:nvPr/>
        </p:nvSpPr>
        <p:spPr>
          <a:xfrm>
            <a:off x="2699731" y="4410755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0144684-5014-4672-B3EA-8A2C98B66D29}"/>
              </a:ext>
            </a:extLst>
          </p:cNvPr>
          <p:cNvSpPr/>
          <p:nvPr/>
        </p:nvSpPr>
        <p:spPr>
          <a:xfrm>
            <a:off x="3380007" y="4233100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886E34B-3C37-4CDA-9D67-CD782B253002}"/>
              </a:ext>
            </a:extLst>
          </p:cNvPr>
          <p:cNvSpPr/>
          <p:nvPr/>
        </p:nvSpPr>
        <p:spPr>
          <a:xfrm>
            <a:off x="3037963" y="4924279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5BEE028-78F9-4848-B94C-D47F5D3A916E}"/>
              </a:ext>
            </a:extLst>
          </p:cNvPr>
          <p:cNvSpPr/>
          <p:nvPr/>
        </p:nvSpPr>
        <p:spPr>
          <a:xfrm>
            <a:off x="4001400" y="3845443"/>
            <a:ext cx="182718" cy="17765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8EC34F9-0B16-4992-A3D2-9E24DB1B4008}"/>
              </a:ext>
            </a:extLst>
          </p:cNvPr>
          <p:cNvSpPr/>
          <p:nvPr/>
        </p:nvSpPr>
        <p:spPr>
          <a:xfrm>
            <a:off x="1129469" y="3125426"/>
            <a:ext cx="1788192" cy="16764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A9A74E7-A8E7-4F5C-AB28-83B87D572738}"/>
              </a:ext>
            </a:extLst>
          </p:cNvPr>
          <p:cNvSpPr/>
          <p:nvPr/>
        </p:nvSpPr>
        <p:spPr>
          <a:xfrm>
            <a:off x="1045476" y="3661382"/>
            <a:ext cx="1788192" cy="16764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FB68938-D04E-4DB6-B30B-0F2F7C5AFC63}"/>
              </a:ext>
            </a:extLst>
          </p:cNvPr>
          <p:cNvCxnSpPr>
            <a:cxnSpLocks/>
            <a:stCxn id="10" idx="4"/>
          </p:cNvCxnSpPr>
          <p:nvPr/>
        </p:nvCxnSpPr>
        <p:spPr>
          <a:xfrm flipH="1">
            <a:off x="3193036" y="4410755"/>
            <a:ext cx="278330" cy="542193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B058A15-232D-4B5E-B3FF-1739A94AE515}"/>
              </a:ext>
            </a:extLst>
          </p:cNvPr>
          <p:cNvCxnSpPr>
            <a:cxnSpLocks/>
            <a:stCxn id="5" idx="4"/>
            <a:endCxn id="8" idx="0"/>
          </p:cNvCxnSpPr>
          <p:nvPr/>
        </p:nvCxnSpPr>
        <p:spPr>
          <a:xfrm flipH="1">
            <a:off x="1939572" y="4052454"/>
            <a:ext cx="83993" cy="381433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ECB390D8-1151-4B85-95D8-AF5E04A20DDA}"/>
              </a:ext>
            </a:extLst>
          </p:cNvPr>
          <p:cNvSpPr/>
          <p:nvPr/>
        </p:nvSpPr>
        <p:spPr>
          <a:xfrm>
            <a:off x="333376" y="3036598"/>
            <a:ext cx="1788192" cy="1676400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0D9D4AC-F461-447E-932D-7AD09CE97B07}"/>
              </a:ext>
            </a:extLst>
          </p:cNvPr>
          <p:cNvCxnSpPr>
            <a:cxnSpLocks/>
            <a:stCxn id="5" idx="2"/>
            <a:endCxn id="6" idx="6"/>
          </p:cNvCxnSpPr>
          <p:nvPr/>
        </p:nvCxnSpPr>
        <p:spPr>
          <a:xfrm flipH="1" flipV="1">
            <a:off x="1387530" y="3874799"/>
            <a:ext cx="544676" cy="88828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EB4EDAD3-80CB-4211-9FEF-33766FD700BA}"/>
              </a:ext>
            </a:extLst>
          </p:cNvPr>
          <p:cNvSpPr/>
          <p:nvPr/>
        </p:nvSpPr>
        <p:spPr>
          <a:xfrm>
            <a:off x="1848213" y="3572554"/>
            <a:ext cx="1788192" cy="16764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C408769-6F01-4396-BF95-C92E915EAC53}"/>
              </a:ext>
            </a:extLst>
          </p:cNvPr>
          <p:cNvCxnSpPr>
            <a:cxnSpLocks/>
            <a:stCxn id="5" idx="5"/>
            <a:endCxn id="9" idx="1"/>
          </p:cNvCxnSpPr>
          <p:nvPr/>
        </p:nvCxnSpPr>
        <p:spPr>
          <a:xfrm>
            <a:off x="2088166" y="4026437"/>
            <a:ext cx="638323" cy="410335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2970178-64C2-4DB9-9191-5DB11F81C2AF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2030931" y="4499583"/>
            <a:ext cx="668800" cy="23132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B5E87993-A9A7-4BA4-9A58-AB9ACFB35671}"/>
              </a:ext>
            </a:extLst>
          </p:cNvPr>
          <p:cNvSpPr/>
          <p:nvPr/>
        </p:nvSpPr>
        <p:spPr>
          <a:xfrm>
            <a:off x="2601674" y="3410217"/>
            <a:ext cx="1788192" cy="16764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10F7CFE-85DC-4FE0-85F5-13583E2CB99B}"/>
              </a:ext>
            </a:extLst>
          </p:cNvPr>
          <p:cNvCxnSpPr>
            <a:cxnSpLocks/>
            <a:stCxn id="9" idx="6"/>
            <a:endCxn id="10" idx="2"/>
          </p:cNvCxnSpPr>
          <p:nvPr/>
        </p:nvCxnSpPr>
        <p:spPr>
          <a:xfrm flipV="1">
            <a:off x="2882449" y="4321928"/>
            <a:ext cx="497558" cy="177655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056C6320-4279-4398-8313-ACBA740BDFEB}"/>
              </a:ext>
            </a:extLst>
          </p:cNvPr>
          <p:cNvSpPr/>
          <p:nvPr/>
        </p:nvSpPr>
        <p:spPr>
          <a:xfrm>
            <a:off x="2340941" y="4059747"/>
            <a:ext cx="1788192" cy="16764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B7560E7-38CB-4E6D-8750-1D14F7A8696E}"/>
              </a:ext>
            </a:extLst>
          </p:cNvPr>
          <p:cNvCxnSpPr>
            <a:cxnSpLocks/>
            <a:stCxn id="9" idx="5"/>
            <a:endCxn id="11" idx="1"/>
          </p:cNvCxnSpPr>
          <p:nvPr/>
        </p:nvCxnSpPr>
        <p:spPr>
          <a:xfrm>
            <a:off x="2855691" y="4562393"/>
            <a:ext cx="209030" cy="387903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0DD4E0D4-687A-4D35-BCFB-83B5EAD6EA4C}"/>
              </a:ext>
            </a:extLst>
          </p:cNvPr>
          <p:cNvSpPr/>
          <p:nvPr/>
        </p:nvSpPr>
        <p:spPr>
          <a:xfrm>
            <a:off x="3216744" y="3125426"/>
            <a:ext cx="1788192" cy="1676400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11911DC-AC88-412F-B3DF-0EA01B1E997A}"/>
              </a:ext>
            </a:extLst>
          </p:cNvPr>
          <p:cNvCxnSpPr>
            <a:cxnSpLocks/>
            <a:stCxn id="12" idx="3"/>
            <a:endCxn id="10" idx="7"/>
          </p:cNvCxnSpPr>
          <p:nvPr/>
        </p:nvCxnSpPr>
        <p:spPr>
          <a:xfrm flipH="1">
            <a:off x="3535967" y="3997081"/>
            <a:ext cx="492191" cy="262036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46D525FC-AFC7-47BD-A7F8-C6A7F407A425}"/>
              </a:ext>
            </a:extLst>
          </p:cNvPr>
          <p:cNvSpPr/>
          <p:nvPr/>
        </p:nvSpPr>
        <p:spPr>
          <a:xfrm>
            <a:off x="1446845" y="1160007"/>
            <a:ext cx="1788192" cy="1676400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878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1" grpId="0" animBg="1"/>
      <p:bldP spid="28" grpId="0" animBg="1"/>
      <p:bldP spid="35" grpId="0" animBg="1"/>
      <p:bldP spid="39" grpId="0" animBg="1"/>
      <p:bldP spid="45" grpId="0" animBg="1"/>
      <p:bldP spid="4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DBSCAN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470725" y="896079"/>
            <a:ext cx="638789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What are some properties of DBSCAN?</a:t>
            </a:r>
          </a:p>
          <a:p>
            <a:r>
              <a:rPr lang="en-US" dirty="0">
                <a:latin typeface="+mn-lt"/>
              </a:rPr>
              <a:t>Can find </a:t>
            </a:r>
            <a:r>
              <a:rPr lang="en-US" b="1" dirty="0">
                <a:latin typeface="+mn-lt"/>
              </a:rPr>
              <a:t>non-convex clusters</a:t>
            </a:r>
          </a:p>
          <a:p>
            <a:r>
              <a:rPr lang="en-US" dirty="0">
                <a:latin typeface="+mn-lt"/>
              </a:rPr>
              <a:t>Optimized for </a:t>
            </a:r>
            <a:r>
              <a:rPr lang="en-US" b="1" dirty="0">
                <a:latin typeface="+mn-lt"/>
              </a:rPr>
              <a:t>uniform sample density </a:t>
            </a:r>
            <a:r>
              <a:rPr lang="en-US" dirty="0">
                <a:latin typeface="+mn-lt"/>
              </a:rPr>
              <a:t>of clusters with fixed </a:t>
            </a:r>
            <a:r>
              <a:rPr lang="en-US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 and </a:t>
            </a:r>
            <a:r>
              <a:rPr lang="en-US" dirty="0" err="1">
                <a:latin typeface="+mn-lt"/>
              </a:rPr>
              <a:t>minPts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Clusters depend on distance metric</a:t>
            </a:r>
          </a:p>
          <a:p>
            <a:r>
              <a:rPr lang="en-US" dirty="0">
                <a:latin typeface="+mn-lt"/>
              </a:rPr>
              <a:t>Clusters robust to noise, since outliers are non-reachable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4CEEA1-D0C5-4564-BB73-CA2D65EDC72C}"/>
              </a:ext>
            </a:extLst>
          </p:cNvPr>
          <p:cNvSpPr txBox="1"/>
          <p:nvPr/>
        </p:nvSpPr>
        <p:spPr>
          <a:xfrm>
            <a:off x="1228791" y="6266676"/>
            <a:ext cx="291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Credit: Wikipedia commons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4163B6A0-6A59-14F0-E09A-AB2E7C031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896" y="1213440"/>
            <a:ext cx="4871262" cy="491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8201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49F5A-1F97-1040-93E6-BF07DA42D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DE177-3DFF-0678-447B-267BD8D84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DBSCAN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0DF7C-07CD-215E-DA13-B0299C8D178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470725" y="896079"/>
            <a:ext cx="638789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What are some properties of DBSCAN?</a:t>
            </a:r>
          </a:p>
          <a:p>
            <a:r>
              <a:rPr lang="en-US" dirty="0">
                <a:latin typeface="+mn-lt"/>
              </a:rPr>
              <a:t>Selecting maximum reachability distance to neighbors, </a:t>
            </a:r>
            <a:r>
              <a:rPr lang="en-US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, is difficult in high dimensions</a:t>
            </a:r>
          </a:p>
          <a:p>
            <a:r>
              <a:rPr lang="en-US" dirty="0">
                <a:latin typeface="+mn-lt"/>
              </a:rPr>
              <a:t>Single</a:t>
            </a:r>
            <a:r>
              <a:rPr lang="en-US" dirty="0"/>
              <a:t>, </a:t>
            </a:r>
            <a:r>
              <a:rPr lang="en-US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, used for all clusters</a:t>
            </a:r>
          </a:p>
          <a:p>
            <a:r>
              <a:rPr lang="en-US" dirty="0">
                <a:latin typeface="+mn-lt"/>
              </a:rPr>
              <a:t>Fixed </a:t>
            </a:r>
            <a:r>
              <a:rPr lang="en-US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 not optimal for non-constant density 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409313C-2571-46B1-ACA3-86E1F6D3F586}"/>
              </a:ext>
            </a:extLst>
          </p:cNvPr>
          <p:cNvSpPr txBox="1"/>
          <p:nvPr/>
        </p:nvSpPr>
        <p:spPr>
          <a:xfrm>
            <a:off x="1228791" y="6266676"/>
            <a:ext cx="291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Credit: Wikipedia commons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DCFAC95-AB99-CB80-2CA2-EB92AF540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896" y="1213440"/>
            <a:ext cx="4871262" cy="491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0603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A270F-5713-3F23-BF9F-452EEF024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B24E5-5781-97A7-07DC-45B578B78A7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Density-Based Clustering with OPTICS</a:t>
            </a:r>
          </a:p>
        </p:txBody>
      </p:sp>
    </p:spTree>
    <p:extLst>
      <p:ext uri="{BB962C8B-B14F-4D97-AF65-F5344CB8AC3E}">
        <p14:creationId xmlns:p14="http://schemas.microsoft.com/office/powerpoint/2010/main" val="22108197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overcome the limitations of DBSCAN?</a:t>
            </a:r>
          </a:p>
          <a:p>
            <a:r>
              <a:rPr lang="en-US" dirty="0">
                <a:latin typeface="+mn-lt"/>
              </a:rPr>
              <a:t>Hard to find good value of </a:t>
            </a:r>
            <a:r>
              <a:rPr lang="en-US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 for DBSCAN in high dimensions with variable density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  <a:hlinkClick r:id="rId3"/>
              </a:rPr>
              <a:t>OPTICS</a:t>
            </a:r>
            <a:r>
              <a:rPr lang="en-US" dirty="0">
                <a:latin typeface="+mn-lt"/>
                <a:hlinkClick r:id="rId3"/>
              </a:rPr>
              <a:t> algorithm </a:t>
            </a:r>
            <a:r>
              <a:rPr lang="en-US" dirty="0">
                <a:latin typeface="+mn-lt"/>
              </a:rPr>
              <a:t>is an improvement on DBSCAN, </a:t>
            </a:r>
            <a:r>
              <a:rPr lang="en-US" dirty="0" err="1">
                <a:latin typeface="+mn-lt"/>
                <a:hlinkClick r:id="rId4"/>
              </a:rPr>
              <a:t>Ankerst</a:t>
            </a:r>
            <a:r>
              <a:rPr lang="en-US" dirty="0">
                <a:latin typeface="+mn-lt"/>
                <a:hlinkClick r:id="rId4"/>
              </a:rPr>
              <a:t>, et. al., 1999</a:t>
            </a:r>
            <a:endParaRPr lang="en-US" b="1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OPTICS uses a heuristic to adaptively compute reachability distances</a:t>
            </a:r>
          </a:p>
          <a:p>
            <a:pPr lvl="1"/>
            <a:r>
              <a:rPr lang="en-US" dirty="0">
                <a:latin typeface="+mn-lt"/>
              </a:rPr>
              <a:t>Core distance determines if a sample is core</a:t>
            </a:r>
          </a:p>
          <a:p>
            <a:pPr lvl="1"/>
            <a:r>
              <a:rPr lang="en-US" dirty="0">
                <a:latin typeface="+mn-lt"/>
              </a:rPr>
              <a:t>Reachability distance determines if one sample is reachable from the other</a:t>
            </a:r>
          </a:p>
          <a:p>
            <a:pPr lvl="1"/>
            <a:r>
              <a:rPr lang="en-US" dirty="0">
                <a:latin typeface="+mn-lt"/>
              </a:rPr>
              <a:t>Only one mandatory hyperparameter,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min_pts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36827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OPTICS performs a sequential search </a:t>
            </a:r>
          </a:p>
          <a:p>
            <a:r>
              <a:rPr lang="en-US" dirty="0">
                <a:latin typeface="+mn-lt"/>
              </a:rPr>
              <a:t>OPTICS compute reachability to points sequentially    </a:t>
            </a:r>
          </a:p>
          <a:p>
            <a:pPr lvl="1"/>
            <a:r>
              <a:rPr lang="en-US" dirty="0">
                <a:latin typeface="+mn-lt"/>
              </a:rPr>
              <a:t>The order of the search though observations matters  </a:t>
            </a:r>
          </a:p>
          <a:p>
            <a:pPr lvl="1"/>
            <a:r>
              <a:rPr lang="en-US" dirty="0">
                <a:latin typeface="+mn-lt"/>
              </a:rPr>
              <a:t>A difference from DBSCAN</a:t>
            </a:r>
          </a:p>
          <a:p>
            <a:r>
              <a:rPr lang="en-US" dirty="0">
                <a:latin typeface="+mn-lt"/>
              </a:rPr>
              <a:t>Uses a sequential greedy algorithm with reachability of a point determining if edge is added to dendrogram </a:t>
            </a:r>
          </a:p>
          <a:p>
            <a:pPr lvl="1"/>
            <a:r>
              <a:rPr lang="en-US" dirty="0">
                <a:latin typeface="+mn-lt"/>
              </a:rPr>
              <a:t>Creates a proximity graph</a:t>
            </a:r>
          </a:p>
          <a:p>
            <a:pPr lvl="1"/>
            <a:r>
              <a:rPr lang="en-US" dirty="0">
                <a:latin typeface="+mn-lt"/>
              </a:rPr>
              <a:t>Points are saved in a queue and processed in order </a:t>
            </a:r>
          </a:p>
          <a:p>
            <a:pPr lvl="1"/>
            <a:r>
              <a:rPr lang="en-US" b="1" dirty="0">
                <a:latin typeface="+mn-lt"/>
              </a:rPr>
              <a:t>Reachability dynamically calculated </a:t>
            </a:r>
            <a:r>
              <a:rPr lang="en-US" dirty="0">
                <a:latin typeface="+mn-lt"/>
              </a:rPr>
              <a:t>based on neighbors on graph</a:t>
            </a:r>
          </a:p>
          <a:p>
            <a:pPr lvl="1"/>
            <a:r>
              <a:rPr lang="en-US" dirty="0">
                <a:latin typeface="+mn-lt"/>
              </a:rPr>
              <a:t>Reachability search determines nearest neighbors  </a:t>
            </a:r>
          </a:p>
          <a:p>
            <a:r>
              <a:rPr lang="en-US" dirty="0">
                <a:latin typeface="+mn-lt"/>
              </a:rPr>
              <a:t>Based on the reachability graph clusters are formed  </a:t>
            </a:r>
          </a:p>
          <a:p>
            <a:r>
              <a:rPr lang="en-US" dirty="0">
                <a:latin typeface="+mn-lt"/>
              </a:rPr>
              <a:t>Clusters formed by partitioning graph constrained by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min_pts</a:t>
            </a:r>
            <a:r>
              <a:rPr lang="en-US" dirty="0">
                <a:latin typeface="+mn-lt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796297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OPTICS</a:t>
                </a:r>
                <a:r>
                  <a:rPr lang="en-US" dirty="0">
                    <a:latin typeface="+mn-lt"/>
                  </a:rPr>
                  <a:t> algorithm is an attempt to improve on DBSCAN</a:t>
                </a:r>
                <a:endParaRPr lang="en-US" b="1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Core distance </a:t>
                </a:r>
                <a:r>
                  <a:rPr lang="en-US" dirty="0">
                    <a:latin typeface="+mn-lt"/>
                  </a:rPr>
                  <a:t>for a point, </a:t>
                </a:r>
                <a:r>
                  <a:rPr lang="en-US" i="1" dirty="0">
                    <a:latin typeface="+mn-lt"/>
                  </a:rPr>
                  <a:t>p</a:t>
                </a:r>
                <a:r>
                  <a:rPr lang="en-US" dirty="0">
                    <a:latin typeface="+mn-lt"/>
                  </a:rPr>
                  <a:t>, determines if a sample is core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core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</m:e>
                            <m:lim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𝑚𝑖𝑛𝑃𝑡𝑠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{"/>
                              <m:endChr m:val="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𝑈𝑛𝑑𝑒𝑓𝑖𝑛𝑒𝑑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𝑖𝑓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&lt;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𝑚𝑖𝑛𝑃𝑡𝑠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𝑠𝑚𝑎𝑙𝑙𝑒𝑠𝑡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𝑑𝑖𝑠𝑡𝑎𝑛𝑐𝑒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𝜀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𝑜𝑡h𝑒𝑟𝑤𝑖𝑠𝑒</m:t>
                                  </m:r>
                                </m:e>
                              </m:eqAr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Reachability distance </a:t>
                </a:r>
                <a:r>
                  <a:rPr lang="en-US" dirty="0">
                    <a:latin typeface="+mn-lt"/>
                  </a:rPr>
                  <a:t>of observation, </a:t>
                </a:r>
                <a:r>
                  <a:rPr lang="en-US" i="1" dirty="0">
                    <a:latin typeface="+mn-lt"/>
                  </a:rPr>
                  <a:t>o</a:t>
                </a:r>
                <a:r>
                  <a:rPr lang="en-US" dirty="0">
                    <a:latin typeface="+mn-lt"/>
                  </a:rPr>
                  <a:t>, determines if one sample is reachable from the other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reachable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𝑚𝑖𝑛𝑃𝑡𝑠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{"/>
                              <m:endChr m:val="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𝑈𝑛𝑑𝑒𝑓𝑖𝑛𝑒𝑑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𝑖𝑓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&lt;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𝑚𝑖𝑛𝑃𝑡𝑠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func>
                                    <m:func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max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limLow>
                                            <m:limLow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limLow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>
                                                      <a:latin typeface="Cambria Math" panose="02040503050406030204" pitchFamily="18" charset="0"/>
                                                    </a:rPr>
                                                    <m:t>core</m:t>
                                                  </m:r>
                                                  <m:r>
                                                    <a:rPr lang="en-US" b="0" i="0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 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>
                                                      <a:latin typeface="Cambria Math" panose="02040503050406030204" pitchFamily="18" charset="0"/>
                                                    </a:rPr>
                                                    <m:t>dist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 </m:t>
                                                  </m:r>
                                                </m:sub>
                                              </m:sSub>
                                            </m:e>
                                            <m:lim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𝜀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𝑚𝑖𝑛𝑃𝑡𝑠</m:t>
                                              </m:r>
                                            </m:lim>
                                          </m:limLow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</m:d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𝑑𝑖𝑠𝑡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𝑜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𝑜𝑡h𝑒𝑟𝑤𝑖𝑠𝑒</m:t>
                                  </m:r>
                                </m:e>
                              </m:eqAr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If </a:t>
                </a:r>
                <a:r>
                  <a:rPr lang="en-US" i="1" dirty="0">
                    <a:latin typeface="+mn-lt"/>
                  </a:rPr>
                  <a:t>p</a:t>
                </a:r>
                <a:r>
                  <a:rPr lang="en-US" dirty="0">
                    <a:latin typeface="+mn-lt"/>
                  </a:rPr>
                  <a:t> and </a:t>
                </a:r>
                <a:r>
                  <a:rPr lang="en-US" i="1" dirty="0">
                    <a:latin typeface="+mn-lt"/>
                  </a:rPr>
                  <a:t>o</a:t>
                </a:r>
                <a:r>
                  <a:rPr lang="en-US" dirty="0">
                    <a:latin typeface="+mn-lt"/>
                  </a:rPr>
                  <a:t> nearest neighbors, and </a:t>
                </a:r>
                <a:r>
                  <a:rPr lang="en-US" dirty="0">
                    <a:latin typeface="Symbol" panose="05050102010706020507" pitchFamily="18" charset="2"/>
                  </a:rPr>
                  <a:t>e</a:t>
                </a:r>
                <a:r>
                  <a:rPr lang="en-US" dirty="0">
                    <a:latin typeface="+mn-lt"/>
                  </a:rPr>
                  <a:t>’ &lt; </a:t>
                </a:r>
                <a:r>
                  <a:rPr lang="en-US" dirty="0">
                    <a:latin typeface="Symbol" panose="05050102010706020507" pitchFamily="18" charset="2"/>
                  </a:rPr>
                  <a:t>e</a:t>
                </a:r>
                <a:r>
                  <a:rPr lang="en-US" dirty="0">
                    <a:latin typeface="+mn-lt"/>
                  </a:rPr>
                  <a:t> then </a:t>
                </a:r>
                <a:r>
                  <a:rPr lang="en-US" i="1" dirty="0">
                    <a:latin typeface="+mn-lt"/>
                  </a:rPr>
                  <a:t>p</a:t>
                </a:r>
                <a:r>
                  <a:rPr lang="en-US" dirty="0">
                    <a:latin typeface="+mn-lt"/>
                  </a:rPr>
                  <a:t> and </a:t>
                </a:r>
                <a:r>
                  <a:rPr lang="en-US" i="1" dirty="0">
                    <a:latin typeface="+mn-lt"/>
                  </a:rPr>
                  <a:t>o</a:t>
                </a:r>
                <a:r>
                  <a:rPr lang="en-US" dirty="0">
                    <a:latin typeface="+mn-lt"/>
                  </a:rPr>
                  <a:t> are in the same cluster</a:t>
                </a:r>
              </a:p>
              <a:p>
                <a:r>
                  <a:rPr lang="en-US" dirty="0">
                    <a:latin typeface="+mn-lt"/>
                  </a:rPr>
                  <a:t>Both distances are undefined if density in the,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neighborhood is too low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1077" t="-1850" r="-323" b="-26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8187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470725" y="752947"/>
                <a:ext cx="6387899" cy="574601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understand the OPTICS algorithm?</a:t>
                </a:r>
              </a:p>
              <a:p>
                <a:r>
                  <a:rPr lang="en-US" dirty="0">
                    <a:latin typeface="+mn-lt"/>
                  </a:rPr>
                  <a:t>Start with some samples or observations</a:t>
                </a:r>
              </a:p>
              <a:p>
                <a:r>
                  <a:rPr lang="en-US" dirty="0">
                    <a:latin typeface="+mn-lt"/>
                  </a:rPr>
                  <a:t>For a point, p, find the points within </a:t>
                </a:r>
                <a:r>
                  <a:rPr lang="en-US" dirty="0">
                    <a:latin typeface="Symbol" panose="05050102010706020507" pitchFamily="18" charset="2"/>
                  </a:rPr>
                  <a:t>e</a:t>
                </a:r>
                <a:r>
                  <a:rPr lang="en-US" dirty="0">
                    <a:latin typeface="+mn-lt"/>
                  </a:rPr>
                  <a:t> distance</a:t>
                </a:r>
              </a:p>
              <a:p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sub>
                        </m:sSub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𝑚𝑖𝑛𝑃𝑡𝑠</m:t>
                    </m:r>
                  </m:oMath>
                </a14:m>
                <a:r>
                  <a:rPr lang="en-US" dirty="0">
                    <a:latin typeface="+mn-lt"/>
                  </a:rPr>
                  <a:t>, determine </a:t>
                </a:r>
                <a:r>
                  <a:rPr lang="en-US" dirty="0" err="1">
                    <a:latin typeface="+mn-lt"/>
                  </a:rPr>
                  <a:t>core_dist</a:t>
                </a:r>
                <a:r>
                  <a:rPr lang="en-US" dirty="0">
                    <a:latin typeface="+mn-lt"/>
                  </a:rPr>
                  <a:t>, CD</a:t>
                </a:r>
                <a:endParaRPr lang="en-US" dirty="0"/>
              </a:p>
              <a:p>
                <a:r>
                  <a:rPr lang="en-US" dirty="0">
                    <a:latin typeface="+mn-lt"/>
                  </a:rPr>
                  <a:t>Find </a:t>
                </a:r>
                <a:r>
                  <a:rPr lang="en-US" dirty="0" err="1">
                    <a:latin typeface="+mn-lt"/>
                  </a:rPr>
                  <a:t>reachable_dist</a:t>
                </a:r>
                <a:r>
                  <a:rPr lang="en-US" dirty="0">
                    <a:latin typeface="+mn-lt"/>
                  </a:rPr>
                  <a:t> (RD)</a:t>
                </a:r>
              </a:p>
              <a:p>
                <a:r>
                  <a:rPr lang="en-US" dirty="0">
                    <a:latin typeface="+mn-lt"/>
                  </a:rPr>
                  <a:t>Points beyond </a:t>
                </a:r>
                <a:r>
                  <a:rPr lang="en-US" dirty="0" err="1">
                    <a:latin typeface="+mn-lt"/>
                  </a:rPr>
                  <a:t>reachable_dist</a:t>
                </a:r>
                <a:r>
                  <a:rPr lang="en-US" dirty="0">
                    <a:latin typeface="+mn-lt"/>
                  </a:rPr>
                  <a:t> are not in the cluster</a:t>
                </a:r>
              </a:p>
              <a:p>
                <a:pPr marL="914400" lvl="1" indent="-457200">
                  <a:buFont typeface="+mj-lt"/>
                  <a:buAutoNum type="arabicPeriod" startAt="4"/>
                </a:pPr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470725" y="752947"/>
                <a:ext cx="6387899" cy="5746010"/>
              </a:xfrm>
              <a:blipFill>
                <a:blip r:embed="rId3"/>
                <a:stretch>
                  <a:fillRect l="-1908" t="-1805" r="-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9543DE26-DB74-46D2-B06F-B5C772EE0143}"/>
              </a:ext>
            </a:extLst>
          </p:cNvPr>
          <p:cNvSpPr/>
          <p:nvPr/>
        </p:nvSpPr>
        <p:spPr>
          <a:xfrm>
            <a:off x="2843641" y="3939931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FAFC799-F8FB-440D-A092-F42B07121008}"/>
              </a:ext>
            </a:extLst>
          </p:cNvPr>
          <p:cNvSpPr/>
          <p:nvPr/>
        </p:nvSpPr>
        <p:spPr>
          <a:xfrm>
            <a:off x="1204438" y="3637948"/>
            <a:ext cx="182718" cy="17765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525AE1A-0317-4E93-98B5-EB73E484924C}"/>
              </a:ext>
            </a:extLst>
          </p:cNvPr>
          <p:cNvSpPr/>
          <p:nvPr/>
        </p:nvSpPr>
        <p:spPr>
          <a:xfrm>
            <a:off x="3313340" y="4141889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802C5CB-EE6E-4498-9B08-1192583C4B53}"/>
              </a:ext>
            </a:extLst>
          </p:cNvPr>
          <p:cNvSpPr/>
          <p:nvPr/>
        </p:nvSpPr>
        <p:spPr>
          <a:xfrm>
            <a:off x="3343505" y="4492339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0144684-5014-4672-B3EA-8A2C98B66D29}"/>
              </a:ext>
            </a:extLst>
          </p:cNvPr>
          <p:cNvSpPr/>
          <p:nvPr/>
        </p:nvSpPr>
        <p:spPr>
          <a:xfrm>
            <a:off x="3939119" y="4348745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886E34B-3C37-4CDA-9D67-CD782B253002}"/>
              </a:ext>
            </a:extLst>
          </p:cNvPr>
          <p:cNvSpPr/>
          <p:nvPr/>
        </p:nvSpPr>
        <p:spPr>
          <a:xfrm>
            <a:off x="4168194" y="4939247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5BEE028-78F9-4848-B94C-D47F5D3A916E}"/>
              </a:ext>
            </a:extLst>
          </p:cNvPr>
          <p:cNvSpPr/>
          <p:nvPr/>
        </p:nvSpPr>
        <p:spPr>
          <a:xfrm>
            <a:off x="4147343" y="2497345"/>
            <a:ext cx="182718" cy="17765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CB390D8-1151-4B85-95D8-AF5E04A20DDA}"/>
              </a:ext>
            </a:extLst>
          </p:cNvPr>
          <p:cNvSpPr/>
          <p:nvPr/>
        </p:nvSpPr>
        <p:spPr>
          <a:xfrm>
            <a:off x="2333369" y="3586691"/>
            <a:ext cx="2159431" cy="1988948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56C6320-4279-4398-8313-ACBA740BDFEB}"/>
              </a:ext>
            </a:extLst>
          </p:cNvPr>
          <p:cNvSpPr/>
          <p:nvPr/>
        </p:nvSpPr>
        <p:spPr>
          <a:xfrm>
            <a:off x="2781107" y="3969094"/>
            <a:ext cx="1263956" cy="122414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6B5F578-59F8-4B9A-BBE9-203DC71E1927}"/>
              </a:ext>
            </a:extLst>
          </p:cNvPr>
          <p:cNvSpPr/>
          <p:nvPr/>
        </p:nvSpPr>
        <p:spPr>
          <a:xfrm>
            <a:off x="210101" y="2796780"/>
            <a:ext cx="2159431" cy="1988948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78CB19F-AE09-415F-AC58-3AC8F8B2F3C9}"/>
              </a:ext>
            </a:extLst>
          </p:cNvPr>
          <p:cNvSpPr/>
          <p:nvPr/>
        </p:nvSpPr>
        <p:spPr>
          <a:xfrm>
            <a:off x="3152196" y="1664637"/>
            <a:ext cx="2159431" cy="1988948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DAA9791-AEDE-4A3C-9452-3D87822633B6}"/>
              </a:ext>
            </a:extLst>
          </p:cNvPr>
          <p:cNvCxnSpPr>
            <a:cxnSpLocks/>
            <a:stCxn id="21" idx="7"/>
            <a:endCxn id="9" idx="7"/>
          </p:cNvCxnSpPr>
          <p:nvPr/>
        </p:nvCxnSpPr>
        <p:spPr>
          <a:xfrm flipH="1">
            <a:off x="3499465" y="3877966"/>
            <a:ext cx="677094" cy="640390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B9998EE-ACED-4FEA-8AFF-3055717C755D}"/>
              </a:ext>
            </a:extLst>
          </p:cNvPr>
          <p:cNvSpPr txBox="1"/>
          <p:nvPr/>
        </p:nvSpPr>
        <p:spPr>
          <a:xfrm>
            <a:off x="3687842" y="3662067"/>
            <a:ext cx="3572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ymbol" panose="05050102010706020507" pitchFamily="18" charset="2"/>
              </a:rPr>
              <a:t>e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9399746-EAE1-4AC8-A230-92A8233AFBE4}"/>
              </a:ext>
            </a:extLst>
          </p:cNvPr>
          <p:cNvSpPr/>
          <p:nvPr/>
        </p:nvSpPr>
        <p:spPr>
          <a:xfrm>
            <a:off x="2959714" y="4230716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C1D36C3-99ED-4B71-80F2-B50D958F3066}"/>
              </a:ext>
            </a:extLst>
          </p:cNvPr>
          <p:cNvCxnSpPr>
            <a:cxnSpLocks/>
            <a:stCxn id="39" idx="2"/>
            <a:endCxn id="9" idx="2"/>
          </p:cNvCxnSpPr>
          <p:nvPr/>
        </p:nvCxnSpPr>
        <p:spPr>
          <a:xfrm>
            <a:off x="2781107" y="4581166"/>
            <a:ext cx="562398" cy="1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84C96D00-1F14-4C33-A33A-148EDCF9BF2E}"/>
              </a:ext>
            </a:extLst>
          </p:cNvPr>
          <p:cNvSpPr txBox="1"/>
          <p:nvPr/>
        </p:nvSpPr>
        <p:spPr>
          <a:xfrm>
            <a:off x="2781107" y="4607183"/>
            <a:ext cx="623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CD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C93FF0A-1B53-43C0-8D61-F12A9914E48F}"/>
              </a:ext>
            </a:extLst>
          </p:cNvPr>
          <p:cNvCxnSpPr>
            <a:cxnSpLocks/>
            <a:stCxn id="11" idx="2"/>
            <a:endCxn id="9" idx="5"/>
          </p:cNvCxnSpPr>
          <p:nvPr/>
        </p:nvCxnSpPr>
        <p:spPr>
          <a:xfrm flipH="1" flipV="1">
            <a:off x="3499465" y="4643977"/>
            <a:ext cx="668729" cy="384098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80D2AE1-1A40-4990-A1E0-8B6BA4471884}"/>
              </a:ext>
            </a:extLst>
          </p:cNvPr>
          <p:cNvSpPr txBox="1"/>
          <p:nvPr/>
        </p:nvSpPr>
        <p:spPr>
          <a:xfrm>
            <a:off x="3481238" y="4837467"/>
            <a:ext cx="623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RD</a:t>
            </a:r>
          </a:p>
        </p:txBody>
      </p:sp>
    </p:spTree>
    <p:extLst>
      <p:ext uri="{BB962C8B-B14F-4D97-AF65-F5344CB8AC3E}">
        <p14:creationId xmlns:p14="http://schemas.microsoft.com/office/powerpoint/2010/main" val="2860121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21" grpId="0" animBg="1"/>
      <p:bldP spid="39" grpId="0" animBg="1"/>
      <p:bldP spid="30" grpId="0" animBg="1"/>
      <p:bldP spid="33" grpId="0" animBg="1"/>
      <p:bldP spid="19" grpId="0"/>
      <p:bldP spid="37" grpId="0" animBg="1"/>
      <p:bldP spid="42" grpId="0"/>
      <p:bldP spid="4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8072846" y="739851"/>
                <a:ext cx="3908407" cy="562956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What are some properties of OPTICS?</a:t>
                </a:r>
              </a:p>
              <a:p>
                <a:r>
                  <a:rPr lang="en-US" dirty="0">
                    <a:latin typeface="+mn-lt"/>
                  </a:rPr>
                  <a:t>OPTICS builds a NN dendrogram with the distances determining clusters</a:t>
                </a:r>
              </a:p>
              <a:p>
                <a:r>
                  <a:rPr lang="en-US" dirty="0">
                    <a:latin typeface="+mn-lt"/>
                  </a:rPr>
                  <a:t>The reachability plot (bottom) shows the path distances in the dendrogram</a:t>
                </a:r>
              </a:p>
              <a:p>
                <a:r>
                  <a:rPr lang="en-US" dirty="0">
                    <a:latin typeface="+mn-lt"/>
                  </a:rPr>
                  <a:t>An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 cutoff on the reachability plot defines the clusters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8072846" y="739851"/>
                <a:ext cx="3908407" cy="5629566"/>
              </a:xfrm>
              <a:blipFill>
                <a:blip r:embed="rId3"/>
                <a:stretch>
                  <a:fillRect l="-3120" t="-1732" r="-4836" b="-28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2" name="Picture 4">
            <a:extLst>
              <a:ext uri="{FF2B5EF4-FFF2-40B4-BE49-F238E27FC236}">
                <a16:creationId xmlns:a16="http://schemas.microsoft.com/office/drawing/2014/main" id="{9F7BAACE-949E-4FAF-BDD0-5975A7B85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024" y="798388"/>
            <a:ext cx="7899345" cy="5402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E489A7-DC97-4F52-9730-950C592E8B3F}"/>
              </a:ext>
            </a:extLst>
          </p:cNvPr>
          <p:cNvSpPr txBox="1"/>
          <p:nvPr/>
        </p:nvSpPr>
        <p:spPr>
          <a:xfrm>
            <a:off x="2185903" y="6213552"/>
            <a:ext cx="291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Credit: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0269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8072846" y="739851"/>
                <a:ext cx="3908407" cy="562956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What are some properties of OPTICS?</a:t>
                </a:r>
              </a:p>
              <a:p>
                <a:r>
                  <a:rPr lang="en-US" dirty="0">
                    <a:latin typeface="+mn-lt"/>
                  </a:rPr>
                  <a:t>Dynamically determining </a:t>
                </a:r>
                <a:r>
                  <a:rPr lang="en-US" dirty="0" err="1">
                    <a:latin typeface="+mn-lt"/>
                  </a:rPr>
                  <a:t>core_dist</a:t>
                </a:r>
                <a:r>
                  <a:rPr lang="en-US" dirty="0">
                    <a:latin typeface="+mn-lt"/>
                  </a:rPr>
                  <a:t> helps with variable sample density</a:t>
                </a:r>
              </a:p>
              <a:p>
                <a:r>
                  <a:rPr lang="en-US" dirty="0">
                    <a:latin typeface="+mn-lt"/>
                  </a:rPr>
                  <a:t>Computation complexity higher on average than DBSCAN</a:t>
                </a:r>
              </a:p>
              <a:p>
                <a:r>
                  <a:rPr lang="en-US" dirty="0">
                    <a:latin typeface="+mn-lt"/>
                  </a:rPr>
                  <a:t>Outliers with distance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 idendified </a:t>
                </a: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8072846" y="739851"/>
                <a:ext cx="3908407" cy="5629566"/>
              </a:xfrm>
              <a:blipFill>
                <a:blip r:embed="rId3"/>
                <a:stretch>
                  <a:fillRect l="-3120" t="-17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2" name="Picture 4">
            <a:extLst>
              <a:ext uri="{FF2B5EF4-FFF2-40B4-BE49-F238E27FC236}">
                <a16:creationId xmlns:a16="http://schemas.microsoft.com/office/drawing/2014/main" id="{9F7BAACE-949E-4FAF-BDD0-5975A7B85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024" y="798388"/>
            <a:ext cx="7899345" cy="5402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E489A7-DC97-4F52-9730-950C592E8B3F}"/>
              </a:ext>
            </a:extLst>
          </p:cNvPr>
          <p:cNvSpPr txBox="1"/>
          <p:nvPr/>
        </p:nvSpPr>
        <p:spPr>
          <a:xfrm>
            <a:off x="2185903" y="6213552"/>
            <a:ext cx="291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Wikipedia commons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4F6E3D0-B7A1-0546-1A38-F51B3FFCFCDB}"/>
              </a:ext>
            </a:extLst>
          </p:cNvPr>
          <p:cNvCxnSpPr>
            <a:cxnSpLocks/>
          </p:cNvCxnSpPr>
          <p:nvPr/>
        </p:nvCxnSpPr>
        <p:spPr>
          <a:xfrm flipH="1">
            <a:off x="7459851" y="5073112"/>
            <a:ext cx="723254" cy="39779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E65B4B3-A8A8-C1FB-15FD-1026861DB32B}"/>
              </a:ext>
            </a:extLst>
          </p:cNvPr>
          <p:cNvCxnSpPr>
            <a:cxnSpLocks/>
          </p:cNvCxnSpPr>
          <p:nvPr/>
        </p:nvCxnSpPr>
        <p:spPr>
          <a:xfrm flipH="1">
            <a:off x="5104965" y="5073112"/>
            <a:ext cx="3036811" cy="573437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822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6" y="1890793"/>
                <a:ext cx="5305586" cy="4664989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OPTICS is an Hierarchical Algorithm</a:t>
                </a:r>
              </a:p>
              <a:p>
                <a:r>
                  <a:rPr lang="en-US" dirty="0">
                    <a:latin typeface="+mn-lt"/>
                  </a:rPr>
                  <a:t>Dendrogram of reachability distances   </a:t>
                </a:r>
              </a:p>
              <a:p>
                <a:r>
                  <a:rPr lang="en-US" dirty="0">
                    <a:latin typeface="+mn-lt"/>
                  </a:rPr>
                  <a:t>Overlapping cluster assignments from partitioning graph at different </a:t>
                </a:r>
                <a:r>
                  <a:rPr lang="en-US" i="1" dirty="0">
                    <a:latin typeface="+mn-lt"/>
                  </a:rPr>
                  <a:t>eps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Reachability plot with local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 to define clusters from graph components    </a:t>
                </a: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sz="1800" dirty="0">
                    <a:latin typeface="+mn-lt"/>
                  </a:rPr>
                  <a:t>From </a:t>
                </a:r>
                <a:r>
                  <a:rPr lang="en-US" sz="1800" dirty="0">
                    <a:latin typeface="+mn-lt"/>
                    <a:hlinkClick r:id="rId3"/>
                  </a:rPr>
                  <a:t>Advanced Algorithms and Data Structures,, Marcello La Rocca, Manning, 2021</a:t>
                </a:r>
                <a:endParaRPr lang="en-US" sz="18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6" y="1890793"/>
                <a:ext cx="5305586" cy="4664989"/>
              </a:xfrm>
              <a:blipFill>
                <a:blip r:embed="rId4"/>
                <a:stretch>
                  <a:fillRect l="-2069" t="-2614" r="-1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09CACB5-DCE6-F0D4-02B3-3FDE9B123D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9049" y="221991"/>
            <a:ext cx="6299868" cy="6333791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01A40F7-3064-4606-E1EA-036EE3A40D3A}"/>
              </a:ext>
            </a:extLst>
          </p:cNvPr>
          <p:cNvCxnSpPr>
            <a:cxnSpLocks/>
          </p:cNvCxnSpPr>
          <p:nvPr/>
        </p:nvCxnSpPr>
        <p:spPr>
          <a:xfrm flipV="1">
            <a:off x="5000786" y="1932122"/>
            <a:ext cx="1689316" cy="712922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ADF6E5-8948-1958-D60A-4D68383ABF58}"/>
              </a:ext>
            </a:extLst>
          </p:cNvPr>
          <p:cNvCxnSpPr>
            <a:cxnSpLocks/>
          </p:cNvCxnSpPr>
          <p:nvPr/>
        </p:nvCxnSpPr>
        <p:spPr>
          <a:xfrm>
            <a:off x="5512231" y="3652434"/>
            <a:ext cx="1231469" cy="33092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6EF63CA-CD8C-FD0D-7FF2-9C72E30D9086}"/>
              </a:ext>
            </a:extLst>
          </p:cNvPr>
          <p:cNvCxnSpPr>
            <a:cxnSpLocks/>
          </p:cNvCxnSpPr>
          <p:nvPr/>
        </p:nvCxnSpPr>
        <p:spPr>
          <a:xfrm>
            <a:off x="5191932" y="4938793"/>
            <a:ext cx="1498170" cy="644762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6763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Density clustering is well supported in Scikit Learn    </a:t>
                </a:r>
              </a:p>
              <a:p>
                <a:r>
                  <a:rPr lang="en-US" dirty="0" err="1">
                    <a:latin typeface="+mn-lt"/>
                  </a:rPr>
                  <a:t>Sklearn</a:t>
                </a:r>
                <a:r>
                  <a:rPr lang="en-US" dirty="0">
                    <a:latin typeface="+mn-lt"/>
                  </a:rPr>
                  <a:t> supports DBSCAN, HDBSCAN and OPTICS   </a:t>
                </a:r>
              </a:p>
              <a:p>
                <a:r>
                  <a:rPr lang="en-US" dirty="0">
                    <a:latin typeface="+mn-lt"/>
                  </a:rPr>
                  <a:t>See the </a:t>
                </a:r>
                <a:r>
                  <a:rPr lang="en-US" dirty="0" err="1">
                    <a:latin typeface="+mn-lt"/>
                  </a:rPr>
                  <a:t>Sklearn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  <a:hlinkClick r:id="rId3"/>
                  </a:rPr>
                  <a:t>User Guide</a:t>
                </a:r>
                <a:r>
                  <a:rPr lang="en-US" dirty="0">
                    <a:latin typeface="+mn-lt"/>
                  </a:rPr>
                  <a:t> for overview</a:t>
                </a:r>
              </a:p>
              <a:p>
                <a:pPr lvl="1"/>
                <a:r>
                  <a:rPr lang="en-US" dirty="0">
                    <a:latin typeface="+mn-lt"/>
                  </a:rPr>
                  <a:t>See especially guidance on scaling these algorithms    </a:t>
                </a:r>
              </a:p>
              <a:p>
                <a:pPr lvl="1"/>
                <a:r>
                  <a:rPr lang="en-US" dirty="0">
                    <a:latin typeface="+mn-lt"/>
                  </a:rPr>
                  <a:t>OPTICS implementation only supports single value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Reduce average runtime of OPTICS is reduced by limiting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max_eps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Small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max_eps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lang="en-US" dirty="0">
                    <a:latin typeface="+mn-lt"/>
                  </a:rPr>
                  <a:t>may fragment clusters  </a:t>
                </a:r>
              </a:p>
              <a:p>
                <a:pPr lvl="1"/>
                <a:r>
                  <a:rPr lang="en-US" dirty="0">
                    <a:latin typeface="+mn-lt"/>
                  </a:rPr>
                  <a:t>Small </a:t>
                </a:r>
                <a:r>
                  <a:rPr lang="en-US" dirty="0" err="1">
                    <a:latin typeface="+mn-lt"/>
                    <a:cs typeface="Courier New" panose="02070309020205020404" pitchFamily="49" charset="0"/>
                  </a:rPr>
                  <a:t>max_eps</a:t>
                </a: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 </a:t>
                </a:r>
                <a:r>
                  <a:rPr lang="en-US" dirty="0">
                    <a:latin typeface="+mn-lt"/>
                  </a:rPr>
                  <a:t>creates deeper hierarchy – slower to compute</a:t>
                </a:r>
              </a:p>
              <a:p>
                <a:r>
                  <a:rPr lang="en-US" dirty="0">
                    <a:latin typeface="+mn-lt"/>
                  </a:rPr>
                  <a:t>An alternative implementation of the OPTICS algorithm and many others can be found in the </a:t>
                </a:r>
                <a:r>
                  <a:rPr lang="en-US" dirty="0" err="1">
                    <a:latin typeface="+mn-lt"/>
                    <a:hlinkClick r:id="rId4"/>
                  </a:rPr>
                  <a:t>PyClustering</a:t>
                </a:r>
                <a:r>
                  <a:rPr lang="en-US" dirty="0">
                    <a:latin typeface="+mn-lt"/>
                    <a:hlinkClick r:id="rId4"/>
                  </a:rPr>
                  <a:t> package</a:t>
                </a: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5"/>
                <a:stretch>
                  <a:fillRect l="-1077" t="-18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4933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BE494-E910-773D-B44C-2F639384B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E7089-E77F-80B9-C868-CF2B01D7BC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Density-Based Clustering with Hierarchical DBSCAN - HDBSCAN</a:t>
            </a:r>
          </a:p>
        </p:txBody>
      </p:sp>
    </p:spTree>
    <p:extLst>
      <p:ext uri="{BB962C8B-B14F-4D97-AF65-F5344CB8AC3E}">
        <p14:creationId xmlns:p14="http://schemas.microsoft.com/office/powerpoint/2010/main" val="7836246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DFB5B-5798-85F1-5E9C-4F9AA4B0F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96F0F-A420-9F74-7C1B-FE39FEA80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F1A2F1-1302-A225-BC3C-BB8C95622B4E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HDBSCAN is an improvement over OPTICS </a:t>
                </a:r>
              </a:p>
              <a:p>
                <a:r>
                  <a:rPr lang="en-US" dirty="0">
                    <a:latin typeface="+mn-lt"/>
                  </a:rPr>
                  <a:t>HDBSCAN, </a:t>
                </a:r>
                <a:r>
                  <a:rPr lang="en-US" dirty="0">
                    <a:latin typeface="+mn-lt"/>
                    <a:hlinkClick r:id="rId3"/>
                  </a:rPr>
                  <a:t>Campello, </a:t>
                </a:r>
                <a:r>
                  <a:rPr lang="en-US" dirty="0" err="1">
                    <a:latin typeface="+mn-lt"/>
                    <a:hlinkClick r:id="rId3"/>
                  </a:rPr>
                  <a:t>Moulave</a:t>
                </a:r>
                <a:r>
                  <a:rPr lang="en-US" dirty="0">
                    <a:latin typeface="+mn-lt"/>
                    <a:hlinkClick r:id="rId3"/>
                  </a:rPr>
                  <a:t>, and Sander, 2013</a:t>
                </a:r>
                <a:r>
                  <a:rPr lang="en-US" dirty="0">
                    <a:latin typeface="+mn-lt"/>
                  </a:rPr>
                  <a:t> , is an adaptive hierarchical density clustering algorithm </a:t>
                </a:r>
              </a:p>
              <a:p>
                <a:r>
                  <a:rPr lang="en-US" dirty="0">
                    <a:latin typeface="+mn-lt"/>
                  </a:rPr>
                  <a:t>HDBSCAN algorithm derives from DBSCAN and OPTICS    </a:t>
                </a:r>
              </a:p>
              <a:p>
                <a:pPr lvl="1"/>
                <a:r>
                  <a:rPr lang="en-US" dirty="0">
                    <a:latin typeface="+mn-lt"/>
                  </a:rPr>
                  <a:t>HDBSCAN is faster than OPTICS, </a:t>
                </a:r>
              </a:p>
              <a:p>
                <a:pPr lvl="1"/>
                <a:r>
                  <a:rPr lang="en-US" dirty="0">
                    <a:latin typeface="+mn-lt"/>
                  </a:rPr>
                  <a:t>HDBSCAN uses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memory, comparable to OPTICS, </a:t>
                </a:r>
              </a:p>
              <a:p>
                <a:r>
                  <a:rPr lang="en-US" dirty="0">
                    <a:latin typeface="+mn-lt"/>
                  </a:rPr>
                  <a:t>Efficient and scalable implementation of </a:t>
                </a:r>
                <a:r>
                  <a:rPr lang="en-US" b="1" dirty="0">
                    <a:latin typeface="+mn-lt"/>
                    <a:hlinkClick r:id="rId4"/>
                  </a:rPr>
                  <a:t>HDBSCAN Python package</a:t>
                </a:r>
                <a:r>
                  <a:rPr lang="en-US" dirty="0">
                    <a:latin typeface="+mn-lt"/>
                    <a:hlinkClick r:id="rId4"/>
                  </a:rPr>
                  <a:t> 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HDBSCAN has a few key parameters that control cluster formation  </a:t>
                </a: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F1A2F1-1302-A225-BC3C-BB8C95622B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5"/>
                <a:stretch>
                  <a:fillRect l="-1077" t="-18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1867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8D6F1-B69F-14E7-2E08-E206E39BD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E102A-E081-6F89-A751-392B9243C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AC7C7F-6626-D925-DFEE-3EED49CBF33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80"/>
                <a:ext cx="11366549" cy="248997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HDBSCAN has an adaptive method to determine reachability distance   </a:t>
                </a:r>
              </a:p>
              <a:p>
                <a:r>
                  <a:rPr lang="en-US" dirty="0">
                    <a:latin typeface="+mn-lt"/>
                  </a:rPr>
                  <a:t>Reachability distance between two points,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>
                    <a:latin typeface="+mn-lt"/>
                  </a:rPr>
                  <a:t>,is computed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𝑟𝑒𝑎𝑐h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𝑚𝑎𝑥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𝑐𝑜𝑟𝑒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𝑐𝑜𝑟𝑒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And core distance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𝑐𝑜𝑟𝑒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of point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>
                    <a:latin typeface="+mn-lt"/>
                  </a:rPr>
                  <a:t> is defined as the distance from the point to the </a:t>
                </a:r>
                <a:r>
                  <a:rPr lang="en-US" i="1" dirty="0">
                    <a:latin typeface="+mn-lt"/>
                  </a:rPr>
                  <a:t>kth</a:t>
                </a:r>
                <a:r>
                  <a:rPr lang="en-US" dirty="0">
                    <a:latin typeface="+mn-lt"/>
                  </a:rPr>
                  <a:t> most distant point, including point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AC7C7F-6626-D925-DFEE-3EED49CBF3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80"/>
                <a:ext cx="11366549" cy="2489972"/>
              </a:xfrm>
              <a:blipFill>
                <a:blip r:embed="rId3"/>
                <a:stretch>
                  <a:fillRect l="-1072" t="-4167" b="-2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26D693D-7FB0-C115-6A53-BF54D463E8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1018" y="3186716"/>
            <a:ext cx="5290322" cy="36712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2C38CE8-AD1E-B508-0750-8F2FA4E43E5F}"/>
              </a:ext>
            </a:extLst>
          </p:cNvPr>
          <p:cNvSpPr txBox="1"/>
          <p:nvPr/>
        </p:nvSpPr>
        <p:spPr>
          <a:xfrm>
            <a:off x="537275" y="3529186"/>
            <a:ext cx="5899085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Example: core distance of a point to </a:t>
            </a:r>
            <a:r>
              <a:rPr lang="en-US" sz="2800" i="1" dirty="0"/>
              <a:t>k</a:t>
            </a:r>
            <a:r>
              <a:rPr lang="en-US" sz="2800" dirty="0"/>
              <a:t> neighbors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algn="ctr"/>
            <a:r>
              <a:rPr lang="en-US" sz="2000" dirty="0">
                <a:hlinkClick r:id="rId5"/>
              </a:rPr>
              <a:t>Illustration from HDBSCAN documentation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42457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61352-1779-4E4B-D190-1A493047D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539C0-4FFC-4EA9-C4A0-220C3BB89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EB7B48-68D4-80D5-C81E-64410B59BE93}"/>
              </a:ext>
            </a:extLst>
          </p:cNvPr>
          <p:cNvSpPr txBox="1"/>
          <p:nvPr/>
        </p:nvSpPr>
        <p:spPr>
          <a:xfrm>
            <a:off x="584201" y="1157288"/>
            <a:ext cx="539542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HDBSCAN adaptively determines reachability distance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Example: In less dense regions the core distance increases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Using variable core distance makes HDBSCAN more adaptive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algn="ctr"/>
            <a:r>
              <a:rPr lang="en-US" sz="2000" dirty="0">
                <a:hlinkClick r:id="rId3"/>
              </a:rPr>
              <a:t>Illustration from HDBSCAN documentation</a:t>
            </a:r>
            <a:endParaRPr lang="en-US" sz="2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AF4A1B-092D-F96E-7124-C8453615BB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3329" y="1207166"/>
            <a:ext cx="6194718" cy="4340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393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85159-2DCB-8C63-877F-F33153E7C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5A0C6D-8DE3-7399-7B98-57C34D0B99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733" y="897414"/>
            <a:ext cx="6197888" cy="43063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FB776B6-FC8A-7462-0BCC-42BD3EF76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712F3E-810E-CF63-02B3-463C6AEB1928}"/>
              </a:ext>
            </a:extLst>
          </p:cNvPr>
          <p:cNvSpPr txBox="1"/>
          <p:nvPr/>
        </p:nvSpPr>
        <p:spPr>
          <a:xfrm>
            <a:off x="584201" y="1157288"/>
            <a:ext cx="551180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HDBSCAN adaptively determines reachability distance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Example: Distance between two points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reachability distance is distance is larger of core distances of the points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Reachability distance is dynamically determined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algn="ctr"/>
            <a:r>
              <a:rPr lang="en-US" sz="2000" dirty="0">
                <a:hlinkClick r:id="rId4"/>
              </a:rPr>
              <a:t>Illustration from HDBSCAN documentation</a:t>
            </a:r>
            <a:endParaRPr lang="en-US" sz="20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0ACE6-D58F-E364-B912-AFE3CB8EE8FA}"/>
              </a:ext>
            </a:extLst>
          </p:cNvPr>
          <p:cNvCxnSpPr>
            <a:cxnSpLocks/>
          </p:cNvCxnSpPr>
          <p:nvPr/>
        </p:nvCxnSpPr>
        <p:spPr>
          <a:xfrm flipV="1">
            <a:off x="5894522" y="1873135"/>
            <a:ext cx="3266103" cy="139700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1204862-F9F2-EA0A-6214-7B221A904BA4}"/>
              </a:ext>
            </a:extLst>
          </p:cNvPr>
          <p:cNvCxnSpPr>
            <a:cxnSpLocks/>
          </p:cNvCxnSpPr>
          <p:nvPr/>
        </p:nvCxnSpPr>
        <p:spPr>
          <a:xfrm>
            <a:off x="5894522" y="3270142"/>
            <a:ext cx="3016722" cy="45950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0700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30A7F6-6A57-C01E-FF35-866D7323A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E0E48-ED92-93F8-1242-A672FD691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F4E3B3-830B-BA5D-D0CB-288B618FCB19}"/>
              </a:ext>
            </a:extLst>
          </p:cNvPr>
          <p:cNvSpPr txBox="1"/>
          <p:nvPr/>
        </p:nvSpPr>
        <p:spPr>
          <a:xfrm>
            <a:off x="584201" y="1157288"/>
            <a:ext cx="5511800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HDBSCAN adaptively determines reachability distance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Example: reachability distance is distance is larger of core distances of the points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Reachability distance is dynamically determined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algn="ctr"/>
            <a:r>
              <a:rPr lang="en-US" sz="2000" dirty="0">
                <a:hlinkClick r:id="rId3"/>
              </a:rPr>
              <a:t>Illustration from HDBSCAN documentation</a:t>
            </a: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9D63E-D293-DAC3-D08A-E2005A2CA1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7332" y="1292439"/>
            <a:ext cx="6184668" cy="4273121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1179D9A-1B6F-6B68-37D4-EC933968DBD6}"/>
              </a:ext>
            </a:extLst>
          </p:cNvPr>
          <p:cNvCxnSpPr>
            <a:cxnSpLocks/>
          </p:cNvCxnSpPr>
          <p:nvPr/>
        </p:nvCxnSpPr>
        <p:spPr>
          <a:xfrm flipV="1">
            <a:off x="5730240" y="2162432"/>
            <a:ext cx="3389046" cy="148506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17BEE6D-626B-2067-73F8-09426B700AA6}"/>
              </a:ext>
            </a:extLst>
          </p:cNvPr>
          <p:cNvCxnSpPr>
            <a:cxnSpLocks/>
          </p:cNvCxnSpPr>
          <p:nvPr/>
        </p:nvCxnSpPr>
        <p:spPr>
          <a:xfrm>
            <a:off x="5769033" y="2310938"/>
            <a:ext cx="2713881" cy="77825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14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BFFE9-6513-53B4-77E5-0077ECA74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3EB8B-1B3F-A2CD-93AA-B061E56FB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EBFDAE-51D3-C82D-70BF-BEC37EF6F61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HDBSCAN requires efficiently building a massive scale proximity graph</a:t>
                </a:r>
              </a:p>
              <a:p>
                <a:r>
                  <a:rPr lang="en-US" dirty="0">
                    <a:latin typeface="+mn-lt"/>
                  </a:rPr>
                  <a:t>The full graph has prohibitive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complexity </a:t>
                </a:r>
              </a:p>
              <a:p>
                <a:r>
                  <a:rPr lang="en-US" dirty="0">
                    <a:latin typeface="+mn-lt"/>
                  </a:rPr>
                  <a:t>Idea: build a single linkage minimum spanning tree </a:t>
                </a:r>
              </a:p>
              <a:p>
                <a:pPr lvl="1"/>
                <a:r>
                  <a:rPr lang="en-US" dirty="0">
                    <a:latin typeface="+mn-lt"/>
                  </a:rPr>
                  <a:t>Tree graph is built sequentially, one edge at a time </a:t>
                </a:r>
              </a:p>
              <a:p>
                <a:pPr lvl="1"/>
                <a:r>
                  <a:rPr lang="en-US" dirty="0">
                    <a:latin typeface="+mn-lt"/>
                  </a:rPr>
                  <a:t>Edge only constructed if neighbors are within distance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Prim’s algorithm </a:t>
                </a:r>
                <a:r>
                  <a:rPr lang="en-US" dirty="0">
                    <a:latin typeface="+mn-lt"/>
                  </a:rPr>
                  <a:t>is an efficient algorithm to build a minimum spanning tree</a:t>
                </a:r>
                <a:endParaRPr lang="en-US" dirty="0"/>
              </a:p>
              <a:p>
                <a:pPr lvl="1"/>
                <a:r>
                  <a:rPr lang="en-US" dirty="0">
                    <a:latin typeface="+mn-lt"/>
                  </a:rPr>
                  <a:t>Efficiently search for neighbors using heap to manage distances </a:t>
                </a: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nodes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edges complexity can be as low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</m:d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The number of edges,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depends on chosen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EBFDAE-51D3-C82D-70BF-BEC37EF6F6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4"/>
                <a:stretch>
                  <a:fillRect l="-1077" t="-1850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7356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532E-0C70-AB88-46A8-E16DD8CC6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4A499-96D4-2E48-7F52-DA8230A88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5AC2651-1FB3-C92C-8CD3-B17DB0C80248}"/>
                  </a:ext>
                </a:extLst>
              </p:cNvPr>
              <p:cNvSpPr txBox="1"/>
              <p:nvPr/>
            </p:nvSpPr>
            <p:spPr>
              <a:xfrm>
                <a:off x="584200" y="1157288"/>
                <a:ext cx="10993033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HDBSCAN uses </a:t>
                </a:r>
                <a:r>
                  <a:rPr lang="en-US" sz="2800" dirty="0">
                    <a:hlinkClick r:id="rId3"/>
                  </a:rPr>
                  <a:t>Prim’s algorithm </a:t>
                </a:r>
                <a:r>
                  <a:rPr lang="en-US" sz="2800" dirty="0"/>
                  <a:t>to construct a </a:t>
                </a:r>
                <a:r>
                  <a:rPr lang="en-US" sz="2800" b="1" dirty="0"/>
                  <a:t>minimum spanning tree </a:t>
                </a:r>
                <a:r>
                  <a:rPr lang="en-US" sz="2800" dirty="0"/>
                  <a:t>proximity graph by the following steps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800" dirty="0"/>
                  <a:t>Start with any randomly selected node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800" dirty="0"/>
                  <a:t>Add edge for nearest neighbor within distance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2800" dirty="0"/>
                  <a:t>, the </a:t>
                </a:r>
                <a:r>
                  <a:rPr lang="en-US" sz="2800" b="1" dirty="0"/>
                  <a:t>reachable distance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800" dirty="0"/>
                  <a:t>Recursively explore for nearest neighbors from node and add edge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800" dirty="0"/>
                  <a:t>If no near neighbors move to any randomly selected new node on the graph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800" dirty="0"/>
                  <a:t>Repeat steps 2, 3 and 4 until all nodes in graph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5AC2651-1FB3-C92C-8CD3-B17DB0C80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0" y="1157288"/>
                <a:ext cx="10993033" cy="3970318"/>
              </a:xfrm>
              <a:prstGeom prst="rect">
                <a:avLst/>
              </a:prstGeom>
              <a:blipFill>
                <a:blip r:embed="rId4"/>
                <a:stretch>
                  <a:fillRect l="-1165" t="-1536" b="-35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06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84C7F-3303-68A0-62BC-44C5573F4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B6A34D4-CAEF-CF2C-87A3-DE9D2A623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278" y="837360"/>
            <a:ext cx="6257721" cy="45095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A3034A-D139-6C03-4827-0C17DE8C6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4052290-598C-4D13-D6C2-3AAA4BC93E4C}"/>
                  </a:ext>
                </a:extLst>
              </p:cNvPr>
              <p:cNvSpPr txBox="1"/>
              <p:nvPr/>
            </p:nvSpPr>
            <p:spPr>
              <a:xfrm>
                <a:off x="584201" y="1157288"/>
                <a:ext cx="5511800" cy="32932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Example of minimum spanning tree constructed with </a:t>
                </a:r>
                <a:r>
                  <a:rPr lang="en-US" sz="2800" dirty="0">
                    <a:hlinkClick r:id="rId4"/>
                  </a:rPr>
                  <a:t>Prim’s algorithm</a:t>
                </a:r>
                <a:endParaRPr lang="en-US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Edge length is proximity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Hierarchy of clusters created by removing edges sequentially with length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800" dirty="0"/>
                  <a:t> </a:t>
                </a:r>
                <a:endParaRPr lang="en-US" sz="2800" dirty="0">
                  <a:hlinkClick r:id="rId5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dirty="0">
                  <a:hlinkClick r:id="rId5"/>
                </a:endParaRPr>
              </a:p>
              <a:p>
                <a:r>
                  <a:rPr lang="en-US" sz="2000" dirty="0" err="1">
                    <a:hlinkClick r:id="rId5"/>
                  </a:rPr>
                  <a:t>Ilustration</a:t>
                </a:r>
                <a:r>
                  <a:rPr lang="en-US" sz="2000" dirty="0">
                    <a:hlinkClick r:id="rId5"/>
                  </a:rPr>
                  <a:t> from HDBSCAN documentation</a:t>
                </a:r>
                <a:endParaRPr lang="en-US" sz="20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4052290-598C-4D13-D6C2-3AAA4BC93E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1" y="1157288"/>
                <a:ext cx="5511800" cy="3293209"/>
              </a:xfrm>
              <a:prstGeom prst="rect">
                <a:avLst/>
              </a:prstGeom>
              <a:blipFill>
                <a:blip r:embed="rId6"/>
                <a:stretch>
                  <a:fillRect l="-2323" t="-1852" r="-2987" b="-2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5073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F4011-E4F1-CBC5-11C1-143735657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C7DD581-5BE5-87F0-7A36-5B72C4C069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912" y="1299680"/>
            <a:ext cx="6336046" cy="44010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0DA93B-43A2-7A9E-1E66-1A80F858A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CCAA3C-C6DE-A717-A12B-5CCCAC523C9F}"/>
                  </a:ext>
                </a:extLst>
              </p:cNvPr>
              <p:cNvSpPr txBox="1"/>
              <p:nvPr/>
            </p:nvSpPr>
            <p:spPr>
              <a:xfrm>
                <a:off x="584201" y="1157288"/>
                <a:ext cx="5511800" cy="47089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HDBSCAN provides a method to aggregate a dendrogram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Vertical axis is parameterized as inverse distance 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=1/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sz="2800" dirty="0"/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Notice the inverted scale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Width of the marker represents number of points in set</a:t>
                </a:r>
              </a:p>
              <a:p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800" dirty="0"/>
              </a:p>
              <a:p>
                <a:pPr algn="ctr"/>
                <a:r>
                  <a:rPr lang="en-US" sz="2000" dirty="0">
                    <a:hlinkClick r:id="rId4"/>
                  </a:rPr>
                  <a:t>Illustration from HDBSCAN documentation</a:t>
                </a:r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CCAA3C-C6DE-A717-A12B-5CCCAC523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1" y="1157288"/>
                <a:ext cx="5511800" cy="4708981"/>
              </a:xfrm>
              <a:prstGeom prst="rect">
                <a:avLst/>
              </a:prstGeom>
              <a:blipFill>
                <a:blip r:embed="rId5"/>
                <a:stretch>
                  <a:fillRect l="-2323" t="-1295" b="-14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97D160A-4A15-8D14-B20A-7F3F5614BAFF}"/>
              </a:ext>
            </a:extLst>
          </p:cNvPr>
          <p:cNvCxnSpPr>
            <a:cxnSpLocks/>
          </p:cNvCxnSpPr>
          <p:nvPr/>
        </p:nvCxnSpPr>
        <p:spPr>
          <a:xfrm flipV="1">
            <a:off x="5811864" y="2156908"/>
            <a:ext cx="1901369" cy="1986306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338A187-2526-E17A-E3A2-E8C0C6F4B623}"/>
              </a:ext>
            </a:extLst>
          </p:cNvPr>
          <p:cNvCxnSpPr>
            <a:cxnSpLocks/>
          </p:cNvCxnSpPr>
          <p:nvPr/>
        </p:nvCxnSpPr>
        <p:spPr>
          <a:xfrm flipV="1">
            <a:off x="5811864" y="2727064"/>
            <a:ext cx="3235317" cy="141615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EFBDCA8-68E6-F2A2-7DF1-3A5854E77100}"/>
              </a:ext>
            </a:extLst>
          </p:cNvPr>
          <p:cNvCxnSpPr>
            <a:cxnSpLocks/>
          </p:cNvCxnSpPr>
          <p:nvPr/>
        </p:nvCxnSpPr>
        <p:spPr>
          <a:xfrm flipV="1">
            <a:off x="5238427" y="3523281"/>
            <a:ext cx="573437" cy="98156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9936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DF04D-4096-0412-7F72-7AF4CDB34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0F74567-E53C-E0B1-5616-46548C1DB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912" y="1299680"/>
            <a:ext cx="6336046" cy="44010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68EFB7-5978-269A-4D2C-273591E52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A74CA4-C1D0-C513-C3D7-028BD1B674D3}"/>
                  </a:ext>
                </a:extLst>
              </p:cNvPr>
              <p:cNvSpPr txBox="1"/>
              <p:nvPr/>
            </p:nvSpPr>
            <p:spPr>
              <a:xfrm>
                <a:off x="584201" y="1157288"/>
                <a:ext cx="5511800" cy="51398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HDBSCAN provides a method to aggregate a dendrogram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Vertical axis is parameterized as inverse distance 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=1/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Connected components (clusters) in the proximity graph are characterized by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𝑏𝑖𝑟𝑡h</m:t>
                        </m:r>
                      </m:sub>
                    </m:sSub>
                  </m:oMath>
                </a14:m>
                <a:r>
                  <a:rPr lang="en-US" sz="2800" dirty="0"/>
                  <a:t>: the  component appears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𝑑𝑒𝑎𝑡h</m:t>
                        </m:r>
                      </m:sub>
                    </m:sSub>
                  </m:oMath>
                </a14:m>
                <a:r>
                  <a:rPr lang="en-US" sz="2800" dirty="0"/>
                  <a:t>: the component disappears</a:t>
                </a:r>
              </a:p>
              <a:p>
                <a:pPr algn="ctr"/>
                <a:r>
                  <a:rPr lang="en-US" sz="2000" dirty="0">
                    <a:hlinkClick r:id="rId4"/>
                  </a:rPr>
                  <a:t>Illustration from HDBSCAN documentation</a:t>
                </a:r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A74CA4-C1D0-C513-C3D7-028BD1B674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1" y="1157288"/>
                <a:ext cx="5511800" cy="5139869"/>
              </a:xfrm>
              <a:prstGeom prst="rect">
                <a:avLst/>
              </a:prstGeom>
              <a:blipFill>
                <a:blip r:embed="rId5"/>
                <a:stretch>
                  <a:fillRect l="-2323" t="-1186" r="-1881" b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5E5B076-67CC-7E9A-5661-4B4DD97142E0}"/>
              </a:ext>
            </a:extLst>
          </p:cNvPr>
          <p:cNvCxnSpPr>
            <a:cxnSpLocks/>
          </p:cNvCxnSpPr>
          <p:nvPr/>
        </p:nvCxnSpPr>
        <p:spPr>
          <a:xfrm flipV="1">
            <a:off x="6023675" y="1921790"/>
            <a:ext cx="3239145" cy="291884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D884CB2-C251-ED26-6671-9940099A3C8F}"/>
              </a:ext>
            </a:extLst>
          </p:cNvPr>
          <p:cNvCxnSpPr>
            <a:cxnSpLocks/>
          </p:cNvCxnSpPr>
          <p:nvPr/>
        </p:nvCxnSpPr>
        <p:spPr>
          <a:xfrm flipV="1">
            <a:off x="5527729" y="2407403"/>
            <a:ext cx="3523281" cy="2965343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8378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61B5D-386F-1322-C077-AC44A722D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D4168-BCED-F75C-6E54-C246EF72E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4B3DAA9-F8AD-C98D-DD91-7B737E1C01A7}"/>
                  </a:ext>
                </a:extLst>
              </p:cNvPr>
              <p:cNvSpPr txBox="1"/>
              <p:nvPr/>
            </p:nvSpPr>
            <p:spPr>
              <a:xfrm>
                <a:off x="584201" y="1157288"/>
                <a:ext cx="10884546" cy="38574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Flat cluster models </a:t>
                </a:r>
                <a:r>
                  <a:rPr lang="en-US" sz="2800" dirty="0"/>
                  <a:t>extracted from HDBSCAN for any value of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800" dirty="0"/>
                  <a:t>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A flat cluster model assigns each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/>
                  <a:t>, to one unique cluster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Stability of a cluster,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800" dirty="0"/>
                  <a:t>, is defined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e>
                      </m:nary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𝑏𝑖𝑟𝑡h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/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Notice that points,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/>
                  <a:t>, can drop out of the cluster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𝑑𝑒𝑎𝑡h</m:t>
                        </m:r>
                      </m:sub>
                    </m:sSub>
                  </m:oMath>
                </a14:m>
                <a:r>
                  <a:rPr lang="en-US" sz="2800" dirty="0"/>
                  <a:t> is reached</a:t>
                </a:r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4B3DAA9-F8AD-C98D-DD91-7B737E1C0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1" y="1157288"/>
                <a:ext cx="10884546" cy="3857403"/>
              </a:xfrm>
              <a:prstGeom prst="rect">
                <a:avLst/>
              </a:prstGeom>
              <a:blipFill>
                <a:blip r:embed="rId3"/>
                <a:stretch>
                  <a:fillRect l="-1176" t="-1580" r="-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6285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1875B-9D2E-99F8-D736-2900044D3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1DBAC69-E324-A451-550E-667D50C6C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226" y="1705470"/>
            <a:ext cx="5756615" cy="47506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36A9B1-D7C6-4D2C-999F-E1312D206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A0977-E0C7-592F-7F14-B93C0863064D}"/>
                  </a:ext>
                </a:extLst>
              </p:cNvPr>
              <p:cNvSpPr txBox="1"/>
              <p:nvPr/>
            </p:nvSpPr>
            <p:spPr>
              <a:xfrm>
                <a:off x="584200" y="889241"/>
                <a:ext cx="11344328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Flat cluster models </a:t>
                </a:r>
                <a:r>
                  <a:rPr lang="en-US" sz="2800" dirty="0"/>
                  <a:t>extracted from HDBSCAN for any value of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possible reasons for cluster death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A0977-E0C7-592F-7F14-B93C08630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0" y="889241"/>
                <a:ext cx="11344328" cy="954107"/>
              </a:xfrm>
              <a:prstGeom prst="rect">
                <a:avLst/>
              </a:prstGeom>
              <a:blipFill>
                <a:blip r:embed="rId4"/>
                <a:stretch>
                  <a:fillRect l="-1128" t="-6410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4DE06AA-AC9A-DD75-23F4-20B215C35A64}"/>
              </a:ext>
            </a:extLst>
          </p:cNvPr>
          <p:cNvCxnSpPr>
            <a:cxnSpLocks/>
          </p:cNvCxnSpPr>
          <p:nvPr/>
        </p:nvCxnSpPr>
        <p:spPr>
          <a:xfrm flipV="1">
            <a:off x="5171268" y="3177153"/>
            <a:ext cx="1343186" cy="68610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52DBFC7-9D7A-3CDD-44F4-2A3C3953CB90}"/>
              </a:ext>
            </a:extLst>
          </p:cNvPr>
          <p:cNvCxnSpPr>
            <a:cxnSpLocks/>
          </p:cNvCxnSpPr>
          <p:nvPr/>
        </p:nvCxnSpPr>
        <p:spPr>
          <a:xfrm flipV="1">
            <a:off x="5171268" y="4375688"/>
            <a:ext cx="1379349" cy="1079715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58ACF6C-F02C-AFF7-6917-11F1948880B2}"/>
              </a:ext>
            </a:extLst>
          </p:cNvPr>
          <p:cNvSpPr txBox="1"/>
          <p:nvPr/>
        </p:nvSpPr>
        <p:spPr>
          <a:xfrm>
            <a:off x="6254226" y="6407927"/>
            <a:ext cx="58046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000" dirty="0">
                <a:hlinkClick r:id="rId5"/>
              </a:rPr>
              <a:t>figure from Campello, </a:t>
            </a:r>
            <a:r>
              <a:rPr lang="en-US" sz="2000" dirty="0" err="1">
                <a:hlinkClick r:id="rId5"/>
              </a:rPr>
              <a:t>Moulave</a:t>
            </a:r>
            <a:r>
              <a:rPr lang="en-US" sz="2000" dirty="0">
                <a:hlinkClick r:id="rId5"/>
              </a:rPr>
              <a:t>, and Sander, 2013</a:t>
            </a:r>
            <a:r>
              <a:rPr lang="en-US" sz="2000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DE76FA5-A9D8-E496-DC9A-02092EC358DE}"/>
                  </a:ext>
                </a:extLst>
              </p:cNvPr>
              <p:cNvSpPr txBox="1"/>
              <p:nvPr/>
            </p:nvSpPr>
            <p:spPr>
              <a:xfrm>
                <a:off x="158571" y="3641991"/>
                <a:ext cx="584022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914400" lvl="1" indent="-457200">
                  <a:buFont typeface="+mj-lt"/>
                  <a:buAutoNum type="arabicPeriod" startAt="2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𝑏𝑖𝑟𝑡h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4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m:rPr>
                        <m:nor/>
                      </m:rPr>
                      <a:rPr lang="en-US" sz="24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_</m:t>
                    </m:r>
                    <m:r>
                      <m:rPr>
                        <m:nor/>
                      </m:rPr>
                      <a:rPr lang="en-US" sz="24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𝑑𝑒𝑎𝑡</m:t>
                    </m:r>
                    <m:r>
                      <m:rPr>
                        <m:nor/>
                      </m:rPr>
                      <a:rPr lang="en-US" sz="24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r>
                      <m:rPr>
                        <m:nor/>
                      </m:rPr>
                      <a:rPr lang="en-US" sz="24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(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nor/>
                      </m:rPr>
                      <a:rPr lang="en-US" sz="24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1428750" lvl="2" indent="-5143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Component,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, is split in two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DE76FA5-A9D8-E496-DC9A-02092EC35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571" y="3641991"/>
                <a:ext cx="5840224" cy="830997"/>
              </a:xfrm>
              <a:prstGeom prst="rect">
                <a:avLst/>
              </a:prstGeom>
              <a:blipFill>
                <a:blip r:embed="rId6"/>
                <a:stretch>
                  <a:fillRect t="-5839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BD45538-7E2C-B1CB-0BD3-C29E1F4B6176}"/>
                  </a:ext>
                </a:extLst>
              </p:cNvPr>
              <p:cNvSpPr txBox="1"/>
              <p:nvPr/>
            </p:nvSpPr>
            <p:spPr>
              <a:xfrm>
                <a:off x="559918" y="5256191"/>
                <a:ext cx="537785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971550" lvl="1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𝑏𝑖𝑟𝑡h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𝑑𝑒𝑎𝑡h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sz="2400" dirty="0"/>
              </a:p>
              <a:p>
                <a:pPr marL="1428750" lvl="2" indent="-5143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Component,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/>
                  <a:t>, is split in two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BD45538-7E2C-B1CB-0BD3-C29E1F4B6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18" y="5256191"/>
                <a:ext cx="5377858" cy="830997"/>
              </a:xfrm>
              <a:prstGeom prst="rect">
                <a:avLst/>
              </a:prstGeom>
              <a:blipFill>
                <a:blip r:embed="rId7"/>
                <a:stretch>
                  <a:fillRect t="-6569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FF091E4-A132-0966-C221-3C922CF9E641}"/>
                  </a:ext>
                </a:extLst>
              </p:cNvPr>
              <p:cNvSpPr txBox="1"/>
              <p:nvPr/>
            </p:nvSpPr>
            <p:spPr>
              <a:xfrm>
                <a:off x="328735" y="1836922"/>
                <a:ext cx="5840224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971550" lvl="1" indent="-514350">
                  <a:buFont typeface="+mj-lt"/>
                  <a:buAutoNum type="arabicPeriod" startAt="3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4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m:rPr>
                        <m:nor/>
                      </m:rPr>
                      <a:rPr lang="en-US" sz="24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_</m:t>
                    </m:r>
                    <m:r>
                      <m:rPr>
                        <m:nor/>
                      </m:rPr>
                      <a:rPr lang="en-US" sz="24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𝑑𝑒𝑎𝑡</m:t>
                    </m:r>
                    <m:r>
                      <m:rPr>
                        <m:nor/>
                      </m:rPr>
                      <a:rPr lang="en-US" sz="24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r>
                      <m:rPr>
                        <m:nor/>
                      </m:rPr>
                      <a:rPr lang="en-US" sz="24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(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m:rPr>
                        <m:nor/>
                      </m:rPr>
                      <a:rPr lang="en-US" sz="24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𝑐𝑙𝑢𝑠𝑡𝑒𝑟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𝑠𝑖𝑧𝑒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 lvl="2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𝑐𝑙𝑢𝑠𝑡𝑒𝑟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𝑠𝑖𝑧𝑒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FF091E4-A132-0966-C221-3C922CF9E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735" y="1836922"/>
                <a:ext cx="5840224" cy="1200329"/>
              </a:xfrm>
              <a:prstGeom prst="rect">
                <a:avLst/>
              </a:prstGeom>
              <a:blipFill>
                <a:blip r:embed="rId8"/>
                <a:stretch>
                  <a:fillRect t="-4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9356478-BA35-5DD7-8F92-21B5C80DF1AA}"/>
              </a:ext>
            </a:extLst>
          </p:cNvPr>
          <p:cNvCxnSpPr>
            <a:cxnSpLocks/>
          </p:cNvCxnSpPr>
          <p:nvPr/>
        </p:nvCxnSpPr>
        <p:spPr>
          <a:xfrm>
            <a:off x="3760922" y="2054836"/>
            <a:ext cx="3564610" cy="209305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358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  <p:bldP spid="16" grpId="0"/>
      <p:bldP spid="17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09A85-2423-0FF8-F357-9C29B7A71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1D659-E95F-C81F-3570-0CCDD5259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950A8E5-8247-0E7B-7C23-7CAD323FD763}"/>
                  </a:ext>
                </a:extLst>
              </p:cNvPr>
              <p:cNvSpPr txBox="1"/>
              <p:nvPr/>
            </p:nvSpPr>
            <p:spPr>
              <a:xfrm>
                <a:off x="584200" y="1157288"/>
                <a:ext cx="10993033" cy="47850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Flat cluster models </a:t>
                </a:r>
                <a:r>
                  <a:rPr lang="en-US" sz="2800" dirty="0"/>
                  <a:t>extracted from HDBSCAN for any value of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800" dirty="0"/>
                  <a:t>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A flat cluster model assigns each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/>
                  <a:t>, to one unique cluster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Optimal clusters are formed by maximizing global stability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8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𝜅</m:t>
                                  </m:r>
                                </m:sub>
                              </m:sSub>
                            </m:lim>
                          </m:limLow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fName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=2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𝜅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en-US" sz="2800" dirty="0"/>
              </a:p>
              <a:p>
                <a:pPr lvl="1"/>
                <a:r>
                  <a:rPr lang="en-US" sz="2800" dirty="0"/>
                  <a:t>Where,</a:t>
                </a:r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sz="2800" dirty="0"/>
                  <a:t> is the indicator of the presence or absence of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800" dirty="0"/>
                  <a:t> in the model</a:t>
                </a:r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And subject to a constraint that each point,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/>
                  <a:t>, is only in one cluster</a:t>
                </a:r>
              </a:p>
              <a:p>
                <a:pPr lvl="1"/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950A8E5-8247-0E7B-7C23-7CAD323FD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0" y="1157288"/>
                <a:ext cx="10993033" cy="4785028"/>
              </a:xfrm>
              <a:prstGeom prst="rect">
                <a:avLst/>
              </a:prstGeom>
              <a:blipFill>
                <a:blip r:embed="rId3"/>
                <a:stretch>
                  <a:fillRect l="-1165" t="-12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732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B4ECF-C834-7DB7-2048-7A0E49A0E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63746C4F-2EC8-51CE-188E-02C676028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4142" y="1958225"/>
            <a:ext cx="5377858" cy="43463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4C1C5D-57C2-6971-5F7D-8C498FF8A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6868FD-BC03-D9BE-FE4B-89BF1EC344EC}"/>
                  </a:ext>
                </a:extLst>
              </p:cNvPr>
              <p:cNvSpPr txBox="1"/>
              <p:nvPr/>
            </p:nvSpPr>
            <p:spPr>
              <a:xfrm>
                <a:off x="584200" y="889241"/>
                <a:ext cx="1134432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Flat cluster models </a:t>
                </a:r>
                <a:r>
                  <a:rPr lang="en-US" sz="2800" dirty="0"/>
                  <a:t>extracted from HDBSCAN for any value of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6868FD-BC03-D9BE-FE4B-89BF1EC34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0" y="889241"/>
                <a:ext cx="11344328" cy="523220"/>
              </a:xfrm>
              <a:prstGeom prst="rect">
                <a:avLst/>
              </a:prstGeom>
              <a:blipFill>
                <a:blip r:embed="rId4"/>
                <a:stretch>
                  <a:fillRect l="-1128" t="-11628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AB81245-29EE-C0B4-80C8-DC990DE42BE0}"/>
              </a:ext>
            </a:extLst>
          </p:cNvPr>
          <p:cNvCxnSpPr>
            <a:cxnSpLocks/>
          </p:cNvCxnSpPr>
          <p:nvPr/>
        </p:nvCxnSpPr>
        <p:spPr>
          <a:xfrm flipV="1">
            <a:off x="5052447" y="4281013"/>
            <a:ext cx="2862021" cy="70723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0A770B9-3F78-A17D-21E9-714513C594B1}"/>
              </a:ext>
            </a:extLst>
          </p:cNvPr>
          <p:cNvCxnSpPr>
            <a:cxnSpLocks/>
          </p:cNvCxnSpPr>
          <p:nvPr/>
        </p:nvCxnSpPr>
        <p:spPr>
          <a:xfrm flipV="1">
            <a:off x="5507064" y="5109275"/>
            <a:ext cx="1932756" cy="42362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6C5E849-74DB-D21C-F4B0-6F13613CCACB}"/>
              </a:ext>
            </a:extLst>
          </p:cNvPr>
          <p:cNvSpPr txBox="1"/>
          <p:nvPr/>
        </p:nvSpPr>
        <p:spPr>
          <a:xfrm>
            <a:off x="6276814" y="6304605"/>
            <a:ext cx="58046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000" dirty="0">
                <a:hlinkClick r:id="rId5"/>
              </a:rPr>
              <a:t>figure from Campello, </a:t>
            </a:r>
            <a:r>
              <a:rPr lang="en-US" sz="2000" dirty="0" err="1">
                <a:hlinkClick r:id="rId5"/>
              </a:rPr>
              <a:t>Moulave</a:t>
            </a:r>
            <a:r>
              <a:rPr lang="en-US" sz="2000" dirty="0">
                <a:hlinkClick r:id="rId5"/>
              </a:rPr>
              <a:t>, and Sander, 2013</a:t>
            </a:r>
            <a:r>
              <a:rPr lang="en-US" sz="2000" dirty="0"/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036E0D-1D9E-91FD-6DBE-FFA94316F8F0}"/>
              </a:ext>
            </a:extLst>
          </p:cNvPr>
          <p:cNvSpPr txBox="1"/>
          <p:nvPr/>
        </p:nvSpPr>
        <p:spPr>
          <a:xfrm>
            <a:off x="113379" y="3936238"/>
            <a:ext cx="5840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71550" lvl="1" indent="-514350">
              <a:buFont typeface="+mj-lt"/>
              <a:buAutoNum type="arabicPeriod" startAt="2"/>
            </a:pPr>
            <a:r>
              <a:rPr lang="en-US" sz="2400" dirty="0"/>
              <a:t>In some cases, find larger </a:t>
            </a:r>
            <a:r>
              <a:rPr lang="en-US" sz="2400" dirty="0">
                <a:latin typeface="Cambria Math" panose="02040503050406030204" pitchFamily="18" charset="0"/>
              </a:rPr>
              <a:t>𝐽</a:t>
            </a:r>
            <a:r>
              <a:rPr lang="en-US" sz="2400" dirty="0"/>
              <a:t> by combining clusters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87B956C-C96E-056D-5437-921B7C89A854}"/>
                  </a:ext>
                </a:extLst>
              </p:cNvPr>
              <p:cNvSpPr txBox="1"/>
              <p:nvPr/>
            </p:nvSpPr>
            <p:spPr>
              <a:xfrm>
                <a:off x="559918" y="5256191"/>
                <a:ext cx="537785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971550" lvl="1" indent="-514350">
                  <a:buFont typeface="+mj-lt"/>
                  <a:buAutoNum type="arabicPeriod"/>
                </a:pPr>
                <a:r>
                  <a:rPr lang="en-US" sz="2400" dirty="0"/>
                  <a:t>Start computing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400" dirty="0"/>
                  <a:t> from leaves toward root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87B956C-C96E-056D-5437-921B7C89A8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18" y="5256191"/>
                <a:ext cx="5377858" cy="830997"/>
              </a:xfrm>
              <a:prstGeom prst="rect">
                <a:avLst/>
              </a:prstGeom>
              <a:blipFill>
                <a:blip r:embed="rId6"/>
                <a:stretch>
                  <a:fillRect t="-6569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B23F1C4-3E8B-7D98-8AFF-AEE6BF173A31}"/>
                  </a:ext>
                </a:extLst>
              </p:cNvPr>
              <p:cNvSpPr txBox="1"/>
              <p:nvPr/>
            </p:nvSpPr>
            <p:spPr>
              <a:xfrm>
                <a:off x="494050" y="2274236"/>
                <a:ext cx="584022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971550" lvl="1" indent="-514350">
                  <a:buFont typeface="+mj-lt"/>
                  <a:buAutoNum type="arabicPeriod" startAt="3"/>
                </a:pPr>
                <a:r>
                  <a:rPr lang="en-US" sz="2400" dirty="0"/>
                  <a:t>Top-down scan finds final set of clusters nearest root,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B23F1C4-3E8B-7D98-8AFF-AEE6BF173A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050" y="2274236"/>
                <a:ext cx="5840224" cy="830997"/>
              </a:xfrm>
              <a:prstGeom prst="rect">
                <a:avLst/>
              </a:prstGeom>
              <a:blipFill>
                <a:blip r:embed="rId7"/>
                <a:stretch>
                  <a:fillRect t="-6618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11ED892-B839-E4A9-8525-21608306733A}"/>
              </a:ext>
            </a:extLst>
          </p:cNvPr>
          <p:cNvCxnSpPr>
            <a:cxnSpLocks/>
          </p:cNvCxnSpPr>
          <p:nvPr/>
        </p:nvCxnSpPr>
        <p:spPr>
          <a:xfrm>
            <a:off x="5414075" y="2637177"/>
            <a:ext cx="5300420" cy="74476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5347E87-9940-52DE-256F-D5BF92DF1A3B}"/>
              </a:ext>
            </a:extLst>
          </p:cNvPr>
          <p:cNvCxnSpPr>
            <a:cxnSpLocks/>
          </p:cNvCxnSpPr>
          <p:nvPr/>
        </p:nvCxnSpPr>
        <p:spPr>
          <a:xfrm flipV="1">
            <a:off x="5507064" y="4406685"/>
            <a:ext cx="3538780" cy="112621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ABB1C6A-37AC-8A81-1D6B-CBEDC3CC0F4C}"/>
              </a:ext>
            </a:extLst>
          </p:cNvPr>
          <p:cNvCxnSpPr>
            <a:cxnSpLocks/>
          </p:cNvCxnSpPr>
          <p:nvPr/>
        </p:nvCxnSpPr>
        <p:spPr>
          <a:xfrm flipV="1">
            <a:off x="5563892" y="5109275"/>
            <a:ext cx="2898183" cy="42362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E7EFF83-E0B1-A542-2677-5772DAC2F8ED}"/>
              </a:ext>
            </a:extLst>
          </p:cNvPr>
          <p:cNvCxnSpPr>
            <a:cxnSpLocks/>
          </p:cNvCxnSpPr>
          <p:nvPr/>
        </p:nvCxnSpPr>
        <p:spPr>
          <a:xfrm flipV="1">
            <a:off x="5052447" y="3065291"/>
            <a:ext cx="2934346" cy="127104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7CB8388-36E6-5A25-A955-A9C067F93B66}"/>
              </a:ext>
            </a:extLst>
          </p:cNvPr>
          <p:cNvCxnSpPr>
            <a:cxnSpLocks/>
          </p:cNvCxnSpPr>
          <p:nvPr/>
        </p:nvCxnSpPr>
        <p:spPr>
          <a:xfrm>
            <a:off x="5336583" y="2621781"/>
            <a:ext cx="4339580" cy="76803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3B325E2-6EE0-7F92-7CEB-6CC374F9A0C2}"/>
              </a:ext>
            </a:extLst>
          </p:cNvPr>
          <p:cNvCxnSpPr>
            <a:cxnSpLocks/>
          </p:cNvCxnSpPr>
          <p:nvPr/>
        </p:nvCxnSpPr>
        <p:spPr>
          <a:xfrm>
            <a:off x="5414075" y="2629304"/>
            <a:ext cx="2397758" cy="120654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2129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  <p:bldP spid="16" grpId="0"/>
      <p:bldP spid="17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7DAF7-7DCF-8165-9618-D2949E494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1FDE9D-E07C-1E0D-665B-540A62753E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3522" y="1227057"/>
            <a:ext cx="6109305" cy="42055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F90851-0364-83B6-A779-88668D23A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2349FC-FC3E-743A-38C0-6FD1D97C0420}"/>
                  </a:ext>
                </a:extLst>
              </p:cNvPr>
              <p:cNvSpPr txBox="1"/>
              <p:nvPr/>
            </p:nvSpPr>
            <p:spPr>
              <a:xfrm>
                <a:off x="584201" y="1157288"/>
                <a:ext cx="5511800" cy="29854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Flat cluster models </a:t>
                </a:r>
                <a:r>
                  <a:rPr lang="en-US" sz="2800" dirty="0"/>
                  <a:t>extracted from HDBSCAN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Plot optimal clusters with maximum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800" dirty="0"/>
                  <a:t> on the condensed dendrogram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800" dirty="0"/>
              </a:p>
              <a:p>
                <a:pPr algn="ctr"/>
                <a:r>
                  <a:rPr lang="en-US" sz="2000" dirty="0">
                    <a:hlinkClick r:id="rId4"/>
                  </a:rPr>
                  <a:t>Illustration from HDBSCAN documentation</a:t>
                </a:r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2349FC-FC3E-743A-38C0-6FD1D97C04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1" y="1157288"/>
                <a:ext cx="5511800" cy="2985433"/>
              </a:xfrm>
              <a:prstGeom prst="rect">
                <a:avLst/>
              </a:prstGeom>
              <a:blipFill>
                <a:blip r:embed="rId5"/>
                <a:stretch>
                  <a:fillRect l="-2323" t="-2041" b="-26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02C5CC8-29A7-4AA2-4C30-3E1A0A92FB97}"/>
              </a:ext>
            </a:extLst>
          </p:cNvPr>
          <p:cNvCxnSpPr>
            <a:cxnSpLocks/>
          </p:cNvCxnSpPr>
          <p:nvPr/>
        </p:nvCxnSpPr>
        <p:spPr>
          <a:xfrm flipV="1">
            <a:off x="5455403" y="2070257"/>
            <a:ext cx="3705222" cy="62644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C93290E-19FE-12E2-E838-75DC91F5F598}"/>
              </a:ext>
            </a:extLst>
          </p:cNvPr>
          <p:cNvCxnSpPr>
            <a:cxnSpLocks/>
          </p:cNvCxnSpPr>
          <p:nvPr/>
        </p:nvCxnSpPr>
        <p:spPr>
          <a:xfrm>
            <a:off x="5455403" y="2696705"/>
            <a:ext cx="2035444" cy="87823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240CF0E-0E5C-DCD2-F471-F67D10104970}"/>
              </a:ext>
            </a:extLst>
          </p:cNvPr>
          <p:cNvCxnSpPr>
            <a:cxnSpLocks/>
          </p:cNvCxnSpPr>
          <p:nvPr/>
        </p:nvCxnSpPr>
        <p:spPr>
          <a:xfrm flipV="1">
            <a:off x="5455403" y="2070257"/>
            <a:ext cx="1637655" cy="62644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22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7D2E4-9970-E2E2-9EF2-6AD58A6D7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2C89E-310F-946A-4750-28A7DF416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FA561-E9AF-065A-AE6A-06CBD3C9306C}"/>
              </a:ext>
            </a:extLst>
          </p:cNvPr>
          <p:cNvSpPr txBox="1"/>
          <p:nvPr/>
        </p:nvSpPr>
        <p:spPr>
          <a:xfrm>
            <a:off x="584200" y="1157288"/>
            <a:ext cx="10993033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HDBSCAN has key hyperparameters  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b="1" i="1" dirty="0" err="1"/>
              <a:t>min_cluster_size</a:t>
            </a:r>
            <a:r>
              <a:rPr lang="en-US" sz="2800" dirty="0"/>
              <a:t> defines the smallest cluster that can be formed  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Large </a:t>
            </a:r>
            <a:r>
              <a:rPr lang="en-US" sz="2400" i="1" dirty="0" err="1"/>
              <a:t>min_cluster_size</a:t>
            </a:r>
            <a:r>
              <a:rPr lang="en-US" sz="2400" dirty="0"/>
              <a:t> forms larger clusters which may lose details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Small </a:t>
            </a:r>
            <a:r>
              <a:rPr lang="en-US" sz="2400" i="1" dirty="0" err="1"/>
              <a:t>min_cluster_size</a:t>
            </a:r>
            <a:r>
              <a:rPr lang="en-US" sz="2400" dirty="0"/>
              <a:t> can result in small clusters or fragmentation  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Small </a:t>
            </a:r>
            <a:r>
              <a:rPr lang="en-US" sz="2400" i="1" dirty="0" err="1"/>
              <a:t>min_cluster_size</a:t>
            </a:r>
            <a:r>
              <a:rPr lang="en-US" sz="2400" dirty="0"/>
              <a:t> creates deep hierarchy, </a:t>
            </a:r>
            <a:r>
              <a:rPr lang="en-US" sz="2400" b="1" dirty="0"/>
              <a:t>slowing execution 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The HDBSCAN package uses a </a:t>
            </a:r>
            <a:r>
              <a:rPr lang="en-US" sz="2400" b="1" dirty="0"/>
              <a:t>very small default value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min_cluster_size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=5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b="1" i="1" dirty="0" err="1"/>
              <a:t>min_samples</a:t>
            </a:r>
            <a:r>
              <a:rPr lang="en-US" sz="2800" b="1" i="1" dirty="0"/>
              <a:t> </a:t>
            </a:r>
            <a:r>
              <a:rPr lang="en-US" sz="2800" dirty="0"/>
              <a:t>defines the minimum local density required to form clusters 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Large </a:t>
            </a:r>
            <a:r>
              <a:rPr lang="en-US" sz="2400" dirty="0" err="1"/>
              <a:t>min_samples</a:t>
            </a:r>
            <a:r>
              <a:rPr lang="en-US" sz="2400" dirty="0"/>
              <a:t> prevents cluster fragmentation, resulting in more un-clustered points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Small </a:t>
            </a:r>
            <a:r>
              <a:rPr lang="en-US" sz="2400" dirty="0" err="1"/>
              <a:t>min_samples</a:t>
            </a:r>
            <a:r>
              <a:rPr lang="en-US" sz="2400" dirty="0"/>
              <a:t> allows more detailed partitioning of space 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The default in HDBSCAN is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min_samples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min_cluster_size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18384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412AC-4AF5-F472-6878-A0164A9E0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6128D-7DE8-C5D8-6F70-8103CD207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5C2C0A-F80F-39FA-98F8-9227C81843A1}"/>
              </a:ext>
            </a:extLst>
          </p:cNvPr>
          <p:cNvSpPr txBox="1"/>
          <p:nvPr/>
        </p:nvSpPr>
        <p:spPr>
          <a:xfrm>
            <a:off x="584200" y="1157288"/>
            <a:ext cx="10993033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HDBSCAN has key hyperparameters  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b="1" i="1" dirty="0" err="1"/>
              <a:t>cluster_selection_epsilon</a:t>
            </a:r>
            <a:r>
              <a:rPr lang="en-US" sz="2800" b="1" i="1" dirty="0"/>
              <a:t> </a:t>
            </a:r>
            <a:r>
              <a:rPr lang="en-US" sz="2800" dirty="0"/>
              <a:t>determines the maximum distance at which clusters can be merged 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800" i="1" dirty="0" err="1"/>
              <a:t>cluster_selection_epsilon</a:t>
            </a:r>
            <a:r>
              <a:rPr lang="en-US" sz="2800" i="1" dirty="0"/>
              <a:t> </a:t>
            </a:r>
            <a:r>
              <a:rPr lang="en-US" sz="2800" dirty="0"/>
              <a:t>limits chaining behavior in cluster formation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800" dirty="0"/>
              <a:t>Default value is </a:t>
            </a:r>
            <a:r>
              <a:rPr lang="en-US" sz="2800" b="1" i="1" dirty="0" err="1"/>
              <a:t>cluster_selection_epsilon</a:t>
            </a:r>
            <a:r>
              <a:rPr lang="en-US" sz="2800" b="1" i="1" dirty="0"/>
              <a:t> = 0</a:t>
            </a:r>
            <a:r>
              <a:rPr lang="en-US" sz="2800" dirty="0"/>
              <a:t>, clusters are merged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b="1" i="1" dirty="0"/>
              <a:t>metric </a:t>
            </a:r>
            <a:r>
              <a:rPr lang="en-US" sz="2800" dirty="0"/>
              <a:t>– </a:t>
            </a:r>
            <a:r>
              <a:rPr lang="en-US" sz="2800" b="1" dirty="0">
                <a:solidFill>
                  <a:srgbClr val="C00000"/>
                </a:solidFill>
              </a:rPr>
              <a:t>Don’t forget that many problems are non-Euclidean the default! 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dirty="0"/>
              <a:t>You can find more guidance on model hyperparameters in the </a:t>
            </a:r>
            <a:r>
              <a:rPr lang="en-US" sz="2800" dirty="0">
                <a:hlinkClick r:id="rId3"/>
              </a:rPr>
              <a:t>HDBSCAN documentation</a:t>
            </a:r>
            <a:endParaRPr lang="en-US" sz="2800" dirty="0"/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800" dirty="0"/>
              <a:t>The full set of hyperparameters can be found in the </a:t>
            </a:r>
            <a:r>
              <a:rPr lang="en-US" sz="2800" dirty="0">
                <a:hlinkClick r:id="rId4"/>
              </a:rPr>
              <a:t>API documentation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6520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E37B7-3482-B7A8-AD79-BBBF5F411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A3809-208E-5B41-7A73-DA2EDE34BE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3612978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09EA6F-F7FE-7869-35DA-F9CB417A71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184" y="459782"/>
            <a:ext cx="9207893" cy="63336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166F47D-7A89-84A2-2E6A-56D638FD92FB}"/>
              </a:ext>
            </a:extLst>
          </p:cNvPr>
          <p:cNvSpPr txBox="1"/>
          <p:nvPr/>
        </p:nvSpPr>
        <p:spPr>
          <a:xfrm>
            <a:off x="506278" y="5712678"/>
            <a:ext cx="2050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Scikit-Learn Clustering User Guide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6698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6F47D-7A89-84A2-2E6A-56D638FD92FB}"/>
              </a:ext>
            </a:extLst>
          </p:cNvPr>
          <p:cNvSpPr txBox="1"/>
          <p:nvPr/>
        </p:nvSpPr>
        <p:spPr>
          <a:xfrm>
            <a:off x="1650376" y="5712678"/>
            <a:ext cx="2050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From Scikit-Learn Clustering User Guide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C6EBE4-A7F1-6377-9314-48C738530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7496" y="221992"/>
            <a:ext cx="6195005" cy="654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96997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Unsupervised learning methods </a:t>
            </a:r>
            <a:r>
              <a:rPr lang="en-US" sz="2800" b="1" dirty="0">
                <a:latin typeface="+mn-lt"/>
              </a:rPr>
              <a:t>learn structure of data</a:t>
            </a:r>
            <a:endParaRPr lang="en-US" b="1" dirty="0">
              <a:latin typeface="+mn-lt"/>
            </a:endParaRPr>
          </a:p>
          <a:p>
            <a:pPr lvl="1"/>
            <a:r>
              <a:rPr lang="en-US" sz="2800" dirty="0">
                <a:latin typeface="+mn-lt"/>
              </a:rPr>
              <a:t>Structure is learned by determining </a:t>
            </a:r>
            <a:r>
              <a:rPr lang="en-US" sz="2800" b="1" dirty="0">
                <a:latin typeface="+mn-lt"/>
              </a:rPr>
              <a:t>similarity</a:t>
            </a:r>
            <a:r>
              <a:rPr lang="en-US" sz="2800" dirty="0">
                <a:latin typeface="+mn-lt"/>
              </a:rPr>
              <a:t> between cases</a:t>
            </a:r>
          </a:p>
          <a:p>
            <a:pPr lvl="1"/>
            <a:r>
              <a:rPr lang="en-US" sz="2800" dirty="0">
                <a:latin typeface="+mn-lt"/>
              </a:rPr>
              <a:t>Similarity based on </a:t>
            </a:r>
            <a:r>
              <a:rPr lang="en-US" sz="2800" b="1" dirty="0">
                <a:latin typeface="+mn-lt"/>
              </a:rPr>
              <a:t>measures of proximity, distance or dissimilarity</a:t>
            </a:r>
            <a:endParaRPr lang="en-US" sz="2800" dirty="0">
              <a:latin typeface="+mn-lt"/>
            </a:endParaRPr>
          </a:p>
          <a:p>
            <a:r>
              <a:rPr lang="en-US" dirty="0">
                <a:latin typeface="+mn-lt"/>
              </a:rPr>
              <a:t>Clustering algorithms are </a:t>
            </a:r>
            <a:r>
              <a:rPr lang="en-US" b="1" dirty="0">
                <a:latin typeface="+mn-lt"/>
              </a:rPr>
              <a:t>core</a:t>
            </a:r>
            <a:r>
              <a:rPr lang="en-US" dirty="0">
                <a:latin typeface="+mn-lt"/>
              </a:rPr>
              <a:t>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Data mining seeks to find interesting relationships in data</a:t>
            </a:r>
          </a:p>
          <a:p>
            <a:pPr lvl="1"/>
            <a:r>
              <a:rPr lang="en-US" dirty="0">
                <a:latin typeface="+mn-lt"/>
              </a:rPr>
              <a:t>We have already encountered feature importance as a data mining method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97551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distance or dissimilarity metrics</a:t>
            </a:r>
          </a:p>
          <a:p>
            <a:pPr lvl="1"/>
            <a:r>
              <a:rPr lang="en-US" sz="2800" dirty="0">
                <a:latin typeface="+mn-lt"/>
              </a:rPr>
              <a:t>Structure based on distance metrics</a:t>
            </a:r>
          </a:p>
          <a:p>
            <a:pPr lvl="1"/>
            <a:r>
              <a:rPr lang="en-US" sz="2800" dirty="0">
                <a:latin typeface="+mn-lt"/>
              </a:rPr>
              <a:t>Different algorithms use different metrics</a:t>
            </a:r>
          </a:p>
          <a:p>
            <a:pPr lvl="1"/>
            <a:r>
              <a:rPr lang="en-US" sz="2800" dirty="0">
                <a:latin typeface="+mn-lt"/>
              </a:rPr>
              <a:t>Metric can matter more than choice of algorithm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Good clusters have two properties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We what the clusters to be small with members close to each other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We want the clusters are well separated, a closeness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35088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7516" y="0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8223EED3-7B46-4411-92AD-9FC6754A0B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2004600"/>
                  </p:ext>
                </p:extLst>
              </p:nvPr>
            </p:nvGraphicFramePr>
            <p:xfrm>
              <a:off x="386640" y="566515"/>
              <a:ext cx="11630025" cy="5516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00251">
                      <a:extLst>
                        <a:ext uri="{9D8B030D-6E8A-4147-A177-3AD203B41FA5}">
                          <a16:colId xmlns:a16="http://schemas.microsoft.com/office/drawing/2014/main" val="1757814776"/>
                        </a:ext>
                      </a:extLst>
                    </a:gridCol>
                    <a:gridCol w="2157413">
                      <a:extLst>
                        <a:ext uri="{9D8B030D-6E8A-4147-A177-3AD203B41FA5}">
                          <a16:colId xmlns:a16="http://schemas.microsoft.com/office/drawing/2014/main" val="4041575726"/>
                        </a:ext>
                      </a:extLst>
                    </a:gridCol>
                    <a:gridCol w="1746959">
                      <a:extLst>
                        <a:ext uri="{9D8B030D-6E8A-4147-A177-3AD203B41FA5}">
                          <a16:colId xmlns:a16="http://schemas.microsoft.com/office/drawing/2014/main" val="1232253116"/>
                        </a:ext>
                      </a:extLst>
                    </a:gridCol>
                    <a:gridCol w="2914650">
                      <a:extLst>
                        <a:ext uri="{9D8B030D-6E8A-4147-A177-3AD203B41FA5}">
                          <a16:colId xmlns:a16="http://schemas.microsoft.com/office/drawing/2014/main" val="774572399"/>
                        </a:ext>
                      </a:extLst>
                    </a:gridCol>
                    <a:gridCol w="2810752">
                      <a:extLst>
                        <a:ext uri="{9D8B030D-6E8A-4147-A177-3AD203B41FA5}">
                          <a16:colId xmlns:a16="http://schemas.microsoft.com/office/drawing/2014/main" val="227898212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Algorithm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 characteristic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Characteristics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Scalability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06745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K-means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Maximizes cluster compactness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Need to find k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Assumes equal variance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high,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oMath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Mini-batch high, O(n log(n))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381197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Agglomerative hierarchical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Clusters into dendrogram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Hierarchical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low,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low,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46684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Spectral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Minimum energy graph partition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Scalable with sparse graph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low to medium - O(n) to O(n log(n))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756776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DBSCAN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Uniform density 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high, O(n log(n)), out 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2039939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OPTICS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Hierarchal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Variable density–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to medium, O(n log(n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)) to O(n</a:t>
                          </a:r>
                          <a:r>
                            <a:rPr lang="en-US" sz="2000" baseline="3000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), </a:t>
                          </a: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out 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499493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HDBSCAN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Hierarchical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Scalable with sparse graph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with correct hyperparameters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053462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8223EED3-7B46-4411-92AD-9FC6754A0B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2004600"/>
                  </p:ext>
                </p:extLst>
              </p:nvPr>
            </p:nvGraphicFramePr>
            <p:xfrm>
              <a:off x="386640" y="566515"/>
              <a:ext cx="11630025" cy="5516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00251">
                      <a:extLst>
                        <a:ext uri="{9D8B030D-6E8A-4147-A177-3AD203B41FA5}">
                          <a16:colId xmlns:a16="http://schemas.microsoft.com/office/drawing/2014/main" val="1757814776"/>
                        </a:ext>
                      </a:extLst>
                    </a:gridCol>
                    <a:gridCol w="2157413">
                      <a:extLst>
                        <a:ext uri="{9D8B030D-6E8A-4147-A177-3AD203B41FA5}">
                          <a16:colId xmlns:a16="http://schemas.microsoft.com/office/drawing/2014/main" val="4041575726"/>
                        </a:ext>
                      </a:extLst>
                    </a:gridCol>
                    <a:gridCol w="1746959">
                      <a:extLst>
                        <a:ext uri="{9D8B030D-6E8A-4147-A177-3AD203B41FA5}">
                          <a16:colId xmlns:a16="http://schemas.microsoft.com/office/drawing/2014/main" val="1232253116"/>
                        </a:ext>
                      </a:extLst>
                    </a:gridCol>
                    <a:gridCol w="2914650">
                      <a:extLst>
                        <a:ext uri="{9D8B030D-6E8A-4147-A177-3AD203B41FA5}">
                          <a16:colId xmlns:a16="http://schemas.microsoft.com/office/drawing/2014/main" val="774572399"/>
                        </a:ext>
                      </a:extLst>
                    </a:gridCol>
                    <a:gridCol w="2810752">
                      <a:extLst>
                        <a:ext uri="{9D8B030D-6E8A-4147-A177-3AD203B41FA5}">
                          <a16:colId xmlns:a16="http://schemas.microsoft.com/office/drawing/2014/main" val="2278982121"/>
                        </a:ext>
                      </a:extLst>
                    </a:gridCol>
                  </a:tblGrid>
                  <a:tr h="7010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Algorithm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 characteristic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Characteristics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Scalability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0674545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K-means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Maximizes cluster compactness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Need to find k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Assumes equal variance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4317" t="-72727" r="-868" b="-3903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8119788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Agglomerative hierarchical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Clusters into dendrogram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Hierarchical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2505" t="-247826" r="-97077" b="-46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4317" t="-247826" r="-868" b="-46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94668411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Spectral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Minimum energy graph partition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Scalable with sparse graph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low to medium - O(n) to O(n log(n))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75677680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DBSCAN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Uniform density 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high, O(n log(n)), out 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20399394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OPTICS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Hierarchal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Variable density–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to medium, O(n log(n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)) to O(n</a:t>
                          </a:r>
                          <a:r>
                            <a:rPr lang="en-US" sz="2000" baseline="3000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), </a:t>
                          </a: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out 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4994939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HDBSCAN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Hierarchical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Scalable with sparse graph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with correct hyperparameters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053462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44464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25151</TotalTime>
  <Words>3550</Words>
  <Application>Microsoft Office PowerPoint</Application>
  <PresentationFormat>Widescreen</PresentationFormat>
  <Paragraphs>562</Paragraphs>
  <Slides>62</Slides>
  <Notes>53</Notes>
  <HiddenSlides>1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72" baseType="lpstr">
      <vt:lpstr>Arial</vt:lpstr>
      <vt:lpstr>Calibri</vt:lpstr>
      <vt:lpstr>Calibri Light</vt:lpstr>
      <vt:lpstr>Cambria Math</vt:lpstr>
      <vt:lpstr>Courier New</vt:lpstr>
      <vt:lpstr>Segoe UI</vt:lpstr>
      <vt:lpstr>Segoe UI Light</vt:lpstr>
      <vt:lpstr>Symbol</vt:lpstr>
      <vt:lpstr>Office Theme</vt:lpstr>
      <vt:lpstr>1_Office Theme</vt:lpstr>
      <vt:lpstr>CSCI E-96 Data Mining, Exploration and Discovery Introduction to Clustering Models Part 2</vt:lpstr>
      <vt:lpstr>Main topics in this course </vt:lpstr>
      <vt:lpstr>Algorithms for Non-Euclidean Spaces</vt:lpstr>
      <vt:lpstr>Graph-Based Clustering Models</vt:lpstr>
      <vt:lpstr>Graph Based Clustering Models </vt:lpstr>
      <vt:lpstr>Scaling distance and similarity measures</vt:lpstr>
      <vt:lpstr>Scaling distance and similarity measures</vt:lpstr>
      <vt:lpstr>Scaling distance and similarity measures</vt:lpstr>
      <vt:lpstr>Scaling distance and similarity measures</vt:lpstr>
      <vt:lpstr>Spectral Clustering Models</vt:lpstr>
      <vt:lpstr>Spectral Clustering </vt:lpstr>
      <vt:lpstr>Spectral Clustering </vt:lpstr>
      <vt:lpstr>Spectral Clustering </vt:lpstr>
      <vt:lpstr>Spectral Clustering </vt:lpstr>
      <vt:lpstr>Spectral Clustering </vt:lpstr>
      <vt:lpstr>Spectral Clustering </vt:lpstr>
      <vt:lpstr>Spectral Clustering </vt:lpstr>
      <vt:lpstr>Density-Based Clustering Models</vt:lpstr>
      <vt:lpstr>Density Clustering </vt:lpstr>
      <vt:lpstr>Density Clustering </vt:lpstr>
      <vt:lpstr>Density Clustering </vt:lpstr>
      <vt:lpstr>Density Clustering </vt:lpstr>
      <vt:lpstr>DBSCAN Algorithm</vt:lpstr>
      <vt:lpstr>DBSCAN Algorithm</vt:lpstr>
      <vt:lpstr>DBSCAN Algorithm</vt:lpstr>
      <vt:lpstr>DBSCAN Algorithm</vt:lpstr>
      <vt:lpstr>DBSCAN Algorithm</vt:lpstr>
      <vt:lpstr>DBSCAN Algorithm</vt:lpstr>
      <vt:lpstr>DBSCAN Algorithm</vt:lpstr>
      <vt:lpstr>Density-Based Clustering with OPTICS</vt:lpstr>
      <vt:lpstr>OPTICS Algorithm</vt:lpstr>
      <vt:lpstr>OPTICS Algorithm</vt:lpstr>
      <vt:lpstr>OPTICS Algorithm</vt:lpstr>
      <vt:lpstr>OPTICS Algorithms</vt:lpstr>
      <vt:lpstr>OPTICS Algorithm</vt:lpstr>
      <vt:lpstr>OPTICS Algorithm</vt:lpstr>
      <vt:lpstr>OPTICS Algorithm</vt:lpstr>
      <vt:lpstr>OPTICS Algorithm</vt:lpstr>
      <vt:lpstr>Density-Based Clustering with Hierarchical DBSCAN - HDBSCAN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Summary</vt:lpstr>
      <vt:lpstr>Summary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928</cp:revision>
  <dcterms:created xsi:type="dcterms:W3CDTF">2020-07-25T22:15:22Z</dcterms:created>
  <dcterms:modified xsi:type="dcterms:W3CDTF">2026-07-23T01:49:33Z</dcterms:modified>
</cp:coreProperties>
</file>