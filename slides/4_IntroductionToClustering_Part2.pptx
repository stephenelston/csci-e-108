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8" r:id="rId2"/>
  </p:sldMasterIdLst>
  <p:notesMasterIdLst>
    <p:notesMasterId r:id="rId65"/>
  </p:notesMasterIdLst>
  <p:sldIdLst>
    <p:sldId id="275" r:id="rId3"/>
    <p:sldId id="819" r:id="rId4"/>
    <p:sldId id="764" r:id="rId5"/>
    <p:sldId id="717" r:id="rId6"/>
    <p:sldId id="676" r:id="rId7"/>
    <p:sldId id="726" r:id="rId8"/>
    <p:sldId id="729" r:id="rId9"/>
    <p:sldId id="730" r:id="rId10"/>
    <p:sldId id="731" r:id="rId11"/>
    <p:sldId id="734" r:id="rId12"/>
    <p:sldId id="759" r:id="rId13"/>
    <p:sldId id="704" r:id="rId14"/>
    <p:sldId id="700" r:id="rId15"/>
    <p:sldId id="701" r:id="rId16"/>
    <p:sldId id="702" r:id="rId17"/>
    <p:sldId id="703" r:id="rId18"/>
    <p:sldId id="648" r:id="rId19"/>
    <p:sldId id="733" r:id="rId20"/>
    <p:sldId id="698" r:id="rId21"/>
    <p:sldId id="774" r:id="rId22"/>
    <p:sldId id="727" r:id="rId23"/>
    <p:sldId id="728" r:id="rId24"/>
    <p:sldId id="775" r:id="rId25"/>
    <p:sldId id="650" r:id="rId26"/>
    <p:sldId id="649" r:id="rId27"/>
    <p:sldId id="776" r:id="rId28"/>
    <p:sldId id="651" r:id="rId29"/>
    <p:sldId id="652" r:id="rId30"/>
    <p:sldId id="767" r:id="rId31"/>
    <p:sldId id="765" r:id="rId32"/>
    <p:sldId id="653" r:id="rId33"/>
    <p:sldId id="756" r:id="rId34"/>
    <p:sldId id="757" r:id="rId35"/>
    <p:sldId id="656" r:id="rId36"/>
    <p:sldId id="654" r:id="rId37"/>
    <p:sldId id="657" r:id="rId38"/>
    <p:sldId id="820" r:id="rId39"/>
    <p:sldId id="758" r:id="rId40"/>
    <p:sldId id="699" r:id="rId41"/>
    <p:sldId id="766" r:id="rId42"/>
    <p:sldId id="768" r:id="rId43"/>
    <p:sldId id="769" r:id="rId44"/>
    <p:sldId id="770" r:id="rId45"/>
    <p:sldId id="773" r:id="rId46"/>
    <p:sldId id="781" r:id="rId47"/>
    <p:sldId id="780" r:id="rId48"/>
    <p:sldId id="782" r:id="rId49"/>
    <p:sldId id="778" r:id="rId50"/>
    <p:sldId id="779" r:id="rId51"/>
    <p:sldId id="784" r:id="rId52"/>
    <p:sldId id="786" r:id="rId53"/>
    <p:sldId id="783" r:id="rId54"/>
    <p:sldId id="785" r:id="rId55"/>
    <p:sldId id="777" r:id="rId56"/>
    <p:sldId id="789" r:id="rId57"/>
    <p:sldId id="788" r:id="rId58"/>
    <p:sldId id="787" r:id="rId59"/>
    <p:sldId id="662" r:id="rId60"/>
    <p:sldId id="762" r:id="rId61"/>
    <p:sldId id="760" r:id="rId62"/>
    <p:sldId id="663" r:id="rId63"/>
    <p:sldId id="669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00" autoAdjust="0"/>
    <p:restoredTop sz="94660"/>
  </p:normalViewPr>
  <p:slideViewPr>
    <p:cSldViewPr snapToGrid="0">
      <p:cViewPr varScale="1">
        <p:scale>
          <a:sx n="71" d="100"/>
          <a:sy n="71" d="100"/>
        </p:scale>
        <p:origin x="43" y="16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theme" Target="theme/theme1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66" Type="http://schemas.openxmlformats.org/officeDocument/2006/relationships/presProps" Target="presProps.xml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tableStyles" Target="tableStyle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viewProps" Target="view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460DB7-3564-4028-881B-4A225B453265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53DAB-225E-4C94-B4AB-0DAFDAA76F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604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36112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1902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1718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188372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1505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235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14344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60973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198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13587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1874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485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638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5015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26B7E6-3A54-072C-D558-74AAB7AD1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A85061-2B68-DBA2-5254-A6D265B813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E9137-B94D-9BAB-3E87-8FC4B25044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93A27A-1895-09D2-E7F8-4A331E4005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82602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8413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42974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09940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491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1E612-BBAE-7DF3-78E1-270668590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2FD181-BCCE-3C9E-7C7B-82873EF8DB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3148EBE-9880-891B-4DCB-FE9B9D348A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AA851-25CA-D4A5-F846-BC07F02A37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12479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41578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0462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19915-AA99-14C9-908B-42C579697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248C45-E599-F861-7292-C5D269C056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D99FD-C363-DC1F-8B81-9AF0DE738A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2C6B93-B8E1-6E95-CF55-3398B295842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072325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37206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824641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38587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28620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5997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721666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273BE-0ADF-4B13-2D4E-AA693644A8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70048E-DDB4-3076-8135-17A877E443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8B8E26-5205-E482-96AA-4EA7155D82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89A0BA-72B4-90DA-087C-59C7AD0ADA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48513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361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60527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580D71-17A1-BC77-A33B-44BF24926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05363E-F54B-35CA-2525-D2EA120628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849DD-2FD6-1DA4-12F9-ECCCC4E61E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B72610-C9BF-A495-FDB3-499152DF63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05969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309001-884F-A130-D1AA-DD33FC74E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2770B5-4DD0-75AD-A9D3-983113C89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8AD64-83F9-F403-195B-4F83370B64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E0A2AB-D64F-9841-9321-AFCD4A7F3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655826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F10030-7C84-7A72-C399-958D8A4CE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37F444-4829-961E-A6A4-5F159C4A79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D2432C-EA19-E015-395A-4C077017DA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79C473-FFF6-B8BE-43FB-B693DA1F57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578451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7AE2E-4D82-10E3-D4B2-D1BE6BEC9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70064D-B254-3FE8-8C71-75FC795C8A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7A6DE1-53F5-A7F9-4B92-349E0384B8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CCFDA8-B86B-775A-C35B-6082C6643A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96193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675CC0-63DD-8A6F-7619-9472558BD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8B2F26E-7502-498A-BAFA-48DD45BD3F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52D572-BA42-3F2A-B00A-1816869C31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DF33F-3E7F-8FA0-F9CB-406DC2844D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029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010CD-BA42-0DF0-C21C-B75AE4B00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2347E6-FA90-E803-39FE-C2108A936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BCD547-2F49-DB62-6CD0-F03BF880B2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23B9A0-0C39-F610-40E6-4084ABDB42A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3663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1DA3A-C730-0DCE-8B02-597E45386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6E1DB9-4FA9-FD1A-AD9E-A1AA59EE2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E8D2D2-7132-4D43-281A-AF2884CBC7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0B23D1-3BF7-85DA-F624-3200A16E63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220722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D831A-198E-28BF-D4C2-A372D6B42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C38F94-C75B-23E1-3F2A-2DCFD0361A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A31514-E47B-CF15-2A6A-7682D5FB01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C2B70E-3EAE-6B1A-7329-203DA013F1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4693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BC9BC-DB15-132D-EFCB-652FC7754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2503F4-458C-2A8D-F658-25B08AEB9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B75903-4499-692F-FA17-0EA4E0C38E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1F4E61-E046-FC52-27E1-CC9CD61018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15311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35D00-ABE2-8BB8-C6A9-9C5B96174E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932E47-72BA-18E6-95FA-2016605144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A4F64D-ACDC-84E1-A0DC-1E67C3E709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DE802C-8D9B-85FD-21E4-B28FE71F3C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49240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E5F21B-5525-2015-F95E-0226D7A38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A95F12-D591-D94D-8D09-872F44D736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8A4EC-3A36-DF91-5E1B-D6F153CB78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BF8093-4A37-3D46-969C-767F9EC33FC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19481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D7509-F6D2-F6C0-0E45-DE665DD1E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B93ACB-A58A-7431-8D4F-0E909568F1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F34A1B-E51C-4C7D-4892-5AE287B1CB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1AFC8B-80C1-49D4-1EED-24F23FB519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499123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82DC5-DD74-81A4-C90F-89C30BDA3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C9242D-0A82-CD16-547E-C3D4ED2E20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71EED6-8CE9-9FFA-3B71-22AFA25E15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87760-8B84-EB06-033A-98F4A921B5C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522912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819D81-5B85-6D31-F57E-F2759E212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1DE656-17DC-1350-E082-F662831B9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99FC7F-EE51-883D-47EA-E6689E3EDA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421BE-F617-C25F-D973-86DE2F39D3C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8612749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187B1C-43C7-9811-1815-62CA067A08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36EF48-52B2-4CC4-9352-2DCE0505F8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140C4E-1907-ECA3-C2EA-5FCAE4F70D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95DD6B-E20E-9DCB-E34D-9C15131EEAD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0579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E2E36C-ACDB-7F4B-FF7F-B62C38C0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CC8A632-8222-4F26-D500-F1631D8B3A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21FD83-D52B-B93F-5FC1-A77CF053F0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82383-9B7C-D502-7FA2-EFC8FFEE623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85067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76437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94948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321362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64039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CFD207A-07DF-40AD-A916-9872E089CE7A}" type="slidenum">
              <a:rPr lang="en-US" smtClean="0"/>
              <a:pPr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5212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C5912-CAA7-4FB7-965B-638681FFCE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C3D0E1-4B2E-4D02-B716-46C6957C2EB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8131D9-15AB-48BB-8030-6175A546A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4FABB9-0CC8-4432-925B-39F4593F57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FBD0F9-4858-496F-BEF5-699809086C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5812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5866E9-C3C0-48BB-817F-E7E1E3366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9DF04-827A-4ED9-A7C9-CED392FA0C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35C4C6-E792-4319-9E04-4F71ED953F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B080-AB8A-421E-8F0D-69D84EC87F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C587AB-3A54-4CD4-89FA-0FBC0F966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27206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161D9C-3FFC-41D3-A198-B22DC5C581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C99C15-240F-4D3C-AD19-127FB016E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2B87E9-2100-4242-B4CB-E46FEBE6EA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867874-A9A3-4444-AEA5-B0C2FA92E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9D42EC-871E-4097-966D-9E0CA0E2A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788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4FC38C-5C11-4496-8021-D48C6F3BA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EF58E-F443-4946-9A4B-A464F3D480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7CA899-E094-48B9-9B76-B701C9261B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214799-DB41-4C22-9EA1-F073A4C3CE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A33724-A031-46F9-80C9-7DDBA9910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2D850D-AB31-4191-AF92-22470AD9E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6555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E5B26F-CE03-4F26-ACA2-1ED1EA5C4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7CCA1B-F800-4A2F-AAE3-CEE1ABBB75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8DE177-5235-4882-AA01-3ECE06D5E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E47571-62F7-4D47-8D88-F2ACF4DDF0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81A0C0-4AE7-4352-B7C3-413D810291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37CF-787D-421F-9BCF-BE694F2C8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1DC48C-602E-4939-8349-51D56B3DB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7E9656-0087-4E23-BC8F-950C952D10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95780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C3D7-8634-48B6-8FB7-067081039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65D6755-34D7-4A06-AB10-27C7E465D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4AC4E-DD1A-4FA0-B432-BC904BF8A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33E03D-D14C-48DF-AABC-EDD1A1D72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1940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66FB963-D414-412C-B10C-6C29FE331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9C5DE7-18E4-40B9-B98D-04A22F32C9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C35D5-3E63-4B51-9F0E-920E73630E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478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19D0A-B97D-4DDD-BFD9-5A01EDADD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D9C32E-EC8D-4F8B-B815-339B90CA5A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5A288C-1BE4-497F-98B7-2E5077151A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B72D46-EAD4-415C-A624-2DB4438E62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16A0B4-5110-4D5C-8247-255820C643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6BEED2-7596-4C63-A4DC-15263A370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9604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05D6E-010D-46DE-B7B8-26F95CD65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5B9DBE-02E5-412E-B5E1-0EF016EDD2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5AC693-2794-4EE2-8CE4-2CF8398161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4D6179B-BD06-434D-88BE-2FCE997569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3289BE-7FA3-47F1-8A2E-0BC0355117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9843D9-897E-4FA7-A95A-7AFDDBA9F7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519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D696E-352C-49B2-9E02-5B7A7152E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0A0937-9F6F-4CE8-BAB0-DA6EA1A33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FF0085-FB03-4A5C-9D66-580A92FD7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7890D2-4DBA-44DB-B786-024024064C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80AECD-947A-4D5C-BC32-A0EFDBC4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899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59A070C-9203-44D4-9389-42F341A01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9AA0DB5-DBBA-4022-8560-ADA0E83213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E63C7A-C164-49A8-8A99-41A63CEFF3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70F653-49BF-4261-B3D3-C2246834A5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A5250-D0E5-442A-98E8-64DB2FF83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0358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045989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10"/>
          </p:nvPr>
        </p:nvSpPr>
        <p:spPr>
          <a:xfrm>
            <a:off x="379413" y="1388226"/>
            <a:ext cx="11525250" cy="5290388"/>
          </a:xfrm>
          <a:prstGeom prst="rect">
            <a:avLst/>
          </a:prstGeom>
        </p:spPr>
        <p:txBody>
          <a:bodyPr/>
          <a:lstStyle>
            <a:lvl1pPr>
              <a:spcBef>
                <a:spcPts val="1400"/>
              </a:spcBef>
              <a:defRPr b="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979367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2"/>
          <p:cNvSpPr>
            <a:spLocks noGrp="1"/>
          </p:cNvSpPr>
          <p:nvPr>
            <p:ph type="subTitle" idx="1"/>
          </p:nvPr>
        </p:nvSpPr>
        <p:spPr>
          <a:xfrm>
            <a:off x="193273" y="5132441"/>
            <a:ext cx="8409867" cy="1460779"/>
          </a:xfrm>
          <a:prstGeom prst="rect">
            <a:avLst/>
          </a:prstGeom>
        </p:spPr>
        <p:txBody>
          <a:bodyPr lIns="137160" tIns="137160" rIns="137160" bIns="137160" anchor="b" anchorCtr="0">
            <a:normAutofit/>
          </a:bodyPr>
          <a:lstStyle>
            <a:lvl1pPr marL="0" indent="0" algn="l" defTabSz="914052" rtl="0" eaLnBrk="1" latinLnBrk="0" hangingPunct="1">
              <a:lnSpc>
                <a:spcPct val="100000"/>
              </a:lnSpc>
              <a:spcBef>
                <a:spcPts val="0"/>
              </a:spcBef>
              <a:buSzPct val="90000"/>
              <a:buFont typeface="Arial" pitchFamily="34" charset="0"/>
              <a:buNone/>
              <a:defRPr lang="en-US" sz="2400" b="0" kern="0" spc="0" baseline="0" dirty="0">
                <a:solidFill>
                  <a:schemeClr val="tx1"/>
                </a:solidFill>
                <a:latin typeface="Segoe UI Light" panose="020B0502040204020203" pitchFamily="34" charset="0"/>
                <a:ea typeface="Segoe UI Light" panose="020B0502040204020203" pitchFamily="34" charset="0"/>
                <a:cs typeface="Segoe UI Light" panose="020B0502040204020203" pitchFamily="34" charset="0"/>
              </a:defRPr>
            </a:lvl1pPr>
            <a:lvl2pPr marL="4570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08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1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17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22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2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31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63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457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5120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D92556-C7BC-4DE3-9278-20DEB56698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CD6B4E-9726-48B7-95FC-86DC5068328F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CF3D86-F32C-46DE-BDA1-539591F02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A78CCB-6CF9-4770-B736-7F633976F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299AF1-9C60-444A-B0F3-23DBD8E420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1957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5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12EE92-87CB-4FD5-B91D-C59EC8D519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3BF0E1-A364-40B5-BC0C-3BE9D9A148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1310C0-F0F3-4F98-81D3-906780F89F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2B3463-61C8-4819-BC9A-C94FD847F060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90BF1B-55AF-4313-A077-2E67AE81874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13C8F-10C2-41C1-87DB-2A43F3AFC2A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75320B-7F3C-4D6F-8D55-3D71907A9C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545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9"/>
          <p:cNvSpPr>
            <a:spLocks noGrp="1"/>
          </p:cNvSpPr>
          <p:nvPr>
            <p:ph type="title"/>
          </p:nvPr>
        </p:nvSpPr>
        <p:spPr>
          <a:xfrm>
            <a:off x="379514" y="182215"/>
            <a:ext cx="11524432" cy="1063487"/>
          </a:xfrm>
          <a:prstGeom prst="rect">
            <a:avLst/>
          </a:prstGeom>
        </p:spPr>
        <p:txBody>
          <a:bodyPr vert="horz" lIns="91409" tIns="45705" rIns="91409" bIns="45705" rtlCol="0" anchor="t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1639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</p:sldLayoutIdLst>
  <p:txStyles>
    <p:titleStyle>
      <a:lvl1pPr algn="l" defTabSz="914088" rtl="0" eaLnBrk="1" latinLnBrk="0" hangingPunct="1">
        <a:lnSpc>
          <a:spcPct val="80000"/>
        </a:lnSpc>
        <a:spcBef>
          <a:spcPct val="0"/>
        </a:spcBef>
        <a:buNone/>
        <a:defRPr sz="4400" kern="120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</p:titleStyle>
    <p:bodyStyle>
      <a:lvl1pPr marL="342783" indent="-342783" algn="l" defTabSz="914088" rtl="0" eaLnBrk="1" latinLnBrk="0" hangingPunct="1">
        <a:spcBef>
          <a:spcPts val="1200"/>
        </a:spcBef>
        <a:buFont typeface="Arial" pitchFamily="34" charset="0"/>
        <a:buChar char="•"/>
        <a:defRPr sz="3200" b="1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1pPr>
      <a:lvl2pPr marL="742698" indent="-285652" algn="l" defTabSz="914088" rtl="0" eaLnBrk="1" latinLnBrk="0" hangingPunct="1">
        <a:spcBef>
          <a:spcPts val="300"/>
        </a:spcBef>
        <a:spcAft>
          <a:spcPts val="300"/>
        </a:spcAft>
        <a:buFont typeface="Arial" pitchFamily="34" charset="0"/>
        <a:buChar char="–"/>
        <a:defRPr sz="28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2pPr>
      <a:lvl3pPr marL="1142612" indent="-228522" algn="l" defTabSz="914088" rtl="0" eaLnBrk="1" latinLnBrk="0" hangingPunct="1">
        <a:spcBef>
          <a:spcPts val="200"/>
        </a:spcBef>
        <a:spcAft>
          <a:spcPts val="200"/>
        </a:spcAft>
        <a:buFont typeface="Arial" pitchFamily="34" charset="0"/>
        <a:buChar char="•"/>
        <a:defRPr sz="24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3pPr>
      <a:lvl4pPr marL="1599657" indent="-228522" algn="l" defTabSz="914088" rtl="0" eaLnBrk="1" latinLnBrk="0" hangingPunct="1">
        <a:spcBef>
          <a:spcPct val="20000"/>
        </a:spcBef>
        <a:buFont typeface="Arial" pitchFamily="34" charset="0"/>
        <a:buChar char="–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4pPr>
      <a:lvl5pPr marL="2056700" indent="-228522" algn="l" defTabSz="914088" rtl="0" eaLnBrk="1" latinLnBrk="0" hangingPunct="1">
        <a:spcBef>
          <a:spcPct val="20000"/>
        </a:spcBef>
        <a:buFont typeface="Arial" pitchFamily="34" charset="0"/>
        <a:buChar char="»"/>
        <a:defRPr sz="2000" kern="0" baseline="0">
          <a:solidFill>
            <a:schemeClr val="tx1"/>
          </a:solidFill>
          <a:latin typeface="Segoe UI Light" panose="020B0502040204020203" pitchFamily="34" charset="0"/>
          <a:ea typeface="Segoe UI Light" panose="020B0502040204020203" pitchFamily="34" charset="0"/>
          <a:cs typeface="Segoe UI Light" panose="020B0502040204020203" pitchFamily="34" charset="0"/>
        </a:defRPr>
      </a:lvl5pPr>
      <a:lvl6pPr marL="2513745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0789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7833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4878" indent="-228522" algn="l" defTabSz="914088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44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08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33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17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22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267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11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358" algn="l" defTabSz="914088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lobal.oup.com/academic/product/networks-9780198805090?cc=us&amp;lang=en&amp;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0711.0189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BSCAN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cdn.aaai.org/KDD/1996/KDD96-037.pdf" TargetMode="Externa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BSCAN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DBSCAN" TargetMode="Externa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0.png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OPTICS_algorithm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dl.acm.org/doi/10.1145/304181.304187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en.wikipedia.org/wiki/OPTICS_algorithm" TargetMode="External"/><Relationship Id="rId4" Type="http://schemas.openxmlformats.org/officeDocument/2006/relationships/image" Target="../media/image1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nning.com/books/advanced-algorithms-and-data-structures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#dbscan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0.png"/><Relationship Id="rId4" Type="http://schemas.openxmlformats.org/officeDocument/2006/relationships/hyperlink" Target="https://pyclustering.github.io/docs/0.8.2/html/index.html" TargetMode="Externa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link.springer.com/chapter/10.1007/978-3-642-37456-2_14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1.png"/><Relationship Id="rId4" Type="http://schemas.openxmlformats.org/officeDocument/2006/relationships/hyperlink" Target="https://hdbscan.readthedocs.io/en/latest/index.html" TargetMode="Externa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hdbscan.readthedocs.io/en/latest/how_hdbscan_works.html" TargetMode="External"/><Relationship Id="rId4" Type="http://schemas.openxmlformats.org/officeDocument/2006/relationships/image" Target="../media/image2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hdbscan.readthedocs.io/en/latest/how_hdbscan_works.html" TargetMode="Externa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4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dbscan.readthedocs.io/en/latest/how_hdbscan_works.html" TargetMode="Externa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rim%27s_algorithm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6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Prim%27s_algorithm" TargetMode="External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9.png"/><Relationship Id="rId5" Type="http://schemas.openxmlformats.org/officeDocument/2006/relationships/hyperlink" Target="https://hdbscan.readthedocs.io/en/latest/how_hdbscan_works.html" TargetMode="External"/><Relationship Id="rId4" Type="http://schemas.openxmlformats.org/officeDocument/2006/relationships/hyperlink" Target="https://en.wikipedia.org/wiki/Prim%27s_algorithm" TargetMode="Externa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1.png"/><Relationship Id="rId4" Type="http://schemas.openxmlformats.org/officeDocument/2006/relationships/hyperlink" Target="https://hdbscan.readthedocs.io/en/latest/how_hdbscan_works.html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60.png"/><Relationship Id="rId4" Type="http://schemas.openxmlformats.org/officeDocument/2006/relationships/hyperlink" Target="https://hdbscan.readthedocs.io/en/latest/how_hdbscan_works.html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3.png"/><Relationship Id="rId7" Type="http://schemas.openxmlformats.org/officeDocument/2006/relationships/image" Target="../media/image31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4.png"/><Relationship Id="rId5" Type="http://schemas.openxmlformats.org/officeDocument/2006/relationships/hyperlink" Target="https://link.springer.com/chapter/10.1007/978-3-642-37456-2_14" TargetMode="External"/><Relationship Id="rId4" Type="http://schemas.openxmlformats.org/officeDocument/2006/relationships/image" Target="../media/image29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0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360.png"/><Relationship Id="rId5" Type="http://schemas.openxmlformats.org/officeDocument/2006/relationships/hyperlink" Target="https://link.springer.com/chapter/10.1007/978-3-642-37456-2_14" TargetMode="External"/><Relationship Id="rId4" Type="http://schemas.openxmlformats.org/officeDocument/2006/relationships/image" Target="../media/image350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39.png"/><Relationship Id="rId4" Type="http://schemas.openxmlformats.org/officeDocument/2006/relationships/hyperlink" Target="https://hdbscan.readthedocs.io/en/latest/how_hdbscan_works.html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s://hdbscan.readthedocs.io/en/latest/parameter_selection.html" TargetMode="Externa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hdbscan.readthedocs.io/en/latest/api.html" TargetMode="Externa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scikit-learn.org/stable/modules/clustering.html" TargetMode="Externa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modules/clustering.html" TargetMode="Externa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1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0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DEAD34-FE4D-4A41-82A2-22361563126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7619" y="968479"/>
            <a:ext cx="11016761" cy="2973777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+mn-lt"/>
              </a:rPr>
              <a:t>CSCI E-96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Data Mining, Exploration and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Discovery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Introduction to Clustering Models</a:t>
            </a:r>
            <a:br>
              <a:rPr lang="en-US" dirty="0">
                <a:latin typeface="+mn-lt"/>
              </a:rPr>
            </a:br>
            <a:r>
              <a:rPr lang="en-US" dirty="0">
                <a:latin typeface="+mn-lt"/>
              </a:rPr>
              <a:t>Part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25A855A-A2B4-41D5-81C1-CAA6D45AA9D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0291"/>
            <a:ext cx="9144000" cy="494102"/>
          </a:xfrm>
        </p:spPr>
        <p:txBody>
          <a:bodyPr/>
          <a:lstStyle/>
          <a:p>
            <a:r>
              <a:rPr lang="en-US" dirty="0"/>
              <a:t>Steve Elston</a:t>
            </a:r>
          </a:p>
          <a:p>
            <a:endParaRPr lang="en-US" dirty="0"/>
          </a:p>
        </p:txBody>
      </p:sp>
      <p:pic>
        <p:nvPicPr>
          <p:cNvPr id="1026" name="Picture 2" descr="Image result for harvard extension school logo">
            <a:extLst>
              <a:ext uri="{FF2B5EF4-FFF2-40B4-BE49-F238E27FC236}">
                <a16:creationId xmlns:a16="http://schemas.microsoft.com/office/drawing/2014/main" id="{0512F5AD-ED64-4E88-80AB-F8D75DDF28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5950" y="4619819"/>
            <a:ext cx="3333750" cy="1371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Subtitle 2">
            <a:extLst>
              <a:ext uri="{FF2B5EF4-FFF2-40B4-BE49-F238E27FC236}">
                <a16:creationId xmlns:a16="http://schemas.microsoft.com/office/drawing/2014/main" id="{8636C8FC-9C07-4DFA-B141-EBF94D41D6A9}"/>
              </a:ext>
            </a:extLst>
          </p:cNvPr>
          <p:cNvSpPr txBox="1">
            <a:spLocks/>
          </p:cNvSpPr>
          <p:nvPr/>
        </p:nvSpPr>
        <p:spPr>
          <a:xfrm>
            <a:off x="1524000" y="6363896"/>
            <a:ext cx="9144000" cy="49410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100" dirty="0"/>
              <a:t>Copyright 2020,2021, 2022, 2023, 2024, 2025, 2026, Stephen F Elston. All rights reserved.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056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A9242-6F04-0255-B6E4-003EE805C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C0B4EF-F7E3-7E82-AE6D-66E8ED303F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6187" y="249623"/>
            <a:ext cx="10515600" cy="662230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latin typeface="+mn-lt"/>
              </a:rPr>
              <a:t>Main topics in this course</a:t>
            </a:r>
            <a:br>
              <a:rPr lang="en-US" sz="4000" dirty="0">
                <a:latin typeface="+mn-lt"/>
              </a:rPr>
            </a:br>
            <a:endParaRPr lang="en-US" sz="4000" dirty="0">
              <a:latin typeface="+mn-lt"/>
            </a:endParaRPr>
          </a:p>
        </p:txBody>
      </p:sp>
      <p:sp>
        <p:nvSpPr>
          <p:cNvPr id="3" name="Left Brace 2">
            <a:extLst>
              <a:ext uri="{FF2B5EF4-FFF2-40B4-BE49-F238E27FC236}">
                <a16:creationId xmlns:a16="http://schemas.microsoft.com/office/drawing/2014/main" id="{B43E0B5E-B811-4BBC-CEDF-97FC2AAC1766}"/>
              </a:ext>
            </a:extLst>
          </p:cNvPr>
          <p:cNvSpPr/>
          <p:nvPr/>
        </p:nvSpPr>
        <p:spPr>
          <a:xfrm>
            <a:off x="756889" y="1964356"/>
            <a:ext cx="225209" cy="1273261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BB0425-4708-2E61-70FB-876C788A79E2}"/>
              </a:ext>
            </a:extLst>
          </p:cNvPr>
          <p:cNvSpPr txBox="1"/>
          <p:nvPr/>
        </p:nvSpPr>
        <p:spPr>
          <a:xfrm rot="16200000">
            <a:off x="-238228" y="2251765"/>
            <a:ext cx="157159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Foundations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AA42CDB-2EBC-28B2-6456-04829EC7EF48}"/>
              </a:ext>
            </a:extLst>
          </p:cNvPr>
          <p:cNvSpPr/>
          <p:nvPr/>
        </p:nvSpPr>
        <p:spPr>
          <a:xfrm>
            <a:off x="1259812" y="1983695"/>
            <a:ext cx="1951346" cy="125392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1. Hashing and K-V pair management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5C7F060-78DB-AC42-6BFD-05BD50198440}"/>
              </a:ext>
            </a:extLst>
          </p:cNvPr>
          <p:cNvSpPr/>
          <p:nvPr/>
        </p:nvSpPr>
        <p:spPr>
          <a:xfrm>
            <a:off x="3740233" y="2021536"/>
            <a:ext cx="2157426" cy="117823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Distance and Similarity Metrics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0B3888-4A09-E889-C7DE-5ECE32C17693}"/>
              </a:ext>
            </a:extLst>
          </p:cNvPr>
          <p:cNvSpPr/>
          <p:nvPr/>
        </p:nvSpPr>
        <p:spPr>
          <a:xfrm>
            <a:off x="6408020" y="2037908"/>
            <a:ext cx="2058805" cy="1213337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Graph Algorithms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234FC6E-068F-82BA-D948-0872902BF117}"/>
              </a:ext>
            </a:extLst>
          </p:cNvPr>
          <p:cNvSpPr/>
          <p:nvPr/>
        </p:nvSpPr>
        <p:spPr>
          <a:xfrm>
            <a:off x="1215334" y="3591320"/>
            <a:ext cx="2085982" cy="107424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2. Dimensionality Reduction</a:t>
            </a:r>
          </a:p>
        </p:txBody>
      </p:sp>
      <p:sp>
        <p:nvSpPr>
          <p:cNvPr id="10" name="Left Brace 9">
            <a:extLst>
              <a:ext uri="{FF2B5EF4-FFF2-40B4-BE49-F238E27FC236}">
                <a16:creationId xmlns:a16="http://schemas.microsoft.com/office/drawing/2014/main" id="{6B807C0C-B6B7-55FC-4A73-937C1A517C09}"/>
              </a:ext>
            </a:extLst>
          </p:cNvPr>
          <p:cNvSpPr/>
          <p:nvPr/>
        </p:nvSpPr>
        <p:spPr>
          <a:xfrm>
            <a:off x="865089" y="3571535"/>
            <a:ext cx="172578" cy="1094029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0513D5-3561-EC84-E71B-4706879A90A1}"/>
              </a:ext>
            </a:extLst>
          </p:cNvPr>
          <p:cNvSpPr txBox="1"/>
          <p:nvPr/>
        </p:nvSpPr>
        <p:spPr>
          <a:xfrm rot="16200000">
            <a:off x="-286998" y="3724841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Core Algorithms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042D63B-E913-3364-5865-54C574ED22CD}"/>
              </a:ext>
            </a:extLst>
          </p:cNvPr>
          <p:cNvSpPr/>
          <p:nvPr/>
        </p:nvSpPr>
        <p:spPr>
          <a:xfrm>
            <a:off x="1280175" y="5154275"/>
            <a:ext cx="1961804" cy="1264023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3. Social Network Analysis</a:t>
            </a:r>
          </a:p>
        </p:txBody>
      </p:sp>
      <p:sp>
        <p:nvSpPr>
          <p:cNvPr id="14" name="Left Brace 13">
            <a:extLst>
              <a:ext uri="{FF2B5EF4-FFF2-40B4-BE49-F238E27FC236}">
                <a16:creationId xmlns:a16="http://schemas.microsoft.com/office/drawing/2014/main" id="{35E5DEDA-5FFD-FC06-5888-EB758D78C155}"/>
              </a:ext>
            </a:extLst>
          </p:cNvPr>
          <p:cNvSpPr/>
          <p:nvPr/>
        </p:nvSpPr>
        <p:spPr>
          <a:xfrm>
            <a:off x="858563" y="5154275"/>
            <a:ext cx="164275" cy="1264024"/>
          </a:xfrm>
          <a:prstGeom prst="leftBrac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61D0C7-FA6D-00D7-CF2A-B875D7CF029B}"/>
              </a:ext>
            </a:extLst>
          </p:cNvPr>
          <p:cNvSpPr txBox="1"/>
          <p:nvPr/>
        </p:nvSpPr>
        <p:spPr>
          <a:xfrm rot="16200000">
            <a:off x="-322189" y="5405146"/>
            <a:ext cx="1571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Taks </a:t>
            </a:r>
            <a:r>
              <a:rPr lang="en-US" sz="2000"/>
              <a:t>Speific </a:t>
            </a:r>
            <a:r>
              <a:rPr lang="en-US" sz="2000" dirty="0"/>
              <a:t>Algorithms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BCB2792-FBF9-D76F-A378-7E6596D54E0F}"/>
              </a:ext>
            </a:extLst>
          </p:cNvPr>
          <p:cNvSpPr/>
          <p:nvPr/>
        </p:nvSpPr>
        <p:spPr>
          <a:xfrm>
            <a:off x="3811677" y="3631085"/>
            <a:ext cx="2085982" cy="109402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5. Similarity Search and NN Algorithms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8CAD2D-EC71-A5F3-683F-41BF65DE958F}"/>
              </a:ext>
            </a:extLst>
          </p:cNvPr>
          <p:cNvSpPr/>
          <p:nvPr/>
        </p:nvSpPr>
        <p:spPr>
          <a:xfrm>
            <a:off x="6408020" y="3640978"/>
            <a:ext cx="2038966" cy="1123564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4. Online Algorithms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7EB3589-9BBE-D38D-C09A-C7A36757F4E1}"/>
              </a:ext>
            </a:extLst>
          </p:cNvPr>
          <p:cNvSpPr/>
          <p:nvPr/>
        </p:nvSpPr>
        <p:spPr>
          <a:xfrm>
            <a:off x="8985680" y="5155489"/>
            <a:ext cx="1894527" cy="1262809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8. Clustering Algorithms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C5EBFDB-140B-9B88-CE63-77419A11C6E4}"/>
              </a:ext>
            </a:extLst>
          </p:cNvPr>
          <p:cNvSpPr/>
          <p:nvPr/>
        </p:nvSpPr>
        <p:spPr>
          <a:xfrm>
            <a:off x="6470354" y="5154275"/>
            <a:ext cx="2016833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7. Recommender  Algorithms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9AB1FD0-27FA-3784-41E8-6432B45E080D}"/>
              </a:ext>
            </a:extLst>
          </p:cNvPr>
          <p:cNvSpPr/>
          <p:nvPr/>
        </p:nvSpPr>
        <p:spPr>
          <a:xfrm>
            <a:off x="3760595" y="5172609"/>
            <a:ext cx="2085981" cy="124568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6. Web/Document ranking and search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302608D4-DE73-B603-CD44-1D4BB221F2DE}"/>
              </a:ext>
            </a:extLst>
          </p:cNvPr>
          <p:cNvSpPr txBox="1">
            <a:spLocks/>
          </p:cNvSpPr>
          <p:nvPr/>
        </p:nvSpPr>
        <p:spPr>
          <a:xfrm>
            <a:off x="865089" y="797597"/>
            <a:ext cx="10515600" cy="850578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The main topics in this course are interconnected and build on each other</a:t>
            </a:r>
          </a:p>
        </p:txBody>
      </p:sp>
    </p:spTree>
    <p:extLst>
      <p:ext uri="{BB962C8B-B14F-4D97-AF65-F5344CB8AC3E}">
        <p14:creationId xmlns:p14="http://schemas.microsoft.com/office/powerpoint/2010/main" val="5812348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Algorithms for Non-Euclidean Spaces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69899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Euclidean spaces are optimal only for Normally distributed variables    </a:t>
            </a:r>
          </a:p>
          <a:p>
            <a:r>
              <a:rPr lang="en-US" dirty="0">
                <a:latin typeface="+mn-lt"/>
              </a:rPr>
              <a:t>Common examples of variables in non-Euclidean spaces  </a:t>
            </a:r>
          </a:p>
          <a:p>
            <a:pPr lvl="1"/>
            <a:r>
              <a:rPr lang="en-US" dirty="0">
                <a:latin typeface="+mn-lt"/>
              </a:rPr>
              <a:t>Categorical variables including NLP problems </a:t>
            </a:r>
          </a:p>
          <a:p>
            <a:pPr lvl="1"/>
            <a:r>
              <a:rPr lang="en-US" dirty="0">
                <a:latin typeface="+mn-lt"/>
              </a:rPr>
              <a:t>Binary variables </a:t>
            </a:r>
          </a:p>
          <a:p>
            <a:pPr lvl="1"/>
            <a:r>
              <a:rPr lang="en-US" dirty="0">
                <a:latin typeface="+mn-lt"/>
              </a:rPr>
              <a:t>Ordinal variables </a:t>
            </a:r>
          </a:p>
          <a:p>
            <a:r>
              <a:rPr lang="en-US" dirty="0">
                <a:latin typeface="+mn-lt"/>
              </a:rPr>
              <a:t>Algorithms for non-Euclidian spaces </a:t>
            </a:r>
          </a:p>
          <a:p>
            <a:pPr lvl="1"/>
            <a:r>
              <a:rPr lang="en-US" dirty="0">
                <a:latin typeface="+mn-lt"/>
              </a:rPr>
              <a:t>Tree-graph-based Agglomerative clustering </a:t>
            </a:r>
          </a:p>
          <a:p>
            <a:pPr lvl="1"/>
            <a:r>
              <a:rPr lang="en-US" dirty="0">
                <a:latin typeface="+mn-lt"/>
              </a:rPr>
              <a:t>Graph-based affinity clustering – slow and not discussed further here</a:t>
            </a:r>
          </a:p>
          <a:p>
            <a:pPr lvl="1"/>
            <a:r>
              <a:rPr lang="en-US" dirty="0">
                <a:latin typeface="+mn-lt"/>
              </a:rPr>
              <a:t>NN graph-based spectral clustering </a:t>
            </a:r>
          </a:p>
          <a:p>
            <a:pPr lvl="1"/>
            <a:r>
              <a:rPr lang="en-US" dirty="0">
                <a:latin typeface="+mn-lt"/>
              </a:rPr>
              <a:t>NN graph-based density algorithms  </a:t>
            </a:r>
          </a:p>
        </p:txBody>
      </p:sp>
    </p:spTree>
    <p:extLst>
      <p:ext uri="{BB962C8B-B14F-4D97-AF65-F5344CB8AC3E}">
        <p14:creationId xmlns:p14="http://schemas.microsoft.com/office/powerpoint/2010/main" val="3728896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Graph-Based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252733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Graph Based Clustering Models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Many cluster models use a graph-based associations    </a:t>
            </a:r>
          </a:p>
          <a:p>
            <a:r>
              <a:rPr lang="en-US" dirty="0">
                <a:latin typeface="+mn-lt"/>
              </a:rPr>
              <a:t>A graph is constructed for the distance or similarity relationships </a:t>
            </a:r>
          </a:p>
          <a:p>
            <a:pPr lvl="1"/>
            <a:r>
              <a:rPr lang="en-US" dirty="0">
                <a:latin typeface="+mn-lt"/>
              </a:rPr>
              <a:t>Observations (samples) are nodes </a:t>
            </a:r>
          </a:p>
          <a:p>
            <a:pPr lvl="1"/>
            <a:r>
              <a:rPr lang="en-US" dirty="0">
                <a:latin typeface="+mn-lt"/>
              </a:rPr>
              <a:t>Edges connect samples</a:t>
            </a:r>
          </a:p>
          <a:p>
            <a:pPr lvl="1"/>
            <a:r>
              <a:rPr lang="en-US" dirty="0">
                <a:latin typeface="+mn-lt"/>
              </a:rPr>
              <a:t>Edge weights are distance or similarity </a:t>
            </a:r>
          </a:p>
          <a:p>
            <a:r>
              <a:rPr lang="en-US" dirty="0">
                <a:latin typeface="+mn-lt"/>
              </a:rPr>
              <a:t>Partitioning the graph separates  data into clusters </a:t>
            </a: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74967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A dissimilarity matrix contains the differences between each case </a:t>
                </a:r>
                <a:r>
                  <a:rPr lang="en-US" i="1" dirty="0">
                    <a:latin typeface="+mn-lt"/>
                  </a:rPr>
                  <a:t>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 and every other case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dirty="0">
                    <a:latin typeface="+mn-lt"/>
                  </a:rPr>
                  <a:t>,</a:t>
                </a:r>
                <a:r>
                  <a:rPr lang="en-US" i="1" dirty="0">
                    <a:latin typeface="+mn-lt"/>
                  </a:rPr>
                  <a:t> d(x</a:t>
                </a:r>
                <a:r>
                  <a:rPr lang="en-US" i="1" baseline="-25000" dirty="0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, </a:t>
                </a:r>
                <a:r>
                  <a:rPr lang="en-US" i="1" dirty="0" err="1">
                    <a:latin typeface="+mn-lt"/>
                  </a:rPr>
                  <a:t>x’</a:t>
                </a:r>
                <a:r>
                  <a:rPr lang="en-US" i="1" baseline="-25000" dirty="0" err="1">
                    <a:latin typeface="+mn-lt"/>
                  </a:rPr>
                  <a:t>i</a:t>
                </a:r>
                <a:r>
                  <a:rPr lang="en-US" i="1" dirty="0">
                    <a:latin typeface="+mn-lt"/>
                  </a:rPr>
                  <a:t>)</a:t>
                </a:r>
                <a:endParaRPr lang="en-US" sz="2800" i="1" baseline="-25000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Dense representation is computationally intensive and memory intensive: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b="1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1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e>
                            <m:sup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p>
                          </m:sSup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𝟏</m:t>
                          </m:r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𝟐</m:t>
                          </m:r>
                        </m:den>
                      </m:f>
                      <m:r>
                        <a:rPr lang="en-US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⟶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𝑶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How can we do better?    </a:t>
                </a:r>
              </a:p>
              <a:p>
                <a:r>
                  <a:rPr lang="en-US" b="1" dirty="0">
                    <a:latin typeface="+mn-lt"/>
                  </a:rPr>
                  <a:t>Use a sparse graph representation!</a:t>
                </a:r>
              </a:p>
              <a:p>
                <a:r>
                  <a:rPr lang="en-US" dirty="0">
                    <a:latin typeface="+mn-lt"/>
                  </a:rPr>
                  <a:t>A</a:t>
                </a:r>
                <a:r>
                  <a:rPr lang="en-US" b="1" dirty="0">
                    <a:latin typeface="+mn-lt"/>
                  </a:rPr>
                  <a:t> proximity graph</a:t>
                </a:r>
                <a:r>
                  <a:rPr lang="en-US" dirty="0">
                    <a:latin typeface="+mn-lt"/>
                  </a:rPr>
                  <a:t> or </a:t>
                </a:r>
                <a:r>
                  <a:rPr lang="en-US" b="1" dirty="0">
                    <a:latin typeface="+mn-lt"/>
                  </a:rPr>
                  <a:t>nearest neighbor similarity graph</a:t>
                </a:r>
              </a:p>
              <a:p>
                <a:pPr marL="0" indent="0">
                  <a:buNone/>
                </a:pPr>
                <a:endParaRPr lang="en-US" b="1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333375" y="896078"/>
                <a:ext cx="11525250" cy="5523771"/>
              </a:xfrm>
              <a:blipFill>
                <a:blip r:embed="rId3"/>
                <a:stretch>
                  <a:fillRect l="-1111" t="-1876" r="-3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8216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8"/>
            <a:ext cx="11525250" cy="552377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A dissimilarity matrix contains the differences between each case </a:t>
            </a:r>
            <a:r>
              <a:rPr lang="en-US" i="1" dirty="0">
                <a:latin typeface="+mn-lt"/>
              </a:rPr>
              <a:t>x</a:t>
            </a:r>
            <a:r>
              <a:rPr lang="en-US" i="1" baseline="-25000" dirty="0">
                <a:latin typeface="+mn-lt"/>
              </a:rPr>
              <a:t>i</a:t>
            </a:r>
            <a:r>
              <a:rPr lang="en-US" dirty="0">
                <a:latin typeface="+mn-lt"/>
              </a:rPr>
              <a:t> and every other case </a:t>
            </a:r>
            <a:r>
              <a:rPr lang="en-US" i="1" dirty="0" err="1">
                <a:latin typeface="+mn-lt"/>
              </a:rPr>
              <a:t>x’</a:t>
            </a:r>
            <a:r>
              <a:rPr lang="en-US" i="1" baseline="-25000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,</a:t>
            </a:r>
            <a:r>
              <a:rPr lang="en-US" i="1" dirty="0">
                <a:latin typeface="+mn-lt"/>
              </a:rPr>
              <a:t> d(x</a:t>
            </a:r>
            <a:r>
              <a:rPr lang="en-US" i="1" baseline="-25000" dirty="0">
                <a:latin typeface="+mn-lt"/>
              </a:rPr>
              <a:t>i</a:t>
            </a:r>
            <a:r>
              <a:rPr lang="en-US" i="1" dirty="0">
                <a:latin typeface="+mn-lt"/>
              </a:rPr>
              <a:t>, </a:t>
            </a:r>
            <a:r>
              <a:rPr lang="en-US" i="1" dirty="0" err="1">
                <a:latin typeface="+mn-lt"/>
              </a:rPr>
              <a:t>x’</a:t>
            </a:r>
            <a:r>
              <a:rPr lang="en-US" i="1" baseline="-25000" dirty="0" err="1">
                <a:latin typeface="+mn-lt"/>
              </a:rPr>
              <a:t>i</a:t>
            </a:r>
            <a:r>
              <a:rPr lang="en-US" i="1" dirty="0">
                <a:latin typeface="+mn-lt"/>
              </a:rPr>
              <a:t>)</a:t>
            </a:r>
            <a:endParaRPr lang="en-US" sz="2800" i="1" baseline="-25000" dirty="0">
              <a:latin typeface="+mn-lt"/>
            </a:endParaRPr>
          </a:p>
          <a:p>
            <a:r>
              <a:rPr lang="en-US" b="1" dirty="0">
                <a:latin typeface="+mn-lt"/>
              </a:rPr>
              <a:t>Sparse graph representation</a:t>
            </a:r>
            <a:r>
              <a:rPr lang="en-US" dirty="0">
                <a:latin typeface="+mn-lt"/>
              </a:rPr>
              <a:t> reduces computation and memory use    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sparser the graph the greater the approximation </a:t>
            </a:r>
          </a:p>
          <a:p>
            <a:r>
              <a:rPr lang="en-US" dirty="0">
                <a:latin typeface="+mn-lt"/>
              </a:rPr>
              <a:t>In many practical situations only need metric for closest neighbors   </a:t>
            </a:r>
          </a:p>
          <a:p>
            <a:pPr lvl="1"/>
            <a:r>
              <a:rPr lang="en-US" dirty="0">
                <a:latin typeface="+mn-lt"/>
              </a:rPr>
              <a:t>Construct graph of </a:t>
            </a:r>
            <a:r>
              <a:rPr lang="en-US" b="1" dirty="0">
                <a:latin typeface="+mn-lt"/>
              </a:rPr>
              <a:t>nearest neighbors     </a:t>
            </a:r>
          </a:p>
          <a:p>
            <a:pPr lvl="1"/>
            <a:r>
              <a:rPr lang="en-US" dirty="0">
                <a:latin typeface="+mn-lt"/>
              </a:rPr>
              <a:t>Only compute and store metric for edges between nearest neighbors    </a:t>
            </a:r>
          </a:p>
          <a:p>
            <a:pPr lvl="1"/>
            <a:r>
              <a:rPr lang="en-US" dirty="0">
                <a:latin typeface="+mn-lt"/>
              </a:rPr>
              <a:t>Approximation ignores other associations </a:t>
            </a:r>
          </a:p>
          <a:p>
            <a:r>
              <a:rPr lang="en-US" dirty="0">
                <a:latin typeface="+mn-lt"/>
              </a:rPr>
              <a:t>Ways to define nearest neighbor      </a:t>
            </a:r>
          </a:p>
          <a:p>
            <a:pPr lvl="1"/>
            <a:r>
              <a:rPr lang="en-US" dirty="0">
                <a:latin typeface="+mn-lt"/>
              </a:rPr>
              <a:t>Neighbors within distance </a:t>
            </a:r>
            <a:r>
              <a:rPr lang="en-US" b="1" dirty="0">
                <a:latin typeface="+mn-lt"/>
              </a:rPr>
              <a:t>r</a:t>
            </a:r>
          </a:p>
          <a:p>
            <a:pPr lvl="1"/>
            <a:r>
              <a:rPr lang="en-US" dirty="0">
                <a:latin typeface="+mn-lt"/>
              </a:rPr>
              <a:t>Nearest </a:t>
            </a:r>
            <a:r>
              <a:rPr lang="en-US" b="1" dirty="0">
                <a:latin typeface="+mn-lt"/>
              </a:rPr>
              <a:t>k </a:t>
            </a:r>
            <a:r>
              <a:rPr lang="en-US" dirty="0">
                <a:latin typeface="+mn-lt"/>
              </a:rPr>
              <a:t>neighbors     </a:t>
            </a:r>
            <a:endParaRPr lang="en-US" b="1" dirty="0">
              <a:latin typeface="+mn-lt"/>
            </a:endParaRPr>
          </a:p>
          <a:p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9693660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Sparse graph representation</a:t>
            </a:r>
            <a:r>
              <a:rPr lang="en-US" dirty="0">
                <a:latin typeface="+mn-lt"/>
              </a:rPr>
              <a:t> reduces computation and memory use   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5548DED-98F8-A31E-5342-F683E842C9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362" y="1398559"/>
            <a:ext cx="5263486" cy="5379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/>
              <p:nvPr/>
            </p:nvSpPr>
            <p:spPr>
              <a:xfrm>
                <a:off x="396498" y="1709893"/>
                <a:ext cx="5584552" cy="440120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Nearest neighbors within a fixed radius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Need to select a radius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Connectivity increases with radius 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𝑠𝑝𝑎𝑠𝑒𝑟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𝑔𝑟𝑎𝑝ℎ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𝑐𝑜𝑚𝑝𝑢𝑡𝑎𝑡𝑖𝑜𝑛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𝑚𝑒𝑚𝑜𝑟𝑦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𝑑𝑖𝑠𝑐𝑜𝑛𝑛𝑒𝑐𝑡𝑒𝑑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𝑔𝑟𝑎𝑝ℎ</m:t>
                    </m:r>
                  </m:oMath>
                </a14:m>
                <a:endParaRPr lang="en-US" sz="2800" b="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b="1" dirty="0">
                    <a:solidFill>
                      <a:srgbClr val="C00000"/>
                    </a:solidFill>
                  </a:rPr>
                  <a:t>Do not confuse this idea with the cluster assignment model!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98" y="1709893"/>
                <a:ext cx="5584552" cy="4401205"/>
              </a:xfrm>
              <a:prstGeom prst="rect">
                <a:avLst/>
              </a:prstGeom>
              <a:blipFill>
                <a:blip r:embed="rId4"/>
                <a:stretch>
                  <a:fillRect l="-1965" t="-1247" r="-4367" b="-3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44900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Scaling distance and similarity measures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309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Sparse graph representation</a:t>
            </a:r>
            <a:r>
              <a:rPr lang="en-US" dirty="0">
                <a:latin typeface="+mn-lt"/>
              </a:rPr>
              <a:t> reduces computation and memory use   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/>
              <p:nvPr/>
            </p:nvSpPr>
            <p:spPr>
              <a:xfrm>
                <a:off x="396498" y="1709893"/>
                <a:ext cx="5584552" cy="52629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Nearest neighbors within a fixed number of neighbors, </a:t>
                </a:r>
                <a:r>
                  <a:rPr lang="en-US" sz="2800" i="1" dirty="0"/>
                  <a:t>k</a:t>
                </a:r>
                <a:r>
                  <a:rPr lang="en-US" sz="28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Need to select </a:t>
                </a:r>
                <a:r>
                  <a:rPr lang="en-US" sz="2800" i="1" dirty="0"/>
                  <a:t>k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Connectivity increases with </a:t>
                </a:r>
                <a:r>
                  <a:rPr lang="en-US" sz="2800" i="1" dirty="0"/>
                  <a:t>k</a:t>
                </a:r>
                <a:r>
                  <a:rPr lang="en-US" sz="2800" dirty="0"/>
                  <a:t> 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𝑠𝑝𝑎𝑠𝑒𝑟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𝑔𝑟𝑎𝑝ℎ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𝑐𝑜𝑚𝑝𝑢𝑡𝑎𝑡𝑖𝑜𝑛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Lower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⟶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𝑙𝑒𝑠𝑠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𝑚𝑒𝑚𝑜𝑟𝑦</m:t>
                    </m:r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Can have disconnected graph components </a:t>
                </a:r>
                <a:endParaRPr lang="en-US" sz="2800" dirty="0">
                  <a:ea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b="1" dirty="0">
                    <a:solidFill>
                      <a:srgbClr val="C00000"/>
                    </a:solidFill>
                  </a:rPr>
                  <a:t>Do not confuse this idea with the cluster assignment model! </a:t>
                </a:r>
              </a:p>
              <a:p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2F104C8-939D-17AC-9595-D23F88C334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6498" y="1709893"/>
                <a:ext cx="5584552" cy="5262979"/>
              </a:xfrm>
              <a:prstGeom prst="rect">
                <a:avLst/>
              </a:prstGeom>
              <a:blipFill>
                <a:blip r:embed="rId3"/>
                <a:stretch>
                  <a:fillRect l="-1965" t="-10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297319D1-4DCF-AFF0-425A-78BBDE86D56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5349" y="1319284"/>
            <a:ext cx="5225962" cy="5477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259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Spectral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40673440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Spectral clustering algorithm finds the minimum cuts by three steps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Construct </a:t>
            </a:r>
            <a:r>
              <a:rPr lang="en-US" b="1" dirty="0">
                <a:latin typeface="+mn-lt"/>
              </a:rPr>
              <a:t>association matrix</a:t>
            </a:r>
            <a:r>
              <a:rPr lang="en-US" dirty="0">
                <a:latin typeface="+mn-lt"/>
              </a:rPr>
              <a:t> for the </a:t>
            </a:r>
            <a:r>
              <a:rPr lang="en-US" b="1" dirty="0">
                <a:latin typeface="+mn-lt"/>
              </a:rPr>
              <a:t>graph of the samples</a:t>
            </a:r>
          </a:p>
          <a:p>
            <a:pPr lvl="1"/>
            <a:r>
              <a:rPr lang="en-US" dirty="0">
                <a:latin typeface="+mn-lt"/>
              </a:rPr>
              <a:t>Fully connected graph or, </a:t>
            </a:r>
            <a:r>
              <a:rPr lang="en-US" b="1" dirty="0">
                <a:latin typeface="+mn-lt"/>
              </a:rPr>
              <a:t>sparse K-nearest-neighbor </a:t>
            </a:r>
            <a:r>
              <a:rPr lang="en-US" dirty="0">
                <a:latin typeface="+mn-lt"/>
              </a:rPr>
              <a:t>graph </a:t>
            </a:r>
          </a:p>
          <a:p>
            <a:pPr lvl="1"/>
            <a:r>
              <a:rPr lang="en-US" dirty="0">
                <a:latin typeface="+mn-lt"/>
              </a:rPr>
              <a:t>KD-tree, ball-tree or other NN algorithm </a:t>
            </a:r>
          </a:p>
          <a:p>
            <a:pPr lvl="1"/>
            <a:r>
              <a:rPr lang="en-US" dirty="0">
                <a:latin typeface="+mn-lt"/>
              </a:rPr>
              <a:t>The edges are undirected and weighted  </a:t>
            </a:r>
          </a:p>
          <a:p>
            <a:pPr lvl="1"/>
            <a:r>
              <a:rPr lang="en-US" dirty="0">
                <a:latin typeface="+mn-lt"/>
              </a:rPr>
              <a:t>Weights are similarity between the samples     </a:t>
            </a:r>
          </a:p>
          <a:p>
            <a:pPr lvl="1"/>
            <a:r>
              <a:rPr lang="en-US" dirty="0">
                <a:latin typeface="+mn-lt"/>
              </a:rPr>
              <a:t>Generally, use symmetric nearest neighbors 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</a:rPr>
              <a:t>graph Laplacian </a:t>
            </a:r>
            <a:r>
              <a:rPr lang="en-US" dirty="0">
                <a:latin typeface="+mn-lt"/>
              </a:rPr>
              <a:t>matrix is constructed from the association matrix </a:t>
            </a:r>
          </a:p>
          <a:p>
            <a:pPr lvl="1"/>
            <a:r>
              <a:rPr lang="en-US" dirty="0">
                <a:latin typeface="+mn-lt"/>
              </a:rPr>
              <a:t>Full matrix for fully connected graph </a:t>
            </a:r>
          </a:p>
          <a:p>
            <a:pPr lvl="1"/>
            <a:r>
              <a:rPr lang="en-US" dirty="0">
                <a:latin typeface="+mn-lt"/>
              </a:rPr>
              <a:t>Sparse matrix for nearest-neighbor graph – scalable algorithm! 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+mn-lt"/>
              </a:rPr>
              <a:t>Partition graph Laplacian by </a:t>
            </a:r>
            <a:r>
              <a:rPr lang="en-US" b="1" dirty="0">
                <a:latin typeface="+mn-lt"/>
              </a:rPr>
              <a:t>minimum weight cuts</a:t>
            </a:r>
          </a:p>
          <a:p>
            <a:pPr lvl="1"/>
            <a:r>
              <a:rPr lang="en-US" dirty="0">
                <a:latin typeface="+mn-lt"/>
              </a:rPr>
              <a:t>A </a:t>
            </a:r>
            <a:r>
              <a:rPr lang="en-US" b="1" dirty="0">
                <a:latin typeface="+mn-lt"/>
              </a:rPr>
              <a:t>min-cut algorithm</a:t>
            </a:r>
          </a:p>
        </p:txBody>
      </p:sp>
    </p:spTree>
    <p:extLst>
      <p:ext uri="{BB962C8B-B14F-4D97-AF65-F5344CB8AC3E}">
        <p14:creationId xmlns:p14="http://schemas.microsoft.com/office/powerpoint/2010/main" val="18956168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4D421C-B98F-4F57-B2CC-5DA80E108DCA}"/>
              </a:ext>
            </a:extLst>
          </p:cNvPr>
          <p:cNvCxnSpPr>
            <a:cxnSpLocks/>
          </p:cNvCxnSpPr>
          <p:nvPr/>
        </p:nvCxnSpPr>
        <p:spPr>
          <a:xfrm>
            <a:off x="685898" y="2081508"/>
            <a:ext cx="1154066" cy="17898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50148" y="896079"/>
            <a:ext cx="6508476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Steps of spectral clustering algorithm </a:t>
            </a:r>
          </a:p>
          <a:p>
            <a:r>
              <a:rPr lang="en-US" dirty="0">
                <a:latin typeface="+mn-lt"/>
              </a:rPr>
              <a:t>Start with samples  </a:t>
            </a:r>
          </a:p>
          <a:p>
            <a:r>
              <a:rPr lang="en-US" dirty="0">
                <a:latin typeface="+mn-lt"/>
              </a:rPr>
              <a:t>Construct graph </a:t>
            </a:r>
          </a:p>
          <a:p>
            <a:pPr lvl="1"/>
            <a:r>
              <a:rPr lang="en-US" dirty="0">
                <a:latin typeface="+mn-lt"/>
              </a:rPr>
              <a:t>3-nearest-neighbors in this case </a:t>
            </a:r>
          </a:p>
          <a:p>
            <a:pPr lvl="1"/>
            <a:r>
              <a:rPr lang="en-US" dirty="0">
                <a:latin typeface="+mn-lt"/>
              </a:rPr>
              <a:t>Use undirected edges</a:t>
            </a:r>
          </a:p>
          <a:p>
            <a:pPr lvl="1"/>
            <a:r>
              <a:rPr lang="en-US" dirty="0">
                <a:latin typeface="+mn-lt"/>
              </a:rPr>
              <a:t>Edge weights are similarity </a:t>
            </a:r>
          </a:p>
          <a:p>
            <a:r>
              <a:rPr lang="en-US" dirty="0">
                <a:latin typeface="+mn-lt"/>
              </a:rPr>
              <a:t>Association matrix constructed from graph </a:t>
            </a:r>
          </a:p>
          <a:p>
            <a:pPr lvl="1"/>
            <a:r>
              <a:rPr lang="en-US" dirty="0">
                <a:latin typeface="+mn-lt"/>
              </a:rPr>
              <a:t>Weighted by similarity between points</a:t>
            </a:r>
          </a:p>
          <a:p>
            <a:r>
              <a:rPr lang="en-US" dirty="0">
                <a:latin typeface="+mn-lt"/>
              </a:rPr>
              <a:t>Compute </a:t>
            </a:r>
            <a:r>
              <a:rPr lang="en-US" b="1" dirty="0">
                <a:latin typeface="+mn-lt"/>
              </a:rPr>
              <a:t>graph Laplacian </a:t>
            </a:r>
          </a:p>
          <a:p>
            <a:r>
              <a:rPr lang="en-US" dirty="0">
                <a:latin typeface="+mn-lt"/>
              </a:rPr>
              <a:t>Perform clustering by </a:t>
            </a:r>
            <a:r>
              <a:rPr lang="en-US" b="1" dirty="0" err="1">
                <a:latin typeface="+mn-lt"/>
              </a:rPr>
              <a:t>partioning</a:t>
            </a:r>
            <a:r>
              <a:rPr lang="en-US" b="1" dirty="0">
                <a:latin typeface="+mn-lt"/>
              </a:rPr>
              <a:t> graph on eigenvectors</a:t>
            </a:r>
            <a:r>
              <a:rPr lang="en-US" dirty="0">
                <a:latin typeface="+mn-lt"/>
              </a:rPr>
              <a:t> of graph Laplacian</a:t>
            </a:r>
          </a:p>
          <a:p>
            <a:endParaRPr lang="en-US" dirty="0">
              <a:latin typeface="+mn-lt"/>
            </a:endParaRP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508A190B-B202-422A-89B8-6F7261719F1C}"/>
              </a:ext>
            </a:extLst>
          </p:cNvPr>
          <p:cNvSpPr/>
          <p:nvPr/>
        </p:nvSpPr>
        <p:spPr>
          <a:xfrm>
            <a:off x="594539" y="1993345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F9F88FF-9850-4E7F-B467-A9FC1F7E6E7F}"/>
              </a:ext>
            </a:extLst>
          </p:cNvPr>
          <p:cNvSpPr/>
          <p:nvPr/>
        </p:nvSpPr>
        <p:spPr>
          <a:xfrm>
            <a:off x="1748605" y="2172328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1FA0E56-FB83-46A7-8FBA-7DD99C125C1F}"/>
              </a:ext>
            </a:extLst>
          </p:cNvPr>
          <p:cNvSpPr/>
          <p:nvPr/>
        </p:nvSpPr>
        <p:spPr>
          <a:xfrm>
            <a:off x="980092" y="3951209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0D855A26-478F-4BE5-89AF-AAFC8ECEEF9B}"/>
              </a:ext>
            </a:extLst>
          </p:cNvPr>
          <p:cNvSpPr/>
          <p:nvPr/>
        </p:nvSpPr>
        <p:spPr>
          <a:xfrm>
            <a:off x="1655208" y="3400577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1E40EF4-15FC-4B3D-84E2-F25AEC708349}"/>
              </a:ext>
            </a:extLst>
          </p:cNvPr>
          <p:cNvSpPr/>
          <p:nvPr/>
        </p:nvSpPr>
        <p:spPr>
          <a:xfrm>
            <a:off x="2075214" y="2775304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DBFEDF8-7036-4147-96EE-0D4149411B94}"/>
              </a:ext>
            </a:extLst>
          </p:cNvPr>
          <p:cNvSpPr/>
          <p:nvPr/>
        </p:nvSpPr>
        <p:spPr>
          <a:xfrm>
            <a:off x="2994030" y="1852953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CBE48A6-C0C7-43D0-B95D-4CC35CF114E2}"/>
              </a:ext>
            </a:extLst>
          </p:cNvPr>
          <p:cNvSpPr/>
          <p:nvPr/>
        </p:nvSpPr>
        <p:spPr>
          <a:xfrm>
            <a:off x="3202251" y="2576089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F7739B5-6F7E-4BB9-A7BB-FB60C9823460}"/>
              </a:ext>
            </a:extLst>
          </p:cNvPr>
          <p:cNvSpPr/>
          <p:nvPr/>
        </p:nvSpPr>
        <p:spPr>
          <a:xfrm>
            <a:off x="3988778" y="1852953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8A998D9-0328-4637-BDE5-D30BF625EA70}"/>
              </a:ext>
            </a:extLst>
          </p:cNvPr>
          <p:cNvSpPr/>
          <p:nvPr/>
        </p:nvSpPr>
        <p:spPr>
          <a:xfrm>
            <a:off x="4014608" y="3041787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51A9DE0-DC4C-446A-8304-1BD6003C9A95}"/>
              </a:ext>
            </a:extLst>
          </p:cNvPr>
          <p:cNvSpPr/>
          <p:nvPr/>
        </p:nvSpPr>
        <p:spPr>
          <a:xfrm>
            <a:off x="4668999" y="2398434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2469E07-D5BA-41DB-A638-EFD084E75FF0}"/>
              </a:ext>
            </a:extLst>
          </p:cNvPr>
          <p:cNvCxnSpPr>
            <a:cxnSpLocks/>
            <a:stCxn id="4" idx="4"/>
            <a:endCxn id="8" idx="2"/>
          </p:cNvCxnSpPr>
          <p:nvPr/>
        </p:nvCxnSpPr>
        <p:spPr>
          <a:xfrm>
            <a:off x="685898" y="2171000"/>
            <a:ext cx="1389316" cy="693132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8FE619F0-327B-4383-A59F-C05C33D4A846}"/>
              </a:ext>
            </a:extLst>
          </p:cNvPr>
          <p:cNvCxnSpPr>
            <a:cxnSpLocks/>
            <a:stCxn id="7" idx="7"/>
            <a:endCxn id="8" idx="4"/>
          </p:cNvCxnSpPr>
          <p:nvPr/>
        </p:nvCxnSpPr>
        <p:spPr>
          <a:xfrm flipV="1">
            <a:off x="1811168" y="2952959"/>
            <a:ext cx="355405" cy="47363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B9C228DD-DB29-41D1-8E5F-B1B96349F92C}"/>
              </a:ext>
            </a:extLst>
          </p:cNvPr>
          <p:cNvCxnSpPr>
            <a:cxnSpLocks/>
            <a:stCxn id="6" idx="7"/>
            <a:endCxn id="7" idx="3"/>
          </p:cNvCxnSpPr>
          <p:nvPr/>
        </p:nvCxnSpPr>
        <p:spPr>
          <a:xfrm flipV="1">
            <a:off x="1136052" y="3552215"/>
            <a:ext cx="545914" cy="4250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AFC357AF-FE44-4BCF-B761-7AAEA1C3CC3A}"/>
              </a:ext>
            </a:extLst>
          </p:cNvPr>
          <p:cNvCxnSpPr>
            <a:cxnSpLocks/>
            <a:stCxn id="8" idx="0"/>
            <a:endCxn id="5" idx="5"/>
          </p:cNvCxnSpPr>
          <p:nvPr/>
        </p:nvCxnSpPr>
        <p:spPr>
          <a:xfrm flipH="1" flipV="1">
            <a:off x="1904565" y="2323966"/>
            <a:ext cx="262008" cy="45133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FCB365D4-57D5-4282-963A-D47C57672EC0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>
          <a:xfrm>
            <a:off x="621297" y="2144983"/>
            <a:ext cx="1060669" cy="12816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37DF2EA-B0D3-4B8A-974B-3EAC576552A1}"/>
              </a:ext>
            </a:extLst>
          </p:cNvPr>
          <p:cNvCxnSpPr>
            <a:cxnSpLocks/>
            <a:stCxn id="5" idx="6"/>
            <a:endCxn id="9" idx="2"/>
          </p:cNvCxnSpPr>
          <p:nvPr/>
        </p:nvCxnSpPr>
        <p:spPr>
          <a:xfrm flipV="1">
            <a:off x="1931323" y="1941781"/>
            <a:ext cx="1062707" cy="31937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0F09DC46-7CBB-4787-93AA-B4A9D6354656}"/>
              </a:ext>
            </a:extLst>
          </p:cNvPr>
          <p:cNvCxnSpPr>
            <a:cxnSpLocks/>
            <a:stCxn id="8" idx="6"/>
            <a:endCxn id="10" idx="2"/>
          </p:cNvCxnSpPr>
          <p:nvPr/>
        </p:nvCxnSpPr>
        <p:spPr>
          <a:xfrm flipV="1">
            <a:off x="2257932" y="2664917"/>
            <a:ext cx="944319" cy="199215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58CEE78-FBDD-4074-8168-5AFA9DB293F7}"/>
              </a:ext>
            </a:extLst>
          </p:cNvPr>
          <p:cNvCxnSpPr>
            <a:cxnSpLocks/>
            <a:stCxn id="5" idx="3"/>
            <a:endCxn id="6" idx="0"/>
          </p:cNvCxnSpPr>
          <p:nvPr/>
        </p:nvCxnSpPr>
        <p:spPr>
          <a:xfrm flipH="1">
            <a:off x="1071451" y="2323966"/>
            <a:ext cx="703912" cy="1627243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74567B11-0D0D-4156-89A7-16DAA1FA1872}"/>
              </a:ext>
            </a:extLst>
          </p:cNvPr>
          <p:cNvCxnSpPr>
            <a:cxnSpLocks/>
            <a:stCxn id="8" idx="3"/>
            <a:endCxn id="6" idx="0"/>
          </p:cNvCxnSpPr>
          <p:nvPr/>
        </p:nvCxnSpPr>
        <p:spPr>
          <a:xfrm flipH="1">
            <a:off x="1071451" y="2926942"/>
            <a:ext cx="1030521" cy="1024267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60A5093A-52C2-40EC-8B8E-0E7395D2FE41}"/>
              </a:ext>
            </a:extLst>
          </p:cNvPr>
          <p:cNvCxnSpPr>
            <a:cxnSpLocks/>
            <a:stCxn id="12" idx="2"/>
            <a:endCxn id="10" idx="5"/>
          </p:cNvCxnSpPr>
          <p:nvPr/>
        </p:nvCxnSpPr>
        <p:spPr>
          <a:xfrm flipH="1" flipV="1">
            <a:off x="3358211" y="2727727"/>
            <a:ext cx="656397" cy="402888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D33CD1EC-471C-4898-B21E-CAB746ED8E21}"/>
              </a:ext>
            </a:extLst>
          </p:cNvPr>
          <p:cNvCxnSpPr>
            <a:cxnSpLocks/>
            <a:stCxn id="10" idx="0"/>
            <a:endCxn id="9" idx="4"/>
          </p:cNvCxnSpPr>
          <p:nvPr/>
        </p:nvCxnSpPr>
        <p:spPr>
          <a:xfrm flipH="1" flipV="1">
            <a:off x="3085389" y="2030608"/>
            <a:ext cx="208221" cy="54548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BCEF8E58-A7D2-4062-893F-1D575800AB63}"/>
              </a:ext>
            </a:extLst>
          </p:cNvPr>
          <p:cNvCxnSpPr>
            <a:cxnSpLocks/>
            <a:stCxn id="12" idx="0"/>
            <a:endCxn id="11" idx="4"/>
          </p:cNvCxnSpPr>
          <p:nvPr/>
        </p:nvCxnSpPr>
        <p:spPr>
          <a:xfrm flipH="1" flipV="1">
            <a:off x="4080137" y="2030608"/>
            <a:ext cx="25830" cy="1011179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627C3E1-AA2E-4352-8AAE-70E59EC9E409}"/>
              </a:ext>
            </a:extLst>
          </p:cNvPr>
          <p:cNvCxnSpPr>
            <a:cxnSpLocks/>
            <a:stCxn id="12" idx="7"/>
          </p:cNvCxnSpPr>
          <p:nvPr/>
        </p:nvCxnSpPr>
        <p:spPr>
          <a:xfrm flipV="1">
            <a:off x="4170568" y="2561040"/>
            <a:ext cx="616548" cy="50676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4F70BFB-1512-4F20-8D1B-5D098CF9381C}"/>
              </a:ext>
            </a:extLst>
          </p:cNvPr>
          <p:cNvCxnSpPr>
            <a:cxnSpLocks/>
            <a:stCxn id="11" idx="5"/>
          </p:cNvCxnSpPr>
          <p:nvPr/>
        </p:nvCxnSpPr>
        <p:spPr>
          <a:xfrm>
            <a:off x="4144738" y="2004591"/>
            <a:ext cx="577777" cy="404811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1396BE56-3AEA-4289-A29C-18AB052A783D}"/>
              </a:ext>
            </a:extLst>
          </p:cNvPr>
          <p:cNvCxnSpPr>
            <a:cxnSpLocks/>
            <a:stCxn id="9" idx="6"/>
            <a:endCxn id="11" idx="2"/>
          </p:cNvCxnSpPr>
          <p:nvPr/>
        </p:nvCxnSpPr>
        <p:spPr>
          <a:xfrm>
            <a:off x="3176748" y="1941781"/>
            <a:ext cx="812030" cy="0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719393F8-AE33-4F39-AEBB-2C2B1DD720C2}"/>
              </a:ext>
            </a:extLst>
          </p:cNvPr>
          <p:cNvCxnSpPr>
            <a:cxnSpLocks/>
            <a:stCxn id="10" idx="6"/>
          </p:cNvCxnSpPr>
          <p:nvPr/>
        </p:nvCxnSpPr>
        <p:spPr>
          <a:xfrm flipV="1">
            <a:off x="3384969" y="2472213"/>
            <a:ext cx="1310788" cy="192704"/>
          </a:xfrm>
          <a:prstGeom prst="line">
            <a:avLst/>
          </a:prstGeom>
          <a:ln w="254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AEC305C-0145-4BBB-B3E3-ED97309238FD}"/>
              </a:ext>
            </a:extLst>
          </p:cNvPr>
          <p:cNvCxnSpPr>
            <a:cxnSpLocks/>
          </p:cNvCxnSpPr>
          <p:nvPr/>
        </p:nvCxnSpPr>
        <p:spPr>
          <a:xfrm>
            <a:off x="2290118" y="1425844"/>
            <a:ext cx="723659" cy="2271673"/>
          </a:xfrm>
          <a:prstGeom prst="line">
            <a:avLst/>
          </a:prstGeom>
          <a:ln w="50800">
            <a:solidFill>
              <a:srgbClr val="00B05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313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Compute </a:t>
                </a:r>
                <a:r>
                  <a:rPr lang="en-US" b="1" dirty="0">
                    <a:latin typeface="+mn-lt"/>
                  </a:rPr>
                  <a:t>graph Laplacian  </a:t>
                </a:r>
              </a:p>
              <a:p>
                <a:r>
                  <a:rPr lang="en-US" dirty="0">
                    <a:latin typeface="+mn-lt"/>
                  </a:rPr>
                  <a:t>Several possible definitions of graph Laplacian  </a:t>
                </a:r>
              </a:p>
              <a:p>
                <a:r>
                  <a:rPr lang="en-US" dirty="0">
                    <a:latin typeface="+mn-lt"/>
                  </a:rPr>
                  <a:t>Starting with weighted association matrix,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>
                    <a:latin typeface="+mn-lt"/>
                  </a:rPr>
                  <a:t>, compute the diagonal matrix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>
                    <a:latin typeface="+mn-lt"/>
                  </a:rPr>
                  <a:t> of out degree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b="0" dirty="0"/>
                  <a:t>					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The unnormalized graph Laplacian: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Alternatively, the normalized graph Laplacian: </a:t>
                </a:r>
              </a:p>
              <a:p>
                <a:pPr marL="0" indent="0">
                  <a:buNone/>
                </a:pPr>
                <a:endParaRPr lang="en-US" sz="100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𝑛𝑜𝑟𝑚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−1/2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−1/2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−1/2</m:t>
                          </m:r>
                        </m:sup>
                      </m:sSup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−1/2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 r="-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762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Factor the graph Laplacian  </a:t>
                </a:r>
              </a:p>
              <a:p>
                <a:r>
                  <a:rPr lang="en-US" dirty="0">
                    <a:latin typeface="+mn-lt"/>
                  </a:rPr>
                  <a:t>Apply </a:t>
                </a:r>
                <a:r>
                  <a:rPr lang="en-US" dirty="0" err="1">
                    <a:latin typeface="+mn-lt"/>
                  </a:rPr>
                  <a:t>eigendecomposition</a:t>
                </a:r>
                <a:r>
                  <a:rPr lang="en-US" dirty="0">
                    <a:latin typeface="+mn-lt"/>
                  </a:rPr>
                  <a:t> to the graph Laplacian: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Segoe UI" panose="020B0502040204020203" pitchFamily="34" charset="0"/>
                        </a:rPr>
                        <m:t>𝑉</m:t>
                      </m:r>
                      <m:r>
                        <m:rPr>
                          <m:sty m:val="p"/>
                        </m:rPr>
                        <a:rPr lang="el-GR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Segoe UI" panose="020B0502040204020203" pitchFamily="34" charset="0"/>
                        </a:rPr>
                        <m:t>Λ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𝑉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Segoe UI" panose="020B0502040204020203" pitchFamily="34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en-US" dirty="0">
                  <a:latin typeface="+mn-lt"/>
                  <a:ea typeface="Cambria Math" panose="02040503050406030204" pitchFamily="18" charset="0"/>
                  <a:cs typeface="Segoe UI" panose="020B0502040204020203" pitchFamily="34" charset="0"/>
                </a:endParaRPr>
              </a:p>
              <a:p>
                <a:r>
                  <a:rPr lang="en-US" dirty="0">
                    <a:latin typeface="+mn-lt"/>
                  </a:rPr>
                  <a:t>For a single eigenvalue,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dirty="0">
                    <a:latin typeface="+mn-lt"/>
                  </a:rPr>
                  <a:t>, and eigenvector,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𝜈</m:t>
                    </m:r>
                  </m:oMath>
                </a14:m>
                <a:r>
                  <a:rPr lang="en-US" dirty="0">
                    <a:latin typeface="+mn-lt"/>
                  </a:rPr>
                  <a:t>, we can write the relationship: 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𝑣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Graph Laplacian and its eigenvalues and eigenvectors have some important properties (skipping proofs)   </a:t>
                </a:r>
              </a:p>
              <a:p>
                <a:pPr lvl="1"/>
                <a:r>
                  <a:rPr lang="en-US" sz="2600" dirty="0">
                    <a:latin typeface="+mn-lt"/>
                  </a:rPr>
                  <a:t>The row sum are zero,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supHide m:val="on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en-US" sz="26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𝑜𝑤</m:t>
                        </m:r>
                      </m:sub>
                      <m:sup/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nary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600" dirty="0">
                    <a:latin typeface="+mn-lt"/>
                  </a:rPr>
                  <a:t> </a:t>
                </a:r>
              </a:p>
              <a:p>
                <a:pPr lvl="1"/>
                <a:r>
                  <a:rPr lang="en-US" sz="2600" dirty="0">
                    <a:latin typeface="+mn-lt"/>
                  </a:rPr>
                  <a:t>For a </a:t>
                </a:r>
                <a:r>
                  <a:rPr lang="en-US" sz="2600" b="1" dirty="0">
                    <a:latin typeface="+mn-lt"/>
                  </a:rPr>
                  <a:t>single graph component </a:t>
                </a:r>
                <a:r>
                  <a:rPr lang="en-US" sz="2600" dirty="0">
                    <a:latin typeface="+mn-lt"/>
                  </a:rPr>
                  <a:t>the smallest eigenvalue, </a:t>
                </a:r>
                <a14:m>
                  <m:oMath xmlns:m="http://schemas.openxmlformats.org/officeDocument/2006/math">
                    <m:r>
                      <a:rPr lang="en-US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 </m:t>
                    </m:r>
                  </m:oMath>
                </a14:m>
                <a:r>
                  <a:rPr lang="en-US" sz="2600" dirty="0">
                    <a:latin typeface="+mn-lt"/>
                  </a:rPr>
                  <a:t> </a:t>
                </a:r>
              </a:p>
              <a:p>
                <a:pPr lvl="1"/>
                <a:r>
                  <a:rPr lang="en-US" sz="2600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  <m:r>
                      <a:rPr lang="en-US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sz="2600" dirty="0">
                    <a:latin typeface="+mn-lt"/>
                  </a:rPr>
                  <a:t>, the corresponding eigenvector is all 1s, </a:t>
                </a:r>
                <a14:m>
                  <m:oMath xmlns:m="http://schemas.openxmlformats.org/officeDocument/2006/math"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6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600" b="0" i="1" smtClean="0">
                            <a:latin typeface="Cambria Math" panose="02040503050406030204" pitchFamily="18" charset="0"/>
                          </a:rPr>
                          <m:t>1, 1, 1, …, 1</m:t>
                        </m:r>
                      </m:e>
                    </m:d>
                  </m:oMath>
                </a14:m>
                <a:endParaRPr lang="en-US" sz="2600" dirty="0">
                  <a:latin typeface="+mn-lt"/>
                </a:endParaRPr>
              </a:p>
              <a:p>
                <a:pPr marL="0" indent="0">
                  <a:buNone/>
                </a:pPr>
                <a:endParaRPr lang="en-US" sz="2600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sz="1700" dirty="0">
                    <a:latin typeface="+mn-lt"/>
                  </a:rPr>
                  <a:t>For a comprehensive treatment of graph partitioning and the graph Laplacian, see Sections 6.13 and 6.14 of </a:t>
                </a:r>
                <a:r>
                  <a:rPr lang="en-US" sz="1700" dirty="0">
                    <a:latin typeface="+mn-lt"/>
                    <a:hlinkClick r:id="rId3"/>
                  </a:rPr>
                  <a:t> Networks, second edition, Newman, Oxford, 2019</a:t>
                </a:r>
                <a:endParaRPr lang="en-US" sz="1700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4"/>
                <a:stretch>
                  <a:fillRect l="-969" t="-1632" r="-4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166430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Cut the graph using the graph Laplacian</a:t>
                </a:r>
              </a:p>
              <a:p>
                <a:r>
                  <a:rPr lang="en-US" dirty="0">
                    <a:latin typeface="+mn-lt"/>
                  </a:rPr>
                  <a:t>We want to cut the graph to minimize the sum of weights of the cuts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𝑐𝑜𝑚𝑝𝑜𝑛𝑒𝑛𝑡𝑠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∈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𝑐𝑜𝑚𝑝𝑜𝑛𝑒𝑛𝑡𝑠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  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𝑗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For node (sample)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 define vector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latin typeface="+mn-lt"/>
                  </a:rPr>
                  <a:t>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+1, 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𝑛𝑜𝑑𝑒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𝑐𝑙𝑢𝑠𝑡𝑒𝑟</m:t>
                            </m:r>
                          </m: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−1, 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𝑛𝑜𝑑𝑒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𝑛𝑜𝑡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𝑐𝑙𝑢𝑠𝑡𝑒𝑟</m:t>
                            </m:r>
                          </m:e>
                        </m:eqArr>
                      </m:e>
                    </m:d>
                  </m:oMath>
                </a14:m>
                <a:endParaRPr lang="en-US" b="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We can rewrite the first relationship for a single cut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𝑐𝑜𝑚𝑝𝑜𝑛𝑒𝑛𝑡𝑠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nary>
                            <m:naryPr>
                              <m:chr m:val="∑"/>
                              <m:supHide m:val="on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7"/>
                                </m:rP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sub>
                            <m:sup/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Rearranging terms and using matrix form we find: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𝑐𝑜𝑚𝑝𝑜𝑛𝑒𝑛𝑡𝑠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969" t="-16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6528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Cut the graph and find clusters   </a:t>
                </a:r>
              </a:p>
              <a:p>
                <a:r>
                  <a:rPr lang="en-US" dirty="0">
                    <a:latin typeface="+mn-lt"/>
                  </a:rPr>
                  <a:t>This relation is in the form of an </a:t>
                </a:r>
                <a:r>
                  <a:rPr lang="en-US" dirty="0" err="1">
                    <a:latin typeface="+mn-lt"/>
                  </a:rPr>
                  <a:t>eigendecomposition</a:t>
                </a:r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= 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min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𝑐𝑜𝑚𝑝𝑜𝑛𝑒𝑛𝑡𝑠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den>
                          </m:f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In this factorization,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>
                    <a:latin typeface="+mn-lt"/>
                  </a:rPr>
                  <a:t> are eigenvectors!</a:t>
                </a:r>
              </a:p>
              <a:p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eigenvector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𝒔</m:t>
                    </m:r>
                  </m:oMath>
                </a14:m>
                <a:r>
                  <a:rPr lang="en-US" b="1" dirty="0">
                    <a:latin typeface="+mn-lt"/>
                  </a:rPr>
                  <a:t> for the smallest nonzero eigenvalue defines the min-cut </a:t>
                </a:r>
                <a:r>
                  <a:rPr lang="en-US" dirty="0">
                    <a:latin typeface="+mn-lt"/>
                  </a:rPr>
                  <a:t>to partition the graph </a:t>
                </a:r>
              </a:p>
              <a:p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>
                    <a:latin typeface="+mn-lt"/>
                  </a:rPr>
                  <a:t> clusters,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 eigenvectors </a:t>
                </a:r>
              </a:p>
              <a:p>
                <a:pPr lvl="1"/>
                <a:r>
                  <a:rPr lang="en-US" dirty="0">
                    <a:latin typeface="+mn-lt"/>
                  </a:rPr>
                  <a:t>Start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 eigenvectors corresponding to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dirty="0">
                    <a:latin typeface="+mn-lt"/>
                  </a:rPr>
                  <a:t> smallest nonzero eigenvalues  </a:t>
                </a:r>
              </a:p>
              <a:p>
                <a:pPr lvl="1"/>
                <a:r>
                  <a:rPr lang="en-US" dirty="0">
                    <a:latin typeface="+mn-lt"/>
                  </a:rPr>
                  <a:t>Apply cut algorithm to the eigenvectors  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 r="-172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52194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Spectral Clustering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</a:rPr>
              <a:t>Spectral clustering </a:t>
            </a:r>
            <a:r>
              <a:rPr lang="en-US" dirty="0">
                <a:latin typeface="+mn-lt"/>
              </a:rPr>
              <a:t>is a graph-based state of the art clustering method</a:t>
            </a:r>
          </a:p>
          <a:p>
            <a:r>
              <a:rPr lang="en-US" dirty="0">
                <a:latin typeface="+mn-lt"/>
              </a:rPr>
              <a:t>Spectral clustering (min-cut algorithm) follows these steps: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Construct the association matrix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Compute the graph Laplacian from the association matrix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Factorize the graph Laplacian 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Partition the graph by k-1 eigenvectors with smallest non-zero eigenvalues </a:t>
            </a:r>
          </a:p>
          <a:p>
            <a:r>
              <a:rPr lang="en-US" dirty="0">
                <a:latin typeface="+mn-lt"/>
              </a:rPr>
              <a:t>In summary, spectral clustering constructs clusters on the orthogonal projections of the Laplacian matrix   </a:t>
            </a:r>
          </a:p>
          <a:p>
            <a:endParaRPr lang="en-US" sz="2800" dirty="0">
              <a:latin typeface="+mn-lt"/>
            </a:endParaRPr>
          </a:p>
          <a:p>
            <a:pPr marL="0" indent="0">
              <a:buNone/>
            </a:pPr>
            <a:r>
              <a:rPr lang="en-US" sz="2400" dirty="0">
                <a:latin typeface="+mn-lt"/>
              </a:rPr>
              <a:t>For a rigorous introduction to spectral clustering see </a:t>
            </a:r>
            <a:r>
              <a:rPr lang="en-US" sz="2400" dirty="0">
                <a:latin typeface="+mn-lt"/>
                <a:hlinkClick r:id="rId3"/>
              </a:rPr>
              <a:t>this tutorial article by von </a:t>
            </a:r>
            <a:r>
              <a:rPr lang="en-US" sz="2400" dirty="0" err="1">
                <a:latin typeface="+mn-lt"/>
                <a:hlinkClick r:id="rId3"/>
              </a:rPr>
              <a:t>Luxburg</a:t>
            </a:r>
            <a:endParaRPr lang="en-US" sz="24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06862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A33362-6456-0F5B-5570-FA2A30C5C24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Density-Based Clustering Models</a:t>
            </a:r>
          </a:p>
        </p:txBody>
      </p:sp>
    </p:spTree>
    <p:extLst>
      <p:ext uri="{BB962C8B-B14F-4D97-AF65-F5344CB8AC3E}">
        <p14:creationId xmlns:p14="http://schemas.microsoft.com/office/powerpoint/2010/main" val="1663736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Density Clustering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Using sample density is another way to form clusters</a:t>
            </a:r>
          </a:p>
          <a:p>
            <a:r>
              <a:rPr lang="en-US" dirty="0">
                <a:latin typeface="+mn-lt"/>
              </a:rPr>
              <a:t>High density points form clusters</a:t>
            </a:r>
          </a:p>
          <a:p>
            <a:r>
              <a:rPr lang="en-US" dirty="0">
                <a:latin typeface="+mn-lt"/>
              </a:rPr>
              <a:t>How can we find high density points? </a:t>
            </a:r>
          </a:p>
          <a:p>
            <a:pPr lvl="1"/>
            <a:r>
              <a:rPr lang="en-US" sz="2800" dirty="0">
                <a:latin typeface="+mn-lt"/>
              </a:rPr>
              <a:t>Find points with large number of near neighbors</a:t>
            </a:r>
          </a:p>
          <a:p>
            <a:pPr lvl="1"/>
            <a:r>
              <a:rPr lang="en-US" sz="2800" dirty="0">
                <a:latin typeface="+mn-lt"/>
              </a:rPr>
              <a:t>Form clusters around these high-density points</a:t>
            </a:r>
          </a:p>
          <a:p>
            <a:pPr lvl="1"/>
            <a:r>
              <a:rPr lang="en-US" sz="2800" dirty="0">
                <a:latin typeface="+mn-lt"/>
              </a:rPr>
              <a:t>Naive algorithms have high complexity</a:t>
            </a:r>
          </a:p>
          <a:p>
            <a:pPr lvl="1"/>
            <a:r>
              <a:rPr lang="en-US" sz="2800" dirty="0">
                <a:latin typeface="+mn-lt"/>
              </a:rPr>
              <a:t>Scalable algorithms are largely heuristic</a:t>
            </a:r>
          </a:p>
          <a:p>
            <a:r>
              <a:rPr lang="en-US" dirty="0">
                <a:latin typeface="+mn-lt"/>
              </a:rPr>
              <a:t>Many algorithms proposed, including</a:t>
            </a:r>
          </a:p>
          <a:p>
            <a:pPr lvl="1"/>
            <a:r>
              <a:rPr lang="en-US" sz="2800" dirty="0">
                <a:latin typeface="+mn-lt"/>
              </a:rPr>
              <a:t>DBSCAN</a:t>
            </a:r>
          </a:p>
          <a:p>
            <a:pPr lvl="1"/>
            <a:r>
              <a:rPr lang="en-US" sz="2800" dirty="0">
                <a:latin typeface="+mn-lt"/>
              </a:rPr>
              <a:t>OPTICS</a:t>
            </a:r>
          </a:p>
          <a:p>
            <a:pPr lvl="1"/>
            <a:r>
              <a:rPr lang="en-US" sz="2800" dirty="0">
                <a:latin typeface="+mn-lt"/>
              </a:rPr>
              <a:t>HDBSCAN</a:t>
            </a:r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00514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F962C-32E6-3F81-DC91-396F0206BE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9E69D7-85BE-8A3F-64BC-5806113C6F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Density Clustering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982022-D461-0735-86E3-49AF931EFABA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Density clusters are constructed using a proximity graph</a:t>
                </a:r>
              </a:p>
              <a:p>
                <a:r>
                  <a:rPr lang="en-US" dirty="0">
                    <a:latin typeface="+mn-lt"/>
                  </a:rPr>
                  <a:t>Density clusters are constructed using </a:t>
                </a:r>
                <a:r>
                  <a:rPr lang="en-US" b="1" dirty="0">
                    <a:latin typeface="+mn-lt"/>
                  </a:rPr>
                  <a:t>proximity graphs</a:t>
                </a:r>
              </a:p>
              <a:p>
                <a:r>
                  <a:rPr lang="en-US" dirty="0">
                    <a:latin typeface="+mn-lt"/>
                  </a:rPr>
                  <a:t>For a set of points,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…,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800" dirty="0">
                    <a:latin typeface="+mn-lt"/>
                  </a:rPr>
                  <a:t>, an edge between points,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sz="2800" dirty="0">
                    <a:latin typeface="+mn-lt"/>
                  </a:rPr>
                  <a:t>, in a proximity graph </a:t>
                </a:r>
                <a:r>
                  <a:rPr lang="en-US" dirty="0">
                    <a:latin typeface="+mn-lt"/>
                  </a:rPr>
                  <a:t>is</a:t>
                </a:r>
                <a:r>
                  <a:rPr lang="en-US" sz="2800" dirty="0">
                    <a:latin typeface="+mn-lt"/>
                  </a:rPr>
                  <a:t> constructed if a </a:t>
                </a:r>
                <a:r>
                  <a:rPr lang="en-US" sz="2800" b="1" dirty="0">
                    <a:latin typeface="+mn-lt"/>
                  </a:rPr>
                  <a:t>proximity condition </a:t>
                </a:r>
                <a:r>
                  <a:rPr lang="en-US" sz="2800" dirty="0">
                    <a:latin typeface="+mn-lt"/>
                  </a:rPr>
                  <a:t>is met 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Example: in a metric space points are considered in the set of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sz="2000" b="1" dirty="0"/>
                  <a:t>-</a:t>
                </a:r>
                <a:r>
                  <a:rPr lang="en-US" b="1" dirty="0">
                    <a:latin typeface="+mn-lt"/>
                  </a:rPr>
                  <a:t>neighbors,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𝑵</m:t>
                    </m:r>
                  </m:oMath>
                </a14:m>
                <a:r>
                  <a:rPr lang="en-US" b="1" dirty="0">
                    <a:latin typeface="+mn-lt"/>
                  </a:rPr>
                  <a:t>, on the proximity graph</a:t>
                </a:r>
                <a:r>
                  <a:rPr lang="en-US" dirty="0">
                    <a:latin typeface="+mn-lt"/>
                  </a:rPr>
                  <a:t>  </a:t>
                </a:r>
                <a:endParaRPr lang="en-US" b="1" dirty="0">
                  <a:latin typeface="+mn-lt"/>
                </a:endParaRP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𝑖𝑓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𝑡ℎ𝑒𝑛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b="0" dirty="0">
                  <a:latin typeface="+mn-lt"/>
                  <a:ea typeface="Cambria Math" panose="02040503050406030204" pitchFamily="18" charset="0"/>
                </a:endParaRPr>
              </a:p>
              <a:p>
                <a:r>
                  <a:rPr lang="en-US" b="1" dirty="0">
                    <a:latin typeface="+mn-lt"/>
                  </a:rPr>
                  <a:t>Core points </a:t>
                </a:r>
                <a:r>
                  <a:rPr lang="en-US" dirty="0">
                    <a:latin typeface="+mn-lt"/>
                  </a:rPr>
                  <a:t>are high-density areas where the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-neighbors is greater than or equal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𝑝𝑜𝑖𝑛𝑡𝑠</m:t>
                        </m:r>
                      </m:sub>
                    </m:sSub>
                  </m:oMath>
                </a14:m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|=|</m:t>
                      </m:r>
                      <m:d>
                        <m:dPr>
                          <m:begChr m:val="{"/>
                          <m:endChr m:val="}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≤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𝑝𝑜𝑖𝑛𝑡𝑠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 startAt="4"/>
                </a:pPr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0982022-D461-0735-86E3-49AF931EFAB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32666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Density Clustering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b="1" dirty="0">
                    <a:latin typeface="+mn-lt"/>
                  </a:rPr>
                  <a:t>Density-based spatial clustering of applications with noise </a:t>
                </a:r>
                <a:r>
                  <a:rPr lang="en-US" b="1" dirty="0"/>
                  <a:t>(</a:t>
                </a:r>
                <a:r>
                  <a:rPr lang="en-US" dirty="0">
                    <a:latin typeface="+mn-lt"/>
                  </a:rPr>
                  <a:t>DBSCAN) finds a</a:t>
                </a:r>
                <a:r>
                  <a:rPr lang="en-US" b="1" dirty="0">
                    <a:latin typeface="+mn-lt"/>
                  </a:rPr>
                  <a:t> directed graph of nearest neighbors</a:t>
                </a:r>
              </a:p>
              <a:p>
                <a:r>
                  <a:rPr lang="en-US" dirty="0">
                    <a:latin typeface="+mn-lt"/>
                  </a:rPr>
                  <a:t>Two </a:t>
                </a:r>
                <a:r>
                  <a:rPr lang="en-US" b="1" dirty="0">
                    <a:latin typeface="+mn-lt"/>
                  </a:rPr>
                  <a:t>core points</a:t>
                </a:r>
                <a:r>
                  <a:rPr lang="en-US" dirty="0">
                    <a:latin typeface="+mn-lt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, are considered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b="1" dirty="0">
                    <a:latin typeface="+mn-lt"/>
                  </a:rPr>
                  <a:t>-reachable</a:t>
                </a:r>
                <a:r>
                  <a:rPr lang="en-US" dirty="0">
                    <a:latin typeface="+mn-lt"/>
                  </a:rPr>
                  <a:t> if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𝑖𝑓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𝑝𝑜𝑖𝑛𝑡𝑠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𝑎𝑛𝑑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𝑝𝑜𝑖𝑛𝑡𝑠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+mn-lt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𝑎𝑛𝑑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𝑎𝑛𝑑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Clusters are formed by a set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b="1" dirty="0">
                    <a:latin typeface="+mn-lt"/>
                  </a:rPr>
                  <a:t>-reachable</a:t>
                </a:r>
                <a:r>
                  <a:rPr lang="en-US" dirty="0">
                    <a:latin typeface="+mn-lt"/>
                  </a:rPr>
                  <a:t> points   </a:t>
                </a:r>
              </a:p>
              <a:p>
                <a:r>
                  <a:rPr lang="en-US" b="1" dirty="0">
                    <a:latin typeface="+mn-lt"/>
                  </a:rPr>
                  <a:t>Unreachable points </a:t>
                </a:r>
                <a:r>
                  <a:rPr lang="en-US" dirty="0">
                    <a:latin typeface="+mn-lt"/>
                  </a:rPr>
                  <a:t>are not in a cluster</a:t>
                </a:r>
              </a:p>
              <a:p>
                <a:pPr lvl="1"/>
                <a:r>
                  <a:rPr lang="en-US" dirty="0">
                    <a:latin typeface="+mn-lt"/>
                  </a:rPr>
                  <a:t>These points are considered </a:t>
                </a:r>
                <a:r>
                  <a:rPr lang="en-US" b="1" dirty="0">
                    <a:latin typeface="+mn-lt"/>
                  </a:rPr>
                  <a:t>outliers</a:t>
                </a:r>
              </a:p>
              <a:p>
                <a:pPr marL="914400" lvl="1" indent="-457200">
                  <a:buFont typeface="+mj-lt"/>
                  <a:buAutoNum type="arabicPeriod" startAt="4"/>
                </a:pPr>
                <a:endParaRPr lang="en-US" dirty="0">
                  <a:latin typeface="+mn-lt"/>
                </a:endParaRPr>
              </a:p>
              <a:p>
                <a:pPr marL="914400" lvl="1" indent="-457200">
                  <a:buFont typeface="+mj-lt"/>
                  <a:buAutoNum type="arabicPeriod" startAt="4"/>
                </a:pPr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2176" r="-5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95281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Density Clustering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do we define </a:t>
                </a:r>
                <a:r>
                  <a:rPr lang="en-US" b="1" dirty="0">
                    <a:latin typeface="+mn-lt"/>
                  </a:rPr>
                  <a:t>reachability </a:t>
                </a:r>
                <a:r>
                  <a:rPr lang="en-US" dirty="0">
                    <a:latin typeface="+mn-lt"/>
                  </a:rPr>
                  <a:t>for cluster formation</a:t>
                </a:r>
                <a:r>
                  <a:rPr lang="en-US" b="1" dirty="0">
                    <a:latin typeface="+mn-lt"/>
                  </a:rPr>
                  <a:t>?</a:t>
                </a:r>
              </a:p>
              <a:p>
                <a:r>
                  <a:rPr lang="en-US" dirty="0">
                    <a:latin typeface="+mn-lt"/>
                  </a:rPr>
                  <a:t>Clusters are formed by a set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b="1" dirty="0">
                    <a:latin typeface="+mn-lt"/>
                  </a:rPr>
                  <a:t>-reachable</a:t>
                </a:r>
                <a:r>
                  <a:rPr lang="en-US" dirty="0">
                    <a:latin typeface="+mn-lt"/>
                  </a:rPr>
                  <a:t> points </a:t>
                </a:r>
              </a:p>
              <a:p>
                <a:r>
                  <a:rPr lang="en-US" dirty="0">
                    <a:latin typeface="+mn-lt"/>
                  </a:rPr>
                  <a:t>Must have a </a:t>
                </a:r>
                <a:r>
                  <a:rPr lang="en-US" b="1" dirty="0">
                    <a:latin typeface="+mn-lt"/>
                  </a:rPr>
                  <a:t>path</a:t>
                </a:r>
                <a:r>
                  <a:rPr lang="en-US" dirty="0">
                    <a:latin typeface="+mn-lt"/>
                  </a:rPr>
                  <a:t> on the graph between points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en-US" i="1" baseline="-25000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The path can pass through other points,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…,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Distance between nodes along the path must be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en-US" b="1" dirty="0"/>
                  <a:t>-</a:t>
                </a:r>
                <a:r>
                  <a:rPr lang="en-US" b="1" dirty="0">
                    <a:latin typeface="+mn-lt"/>
                  </a:rPr>
                  <a:t>reachability distance</a:t>
                </a:r>
                <a:endParaRPr lang="en-US" dirty="0">
                  <a:latin typeface="Symbol" panose="05050102010706020507" pitchFamily="18" charset="2"/>
                </a:endParaRPr>
              </a:p>
              <a:p>
                <a:r>
                  <a:rPr lang="en-US" dirty="0">
                    <a:latin typeface="+mn-lt"/>
                  </a:rPr>
                  <a:t>Points,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+mn-lt"/>
                  </a:rPr>
                  <a:t>, not reachable from any other point,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>
                    <a:latin typeface="+mn-lt"/>
                  </a:rPr>
                  <a:t>, are </a:t>
                </a:r>
                <a:r>
                  <a:rPr lang="en-US" b="1" dirty="0">
                    <a:latin typeface="+mn-lt"/>
                  </a:rPr>
                  <a:t>non-reachable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</a:rPr>
                        <m:t>𝑑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&gt;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∀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</m:oMath>
                  </m:oMathPara>
                </a14:m>
                <a:endParaRPr lang="en-US" b="1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6140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CF13E-B21C-5630-BBD3-86572BCE7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661A4F-432B-6D3F-F470-B9E7A91C2E6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DBSCAN Algorithm</a:t>
            </a:r>
          </a:p>
        </p:txBody>
      </p:sp>
    </p:spTree>
    <p:extLst>
      <p:ext uri="{BB962C8B-B14F-4D97-AF65-F5344CB8AC3E}">
        <p14:creationId xmlns:p14="http://schemas.microsoft.com/office/powerpoint/2010/main" val="6507397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latin typeface="+mn-lt"/>
                <a:hlinkClick r:id="rId3"/>
              </a:rPr>
              <a:t>DBSCAN</a:t>
            </a:r>
            <a:r>
              <a:rPr lang="en-US" dirty="0">
                <a:latin typeface="+mn-lt"/>
              </a:rPr>
              <a:t> was the first large-scale density-based clustering algorithm, </a:t>
            </a:r>
            <a:r>
              <a:rPr lang="en-US" dirty="0">
                <a:latin typeface="+mn-lt"/>
                <a:hlinkClick r:id="rId4"/>
              </a:rPr>
              <a:t>Ester, et. al. 1996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DBSCAN still in use today – but considered obsolete </a:t>
            </a:r>
          </a:p>
          <a:p>
            <a:r>
              <a:rPr lang="en-US" dirty="0">
                <a:latin typeface="+mn-lt"/>
              </a:rPr>
              <a:t>Many variations created</a:t>
            </a:r>
          </a:p>
          <a:p>
            <a:r>
              <a:rPr lang="en-US" dirty="0">
                <a:latin typeface="+mn-lt"/>
              </a:rPr>
              <a:t>DBSCAN scales to out of memory dataset size</a:t>
            </a:r>
          </a:p>
          <a:p>
            <a:r>
              <a:rPr lang="en-US" dirty="0">
                <a:latin typeface="+mn-lt"/>
              </a:rPr>
              <a:t>DBSCAN minimizes the number of passes through the database</a:t>
            </a:r>
          </a:p>
          <a:p>
            <a:r>
              <a:rPr lang="en-US" dirty="0">
                <a:latin typeface="+mn-lt"/>
              </a:rPr>
              <a:t>Can scale DBSCAN with MapReduce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32575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DBSCAN algorithm</a:t>
            </a:r>
          </a:p>
          <a:p>
            <a:r>
              <a:rPr lang="en-US" dirty="0">
                <a:latin typeface="+mn-lt"/>
              </a:rPr>
              <a:t>DBSCAN has two hyperparameters</a:t>
            </a:r>
          </a:p>
          <a:p>
            <a:pPr lvl="1"/>
            <a:r>
              <a:rPr lang="en-US" b="1" dirty="0" err="1">
                <a:latin typeface="+mn-lt"/>
              </a:rPr>
              <a:t>minPts</a:t>
            </a:r>
            <a:r>
              <a:rPr lang="en-US" dirty="0">
                <a:latin typeface="+mn-lt"/>
              </a:rPr>
              <a:t> is the minimum number of near neighbors required for core points</a:t>
            </a:r>
          </a:p>
          <a:p>
            <a:pPr lvl="1"/>
            <a:r>
              <a:rPr lang="en-US" b="1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is the maximum distance between neighbors</a:t>
            </a:r>
          </a:p>
          <a:p>
            <a:r>
              <a:rPr lang="en-US" dirty="0">
                <a:latin typeface="+mn-lt"/>
              </a:rPr>
              <a:t>DBSCAN makes passes thorough a database to create the graph</a:t>
            </a:r>
          </a:p>
          <a:p>
            <a:pPr lvl="1"/>
            <a:r>
              <a:rPr lang="en-US" dirty="0">
                <a:latin typeface="+mn-lt"/>
              </a:rPr>
              <a:t>Scalable, average runtime </a:t>
            </a:r>
            <a:r>
              <a:rPr lang="en-US" i="1" dirty="0">
                <a:latin typeface="+mn-lt"/>
              </a:rPr>
              <a:t>O(n log(n))  </a:t>
            </a:r>
          </a:p>
          <a:p>
            <a:pPr lvl="1"/>
            <a:r>
              <a:rPr lang="en-US" dirty="0">
                <a:latin typeface="+mn-lt"/>
              </a:rPr>
              <a:t>Uses memory, </a:t>
            </a:r>
            <a:r>
              <a:rPr lang="en-US" i="1" dirty="0">
                <a:latin typeface="+mn-lt"/>
              </a:rPr>
              <a:t>O(n)</a:t>
            </a:r>
            <a:r>
              <a:rPr lang="en-US" dirty="0">
                <a:latin typeface="+mn-lt"/>
              </a:rPr>
              <a:t>, for sparse graph</a:t>
            </a:r>
            <a:endParaRPr lang="en-US" i="1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4054280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8192C-ED4B-4152-FAB7-3F285FB3B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D2BDB-5ABE-B6B2-62EE-DD4691E158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F3D4A1-4FB3-234C-32F7-95DE5F90057E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Properties of DBSCAN algorithm</a:t>
            </a:r>
          </a:p>
          <a:p>
            <a:r>
              <a:rPr lang="en-US" dirty="0">
                <a:latin typeface="+mn-lt"/>
              </a:rPr>
              <a:t>DBSCAN constructed with proximity graph with node types</a:t>
            </a:r>
          </a:p>
          <a:p>
            <a:pPr lvl="1"/>
            <a:r>
              <a:rPr lang="en-US" b="1" dirty="0">
                <a:latin typeface="+mn-lt"/>
              </a:rPr>
              <a:t>Reachable, core </a:t>
            </a:r>
            <a:r>
              <a:rPr lang="en-US" dirty="0">
                <a:latin typeface="+mn-lt"/>
              </a:rPr>
              <a:t>– points in the dense core of the cluster</a:t>
            </a:r>
          </a:p>
          <a:p>
            <a:pPr lvl="1"/>
            <a:r>
              <a:rPr lang="en-US" b="1" dirty="0">
                <a:latin typeface="+mn-lt"/>
              </a:rPr>
              <a:t>Reachable, noncore </a:t>
            </a:r>
            <a:r>
              <a:rPr lang="en-US" dirty="0">
                <a:latin typeface="+mn-lt"/>
              </a:rPr>
              <a:t>– reachable points in low-density regions   </a:t>
            </a:r>
          </a:p>
          <a:p>
            <a:pPr lvl="1"/>
            <a:r>
              <a:rPr lang="en-US" b="1" dirty="0">
                <a:latin typeface="+mn-lt"/>
              </a:rPr>
              <a:t>Non-reachable</a:t>
            </a:r>
            <a:r>
              <a:rPr lang="en-US" dirty="0">
                <a:latin typeface="+mn-lt"/>
              </a:rPr>
              <a:t>, outliers not in any cluster</a:t>
            </a:r>
          </a:p>
          <a:p>
            <a:r>
              <a:rPr lang="en-US" dirty="0">
                <a:latin typeface="+mn-lt"/>
              </a:rPr>
              <a:t>Points are joined with bidirectional (undirected) graph edge if both points are core</a:t>
            </a:r>
          </a:p>
          <a:p>
            <a:r>
              <a:rPr lang="en-US" dirty="0">
                <a:latin typeface="+mn-lt"/>
              </a:rPr>
              <a:t>Graph edges from core to reachable non-core point are unidirectional (directed)</a:t>
            </a:r>
          </a:p>
          <a:p>
            <a:endParaRPr lang="en-US" i="1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1016610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470725" y="656095"/>
            <a:ext cx="6387899" cy="608566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the steps of DBSCAN?</a:t>
            </a:r>
          </a:p>
          <a:p>
            <a:r>
              <a:rPr lang="en-US" dirty="0">
                <a:latin typeface="+mn-lt"/>
              </a:rPr>
              <a:t>Start with some samples or observations</a:t>
            </a:r>
          </a:p>
          <a:p>
            <a:r>
              <a:rPr lang="en-US" dirty="0">
                <a:latin typeface="+mn-lt"/>
              </a:rPr>
              <a:t>For each point, find near neighbors within distance </a:t>
            </a:r>
            <a:r>
              <a:rPr lang="en-US" dirty="0">
                <a:latin typeface="Symbol" panose="05050102010706020507" pitchFamily="18" charset="2"/>
              </a:rPr>
              <a:t>e</a:t>
            </a:r>
          </a:p>
          <a:p>
            <a:r>
              <a:rPr lang="en-US" dirty="0">
                <a:latin typeface="+mn-lt"/>
              </a:rPr>
              <a:t>A point is core if it has &gt; </a:t>
            </a:r>
            <a:r>
              <a:rPr lang="en-US" dirty="0" err="1">
                <a:latin typeface="+mn-lt"/>
              </a:rPr>
              <a:t>minPts</a:t>
            </a:r>
            <a:r>
              <a:rPr lang="en-US" dirty="0">
                <a:latin typeface="+mn-lt"/>
              </a:rPr>
              <a:t> near neighbors (2 in this example)</a:t>
            </a:r>
          </a:p>
          <a:p>
            <a:r>
              <a:rPr lang="en-US" dirty="0">
                <a:latin typeface="+mn-lt"/>
              </a:rPr>
              <a:t>If two point are core, connect with undirected edge</a:t>
            </a:r>
          </a:p>
          <a:p>
            <a:r>
              <a:rPr lang="en-US" dirty="0">
                <a:latin typeface="+mn-lt"/>
              </a:rPr>
              <a:t>If point is non-core, connect with directed edge</a:t>
            </a:r>
          </a:p>
          <a:p>
            <a:r>
              <a:rPr lang="en-US" dirty="0">
                <a:latin typeface="+mn-lt"/>
              </a:rPr>
              <a:t>If point further that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from neighbors, point is non-reachable</a:t>
            </a:r>
          </a:p>
          <a:p>
            <a:r>
              <a:rPr lang="en-US" dirty="0">
                <a:latin typeface="+mn-lt"/>
              </a:rPr>
              <a:t>Result is an NN graph</a:t>
            </a:r>
          </a:p>
          <a:p>
            <a:pPr marL="914400" lvl="1" indent="-457200">
              <a:buFont typeface="+mj-lt"/>
              <a:buAutoNum type="arabicPeriod" startAt="4"/>
            </a:pPr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543DE26-DB74-46D2-B06F-B5C772EE0143}"/>
              </a:ext>
            </a:extLst>
          </p:cNvPr>
          <p:cNvSpPr/>
          <p:nvPr/>
        </p:nvSpPr>
        <p:spPr>
          <a:xfrm>
            <a:off x="1932206" y="3874799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FAFC799-F8FB-440D-A092-F42B07121008}"/>
              </a:ext>
            </a:extLst>
          </p:cNvPr>
          <p:cNvSpPr/>
          <p:nvPr/>
        </p:nvSpPr>
        <p:spPr>
          <a:xfrm>
            <a:off x="1204812" y="3785971"/>
            <a:ext cx="182718" cy="17765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7CECE43-FA8E-4F9A-ACA2-DB990517B9B1}"/>
              </a:ext>
            </a:extLst>
          </p:cNvPr>
          <p:cNvSpPr/>
          <p:nvPr/>
        </p:nvSpPr>
        <p:spPr>
          <a:xfrm>
            <a:off x="2239614" y="1829929"/>
            <a:ext cx="182718" cy="177655"/>
          </a:xfrm>
          <a:prstGeom prst="ellipse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25AE1A-0317-4E93-98B5-EB73E484924C}"/>
              </a:ext>
            </a:extLst>
          </p:cNvPr>
          <p:cNvSpPr/>
          <p:nvPr/>
        </p:nvSpPr>
        <p:spPr>
          <a:xfrm>
            <a:off x="1848213" y="4433887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02C5CB-EE6E-4498-9B08-1192583C4B53}"/>
              </a:ext>
            </a:extLst>
          </p:cNvPr>
          <p:cNvSpPr/>
          <p:nvPr/>
        </p:nvSpPr>
        <p:spPr>
          <a:xfrm>
            <a:off x="2699731" y="4410755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144684-5014-4672-B3EA-8A2C98B66D29}"/>
              </a:ext>
            </a:extLst>
          </p:cNvPr>
          <p:cNvSpPr/>
          <p:nvPr/>
        </p:nvSpPr>
        <p:spPr>
          <a:xfrm>
            <a:off x="3380007" y="4233100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886E34B-3C37-4CDA-9D67-CD782B253002}"/>
              </a:ext>
            </a:extLst>
          </p:cNvPr>
          <p:cNvSpPr/>
          <p:nvPr/>
        </p:nvSpPr>
        <p:spPr>
          <a:xfrm>
            <a:off x="3037963" y="4924279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5BEE028-78F9-4848-B94C-D47F5D3A916E}"/>
              </a:ext>
            </a:extLst>
          </p:cNvPr>
          <p:cNvSpPr/>
          <p:nvPr/>
        </p:nvSpPr>
        <p:spPr>
          <a:xfrm>
            <a:off x="4001400" y="3845443"/>
            <a:ext cx="182718" cy="17765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8EC34F9-0B16-4992-A3D2-9E24DB1B4008}"/>
              </a:ext>
            </a:extLst>
          </p:cNvPr>
          <p:cNvSpPr/>
          <p:nvPr/>
        </p:nvSpPr>
        <p:spPr>
          <a:xfrm>
            <a:off x="1129469" y="3125426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A9A74E7-A8E7-4F5C-AB28-83B87D572738}"/>
              </a:ext>
            </a:extLst>
          </p:cNvPr>
          <p:cNvSpPr/>
          <p:nvPr/>
        </p:nvSpPr>
        <p:spPr>
          <a:xfrm>
            <a:off x="1045476" y="3661382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FB68938-D04E-4DB6-B30B-0F2F7C5AFC63}"/>
              </a:ext>
            </a:extLst>
          </p:cNvPr>
          <p:cNvCxnSpPr>
            <a:cxnSpLocks/>
            <a:stCxn id="10" idx="4"/>
          </p:cNvCxnSpPr>
          <p:nvPr/>
        </p:nvCxnSpPr>
        <p:spPr>
          <a:xfrm flipH="1">
            <a:off x="3193036" y="4410755"/>
            <a:ext cx="278330" cy="542193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058A15-232D-4B5E-B3FF-1739A94AE515}"/>
              </a:ext>
            </a:extLst>
          </p:cNvPr>
          <p:cNvCxnSpPr>
            <a:cxnSpLocks/>
            <a:stCxn id="5" idx="4"/>
            <a:endCxn id="8" idx="0"/>
          </p:cNvCxnSpPr>
          <p:nvPr/>
        </p:nvCxnSpPr>
        <p:spPr>
          <a:xfrm flipH="1">
            <a:off x="1939572" y="4052454"/>
            <a:ext cx="83993" cy="381433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ECB390D8-1151-4B85-95D8-AF5E04A20DDA}"/>
              </a:ext>
            </a:extLst>
          </p:cNvPr>
          <p:cNvSpPr/>
          <p:nvPr/>
        </p:nvSpPr>
        <p:spPr>
          <a:xfrm>
            <a:off x="333376" y="3036598"/>
            <a:ext cx="1788192" cy="1676400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90D9D4AC-F461-447E-932D-7AD09CE97B07}"/>
              </a:ext>
            </a:extLst>
          </p:cNvPr>
          <p:cNvCxnSpPr>
            <a:cxnSpLocks/>
            <a:stCxn id="5" idx="2"/>
            <a:endCxn id="6" idx="6"/>
          </p:cNvCxnSpPr>
          <p:nvPr/>
        </p:nvCxnSpPr>
        <p:spPr>
          <a:xfrm flipH="1" flipV="1">
            <a:off x="1387530" y="3874799"/>
            <a:ext cx="544676" cy="88828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Oval 27">
            <a:extLst>
              <a:ext uri="{FF2B5EF4-FFF2-40B4-BE49-F238E27FC236}">
                <a16:creationId xmlns:a16="http://schemas.microsoft.com/office/drawing/2014/main" id="{EB4EDAD3-80CB-4211-9FEF-33766FD700BA}"/>
              </a:ext>
            </a:extLst>
          </p:cNvPr>
          <p:cNvSpPr/>
          <p:nvPr/>
        </p:nvSpPr>
        <p:spPr>
          <a:xfrm>
            <a:off x="1848213" y="3572554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C408769-6F01-4396-BF95-C92E915EAC53}"/>
              </a:ext>
            </a:extLst>
          </p:cNvPr>
          <p:cNvCxnSpPr>
            <a:cxnSpLocks/>
            <a:stCxn id="5" idx="5"/>
            <a:endCxn id="9" idx="1"/>
          </p:cNvCxnSpPr>
          <p:nvPr/>
        </p:nvCxnSpPr>
        <p:spPr>
          <a:xfrm>
            <a:off x="2088166" y="4026437"/>
            <a:ext cx="638323" cy="410335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2970178-64C2-4DB9-9191-5DB11F81C2AF}"/>
              </a:ext>
            </a:extLst>
          </p:cNvPr>
          <p:cNvCxnSpPr>
            <a:cxnSpLocks/>
            <a:stCxn id="8" idx="6"/>
            <a:endCxn id="9" idx="2"/>
          </p:cNvCxnSpPr>
          <p:nvPr/>
        </p:nvCxnSpPr>
        <p:spPr>
          <a:xfrm flipV="1">
            <a:off x="2030931" y="4499583"/>
            <a:ext cx="668800" cy="23132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Oval 34">
            <a:extLst>
              <a:ext uri="{FF2B5EF4-FFF2-40B4-BE49-F238E27FC236}">
                <a16:creationId xmlns:a16="http://schemas.microsoft.com/office/drawing/2014/main" id="{B5E87993-A9A7-4BA4-9A58-AB9ACFB35671}"/>
              </a:ext>
            </a:extLst>
          </p:cNvPr>
          <p:cNvSpPr/>
          <p:nvPr/>
        </p:nvSpPr>
        <p:spPr>
          <a:xfrm>
            <a:off x="2601674" y="3410217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810F7CFE-85DC-4FE0-85F5-13583E2CB99B}"/>
              </a:ext>
            </a:extLst>
          </p:cNvPr>
          <p:cNvCxnSpPr>
            <a:cxnSpLocks/>
            <a:stCxn id="9" idx="6"/>
            <a:endCxn id="10" idx="2"/>
          </p:cNvCxnSpPr>
          <p:nvPr/>
        </p:nvCxnSpPr>
        <p:spPr>
          <a:xfrm flipV="1">
            <a:off x="2882449" y="4321928"/>
            <a:ext cx="497558" cy="177655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056C6320-4279-4398-8313-ACBA740BDFEB}"/>
              </a:ext>
            </a:extLst>
          </p:cNvPr>
          <p:cNvSpPr/>
          <p:nvPr/>
        </p:nvSpPr>
        <p:spPr>
          <a:xfrm>
            <a:off x="2340941" y="4059747"/>
            <a:ext cx="1788192" cy="1676400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B7560E7-38CB-4E6D-8750-1D14F7A8696E}"/>
              </a:ext>
            </a:extLst>
          </p:cNvPr>
          <p:cNvCxnSpPr>
            <a:cxnSpLocks/>
            <a:stCxn id="9" idx="5"/>
            <a:endCxn id="11" idx="1"/>
          </p:cNvCxnSpPr>
          <p:nvPr/>
        </p:nvCxnSpPr>
        <p:spPr>
          <a:xfrm>
            <a:off x="2855691" y="4562393"/>
            <a:ext cx="209030" cy="387903"/>
          </a:xfrm>
          <a:prstGeom prst="straightConnector1">
            <a:avLst/>
          </a:prstGeom>
          <a:ln w="2540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0DD4E0D4-687A-4D35-BCFB-83B5EAD6EA4C}"/>
              </a:ext>
            </a:extLst>
          </p:cNvPr>
          <p:cNvSpPr/>
          <p:nvPr/>
        </p:nvSpPr>
        <p:spPr>
          <a:xfrm>
            <a:off x="3216744" y="3125426"/>
            <a:ext cx="1788192" cy="1676400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A11911DC-AC88-412F-B3DF-0EA01B1E997A}"/>
              </a:ext>
            </a:extLst>
          </p:cNvPr>
          <p:cNvCxnSpPr>
            <a:cxnSpLocks/>
            <a:stCxn id="12" idx="3"/>
            <a:endCxn id="10" idx="7"/>
          </p:cNvCxnSpPr>
          <p:nvPr/>
        </p:nvCxnSpPr>
        <p:spPr>
          <a:xfrm flipH="1">
            <a:off x="3535967" y="3997081"/>
            <a:ext cx="492191" cy="262036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Oval 48">
            <a:extLst>
              <a:ext uri="{FF2B5EF4-FFF2-40B4-BE49-F238E27FC236}">
                <a16:creationId xmlns:a16="http://schemas.microsoft.com/office/drawing/2014/main" id="{46D525FC-AFC7-47BD-A7F8-C6A7F407A425}"/>
              </a:ext>
            </a:extLst>
          </p:cNvPr>
          <p:cNvSpPr/>
          <p:nvPr/>
        </p:nvSpPr>
        <p:spPr>
          <a:xfrm>
            <a:off x="1446845" y="1160007"/>
            <a:ext cx="1788192" cy="1676400"/>
          </a:xfrm>
          <a:prstGeom prst="ellipse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98783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21" grpId="0" animBg="1"/>
      <p:bldP spid="28" grpId="0" animBg="1"/>
      <p:bldP spid="35" grpId="0" animBg="1"/>
      <p:bldP spid="39" grpId="0" animBg="1"/>
      <p:bldP spid="45" grpId="0" animBg="1"/>
      <p:bldP spid="4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470725" y="896079"/>
            <a:ext cx="638789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some properties of DBSCAN?</a:t>
            </a:r>
          </a:p>
          <a:p>
            <a:r>
              <a:rPr lang="en-US" dirty="0">
                <a:latin typeface="+mn-lt"/>
              </a:rPr>
              <a:t>Can find </a:t>
            </a:r>
            <a:r>
              <a:rPr lang="en-US" b="1" dirty="0">
                <a:latin typeface="+mn-lt"/>
              </a:rPr>
              <a:t>non-convex clusters</a:t>
            </a:r>
          </a:p>
          <a:p>
            <a:r>
              <a:rPr lang="en-US" dirty="0">
                <a:latin typeface="+mn-lt"/>
              </a:rPr>
              <a:t>Optimized for </a:t>
            </a:r>
            <a:r>
              <a:rPr lang="en-US" b="1" dirty="0">
                <a:latin typeface="+mn-lt"/>
              </a:rPr>
              <a:t>uniform sample density </a:t>
            </a:r>
            <a:r>
              <a:rPr lang="en-US" dirty="0">
                <a:latin typeface="+mn-lt"/>
              </a:rPr>
              <a:t>of clusters with fixed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and </a:t>
            </a:r>
            <a:r>
              <a:rPr lang="en-US" dirty="0" err="1">
                <a:latin typeface="+mn-lt"/>
              </a:rPr>
              <a:t>minPts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Clusters depend on distance metric</a:t>
            </a:r>
          </a:p>
          <a:p>
            <a:r>
              <a:rPr lang="en-US" dirty="0">
                <a:latin typeface="+mn-lt"/>
              </a:rPr>
              <a:t>Clusters robust to noise, since outliers are non-reachable</a:t>
            </a: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74CEEA1-D0C5-4564-BB73-CA2D65EDC72C}"/>
              </a:ext>
            </a:extLst>
          </p:cNvPr>
          <p:cNvSpPr txBox="1"/>
          <p:nvPr/>
        </p:nvSpPr>
        <p:spPr>
          <a:xfrm>
            <a:off x="1228791" y="6266676"/>
            <a:ext cx="291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Credit: Wikipedia commons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4163B6A0-6A59-14F0-E09A-AB2E7C031A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96" y="1213440"/>
            <a:ext cx="4871262" cy="49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882017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0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349F5A-1F97-1040-93E6-BF07DA42D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DE177-3DFF-0678-447B-267BD8D840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DBSCAN Algorithm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40DF7C-07CD-215E-DA13-B0299C8D178A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470725" y="896079"/>
            <a:ext cx="638789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What are some properties of DBSCAN?</a:t>
            </a:r>
          </a:p>
          <a:p>
            <a:r>
              <a:rPr lang="en-US" dirty="0">
                <a:latin typeface="+mn-lt"/>
              </a:rPr>
              <a:t>Selecting maximum reachability distance to neighbors,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, is difficult in high dimensions</a:t>
            </a:r>
          </a:p>
          <a:p>
            <a:r>
              <a:rPr lang="en-US" dirty="0">
                <a:latin typeface="+mn-lt"/>
              </a:rPr>
              <a:t>Single</a:t>
            </a:r>
            <a:r>
              <a:rPr lang="en-US" dirty="0"/>
              <a:t>,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, used for all clusters</a:t>
            </a:r>
          </a:p>
          <a:p>
            <a:r>
              <a:rPr lang="en-US" dirty="0">
                <a:latin typeface="+mn-lt"/>
              </a:rPr>
              <a:t>Fixed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not optimal for non-constant density  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409313C-2571-46B1-ACA3-86E1F6D3F586}"/>
              </a:ext>
            </a:extLst>
          </p:cNvPr>
          <p:cNvSpPr txBox="1"/>
          <p:nvPr/>
        </p:nvSpPr>
        <p:spPr>
          <a:xfrm>
            <a:off x="1228791" y="6266676"/>
            <a:ext cx="291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Credit: Wikipedia commons</a:t>
            </a:r>
            <a:endParaRPr lang="en-US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DCFAC95-AB99-CB80-2CA2-EB92AF540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4896" y="1213440"/>
            <a:ext cx="4871262" cy="4910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40603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A270F-5713-3F23-BF9F-452EEF024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AB24E5-5781-97A7-07DC-45B578B78A7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000" dirty="0">
                <a:latin typeface="+mn-lt"/>
              </a:rPr>
              <a:t>The </a:t>
            </a:r>
            <a:r>
              <a:rPr lang="en-US" sz="4000" b="1" dirty="0">
                <a:latin typeface="+mn-lt"/>
              </a:rPr>
              <a:t>Ordering points to identify the clustering structure </a:t>
            </a:r>
            <a:r>
              <a:rPr lang="en-US" sz="4000" dirty="0">
                <a:latin typeface="+mn-lt"/>
              </a:rPr>
              <a:t>(OPTICS) algorithm</a:t>
            </a:r>
          </a:p>
        </p:txBody>
      </p:sp>
    </p:spTree>
    <p:extLst>
      <p:ext uri="{BB962C8B-B14F-4D97-AF65-F5344CB8AC3E}">
        <p14:creationId xmlns:p14="http://schemas.microsoft.com/office/powerpoint/2010/main" val="221081976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How can we overcome the limitations of DBSCAN?</a:t>
            </a:r>
          </a:p>
          <a:p>
            <a:r>
              <a:rPr lang="en-US" dirty="0">
                <a:latin typeface="+mn-lt"/>
              </a:rPr>
              <a:t>Hard to find good value of </a:t>
            </a:r>
            <a:r>
              <a:rPr lang="en-US" dirty="0">
                <a:latin typeface="Symbol" panose="05050102010706020507" pitchFamily="18" charset="2"/>
              </a:rPr>
              <a:t>e</a:t>
            </a:r>
            <a:r>
              <a:rPr lang="en-US" dirty="0">
                <a:latin typeface="+mn-lt"/>
              </a:rPr>
              <a:t> for DBSCAN in high dimensions with variable density</a:t>
            </a:r>
          </a:p>
          <a:p>
            <a:r>
              <a:rPr lang="en-US" dirty="0">
                <a:latin typeface="+mn-lt"/>
              </a:rPr>
              <a:t>The </a:t>
            </a:r>
            <a:r>
              <a:rPr lang="en-US" b="1" dirty="0">
                <a:latin typeface="+mn-lt"/>
                <a:hlinkClick r:id="rId3"/>
              </a:rPr>
              <a:t>OPTICS</a:t>
            </a:r>
            <a:r>
              <a:rPr lang="en-US" dirty="0">
                <a:latin typeface="+mn-lt"/>
                <a:hlinkClick r:id="rId3"/>
              </a:rPr>
              <a:t> algorithm </a:t>
            </a:r>
            <a:r>
              <a:rPr lang="en-US" dirty="0">
                <a:latin typeface="+mn-lt"/>
              </a:rPr>
              <a:t>is an improvement on DBSCAN, </a:t>
            </a:r>
            <a:r>
              <a:rPr lang="en-US" dirty="0" err="1">
                <a:latin typeface="+mn-lt"/>
                <a:hlinkClick r:id="rId4"/>
              </a:rPr>
              <a:t>Ankerst</a:t>
            </a:r>
            <a:r>
              <a:rPr lang="en-US" dirty="0">
                <a:latin typeface="+mn-lt"/>
                <a:hlinkClick r:id="rId4"/>
              </a:rPr>
              <a:t>, et. al., 1999</a:t>
            </a:r>
            <a:endParaRPr lang="en-US" b="1" dirty="0">
              <a:latin typeface="+mn-lt"/>
            </a:endParaRPr>
          </a:p>
          <a:p>
            <a:pPr lvl="1"/>
            <a:r>
              <a:rPr lang="en-US" dirty="0">
                <a:latin typeface="+mn-lt"/>
              </a:rPr>
              <a:t>OPTICS uses a heuristic to adaptively compute reachability distances</a:t>
            </a:r>
          </a:p>
          <a:p>
            <a:pPr lvl="1"/>
            <a:r>
              <a:rPr lang="en-US" dirty="0">
                <a:latin typeface="+mn-lt"/>
              </a:rPr>
              <a:t>Core distance determines if a sample is core</a:t>
            </a:r>
          </a:p>
          <a:p>
            <a:pPr lvl="1"/>
            <a:r>
              <a:rPr lang="en-US" dirty="0">
                <a:latin typeface="+mn-lt"/>
              </a:rPr>
              <a:t>Reachability distance determines if one sample is reachable from the other</a:t>
            </a:r>
          </a:p>
          <a:p>
            <a:pPr lvl="1"/>
            <a:r>
              <a:rPr lang="en-US" dirty="0">
                <a:latin typeface="+mn-lt"/>
              </a:rPr>
              <a:t>Only one mandatory hyperparameter,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min_pts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>
              <a:latin typeface="+mn-lt"/>
            </a:endParaRPr>
          </a:p>
          <a:p>
            <a:pPr marL="0" indent="0">
              <a:buNone/>
            </a:pPr>
            <a:endParaRPr lang="en-US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23682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537275" y="896079"/>
            <a:ext cx="11321349" cy="56028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latin typeface="+mn-lt"/>
              </a:rPr>
              <a:t>OPTICS performs a sequential search </a:t>
            </a:r>
          </a:p>
          <a:p>
            <a:r>
              <a:rPr lang="en-US" dirty="0">
                <a:latin typeface="+mn-lt"/>
              </a:rPr>
              <a:t>OPTICS compute reachability to points sequentially    </a:t>
            </a:r>
          </a:p>
          <a:p>
            <a:pPr lvl="1"/>
            <a:r>
              <a:rPr lang="en-US" dirty="0">
                <a:latin typeface="+mn-lt"/>
              </a:rPr>
              <a:t>The order of the search though observations matters  </a:t>
            </a:r>
          </a:p>
          <a:p>
            <a:pPr lvl="1"/>
            <a:r>
              <a:rPr lang="en-US" dirty="0">
                <a:latin typeface="+mn-lt"/>
              </a:rPr>
              <a:t>A difference from DBSCAN</a:t>
            </a:r>
          </a:p>
          <a:p>
            <a:r>
              <a:rPr lang="en-US" dirty="0">
                <a:latin typeface="+mn-lt"/>
              </a:rPr>
              <a:t>Uses a sequential greedy algorithm with reachability of a point determining if edge is added to dendrogram </a:t>
            </a:r>
          </a:p>
          <a:p>
            <a:pPr lvl="1"/>
            <a:r>
              <a:rPr lang="en-US" dirty="0">
                <a:latin typeface="+mn-lt"/>
              </a:rPr>
              <a:t>Creates a proximity graph</a:t>
            </a:r>
          </a:p>
          <a:p>
            <a:pPr lvl="1"/>
            <a:r>
              <a:rPr lang="en-US" dirty="0">
                <a:latin typeface="+mn-lt"/>
              </a:rPr>
              <a:t>Points are saved in a queue and processed in order </a:t>
            </a:r>
          </a:p>
          <a:p>
            <a:pPr lvl="1"/>
            <a:r>
              <a:rPr lang="en-US" b="1" dirty="0">
                <a:latin typeface="+mn-lt"/>
              </a:rPr>
              <a:t>Reachability dynamically calculated </a:t>
            </a:r>
            <a:r>
              <a:rPr lang="en-US" dirty="0">
                <a:latin typeface="+mn-lt"/>
              </a:rPr>
              <a:t>based on neighbors on graph</a:t>
            </a:r>
          </a:p>
          <a:p>
            <a:pPr lvl="1"/>
            <a:r>
              <a:rPr lang="en-US" dirty="0">
                <a:latin typeface="+mn-lt"/>
              </a:rPr>
              <a:t>Reachability search determines nearest neighbors  </a:t>
            </a:r>
          </a:p>
          <a:p>
            <a:r>
              <a:rPr lang="en-US" dirty="0">
                <a:latin typeface="+mn-lt"/>
              </a:rPr>
              <a:t>Based on the reachability graph clusters are formed  </a:t>
            </a:r>
          </a:p>
          <a:p>
            <a:r>
              <a:rPr lang="en-US" dirty="0">
                <a:latin typeface="+mn-lt"/>
              </a:rPr>
              <a:t>Clusters formed by partitioning graph constrained by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min_pts</a:t>
            </a:r>
            <a:r>
              <a:rPr lang="en-US" dirty="0">
                <a:latin typeface="+mn-lt"/>
              </a:rPr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2796297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The </a:t>
                </a:r>
                <a:r>
                  <a:rPr lang="en-US" b="1" dirty="0">
                    <a:latin typeface="+mn-lt"/>
                  </a:rPr>
                  <a:t>OPTICS</a:t>
                </a:r>
                <a:r>
                  <a:rPr lang="en-US" dirty="0">
                    <a:latin typeface="+mn-lt"/>
                  </a:rPr>
                  <a:t> algorithm is an attempt to improve on DBSCAN</a:t>
                </a:r>
                <a:endParaRPr lang="en-US" b="1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Core distance </a:t>
                </a:r>
                <a:r>
                  <a:rPr lang="en-US" dirty="0">
                    <a:latin typeface="+mn-lt"/>
                  </a:rPr>
                  <a:t>for a point,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, determines if a sample is core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core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𝑚𝑖𝑛𝑃𝑡𝑠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𝑈𝑛𝑑𝑒𝑓𝑖𝑛𝑒𝑑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𝑖𝑓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&lt;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𝑚𝑖𝑛𝑃𝑡𝑠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𝑠𝑚𝑎𝑙𝑙𝑒𝑠𝑡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𝑑𝑖𝑠𝑡𝑎𝑛𝑐𝑒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𝑖𝑛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𝜀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𝑜𝑡ℎ𝑒𝑟𝑤𝑖𝑠𝑒</m:t>
                                  </m:r>
                                </m:e>
                              </m:eqAr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b="1" dirty="0">
                    <a:latin typeface="+mn-lt"/>
                  </a:rPr>
                  <a:t>Reachability distance </a:t>
                </a:r>
                <a:r>
                  <a:rPr lang="en-US" dirty="0">
                    <a:latin typeface="+mn-lt"/>
                  </a:rPr>
                  <a:t>of observation, </a:t>
                </a:r>
                <a:r>
                  <a:rPr lang="en-US" i="1" dirty="0">
                    <a:latin typeface="+mn-lt"/>
                  </a:rPr>
                  <a:t>o</a:t>
                </a:r>
                <a:r>
                  <a:rPr lang="en-US" dirty="0">
                    <a:latin typeface="+mn-lt"/>
                  </a:rPr>
                  <a:t>, determines if one sample is reachable from the other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reachable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_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dist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𝑚𝑖𝑛𝑃𝑡𝑠</m:t>
                              </m:r>
                            </m:lim>
                          </m:limLow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=</m:t>
                          </m:r>
                          <m:d>
                            <m:dPr>
                              <m:begChr m:val="{"/>
                              <m:endChr m:val="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eqArr>
                                <m:eqArr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𝑈𝑛𝑑𝑒𝑓𝑖𝑛𝑒𝑑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𝑖𝑓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𝑁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𝜀</m:t>
                                          </m:r>
                                        </m:sub>
                                      </m:sSub>
                                    </m:e>
                                  </m:d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&lt;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𝑚𝑖𝑛𝑃𝑡𝑠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</m:e>
                                <m:e>
                                  <m:func>
                                    <m:funcPr>
                                      <m:ctrl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max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limLow>
                                            <m:limLow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limLow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US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>
                                                      <a:latin typeface="Cambria Math" panose="02040503050406030204" pitchFamily="18" charset="0"/>
                                                    </a:rPr>
                                                    <m:t>core</m:t>
                                                  </m:r>
                                                  <m:r>
                                                    <a:rPr lang="en-US" b="0" i="0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 </m:t>
                                                  </m:r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US">
                                                      <a:latin typeface="Cambria Math" panose="02040503050406030204" pitchFamily="18" charset="0"/>
                                                    </a:rPr>
                                                    <m:t>dist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US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 </m:t>
                                                  </m:r>
                                                </m:sub>
                                              </m:sSub>
                                            </m:e>
                                            <m:lim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𝜀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𝑚𝑖𝑛𝑃𝑡𝑠</m:t>
                                              </m:r>
                                            </m:lim>
                                          </m:limLow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</m:e>
                                          </m:d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𝑑𝑖𝑠𝑡</m:t>
                                          </m:r>
                                          <m:d>
                                            <m:dPr>
                                              <m:ctrlP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𝑜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𝑜𝑡ℎ𝑒𝑟𝑤𝑖𝑠𝑒</m:t>
                                  </m:r>
                                </m:e>
                              </m:eqArr>
                            </m:e>
                          </m:d>
                        </m:e>
                      </m:func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If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 and </a:t>
                </a:r>
                <a:r>
                  <a:rPr lang="en-US" i="1" dirty="0">
                    <a:latin typeface="+mn-lt"/>
                  </a:rPr>
                  <a:t>o</a:t>
                </a:r>
                <a:r>
                  <a:rPr lang="en-US" dirty="0">
                    <a:latin typeface="+mn-lt"/>
                  </a:rPr>
                  <a:t> nearest neighbors, and </a:t>
                </a:r>
                <a:r>
                  <a:rPr lang="en-US" dirty="0">
                    <a:latin typeface="Symbol" panose="05050102010706020507" pitchFamily="18" charset="2"/>
                  </a:rPr>
                  <a:t>e</a:t>
                </a:r>
                <a:r>
                  <a:rPr lang="en-US" dirty="0">
                    <a:latin typeface="+mn-lt"/>
                  </a:rPr>
                  <a:t>’ &lt; </a:t>
                </a:r>
                <a:r>
                  <a:rPr lang="en-US" dirty="0">
                    <a:latin typeface="Symbol" panose="05050102010706020507" pitchFamily="18" charset="2"/>
                  </a:rPr>
                  <a:t>e</a:t>
                </a:r>
                <a:r>
                  <a:rPr lang="en-US" dirty="0">
                    <a:latin typeface="+mn-lt"/>
                  </a:rPr>
                  <a:t> then </a:t>
                </a:r>
                <a:r>
                  <a:rPr lang="en-US" i="1" dirty="0">
                    <a:latin typeface="+mn-lt"/>
                  </a:rPr>
                  <a:t>p</a:t>
                </a:r>
                <a:r>
                  <a:rPr lang="en-US" dirty="0">
                    <a:latin typeface="+mn-lt"/>
                  </a:rPr>
                  <a:t> and </a:t>
                </a:r>
                <a:r>
                  <a:rPr lang="en-US" i="1" dirty="0">
                    <a:latin typeface="+mn-lt"/>
                  </a:rPr>
                  <a:t>o</a:t>
                </a:r>
                <a:r>
                  <a:rPr lang="en-US" dirty="0">
                    <a:latin typeface="+mn-lt"/>
                  </a:rPr>
                  <a:t> are in the same cluster</a:t>
                </a:r>
              </a:p>
              <a:p>
                <a:r>
                  <a:rPr lang="en-US" dirty="0">
                    <a:latin typeface="+mn-lt"/>
                  </a:rPr>
                  <a:t>Both distances are undefined if density in the,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neighborhood is too low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 r="-323" b="-26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28187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470725" y="752947"/>
                <a:ext cx="6387899" cy="5746010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How can we understand the OPTICS algorithm?</a:t>
                </a:r>
              </a:p>
              <a:p>
                <a:r>
                  <a:rPr lang="en-US" dirty="0">
                    <a:latin typeface="+mn-lt"/>
                  </a:rPr>
                  <a:t>Start with some samples or observations</a:t>
                </a:r>
              </a:p>
              <a:p>
                <a:r>
                  <a:rPr lang="en-US" dirty="0">
                    <a:latin typeface="+mn-lt"/>
                  </a:rPr>
                  <a:t>For a point, p, find the points within </a:t>
                </a:r>
                <a:r>
                  <a:rPr lang="en-US" dirty="0">
                    <a:latin typeface="Symbol" panose="05050102010706020507" pitchFamily="18" charset="2"/>
                  </a:rPr>
                  <a:t>e</a:t>
                </a:r>
                <a:r>
                  <a:rPr lang="en-US" dirty="0">
                    <a:latin typeface="+mn-lt"/>
                  </a:rPr>
                  <a:t> distance</a:t>
                </a:r>
              </a:p>
              <a:p>
                <a:r>
                  <a:rPr lang="en-US" dirty="0">
                    <a:latin typeface="+mn-lt"/>
                  </a:rPr>
                  <a:t>If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𝜀</m:t>
                            </m:r>
                          </m:sub>
                        </m:sSub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𝑚𝑖𝑛𝑃𝑡𝑠</m:t>
                    </m:r>
                  </m:oMath>
                </a14:m>
                <a:r>
                  <a:rPr lang="en-US" dirty="0">
                    <a:latin typeface="+mn-lt"/>
                  </a:rPr>
                  <a:t>, determine </a:t>
                </a:r>
                <a:r>
                  <a:rPr lang="en-US" dirty="0" err="1">
                    <a:latin typeface="+mn-lt"/>
                  </a:rPr>
                  <a:t>core_dist</a:t>
                </a:r>
                <a:r>
                  <a:rPr lang="en-US" dirty="0">
                    <a:latin typeface="+mn-lt"/>
                  </a:rPr>
                  <a:t>, CD</a:t>
                </a:r>
                <a:endParaRPr lang="en-US" dirty="0"/>
              </a:p>
              <a:p>
                <a:r>
                  <a:rPr lang="en-US" dirty="0">
                    <a:latin typeface="+mn-lt"/>
                  </a:rPr>
                  <a:t>Find </a:t>
                </a:r>
                <a:r>
                  <a:rPr lang="en-US" dirty="0" err="1">
                    <a:latin typeface="+mn-lt"/>
                  </a:rPr>
                  <a:t>reachable_dist</a:t>
                </a:r>
                <a:r>
                  <a:rPr lang="en-US" dirty="0">
                    <a:latin typeface="+mn-lt"/>
                  </a:rPr>
                  <a:t> (RD)</a:t>
                </a:r>
              </a:p>
              <a:p>
                <a:r>
                  <a:rPr lang="en-US" dirty="0">
                    <a:latin typeface="+mn-lt"/>
                  </a:rPr>
                  <a:t>Points beyond </a:t>
                </a:r>
                <a:r>
                  <a:rPr lang="en-US" dirty="0" err="1">
                    <a:latin typeface="+mn-lt"/>
                  </a:rPr>
                  <a:t>reachable_dist</a:t>
                </a:r>
                <a:r>
                  <a:rPr lang="en-US" dirty="0">
                    <a:latin typeface="+mn-lt"/>
                  </a:rPr>
                  <a:t> are not in the cluster</a:t>
                </a:r>
              </a:p>
              <a:p>
                <a:pPr marL="914400" lvl="1" indent="-457200">
                  <a:buFont typeface="+mj-lt"/>
                  <a:buAutoNum type="arabicPeriod" startAt="4"/>
                </a:pPr>
                <a:endParaRPr lang="en-US" dirty="0">
                  <a:latin typeface="+mn-lt"/>
                </a:endParaRPr>
              </a:p>
              <a:p>
                <a:pPr lvl="1"/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470725" y="752947"/>
                <a:ext cx="6387899" cy="5746010"/>
              </a:xfrm>
              <a:blipFill>
                <a:blip r:embed="rId3"/>
                <a:stretch>
                  <a:fillRect l="-1908" t="-1805" r="-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9543DE26-DB74-46D2-B06F-B5C772EE0143}"/>
              </a:ext>
            </a:extLst>
          </p:cNvPr>
          <p:cNvSpPr/>
          <p:nvPr/>
        </p:nvSpPr>
        <p:spPr>
          <a:xfrm>
            <a:off x="2843641" y="3939931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2FAFC799-F8FB-440D-A092-F42B07121008}"/>
              </a:ext>
            </a:extLst>
          </p:cNvPr>
          <p:cNvSpPr/>
          <p:nvPr/>
        </p:nvSpPr>
        <p:spPr>
          <a:xfrm>
            <a:off x="1204438" y="3637948"/>
            <a:ext cx="182718" cy="17765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525AE1A-0317-4E93-98B5-EB73E484924C}"/>
              </a:ext>
            </a:extLst>
          </p:cNvPr>
          <p:cNvSpPr/>
          <p:nvPr/>
        </p:nvSpPr>
        <p:spPr>
          <a:xfrm>
            <a:off x="3313340" y="4141889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802C5CB-EE6E-4498-9B08-1192583C4B53}"/>
              </a:ext>
            </a:extLst>
          </p:cNvPr>
          <p:cNvSpPr/>
          <p:nvPr/>
        </p:nvSpPr>
        <p:spPr>
          <a:xfrm>
            <a:off x="3343505" y="4492339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0144684-5014-4672-B3EA-8A2C98B66D29}"/>
              </a:ext>
            </a:extLst>
          </p:cNvPr>
          <p:cNvSpPr/>
          <p:nvPr/>
        </p:nvSpPr>
        <p:spPr>
          <a:xfrm>
            <a:off x="3939119" y="4348745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886E34B-3C37-4CDA-9D67-CD782B253002}"/>
              </a:ext>
            </a:extLst>
          </p:cNvPr>
          <p:cNvSpPr/>
          <p:nvPr/>
        </p:nvSpPr>
        <p:spPr>
          <a:xfrm>
            <a:off x="4168194" y="4939247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5BEE028-78F9-4848-B94C-D47F5D3A916E}"/>
              </a:ext>
            </a:extLst>
          </p:cNvPr>
          <p:cNvSpPr/>
          <p:nvPr/>
        </p:nvSpPr>
        <p:spPr>
          <a:xfrm>
            <a:off x="4147343" y="2497345"/>
            <a:ext cx="182718" cy="177655"/>
          </a:xfrm>
          <a:prstGeom prst="ellips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CB390D8-1151-4B85-95D8-AF5E04A20DDA}"/>
              </a:ext>
            </a:extLst>
          </p:cNvPr>
          <p:cNvSpPr/>
          <p:nvPr/>
        </p:nvSpPr>
        <p:spPr>
          <a:xfrm>
            <a:off x="2333369" y="3586691"/>
            <a:ext cx="2159431" cy="1988948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56C6320-4279-4398-8313-ACBA740BDFEB}"/>
              </a:ext>
            </a:extLst>
          </p:cNvPr>
          <p:cNvSpPr/>
          <p:nvPr/>
        </p:nvSpPr>
        <p:spPr>
          <a:xfrm>
            <a:off x="2781107" y="3969094"/>
            <a:ext cx="1263956" cy="122414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6B5F578-59F8-4B9A-BBE9-203DC71E1927}"/>
              </a:ext>
            </a:extLst>
          </p:cNvPr>
          <p:cNvSpPr/>
          <p:nvPr/>
        </p:nvSpPr>
        <p:spPr>
          <a:xfrm>
            <a:off x="210101" y="2796780"/>
            <a:ext cx="2159431" cy="1988948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78CB19F-AE09-415F-AC58-3AC8F8B2F3C9}"/>
              </a:ext>
            </a:extLst>
          </p:cNvPr>
          <p:cNvSpPr/>
          <p:nvPr/>
        </p:nvSpPr>
        <p:spPr>
          <a:xfrm>
            <a:off x="3152196" y="1664637"/>
            <a:ext cx="2159431" cy="1988948"/>
          </a:xfrm>
          <a:prstGeom prst="ellipse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DDAA9791-AEDE-4A3C-9452-3D87822633B6}"/>
              </a:ext>
            </a:extLst>
          </p:cNvPr>
          <p:cNvCxnSpPr>
            <a:cxnSpLocks/>
            <a:stCxn id="21" idx="7"/>
            <a:endCxn id="9" idx="7"/>
          </p:cNvCxnSpPr>
          <p:nvPr/>
        </p:nvCxnSpPr>
        <p:spPr>
          <a:xfrm flipH="1">
            <a:off x="3499465" y="3877966"/>
            <a:ext cx="677094" cy="640390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0B9998EE-ACED-4FEA-8AFF-3055717C755D}"/>
              </a:ext>
            </a:extLst>
          </p:cNvPr>
          <p:cNvSpPr txBox="1"/>
          <p:nvPr/>
        </p:nvSpPr>
        <p:spPr>
          <a:xfrm>
            <a:off x="3687842" y="3662067"/>
            <a:ext cx="35722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Symbol" panose="05050102010706020507" pitchFamily="18" charset="2"/>
              </a:rPr>
              <a:t>e</a:t>
            </a:r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9399746-EAE1-4AC8-A230-92A8233AFBE4}"/>
              </a:ext>
            </a:extLst>
          </p:cNvPr>
          <p:cNvSpPr/>
          <p:nvPr/>
        </p:nvSpPr>
        <p:spPr>
          <a:xfrm>
            <a:off x="2959714" y="4230716"/>
            <a:ext cx="182718" cy="177655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1C1D36C3-99ED-4B71-80F2-B50D958F3066}"/>
              </a:ext>
            </a:extLst>
          </p:cNvPr>
          <p:cNvCxnSpPr>
            <a:cxnSpLocks/>
            <a:stCxn id="39" idx="2"/>
            <a:endCxn id="9" idx="2"/>
          </p:cNvCxnSpPr>
          <p:nvPr/>
        </p:nvCxnSpPr>
        <p:spPr>
          <a:xfrm>
            <a:off x="2781107" y="4581166"/>
            <a:ext cx="562398" cy="1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84C96D00-1F14-4C33-A33A-148EDCF9BF2E}"/>
              </a:ext>
            </a:extLst>
          </p:cNvPr>
          <p:cNvSpPr txBox="1"/>
          <p:nvPr/>
        </p:nvSpPr>
        <p:spPr>
          <a:xfrm>
            <a:off x="2781107" y="4607183"/>
            <a:ext cx="623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CD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3C93FF0A-1B53-43C0-8D61-F12A9914E48F}"/>
              </a:ext>
            </a:extLst>
          </p:cNvPr>
          <p:cNvCxnSpPr>
            <a:cxnSpLocks/>
            <a:stCxn id="11" idx="2"/>
            <a:endCxn id="9" idx="5"/>
          </p:cNvCxnSpPr>
          <p:nvPr/>
        </p:nvCxnSpPr>
        <p:spPr>
          <a:xfrm flipH="1" flipV="1">
            <a:off x="3499465" y="4643977"/>
            <a:ext cx="668729" cy="384098"/>
          </a:xfrm>
          <a:prstGeom prst="straightConnector1">
            <a:avLst/>
          </a:prstGeom>
          <a:ln w="2540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TextBox 47">
            <a:extLst>
              <a:ext uri="{FF2B5EF4-FFF2-40B4-BE49-F238E27FC236}">
                <a16:creationId xmlns:a16="http://schemas.microsoft.com/office/drawing/2014/main" id="{080D2AE1-1A40-4990-A1E0-8B6BA4471884}"/>
              </a:ext>
            </a:extLst>
          </p:cNvPr>
          <p:cNvSpPr txBox="1"/>
          <p:nvPr/>
        </p:nvSpPr>
        <p:spPr>
          <a:xfrm>
            <a:off x="3481238" y="4837467"/>
            <a:ext cx="6233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RD</a:t>
            </a:r>
          </a:p>
        </p:txBody>
      </p:sp>
    </p:spTree>
    <p:extLst>
      <p:ext uri="{BB962C8B-B14F-4D97-AF65-F5344CB8AC3E}">
        <p14:creationId xmlns:p14="http://schemas.microsoft.com/office/powerpoint/2010/main" val="28601218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8" grpId="0" animBg="1"/>
      <p:bldP spid="9" grpId="0" animBg="1"/>
      <p:bldP spid="10" grpId="0" animBg="1"/>
      <p:bldP spid="11" grpId="0" animBg="1"/>
      <p:bldP spid="12" grpId="0" animBg="1"/>
      <p:bldP spid="21" grpId="0" animBg="1"/>
      <p:bldP spid="39" grpId="0" animBg="1"/>
      <p:bldP spid="30" grpId="0" animBg="1"/>
      <p:bldP spid="33" grpId="0" animBg="1"/>
      <p:bldP spid="19" grpId="0"/>
      <p:bldP spid="37" grpId="0" animBg="1"/>
      <p:bldP spid="42" grpId="0"/>
      <p:bldP spid="4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8072846" y="739851"/>
                <a:ext cx="3908407" cy="562956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some properties of OPTICS?</a:t>
                </a:r>
              </a:p>
              <a:p>
                <a:r>
                  <a:rPr lang="en-US" dirty="0">
                    <a:latin typeface="+mn-lt"/>
                  </a:rPr>
                  <a:t>OPTICS builds a NN dendrogram with the reachability distances determining clusters</a:t>
                </a:r>
              </a:p>
              <a:p>
                <a:r>
                  <a:rPr lang="en-US" dirty="0">
                    <a:latin typeface="+mn-lt"/>
                  </a:rPr>
                  <a:t>The reachability plot (bottom) shows the path reachability distances in the dendrogram</a:t>
                </a:r>
              </a:p>
              <a:p>
                <a:r>
                  <a:rPr lang="en-US" dirty="0">
                    <a:latin typeface="+mn-lt"/>
                  </a:rPr>
                  <a:t>An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cutoff on the reachability defines the clusters </a:t>
                </a:r>
              </a:p>
              <a:p>
                <a:pPr marL="0" indent="0">
                  <a:buNone/>
                </a:pP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8072846" y="739851"/>
                <a:ext cx="3908407" cy="5629566"/>
              </a:xfrm>
              <a:blipFill>
                <a:blip r:embed="rId3"/>
                <a:stretch>
                  <a:fillRect l="-3120" t="-2381" r="-2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2" name="Picture 4">
            <a:extLst>
              <a:ext uri="{FF2B5EF4-FFF2-40B4-BE49-F238E27FC236}">
                <a16:creationId xmlns:a16="http://schemas.microsoft.com/office/drawing/2014/main" id="{9F7BAACE-949E-4FAF-BDD0-5975A7B85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024" y="798388"/>
            <a:ext cx="7899345" cy="5402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E489A7-DC97-4F52-9730-950C592E8B3F}"/>
              </a:ext>
            </a:extLst>
          </p:cNvPr>
          <p:cNvSpPr txBox="1"/>
          <p:nvPr/>
        </p:nvSpPr>
        <p:spPr>
          <a:xfrm>
            <a:off x="2185903" y="6213552"/>
            <a:ext cx="291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5"/>
              </a:rPr>
              <a:t>Credit: Wikipedia commons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02693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8072846" y="739851"/>
                <a:ext cx="3908407" cy="562956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What are some properties of OPTICS?</a:t>
                </a:r>
              </a:p>
              <a:p>
                <a:r>
                  <a:rPr lang="en-US" dirty="0">
                    <a:latin typeface="+mn-lt"/>
                  </a:rPr>
                  <a:t>Dynamically determining </a:t>
                </a:r>
                <a:r>
                  <a:rPr lang="en-US" dirty="0" err="1">
                    <a:latin typeface="+mn-lt"/>
                  </a:rPr>
                  <a:t>core_dist</a:t>
                </a:r>
                <a:r>
                  <a:rPr lang="en-US" dirty="0">
                    <a:latin typeface="+mn-lt"/>
                  </a:rPr>
                  <a:t> helps with non-constant sample density</a:t>
                </a:r>
              </a:p>
              <a:p>
                <a:r>
                  <a:rPr lang="en-US" dirty="0">
                    <a:latin typeface="+mn-lt"/>
                  </a:rPr>
                  <a:t>Computational complexity higher on average than DBSCAN</a:t>
                </a:r>
              </a:p>
              <a:p>
                <a:r>
                  <a:rPr lang="en-US" dirty="0">
                    <a:latin typeface="+mn-lt"/>
                  </a:rPr>
                  <a:t>Outliers with distance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idendified 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8072846" y="739851"/>
                <a:ext cx="3908407" cy="5629566"/>
              </a:xfrm>
              <a:blipFill>
                <a:blip r:embed="rId3"/>
                <a:stretch>
                  <a:fillRect l="-3120" t="-1732" r="-53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2" name="Picture 4">
            <a:extLst>
              <a:ext uri="{FF2B5EF4-FFF2-40B4-BE49-F238E27FC236}">
                <a16:creationId xmlns:a16="http://schemas.microsoft.com/office/drawing/2014/main" id="{9F7BAACE-949E-4FAF-BDD0-5975A7B85B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024" y="798388"/>
            <a:ext cx="7899345" cy="5402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E489A7-DC97-4F52-9730-950C592E8B3F}"/>
              </a:ext>
            </a:extLst>
          </p:cNvPr>
          <p:cNvSpPr txBox="1"/>
          <p:nvPr/>
        </p:nvSpPr>
        <p:spPr>
          <a:xfrm>
            <a:off x="2185903" y="6213552"/>
            <a:ext cx="29190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Credit: Wikipedia commons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F4F6E3D0-B7A1-0546-1A38-F51B3FFCFCDB}"/>
              </a:ext>
            </a:extLst>
          </p:cNvPr>
          <p:cNvCxnSpPr>
            <a:cxnSpLocks/>
          </p:cNvCxnSpPr>
          <p:nvPr/>
        </p:nvCxnSpPr>
        <p:spPr>
          <a:xfrm flipH="1">
            <a:off x="7459851" y="5073112"/>
            <a:ext cx="723254" cy="39779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E65B4B3-A8A8-C1FB-15FD-1026861DB32B}"/>
              </a:ext>
            </a:extLst>
          </p:cNvPr>
          <p:cNvCxnSpPr>
            <a:cxnSpLocks/>
          </p:cNvCxnSpPr>
          <p:nvPr/>
        </p:nvCxnSpPr>
        <p:spPr>
          <a:xfrm flipH="1">
            <a:off x="5104965" y="5073112"/>
            <a:ext cx="3036811" cy="57343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822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88B1F-F82F-8B81-85D2-264247F0A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15B5-67BF-1909-3B67-78D7496DB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0D6146-AF2B-E60D-66A1-DAE5422157E3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OPTICS as a hierarchical clustering algorithm     </a:t>
                </a:r>
              </a:p>
              <a:p>
                <a:r>
                  <a:rPr lang="en-US" dirty="0">
                    <a:latin typeface="+mn-lt"/>
                  </a:rPr>
                  <a:t>The OPTICS algorithm forms clusters when density is not uniform     </a:t>
                </a:r>
              </a:p>
              <a:p>
                <a:r>
                  <a:rPr lang="en-US" dirty="0">
                    <a:latin typeface="+mn-lt"/>
                  </a:rPr>
                  <a:t>Vary reachability distance to find clusters in the hierarchy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Example: a very large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results in one large cluster at the top of the hierarchy  </a:t>
                </a:r>
              </a:p>
              <a:p>
                <a:pPr lvl="1"/>
                <a:r>
                  <a:rPr lang="en-US" dirty="0">
                    <a:latin typeface="+mn-lt"/>
                  </a:rPr>
                  <a:t>Example: a very small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leads to small fragmented clusters    </a:t>
                </a:r>
              </a:p>
              <a:p>
                <a:r>
                  <a:rPr lang="en-US" dirty="0">
                    <a:latin typeface="+mn-lt"/>
                  </a:rPr>
                  <a:t>In principle, we can use a different cutoff values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in different regions to construct a complex hierarch   </a:t>
                </a:r>
              </a:p>
              <a:p>
                <a:pPr lvl="1"/>
                <a:r>
                  <a:rPr lang="en-US" dirty="0">
                    <a:latin typeface="+mn-lt"/>
                  </a:rPr>
                  <a:t>Exploring these options can be time-consuming and difficult   </a:t>
                </a:r>
              </a:p>
              <a:p>
                <a:pPr lvl="1"/>
                <a:r>
                  <a:rPr lang="en-US" dirty="0">
                    <a:latin typeface="+mn-lt"/>
                  </a:rPr>
                  <a:t>The Scikit-Lean implementation only allows a global value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000" dirty="0"/>
                  <a:t> </a:t>
                </a:r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0D6146-AF2B-E60D-66A1-DAE5422157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3"/>
                <a:stretch>
                  <a:fillRect l="-1077" t="-1850" r="-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9436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6" y="1274445"/>
                <a:ext cx="5305586" cy="548673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Exploring a cluster hierarchy with OPTICS</a:t>
                </a:r>
              </a:p>
              <a:p>
                <a:r>
                  <a:rPr lang="en-US" dirty="0">
                    <a:latin typeface="+mn-lt"/>
                  </a:rPr>
                  <a:t>Dendrogram of reachability distances   </a:t>
                </a:r>
              </a:p>
              <a:p>
                <a:r>
                  <a:rPr lang="en-US" dirty="0">
                    <a:latin typeface="+mn-lt"/>
                  </a:rPr>
                  <a:t>Overlapping cluster assignments from partitioning graph at different </a:t>
                </a:r>
                <a:r>
                  <a:rPr lang="en-US" i="1" dirty="0">
                    <a:latin typeface="+mn-lt"/>
                  </a:rPr>
                  <a:t>eps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dirty="0">
                    <a:latin typeface="+mn-lt"/>
                  </a:rPr>
                  <a:t>Reachability plot with local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to define clusters from graph components    </a:t>
                </a:r>
              </a:p>
              <a:p>
                <a:endParaRPr lang="en-US" dirty="0">
                  <a:latin typeface="+mn-lt"/>
                </a:endParaRPr>
              </a:p>
              <a:p>
                <a:pPr marL="0" indent="0">
                  <a:buNone/>
                </a:pPr>
                <a:r>
                  <a:rPr lang="en-US" sz="1800" dirty="0">
                    <a:latin typeface="+mn-lt"/>
                  </a:rPr>
                  <a:t>From </a:t>
                </a:r>
                <a:r>
                  <a:rPr lang="en-US" sz="1800" dirty="0">
                    <a:latin typeface="+mn-lt"/>
                    <a:hlinkClick r:id="rId3"/>
                  </a:rPr>
                  <a:t>Advanced Algorithms and Data Structures,, Marcello La Rocca, Manning, 2021</a:t>
                </a:r>
                <a:endParaRPr lang="en-US" sz="1800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6" y="1274445"/>
                <a:ext cx="5305586" cy="5486736"/>
              </a:xfrm>
              <a:blipFill>
                <a:blip r:embed="rId4"/>
                <a:stretch>
                  <a:fillRect l="-2299" t="-24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609CACB5-DCE6-F0D4-02B3-3FDE9B123D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9049" y="221991"/>
            <a:ext cx="6299868" cy="633379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01A40F7-3064-4606-E1EA-036EE3A40D3A}"/>
              </a:ext>
            </a:extLst>
          </p:cNvPr>
          <p:cNvCxnSpPr>
            <a:cxnSpLocks/>
          </p:cNvCxnSpPr>
          <p:nvPr/>
        </p:nvCxnSpPr>
        <p:spPr>
          <a:xfrm flipV="1">
            <a:off x="4873214" y="1932122"/>
            <a:ext cx="1816888" cy="429182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7ADF6E5-8948-1958-D60A-4D68383ABF58}"/>
              </a:ext>
            </a:extLst>
          </p:cNvPr>
          <p:cNvCxnSpPr>
            <a:cxnSpLocks/>
          </p:cNvCxnSpPr>
          <p:nvPr/>
        </p:nvCxnSpPr>
        <p:spPr>
          <a:xfrm>
            <a:off x="5443369" y="3377901"/>
            <a:ext cx="1300331" cy="605454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F6EF63CA-CD8C-FD0D-7FF2-9C72E30D9086}"/>
              </a:ext>
            </a:extLst>
          </p:cNvPr>
          <p:cNvCxnSpPr>
            <a:cxnSpLocks/>
          </p:cNvCxnSpPr>
          <p:nvPr/>
        </p:nvCxnSpPr>
        <p:spPr>
          <a:xfrm>
            <a:off x="5287384" y="4620409"/>
            <a:ext cx="1402718" cy="96314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76763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OPTICS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435325" y="920927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Density clustering is well supported in Scikit Learn    </a:t>
                </a:r>
              </a:p>
              <a:p>
                <a:r>
                  <a:rPr lang="en-US" dirty="0" err="1">
                    <a:latin typeface="+mn-lt"/>
                  </a:rPr>
                  <a:t>Sklearn</a:t>
                </a:r>
                <a:r>
                  <a:rPr lang="en-US" dirty="0">
                    <a:latin typeface="+mn-lt"/>
                  </a:rPr>
                  <a:t> supports DBSCAN, HDBSCAN and OPTICS   </a:t>
                </a:r>
              </a:p>
              <a:p>
                <a:r>
                  <a:rPr lang="en-US" dirty="0">
                    <a:latin typeface="+mn-lt"/>
                  </a:rPr>
                  <a:t>See the </a:t>
                </a:r>
                <a:r>
                  <a:rPr lang="en-US" dirty="0" err="1">
                    <a:latin typeface="+mn-lt"/>
                  </a:rPr>
                  <a:t>Sklearn</a:t>
                </a:r>
                <a:r>
                  <a:rPr lang="en-US" dirty="0">
                    <a:latin typeface="+mn-lt"/>
                  </a:rPr>
                  <a:t> </a:t>
                </a:r>
                <a:r>
                  <a:rPr lang="en-US" dirty="0">
                    <a:latin typeface="+mn-lt"/>
                    <a:hlinkClick r:id="rId3"/>
                  </a:rPr>
                  <a:t>User Guide</a:t>
                </a:r>
                <a:r>
                  <a:rPr lang="en-US" dirty="0">
                    <a:latin typeface="+mn-lt"/>
                  </a:rPr>
                  <a:t> for overview</a:t>
                </a:r>
              </a:p>
              <a:p>
                <a:pPr lvl="1"/>
                <a:r>
                  <a:rPr lang="en-US" dirty="0">
                    <a:latin typeface="+mn-lt"/>
                  </a:rPr>
                  <a:t>See especially guidance on scaling these algorithms    </a:t>
                </a:r>
              </a:p>
              <a:p>
                <a:pPr lvl="1"/>
                <a:r>
                  <a:rPr lang="en-US" dirty="0">
                    <a:latin typeface="+mn-lt"/>
                  </a:rPr>
                  <a:t>OPTICS implementation only supports single value of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Reduce average runtime of OPTICS is reduced by limiting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max_eps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dirty="0">
                    <a:latin typeface="+mn-lt"/>
                  </a:rPr>
                  <a:t>Small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max_eps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 </a:t>
                </a:r>
                <a:r>
                  <a:rPr lang="en-US" dirty="0">
                    <a:latin typeface="+mn-lt"/>
                  </a:rPr>
                  <a:t>may fragment clusters  </a:t>
                </a:r>
              </a:p>
              <a:p>
                <a:pPr lvl="1"/>
                <a:r>
                  <a:rPr lang="en-US" dirty="0">
                    <a:latin typeface="+mn-lt"/>
                  </a:rPr>
                  <a:t>Small </a:t>
                </a:r>
                <a:r>
                  <a:rPr lang="en-US" dirty="0" err="1">
                    <a:latin typeface="+mn-lt"/>
                    <a:cs typeface="Courier New" panose="02070309020205020404" pitchFamily="49" charset="0"/>
                  </a:rPr>
                  <a:t>max_eps</a:t>
                </a:r>
                <a:r>
                  <a:rPr lang="en-US" dirty="0">
                    <a:latin typeface="+mn-lt"/>
                    <a:cs typeface="Courier New" panose="02070309020205020404" pitchFamily="49" charset="0"/>
                  </a:rPr>
                  <a:t> </a:t>
                </a:r>
                <a:r>
                  <a:rPr lang="en-US" dirty="0">
                    <a:latin typeface="+mn-lt"/>
                  </a:rPr>
                  <a:t>creates deeper hierarchy – slower to compute</a:t>
                </a:r>
              </a:p>
              <a:p>
                <a:r>
                  <a:rPr lang="en-US" dirty="0">
                    <a:latin typeface="+mn-lt"/>
                  </a:rPr>
                  <a:t>An alternative implementation of the OPTICS algorithm and many others can be found in the </a:t>
                </a:r>
                <a:r>
                  <a:rPr lang="en-US" dirty="0" err="1">
                    <a:latin typeface="+mn-lt"/>
                    <a:hlinkClick r:id="rId4"/>
                  </a:rPr>
                  <a:t>PyClustering</a:t>
                </a:r>
                <a:r>
                  <a:rPr lang="en-US" dirty="0">
                    <a:latin typeface="+mn-lt"/>
                    <a:hlinkClick r:id="rId4"/>
                  </a:rPr>
                  <a:t> package</a:t>
                </a:r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435325" y="920927"/>
                <a:ext cx="11321349" cy="5602877"/>
              </a:xfrm>
              <a:blipFill>
                <a:blip r:embed="rId5"/>
                <a:stretch>
                  <a:fillRect l="-1076" t="-1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933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BE494-E910-773D-B44C-2F639384B3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E7089-E77F-80B9-C868-CF2B01D7BC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Density-Based Clustering with Hierarchical DBSCAN - HDBSCAN</a:t>
            </a:r>
          </a:p>
        </p:txBody>
      </p:sp>
    </p:spTree>
    <p:extLst>
      <p:ext uri="{BB962C8B-B14F-4D97-AF65-F5344CB8AC3E}">
        <p14:creationId xmlns:p14="http://schemas.microsoft.com/office/powerpoint/2010/main" val="7836246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DFB5B-5798-85F1-5E9C-4F9AA4B0F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796F0F-A420-9F74-7C1B-FE39FEA807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F1A2F1-1302-A225-BC3C-BB8C95622B4E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HDBSCAN is an improvement over OPTICS </a:t>
                </a:r>
              </a:p>
              <a:p>
                <a:r>
                  <a:rPr lang="en-US" dirty="0">
                    <a:latin typeface="+mn-lt"/>
                  </a:rPr>
                  <a:t>HDBSCAN, </a:t>
                </a:r>
                <a:r>
                  <a:rPr lang="en-US" dirty="0">
                    <a:latin typeface="+mn-lt"/>
                    <a:hlinkClick r:id="rId3"/>
                  </a:rPr>
                  <a:t>Campello, </a:t>
                </a:r>
                <a:r>
                  <a:rPr lang="en-US" dirty="0" err="1">
                    <a:latin typeface="+mn-lt"/>
                    <a:hlinkClick r:id="rId3"/>
                  </a:rPr>
                  <a:t>Moulave</a:t>
                </a:r>
                <a:r>
                  <a:rPr lang="en-US" dirty="0">
                    <a:latin typeface="+mn-lt"/>
                    <a:hlinkClick r:id="rId3"/>
                  </a:rPr>
                  <a:t>, and Sander, 2013</a:t>
                </a:r>
                <a:r>
                  <a:rPr lang="en-US" dirty="0">
                    <a:latin typeface="+mn-lt"/>
                  </a:rPr>
                  <a:t> , is an adaptive hierarchical density clustering algorithm </a:t>
                </a:r>
              </a:p>
              <a:p>
                <a:r>
                  <a:rPr lang="en-US" dirty="0">
                    <a:latin typeface="+mn-lt"/>
                  </a:rPr>
                  <a:t>HDBSCAN algorithm derives from DBSCAN and OPTICS    </a:t>
                </a:r>
              </a:p>
              <a:p>
                <a:pPr lvl="1"/>
                <a:r>
                  <a:rPr lang="en-US" dirty="0">
                    <a:latin typeface="+mn-lt"/>
                  </a:rPr>
                  <a:t>HDBSCAN is faster than OPTICS,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func>
                      <m:funcPr>
                        <m:ctrlPr>
                          <a:rPr lang="en-US" b="0" i="0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>
                    <a:latin typeface="+mn-lt"/>
                  </a:rPr>
                  <a:t> vs. worst case for OPTICS,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HDBSCAN uses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memory, comparable to OPTICS, </a:t>
                </a:r>
              </a:p>
              <a:p>
                <a:r>
                  <a:rPr lang="en-US" dirty="0">
                    <a:latin typeface="+mn-lt"/>
                  </a:rPr>
                  <a:t>Efficient and scalable implementation of </a:t>
                </a:r>
                <a:r>
                  <a:rPr lang="en-US" b="1" dirty="0">
                    <a:latin typeface="+mn-lt"/>
                    <a:hlinkClick r:id="rId4"/>
                  </a:rPr>
                  <a:t>HDBSCAN Python package</a:t>
                </a:r>
                <a:r>
                  <a:rPr lang="en-US" dirty="0">
                    <a:latin typeface="+mn-lt"/>
                    <a:hlinkClick r:id="rId4"/>
                  </a:rPr>
                  <a:t> </a:t>
                </a:r>
                <a:r>
                  <a:rPr lang="en-US" dirty="0">
                    <a:latin typeface="+mn-lt"/>
                  </a:rPr>
                  <a:t> </a:t>
                </a:r>
              </a:p>
              <a:p>
                <a:pPr lvl="1"/>
                <a:r>
                  <a:rPr lang="en-US" b="1" dirty="0">
                    <a:solidFill>
                      <a:srgbClr val="C00000"/>
                    </a:solidFill>
                    <a:latin typeface="+mn-lt"/>
                  </a:rPr>
                  <a:t>DBSCAN is now obsolete!</a:t>
                </a:r>
              </a:p>
              <a:p>
                <a:r>
                  <a:rPr lang="en-US" dirty="0">
                    <a:latin typeface="+mn-lt"/>
                  </a:rPr>
                  <a:t>HDBSCAN has a few key parameters that control cluster formation  </a:t>
                </a: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8F1A2F1-1302-A225-BC3C-BB8C95622B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5"/>
                <a:stretch>
                  <a:fillRect l="-1077" t="-18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41867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8D6F1-B69F-14E7-2E08-E206E39BD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7E102A-E081-6F89-A751-392B9243C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AC7C7F-6626-D925-DFEE-3EED49CBF33C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80"/>
                <a:ext cx="11366549" cy="248997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HDBSCAN has an adaptive method to determine reachability distance   </a:t>
                </a:r>
              </a:p>
              <a:p>
                <a:r>
                  <a:rPr lang="en-US" dirty="0">
                    <a:latin typeface="+mn-lt"/>
                  </a:rPr>
                  <a:t>Reachability distance between two points,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>
                    <a:latin typeface="+mn-lt"/>
                  </a:rPr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+mn-lt"/>
                  </a:rPr>
                  <a:t>,is computed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𝑟𝑒𝑎𝑐ℎ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𝑚𝑎𝑥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𝑐𝑜𝑟𝑒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𝑐𝑜𝑟𝑒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+mn-lt"/>
                </a:endParaRPr>
              </a:p>
              <a:p>
                <a:r>
                  <a:rPr lang="en-US" dirty="0">
                    <a:latin typeface="+mn-lt"/>
                  </a:rPr>
                  <a:t>And core distance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𝑐𝑜𝑟𝑒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of point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>
                    <a:latin typeface="+mn-lt"/>
                  </a:rPr>
                  <a:t> is defined as the distance from the point to the </a:t>
                </a:r>
                <a:r>
                  <a:rPr lang="en-US" i="1" dirty="0">
                    <a:latin typeface="+mn-lt"/>
                  </a:rPr>
                  <a:t>kth</a:t>
                </a:r>
                <a:r>
                  <a:rPr lang="en-US" dirty="0">
                    <a:latin typeface="+mn-lt"/>
                  </a:rPr>
                  <a:t> most distant point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FAC7C7F-6626-D925-DFEE-3EED49CBF33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80"/>
                <a:ext cx="11366549" cy="2489972"/>
              </a:xfrm>
              <a:blipFill>
                <a:blip r:embed="rId3"/>
                <a:stretch>
                  <a:fillRect l="-1072" t="-4167" b="-22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26D693D-7FB0-C115-6A53-BF54D463E8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1018" y="3186716"/>
            <a:ext cx="5290322" cy="367128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2C38CE8-AD1E-B508-0750-8F2FA4E43E5F}"/>
              </a:ext>
            </a:extLst>
          </p:cNvPr>
          <p:cNvSpPr txBox="1"/>
          <p:nvPr/>
        </p:nvSpPr>
        <p:spPr>
          <a:xfrm>
            <a:off x="537275" y="3529186"/>
            <a:ext cx="5899085" cy="16927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Example: core distance of a point to </a:t>
            </a:r>
            <a:r>
              <a:rPr lang="en-US" sz="2800" i="1" dirty="0"/>
              <a:t>k</a:t>
            </a:r>
            <a:r>
              <a:rPr lang="en-US" sz="2800" dirty="0"/>
              <a:t> neighbors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algn="ctr"/>
            <a:r>
              <a:rPr lang="en-US" sz="2000" dirty="0">
                <a:hlinkClick r:id="rId5"/>
              </a:rPr>
              <a:t>Illustration from HDBSCAN documentation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742457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61352-1779-4E4B-D190-1A493047D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539C0-4FFC-4EA9-C4A0-220C3BB89D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EB7B48-68D4-80D5-C81E-64410B59BE93}"/>
              </a:ext>
            </a:extLst>
          </p:cNvPr>
          <p:cNvSpPr txBox="1"/>
          <p:nvPr/>
        </p:nvSpPr>
        <p:spPr>
          <a:xfrm>
            <a:off x="584201" y="1157288"/>
            <a:ext cx="5395422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HDBSCAN adaptively determines reachability distance 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In less dense regions the core distance increases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In dense regions core distance is shorter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Using variable core distance makes HDBSCAN more adaptive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algn="ctr"/>
            <a:r>
              <a:rPr lang="en-US" sz="2000" dirty="0">
                <a:hlinkClick r:id="rId3"/>
              </a:rPr>
              <a:t>Illustration from HDBSCAN documentation</a:t>
            </a:r>
            <a:endParaRPr lang="en-US" sz="2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AF4A1B-092D-F96E-7124-C8453615BB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3329" y="1207166"/>
            <a:ext cx="6194718" cy="4340194"/>
          </a:xfrm>
          <a:prstGeom prst="rect">
            <a:avLst/>
          </a:prstGeom>
        </p:spPr>
      </p:pic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F51CF8A-0B53-B8CD-F417-CBFC8B58459B}"/>
              </a:ext>
            </a:extLst>
          </p:cNvPr>
          <p:cNvCxnSpPr>
            <a:cxnSpLocks/>
          </p:cNvCxnSpPr>
          <p:nvPr/>
        </p:nvCxnSpPr>
        <p:spPr>
          <a:xfrm flipV="1">
            <a:off x="5341172" y="2081605"/>
            <a:ext cx="3706009" cy="338866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7D805A23-1D9E-111E-945E-9BD6AEFA65C1}"/>
              </a:ext>
            </a:extLst>
          </p:cNvPr>
          <p:cNvCxnSpPr>
            <a:cxnSpLocks/>
          </p:cNvCxnSpPr>
          <p:nvPr/>
        </p:nvCxnSpPr>
        <p:spPr>
          <a:xfrm flipV="1">
            <a:off x="5717689" y="3076687"/>
            <a:ext cx="2710927" cy="10757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35393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85159-2DCB-8C63-877F-F33153E7C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5A0C6D-8DE3-7399-7B98-57C34D0B99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733" y="897414"/>
            <a:ext cx="6197888" cy="43063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2FB776B6-FC8A-7462-0BCC-42BD3EF76F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712F3E-810E-CF63-02B3-463C6AEB1928}"/>
              </a:ext>
            </a:extLst>
          </p:cNvPr>
          <p:cNvSpPr txBox="1"/>
          <p:nvPr/>
        </p:nvSpPr>
        <p:spPr>
          <a:xfrm>
            <a:off x="584201" y="1157288"/>
            <a:ext cx="55118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HDBSCAN adaptively determines reachability distance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Example: Distance between two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reachability distance is distance is larger of core distances of the points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Reachability distance is dynamically determined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800" dirty="0"/>
          </a:p>
          <a:p>
            <a:pPr algn="ctr"/>
            <a:r>
              <a:rPr lang="en-US" sz="2000" dirty="0">
                <a:hlinkClick r:id="rId4"/>
              </a:rPr>
              <a:t>Illustration from HDBSCAN documentation</a:t>
            </a:r>
            <a:endParaRPr lang="en-US" sz="200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5480ACE6-D58F-E364-B912-AFE3CB8EE8FA}"/>
              </a:ext>
            </a:extLst>
          </p:cNvPr>
          <p:cNvCxnSpPr>
            <a:cxnSpLocks/>
          </p:cNvCxnSpPr>
          <p:nvPr/>
        </p:nvCxnSpPr>
        <p:spPr>
          <a:xfrm flipV="1">
            <a:off x="5894522" y="1873135"/>
            <a:ext cx="3266103" cy="139700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1204862-F9F2-EA0A-6214-7B221A904BA4}"/>
              </a:ext>
            </a:extLst>
          </p:cNvPr>
          <p:cNvCxnSpPr>
            <a:cxnSpLocks/>
          </p:cNvCxnSpPr>
          <p:nvPr/>
        </p:nvCxnSpPr>
        <p:spPr>
          <a:xfrm>
            <a:off x="5894522" y="3270142"/>
            <a:ext cx="3016722" cy="459502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0700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BFFE9-6513-53B4-77E5-0077ECA747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23EB8B-1B3F-A2CD-93AA-B061E56FBA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EBFDAE-51D3-C82D-70BF-BEC37EF6F61F}"/>
                  </a:ext>
                </a:extLst>
              </p:cNvPr>
              <p:cNvSpPr>
                <a:spLocks noGrp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+mn-lt"/>
                  </a:rPr>
                  <a:t>HDBSCAN requires efficiently building a massive scale proximity graph</a:t>
                </a:r>
              </a:p>
              <a:p>
                <a:r>
                  <a:rPr lang="en-US" dirty="0">
                    <a:latin typeface="+mn-lt"/>
                  </a:rPr>
                  <a:t>The full graph has prohibitive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complexity </a:t>
                </a:r>
              </a:p>
              <a:p>
                <a:r>
                  <a:rPr lang="en-US" dirty="0">
                    <a:latin typeface="+mn-lt"/>
                  </a:rPr>
                  <a:t>Idea: build a single linkage minimum spanning tree </a:t>
                </a:r>
              </a:p>
              <a:p>
                <a:pPr lvl="1"/>
                <a:r>
                  <a:rPr lang="en-US" dirty="0">
                    <a:latin typeface="+mn-lt"/>
                  </a:rPr>
                  <a:t>Tree graph is built sequentially, one edge at a time </a:t>
                </a:r>
              </a:p>
              <a:p>
                <a:pPr lvl="1"/>
                <a:r>
                  <a:rPr lang="en-US" dirty="0">
                    <a:latin typeface="+mn-lt"/>
                  </a:rPr>
                  <a:t>Edge only constructed if neighbors are within distance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>
                    <a:latin typeface="+mn-lt"/>
                  </a:rPr>
                  <a:t> </a:t>
                </a:r>
              </a:p>
              <a:p>
                <a:r>
                  <a:rPr lang="en-US" b="1" dirty="0">
                    <a:latin typeface="+mn-lt"/>
                    <a:hlinkClick r:id="rId3"/>
                  </a:rPr>
                  <a:t>Prim’s algorithm </a:t>
                </a:r>
                <a:r>
                  <a:rPr lang="en-US" dirty="0">
                    <a:latin typeface="+mn-lt"/>
                  </a:rPr>
                  <a:t>is an efficient algorithm to build a minimum spanning tree</a:t>
                </a:r>
                <a:endParaRPr lang="en-US" dirty="0"/>
              </a:p>
              <a:p>
                <a:pPr lvl="1"/>
                <a:r>
                  <a:rPr lang="en-US" dirty="0">
                    <a:latin typeface="+mn-lt"/>
                  </a:rPr>
                  <a:t>Efficiently search for neighbors using a heap to manage distances </a:t>
                </a:r>
              </a:p>
              <a:p>
                <a:pPr lvl="1"/>
                <a:r>
                  <a:rPr lang="en-US" dirty="0">
                    <a:latin typeface="+mn-lt"/>
                  </a:rPr>
                  <a:t>For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nodes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 edges complexity can be as low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d>
                            <m:r>
                              <a:rPr lang="en-US" b="0" i="0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𝑁</m:t>
                                </m:r>
                              </m:e>
                            </m:d>
                          </m:e>
                        </m:func>
                      </m:e>
                    </m:d>
                  </m:oMath>
                </a14:m>
                <a:endParaRPr lang="en-US" dirty="0">
                  <a:latin typeface="+mn-lt"/>
                </a:endParaRPr>
              </a:p>
              <a:p>
                <a:pPr lvl="1"/>
                <a:r>
                  <a:rPr lang="en-US" dirty="0">
                    <a:latin typeface="+mn-lt"/>
                  </a:rPr>
                  <a:t>The number of edges,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dirty="0">
                    <a:latin typeface="+mn-lt"/>
                  </a:rPr>
                  <a:t>, depends on chosen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endParaRPr lang="en-US" dirty="0">
                  <a:latin typeface="+mn-lt"/>
                </a:endParaRPr>
              </a:p>
              <a:p>
                <a:endParaRPr lang="en-US" dirty="0">
                  <a:latin typeface="+mn-lt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DEBFDAE-51D3-C82D-70BF-BEC37EF6F6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0"/>
              </p:nvPr>
            </p:nvSpPr>
            <p:spPr>
              <a:xfrm>
                <a:off x="537275" y="896079"/>
                <a:ext cx="11321349" cy="5602877"/>
              </a:xfrm>
              <a:blipFill>
                <a:blip r:embed="rId4"/>
                <a:stretch>
                  <a:fillRect l="-1077" t="-1850" r="-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17356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90532E-0C70-AB88-46A8-E16DD8CC6D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4A499-96D4-2E48-7F52-DA8230A88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AC2651-1FB3-C92C-8CD3-B17DB0C80248}"/>
                  </a:ext>
                </a:extLst>
              </p:cNvPr>
              <p:cNvSpPr txBox="1"/>
              <p:nvPr/>
            </p:nvSpPr>
            <p:spPr>
              <a:xfrm>
                <a:off x="584200" y="1157288"/>
                <a:ext cx="10993033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HDBSCAN uses </a:t>
                </a:r>
                <a:r>
                  <a:rPr lang="en-US" sz="2800" dirty="0">
                    <a:hlinkClick r:id="rId3"/>
                  </a:rPr>
                  <a:t>Prim’s algorithm </a:t>
                </a:r>
                <a:r>
                  <a:rPr lang="en-US" sz="2800" dirty="0"/>
                  <a:t>to construct a </a:t>
                </a:r>
                <a:r>
                  <a:rPr lang="en-US" sz="2800" b="1" dirty="0"/>
                  <a:t>minimum spanning tree </a:t>
                </a:r>
                <a:r>
                  <a:rPr lang="en-US" sz="2800" dirty="0"/>
                  <a:t>proximity graph by the following steps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Start with any randomly selected node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Add edge for nearest neighbor within distance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sz="2800" dirty="0"/>
                  <a:t>, the </a:t>
                </a:r>
                <a:r>
                  <a:rPr lang="en-US" sz="2800" b="1" dirty="0"/>
                  <a:t>reachable distance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Recursively explore for nearest neighbors from node and add edge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If no near neighbors, randomly select </a:t>
                </a:r>
                <a:r>
                  <a:rPr lang="en-US" sz="2800" dirty="0" err="1"/>
                  <a:t>aniother</a:t>
                </a:r>
                <a:r>
                  <a:rPr lang="en-US" sz="2800" dirty="0"/>
                  <a:t> node on the graph and continue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sz="2800" dirty="0"/>
                  <a:t>Repeat steps 2, 3 and 4 until all nodes in graph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5AC2651-1FB3-C92C-8CD3-B17DB0C802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" y="1157288"/>
                <a:ext cx="10993033" cy="3970318"/>
              </a:xfrm>
              <a:prstGeom prst="rect">
                <a:avLst/>
              </a:prstGeom>
              <a:blipFill>
                <a:blip r:embed="rId4"/>
                <a:stretch>
                  <a:fillRect l="-1165" t="-1536" b="-3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06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84C7F-3303-68A0-62BC-44C5573F4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B6A34D4-CAEF-CF2C-87A3-DE9D2A623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4278" y="837360"/>
            <a:ext cx="6257721" cy="45095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A3034A-D139-6C03-4827-0C17DE8C62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052290-598C-4D13-D6C2-3AAA4BC93E4C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5511800" cy="501675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Example of minimum spanning tree constructed with </a:t>
                </a:r>
                <a:r>
                  <a:rPr lang="en-US" sz="2800" dirty="0">
                    <a:hlinkClick r:id="rId4"/>
                  </a:rPr>
                  <a:t>Prim’s algorithm</a:t>
                </a:r>
                <a:endParaRPr lang="en-US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Dendrogram is constructed edge by edge from randomly selected nodes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Edge length is proximity – note color scale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Hierarchy of clusters created by removing edges sequentially with length </a:t>
                </a:r>
                <a14:m>
                  <m:oMath xmlns:m="http://schemas.openxmlformats.org/officeDocument/2006/math"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𝜀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</m:oMath>
                </a14:m>
                <a:r>
                  <a:rPr lang="en-US" sz="2800" dirty="0"/>
                  <a:t> </a:t>
                </a:r>
                <a:endParaRPr lang="en-US" sz="2800" dirty="0">
                  <a:hlinkClick r:id="rId5"/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sz="2000" dirty="0">
                  <a:hlinkClick r:id="rId5"/>
                </a:endParaRPr>
              </a:p>
              <a:p>
                <a:r>
                  <a:rPr lang="en-US" sz="2000" dirty="0">
                    <a:hlinkClick r:id="rId5"/>
                  </a:rPr>
                  <a:t>Illustration from HDBSCAN documentation</a:t>
                </a:r>
                <a:endParaRPr lang="en-US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4052290-598C-4D13-D6C2-3AAA4BC93E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5511800" cy="5016758"/>
              </a:xfrm>
              <a:prstGeom prst="rect">
                <a:avLst/>
              </a:prstGeom>
              <a:blipFill>
                <a:blip r:embed="rId6"/>
                <a:stretch>
                  <a:fillRect l="-2323" t="-1215" r="-2987" b="-12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50731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6F4011-E4F1-CBC5-11C1-1437356576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C7DD581-5BE5-87F0-7A36-5B72C4C069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912" y="1299680"/>
            <a:ext cx="6336046" cy="44010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0DA93B-43A2-7A9E-1E66-1A80F858A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CCAA3C-C6DE-A717-A12B-5CCCAC523C9F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5511800" cy="4708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HDBSCAN provides a method aggregate over the dendrogram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Vertical axis is parameterized as inverse distance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=1/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28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Notice the inverted scale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Width of the marker represents number of points in set</a:t>
                </a:r>
              </a:p>
              <a:p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800" dirty="0"/>
              </a:p>
              <a:p>
                <a:pPr algn="ctr"/>
                <a:r>
                  <a:rPr lang="en-US" sz="2000" dirty="0">
                    <a:hlinkClick r:id="rId4"/>
                  </a:rPr>
                  <a:t>Illustration from HDBSCAN documentation</a:t>
                </a:r>
                <a:endParaRPr lang="en-US" sz="2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ECCAA3C-C6DE-A717-A12B-5CCCAC523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5511800" cy="4708981"/>
              </a:xfrm>
              <a:prstGeom prst="rect">
                <a:avLst/>
              </a:prstGeom>
              <a:blipFill>
                <a:blip r:embed="rId5"/>
                <a:stretch>
                  <a:fillRect l="-2323" t="-1295" b="-14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97D160A-4A15-8D14-B20A-7F3F5614BAFF}"/>
              </a:ext>
            </a:extLst>
          </p:cNvPr>
          <p:cNvCxnSpPr>
            <a:cxnSpLocks/>
          </p:cNvCxnSpPr>
          <p:nvPr/>
        </p:nvCxnSpPr>
        <p:spPr>
          <a:xfrm flipV="1">
            <a:off x="5811864" y="2156908"/>
            <a:ext cx="1901369" cy="1986306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7338A187-2526-E17A-E3A2-E8C0C6F4B623}"/>
              </a:ext>
            </a:extLst>
          </p:cNvPr>
          <p:cNvCxnSpPr>
            <a:cxnSpLocks/>
          </p:cNvCxnSpPr>
          <p:nvPr/>
        </p:nvCxnSpPr>
        <p:spPr>
          <a:xfrm flipV="1">
            <a:off x="5811864" y="2727064"/>
            <a:ext cx="3235317" cy="141615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EFBDCA8-68E6-F2A2-7DF1-3A5854E77100}"/>
              </a:ext>
            </a:extLst>
          </p:cNvPr>
          <p:cNvCxnSpPr>
            <a:cxnSpLocks/>
          </p:cNvCxnSpPr>
          <p:nvPr/>
        </p:nvCxnSpPr>
        <p:spPr>
          <a:xfrm flipV="1">
            <a:off x="5238427" y="3523281"/>
            <a:ext cx="573437" cy="98156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99365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DF04D-4096-0412-7F72-7AF4CDB34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0F74567-E53C-E0B1-5616-46548C1DB1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7912" y="1299680"/>
            <a:ext cx="6336046" cy="44010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68EFB7-5978-269A-4D2C-273591E52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A74CA4-C1D0-C513-C3D7-028BD1B674D3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5511800" cy="51398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dirty="0"/>
                  <a:t>HDBSCAN provides a method to aggregate a dendrogram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Vertical axis is parameterized as inverse distance  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𝜆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=1/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</m:oMath>
                  </m:oMathPara>
                </a14:m>
                <a:endParaRPr lang="en-US" sz="28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Connected components (clusters) in the proximity graph are characterized by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𝑏𝑖𝑟𝑡ℎ</m:t>
                        </m:r>
                      </m:sub>
                    </m:sSub>
                  </m:oMath>
                </a14:m>
                <a:r>
                  <a:rPr lang="en-US" sz="2800" dirty="0"/>
                  <a:t>: the  component appears</a:t>
                </a:r>
              </a:p>
              <a:p>
                <a:pPr marL="742950" lvl="1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𝑑𝑒𝑎𝑡ℎ</m:t>
                        </m:r>
                      </m:sub>
                    </m:sSub>
                  </m:oMath>
                </a14:m>
                <a:r>
                  <a:rPr lang="en-US" sz="2800" dirty="0"/>
                  <a:t>: the component disappears</a:t>
                </a:r>
              </a:p>
              <a:p>
                <a:pPr algn="ctr"/>
                <a:r>
                  <a:rPr lang="en-US" sz="2000" dirty="0">
                    <a:hlinkClick r:id="rId4"/>
                  </a:rPr>
                  <a:t>Illustration from HDBSCAN documentation</a:t>
                </a:r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EA74CA4-C1D0-C513-C3D7-028BD1B674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5511800" cy="5139869"/>
              </a:xfrm>
              <a:prstGeom prst="rect">
                <a:avLst/>
              </a:prstGeom>
              <a:blipFill>
                <a:blip r:embed="rId5"/>
                <a:stretch>
                  <a:fillRect l="-2323" t="-1186" r="-1881" b="-11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45E5B076-67CC-7E9A-5661-4B4DD97142E0}"/>
              </a:ext>
            </a:extLst>
          </p:cNvPr>
          <p:cNvCxnSpPr>
            <a:cxnSpLocks/>
          </p:cNvCxnSpPr>
          <p:nvPr/>
        </p:nvCxnSpPr>
        <p:spPr>
          <a:xfrm flipV="1">
            <a:off x="6023675" y="1921790"/>
            <a:ext cx="3239145" cy="291884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D884CB2-C251-ED26-6671-9940099A3C8F}"/>
              </a:ext>
            </a:extLst>
          </p:cNvPr>
          <p:cNvCxnSpPr>
            <a:cxnSpLocks/>
          </p:cNvCxnSpPr>
          <p:nvPr/>
        </p:nvCxnSpPr>
        <p:spPr>
          <a:xfrm flipV="1">
            <a:off x="5527729" y="2407403"/>
            <a:ext cx="3523281" cy="2965343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83781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61B5D-386F-1322-C077-AC44A722D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D4168-BCED-F75C-6E54-C246EF72E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B3DAA9-F8AD-C98D-DD91-7B737E1C01A7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10884546" cy="38574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for any value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A flat cluster model assigns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/>
                  <a:t>, to one unique cluster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b="1" dirty="0"/>
                  <a:t>Stability of a cluster</a:t>
                </a:r>
                <a:r>
                  <a:rPr lang="en-US" sz="2800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800" dirty="0"/>
                  <a:t>, is defined</a:t>
                </a:r>
              </a:p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𝑆</m:t>
                      </m:r>
                      <m:d>
                        <m:d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  <m:r>
                            <m:rPr>
                              <m:brk m:alnAt="7"/>
                            </m:rP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sz="28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</m:e>
                      </m:nary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e>
                        <m: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𝑏𝑖𝑟𝑡ℎ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2800" dirty="0"/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Notice that any particular point,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/>
                  <a:t>, can drop out of the cluster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𝑑𝑒𝑎𝑡ℎ</m:t>
                        </m:r>
                      </m:sub>
                    </m:sSub>
                  </m:oMath>
                </a14:m>
                <a:r>
                  <a:rPr lang="en-US" sz="2800" dirty="0"/>
                  <a:t> is reached</a:t>
                </a:r>
              </a:p>
              <a:p>
                <a:endParaRPr lang="en-US" sz="28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4B3DAA9-F8AD-C98D-DD91-7B737E1C0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10884546" cy="3857403"/>
              </a:xfrm>
              <a:prstGeom prst="rect">
                <a:avLst/>
              </a:prstGeom>
              <a:blipFill>
                <a:blip r:embed="rId3"/>
                <a:stretch>
                  <a:fillRect l="-1176" t="-1580" r="-5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62854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1875B-9D2E-99F8-D736-2900044D3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A1DBAC69-E324-A451-550E-667D50C6C0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4226" y="1705470"/>
            <a:ext cx="5756615" cy="47506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36A9B1-D7C6-4D2C-999F-E1312D206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A0977-E0C7-592F-7F14-B93C0863064D}"/>
                  </a:ext>
                </a:extLst>
              </p:cNvPr>
              <p:cNvSpPr txBox="1"/>
              <p:nvPr/>
            </p:nvSpPr>
            <p:spPr>
              <a:xfrm>
                <a:off x="584200" y="889241"/>
                <a:ext cx="11344328" cy="954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for any value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Two possible reasons for cluster death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CF2A0977-E0C7-592F-7F14-B93C086306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" y="889241"/>
                <a:ext cx="11344328" cy="954107"/>
              </a:xfrm>
              <a:prstGeom prst="rect">
                <a:avLst/>
              </a:prstGeom>
              <a:blipFill>
                <a:blip r:embed="rId4"/>
                <a:stretch>
                  <a:fillRect l="-1128" t="-6410" b="-179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4DE06AA-AC9A-DD75-23F4-20B215C35A64}"/>
              </a:ext>
            </a:extLst>
          </p:cNvPr>
          <p:cNvCxnSpPr>
            <a:cxnSpLocks/>
          </p:cNvCxnSpPr>
          <p:nvPr/>
        </p:nvCxnSpPr>
        <p:spPr>
          <a:xfrm flipV="1">
            <a:off x="4862456" y="3177153"/>
            <a:ext cx="1651998" cy="79241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52DBFC7-9D7A-3CDD-44F4-2A3C3953CB90}"/>
              </a:ext>
            </a:extLst>
          </p:cNvPr>
          <p:cNvCxnSpPr>
            <a:cxnSpLocks/>
          </p:cNvCxnSpPr>
          <p:nvPr/>
        </p:nvCxnSpPr>
        <p:spPr>
          <a:xfrm flipV="1">
            <a:off x="5171268" y="4375688"/>
            <a:ext cx="1379349" cy="1079715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58ACF6C-F02C-AFF7-6917-11F1948880B2}"/>
              </a:ext>
            </a:extLst>
          </p:cNvPr>
          <p:cNvSpPr txBox="1"/>
          <p:nvPr/>
        </p:nvSpPr>
        <p:spPr>
          <a:xfrm>
            <a:off x="6254226" y="6407927"/>
            <a:ext cx="58046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000" dirty="0">
                <a:hlinkClick r:id="rId5"/>
              </a:rPr>
              <a:t>figure from Campello, </a:t>
            </a:r>
            <a:r>
              <a:rPr lang="en-US" sz="2000" dirty="0" err="1">
                <a:hlinkClick r:id="rId5"/>
              </a:rPr>
              <a:t>Moulave</a:t>
            </a:r>
            <a:r>
              <a:rPr lang="en-US" sz="2000" dirty="0">
                <a:hlinkClick r:id="rId5"/>
              </a:rPr>
              <a:t>, and Sander, 2013</a:t>
            </a:r>
            <a:r>
              <a:rPr lang="en-US" sz="2000" dirty="0"/>
              <a:t>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DE76FA5-A9D8-E496-DC9A-02092EC358DE}"/>
                  </a:ext>
                </a:extLst>
              </p:cNvPr>
              <p:cNvSpPr txBox="1"/>
              <p:nvPr/>
            </p:nvSpPr>
            <p:spPr>
              <a:xfrm>
                <a:off x="158571" y="3641991"/>
                <a:ext cx="584022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14400" lvl="1" indent="-457200">
                  <a:buFont typeface="+mj-lt"/>
                  <a:buAutoNum type="arabicPeriod" startAt="2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𝑏𝑖𝑟𝑡ℎ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𝑑𝑒𝑎𝑡ℎ</m:t>
                        </m:r>
                      </m:sub>
                    </m:sSub>
                    <m:r>
                      <m:rPr>
                        <m:nor/>
                      </m:rPr>
                      <a:rPr lang="en-US" sz="24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m:rPr>
                        <m:nor/>
                      </m:rPr>
                      <a:rPr lang="en-US" sz="24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marL="1428750" lvl="2" indent="-5143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Component,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sz="2400" dirty="0"/>
                  <a:t>, is split in two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ADE76FA5-A9D8-E496-DC9A-02092EC358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8571" y="3641991"/>
                <a:ext cx="5840224" cy="830997"/>
              </a:xfrm>
              <a:prstGeom prst="rect">
                <a:avLst/>
              </a:prstGeom>
              <a:blipFill>
                <a:blip r:embed="rId6"/>
                <a:stretch>
                  <a:fillRect t="-5839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BD45538-7E2C-B1CB-0BD3-C29E1F4B6176}"/>
                  </a:ext>
                </a:extLst>
              </p:cNvPr>
              <p:cNvSpPr txBox="1"/>
              <p:nvPr/>
            </p:nvSpPr>
            <p:spPr>
              <a:xfrm>
                <a:off x="559918" y="5256191"/>
                <a:ext cx="537785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71550" lvl="1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𝑏𝑖𝑟𝑡ℎ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𝑑𝑒𝑎𝑡ℎ</m:t>
                        </m:r>
                      </m:sub>
                    </m:sSub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</m:oMath>
                </a14:m>
                <a:endParaRPr lang="en-US" sz="2400" dirty="0"/>
              </a:p>
              <a:p>
                <a:pPr marL="1428750" lvl="2" indent="-514350">
                  <a:buFont typeface="Arial" panose="020B0604020202020204" pitchFamily="34" charset="0"/>
                  <a:buChar char="•"/>
                </a:pPr>
                <a:r>
                  <a:rPr lang="en-US" sz="2400" dirty="0"/>
                  <a:t>Component,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/>
                  <a:t>, is split in two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BD45538-7E2C-B1CB-0BD3-C29E1F4B6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18" y="5256191"/>
                <a:ext cx="5377858" cy="830997"/>
              </a:xfrm>
              <a:prstGeom prst="rect">
                <a:avLst/>
              </a:prstGeom>
              <a:blipFill>
                <a:blip r:embed="rId7"/>
                <a:stretch>
                  <a:fillRect t="-6569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F091E4-A132-0966-C221-3C922CF9E641}"/>
                  </a:ext>
                </a:extLst>
              </p:cNvPr>
              <p:cNvSpPr txBox="1"/>
              <p:nvPr/>
            </p:nvSpPr>
            <p:spPr>
              <a:xfrm>
                <a:off x="328735" y="1836922"/>
                <a:ext cx="584022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71550" lvl="1" indent="-514350">
                  <a:buFont typeface="+mj-lt"/>
                  <a:buAutoNum type="arabicPeriod" startAt="3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𝑑𝑒𝑎𝑡ℎ</m:t>
                        </m:r>
                      </m:sub>
                    </m:sSub>
                    <m:r>
                      <m:rPr>
                        <m:nor/>
                      </m:rPr>
                      <a:rPr lang="en-US" sz="240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𝑑𝑒𝑎𝑡ℎ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5</m:t>
                        </m:r>
                      </m:sub>
                    </m:sSub>
                    <m:r>
                      <m:rPr>
                        <m:nor/>
                      </m:rPr>
                      <a:rPr lang="en-US" sz="2400" i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func>
                        <m:funcPr>
                          <m:ctrl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𝑐𝑙𝑢𝑠𝑡𝑒𝑟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𝑠𝑖𝑧𝑒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  <a:p>
                <a:pPr lvl="2"/>
                <a14:m>
                  <m:oMathPara xmlns:m="http://schemas.openxmlformats.org/officeDocument/2006/math">
                    <m:oMath>
                      <m:d>
                        <m:dPr>
                          <m:begChr m:val="|"/>
                          <m:endChr m:val="|"/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&lt;</m:t>
                      </m:r>
                      <m:func>
                        <m:funcPr>
                          <m:ctrl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𝑐𝑙𝑢𝑠𝑡𝑒𝑟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𝑠𝑖𝑧𝑒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FF091E4-A132-0966-C221-3C922CF9E6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8735" y="1836922"/>
                <a:ext cx="5840224" cy="1200329"/>
              </a:xfrm>
              <a:prstGeom prst="rect">
                <a:avLst/>
              </a:prstGeom>
              <a:blipFill>
                <a:blip r:embed="rId8"/>
                <a:stretch>
                  <a:fillRect t="-40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9356478-BA35-5DD7-8F92-21B5C80DF1AA}"/>
              </a:ext>
            </a:extLst>
          </p:cNvPr>
          <p:cNvCxnSpPr>
            <a:cxnSpLocks/>
          </p:cNvCxnSpPr>
          <p:nvPr/>
        </p:nvCxnSpPr>
        <p:spPr>
          <a:xfrm>
            <a:off x="4399878" y="2086984"/>
            <a:ext cx="2925654" cy="17715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3587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6" grpId="0"/>
      <p:bldP spid="17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09A85-2423-0FF8-F357-9C29B7A71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1D659-E95F-C81F-3570-0CCDD5259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50A8E5-8247-0E7B-7C23-7CAD323FD763}"/>
                  </a:ext>
                </a:extLst>
              </p:cNvPr>
              <p:cNvSpPr txBox="1"/>
              <p:nvPr/>
            </p:nvSpPr>
            <p:spPr>
              <a:xfrm>
                <a:off x="584200" y="1157288"/>
                <a:ext cx="10993033" cy="47850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for any value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r>
                  <a:rPr lang="en-US" sz="2800" dirty="0"/>
                  <a:t> 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A flat cluster model assigns each observation,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/>
                  <a:t>, to one unique cluster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Optimal clusters are formed by maximizing global stability</a:t>
                </a:r>
              </a:p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800" i="0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8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b>
                                <m:sSubPr>
                                  <m:ctrlPr>
                                    <a:rPr lang="en-US" sz="2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𝜅</m:t>
                                  </m:r>
                                </m:sub>
                              </m:sSub>
                            </m:lim>
                          </m:limLow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fName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𝐽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=2</m:t>
                              </m:r>
                            </m:sub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𝜅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𝛿</m:t>
                                  </m:r>
                                </m:e>
                                <m:sub>
                                  <m:r>
                                    <a:rPr lang="en-US" sz="2800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US" sz="28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nary>
                        </m:e>
                      </m:func>
                    </m:oMath>
                  </m:oMathPara>
                </a14:m>
                <a:endParaRPr lang="en-US" sz="2800" dirty="0"/>
              </a:p>
              <a:p>
                <a:pPr lvl="1"/>
                <a:r>
                  <a:rPr lang="en-US" sz="2800" dirty="0"/>
                  <a:t>Where,</a:t>
                </a:r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sz="2800" dirty="0"/>
                  <a:t> is the indicator of the presence or absence of the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800" dirty="0"/>
                  <a:t> in the model</a:t>
                </a:r>
              </a:p>
              <a:p>
                <a:pPr marL="914400" lvl="1" indent="-45720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And subject to a constraint that each point,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sz="2800" dirty="0"/>
                  <a:t>, is only in one cluster</a:t>
                </a:r>
              </a:p>
              <a:p>
                <a:pPr lvl="1"/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950A8E5-8247-0E7B-7C23-7CAD323FD7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" y="1157288"/>
                <a:ext cx="10993033" cy="4785028"/>
              </a:xfrm>
              <a:prstGeom prst="rect">
                <a:avLst/>
              </a:prstGeom>
              <a:blipFill>
                <a:blip r:embed="rId3"/>
                <a:stretch>
                  <a:fillRect l="-1165" t="-127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9732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B4ECF-C834-7DB7-2048-7A0E49A0E9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63746C4F-2EC8-51CE-188E-02C676028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14142" y="1958225"/>
            <a:ext cx="5377858" cy="434638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54C1C5D-57C2-6971-5F7D-8C498FF8A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6868FD-BC03-D9BE-FE4B-89BF1EC344EC}"/>
                  </a:ext>
                </a:extLst>
              </p:cNvPr>
              <p:cNvSpPr txBox="1"/>
              <p:nvPr/>
            </p:nvSpPr>
            <p:spPr>
              <a:xfrm>
                <a:off x="584200" y="889241"/>
                <a:ext cx="1134432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for any value of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𝜆</m:t>
                    </m:r>
                  </m:oMath>
                </a14:m>
                <a:endParaRPr lang="en-US" sz="28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56868FD-BC03-D9BE-FE4B-89BF1EC344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0" y="889241"/>
                <a:ext cx="11344328" cy="523220"/>
              </a:xfrm>
              <a:prstGeom prst="rect">
                <a:avLst/>
              </a:prstGeom>
              <a:blipFill>
                <a:blip r:embed="rId4"/>
                <a:stretch>
                  <a:fillRect l="-1128" t="-11628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AB81245-29EE-C0B4-80C8-DC990DE42BE0}"/>
              </a:ext>
            </a:extLst>
          </p:cNvPr>
          <p:cNvCxnSpPr>
            <a:cxnSpLocks/>
          </p:cNvCxnSpPr>
          <p:nvPr/>
        </p:nvCxnSpPr>
        <p:spPr>
          <a:xfrm flipV="1">
            <a:off x="5052447" y="4281013"/>
            <a:ext cx="2862021" cy="70723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0A770B9-3F78-A17D-21E9-714513C594B1}"/>
              </a:ext>
            </a:extLst>
          </p:cNvPr>
          <p:cNvCxnSpPr>
            <a:cxnSpLocks/>
          </p:cNvCxnSpPr>
          <p:nvPr/>
        </p:nvCxnSpPr>
        <p:spPr>
          <a:xfrm flipV="1">
            <a:off x="5507064" y="5109275"/>
            <a:ext cx="1932756" cy="42362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46C5E849-74DB-D21C-F4B0-6F13613CCACB}"/>
              </a:ext>
            </a:extLst>
          </p:cNvPr>
          <p:cNvSpPr txBox="1"/>
          <p:nvPr/>
        </p:nvSpPr>
        <p:spPr>
          <a:xfrm>
            <a:off x="6276814" y="6304605"/>
            <a:ext cx="58046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000" dirty="0">
                <a:hlinkClick r:id="rId5"/>
              </a:rPr>
              <a:t>figure from Campello, </a:t>
            </a:r>
            <a:r>
              <a:rPr lang="en-US" sz="2000" dirty="0" err="1">
                <a:hlinkClick r:id="rId5"/>
              </a:rPr>
              <a:t>Moulave</a:t>
            </a:r>
            <a:r>
              <a:rPr lang="en-US" sz="2000" dirty="0">
                <a:hlinkClick r:id="rId5"/>
              </a:rPr>
              <a:t>, and Sander, 2013</a:t>
            </a:r>
            <a:r>
              <a:rPr lang="en-US" sz="2000" dirty="0"/>
              <a:t>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2036E0D-1D9E-91FD-6DBE-FFA94316F8F0}"/>
              </a:ext>
            </a:extLst>
          </p:cNvPr>
          <p:cNvSpPr txBox="1"/>
          <p:nvPr/>
        </p:nvSpPr>
        <p:spPr>
          <a:xfrm>
            <a:off x="113379" y="3936238"/>
            <a:ext cx="584022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71550" lvl="1" indent="-514350">
              <a:buFont typeface="+mj-lt"/>
              <a:buAutoNum type="arabicPeriod" startAt="2"/>
            </a:pPr>
            <a:r>
              <a:rPr lang="en-US" sz="2400" dirty="0"/>
              <a:t>In some cases, find larger </a:t>
            </a:r>
            <a:r>
              <a:rPr lang="en-US" sz="2400" dirty="0">
                <a:latin typeface="Cambria Math" panose="02040503050406030204" pitchFamily="18" charset="0"/>
              </a:rPr>
              <a:t>𝐽</a:t>
            </a:r>
            <a:r>
              <a:rPr lang="en-US" sz="2400" dirty="0"/>
              <a:t> by combining clusters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7B956C-C96E-056D-5437-921B7C89A854}"/>
                  </a:ext>
                </a:extLst>
              </p:cNvPr>
              <p:cNvSpPr txBox="1"/>
              <p:nvPr/>
            </p:nvSpPr>
            <p:spPr>
              <a:xfrm>
                <a:off x="559918" y="5256191"/>
                <a:ext cx="5377858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71550" lvl="1" indent="-514350">
                  <a:buFont typeface="+mj-lt"/>
                  <a:buAutoNum type="arabicPeriod"/>
                </a:pPr>
                <a:r>
                  <a:rPr lang="en-US" sz="2400" dirty="0"/>
                  <a:t>Start computing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400" dirty="0"/>
                  <a:t> from leaves toward root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87B956C-C96E-056D-5437-921B7C89A8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918" y="5256191"/>
                <a:ext cx="5377858" cy="830997"/>
              </a:xfrm>
              <a:prstGeom prst="rect">
                <a:avLst/>
              </a:prstGeom>
              <a:blipFill>
                <a:blip r:embed="rId6"/>
                <a:stretch>
                  <a:fillRect t="-6569" b="-15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23F1C4-3E8B-7D98-8AFF-AEE6BF173A31}"/>
                  </a:ext>
                </a:extLst>
              </p:cNvPr>
              <p:cNvSpPr txBox="1"/>
              <p:nvPr/>
            </p:nvSpPr>
            <p:spPr>
              <a:xfrm>
                <a:off x="494050" y="2274236"/>
                <a:ext cx="584022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971550" lvl="1" indent="-514350">
                  <a:buFont typeface="+mj-lt"/>
                  <a:buAutoNum type="arabicPeriod" startAt="3"/>
                </a:pPr>
                <a:r>
                  <a:rPr lang="en-US" sz="2400" dirty="0"/>
                  <a:t>Top-down scan finds final set of clusters nearest root,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7</m:t>
                        </m:r>
                      </m:sub>
                    </m:sSub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B23F1C4-3E8B-7D98-8AFF-AEE6BF173A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050" y="2274236"/>
                <a:ext cx="5840224" cy="830997"/>
              </a:xfrm>
              <a:prstGeom prst="rect">
                <a:avLst/>
              </a:prstGeom>
              <a:blipFill>
                <a:blip r:embed="rId7"/>
                <a:stretch>
                  <a:fillRect t="-6618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11ED892-B839-E4A9-8525-21608306733A}"/>
              </a:ext>
            </a:extLst>
          </p:cNvPr>
          <p:cNvCxnSpPr>
            <a:cxnSpLocks/>
          </p:cNvCxnSpPr>
          <p:nvPr/>
        </p:nvCxnSpPr>
        <p:spPr>
          <a:xfrm>
            <a:off x="5414075" y="2637177"/>
            <a:ext cx="5300420" cy="74476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55347E87-9940-52DE-256F-D5BF92DF1A3B}"/>
              </a:ext>
            </a:extLst>
          </p:cNvPr>
          <p:cNvCxnSpPr>
            <a:cxnSpLocks/>
          </p:cNvCxnSpPr>
          <p:nvPr/>
        </p:nvCxnSpPr>
        <p:spPr>
          <a:xfrm flipV="1">
            <a:off x="5507064" y="4406685"/>
            <a:ext cx="3538780" cy="112621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ABB1C6A-37AC-8A81-1D6B-CBEDC3CC0F4C}"/>
              </a:ext>
            </a:extLst>
          </p:cNvPr>
          <p:cNvCxnSpPr>
            <a:cxnSpLocks/>
          </p:cNvCxnSpPr>
          <p:nvPr/>
        </p:nvCxnSpPr>
        <p:spPr>
          <a:xfrm flipV="1">
            <a:off x="5563892" y="5109275"/>
            <a:ext cx="2898183" cy="423620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1E7EFF83-E0B1-A542-2677-5772DAC2F8ED}"/>
              </a:ext>
            </a:extLst>
          </p:cNvPr>
          <p:cNvCxnSpPr>
            <a:cxnSpLocks/>
          </p:cNvCxnSpPr>
          <p:nvPr/>
        </p:nvCxnSpPr>
        <p:spPr>
          <a:xfrm flipV="1">
            <a:off x="5052447" y="3065291"/>
            <a:ext cx="2934346" cy="1271049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D7CB8388-36E6-5A25-A955-A9C067F93B66}"/>
              </a:ext>
            </a:extLst>
          </p:cNvPr>
          <p:cNvCxnSpPr>
            <a:cxnSpLocks/>
          </p:cNvCxnSpPr>
          <p:nvPr/>
        </p:nvCxnSpPr>
        <p:spPr>
          <a:xfrm>
            <a:off x="5336583" y="2621781"/>
            <a:ext cx="4339580" cy="7680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3B325E2-6EE0-7F92-7CEB-6CC374F9A0C2}"/>
              </a:ext>
            </a:extLst>
          </p:cNvPr>
          <p:cNvCxnSpPr>
            <a:cxnSpLocks/>
          </p:cNvCxnSpPr>
          <p:nvPr/>
        </p:nvCxnSpPr>
        <p:spPr>
          <a:xfrm>
            <a:off x="5414075" y="2629304"/>
            <a:ext cx="2397758" cy="120654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02129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  <p:bldP spid="16" grpId="0"/>
      <p:bldP spid="17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7DAF7-7DCF-8165-9618-D2949E494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1FDE9D-E07C-1E0D-665B-540A62753E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3522" y="1227057"/>
            <a:ext cx="6109305" cy="420555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2F90851-0364-83B6-A779-88668D23A8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2349FC-FC3E-743A-38C0-6FD1D97C0420}"/>
                  </a:ext>
                </a:extLst>
              </p:cNvPr>
              <p:cNvSpPr txBox="1"/>
              <p:nvPr/>
            </p:nvSpPr>
            <p:spPr>
              <a:xfrm>
                <a:off x="584201" y="1157288"/>
                <a:ext cx="5511800" cy="29854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Flat cluster models </a:t>
                </a:r>
                <a:r>
                  <a:rPr lang="en-US" sz="2800" dirty="0"/>
                  <a:t>extracted from HDBSCAN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800" dirty="0"/>
                  <a:t>Plot optimal clusters with maximum </a:t>
                </a:r>
                <a14:m>
                  <m:oMath xmlns:m="http://schemas.openxmlformats.org/officeDocument/2006/math">
                    <m:r>
                      <a:rPr lang="en-US" sz="2800" i="1">
                        <a:latin typeface="Cambria Math" panose="02040503050406030204" pitchFamily="18" charset="0"/>
                      </a:rPr>
                      <m:t>𝐽</m:t>
                    </m:r>
                  </m:oMath>
                </a14:m>
                <a:r>
                  <a:rPr lang="en-US" sz="2800" dirty="0"/>
                  <a:t> on the condensed dendrogram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US" sz="2800" dirty="0"/>
              </a:p>
              <a:p>
                <a:pPr algn="ctr"/>
                <a:r>
                  <a:rPr lang="en-US" sz="2000" dirty="0">
                    <a:hlinkClick r:id="rId4"/>
                  </a:rPr>
                  <a:t>Illustration from HDBSCAN documentation</a:t>
                </a:r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02349FC-FC3E-743A-38C0-6FD1D97C04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4201" y="1157288"/>
                <a:ext cx="5511800" cy="2985433"/>
              </a:xfrm>
              <a:prstGeom prst="rect">
                <a:avLst/>
              </a:prstGeom>
              <a:blipFill>
                <a:blip r:embed="rId5"/>
                <a:stretch>
                  <a:fillRect l="-2323" t="-2041" b="-26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02C5CC8-29A7-4AA2-4C30-3E1A0A92FB97}"/>
              </a:ext>
            </a:extLst>
          </p:cNvPr>
          <p:cNvCxnSpPr>
            <a:cxnSpLocks/>
          </p:cNvCxnSpPr>
          <p:nvPr/>
        </p:nvCxnSpPr>
        <p:spPr>
          <a:xfrm flipV="1">
            <a:off x="5455403" y="2070257"/>
            <a:ext cx="3705222" cy="62644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1C93290E-19FE-12E2-E838-75DC91F5F598}"/>
              </a:ext>
            </a:extLst>
          </p:cNvPr>
          <p:cNvCxnSpPr>
            <a:cxnSpLocks/>
          </p:cNvCxnSpPr>
          <p:nvPr/>
        </p:nvCxnSpPr>
        <p:spPr>
          <a:xfrm>
            <a:off x="5455403" y="2696705"/>
            <a:ext cx="2035444" cy="878237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240CF0E-0E5C-DCD2-F471-F67D10104970}"/>
              </a:ext>
            </a:extLst>
          </p:cNvPr>
          <p:cNvCxnSpPr>
            <a:cxnSpLocks/>
          </p:cNvCxnSpPr>
          <p:nvPr/>
        </p:nvCxnSpPr>
        <p:spPr>
          <a:xfrm flipV="1">
            <a:off x="5455403" y="2070257"/>
            <a:ext cx="1637655" cy="626448"/>
          </a:xfrm>
          <a:prstGeom prst="straightConnector1">
            <a:avLst/>
          </a:prstGeom>
          <a:ln w="222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83222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7D2E4-9970-E2E2-9EF2-6AD58A6D7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2C89E-310F-946A-4750-28A7DF4160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67FA561-E9AF-065A-AE6A-06CBD3C9306C}"/>
              </a:ext>
            </a:extLst>
          </p:cNvPr>
          <p:cNvSpPr txBox="1"/>
          <p:nvPr/>
        </p:nvSpPr>
        <p:spPr>
          <a:xfrm>
            <a:off x="584200" y="1157288"/>
            <a:ext cx="10993033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HDBSCAN has key hyperparameters  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b="1" i="1" dirty="0" err="1"/>
              <a:t>min_cluster_size</a:t>
            </a:r>
            <a:r>
              <a:rPr lang="en-US" sz="2800" dirty="0"/>
              <a:t> defines the smallest cluster that can be formed 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Large </a:t>
            </a:r>
            <a:r>
              <a:rPr lang="en-US" sz="2400" i="1" dirty="0" err="1"/>
              <a:t>min_cluster_size</a:t>
            </a:r>
            <a:r>
              <a:rPr lang="en-US" sz="2400" dirty="0"/>
              <a:t> forms larger clusters which may lose details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Small </a:t>
            </a:r>
            <a:r>
              <a:rPr lang="en-US" sz="2400" i="1" dirty="0" err="1"/>
              <a:t>min_cluster_size</a:t>
            </a:r>
            <a:r>
              <a:rPr lang="en-US" sz="2400" dirty="0"/>
              <a:t> can result in small clusters or fragmentation 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Small </a:t>
            </a:r>
            <a:r>
              <a:rPr lang="en-US" sz="2400" i="1" dirty="0" err="1"/>
              <a:t>min_cluster_size</a:t>
            </a:r>
            <a:r>
              <a:rPr lang="en-US" sz="2400" dirty="0"/>
              <a:t> creates deep hierarchy, </a:t>
            </a:r>
            <a:r>
              <a:rPr lang="en-US" sz="2400" b="1" dirty="0"/>
              <a:t>slowing execution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The HDBSCAN package uses a </a:t>
            </a:r>
            <a:r>
              <a:rPr lang="en-US" sz="2400" b="1" dirty="0"/>
              <a:t>very small default value: 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min_cluster_size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=5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b="1" i="1" dirty="0" err="1"/>
              <a:t>min_samples</a:t>
            </a:r>
            <a:r>
              <a:rPr lang="en-US" sz="2800" b="1" i="1" dirty="0"/>
              <a:t> </a:t>
            </a:r>
            <a:r>
              <a:rPr lang="en-US" sz="2800" dirty="0"/>
              <a:t>defines the minimum local density required to form clusters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Large </a:t>
            </a:r>
            <a:r>
              <a:rPr lang="en-US" sz="2400" dirty="0" err="1"/>
              <a:t>min_samples</a:t>
            </a:r>
            <a:r>
              <a:rPr lang="en-US" sz="2400" dirty="0"/>
              <a:t> prevents cluster fragmentation, resulting in more un-clustered points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Small </a:t>
            </a:r>
            <a:r>
              <a:rPr lang="en-US" sz="2400" dirty="0" err="1"/>
              <a:t>min_samples</a:t>
            </a:r>
            <a:r>
              <a:rPr lang="en-US" sz="2400" dirty="0"/>
              <a:t> allows more detailed partitioning of space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400" dirty="0"/>
              <a:t>The default in HDBSCAN is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min_samples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2400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min_cluster_size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18384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412AC-4AF5-F472-6878-A0164A9E0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A6128D-7DE8-C5D8-6F70-8103CD207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HDBSCAN Algorithm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5C2C0A-F80F-39FA-98F8-9227C81843A1}"/>
              </a:ext>
            </a:extLst>
          </p:cNvPr>
          <p:cNvSpPr txBox="1"/>
          <p:nvPr/>
        </p:nvSpPr>
        <p:spPr>
          <a:xfrm>
            <a:off x="584200" y="1157288"/>
            <a:ext cx="10993033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HDBSCAN has key hyperparameters  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b="1" i="1" dirty="0" err="1"/>
              <a:t>cluster_selection_epsilon</a:t>
            </a:r>
            <a:r>
              <a:rPr lang="en-US" sz="2800" b="1" i="1" dirty="0"/>
              <a:t> </a:t>
            </a:r>
            <a:r>
              <a:rPr lang="en-US" sz="2800" dirty="0"/>
              <a:t>determines the maximum distance at which clusters can be merged 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800" i="1" dirty="0" err="1"/>
              <a:t>cluster_selection_epsilon</a:t>
            </a:r>
            <a:r>
              <a:rPr lang="en-US" sz="2800" i="1" dirty="0"/>
              <a:t> </a:t>
            </a:r>
            <a:r>
              <a:rPr lang="en-US" sz="2800" dirty="0"/>
              <a:t>limits chaining behavior in cluster formation</a:t>
            </a:r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800" dirty="0"/>
              <a:t>Default value is </a:t>
            </a:r>
            <a:r>
              <a:rPr lang="en-US" sz="2800" b="1" i="1" dirty="0" err="1"/>
              <a:t>cluster_selection_epsilon</a:t>
            </a:r>
            <a:r>
              <a:rPr lang="en-US" sz="2800" b="1" i="1" dirty="0"/>
              <a:t> = 0</a:t>
            </a:r>
            <a:r>
              <a:rPr lang="en-US" sz="2800" dirty="0"/>
              <a:t>, clusters are merged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b="1" i="1" dirty="0"/>
              <a:t>metric </a:t>
            </a:r>
            <a:r>
              <a:rPr lang="en-US" sz="2800" dirty="0"/>
              <a:t>– </a:t>
            </a:r>
            <a:r>
              <a:rPr lang="en-US" sz="2800" b="1" dirty="0">
                <a:solidFill>
                  <a:srgbClr val="C00000"/>
                </a:solidFill>
              </a:rPr>
              <a:t>Don’t forget that many problems are non-Euclidean, the default! </a:t>
            </a:r>
          </a:p>
          <a:p>
            <a:pPr marL="514350" indent="-514350">
              <a:buFont typeface="Arial" panose="020B0604020202020204" pitchFamily="34" charset="0"/>
              <a:buChar char="•"/>
            </a:pPr>
            <a:r>
              <a:rPr lang="en-US" sz="2800" dirty="0"/>
              <a:t>You can find more guidance on model hyperparameters in the </a:t>
            </a:r>
            <a:r>
              <a:rPr lang="en-US" sz="2800" dirty="0">
                <a:hlinkClick r:id="rId3"/>
              </a:rPr>
              <a:t>HDBSCAN documentation</a:t>
            </a:r>
            <a:endParaRPr lang="en-US" sz="2800" dirty="0"/>
          </a:p>
          <a:p>
            <a:pPr marL="971550" lvl="1" indent="-514350">
              <a:buFont typeface="Arial" panose="020B0604020202020204" pitchFamily="34" charset="0"/>
              <a:buChar char="•"/>
            </a:pPr>
            <a:r>
              <a:rPr lang="en-US" sz="2800" dirty="0"/>
              <a:t>The full set of hyperparameters can be found in the </a:t>
            </a:r>
            <a:r>
              <a:rPr lang="en-US" sz="2800" dirty="0">
                <a:hlinkClick r:id="rId4"/>
              </a:rPr>
              <a:t>API documentation 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316520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E37B7-3482-B7A8-AD79-BBBF5F4114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A3809-208E-5B41-7A73-DA2EDE34BE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36129783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09EA6F-F7FE-7869-35DA-F9CB417A7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184" y="459782"/>
            <a:ext cx="9207893" cy="633364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506278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4"/>
              </a:rPr>
              <a:t>From Scikit-Learn Clustering User Guide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76698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66F47D-7A89-84A2-2E6A-56D638FD92FB}"/>
              </a:ext>
            </a:extLst>
          </p:cNvPr>
          <p:cNvSpPr txBox="1"/>
          <p:nvPr/>
        </p:nvSpPr>
        <p:spPr>
          <a:xfrm>
            <a:off x="1650376" y="5712678"/>
            <a:ext cx="205094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hlinkClick r:id="rId3"/>
              </a:rPr>
              <a:t>From Scikit-Learn Clustering User Guide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C6EBE4-A7F1-6377-9314-48C7385301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7496" y="221992"/>
            <a:ext cx="6195005" cy="6545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496997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+mn-lt"/>
              </a:rPr>
              <a:t>Unsupervised learning methods </a:t>
            </a:r>
            <a:r>
              <a:rPr lang="en-US" sz="2800" b="1" dirty="0">
                <a:latin typeface="+mn-lt"/>
              </a:rPr>
              <a:t>learn structure of data</a:t>
            </a:r>
            <a:endParaRPr lang="en-US" b="1" dirty="0">
              <a:latin typeface="+mn-lt"/>
            </a:endParaRPr>
          </a:p>
          <a:p>
            <a:pPr lvl="1"/>
            <a:r>
              <a:rPr lang="en-US" sz="2800" dirty="0">
                <a:latin typeface="+mn-lt"/>
              </a:rPr>
              <a:t>Structure is learned by determining </a:t>
            </a:r>
            <a:r>
              <a:rPr lang="en-US" sz="2800" b="1" dirty="0">
                <a:latin typeface="+mn-lt"/>
              </a:rPr>
              <a:t>similarity</a:t>
            </a:r>
            <a:r>
              <a:rPr lang="en-US" sz="2800" dirty="0">
                <a:latin typeface="+mn-lt"/>
              </a:rPr>
              <a:t> between cases</a:t>
            </a:r>
          </a:p>
          <a:p>
            <a:pPr lvl="1"/>
            <a:r>
              <a:rPr lang="en-US" sz="2800" dirty="0">
                <a:latin typeface="+mn-lt"/>
              </a:rPr>
              <a:t>Similarity based on </a:t>
            </a:r>
            <a:r>
              <a:rPr lang="en-US" sz="2800" b="1" dirty="0">
                <a:latin typeface="+mn-lt"/>
              </a:rPr>
              <a:t>measures of proximity, distance or dissimilarity</a:t>
            </a:r>
            <a:endParaRPr lang="en-US" sz="2800" dirty="0">
              <a:latin typeface="+mn-lt"/>
            </a:endParaRPr>
          </a:p>
          <a:p>
            <a:r>
              <a:rPr lang="en-US" dirty="0">
                <a:latin typeface="+mn-lt"/>
              </a:rPr>
              <a:t>Clustering algorithms are </a:t>
            </a:r>
            <a:r>
              <a:rPr lang="en-US" b="1" dirty="0">
                <a:latin typeface="+mn-lt"/>
              </a:rPr>
              <a:t>core</a:t>
            </a:r>
            <a:r>
              <a:rPr lang="en-US" dirty="0">
                <a:latin typeface="+mn-lt"/>
              </a:rPr>
              <a:t> </a:t>
            </a:r>
            <a:r>
              <a:rPr lang="en-US" b="1" dirty="0">
                <a:latin typeface="+mn-lt"/>
              </a:rPr>
              <a:t>data mining methods</a:t>
            </a:r>
          </a:p>
          <a:p>
            <a:pPr lvl="1"/>
            <a:r>
              <a:rPr lang="en-US" dirty="0">
                <a:latin typeface="+mn-lt"/>
              </a:rPr>
              <a:t>Data mining seeks to find interesting relationships in data</a:t>
            </a:r>
          </a:p>
          <a:p>
            <a:pPr lvl="1"/>
            <a:r>
              <a:rPr lang="en-US" dirty="0">
                <a:latin typeface="+mn-lt"/>
              </a:rPr>
              <a:t>We have already encountered feature importance as a data mining method</a:t>
            </a:r>
          </a:p>
          <a:p>
            <a:pPr lvl="1"/>
            <a:endParaRPr lang="en-US" sz="2800" dirty="0">
              <a:latin typeface="+mn-lt"/>
            </a:endParaRPr>
          </a:p>
          <a:p>
            <a:endParaRPr lang="en-US" sz="2800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397551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4200" y="221992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0"/>
          </p:nvPr>
        </p:nvSpPr>
        <p:spPr>
          <a:xfrm>
            <a:off x="333375" y="896079"/>
            <a:ext cx="11525250" cy="5290388"/>
          </a:xfrm>
        </p:spPr>
        <p:txBody>
          <a:bodyPr>
            <a:normAutofit/>
          </a:bodyPr>
          <a:lstStyle/>
          <a:p>
            <a:r>
              <a:rPr lang="en-US" dirty="0">
                <a:latin typeface="+mn-lt"/>
              </a:rPr>
              <a:t>Algorithms can use different </a:t>
            </a:r>
            <a:r>
              <a:rPr lang="en-US" b="1" dirty="0">
                <a:latin typeface="+mn-lt"/>
              </a:rPr>
              <a:t>distance or dissimilarity metrics</a:t>
            </a:r>
          </a:p>
          <a:p>
            <a:pPr lvl="1"/>
            <a:r>
              <a:rPr lang="en-US" sz="2800" dirty="0">
                <a:latin typeface="+mn-lt"/>
              </a:rPr>
              <a:t>Structure based on distance metrics</a:t>
            </a:r>
          </a:p>
          <a:p>
            <a:pPr lvl="1"/>
            <a:r>
              <a:rPr lang="en-US" sz="2800" dirty="0">
                <a:latin typeface="+mn-lt"/>
              </a:rPr>
              <a:t>Different algorithms use different metrics</a:t>
            </a:r>
          </a:p>
          <a:p>
            <a:pPr lvl="1"/>
            <a:r>
              <a:rPr lang="en-US" sz="2800" dirty="0">
                <a:latin typeface="+mn-lt"/>
              </a:rPr>
              <a:t>Metric can matter more than choice of algorithm</a:t>
            </a:r>
            <a:endParaRPr lang="en-US" dirty="0">
              <a:latin typeface="+mn-lt"/>
            </a:endParaRPr>
          </a:p>
          <a:p>
            <a:r>
              <a:rPr lang="en-US" dirty="0">
                <a:latin typeface="+mn-lt"/>
              </a:rPr>
              <a:t>Good clusters have two properties</a:t>
            </a:r>
          </a:p>
          <a:p>
            <a:pPr lvl="1"/>
            <a:r>
              <a:rPr lang="en-US" sz="2800" b="1" dirty="0">
                <a:latin typeface="+mn-lt"/>
              </a:rPr>
              <a:t>Compactness: </a:t>
            </a:r>
            <a:r>
              <a:rPr lang="en-US" sz="2800" dirty="0">
                <a:latin typeface="+mn-lt"/>
              </a:rPr>
              <a:t>We what the clusters to be small with members close to each other</a:t>
            </a:r>
          </a:p>
          <a:p>
            <a:pPr lvl="1"/>
            <a:r>
              <a:rPr lang="en-US" sz="2800" b="1" dirty="0">
                <a:latin typeface="+mn-lt"/>
              </a:rPr>
              <a:t>Separation</a:t>
            </a:r>
            <a:r>
              <a:rPr lang="en-US" sz="2800" dirty="0">
                <a:latin typeface="+mn-lt"/>
              </a:rPr>
              <a:t>: We want the clusters are well separated, a closeness property</a:t>
            </a:r>
          </a:p>
          <a:p>
            <a:pPr lvl="1"/>
            <a:endParaRPr lang="en-US" dirty="0">
              <a:latin typeface="+mn-lt"/>
            </a:endParaRP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03508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7516" y="0"/>
            <a:ext cx="10515600" cy="530954"/>
          </a:xfrm>
        </p:spPr>
        <p:txBody>
          <a:bodyPr>
            <a:normAutofit fontScale="90000"/>
          </a:bodyPr>
          <a:lstStyle/>
          <a:p>
            <a:r>
              <a:rPr lang="en-US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8223EED3-7B46-4411-92AD-9FC6754A0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004600"/>
                  </p:ext>
                </p:extLst>
              </p:nvPr>
            </p:nvGraphicFramePr>
            <p:xfrm>
              <a:off x="386640" y="566515"/>
              <a:ext cx="11630025" cy="5516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0251">
                      <a:extLst>
                        <a:ext uri="{9D8B030D-6E8A-4147-A177-3AD203B41FA5}">
                          <a16:colId xmlns:a16="http://schemas.microsoft.com/office/drawing/2014/main" val="1757814776"/>
                        </a:ext>
                      </a:extLst>
                    </a:gridCol>
                    <a:gridCol w="2157413">
                      <a:extLst>
                        <a:ext uri="{9D8B030D-6E8A-4147-A177-3AD203B41FA5}">
                          <a16:colId xmlns:a16="http://schemas.microsoft.com/office/drawing/2014/main" val="4041575726"/>
                        </a:ext>
                      </a:extLst>
                    </a:gridCol>
                    <a:gridCol w="1746959">
                      <a:extLst>
                        <a:ext uri="{9D8B030D-6E8A-4147-A177-3AD203B41FA5}">
                          <a16:colId xmlns:a16="http://schemas.microsoft.com/office/drawing/2014/main" val="1232253116"/>
                        </a:ext>
                      </a:extLst>
                    </a:gridCol>
                    <a:gridCol w="2914650">
                      <a:extLst>
                        <a:ext uri="{9D8B030D-6E8A-4147-A177-3AD203B41FA5}">
                          <a16:colId xmlns:a16="http://schemas.microsoft.com/office/drawing/2014/main" val="774572399"/>
                        </a:ext>
                      </a:extLst>
                    </a:gridCol>
                    <a:gridCol w="2810752">
                      <a:extLst>
                        <a:ext uri="{9D8B030D-6E8A-4147-A177-3AD203B41FA5}">
                          <a16:colId xmlns:a16="http://schemas.microsoft.com/office/drawing/2014/main" val="2278982121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Algorithm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 characteristic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Characteristics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Scalability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067454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K-means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Maximizes cluster compactness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Need to find k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Assumes equal variance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</a:t>
                          </a:r>
                          <a14:m>
                            <m:oMath xmlns:m="http://schemas.openxmlformats.org/officeDocument/2006/math">
                              <m:r>
                                <a:rPr lang="en-US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𝑑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sz="20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Mini-batch high,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381197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Agglomerative hierarchical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Clusters into dendrogram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low,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kumimoji="0" lang="en-US" sz="2000" b="0" i="0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libri" panose="020F0502020204030204"/>
                              <a:ea typeface="+mn-ea"/>
                              <a:cs typeface="+mn-cs"/>
                            </a:rPr>
                            <a:t>low, </a:t>
                          </a:r>
                          <a14:m>
                            <m:oMath xmlns:m="http://schemas.openxmlformats.org/officeDocument/2006/math">
                              <m:r>
                                <a:rPr kumimoji="0" lang="en-US" sz="20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+mn-ea"/>
                                  <a:cs typeface="+mn-cs"/>
                                </a:rPr>
                                <m:t>𝑂</m:t>
                              </m:r>
                              <m:d>
                                <m:dPr>
                                  <m:ctrlPr>
                                    <a:rPr kumimoji="0" lang="en-US" sz="20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𝑛</m:t>
                                      </m:r>
                                    </m:e>
                                    <m:sup>
                                      <m:r>
                                        <a:rPr kumimoji="0" lang="en-US" sz="20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+mn-ea"/>
                                          <a:cs typeface="+mn-cs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oMath>
                          </a14:m>
                          <a:endParaRPr lang="en-US" sz="200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9466841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Spectral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Minimum energy graph partition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low to medium - O(n) to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567768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Uniform density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O(n log(n)), 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39939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OPTICS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Variable density–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to medium, O(n log(n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)) to O(n</a:t>
                          </a:r>
                          <a:r>
                            <a:rPr lang="en-US" sz="2000" baseline="3000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), 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4994939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with correct hyperparameters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053462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le 5">
                <a:extLst>
                  <a:ext uri="{FF2B5EF4-FFF2-40B4-BE49-F238E27FC236}">
                    <a16:creationId xmlns:a16="http://schemas.microsoft.com/office/drawing/2014/main" id="{8223EED3-7B46-4411-92AD-9FC6754A0B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52004600"/>
                  </p:ext>
                </p:extLst>
              </p:nvPr>
            </p:nvGraphicFramePr>
            <p:xfrm>
              <a:off x="386640" y="566515"/>
              <a:ext cx="11630025" cy="55168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00251">
                      <a:extLst>
                        <a:ext uri="{9D8B030D-6E8A-4147-A177-3AD203B41FA5}">
                          <a16:colId xmlns:a16="http://schemas.microsoft.com/office/drawing/2014/main" val="1757814776"/>
                        </a:ext>
                      </a:extLst>
                    </a:gridCol>
                    <a:gridCol w="2157413">
                      <a:extLst>
                        <a:ext uri="{9D8B030D-6E8A-4147-A177-3AD203B41FA5}">
                          <a16:colId xmlns:a16="http://schemas.microsoft.com/office/drawing/2014/main" val="4041575726"/>
                        </a:ext>
                      </a:extLst>
                    </a:gridCol>
                    <a:gridCol w="1746959">
                      <a:extLst>
                        <a:ext uri="{9D8B030D-6E8A-4147-A177-3AD203B41FA5}">
                          <a16:colId xmlns:a16="http://schemas.microsoft.com/office/drawing/2014/main" val="1232253116"/>
                        </a:ext>
                      </a:extLst>
                    </a:gridCol>
                    <a:gridCol w="2914650">
                      <a:extLst>
                        <a:ext uri="{9D8B030D-6E8A-4147-A177-3AD203B41FA5}">
                          <a16:colId xmlns:a16="http://schemas.microsoft.com/office/drawing/2014/main" val="774572399"/>
                        </a:ext>
                      </a:extLst>
                    </a:gridCol>
                    <a:gridCol w="2810752">
                      <a:extLst>
                        <a:ext uri="{9D8B030D-6E8A-4147-A177-3AD203B41FA5}">
                          <a16:colId xmlns:a16="http://schemas.microsoft.com/office/drawing/2014/main" val="2278982121"/>
                        </a:ext>
                      </a:extLst>
                    </a:gridCol>
                  </a:tblGrid>
                  <a:tr h="7010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Algorithm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Method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 characteristic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Characteristics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Scalability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450674545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K-means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Maximizes cluster compactness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Need to find k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Assumes equal variance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317" t="-72727" r="-868" b="-39030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38119788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Agglomerative hierarchical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Clusters into dendrogram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2505" t="-247826" r="-97077" b="-46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14317" t="-247826" r="-868" b="-46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94668411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Spectral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Minimum energy graph partition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low to medium - O(n) to O(n log(n))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75677680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Uniform density 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high, O(n log(n)), 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20399394"/>
                      </a:ext>
                    </a:extLst>
                  </a:tr>
                  <a:tr h="10058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OPTICS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Variable density– finds number of clusters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to medium, O(n log(n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)) to O(n</a:t>
                          </a:r>
                          <a:r>
                            <a:rPr lang="en-US" sz="2000" baseline="30000">
                              <a:solidFill>
                                <a:schemeClr val="tx1"/>
                              </a:solidFill>
                            </a:rPr>
                            <a:t>2</a:t>
                          </a:r>
                          <a:r>
                            <a:rPr lang="en-US" sz="2000">
                              <a:solidFill>
                                <a:schemeClr val="tx1"/>
                              </a:solidFill>
                            </a:rPr>
                            <a:t>), </a:t>
                          </a:r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out of core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4994939"/>
                      </a:ext>
                    </a:extLst>
                  </a:tr>
                  <a:tr h="701040"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HDBSCAN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Density graph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Nonconvex</a:t>
                          </a:r>
                        </a:p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Hierarchical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Scalable with sparse graph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000" dirty="0">
                              <a:solidFill>
                                <a:schemeClr val="tx1"/>
                              </a:solidFill>
                            </a:rPr>
                            <a:t>High with correct hyperparameters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50534628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644464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25854</TotalTime>
  <Words>3658</Words>
  <Application>Microsoft Office PowerPoint</Application>
  <PresentationFormat>Widescreen</PresentationFormat>
  <Paragraphs>563</Paragraphs>
  <Slides>62</Slides>
  <Notes>53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72" baseType="lpstr">
      <vt:lpstr>Arial</vt:lpstr>
      <vt:lpstr>Calibri</vt:lpstr>
      <vt:lpstr>Calibri Light</vt:lpstr>
      <vt:lpstr>Cambria Math</vt:lpstr>
      <vt:lpstr>Courier New</vt:lpstr>
      <vt:lpstr>Segoe UI</vt:lpstr>
      <vt:lpstr>Segoe UI Light</vt:lpstr>
      <vt:lpstr>Symbol</vt:lpstr>
      <vt:lpstr>Office Theme</vt:lpstr>
      <vt:lpstr>1_Office Theme</vt:lpstr>
      <vt:lpstr>CSCI E-96 Data Mining, Exploration and Discovery Introduction to Clustering Models Part 2</vt:lpstr>
      <vt:lpstr>Main topics in this course </vt:lpstr>
      <vt:lpstr>Algorithms for Non-Euclidean Spaces</vt:lpstr>
      <vt:lpstr>Graph-Based Clustering Models</vt:lpstr>
      <vt:lpstr>Graph Based Clustering Models </vt:lpstr>
      <vt:lpstr>Scaling distance and similarity measures</vt:lpstr>
      <vt:lpstr>Scaling distance and similarity measures</vt:lpstr>
      <vt:lpstr>Scaling distance and similarity measures</vt:lpstr>
      <vt:lpstr>Scaling distance and similarity measures</vt:lpstr>
      <vt:lpstr>Spectral Clustering Models</vt:lpstr>
      <vt:lpstr>Spectral Clustering </vt:lpstr>
      <vt:lpstr>Spectral Clustering </vt:lpstr>
      <vt:lpstr>Spectral Clustering </vt:lpstr>
      <vt:lpstr>Spectral Clustering </vt:lpstr>
      <vt:lpstr>Spectral Clustering </vt:lpstr>
      <vt:lpstr>Spectral Clustering </vt:lpstr>
      <vt:lpstr>Spectral Clustering </vt:lpstr>
      <vt:lpstr>Density-Based Clustering Models</vt:lpstr>
      <vt:lpstr>Density Clustering </vt:lpstr>
      <vt:lpstr>Density Clustering </vt:lpstr>
      <vt:lpstr>Density Clustering </vt:lpstr>
      <vt:lpstr>Density Clustering </vt:lpstr>
      <vt:lpstr>DBSCAN Algorithm</vt:lpstr>
      <vt:lpstr>DBSCAN Algorithm</vt:lpstr>
      <vt:lpstr>DBSCAN Algorithm</vt:lpstr>
      <vt:lpstr>DBSCAN Algorithm</vt:lpstr>
      <vt:lpstr>DBSCAN Algorithm</vt:lpstr>
      <vt:lpstr>DBSCAN Algorithm</vt:lpstr>
      <vt:lpstr>DBSCAN Algorithm</vt:lpstr>
      <vt:lpstr>The Ordering points to identify the clustering structure (OPTICS) algorithm</vt:lpstr>
      <vt:lpstr>OPTICS Algorithm</vt:lpstr>
      <vt:lpstr>OPTICS Algorithm</vt:lpstr>
      <vt:lpstr>OPTICS Algorithm</vt:lpstr>
      <vt:lpstr>OPTICS Algorithms</vt:lpstr>
      <vt:lpstr>OPTICS Algorithm</vt:lpstr>
      <vt:lpstr>OPTICS Algorithm</vt:lpstr>
      <vt:lpstr>OPTICS Algorithm</vt:lpstr>
      <vt:lpstr>OPTICS Algorithm</vt:lpstr>
      <vt:lpstr>OPTICS Algorithm</vt:lpstr>
      <vt:lpstr>Density-Based Clustering with Hierarchical DBSCAN - HDBSCAN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HDBSCAN Algorithm</vt:lpstr>
      <vt:lpstr>Summary</vt:lpstr>
      <vt:lpstr>Summary</vt:lpstr>
      <vt:lpstr>Summary</vt:lpstr>
      <vt:lpstr>Summary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Stephe Elston</dc:creator>
  <cp:lastModifiedBy>Stephen Elston</cp:lastModifiedBy>
  <cp:revision>947</cp:revision>
  <dcterms:created xsi:type="dcterms:W3CDTF">2020-07-25T22:15:22Z</dcterms:created>
  <dcterms:modified xsi:type="dcterms:W3CDTF">2026-09-23T19:57:24Z</dcterms:modified>
</cp:coreProperties>
</file>