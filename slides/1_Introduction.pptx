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383" r:id="rId3"/>
    <p:sldId id="257" r:id="rId4"/>
    <p:sldId id="354" r:id="rId5"/>
    <p:sldId id="353" r:id="rId6"/>
    <p:sldId id="356" r:id="rId7"/>
    <p:sldId id="782" r:id="rId8"/>
    <p:sldId id="712" r:id="rId9"/>
    <p:sldId id="794" r:id="rId10"/>
    <p:sldId id="788" r:id="rId11"/>
    <p:sldId id="795" r:id="rId12"/>
    <p:sldId id="724" r:id="rId13"/>
    <p:sldId id="397" r:id="rId14"/>
    <p:sldId id="718" r:id="rId15"/>
    <p:sldId id="790" r:id="rId16"/>
    <p:sldId id="791" r:id="rId17"/>
    <p:sldId id="792" r:id="rId18"/>
    <p:sldId id="783" r:id="rId19"/>
    <p:sldId id="786" r:id="rId20"/>
    <p:sldId id="396" r:id="rId21"/>
    <p:sldId id="400" r:id="rId22"/>
    <p:sldId id="352" r:id="rId23"/>
    <p:sldId id="388" r:id="rId24"/>
    <p:sldId id="721" r:id="rId25"/>
    <p:sldId id="381" r:id="rId26"/>
    <p:sldId id="722" r:id="rId27"/>
    <p:sldId id="402" r:id="rId28"/>
    <p:sldId id="789" r:id="rId29"/>
    <p:sldId id="401" r:id="rId30"/>
    <p:sldId id="395" r:id="rId31"/>
    <p:sldId id="793" r:id="rId32"/>
    <p:sldId id="725" r:id="rId33"/>
    <p:sldId id="713" r:id="rId34"/>
    <p:sldId id="784" r:id="rId35"/>
    <p:sldId id="387" r:id="rId36"/>
    <p:sldId id="720" r:id="rId37"/>
    <p:sldId id="382" r:id="rId38"/>
    <p:sldId id="787" r:id="rId39"/>
    <p:sldId id="357" r:id="rId40"/>
    <p:sldId id="385" r:id="rId41"/>
    <p:sldId id="359" r:id="rId42"/>
    <p:sldId id="727" r:id="rId43"/>
    <p:sldId id="386" r:id="rId44"/>
    <p:sldId id="714" r:id="rId45"/>
    <p:sldId id="360" r:id="rId46"/>
    <p:sldId id="731" r:id="rId47"/>
    <p:sldId id="374" r:id="rId48"/>
    <p:sldId id="375" r:id="rId49"/>
    <p:sldId id="738" r:id="rId50"/>
    <p:sldId id="377" r:id="rId51"/>
    <p:sldId id="729" r:id="rId52"/>
    <p:sldId id="730" r:id="rId53"/>
    <p:sldId id="739" r:id="rId54"/>
    <p:sldId id="376" r:id="rId55"/>
    <p:sldId id="728" r:id="rId56"/>
    <p:sldId id="379" r:id="rId57"/>
    <p:sldId id="380" r:id="rId58"/>
    <p:sldId id="742" r:id="rId59"/>
    <p:sldId id="743" r:id="rId60"/>
    <p:sldId id="744" r:id="rId61"/>
    <p:sldId id="785" r:id="rId62"/>
    <p:sldId id="740" r:id="rId63"/>
    <p:sldId id="384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32D8-8557-DB3F-21D4-44232170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F28B5-2A3C-A662-5BB5-01105BF0A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79AF0-4020-16F8-FE7C-1DFA6EF3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BC192-EE75-6410-B5BC-D0850C0AE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0629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939B7C2-6A65-43EF-9DD1-61635A9B6CE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3503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ephenElston/CSCI-E-108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.oup.com/academic/product/networks-9780198805090?cc=us&amp;lang=en&amp;" TargetMode="External"/><Relationship Id="rId2" Type="http://schemas.openxmlformats.org/officeDocument/2006/relationships/hyperlink" Target="http://mmd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op.elsevier.com/books/data-mining/han/978-0-12-811760-6" TargetMode="External"/><Relationship Id="rId5" Type="http://schemas.openxmlformats.org/officeDocument/2006/relationships/hyperlink" Target="https://www.manning.com/books/advanced-algorithms-and-data-structures" TargetMode="Externa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try-jupyter/notebooks/?path=notebooks/Intro.ipynb" TargetMode="External"/><Relationship Id="rId2" Type="http://schemas.openxmlformats.org/officeDocument/2006/relationships/hyperlink" Target="https://jupyter-notebook.readthedocs.io/en/stable/examples/Notebook/Working%20With%20Markdown%20Cell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w3schools.com/git/git_intro.asp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extension.harvard.edu/enrolled-students/academic-integrity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structures_algorithms/hash_data_structure.htm" TargetMode="External"/><Relationship Id="rId2" Type="http://schemas.openxmlformats.org/officeDocument/2006/relationships/hyperlink" Target="https://www.tutorialspoint.com/Hash-Functions-and-Hash-Tab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hyperlink" Target="https://en.wikipedia.org/wiki/Hash_table#Separate_chai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Hash_table" TargetMode="External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near_probing" TargetMode="External"/><Relationship Id="rId2" Type="http://schemas.openxmlformats.org/officeDocument/2006/relationships/hyperlink" Target="https://en.wikipedia.org/wiki/Open_address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en.wikipedia.org/wiki/Hash_table" TargetMode="External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94" y="1122363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and Pitfalls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9681F1-0F76-4799-8371-9552B4345F58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 2024, 2025, 2026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data mining? </a:t>
            </a:r>
          </a:p>
          <a:p>
            <a:r>
              <a:rPr lang="en-US" dirty="0"/>
              <a:t>About this course  </a:t>
            </a:r>
          </a:p>
          <a:p>
            <a:r>
              <a:rPr lang="en-US" dirty="0"/>
              <a:t>Data mining uses massive data sets</a:t>
            </a:r>
          </a:p>
          <a:p>
            <a:pPr lvl="1"/>
            <a:r>
              <a:rPr lang="en-US" dirty="0"/>
              <a:t>Manage massive data with key-values pairs </a:t>
            </a:r>
          </a:p>
          <a:p>
            <a:pPr lvl="1"/>
            <a:r>
              <a:rPr lang="en-US" dirty="0"/>
              <a:t>Efficient management of key-value pairs requires hashing</a:t>
            </a:r>
          </a:p>
          <a:p>
            <a:pPr lvl="1"/>
            <a:r>
              <a:rPr lang="en-US" dirty="0"/>
              <a:t>Hash functions provide direct addressing at a massive scale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Overview of Today’s Lesson</a:t>
            </a:r>
          </a:p>
        </p:txBody>
      </p:sp>
    </p:spTree>
    <p:extLst>
      <p:ext uri="{BB962C8B-B14F-4D97-AF65-F5344CB8AC3E}">
        <p14:creationId xmlns:p14="http://schemas.microsoft.com/office/powerpoint/2010/main" val="248242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Data mining is the science of </a:t>
            </a:r>
            <a:r>
              <a:rPr lang="en-US" b="1" dirty="0"/>
              <a:t>actionable knowledge discovery</a:t>
            </a:r>
            <a:r>
              <a:rPr lang="en-US" dirty="0"/>
              <a:t> from inferences on massive datasets </a:t>
            </a:r>
            <a:endParaRPr lang="en-US" b="1" dirty="0"/>
          </a:p>
          <a:p>
            <a:r>
              <a:rPr lang="en-US" dirty="0"/>
              <a:t>Known as </a:t>
            </a:r>
            <a:r>
              <a:rPr lang="en-US" b="1" dirty="0"/>
              <a:t>knowledge discovery and data mining (KDD) </a:t>
            </a:r>
          </a:p>
          <a:p>
            <a:r>
              <a:rPr lang="en-US" dirty="0"/>
              <a:t>Data mining is an </a:t>
            </a:r>
            <a:r>
              <a:rPr lang="en-US" b="1" dirty="0"/>
              <a:t>iterative process of exploration   </a:t>
            </a:r>
          </a:p>
          <a:p>
            <a:r>
              <a:rPr lang="en-US" dirty="0"/>
              <a:t>Most data mining is </a:t>
            </a:r>
            <a:r>
              <a:rPr lang="en-US" b="1" dirty="0"/>
              <a:t>unsupervised </a:t>
            </a:r>
          </a:p>
          <a:p>
            <a:pPr lvl="1"/>
            <a:r>
              <a:rPr lang="en-US" dirty="0"/>
              <a:t>If we had known labels we could use supervised ML</a:t>
            </a:r>
          </a:p>
          <a:p>
            <a:r>
              <a:rPr lang="en-US" dirty="0"/>
              <a:t>Exploration is difficult   </a:t>
            </a:r>
          </a:p>
          <a:p>
            <a:pPr lvl="1"/>
            <a:r>
              <a:rPr lang="en-US" dirty="0"/>
              <a:t>Iteratively apply many approaches</a:t>
            </a:r>
          </a:p>
          <a:p>
            <a:pPr lvl="1"/>
            <a:r>
              <a:rPr lang="en-US" dirty="0"/>
              <a:t>Only some attempts work </a:t>
            </a:r>
          </a:p>
          <a:p>
            <a:r>
              <a:rPr lang="en-US" b="1" dirty="0">
                <a:solidFill>
                  <a:srgbClr val="C00000"/>
                </a:solidFill>
              </a:rPr>
              <a:t>Try lots of ideas, fail fast, keep the ones that work! </a:t>
            </a:r>
          </a:p>
          <a:p>
            <a:pPr lvl="1"/>
            <a:r>
              <a:rPr lang="en-US" b="1" dirty="0"/>
              <a:t>Keep this in mind when doing your graduate project!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data mining?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mining (KDD) focuses on analytics at a </a:t>
            </a:r>
            <a:r>
              <a:rPr lang="en-US" b="1" dirty="0"/>
              <a:t>massive scale </a:t>
            </a:r>
          </a:p>
          <a:p>
            <a:r>
              <a:rPr lang="en-US" dirty="0"/>
              <a:t>Dataset size has grown nearly exponentially  </a:t>
            </a:r>
          </a:p>
          <a:p>
            <a:r>
              <a:rPr lang="en-US" dirty="0"/>
              <a:t>More importantly, </a:t>
            </a:r>
            <a:r>
              <a:rPr lang="en-US" b="1" dirty="0"/>
              <a:t>dataset and problem complexity has grown</a:t>
            </a:r>
          </a:p>
          <a:p>
            <a:r>
              <a:rPr lang="en-US" dirty="0"/>
              <a:t>Data mining is at the intersection of several subjects   </a:t>
            </a:r>
          </a:p>
          <a:p>
            <a:pPr lvl="1"/>
            <a:r>
              <a:rPr lang="en-US" b="1" dirty="0"/>
              <a:t>Statistics:</a:t>
            </a:r>
            <a:r>
              <a:rPr lang="en-US" dirty="0"/>
              <a:t> What of significance can we learn from the data? </a:t>
            </a:r>
          </a:p>
          <a:p>
            <a:pPr lvl="1"/>
            <a:r>
              <a:rPr lang="en-US" b="1" dirty="0"/>
              <a:t>Mathematics:</a:t>
            </a:r>
            <a:r>
              <a:rPr lang="en-US" dirty="0"/>
              <a:t> How do we represent a model of the data as, say, a graph?</a:t>
            </a:r>
          </a:p>
          <a:p>
            <a:pPr lvl="1"/>
            <a:r>
              <a:rPr lang="en-US" b="1" dirty="0"/>
              <a:t>Algorithms: </a:t>
            </a:r>
            <a:r>
              <a:rPr lang="en-US" dirty="0"/>
              <a:t>How do we efficiently find important relationships in massive datasets? </a:t>
            </a:r>
          </a:p>
          <a:p>
            <a:pPr lvl="1"/>
            <a:r>
              <a:rPr lang="en-US" b="1" dirty="0"/>
              <a:t>Technology:</a:t>
            </a:r>
            <a:r>
              <a:rPr lang="en-US" dirty="0"/>
              <a:t> How do we manage and process massive datasets?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data mining?</a:t>
            </a:r>
          </a:p>
        </p:txBody>
      </p:sp>
    </p:spTree>
    <p:extLst>
      <p:ext uri="{BB962C8B-B14F-4D97-AF65-F5344CB8AC3E}">
        <p14:creationId xmlns:p14="http://schemas.microsoft.com/office/powerpoint/2010/main" val="6998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8"/>
            <a:ext cx="10515600" cy="56405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What is the KDD process?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Is this old diagram representative?  - e.g. Fayyad et.al. 1996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KDD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10601-345E-4A04-878A-28FFF7150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75" y="1651145"/>
            <a:ext cx="8488232" cy="44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5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8"/>
            <a:ext cx="10515600" cy="485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What is the KDD process?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KDD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10601-345E-4A04-878A-28FFF7150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10" y="2168435"/>
            <a:ext cx="6121998" cy="317688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C99F37-3CFD-4C3B-8CF6-AEDE11B202D2}"/>
              </a:ext>
            </a:extLst>
          </p:cNvPr>
          <p:cNvSpPr txBox="1">
            <a:spLocks/>
          </p:cNvSpPr>
          <p:nvPr/>
        </p:nvSpPr>
        <p:spPr>
          <a:xfrm>
            <a:off x="6787461" y="1217458"/>
            <a:ext cx="5116757" cy="53108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Is this diagram representative of today’s process?</a:t>
            </a:r>
          </a:p>
          <a:p>
            <a:r>
              <a:rPr lang="en-US" dirty="0"/>
              <a:t>Perhaps or perhaps not?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Must have a clear idea of goal!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Multiple complex data sources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Need to perform in-depth exploration of data and inferences at every step!!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Storage of intermediate results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Privacy and deidentification </a:t>
            </a:r>
          </a:p>
          <a:p>
            <a:r>
              <a:rPr lang="en-US" dirty="0"/>
              <a:t>KDD is an iterative process</a:t>
            </a:r>
          </a:p>
          <a:p>
            <a:pPr lvl="1"/>
            <a:r>
              <a:rPr lang="en-US" sz="2800" dirty="0"/>
              <a:t>The results of one step informs updates to previous steps  </a:t>
            </a:r>
          </a:p>
          <a:p>
            <a:pPr lvl="1"/>
            <a:r>
              <a:rPr lang="en-US" sz="2800" dirty="0"/>
              <a:t>Process is a series of overlapping cycles </a:t>
            </a:r>
          </a:p>
        </p:txBody>
      </p:sp>
    </p:spTree>
    <p:extLst>
      <p:ext uri="{BB962C8B-B14F-4D97-AF65-F5344CB8AC3E}">
        <p14:creationId xmlns:p14="http://schemas.microsoft.com/office/powerpoint/2010/main" val="265730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Dimensions of Data Mining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Scalability is a key consideration </a:t>
            </a:r>
            <a:r>
              <a:rPr lang="en-US" dirty="0">
                <a:latin typeface="+mn-lt"/>
              </a:rPr>
              <a:t>when dealing with massive datasets!</a:t>
            </a:r>
          </a:p>
          <a:p>
            <a:r>
              <a:rPr lang="en-US" dirty="0">
                <a:latin typeface="+mn-lt"/>
              </a:rPr>
              <a:t>Scalability requires tradeoffs between three factors</a:t>
            </a:r>
          </a:p>
          <a:p>
            <a:pPr lvl="1"/>
            <a:r>
              <a:rPr lang="en-US" dirty="0">
                <a:latin typeface="+mn-lt"/>
              </a:rPr>
              <a:t>Low memory use</a:t>
            </a:r>
          </a:p>
          <a:p>
            <a:pPr lvl="1"/>
            <a:r>
              <a:rPr lang="en-US" dirty="0">
                <a:latin typeface="+mn-lt"/>
              </a:rPr>
              <a:t>Low computational complexity</a:t>
            </a:r>
          </a:p>
          <a:p>
            <a:pPr lvl="1"/>
            <a:r>
              <a:rPr lang="en-US" dirty="0">
                <a:latin typeface="+mn-lt"/>
              </a:rPr>
              <a:t>Accuracy of results</a:t>
            </a:r>
          </a:p>
          <a:p>
            <a:r>
              <a:rPr lang="en-US" dirty="0">
                <a:latin typeface="+mn-lt"/>
              </a:rPr>
              <a:t>Must </a:t>
            </a:r>
            <a:r>
              <a:rPr lang="en-US" b="1" dirty="0">
                <a:latin typeface="+mn-lt"/>
              </a:rPr>
              <a:t>accept approximate results </a:t>
            </a:r>
            <a:r>
              <a:rPr lang="en-US" dirty="0">
                <a:latin typeface="+mn-lt"/>
              </a:rPr>
              <a:t>for massive scalability, low memory and complexity   </a:t>
            </a:r>
          </a:p>
          <a:p>
            <a:r>
              <a:rPr lang="en-US" dirty="0">
                <a:latin typeface="+mn-lt"/>
              </a:rPr>
              <a:t>LLMs have low scalability </a:t>
            </a:r>
          </a:p>
          <a:p>
            <a:pPr lvl="1"/>
            <a:r>
              <a:rPr lang="en-US" dirty="0">
                <a:latin typeface="+mn-lt"/>
              </a:rPr>
              <a:t>Slow</a:t>
            </a:r>
          </a:p>
          <a:p>
            <a:pPr lvl="1"/>
            <a:r>
              <a:rPr lang="en-US" dirty="0">
                <a:latin typeface="+mn-lt"/>
              </a:rPr>
              <a:t>Expensive</a:t>
            </a:r>
          </a:p>
          <a:p>
            <a:pPr lvl="1"/>
            <a:r>
              <a:rPr lang="en-US" dirty="0">
                <a:latin typeface="+mn-lt"/>
              </a:rPr>
              <a:t>High accuracy?? – hard to quantify 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Accuracy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ADCB176-2C73-258E-E558-49D81DC3D17B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9467D-C382-809A-7C02-4A9437E9793F}"/>
              </a:ext>
            </a:extLst>
          </p:cNvPr>
          <p:cNvSpPr txBox="1"/>
          <p:nvPr/>
        </p:nvSpPr>
        <p:spPr>
          <a:xfrm>
            <a:off x="10466985" y="4937425"/>
            <a:ext cx="100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LLMs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37EB6-D985-47B6-5752-1BDE773DF71A}"/>
              </a:ext>
            </a:extLst>
          </p:cNvPr>
          <p:cNvSpPr txBox="1"/>
          <p:nvPr/>
        </p:nvSpPr>
        <p:spPr>
          <a:xfrm rot="18030204">
            <a:off x="7765821" y="3906540"/>
            <a:ext cx="3177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 of Data Mining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About This Course</a:t>
            </a:r>
          </a:p>
        </p:txBody>
      </p:sp>
    </p:spTree>
    <p:extLst>
      <p:ext uri="{BB962C8B-B14F-4D97-AF65-F5344CB8AC3E}">
        <p14:creationId xmlns:p14="http://schemas.microsoft.com/office/powerpoint/2010/main" val="88229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57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About your Instructor: Steve Elston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107" y="1295835"/>
            <a:ext cx="8168835" cy="5355772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800" b="0" dirty="0">
                <a:cs typeface="Arial" panose="020B0604020202020204" pitchFamily="34" charset="0"/>
              </a:rPr>
              <a:t>Instructor for Harvard since 2017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Data science consultant with several decades of experience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Led team that commercialized Bell Labs S, now opensource R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Company co-founder and held executive positions in several industries 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Creator of multiple edX courses, author of books and articles </a:t>
            </a:r>
          </a:p>
          <a:p>
            <a:pPr>
              <a:spcBef>
                <a:spcPts val="300"/>
              </a:spcBef>
            </a:pPr>
            <a:r>
              <a:rPr lang="en-US" dirty="0">
                <a:cs typeface="Arial" panose="020B0604020202020204" pitchFamily="34" charset="0"/>
              </a:rPr>
              <a:t>Inventor on</a:t>
            </a:r>
            <a:r>
              <a:rPr lang="en-US" sz="2800" b="0" dirty="0">
                <a:cs typeface="Arial" panose="020B0604020202020204" pitchFamily="34" charset="0"/>
              </a:rPr>
              <a:t> </a:t>
            </a:r>
            <a:r>
              <a:rPr lang="en-US" dirty="0">
                <a:cs typeface="Arial" panose="020B0604020202020204" pitchFamily="34" charset="0"/>
              </a:rPr>
              <a:t>5</a:t>
            </a:r>
            <a:r>
              <a:rPr lang="en-US" sz="2800" b="0" dirty="0">
                <a:cs typeface="Arial" panose="020B0604020202020204" pitchFamily="34" charset="0"/>
              </a:rPr>
              <a:t> patents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BS, physics and math (minor), University of New Mexico</a:t>
            </a:r>
          </a:p>
          <a:p>
            <a:pPr>
              <a:spcBef>
                <a:spcPts val="300"/>
              </a:spcBef>
            </a:pPr>
            <a:r>
              <a:rPr lang="en-US" sz="2800" b="0" dirty="0">
                <a:cs typeface="Arial" panose="020B0604020202020204" pitchFamily="34" charset="0"/>
              </a:rPr>
              <a:t>MS and PhD, geophysics, Princeton University – John von Neuman Supercomputing Fellow</a:t>
            </a:r>
          </a:p>
          <a:p>
            <a:pPr>
              <a:spcBef>
                <a:spcPts val="300"/>
              </a:spcBef>
            </a:pPr>
            <a:r>
              <a:rPr lang="en-US" dirty="0">
                <a:cs typeface="Arial" panose="020B0604020202020204" pitchFamily="34" charset="0"/>
              </a:rPr>
              <a:t>I love anything to do with natural history and the outdoors</a:t>
            </a:r>
            <a:endParaRPr lang="en-US" sz="2800" b="0" dirty="0"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42CD4-C141-02EC-25C6-E3A437984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238" y="446017"/>
            <a:ext cx="3632018" cy="298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8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487304" y="621226"/>
            <a:ext cx="9143640" cy="66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spc="-1" dirty="0">
                <a:solidFill>
                  <a:schemeClr val="dk1"/>
                </a:solidFill>
                <a:latin typeface="+mn-lt"/>
              </a:rPr>
              <a:t>About your T.A.: Eric Trucksess 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846473" y="1369132"/>
            <a:ext cx="9927772" cy="458230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Registered Patent Attorney focused on the chemical arts, particularly pharmaceuticals, solid state devices and polymeric coatings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Founder/architect of </a:t>
            </a:r>
            <a:r>
              <a:rPr lang="en-US" sz="2600" b="0" strike="noStrike" spc="-1" dirty="0" err="1">
                <a:solidFill>
                  <a:schemeClr val="dk1"/>
                </a:solidFill>
                <a:latin typeface="+mn-lt"/>
              </a:rPr>
              <a:t>HasHave</a:t>
            </a: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, formerly an online bartering site which facilitated the exchange of goods and services amongst members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Counsel to </a:t>
            </a:r>
            <a:r>
              <a:rPr lang="en-US" sz="2600" b="0" strike="noStrike" spc="-1" dirty="0" err="1">
                <a:solidFill>
                  <a:schemeClr val="dk1"/>
                </a:solidFill>
                <a:latin typeface="+mn-lt"/>
              </a:rPr>
              <a:t>RocketFuel</a:t>
            </a: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 an early-generation targeted marketing firm that applied ML principles in online marketing campaigns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  <a:p>
            <a:pPr marL="800280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strike="noStrike" spc="-1" dirty="0">
                <a:solidFill>
                  <a:schemeClr val="dk1"/>
                </a:solidFill>
                <a:latin typeface="+mn-lt"/>
              </a:rPr>
              <a:t>Currently a consultant to several Defense Contractors and a Director in a Dubai-based betting syndicate with a focus on horse racing</a:t>
            </a:r>
            <a:endParaRPr lang="en-US" sz="2600" b="0" strike="noStrike" spc="-1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194" y="599904"/>
            <a:ext cx="10515600" cy="48657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</a:rPr>
              <a:t>About your TA: Hellen S. Momoh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92" y="1398657"/>
            <a:ext cx="10515600" cy="453886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sz="2400" dirty="0"/>
              <a:t>Data Scientist and AI/ML Engineer developing applied machine learning and intelligent systems</a:t>
            </a:r>
          </a:p>
          <a:p>
            <a:r>
              <a:rPr sz="2400" dirty="0"/>
              <a:t>Founder &amp; CEO of </a:t>
            </a:r>
            <a:r>
              <a:rPr sz="2400" dirty="0" err="1"/>
              <a:t>Surna</a:t>
            </a:r>
            <a:r>
              <a:rPr sz="2400" dirty="0"/>
              <a:t> Technologies, building</a:t>
            </a:r>
            <a:r>
              <a:rPr lang="en-US" sz="2400" dirty="0"/>
              <a:t> sovereign</a:t>
            </a:r>
            <a:r>
              <a:rPr sz="2400" dirty="0"/>
              <a:t> AI-powered </a:t>
            </a:r>
            <a:r>
              <a:rPr lang="en-US" sz="2400" dirty="0"/>
              <a:t>systems</a:t>
            </a:r>
            <a:r>
              <a:rPr sz="2400" dirty="0"/>
              <a:t> and digital infrastructure</a:t>
            </a:r>
          </a:p>
          <a:p>
            <a:r>
              <a:rPr sz="2400" dirty="0"/>
              <a:t>Applied AI experience across financial systems, maternal wellness, and public-sector technology</a:t>
            </a:r>
          </a:p>
          <a:p>
            <a:r>
              <a:rPr sz="2400" dirty="0"/>
              <a:t>ALM in Data Science, Harvard University; BALS in Interdisciplinary Mathematics, Georgetown University</a:t>
            </a:r>
          </a:p>
          <a:p>
            <a:r>
              <a:rPr sz="2400" dirty="0"/>
              <a:t>Professional experience spanning technology, engineering, and international public service</a:t>
            </a:r>
          </a:p>
          <a:p>
            <a:r>
              <a:rPr sz="2400" dirty="0"/>
              <a:t>Passionate about translating data science and machine learning from theory into real-world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AD32-5699-EC1B-3B03-D92EF1BF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0C85-07BA-B000-8199-63349C0E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overarching objective is giving you a deep understand of the algorithms forming the backbone of todays massive scale analytics </a:t>
            </a:r>
            <a:r>
              <a:rPr lang="en-US" b="1" dirty="0"/>
              <a:t> </a:t>
            </a:r>
          </a:p>
          <a:p>
            <a:r>
              <a:rPr lang="en-US" dirty="0"/>
              <a:t>Lean how to work with </a:t>
            </a:r>
            <a:r>
              <a:rPr lang="en-US" b="1" dirty="0"/>
              <a:t>highly scalable analytic KDD methods and algorithms for massive datasets     </a:t>
            </a:r>
          </a:p>
          <a:p>
            <a:pPr lvl="1"/>
            <a:r>
              <a:rPr lang="en-US" dirty="0"/>
              <a:t>Good algorithms have </a:t>
            </a:r>
            <a:r>
              <a:rPr lang="en-US" b="1" dirty="0"/>
              <a:t>long staying power   </a:t>
            </a:r>
          </a:p>
          <a:p>
            <a:pPr lvl="1"/>
            <a:r>
              <a:rPr lang="en-US" dirty="0"/>
              <a:t>Understand algorithm performance analysis</a:t>
            </a:r>
          </a:p>
          <a:p>
            <a:r>
              <a:rPr lang="en-US" dirty="0"/>
              <a:t>Good algorithms are the essential to scaling </a:t>
            </a:r>
          </a:p>
          <a:p>
            <a:pPr lvl="1"/>
            <a:r>
              <a:rPr lang="en-US" dirty="0"/>
              <a:t>Good algorithm can </a:t>
            </a:r>
            <a:r>
              <a:rPr lang="en-US" b="1" dirty="0"/>
              <a:t>scale analysis by orders of magnitude  </a:t>
            </a:r>
          </a:p>
          <a:p>
            <a:pPr lvl="1"/>
            <a:r>
              <a:rPr lang="en-US" dirty="0"/>
              <a:t>Better algorithms beats throwing hardware at the problem </a:t>
            </a:r>
          </a:p>
          <a:p>
            <a:r>
              <a:rPr lang="en-US" dirty="0"/>
              <a:t>Deliberately minimize data engineering required for course </a:t>
            </a:r>
          </a:p>
          <a:p>
            <a:pPr lvl="1"/>
            <a:r>
              <a:rPr lang="en-US" dirty="0"/>
              <a:t>Wide and constantly changing landscape of </a:t>
            </a:r>
            <a:r>
              <a:rPr lang="en-US" i="1" dirty="0"/>
              <a:t>Big Data</a:t>
            </a:r>
            <a:r>
              <a:rPr lang="en-US" dirty="0"/>
              <a:t> platforms</a:t>
            </a:r>
          </a:p>
          <a:p>
            <a:pPr lvl="1"/>
            <a:r>
              <a:rPr lang="en-US" dirty="0"/>
              <a:t>Other Harvard DCE courses explore big data engineering 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BA2B2D-64B5-7A2E-1C31-A4059D780EA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can you gain from this course?</a:t>
            </a:r>
          </a:p>
        </p:txBody>
      </p:sp>
    </p:spTree>
    <p:extLst>
      <p:ext uri="{BB962C8B-B14F-4D97-AF65-F5344CB8AC3E}">
        <p14:creationId xmlns:p14="http://schemas.microsoft.com/office/powerpoint/2010/main" val="393515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mining is </a:t>
            </a:r>
            <a:r>
              <a:rPr lang="en-US" b="1" dirty="0"/>
              <a:t>exploratory</a:t>
            </a:r>
            <a:r>
              <a:rPr lang="en-US" dirty="0"/>
              <a:t> and is often </a:t>
            </a:r>
            <a:r>
              <a:rPr lang="en-US" b="1" dirty="0"/>
              <a:t>Unsupervised  </a:t>
            </a:r>
          </a:p>
          <a:p>
            <a:r>
              <a:rPr lang="en-US" dirty="0"/>
              <a:t>Use algorithms with massive scalability </a:t>
            </a:r>
          </a:p>
          <a:p>
            <a:pPr lvl="1"/>
            <a:r>
              <a:rPr lang="en-US" dirty="0"/>
              <a:t>Key-value management and hashing algorithms </a:t>
            </a:r>
          </a:p>
          <a:p>
            <a:pPr lvl="1"/>
            <a:r>
              <a:rPr lang="en-US" dirty="0"/>
              <a:t>Scalable approximate analytic algorithms </a:t>
            </a:r>
          </a:p>
          <a:p>
            <a:r>
              <a:rPr lang="en-US" dirty="0"/>
              <a:t>Focus on </a:t>
            </a:r>
            <a:r>
              <a:rPr lang="en-US" b="1" dirty="0"/>
              <a:t>unsupervised learning</a:t>
            </a:r>
          </a:p>
          <a:p>
            <a:pPr lvl="1"/>
            <a:r>
              <a:rPr lang="en-US" dirty="0"/>
              <a:t>Approximate similarity search algorithms are massively scalable</a:t>
            </a:r>
          </a:p>
          <a:p>
            <a:pPr lvl="1"/>
            <a:r>
              <a:rPr lang="en-US" dirty="0"/>
              <a:t>Ranking for recommenders, web search, RAG algorithms, etc. </a:t>
            </a:r>
          </a:p>
          <a:p>
            <a:pPr lvl="1"/>
            <a:r>
              <a:rPr lang="en-US" dirty="0"/>
              <a:t>Clustering models for exploration of complex data sets</a:t>
            </a:r>
          </a:p>
          <a:p>
            <a:r>
              <a:rPr lang="en-US" dirty="0"/>
              <a:t>Algorithms for online and infinite or streaming data </a:t>
            </a:r>
          </a:p>
          <a:p>
            <a:r>
              <a:rPr lang="en-US" dirty="0"/>
              <a:t>Dimensionality reduction algorithms</a:t>
            </a:r>
          </a:p>
          <a:p>
            <a:r>
              <a:rPr lang="en-US" dirty="0"/>
              <a:t>Graphs models</a:t>
            </a:r>
          </a:p>
          <a:p>
            <a:pPr lvl="1"/>
            <a:r>
              <a:rPr lang="en-US" dirty="0"/>
              <a:t>How to apply efficient graph representations and algorithms?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180206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Topics we (mostly) avoid in this course </a:t>
            </a:r>
            <a:endParaRPr lang="en-US" sz="3200" b="1" dirty="0"/>
          </a:p>
          <a:p>
            <a:r>
              <a:rPr lang="en-US" dirty="0"/>
              <a:t>Supervised machine learning</a:t>
            </a:r>
          </a:p>
          <a:p>
            <a:pPr lvl="1"/>
            <a:r>
              <a:rPr lang="en-US" dirty="0"/>
              <a:t>Data mining is focused on exploration and knowledge discovery, not prediction! </a:t>
            </a:r>
          </a:p>
          <a:p>
            <a:pPr lvl="1"/>
            <a:r>
              <a:rPr lang="en-US" dirty="0"/>
              <a:t>Some supervised machine learning is useful in data mining</a:t>
            </a:r>
            <a:endParaRPr lang="en-US" b="1" dirty="0"/>
          </a:p>
          <a:p>
            <a:pPr lvl="1"/>
            <a:r>
              <a:rPr lang="en-US" dirty="0"/>
              <a:t>Supervised machine learning covered in-depth in other DCE courses</a:t>
            </a:r>
          </a:p>
          <a:p>
            <a:r>
              <a:rPr lang="en-US" dirty="0"/>
              <a:t>Most deep learning</a:t>
            </a:r>
          </a:p>
          <a:p>
            <a:pPr lvl="1"/>
            <a:r>
              <a:rPr lang="en-US" dirty="0"/>
              <a:t>Promising deep NN data mining algorithms are emerging  </a:t>
            </a:r>
          </a:p>
          <a:p>
            <a:pPr lvl="1"/>
            <a:r>
              <a:rPr lang="en-US" dirty="0"/>
              <a:t>In some cases, deep NN algorithm provide more accurate results  </a:t>
            </a:r>
          </a:p>
          <a:p>
            <a:pPr lvl="1"/>
            <a:r>
              <a:rPr lang="en-US" dirty="0"/>
              <a:t>But, </a:t>
            </a:r>
            <a:r>
              <a:rPr lang="en-US" b="1" dirty="0"/>
              <a:t>NN algorithms are generally much less scalable!</a:t>
            </a:r>
            <a:endParaRPr lang="en-US" dirty="0"/>
          </a:p>
          <a:p>
            <a:pPr lvl="1"/>
            <a:r>
              <a:rPr lang="en-US" dirty="0"/>
              <a:t>In practice, </a:t>
            </a:r>
            <a:r>
              <a:rPr lang="en-US" b="1" dirty="0"/>
              <a:t>more and better data is usually more important! 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253968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B480-AA3E-213A-60C4-4D4D0A43C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0E240-C9A8-7FD6-55AE-06B661AC4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4002"/>
                <a:ext cx="10515600" cy="55812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LLMs in data mining is not a major focus for this course</a:t>
                </a:r>
                <a:endParaRPr lang="en-US" sz="3200" b="1" dirty="0"/>
              </a:p>
              <a:p>
                <a:r>
                  <a:rPr lang="en-US" dirty="0"/>
                  <a:t>LLMs have a growing impact on data mining     </a:t>
                </a:r>
              </a:p>
              <a:p>
                <a:r>
                  <a:rPr lang="en-US" dirty="0"/>
                  <a:t>LLMs can achieve high accuracy for some tasks   </a:t>
                </a:r>
              </a:p>
              <a:p>
                <a:r>
                  <a:rPr lang="en-US" dirty="0"/>
                  <a:t>Application is </a:t>
                </a:r>
                <a:r>
                  <a:rPr lang="en-US" b="1" dirty="0"/>
                  <a:t>limited by scalability    </a:t>
                </a:r>
              </a:p>
              <a:p>
                <a:pPr lvl="1"/>
                <a:r>
                  <a:rPr lang="en-US" dirty="0"/>
                  <a:t>High computational costs at web scale</a:t>
                </a:r>
              </a:p>
              <a:p>
                <a:pPr lvl="1"/>
                <a:r>
                  <a:rPr lang="en-US" dirty="0"/>
                  <a:t>Long latency limits real-time response application</a:t>
                </a:r>
              </a:p>
              <a:p>
                <a:r>
                  <a:rPr lang="en-US" b="1" dirty="0"/>
                  <a:t>LLM costs are high</a:t>
                </a:r>
                <a:r>
                  <a:rPr lang="en-US" dirty="0"/>
                  <a:t>, even for ‘low-cost’ models     </a:t>
                </a:r>
              </a:p>
              <a:p>
                <a:pPr lvl="1"/>
                <a:r>
                  <a:rPr lang="en-US" dirty="0"/>
                  <a:t>Example, a large-scale document search could require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dirty="0"/>
                  <a:t> tokens!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A0E240-C9A8-7FD6-55AE-06B661AC4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4002"/>
                <a:ext cx="10515600" cy="5581207"/>
              </a:xfrm>
              <a:blipFill>
                <a:blip r:embed="rId2"/>
                <a:stretch>
                  <a:fillRect l="-1507" t="-2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B7467E74-681C-BF89-AF4C-D551410A993A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24424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61C0-94BA-AAF3-1841-9ED3BEFB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4DCB-0BC6-C446-7D6F-3117CCC0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Dimensions of Data Mining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1792A-FD07-5D4A-F979-A142BE750E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Scalability is a key consideration </a:t>
            </a:r>
            <a:r>
              <a:rPr lang="en-US" dirty="0">
                <a:latin typeface="+mn-lt"/>
              </a:rPr>
              <a:t>when dealing with massive datasets!</a:t>
            </a:r>
          </a:p>
          <a:p>
            <a:r>
              <a:rPr lang="en-US" dirty="0">
                <a:latin typeface="+mn-lt"/>
              </a:rPr>
              <a:t>At massive scale we must consider the trade-off between </a:t>
            </a:r>
          </a:p>
          <a:p>
            <a:pPr lvl="1"/>
            <a:r>
              <a:rPr lang="en-US" dirty="0">
                <a:latin typeface="+mn-lt"/>
              </a:rPr>
              <a:t>Computational complexity  </a:t>
            </a:r>
          </a:p>
          <a:p>
            <a:pPr lvl="1"/>
            <a:r>
              <a:rPr lang="en-US" dirty="0">
                <a:latin typeface="+mn-lt"/>
              </a:rPr>
              <a:t>Memory requirements</a:t>
            </a:r>
          </a:p>
          <a:p>
            <a:pPr lvl="1"/>
            <a:r>
              <a:rPr lang="en-US" dirty="0">
                <a:latin typeface="+mn-lt"/>
              </a:rPr>
              <a:t>Accuracy of results  </a:t>
            </a:r>
          </a:p>
          <a:p>
            <a:r>
              <a:rPr lang="en-US" dirty="0">
                <a:latin typeface="+mn-lt"/>
              </a:rPr>
              <a:t>LLMs can achieve high accuracy at a high cost</a:t>
            </a:r>
          </a:p>
          <a:p>
            <a:r>
              <a:rPr lang="en-US" dirty="0">
                <a:latin typeface="+mn-lt"/>
              </a:rPr>
              <a:t>At massive scale we trade-off accuracy for scalability </a:t>
            </a:r>
          </a:p>
          <a:p>
            <a:pPr lvl="1"/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1FA1535-CB4E-24DD-A018-DF9111ADB986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5D7A4-743A-327E-6122-5FDA10FAB93C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88049-66D1-78AC-E09E-24259CF542ED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6494F-27B6-7352-1B75-8AEF19C2B9AA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84D42-CB03-C7C9-C97A-8F0C43E3A4D2}"/>
              </a:ext>
            </a:extLst>
          </p:cNvPr>
          <p:cNvSpPr txBox="1"/>
          <p:nvPr/>
        </p:nvSpPr>
        <p:spPr>
          <a:xfrm>
            <a:off x="10466985" y="4937425"/>
            <a:ext cx="1000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LLMs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76CC0-8974-8C5F-7CED-ADD2757D0E18}"/>
              </a:ext>
            </a:extLst>
          </p:cNvPr>
          <p:cNvSpPr txBox="1"/>
          <p:nvPr/>
        </p:nvSpPr>
        <p:spPr>
          <a:xfrm rot="18030204">
            <a:off x="7765821" y="3906540"/>
            <a:ext cx="3177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Focus of Data Mining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62949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3AC7-5FAE-B3F8-CB3D-7ABE322C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F65C-AE3A-BA7F-19EA-7001BD7A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Where do LLMs fit into data </a:t>
            </a:r>
            <a:r>
              <a:rPr lang="en-US" sz="3200" dirty="0" err="1"/>
              <a:t>minning</a:t>
            </a:r>
            <a:r>
              <a:rPr lang="en-US" sz="3200" dirty="0"/>
              <a:t> at massive scale?</a:t>
            </a:r>
            <a:endParaRPr lang="en-US" sz="3200" b="1" dirty="0"/>
          </a:p>
          <a:p>
            <a:r>
              <a:rPr lang="en-US" dirty="0"/>
              <a:t>LLM algorithms use retrieval augmented generation (RAG) to guide generation  </a:t>
            </a:r>
          </a:p>
          <a:p>
            <a:pPr lvl="1"/>
            <a:r>
              <a:rPr lang="en-US" dirty="0"/>
              <a:t>RAG algorithms require massive scale similarity search, a core data mining topic </a:t>
            </a:r>
          </a:p>
          <a:p>
            <a:r>
              <a:rPr lang="en-US" dirty="0"/>
              <a:t>Often use highly scalable algorithms as filter then apply LLM</a:t>
            </a:r>
          </a:p>
          <a:p>
            <a:pPr lvl="1"/>
            <a:r>
              <a:rPr lang="en-US" dirty="0"/>
              <a:t>Example: in document search use massively scalable algorithm as filter, with LLM used as </a:t>
            </a:r>
            <a:r>
              <a:rPr lang="en-US" b="1" dirty="0" err="1"/>
              <a:t>reranker</a:t>
            </a:r>
            <a:r>
              <a:rPr lang="en-US" dirty="0"/>
              <a:t> for refinement </a:t>
            </a:r>
          </a:p>
          <a:p>
            <a:pPr lvl="1"/>
            <a:r>
              <a:rPr lang="en-US" dirty="0"/>
              <a:t>More efficient methods available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689192-8B3A-A810-B0C6-30704ECCBFAF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What is the focus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191837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F8BA-E77D-C360-AD5B-2CB98FDC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22482C5-08B3-A90B-94B0-26B76C9150F3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58A67-EE46-2F4C-3457-22DB787F6AD6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484FE-4881-3835-B8E6-5EB721D74315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F4665-3B44-EC27-8017-63E9AAA04CB1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8FAA9-78A8-E1CB-4EE1-8C4AA2B9313B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405B6-04C8-5532-70BF-8921F993525F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DF74A6A-43A3-532A-27C0-C25A4F8EBA58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2D2F7-0D25-9291-81E1-B95A85194ECD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A9D0A-8D01-9127-4D33-1A9F6023056A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109C88A7-820F-F45D-06B9-AC6695899726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9A544B-C64D-C26D-379D-546D41202910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24B6E8-EE62-D057-75D7-D8EF7E5CA802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CF822-5DC8-788F-175C-7F3FAAECF89C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0E78D0-AC72-D4B1-530C-9DBE1AAF53B3}"/>
              </a:ext>
            </a:extLst>
          </p:cNvPr>
          <p:cNvSpPr/>
          <p:nvPr/>
        </p:nvSpPr>
        <p:spPr>
          <a:xfrm>
            <a:off x="6408020" y="5184729"/>
            <a:ext cx="2038966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5B69D8-949F-A5E1-038A-D7B3D5FE6133}"/>
              </a:ext>
            </a:extLst>
          </p:cNvPr>
          <p:cNvSpPr/>
          <p:nvPr/>
        </p:nvSpPr>
        <p:spPr>
          <a:xfrm>
            <a:off x="9100598" y="5172609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940847-DA8B-171F-5B55-F8479F15B7D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54ECB53-B003-A605-50EF-1194C4E34DE8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46166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4" grpId="0" animBg="1"/>
      <p:bldP spid="15" grpId="0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0CA8-F246-D25E-AEB4-FF2EAA59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756E-8F78-AACA-E637-4E5F98E3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9786F116-C61A-EF87-1D9A-3C1848FAD4BB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1FC16-0D71-48D6-3153-B5B870F2D088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8A127-7421-03C2-E792-96131AA908D1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727B61-9452-BD73-E54B-C84CB425B143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FBF6A-FC8A-B135-25F7-875F755739D8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87E0C-5A66-5719-01D3-420E2D78C0B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E85F025-A246-CDCD-DD0C-9E612E9B26F4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B15ED-5464-98E7-9051-875021799A74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9D265-DA24-3EC7-FE84-F48CCC1837A3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AB4D9DB2-E8B7-4F1D-E860-F2AD00D99130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F52434-9868-798E-70EF-71A6EC9E5661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27B5DF-8D47-1003-9138-36BB0ACC1DE9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CFD9D-CF7E-4959-5A17-17F2C919787A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6CDD49-8319-CF77-74A6-A001FD008EB5}"/>
              </a:ext>
            </a:extLst>
          </p:cNvPr>
          <p:cNvSpPr/>
          <p:nvPr/>
        </p:nvSpPr>
        <p:spPr>
          <a:xfrm>
            <a:off x="6408020" y="5181547"/>
            <a:ext cx="2038966" cy="12628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FA6190-3519-18D7-4DC6-3AE9F5323611}"/>
              </a:ext>
            </a:extLst>
          </p:cNvPr>
          <p:cNvSpPr/>
          <p:nvPr/>
        </p:nvSpPr>
        <p:spPr>
          <a:xfrm>
            <a:off x="9062948" y="5166367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3853F-A8B1-FFC7-2974-7FB192052C02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CC00380-3ACC-792E-4339-EA61C9C9951D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Unsupervised learning dominates the topics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10851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4" grpId="0" animBg="1"/>
      <p:bldP spid="15" grpId="0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Schedule for live class meetings </a:t>
            </a:r>
          </a:p>
          <a:p>
            <a:r>
              <a:rPr lang="en-US" dirty="0"/>
              <a:t>Wednesdays – Lectures focused on theoretical foundations – 6:00 to 8:00 pm US Eastern Time</a:t>
            </a:r>
          </a:p>
          <a:p>
            <a:r>
              <a:rPr lang="en-US" dirty="0"/>
              <a:t>Mondays – Section meeting to address your questions, review and background – starting at 6:00 pm US Eastern Time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All class meetings are recorded and available on-demand – See Class Recordings tab in Canvas</a:t>
            </a:r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Schedule </a:t>
            </a:r>
          </a:p>
        </p:txBody>
      </p:sp>
    </p:spTree>
    <p:extLst>
      <p:ext uri="{BB962C8B-B14F-4D97-AF65-F5344CB8AC3E}">
        <p14:creationId xmlns:p14="http://schemas.microsoft.com/office/powerpoint/2010/main" val="211615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Schedule for live class meetings during Summer School </a:t>
            </a:r>
          </a:p>
          <a:p>
            <a:r>
              <a:rPr lang="en-US" dirty="0"/>
              <a:t>Tuesdays and Thursdays – Lectures focused on theoretical foundations - 6:30-9:30 pm US Eastern Time</a:t>
            </a:r>
          </a:p>
          <a:p>
            <a:pPr lvl="1"/>
            <a:r>
              <a:rPr lang="en-US" dirty="0"/>
              <a:t>Most lessons less than 3 hours</a:t>
            </a:r>
          </a:p>
          <a:p>
            <a:r>
              <a:rPr lang="en-US" dirty="0"/>
              <a:t>Mondays and Wednesdays – Section meeting to address questions, discuss code, background review – starting at 6:30 pm US Eastern Time  </a:t>
            </a:r>
          </a:p>
          <a:p>
            <a:r>
              <a:rPr lang="en-US" dirty="0"/>
              <a:t>One-on-one meetings can be held by arrangement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All class meetings are recorded and available on-demand – See Class Recordings tab in Canvas</a:t>
            </a:r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Schedule </a:t>
            </a:r>
          </a:p>
        </p:txBody>
      </p:sp>
    </p:spTree>
    <p:extLst>
      <p:ext uri="{BB962C8B-B14F-4D97-AF65-F5344CB8AC3E}">
        <p14:creationId xmlns:p14="http://schemas.microsoft.com/office/powerpoint/2010/main" val="17707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Harvard Summer School session is only </a:t>
            </a:r>
            <a:r>
              <a:rPr lang="en-US" sz="3200" b="1" dirty="0"/>
              <a:t>7 weeks</a:t>
            </a:r>
            <a:r>
              <a:rPr lang="en-US" sz="3200" dirty="0"/>
              <a:t>!</a:t>
            </a:r>
            <a:endParaRPr lang="en-US" sz="3200" b="1" dirty="0"/>
          </a:p>
          <a:p>
            <a:r>
              <a:rPr lang="en-US" dirty="0">
                <a:solidFill>
                  <a:srgbClr val="C00000"/>
                </a:solidFill>
              </a:rPr>
              <a:t>Expect an </a:t>
            </a:r>
            <a:r>
              <a:rPr lang="en-US" b="1" dirty="0">
                <a:solidFill>
                  <a:srgbClr val="C00000"/>
                </a:solidFill>
              </a:rPr>
              <a:t>intense pace!</a:t>
            </a:r>
          </a:p>
          <a:p>
            <a:pPr lvl="1"/>
            <a:r>
              <a:rPr lang="en-US" dirty="0"/>
              <a:t>Course moves at twice the rate of a regular semester</a:t>
            </a:r>
          </a:p>
          <a:p>
            <a:pPr lvl="1"/>
            <a:r>
              <a:rPr lang="en-US" dirty="0"/>
              <a:t>Lesson and assignments cover </a:t>
            </a:r>
            <a:r>
              <a:rPr lang="en-US" b="1" dirty="0"/>
              <a:t>all material of the regular 15-week semester</a:t>
            </a:r>
            <a:endParaRPr lang="en-US" dirty="0"/>
          </a:p>
          <a:p>
            <a:r>
              <a:rPr lang="en-US" dirty="0"/>
              <a:t>Assignment deadlines are important</a:t>
            </a:r>
          </a:p>
          <a:p>
            <a:pPr lvl="1"/>
            <a:r>
              <a:rPr lang="en-US" dirty="0"/>
              <a:t>One or two assignments due every week!   </a:t>
            </a:r>
          </a:p>
          <a:p>
            <a:pPr lvl="1"/>
            <a:r>
              <a:rPr lang="en-US" b="1" dirty="0"/>
              <a:t>Do not fall behind!!</a:t>
            </a:r>
          </a:p>
          <a:p>
            <a:pPr lvl="1"/>
            <a:r>
              <a:rPr lang="en-US" dirty="0"/>
              <a:t>Expect </a:t>
            </a:r>
            <a:r>
              <a:rPr lang="en-US" b="1" dirty="0"/>
              <a:t>8 assignments </a:t>
            </a:r>
            <a:r>
              <a:rPr lang="en-US" dirty="0"/>
              <a:t>plus online discussion questions and projects for graduate credit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There is no time to ‘catch up’!</a:t>
            </a:r>
          </a:p>
          <a:p>
            <a:pPr lvl="1"/>
            <a:endParaRPr lang="en-US" dirty="0"/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Pace of this course</a:t>
            </a:r>
          </a:p>
        </p:txBody>
      </p:sp>
    </p:spTree>
    <p:extLst>
      <p:ext uri="{BB962C8B-B14F-4D97-AF65-F5344CB8AC3E}">
        <p14:creationId xmlns:p14="http://schemas.microsoft.com/office/powerpoint/2010/main" val="163703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Students enrolled for undergraduate credit are evaluated by the following weights: </a:t>
            </a:r>
          </a:p>
          <a:p>
            <a:r>
              <a:rPr lang="en-US" b="1" dirty="0"/>
              <a:t>10% Class Participation </a:t>
            </a:r>
            <a:r>
              <a:rPr lang="en-US" dirty="0"/>
              <a:t>– Class participation in online discussions</a:t>
            </a:r>
          </a:p>
          <a:p>
            <a:r>
              <a:rPr lang="en-US" b="1" dirty="0"/>
              <a:t>90%	Assignments </a:t>
            </a:r>
            <a:r>
              <a:rPr lang="en-US" dirty="0"/>
              <a:t>– Hands-on assignments for most lessons </a:t>
            </a:r>
          </a:p>
          <a:p>
            <a:pPr lvl="1"/>
            <a:r>
              <a:rPr lang="en-US" dirty="0"/>
              <a:t>Expect 8 assignments 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Undergraduate Credit Grading</a:t>
            </a:r>
          </a:p>
        </p:txBody>
      </p:sp>
    </p:spTree>
    <p:extLst>
      <p:ext uri="{BB962C8B-B14F-4D97-AF65-F5344CB8AC3E}">
        <p14:creationId xmlns:p14="http://schemas.microsoft.com/office/powerpoint/2010/main" val="324535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Students enrolled for graduate credit are evaluated by the following weights: </a:t>
            </a:r>
          </a:p>
          <a:p>
            <a:r>
              <a:rPr lang="en-US" b="1" dirty="0"/>
              <a:t>10% Class Participation </a:t>
            </a:r>
            <a:r>
              <a:rPr lang="en-US" dirty="0"/>
              <a:t>– Class participation in online discussions</a:t>
            </a:r>
          </a:p>
          <a:p>
            <a:r>
              <a:rPr lang="en-US" b="1" dirty="0"/>
              <a:t>65%	Assignments </a:t>
            </a:r>
            <a:r>
              <a:rPr lang="en-US" dirty="0"/>
              <a:t>– Hands-on assignments for most lessons</a:t>
            </a:r>
          </a:p>
          <a:p>
            <a:pPr lvl="1"/>
            <a:r>
              <a:rPr lang="en-US" dirty="0"/>
              <a:t>Expect 8 assignments</a:t>
            </a:r>
          </a:p>
          <a:p>
            <a:r>
              <a:rPr lang="en-US" b="1" dirty="0"/>
              <a:t>5% Project proposal </a:t>
            </a:r>
            <a:r>
              <a:rPr lang="en-US" dirty="0"/>
              <a:t>– Proposal describing the problem you wish to address and methods you plan to apply. Based on your proposal, your instructor will approve your project as appropriate for the course. </a:t>
            </a:r>
          </a:p>
          <a:p>
            <a:r>
              <a:rPr lang="en-US" b="1" dirty="0"/>
              <a:t>20%	Project </a:t>
            </a:r>
            <a:r>
              <a:rPr lang="en-US" dirty="0"/>
              <a:t>– Independent data mining project report – More on this next class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Graduate Credit Grading</a:t>
            </a:r>
          </a:p>
        </p:txBody>
      </p:sp>
    </p:spTree>
    <p:extLst>
      <p:ext uri="{BB962C8B-B14F-4D97-AF65-F5344CB8AC3E}">
        <p14:creationId xmlns:p14="http://schemas.microsoft.com/office/powerpoint/2010/main" val="3485671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Read and understand the Syllabus!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Material specific to this course are in the </a:t>
            </a: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repository</a:t>
            </a:r>
            <a:endParaRPr lang="en-US" dirty="0"/>
          </a:p>
          <a:p>
            <a:pPr lvl="1"/>
            <a:r>
              <a:rPr lang="en-US" dirty="0"/>
              <a:t>Slides</a:t>
            </a:r>
          </a:p>
          <a:p>
            <a:pPr lvl="1"/>
            <a:r>
              <a:rPr lang="en-US" dirty="0"/>
              <a:t>Notebooks for assignments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Supplementary materials for review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Assignment due dates, submissions, and grading in </a:t>
            </a:r>
            <a:r>
              <a:rPr lang="en-US" b="1" dirty="0"/>
              <a:t>Canvas</a:t>
            </a:r>
          </a:p>
          <a:p>
            <a:pPr lvl="1"/>
            <a:r>
              <a:rPr lang="en-US" dirty="0"/>
              <a:t>Class assignments </a:t>
            </a:r>
          </a:p>
          <a:p>
            <a:pPr lvl="1"/>
            <a:r>
              <a:rPr lang="en-US" dirty="0"/>
              <a:t>Graduate independent projects   </a:t>
            </a:r>
          </a:p>
          <a:p>
            <a:pPr lvl="1"/>
            <a:r>
              <a:rPr lang="en-US" dirty="0"/>
              <a:t>Solutions and examples under </a:t>
            </a:r>
            <a:r>
              <a:rPr lang="en-US" b="1" dirty="0"/>
              <a:t>Modules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Assignments are being revised!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Do not start assignments before they are posted in Canvas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Do a pull on the GitHub repository to get updated notebooks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Where can you find the course materials?</a:t>
            </a:r>
          </a:p>
        </p:txBody>
      </p:sp>
    </p:spTree>
    <p:extLst>
      <p:ext uri="{BB962C8B-B14F-4D97-AF65-F5344CB8AC3E}">
        <p14:creationId xmlns:p14="http://schemas.microsoft.com/office/powerpoint/2010/main" val="338725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14A0-7A36-C94D-3414-9130111A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1C102-0F95-A89F-31BC-40B62F81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02"/>
            <a:ext cx="10515600" cy="558120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Recommended reading primarily from these texts: </a:t>
            </a:r>
          </a:p>
          <a:p>
            <a:pPr lvl="1"/>
            <a:r>
              <a:rPr lang="en-US" dirty="0">
                <a:hlinkClick r:id="rId2"/>
              </a:rPr>
              <a:t>Mining of Massive Datasets</a:t>
            </a:r>
            <a:r>
              <a:rPr lang="en-US" dirty="0"/>
              <a:t>, 3</a:t>
            </a:r>
            <a:r>
              <a:rPr lang="en-US" baseline="30000" dirty="0"/>
              <a:t>rd</a:t>
            </a:r>
            <a:r>
              <a:rPr lang="en-US" dirty="0"/>
              <a:t> Ed - .pdf download available</a:t>
            </a:r>
          </a:p>
          <a:p>
            <a:pPr lvl="1"/>
            <a:r>
              <a:rPr lang="en-US" u="sng" dirty="0">
                <a:hlinkClick r:id="rId3"/>
              </a:rPr>
              <a:t>Networks, 2</a:t>
            </a:r>
            <a:r>
              <a:rPr lang="en-US" u="sng" baseline="30000" dirty="0">
                <a:hlinkClick r:id="rId3"/>
              </a:rPr>
              <a:t>nd</a:t>
            </a:r>
            <a:r>
              <a:rPr lang="en-US" u="sng" dirty="0">
                <a:hlinkClick r:id="rId3"/>
              </a:rPr>
              <a:t> edition, Mark Newman</a:t>
            </a:r>
            <a:r>
              <a:rPr lang="en-US" u="sng" dirty="0"/>
              <a:t> </a:t>
            </a:r>
            <a:r>
              <a:rPr lang="en-US" dirty="0"/>
              <a:t>Available through the Harvard Coop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Rubik"/>
                <a:hlinkClick r:id="rId4"/>
              </a:rPr>
              <a:t>Algorithms and data structures for massive datasets</a:t>
            </a:r>
            <a:r>
              <a:rPr lang="en-US" b="0" i="0" dirty="0">
                <a:solidFill>
                  <a:srgbClr val="222222"/>
                </a:solidFill>
                <a:effectLst/>
                <a:latin typeface="Rubik"/>
              </a:rPr>
              <a:t>, </a:t>
            </a:r>
            <a:r>
              <a:rPr lang="en-US" dirty="0" err="1">
                <a:effectLst/>
              </a:rPr>
              <a:t>Medjedovic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Dzejla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Tahirovic</a:t>
            </a:r>
            <a:r>
              <a:rPr lang="en-US" dirty="0">
                <a:effectLst/>
              </a:rPr>
              <a:t>, Emin, Manning, 2022</a:t>
            </a:r>
          </a:p>
          <a:p>
            <a:pPr lvl="1"/>
            <a:r>
              <a:rPr lang="en-US" b="0" i="0" dirty="0">
                <a:solidFill>
                  <a:srgbClr val="222222"/>
                </a:solidFill>
                <a:effectLst/>
                <a:latin typeface="Rubik"/>
                <a:hlinkClick r:id="rId5"/>
              </a:rPr>
              <a:t>Advanced algorithms and data structures</a:t>
            </a:r>
            <a:r>
              <a:rPr lang="en-US" b="0" i="0" dirty="0">
                <a:solidFill>
                  <a:srgbClr val="222222"/>
                </a:solidFill>
                <a:effectLst/>
                <a:latin typeface="Rubik"/>
              </a:rPr>
              <a:t>, </a:t>
            </a:r>
            <a:r>
              <a:rPr lang="en-US" dirty="0">
                <a:effectLst/>
              </a:rPr>
              <a:t>La Rocca, Marcello, Manning, 2021</a:t>
            </a:r>
          </a:p>
          <a:p>
            <a:pPr lvl="1"/>
            <a:r>
              <a:rPr lang="en-US" dirty="0">
                <a:hlinkClick r:id="rId6"/>
              </a:rPr>
              <a:t>Data Mining, Concepts and Techniques</a:t>
            </a:r>
            <a:r>
              <a:rPr lang="en-US" dirty="0"/>
              <a:t>, 4th Edition, Jiawei Han, Jian Pei, </a:t>
            </a:r>
            <a:r>
              <a:rPr lang="en-US" dirty="0" err="1"/>
              <a:t>Hanghang</a:t>
            </a:r>
            <a:r>
              <a:rPr lang="en-US" dirty="0"/>
              <a:t> Tong, Morgan Kaufmann, 2022</a:t>
            </a:r>
          </a:p>
          <a:p>
            <a:pPr lvl="1"/>
            <a:r>
              <a:rPr lang="en-US" b="1" dirty="0"/>
              <a:t>Available as Library Reserves – See tab in Canvas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4C156F-E05C-F5B9-AAF7-820254AA67B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Where can you find the course materials?</a:t>
            </a:r>
          </a:p>
        </p:txBody>
      </p:sp>
    </p:spTree>
    <p:extLst>
      <p:ext uri="{BB962C8B-B14F-4D97-AF65-F5344CB8AC3E}">
        <p14:creationId xmlns:p14="http://schemas.microsoft.com/office/powerpoint/2010/main" val="3428037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567"/>
            <a:ext cx="10515600" cy="5787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Expect 8 assignments + project! </a:t>
            </a:r>
          </a:p>
          <a:p>
            <a:r>
              <a:rPr lang="en-US" dirty="0"/>
              <a:t>Assignments and projects are done in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r>
              <a:rPr lang="en-US" dirty="0"/>
              <a:t>Format discussion text using </a:t>
            </a:r>
            <a:r>
              <a:rPr lang="en-US" dirty="0" err="1">
                <a:hlinkClick r:id="rId2"/>
              </a:rPr>
              <a:t>Jupyter</a:t>
            </a:r>
            <a:r>
              <a:rPr lang="en-US" dirty="0">
                <a:hlinkClick r:id="rId2"/>
              </a:rPr>
              <a:t> Markdown  </a:t>
            </a:r>
            <a:endParaRPr lang="en-US" dirty="0"/>
          </a:p>
          <a:p>
            <a:pPr lvl="1"/>
            <a:r>
              <a:rPr lang="en-US" dirty="0"/>
              <a:t>You will lose points for poor formatting of your discussion text, e.g. no section headings, text that does not wrap to page width, discussion only in code comments,…    </a:t>
            </a:r>
          </a:p>
          <a:p>
            <a:pPr lvl="1"/>
            <a:r>
              <a:rPr lang="en-US" dirty="0"/>
              <a:t>If you are not familiar with </a:t>
            </a:r>
            <a:r>
              <a:rPr lang="en-US" dirty="0" err="1"/>
              <a:t>Jupyter</a:t>
            </a:r>
            <a:r>
              <a:rPr lang="en-US" dirty="0"/>
              <a:t>, you can find a </a:t>
            </a:r>
            <a:r>
              <a:rPr lang="en-US" u="sng" dirty="0">
                <a:hlinkClick r:id="rId3"/>
              </a:rPr>
              <a:t>basic tutorial here</a:t>
            </a:r>
            <a:endParaRPr lang="en-US" dirty="0"/>
          </a:p>
          <a:p>
            <a:r>
              <a:rPr lang="en-US" dirty="0"/>
              <a:t>Updated assignment </a:t>
            </a:r>
            <a:r>
              <a:rPr lang="en-US" dirty="0" err="1"/>
              <a:t>Jupyter</a:t>
            </a:r>
            <a:r>
              <a:rPr lang="en-US" dirty="0"/>
              <a:t> notebooks will be posted in the course GitHub repository</a:t>
            </a:r>
          </a:p>
          <a:p>
            <a:pPr lvl="1"/>
            <a:r>
              <a:rPr lang="en-US" b="1" dirty="0"/>
              <a:t>Clone</a:t>
            </a:r>
            <a:r>
              <a:rPr lang="en-US" dirty="0"/>
              <a:t> the repository and do </a:t>
            </a:r>
            <a:r>
              <a:rPr lang="en-US" b="1" dirty="0"/>
              <a:t>frequent pulls </a:t>
            </a:r>
            <a:r>
              <a:rPr lang="en-US" dirty="0"/>
              <a:t>to get the latest material  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Make sure to work in your own branch or copy to another directory</a:t>
            </a:r>
          </a:p>
          <a:p>
            <a:pPr lvl="1"/>
            <a:r>
              <a:rPr lang="en-US" dirty="0"/>
              <a:t>There are many good Git and GitHub tutorials online, including </a:t>
            </a:r>
            <a:r>
              <a:rPr lang="en-US" u="sng" dirty="0">
                <a:hlinkClick r:id="rId4"/>
              </a:rPr>
              <a:t>this one</a:t>
            </a:r>
            <a:endParaRPr lang="en-US" u="sng" dirty="0"/>
          </a:p>
          <a:p>
            <a:r>
              <a:rPr lang="en-US" dirty="0"/>
              <a:t>Some assignment notebooks are tested using GPU support in in </a:t>
            </a:r>
            <a:r>
              <a:rPr lang="en-US" dirty="0">
                <a:hlinkClick r:id="rId5"/>
              </a:rPr>
              <a:t>Google </a:t>
            </a:r>
            <a:r>
              <a:rPr lang="en-US" dirty="0" err="1">
                <a:hlinkClick r:id="rId5"/>
              </a:rPr>
              <a:t>Colab</a:t>
            </a:r>
            <a:r>
              <a:rPr lang="en-US" dirty="0">
                <a:hlinkClick r:id="rId5"/>
              </a:rPr>
              <a:t> </a:t>
            </a:r>
            <a:endParaRPr lang="en-US" dirty="0"/>
          </a:p>
          <a:p>
            <a:pPr lvl="1"/>
            <a:r>
              <a:rPr lang="en-US" dirty="0"/>
              <a:t>A paid subscription is recommended to limit you frustration! 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Assignments</a:t>
            </a:r>
          </a:p>
        </p:txBody>
      </p:sp>
    </p:spTree>
    <p:extLst>
      <p:ext uri="{BB962C8B-B14F-4D97-AF65-F5344CB8AC3E}">
        <p14:creationId xmlns:p14="http://schemas.microsoft.com/office/powerpoint/2010/main" val="294068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446E5C-F06F-D65D-110E-9269A95B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D85D-5611-A420-798A-40685DF8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5311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Timely release of assignment solutions is an important part of the learning process </a:t>
            </a:r>
          </a:p>
          <a:p>
            <a:r>
              <a:rPr lang="en-US" b="1" dirty="0">
                <a:solidFill>
                  <a:srgbClr val="C00000"/>
                </a:solidFill>
              </a:rPr>
              <a:t>Harvard Summer School moves at an intense pace!!</a:t>
            </a:r>
          </a:p>
          <a:p>
            <a:r>
              <a:rPr lang="en-US" dirty="0"/>
              <a:t>Late assignment policy:   </a:t>
            </a:r>
          </a:p>
          <a:p>
            <a:pPr lvl="1"/>
            <a:r>
              <a:rPr lang="en-US" dirty="0"/>
              <a:t>Up to one day late - no penalty  </a:t>
            </a:r>
          </a:p>
          <a:p>
            <a:pPr lvl="1"/>
            <a:r>
              <a:rPr lang="en-US" dirty="0"/>
              <a:t>Up to 2 days late - less 20% </a:t>
            </a:r>
          </a:p>
          <a:p>
            <a:pPr lvl="1"/>
            <a:r>
              <a:rPr lang="en-US" dirty="0"/>
              <a:t>Up to 3 days late – less 40%</a:t>
            </a:r>
          </a:p>
          <a:p>
            <a:pPr lvl="1"/>
            <a:r>
              <a:rPr lang="en-US" dirty="0"/>
              <a:t>More than 3 days late - no credit   </a:t>
            </a:r>
          </a:p>
          <a:p>
            <a:r>
              <a:rPr lang="en-US" b="1" dirty="0">
                <a:solidFill>
                  <a:srgbClr val="C00000"/>
                </a:solidFill>
              </a:rPr>
              <a:t>Make sure you turn in work on time!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C7495-545D-58A2-1941-4463A39C1E65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Late Assignment Policy</a:t>
            </a:r>
          </a:p>
        </p:txBody>
      </p:sp>
    </p:spTree>
    <p:extLst>
      <p:ext uri="{BB962C8B-B14F-4D97-AF65-F5344CB8AC3E}">
        <p14:creationId xmlns:p14="http://schemas.microsoft.com/office/powerpoint/2010/main" val="308918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Timely release of assignment solutions is an important part of the learning process </a:t>
            </a:r>
          </a:p>
          <a:p>
            <a:r>
              <a:rPr lang="en-US" b="1" dirty="0"/>
              <a:t>Do not fall behind! </a:t>
            </a:r>
            <a:r>
              <a:rPr lang="en-US" dirty="0"/>
              <a:t>With 8 assignments and a project, there is very </a:t>
            </a:r>
            <a:r>
              <a:rPr lang="en-US" b="1" dirty="0">
                <a:solidFill>
                  <a:srgbClr val="C00000"/>
                </a:solidFill>
              </a:rPr>
              <a:t>little time to “catch-up</a:t>
            </a:r>
            <a:r>
              <a:rPr lang="en-US" b="1" dirty="0"/>
              <a:t>”</a:t>
            </a:r>
            <a:endParaRPr lang="en-US" dirty="0"/>
          </a:p>
          <a:p>
            <a:r>
              <a:rPr lang="en-US" dirty="0"/>
              <a:t>Late assignment policy:   </a:t>
            </a:r>
          </a:p>
          <a:p>
            <a:pPr lvl="1"/>
            <a:r>
              <a:rPr lang="en-US" dirty="0"/>
              <a:t>Up to one day late - no penalty  </a:t>
            </a:r>
          </a:p>
          <a:p>
            <a:pPr lvl="1"/>
            <a:r>
              <a:rPr lang="en-US" dirty="0"/>
              <a:t>Up to two days late - less 10% </a:t>
            </a:r>
          </a:p>
          <a:p>
            <a:pPr lvl="1"/>
            <a:r>
              <a:rPr lang="en-US" dirty="0"/>
              <a:t>Up to three days late - less 20% </a:t>
            </a:r>
          </a:p>
          <a:p>
            <a:pPr lvl="1"/>
            <a:r>
              <a:rPr lang="en-US" dirty="0"/>
              <a:t>Up to four days late - less 30% </a:t>
            </a:r>
          </a:p>
          <a:p>
            <a:pPr lvl="1"/>
            <a:r>
              <a:rPr lang="en-US" dirty="0"/>
              <a:t>Up to five days late - less 40% </a:t>
            </a:r>
          </a:p>
          <a:p>
            <a:pPr lvl="1"/>
            <a:r>
              <a:rPr lang="en-US" dirty="0"/>
              <a:t>More than five days late - no credit   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Make sure you turn in work on time!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Late Assignment Policy – For regular semester</a:t>
            </a:r>
          </a:p>
        </p:txBody>
      </p:sp>
    </p:spTree>
    <p:extLst>
      <p:ext uri="{BB962C8B-B14F-4D97-AF65-F5344CB8AC3E}">
        <p14:creationId xmlns:p14="http://schemas.microsoft.com/office/powerpoint/2010/main" val="1424932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53110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Ed Discussion is the primary means of communication </a:t>
            </a:r>
            <a:r>
              <a:rPr lang="en-US" dirty="0"/>
              <a:t>for this course  </a:t>
            </a:r>
          </a:p>
          <a:p>
            <a:r>
              <a:rPr lang="en-US" dirty="0"/>
              <a:t>Use Ed Discussion to get help with assignments and projects </a:t>
            </a:r>
          </a:p>
          <a:p>
            <a:pPr lvl="1"/>
            <a:r>
              <a:rPr lang="en-US" dirty="0"/>
              <a:t>It’s </a:t>
            </a:r>
            <a:r>
              <a:rPr lang="en-US" b="1" dirty="0"/>
              <a:t>okay to post code for your question!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Post code and complete exception messages if you are dealing with code problem!</a:t>
            </a:r>
          </a:p>
          <a:p>
            <a:r>
              <a:rPr lang="en-US" dirty="0"/>
              <a:t>Graded online class discussions take place in Ed    </a:t>
            </a:r>
          </a:p>
          <a:p>
            <a:r>
              <a:rPr lang="en-US" dirty="0"/>
              <a:t>Private communications regarding matters such as grades</a:t>
            </a:r>
          </a:p>
          <a:p>
            <a:pPr lvl="1"/>
            <a:r>
              <a:rPr lang="en-US" dirty="0"/>
              <a:t>Use private messages in Ed Discussion for fastest response </a:t>
            </a:r>
          </a:p>
          <a:p>
            <a:pPr lvl="1"/>
            <a:r>
              <a:rPr lang="en-US" dirty="0"/>
              <a:t>Or, Steve Elston: </a:t>
            </a:r>
            <a:r>
              <a:rPr lang="en-US" dirty="0" err="1"/>
              <a:t>stephen_elston</a:t>
            </a:r>
            <a:r>
              <a:rPr lang="en-US" dirty="0"/>
              <a:t> at g dot </a:t>
            </a:r>
            <a:r>
              <a:rPr lang="en-US" dirty="0" err="1"/>
              <a:t>harvard</a:t>
            </a:r>
            <a:r>
              <a:rPr lang="en-US" dirty="0"/>
              <a:t> dot </a:t>
            </a:r>
            <a:r>
              <a:rPr lang="en-US" dirty="0" err="1"/>
              <a:t>edu</a:t>
            </a:r>
            <a:r>
              <a:rPr lang="en-US" dirty="0"/>
              <a:t>, Hellen Siah Momoh: hem299 at g dot </a:t>
            </a:r>
            <a:r>
              <a:rPr lang="en-US" dirty="0" err="1"/>
              <a:t>harvard</a:t>
            </a:r>
            <a:r>
              <a:rPr lang="en-US" dirty="0"/>
              <a:t> </a:t>
            </a:r>
            <a:r>
              <a:rPr lang="en-US" dirty="0" err="1"/>
              <a:t>dotedu</a:t>
            </a:r>
            <a:r>
              <a:rPr lang="en-US" dirty="0"/>
              <a:t>, Eric Trucksess: ert713 at g dot </a:t>
            </a:r>
            <a:r>
              <a:rPr lang="en-US" dirty="0" err="1"/>
              <a:t>harvard</a:t>
            </a:r>
            <a:r>
              <a:rPr lang="en-US" dirty="0"/>
              <a:t> dot </a:t>
            </a:r>
            <a:r>
              <a:rPr lang="en-US" dirty="0" err="1"/>
              <a:t>edu</a:t>
            </a:r>
            <a:endParaRPr lang="en-US" b="0" i="0" dirty="0">
              <a:effectLst/>
              <a:latin typeface="Google Sans"/>
            </a:endParaRPr>
          </a:p>
          <a:p>
            <a:pPr lvl="1"/>
            <a:r>
              <a:rPr lang="en-US" b="1" dirty="0">
                <a:latin typeface="Google Sans"/>
              </a:rPr>
              <a:t>Private one-on-one appointments on request</a:t>
            </a:r>
            <a:endParaRPr lang="en-US" b="1" i="0" dirty="0">
              <a:effectLst/>
              <a:latin typeface="Google Sans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Do not use Canvas messages, unless you want a delayed response!  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Communication </a:t>
            </a:r>
          </a:p>
        </p:txBody>
      </p:sp>
    </p:spTree>
    <p:extLst>
      <p:ext uri="{BB962C8B-B14F-4D97-AF65-F5344CB8AC3E}">
        <p14:creationId xmlns:p14="http://schemas.microsoft.com/office/powerpoint/2010/main" val="122852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DAF8-980B-7B29-0690-8796ACCF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E616E-E896-5BED-42D6-6DD2314F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210"/>
            <a:ext cx="10515600" cy="5563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AI (LLMs) is becoming a standard tool for professional data scientists, </a:t>
            </a:r>
            <a:r>
              <a:rPr lang="en-US" b="1" dirty="0"/>
              <a:t>limited use is allowed for this course  </a:t>
            </a:r>
          </a:p>
          <a:p>
            <a:pPr lvl="0"/>
            <a:r>
              <a:rPr lang="en-US" b="1" dirty="0"/>
              <a:t>Writing &amp; Analysis: </a:t>
            </a:r>
            <a:r>
              <a:rPr lang="en-US" dirty="0"/>
              <a:t>Your written reports, question responses and discussion post </a:t>
            </a:r>
            <a:r>
              <a:rPr lang="en-US" b="1" dirty="0"/>
              <a:t>must be your own original work!</a:t>
            </a:r>
            <a:endParaRPr lang="en-US" dirty="0"/>
          </a:p>
          <a:p>
            <a:pPr lvl="1"/>
            <a:r>
              <a:rPr lang="en-US" dirty="0"/>
              <a:t>LLMs are quite helpful with research and learning</a:t>
            </a:r>
          </a:p>
          <a:p>
            <a:pPr lvl="1"/>
            <a:r>
              <a:rPr lang="en-US" dirty="0"/>
              <a:t>LLMs cannot think or reason </a:t>
            </a:r>
          </a:p>
          <a:p>
            <a:pPr lvl="1"/>
            <a:r>
              <a:rPr lang="en-US" b="1" dirty="0"/>
              <a:t>Understanding of which problems are worth solving, determining the best approaches for solutions and interpreting results are skills you need to develop! </a:t>
            </a:r>
          </a:p>
          <a:p>
            <a:pPr lvl="0"/>
            <a:r>
              <a:rPr lang="en-US" b="1" dirty="0"/>
              <a:t>Code Generation: </a:t>
            </a:r>
            <a:r>
              <a:rPr lang="en-US" dirty="0"/>
              <a:t>You may use AI to generate discrete portions of code and to resolve exceptions </a:t>
            </a:r>
          </a:p>
          <a:p>
            <a:pPr lvl="1"/>
            <a:r>
              <a:rPr lang="en-US" dirty="0"/>
              <a:t>It’s the way we do things these days! </a:t>
            </a:r>
          </a:p>
          <a:p>
            <a:pPr lvl="1"/>
            <a:r>
              <a:rPr lang="en-US" dirty="0"/>
              <a:t>LLM generated code lets us test ideas quickly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B0F8B3-7D80-2256-9FF3-D6ACB1A238F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Using AI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23834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D7DD-7AF9-FA05-2177-A254C493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EEC0-807D-1936-07D1-13223139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210"/>
            <a:ext cx="10515600" cy="5563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AI (LLMs) is becoming a standard tool for professional data scientists, limited use is allowed for this course  </a:t>
            </a:r>
          </a:p>
          <a:p>
            <a:pPr lvl="0"/>
            <a:r>
              <a:rPr lang="en-US" b="1" dirty="0"/>
              <a:t>Validation of Results: </a:t>
            </a:r>
            <a:r>
              <a:rPr lang="en-US" dirty="0"/>
              <a:t>You are responsible for validating the correctness, efficiency, and security of any AI-generated code. </a:t>
            </a:r>
          </a:p>
          <a:p>
            <a:pPr lvl="1"/>
            <a:r>
              <a:rPr lang="en-US" dirty="0"/>
              <a:t>LLMs have no way to evaluate if a algorithm actually solves a problem or exhibits undesirable behavior </a:t>
            </a:r>
          </a:p>
          <a:p>
            <a:pPr lvl="1"/>
            <a:r>
              <a:rPr lang="en-US" dirty="0"/>
              <a:t>You need to </a:t>
            </a:r>
            <a:r>
              <a:rPr lang="en-US" b="1" dirty="0"/>
              <a:t>develop the skills to critically evaluate results </a:t>
            </a:r>
          </a:p>
          <a:p>
            <a:pPr lvl="1"/>
            <a:r>
              <a:rPr lang="en-US" dirty="0"/>
              <a:t>You must have the </a:t>
            </a:r>
            <a:r>
              <a:rPr lang="en-US" b="1" dirty="0"/>
              <a:t>skills to determine approaches to improve results and correct undesirable behavior</a:t>
            </a:r>
            <a:r>
              <a:rPr lang="en-US" dirty="0"/>
              <a:t> </a:t>
            </a:r>
          </a:p>
          <a:p>
            <a:pPr lvl="0"/>
            <a:r>
              <a:rPr lang="en-US" b="1" dirty="0">
                <a:solidFill>
                  <a:srgbClr val="C00000"/>
                </a:solidFill>
              </a:rPr>
              <a:t>Attribution &amp; Integrity:</a:t>
            </a:r>
            <a:r>
              <a:rPr lang="en-US" dirty="0">
                <a:solidFill>
                  <a:srgbClr val="C00000"/>
                </a:solidFill>
              </a:rPr>
              <a:t> Cite AI use per the </a:t>
            </a:r>
            <a:r>
              <a:rPr lang="en-US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Harvard Extension School Academic Integrity Policy</a:t>
            </a:r>
            <a:r>
              <a:rPr lang="en-US" dirty="0">
                <a:solidFill>
                  <a:srgbClr val="C00000"/>
                </a:solidFill>
              </a:rPr>
              <a:t>!</a:t>
            </a:r>
          </a:p>
          <a:p>
            <a:pPr lvl="0"/>
            <a:r>
              <a:rPr lang="en-US" dirty="0"/>
              <a:t>See course syllabus in Canvas for additional policy details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A07D1A-2593-EA96-9F4B-0D7D49DF373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Using AI for this course</a:t>
            </a:r>
          </a:p>
        </p:txBody>
      </p:sp>
    </p:spTree>
    <p:extLst>
      <p:ext uri="{BB962C8B-B14F-4D97-AF65-F5344CB8AC3E}">
        <p14:creationId xmlns:p14="http://schemas.microsoft.com/office/powerpoint/2010/main" val="184998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Foundations of Large-Scale Data-Mining</a:t>
            </a:r>
          </a:p>
        </p:txBody>
      </p:sp>
    </p:spTree>
    <p:extLst>
      <p:ext uri="{BB962C8B-B14F-4D97-AF65-F5344CB8AC3E}">
        <p14:creationId xmlns:p14="http://schemas.microsoft.com/office/powerpoint/2010/main" val="2462294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Hashing and key-value pair management are foundations of working with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7"/>
            <a:ext cx="10515600" cy="4898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Mastering tools for working with and performing inference on massive and complex of data is a core goal for this course</a:t>
            </a:r>
          </a:p>
          <a:p>
            <a:r>
              <a:rPr lang="en-US" dirty="0"/>
              <a:t>Massive size requires efficient storage and retrieval  </a:t>
            </a:r>
          </a:p>
          <a:p>
            <a:r>
              <a:rPr lang="en-US" dirty="0"/>
              <a:t>Manage data with </a:t>
            </a:r>
            <a:r>
              <a:rPr lang="en-US" b="1" dirty="0"/>
              <a:t>key-value pairs</a:t>
            </a:r>
            <a:r>
              <a:rPr lang="en-US" dirty="0"/>
              <a:t>  </a:t>
            </a:r>
          </a:p>
          <a:p>
            <a:r>
              <a:rPr lang="en-US" b="1" dirty="0"/>
              <a:t>Hash keys </a:t>
            </a:r>
            <a:r>
              <a:rPr lang="en-US" dirty="0"/>
              <a:t>for efficient storage and retrieval </a:t>
            </a:r>
          </a:p>
          <a:p>
            <a:r>
              <a:rPr lang="en-US" dirty="0"/>
              <a:t>We apply hashing and ‘sketches’ in future lessons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Foundations for Large-Scale Data Mining</a:t>
            </a:r>
          </a:p>
        </p:txBody>
      </p:sp>
    </p:spTree>
    <p:extLst>
      <p:ext uri="{BB962C8B-B14F-4D97-AF65-F5344CB8AC3E}">
        <p14:creationId xmlns:p14="http://schemas.microsoft.com/office/powerpoint/2010/main" val="99424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Management with Key-Value Pairs</a:t>
            </a:r>
          </a:p>
        </p:txBody>
      </p:sp>
    </p:spTree>
    <p:extLst>
      <p:ext uri="{BB962C8B-B14F-4D97-AF65-F5344CB8AC3E}">
        <p14:creationId xmlns:p14="http://schemas.microsoft.com/office/powerpoint/2010/main" val="1193973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Need to store and retrieve massive quantities of data  </a:t>
                </a:r>
              </a:p>
              <a:p>
                <a:r>
                  <a:rPr lang="en-US" dirty="0"/>
                  <a:t>Manage with key-value pairs as a tuple,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The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is index or identifier for the value,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Key is typically a scalar, and one of </a:t>
                </a:r>
              </a:p>
              <a:p>
                <a:pPr lvl="1"/>
                <a:r>
                  <a:rPr lang="en-US" sz="2800" dirty="0"/>
                  <a:t>Binary string</a:t>
                </a:r>
              </a:p>
              <a:p>
                <a:pPr lvl="1"/>
                <a:r>
                  <a:rPr lang="en-US" sz="2800" dirty="0"/>
                  <a:t>Integer </a:t>
                </a:r>
              </a:p>
              <a:p>
                <a:pPr lvl="1"/>
                <a:r>
                  <a:rPr lang="en-US" sz="2800" dirty="0"/>
                  <a:t>Hexadecimal number</a:t>
                </a:r>
              </a:p>
              <a:p>
                <a:pPr lvl="1"/>
                <a:r>
                  <a:rPr lang="en-US" sz="2800" dirty="0"/>
                  <a:t>Character string, often UTF encoded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  <a:blipFill>
                <a:blip r:embed="rId2"/>
                <a:stretch>
                  <a:fillRect l="-1217" t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278619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38BD-3218-FB67-58C9-525CC2AA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DA594-FA8E-AFF0-BC71-4343BB479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Need to store and retrieve massive quantities of data  </a:t>
                </a:r>
              </a:p>
              <a:p>
                <a:r>
                  <a:rPr lang="en-US" dirty="0"/>
                  <a:t>Manage with key-value pairs as a tuple,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The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is index or identifier for the value,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Value can be any type of object</a:t>
                </a:r>
              </a:p>
              <a:p>
                <a:pPr lvl="1"/>
                <a:r>
                  <a:rPr lang="en-US" sz="2800" dirty="0"/>
                  <a:t>Scaler value  </a:t>
                </a:r>
              </a:p>
              <a:p>
                <a:pPr lvl="1"/>
                <a:r>
                  <a:rPr lang="en-US" sz="2800" dirty="0"/>
                  <a:t>List </a:t>
                </a:r>
              </a:p>
              <a:p>
                <a:pPr lvl="1"/>
                <a:r>
                  <a:rPr lang="en-US" sz="2800" dirty="0"/>
                  <a:t>Vector</a:t>
                </a:r>
              </a:p>
              <a:p>
                <a:pPr lvl="1"/>
                <a:r>
                  <a:rPr lang="en-US" sz="2800" dirty="0"/>
                  <a:t>Array or table </a:t>
                </a:r>
              </a:p>
              <a:p>
                <a:pPr lvl="1"/>
                <a:r>
                  <a:rPr lang="en-US" sz="2800" dirty="0"/>
                  <a:t>Document, text token, etc.</a:t>
                </a:r>
              </a:p>
              <a:p>
                <a:pPr lvl="1"/>
                <a:r>
                  <a:rPr lang="en-US" sz="2800" dirty="0"/>
                  <a:t>Image</a:t>
                </a:r>
              </a:p>
              <a:p>
                <a:pPr lvl="1"/>
                <a:r>
                  <a:rPr lang="en-US" sz="2800" dirty="0"/>
                  <a:t>... 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9DA594-FA8E-AFF0-BC71-4343BB479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4927"/>
                <a:ext cx="10515600" cy="4898217"/>
              </a:xfrm>
              <a:blipFill>
                <a:blip r:embed="rId2"/>
                <a:stretch>
                  <a:fillRect l="-1217" t="-2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3478C9-9FBE-BB6A-F1F0-2413227DA6E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209613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Key-value indexing </a:t>
                </a:r>
                <a:r>
                  <a:rPr lang="en-US" dirty="0"/>
                  <a:t>used to manage massive quantities of data   </a:t>
                </a:r>
              </a:p>
              <a:p>
                <a:r>
                  <a:rPr lang="en-US" dirty="0"/>
                  <a:t>Address values,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by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as a tuple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Example: In-memory </a:t>
                </a:r>
                <a:r>
                  <a:rPr lang="en-US" b="1" dirty="0"/>
                  <a:t>dictionaries</a:t>
                </a:r>
              </a:p>
              <a:p>
                <a:pPr lvl="1"/>
                <a:r>
                  <a:rPr lang="en-US" dirty="0"/>
                  <a:t>Fast lookup</a:t>
                </a:r>
              </a:p>
              <a:p>
                <a:pPr lvl="1"/>
                <a:r>
                  <a:rPr lang="en-US" dirty="0"/>
                  <a:t>Size limited by main memory</a:t>
                </a:r>
              </a:p>
              <a:p>
                <a:pPr lvl="1"/>
                <a:r>
                  <a:rPr lang="en-US" dirty="0"/>
                  <a:t>Supported in Python and many other languages</a:t>
                </a:r>
              </a:p>
              <a:p>
                <a:r>
                  <a:rPr lang="en-US" dirty="0"/>
                  <a:t>NoSQL data bases – scalable object storage   </a:t>
                </a:r>
              </a:p>
              <a:p>
                <a:r>
                  <a:rPr lang="en-US" dirty="0"/>
                  <a:t>Map-reduce, scalable parallel processing</a:t>
                </a:r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  <a:blipFill>
                <a:blip r:embed="rId2"/>
                <a:stretch>
                  <a:fillRect l="-1217" t="-2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197096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data management with key-value pairs?  </a:t>
            </a:r>
          </a:p>
          <a:p>
            <a:r>
              <a:rPr lang="en-US" dirty="0"/>
              <a:t>Linear list  </a:t>
            </a:r>
          </a:p>
          <a:p>
            <a:r>
              <a:rPr lang="en-US" dirty="0"/>
              <a:t>Sorted list</a:t>
            </a:r>
          </a:p>
          <a:p>
            <a:r>
              <a:rPr lang="en-US" dirty="0"/>
              <a:t>Linked list</a:t>
            </a:r>
          </a:p>
          <a:p>
            <a:r>
              <a:rPr lang="en-US" dirty="0"/>
              <a:t>Balanced trees (B-trees)</a:t>
            </a:r>
          </a:p>
          <a:p>
            <a:r>
              <a:rPr lang="en-US" b="1" dirty="0"/>
              <a:t>Hash tables </a:t>
            </a:r>
          </a:p>
          <a:p>
            <a:r>
              <a:rPr lang="en-US" dirty="0"/>
              <a:t>…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403815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Key-value indexing used to manage massive quantities of data   </a:t>
                </a:r>
              </a:p>
              <a:p>
                <a:r>
                  <a:rPr lang="en-US" dirty="0"/>
                  <a:t>Massive data sets require a very large numbers of keys   </a:t>
                </a:r>
              </a:p>
              <a:p>
                <a:r>
                  <a:rPr lang="en-US" dirty="0"/>
                  <a:t>Linear search on large set of keys is slow  </a:t>
                </a:r>
              </a:p>
              <a:p>
                <a:pPr lvl="1"/>
                <a:r>
                  <a:rPr lang="en-US" dirty="0"/>
                  <a:t>Linear search has </a:t>
                </a:r>
                <a:r>
                  <a:rPr lang="en-US" b="1" dirty="0"/>
                  <a:t>average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Too slow for massive data sets  </a:t>
                </a:r>
              </a:p>
              <a:p>
                <a:r>
                  <a:rPr lang="en-US" b="1" dirty="0"/>
                  <a:t>Hashing</a:t>
                </a:r>
                <a:r>
                  <a:rPr lang="en-US" dirty="0"/>
                  <a:t> is a core technique for massively scaling data mining algorithms</a:t>
                </a:r>
              </a:p>
              <a:p>
                <a:pPr lvl="1"/>
                <a:r>
                  <a:rPr lang="en-US" dirty="0"/>
                  <a:t>Massive scalability is a theme of this course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  <a:blipFill>
                <a:blip r:embed="rId2"/>
                <a:stretch>
                  <a:fillRect l="-1217" t="-2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287323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C3470-78F3-E979-6FC2-66938DBE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316F7-7F13-56EA-0547-0149F95A0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Key-value indexing used to manage massive quantities of data   </a:t>
                </a:r>
              </a:p>
              <a:p>
                <a:r>
                  <a:rPr lang="en-US" dirty="0"/>
                  <a:t>Massive data sets require a very large numbers of keys   </a:t>
                </a:r>
              </a:p>
              <a:p>
                <a:r>
                  <a:rPr lang="en-US" b="1" dirty="0"/>
                  <a:t>Hashing</a:t>
                </a:r>
                <a:r>
                  <a:rPr lang="en-US" dirty="0"/>
                  <a:t> is a core technique for scaling data mining algorithms   </a:t>
                </a:r>
              </a:p>
              <a:p>
                <a:r>
                  <a:rPr lang="en-US" dirty="0"/>
                  <a:t>Apply</a:t>
                </a:r>
                <a:r>
                  <a:rPr lang="en-US" b="0" dirty="0"/>
                  <a:t> </a:t>
                </a:r>
                <a:r>
                  <a:rPr lang="en-US" b="1" dirty="0"/>
                  <a:t>hash function</a:t>
                </a:r>
                <a:r>
                  <a:rPr lang="en-US" dirty="0"/>
                  <a:t> to </a:t>
                </a:r>
                <a:r>
                  <a:rPr lang="en-US" b="0" dirty="0"/>
                  <a:t>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Hashing to a key gives nearly direct access, with </a:t>
                </a:r>
                <a:r>
                  <a:rPr lang="en-US" b="1" dirty="0"/>
                  <a:t>average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access time  </a:t>
                </a:r>
                <a:endParaRPr lang="en-US" dirty="0"/>
              </a:p>
              <a:p>
                <a:pPr lvl="1"/>
                <a:r>
                  <a:rPr lang="en-US" dirty="0"/>
                  <a:t>Hash value, </a:t>
                </a:r>
                <a:r>
                  <a:rPr lang="en-US" i="1" dirty="0"/>
                  <a:t>h</a:t>
                </a:r>
                <a:r>
                  <a:rPr lang="en-US" dirty="0"/>
                  <a:t>, is memory address for look up</a:t>
                </a:r>
              </a:p>
              <a:p>
                <a:pPr lvl="1"/>
                <a:r>
                  <a:rPr lang="en-US" b="1" dirty="0"/>
                  <a:t>Hashed key-value pairs </a:t>
                </a:r>
                <a:r>
                  <a:rPr lang="en-US" dirty="0"/>
                  <a:t>form tuple,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endParaRPr lang="en-US" b="1" dirty="0"/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A316F7-7F13-56EA-0547-0149F95A0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1417"/>
                <a:ext cx="10515600" cy="4635546"/>
              </a:xfrm>
              <a:blipFill>
                <a:blip r:embed="rId2"/>
                <a:stretch>
                  <a:fillRect l="-1217" t="-2237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0CC498F-4DB2-C68E-EFA7-021A6C9BE0A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</p:spTree>
    <p:extLst>
      <p:ext uri="{BB962C8B-B14F-4D97-AF65-F5344CB8AC3E}">
        <p14:creationId xmlns:p14="http://schemas.microsoft.com/office/powerpoint/2010/main" val="426161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52" y="1211805"/>
            <a:ext cx="10515600" cy="942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compare data structure options for storage and retrieval of key-value pairs?  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key-value indexing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9778E807-9A37-1E31-7CAC-4F4939719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8367177"/>
                  </p:ext>
                </p:extLst>
              </p:nvPr>
            </p:nvGraphicFramePr>
            <p:xfrm>
              <a:off x="412786" y="2391253"/>
              <a:ext cx="11346365" cy="4207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559">
                      <a:extLst>
                        <a:ext uri="{9D8B030D-6E8A-4147-A177-3AD203B41FA5}">
                          <a16:colId xmlns:a16="http://schemas.microsoft.com/office/drawing/2014/main" val="3020660733"/>
                        </a:ext>
                      </a:extLst>
                    </a:gridCol>
                    <a:gridCol w="2276713">
                      <a:extLst>
                        <a:ext uri="{9D8B030D-6E8A-4147-A177-3AD203B41FA5}">
                          <a16:colId xmlns:a16="http://schemas.microsoft.com/office/drawing/2014/main" val="1578647662"/>
                        </a:ext>
                      </a:extLst>
                    </a:gridCol>
                    <a:gridCol w="2466268">
                      <a:extLst>
                        <a:ext uri="{9D8B030D-6E8A-4147-A177-3AD203B41FA5}">
                          <a16:colId xmlns:a16="http://schemas.microsoft.com/office/drawing/2014/main" val="3531154754"/>
                        </a:ext>
                      </a:extLst>
                    </a:gridCol>
                    <a:gridCol w="2403565">
                      <a:extLst>
                        <a:ext uri="{9D8B030D-6E8A-4147-A177-3AD203B41FA5}">
                          <a16:colId xmlns:a16="http://schemas.microsoft.com/office/drawing/2014/main" val="3376111091"/>
                        </a:ext>
                      </a:extLst>
                    </a:gridCol>
                    <a:gridCol w="2014260">
                      <a:extLst>
                        <a:ext uri="{9D8B030D-6E8A-4147-A177-3AD203B41FA5}">
                          <a16:colId xmlns:a16="http://schemas.microsoft.com/office/drawing/2014/main" val="754635136"/>
                        </a:ext>
                      </a:extLst>
                    </a:gridCol>
                  </a:tblGrid>
                  <a:tr h="917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Lookup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Delete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Predecessor/ Successor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599685"/>
                      </a:ext>
                    </a:extLst>
                  </a:tr>
                  <a:tr h="58865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1648459"/>
                      </a:ext>
                    </a:extLst>
                  </a:tr>
                  <a:tr h="533195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325602"/>
                      </a:ext>
                    </a:extLst>
                  </a:tr>
                  <a:tr h="50993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950354"/>
                      </a:ext>
                    </a:extLst>
                  </a:tr>
                  <a:tr h="9178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Balanced 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97526"/>
                      </a:ext>
                    </a:extLst>
                  </a:tr>
                  <a:tr h="739991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Hash 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 - expected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expected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expected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61915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9778E807-9A37-1E31-7CAC-4F4939719A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8367177"/>
                  </p:ext>
                </p:extLst>
              </p:nvPr>
            </p:nvGraphicFramePr>
            <p:xfrm>
              <a:off x="412786" y="2391253"/>
              <a:ext cx="11346365" cy="42075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85559">
                      <a:extLst>
                        <a:ext uri="{9D8B030D-6E8A-4147-A177-3AD203B41FA5}">
                          <a16:colId xmlns:a16="http://schemas.microsoft.com/office/drawing/2014/main" val="3020660733"/>
                        </a:ext>
                      </a:extLst>
                    </a:gridCol>
                    <a:gridCol w="2276713">
                      <a:extLst>
                        <a:ext uri="{9D8B030D-6E8A-4147-A177-3AD203B41FA5}">
                          <a16:colId xmlns:a16="http://schemas.microsoft.com/office/drawing/2014/main" val="1578647662"/>
                        </a:ext>
                      </a:extLst>
                    </a:gridCol>
                    <a:gridCol w="2466268">
                      <a:extLst>
                        <a:ext uri="{9D8B030D-6E8A-4147-A177-3AD203B41FA5}">
                          <a16:colId xmlns:a16="http://schemas.microsoft.com/office/drawing/2014/main" val="3531154754"/>
                        </a:ext>
                      </a:extLst>
                    </a:gridCol>
                    <a:gridCol w="2403565">
                      <a:extLst>
                        <a:ext uri="{9D8B030D-6E8A-4147-A177-3AD203B41FA5}">
                          <a16:colId xmlns:a16="http://schemas.microsoft.com/office/drawing/2014/main" val="3376111091"/>
                        </a:ext>
                      </a:extLst>
                    </a:gridCol>
                    <a:gridCol w="2014260">
                      <a:extLst>
                        <a:ext uri="{9D8B030D-6E8A-4147-A177-3AD203B41FA5}">
                          <a16:colId xmlns:a16="http://schemas.microsoft.com/office/drawing/2014/main" val="754635136"/>
                        </a:ext>
                      </a:extLst>
                    </a:gridCol>
                  </a:tblGrid>
                  <a:tr h="917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Lookup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Delete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Predecessor/ Successor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599685"/>
                      </a:ext>
                    </a:extLst>
                  </a:tr>
                  <a:tr h="58865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165625" r="-304290" b="-4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165625" r="-180247" b="-4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165625" r="-85279" b="-4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165625" r="-1511" b="-464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1648459"/>
                      </a:ext>
                    </a:extLst>
                  </a:tr>
                  <a:tr h="533195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289773" r="-304290" b="-4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289773" r="-180247" b="-4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289773" r="-85279" b="-40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289773" r="-1511" b="-406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0325602"/>
                      </a:ext>
                    </a:extLst>
                  </a:tr>
                  <a:tr h="50993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408333" r="-304290" b="-3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408333" r="-180247" b="-3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408333" r="-85279" b="-3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408333" r="-1511" b="-32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3950354"/>
                      </a:ext>
                    </a:extLst>
                  </a:tr>
                  <a:tr h="9178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Balanced 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284667" r="-304290" b="-8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284667" r="-180247" b="-8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284667" r="-85279" b="-8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284667" r="-1511" b="-8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7697526"/>
                      </a:ext>
                    </a:extLst>
                  </a:tr>
                  <a:tr h="739991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Hash Table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515" t="-472951" r="-304290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0988" t="-472951" r="-180247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32" t="-472951" r="-8527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2840" t="-472951" r="-1511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61915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5916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57708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4928"/>
                <a:ext cx="10515600" cy="51333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</a:t>
                </a:r>
                <a:r>
                  <a:rPr lang="en-US" b="1" dirty="0"/>
                  <a:t>hash functions</a:t>
                </a:r>
                <a:r>
                  <a:rPr lang="en-US" dirty="0"/>
                  <a:t>?   </a:t>
                </a:r>
              </a:p>
              <a:p>
                <a:r>
                  <a:rPr lang="en-US" dirty="0"/>
                  <a:t>Hash keys used to index </a:t>
                </a:r>
                <a:r>
                  <a:rPr lang="en-US" b="1" dirty="0"/>
                  <a:t>hash tables</a:t>
                </a:r>
              </a:p>
              <a:p>
                <a:r>
                  <a:rPr lang="en-US" dirty="0"/>
                  <a:t>Hash function is a deterministic map from key to a memory address</a:t>
                </a:r>
              </a:p>
              <a:p>
                <a:r>
                  <a:rPr lang="en-US" dirty="0"/>
                  <a:t>Hash address index,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dirty="0"/>
                  <a:t>, is computed from a key,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using a </a:t>
                </a:r>
                <a:r>
                  <a:rPr lang="en-US" b="1" dirty="0"/>
                  <a:t>hash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Same hash function used for insertions, look-ups and deletions in table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You can find more about hash functions and hash tables, in Chapter 2 of </a:t>
                </a:r>
                <a:r>
                  <a:rPr lang="en-US" sz="2000" dirty="0" err="1"/>
                  <a:t>Medjodovic</a:t>
                </a:r>
                <a:r>
                  <a:rPr lang="en-US" sz="2000" dirty="0"/>
                  <a:t> and </a:t>
                </a:r>
                <a:r>
                  <a:rPr lang="en-US" sz="2000" dirty="0" err="1"/>
                  <a:t>Tahirovic</a:t>
                </a:r>
                <a:r>
                  <a:rPr lang="en-US" sz="2000" dirty="0"/>
                  <a:t> and in many sources online, including </a:t>
                </a:r>
                <a:r>
                  <a:rPr lang="en-US" sz="2000" dirty="0"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here</a:t>
                </a:r>
                <a:r>
                  <a:rPr lang="en-US" sz="2000" dirty="0"/>
                  <a:t> and </a:t>
                </a:r>
                <a:r>
                  <a:rPr lang="en-US" sz="2000" dirty="0"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here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4928"/>
                <a:ext cx="10515600" cy="5133349"/>
              </a:xfrm>
              <a:blipFill>
                <a:blip r:embed="rId4"/>
                <a:stretch>
                  <a:fillRect l="-1217" t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0391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56253-7795-52CD-DC89-671E47B6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3064-C916-6D77-2E17-FC76AE5B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28"/>
            <a:ext cx="10515600" cy="5133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Generally speaking, there are two major types of hash functions </a:t>
            </a:r>
          </a:p>
          <a:p>
            <a:r>
              <a:rPr lang="en-US" b="1" dirty="0"/>
              <a:t>Cryptographic hash functions </a:t>
            </a:r>
            <a:r>
              <a:rPr lang="en-US" dirty="0"/>
              <a:t>are invertible encodings used to prevent unauthorized access </a:t>
            </a:r>
          </a:p>
          <a:p>
            <a:pPr lvl="1"/>
            <a:r>
              <a:rPr lang="en-US" dirty="0"/>
              <a:t>Not a data mining topic</a:t>
            </a:r>
          </a:p>
          <a:p>
            <a:r>
              <a:rPr lang="en-US" b="1" dirty="0"/>
              <a:t>Address hash functions </a:t>
            </a:r>
            <a:r>
              <a:rPr lang="en-US" dirty="0"/>
              <a:t>compute a sequence of address values for access to buckets of data tables</a:t>
            </a:r>
          </a:p>
          <a:p>
            <a:pPr lvl="1"/>
            <a:r>
              <a:rPr lang="en-US" dirty="0"/>
              <a:t>There is no need for invertibility  </a:t>
            </a:r>
          </a:p>
          <a:p>
            <a:r>
              <a:rPr lang="en-US" dirty="0"/>
              <a:t>There is a common body of theory underlying both types of hashes   </a:t>
            </a:r>
          </a:p>
          <a:p>
            <a:r>
              <a:rPr lang="en-US" dirty="0"/>
              <a:t>For data mining we apply address hashes to manage massive datasets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66018C-A4DB-87C6-4869-5EAC4E86211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58668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289913"/>
            <a:ext cx="10515600" cy="722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hash table uses a hash of a key to index values</a:t>
            </a:r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30D2E-9D6D-4721-8DF7-471103EB0B3B}"/>
              </a:ext>
            </a:extLst>
          </p:cNvPr>
          <p:cNvSpPr/>
          <p:nvPr/>
        </p:nvSpPr>
        <p:spPr>
          <a:xfrm>
            <a:off x="3704345" y="2841041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BBB78-E73D-4C34-B6E5-E752D8FEBC51}"/>
              </a:ext>
            </a:extLst>
          </p:cNvPr>
          <p:cNvSpPr/>
          <p:nvPr/>
        </p:nvSpPr>
        <p:spPr>
          <a:xfrm>
            <a:off x="5063720" y="2847455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A18318-BD7F-4259-81CC-99C0F03E93A8}"/>
              </a:ext>
            </a:extLst>
          </p:cNvPr>
          <p:cNvGrpSpPr/>
          <p:nvPr/>
        </p:nvGrpSpPr>
        <p:grpSpPr>
          <a:xfrm>
            <a:off x="129572" y="3217071"/>
            <a:ext cx="2761059" cy="376030"/>
            <a:chOff x="129572" y="3217071"/>
            <a:chExt cx="2761059" cy="37603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804EAE-867A-40B5-A072-508CF684DAD9}"/>
                </a:ext>
              </a:extLst>
            </p:cNvPr>
            <p:cNvSpPr/>
            <p:nvPr/>
          </p:nvSpPr>
          <p:spPr>
            <a:xfrm>
              <a:off x="129572" y="3217071"/>
              <a:ext cx="1178451" cy="37282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>
                  <a:solidFill>
                    <a:schemeClr val="tx1"/>
                  </a:solidFill>
                </a:rPr>
                <a:t>key</a:t>
              </a:r>
              <a:r>
                <a:rPr lang="en-US" sz="2400" baseline="-25000" dirty="0" err="1">
                  <a:solidFill>
                    <a:schemeClr val="tx1"/>
                  </a:solidFill>
                </a:rPr>
                <a:t>i</a:t>
              </a:r>
              <a:endParaRPr 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7AB54C-F3D0-4BAE-BFAB-27B9B35CFACC}"/>
                </a:ext>
              </a:extLst>
            </p:cNvPr>
            <p:cNvSpPr/>
            <p:nvPr/>
          </p:nvSpPr>
          <p:spPr>
            <a:xfrm>
              <a:off x="1308023" y="3220278"/>
              <a:ext cx="1582608" cy="3728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v</a:t>
              </a:r>
              <a:r>
                <a:rPr lang="en-US" sz="2400" baseline="-25000" dirty="0">
                  <a:solidFill>
                    <a:schemeClr val="tx1"/>
                  </a:solidFill>
                </a:rPr>
                <a:t>i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8FA5D43-DD6A-45A9-999E-FF5DB3BA0AD9}"/>
              </a:ext>
            </a:extLst>
          </p:cNvPr>
          <p:cNvSpPr/>
          <p:nvPr/>
        </p:nvSpPr>
        <p:spPr>
          <a:xfrm>
            <a:off x="3704345" y="3213864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0E273-D7FF-48E0-BE46-925D1F57B05E}"/>
              </a:ext>
            </a:extLst>
          </p:cNvPr>
          <p:cNvSpPr/>
          <p:nvPr/>
        </p:nvSpPr>
        <p:spPr>
          <a:xfrm>
            <a:off x="5063720" y="3220278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8D9FE-A609-48AA-B396-A2EF9A274ED5}"/>
              </a:ext>
            </a:extLst>
          </p:cNvPr>
          <p:cNvSpPr/>
          <p:nvPr/>
        </p:nvSpPr>
        <p:spPr>
          <a:xfrm>
            <a:off x="3704345" y="3586687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3CFF0-A324-43B8-A23D-996EC7CF9151}"/>
              </a:ext>
            </a:extLst>
          </p:cNvPr>
          <p:cNvSpPr/>
          <p:nvPr/>
        </p:nvSpPr>
        <p:spPr>
          <a:xfrm>
            <a:off x="5063720" y="3593101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4C2BB3-1085-4A35-B172-F542E78B0496}"/>
              </a:ext>
            </a:extLst>
          </p:cNvPr>
          <p:cNvSpPr/>
          <p:nvPr/>
        </p:nvSpPr>
        <p:spPr>
          <a:xfrm>
            <a:off x="3704345" y="4659838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3B1C8-4C79-4B20-94B4-072363FED7C0}"/>
              </a:ext>
            </a:extLst>
          </p:cNvPr>
          <p:cNvSpPr/>
          <p:nvPr/>
        </p:nvSpPr>
        <p:spPr>
          <a:xfrm>
            <a:off x="5063720" y="4666252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9CDCFD-E073-49CB-BAEF-86358A473DED}"/>
              </a:ext>
            </a:extLst>
          </p:cNvPr>
          <p:cNvSpPr/>
          <p:nvPr/>
        </p:nvSpPr>
        <p:spPr>
          <a:xfrm>
            <a:off x="3704345" y="5732989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h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420F77-7C2D-4FEC-A873-04FBB65DA4EE}"/>
              </a:ext>
            </a:extLst>
          </p:cNvPr>
          <p:cNvSpPr/>
          <p:nvPr/>
        </p:nvSpPr>
        <p:spPr>
          <a:xfrm>
            <a:off x="5063720" y="5739403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v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84E095-C61E-4D9C-A010-5667D9A30C31}"/>
              </a:ext>
            </a:extLst>
          </p:cNvPr>
          <p:cNvSpPr/>
          <p:nvPr/>
        </p:nvSpPr>
        <p:spPr>
          <a:xfrm>
            <a:off x="5011540" y="4058795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68B3FF-37F3-4648-9AB9-43E68A6A9F80}"/>
              </a:ext>
            </a:extLst>
          </p:cNvPr>
          <p:cNvSpPr/>
          <p:nvPr/>
        </p:nvSpPr>
        <p:spPr>
          <a:xfrm>
            <a:off x="5011539" y="4260701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8AA4AE-8F61-4BC5-96AA-6C6D8565A8D8}"/>
              </a:ext>
            </a:extLst>
          </p:cNvPr>
          <p:cNvSpPr/>
          <p:nvPr/>
        </p:nvSpPr>
        <p:spPr>
          <a:xfrm>
            <a:off x="5011538" y="4462607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1BAD3B-DE36-40BF-8285-2B2F3AC32255}"/>
              </a:ext>
            </a:extLst>
          </p:cNvPr>
          <p:cNvSpPr/>
          <p:nvPr/>
        </p:nvSpPr>
        <p:spPr>
          <a:xfrm>
            <a:off x="5011540" y="5110470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40760D-0123-4BB3-843F-A4C8E057816B}"/>
              </a:ext>
            </a:extLst>
          </p:cNvPr>
          <p:cNvSpPr/>
          <p:nvPr/>
        </p:nvSpPr>
        <p:spPr>
          <a:xfrm>
            <a:off x="5011539" y="5312376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899B308-EDC1-4B6B-82E0-229CDBF58334}"/>
              </a:ext>
            </a:extLst>
          </p:cNvPr>
          <p:cNvSpPr/>
          <p:nvPr/>
        </p:nvSpPr>
        <p:spPr>
          <a:xfrm>
            <a:off x="5011538" y="5514282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03893C-D0F3-4FF5-86CA-F0925D9FEA72}"/>
              </a:ext>
            </a:extLst>
          </p:cNvPr>
          <p:cNvSpPr txBox="1"/>
          <p:nvPr/>
        </p:nvSpPr>
        <p:spPr>
          <a:xfrm>
            <a:off x="501926" y="2622335"/>
            <a:ext cx="229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Key-value pair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D3B574-604B-4DB6-940F-48BAB0E1BD52}"/>
              </a:ext>
            </a:extLst>
          </p:cNvPr>
          <p:cNvSpPr txBox="1"/>
          <p:nvPr/>
        </p:nvSpPr>
        <p:spPr>
          <a:xfrm>
            <a:off x="3969026" y="2311188"/>
            <a:ext cx="229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Hash table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3615" y="1828800"/>
                <a:ext cx="4904456" cy="49795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Start with a </a:t>
                </a:r>
                <a:r>
                  <a:rPr lang="en-US" b="1" dirty="0"/>
                  <a:t>key-value pair</a:t>
                </a:r>
              </a:p>
              <a:p>
                <a:r>
                  <a:rPr lang="en-US" dirty="0"/>
                  <a:t>Want to insert the value into a </a:t>
                </a:r>
                <a:r>
                  <a:rPr lang="en-US" b="1" dirty="0"/>
                  <a:t>hash table</a:t>
                </a:r>
              </a:p>
              <a:p>
                <a:r>
                  <a:rPr lang="en-US" dirty="0"/>
                  <a:t>Values held in buckets</a:t>
                </a:r>
              </a:p>
              <a:p>
                <a:r>
                  <a:rPr lang="en-US" dirty="0"/>
                  <a:t>Hash table </a:t>
                </a:r>
                <a:r>
                  <a:rPr lang="en-US" b="1" dirty="0"/>
                  <a:t>buckets addressed by hashed key value</a:t>
                </a:r>
              </a:p>
              <a:p>
                <a:r>
                  <a:rPr lang="en-US" dirty="0"/>
                  <a:t>Hash the key to an address in the table</a:t>
                </a:r>
              </a:p>
              <a:p>
                <a:r>
                  <a:rPr lang="en-US" dirty="0"/>
                  <a:t>Insert the value into the bucket by hash address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average time</a:t>
                </a:r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615" y="1828800"/>
                <a:ext cx="4904456" cy="4979561"/>
              </a:xfrm>
              <a:prstGeom prst="rect">
                <a:avLst/>
              </a:prstGeom>
              <a:blipFill>
                <a:blip r:embed="rId2"/>
                <a:stretch>
                  <a:fillRect l="-2236" t="-2693" r="-1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/>
              <p:nvPr/>
            </p:nvSpPr>
            <p:spPr>
              <a:xfrm>
                <a:off x="1013783" y="4277608"/>
                <a:ext cx="21710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𝑘𝑒𝑦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83" y="4277608"/>
                <a:ext cx="21710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C02339-7B42-DB7F-AC72-D22B48D27812}"/>
              </a:ext>
            </a:extLst>
          </p:cNvPr>
          <p:cNvCxnSpPr>
            <a:stCxn id="7" idx="2"/>
            <a:endCxn id="16" idx="0"/>
          </p:cNvCxnSpPr>
          <p:nvPr/>
        </p:nvCxnSpPr>
        <p:spPr>
          <a:xfrm>
            <a:off x="718798" y="3589894"/>
            <a:ext cx="1380529" cy="687714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A390D01-0010-F11B-5B67-6238264FD85B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3184871" y="4539218"/>
            <a:ext cx="519474" cy="30703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84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 animBg="1"/>
      <p:bldP spid="12" grpId="0" animBg="1"/>
      <p:bldP spid="14" grpId="0" animBg="1"/>
      <p:bldP spid="15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40" grpId="0"/>
      <p:bldP spid="41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6" y="1289913"/>
            <a:ext cx="10515600" cy="722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hash table uses a hash of a key to index values</a:t>
            </a:r>
          </a:p>
          <a:p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30D2E-9D6D-4721-8DF7-471103EB0B3B}"/>
              </a:ext>
            </a:extLst>
          </p:cNvPr>
          <p:cNvSpPr/>
          <p:nvPr/>
        </p:nvSpPr>
        <p:spPr>
          <a:xfrm>
            <a:off x="3704345" y="2841041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BBB78-E73D-4C34-B6E5-E752D8FEBC51}"/>
              </a:ext>
            </a:extLst>
          </p:cNvPr>
          <p:cNvSpPr/>
          <p:nvPr/>
        </p:nvSpPr>
        <p:spPr>
          <a:xfrm>
            <a:off x="5063720" y="2847455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7AB54C-F3D0-4BAE-BFAB-27B9B35CFACC}"/>
              </a:ext>
            </a:extLst>
          </p:cNvPr>
          <p:cNvSpPr/>
          <p:nvPr/>
        </p:nvSpPr>
        <p:spPr>
          <a:xfrm>
            <a:off x="1403465" y="5366580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FA5D43-DD6A-45A9-999E-FF5DB3BA0AD9}"/>
              </a:ext>
            </a:extLst>
          </p:cNvPr>
          <p:cNvSpPr/>
          <p:nvPr/>
        </p:nvSpPr>
        <p:spPr>
          <a:xfrm>
            <a:off x="3704345" y="3213864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0E273-D7FF-48E0-BE46-925D1F57B05E}"/>
              </a:ext>
            </a:extLst>
          </p:cNvPr>
          <p:cNvSpPr/>
          <p:nvPr/>
        </p:nvSpPr>
        <p:spPr>
          <a:xfrm>
            <a:off x="5063720" y="3220278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8D9FE-A609-48AA-B396-A2EF9A274ED5}"/>
              </a:ext>
            </a:extLst>
          </p:cNvPr>
          <p:cNvSpPr/>
          <p:nvPr/>
        </p:nvSpPr>
        <p:spPr>
          <a:xfrm>
            <a:off x="3704345" y="3586687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3CFF0-A324-43B8-A23D-996EC7CF9151}"/>
              </a:ext>
            </a:extLst>
          </p:cNvPr>
          <p:cNvSpPr/>
          <p:nvPr/>
        </p:nvSpPr>
        <p:spPr>
          <a:xfrm>
            <a:off x="5063720" y="3593101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4C2BB3-1085-4A35-B172-F542E78B0496}"/>
              </a:ext>
            </a:extLst>
          </p:cNvPr>
          <p:cNvSpPr/>
          <p:nvPr/>
        </p:nvSpPr>
        <p:spPr>
          <a:xfrm>
            <a:off x="3704345" y="4659838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3B1C8-4C79-4B20-94B4-072363FED7C0}"/>
              </a:ext>
            </a:extLst>
          </p:cNvPr>
          <p:cNvSpPr/>
          <p:nvPr/>
        </p:nvSpPr>
        <p:spPr>
          <a:xfrm>
            <a:off x="5063720" y="4666252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</a:t>
            </a:r>
            <a:r>
              <a:rPr lang="en-US" sz="2400" baseline="-250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9CDCFD-E073-49CB-BAEF-86358A473DED}"/>
              </a:ext>
            </a:extLst>
          </p:cNvPr>
          <p:cNvSpPr/>
          <p:nvPr/>
        </p:nvSpPr>
        <p:spPr>
          <a:xfrm>
            <a:off x="3704345" y="5732989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h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420F77-7C2D-4FEC-A873-04FBB65DA4EE}"/>
              </a:ext>
            </a:extLst>
          </p:cNvPr>
          <p:cNvSpPr/>
          <p:nvPr/>
        </p:nvSpPr>
        <p:spPr>
          <a:xfrm>
            <a:off x="5063720" y="5739403"/>
            <a:ext cx="1582608" cy="372823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v</a:t>
            </a:r>
            <a:r>
              <a:rPr lang="en-US" sz="2400" baseline="-25000" dirty="0" err="1">
                <a:solidFill>
                  <a:schemeClr val="tx1"/>
                </a:solidFill>
              </a:rPr>
              <a:t>n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84E095-C61E-4D9C-A010-5667D9A30C31}"/>
              </a:ext>
            </a:extLst>
          </p:cNvPr>
          <p:cNvSpPr/>
          <p:nvPr/>
        </p:nvSpPr>
        <p:spPr>
          <a:xfrm>
            <a:off x="5011540" y="4058795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568B3FF-37F3-4648-9AB9-43E68A6A9F80}"/>
              </a:ext>
            </a:extLst>
          </p:cNvPr>
          <p:cNvSpPr/>
          <p:nvPr/>
        </p:nvSpPr>
        <p:spPr>
          <a:xfrm>
            <a:off x="5011539" y="4260701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8AA4AE-8F61-4BC5-96AA-6C6D8565A8D8}"/>
              </a:ext>
            </a:extLst>
          </p:cNvPr>
          <p:cNvSpPr/>
          <p:nvPr/>
        </p:nvSpPr>
        <p:spPr>
          <a:xfrm>
            <a:off x="5011538" y="4462607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F1BAD3B-DE36-40BF-8285-2B2F3AC32255}"/>
              </a:ext>
            </a:extLst>
          </p:cNvPr>
          <p:cNvSpPr/>
          <p:nvPr/>
        </p:nvSpPr>
        <p:spPr>
          <a:xfrm>
            <a:off x="5011540" y="5110470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40760D-0123-4BB3-843F-A4C8E057816B}"/>
              </a:ext>
            </a:extLst>
          </p:cNvPr>
          <p:cNvSpPr/>
          <p:nvPr/>
        </p:nvSpPr>
        <p:spPr>
          <a:xfrm>
            <a:off x="5011539" y="5312376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899B308-EDC1-4B6B-82E0-229CDBF58334}"/>
              </a:ext>
            </a:extLst>
          </p:cNvPr>
          <p:cNvSpPr/>
          <p:nvPr/>
        </p:nvSpPr>
        <p:spPr>
          <a:xfrm>
            <a:off x="5011538" y="5514282"/>
            <a:ext cx="104361" cy="1043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0F3A16B-F1E0-4516-84F7-8345A3187441}"/>
              </a:ext>
            </a:extLst>
          </p:cNvPr>
          <p:cNvSpPr/>
          <p:nvPr/>
        </p:nvSpPr>
        <p:spPr>
          <a:xfrm>
            <a:off x="976785" y="3460911"/>
            <a:ext cx="2723322" cy="1267239"/>
          </a:xfrm>
          <a:custGeom>
            <a:avLst/>
            <a:gdLst>
              <a:gd name="connsiteX0" fmla="*/ 0 w 2723322"/>
              <a:gd name="connsiteY0" fmla="*/ 0 h 1267239"/>
              <a:gd name="connsiteX1" fmla="*/ 54666 w 2723322"/>
              <a:gd name="connsiteY1" fmla="*/ 506896 h 1267239"/>
              <a:gd name="connsiteX2" fmla="*/ 288235 w 2723322"/>
              <a:gd name="connsiteY2" fmla="*/ 854765 h 1267239"/>
              <a:gd name="connsiteX3" fmla="*/ 1500809 w 2723322"/>
              <a:gd name="connsiteY3" fmla="*/ 1217543 h 1267239"/>
              <a:gd name="connsiteX4" fmla="*/ 2723322 w 2723322"/>
              <a:gd name="connsiteY4" fmla="*/ 1267239 h 126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3322" h="1267239">
                <a:moveTo>
                  <a:pt x="0" y="0"/>
                </a:moveTo>
                <a:cubicBezTo>
                  <a:pt x="3313" y="182217"/>
                  <a:pt x="6627" y="364435"/>
                  <a:pt x="54666" y="506896"/>
                </a:cubicBezTo>
                <a:cubicBezTo>
                  <a:pt x="102705" y="649357"/>
                  <a:pt x="47211" y="736324"/>
                  <a:pt x="288235" y="854765"/>
                </a:cubicBezTo>
                <a:cubicBezTo>
                  <a:pt x="529259" y="973206"/>
                  <a:pt x="1094961" y="1148797"/>
                  <a:pt x="1500809" y="1217543"/>
                </a:cubicBezTo>
                <a:cubicBezTo>
                  <a:pt x="1906657" y="1286289"/>
                  <a:pt x="2514600" y="1258956"/>
                  <a:pt x="2723322" y="1267239"/>
                </a:cubicBezTo>
              </a:path>
            </a:pathLst>
          </a:custGeom>
          <a:noFill/>
          <a:ln w="254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D3B574-604B-4DB6-940F-48BAB0E1BD52}"/>
              </a:ext>
            </a:extLst>
          </p:cNvPr>
          <p:cNvSpPr txBox="1"/>
          <p:nvPr/>
        </p:nvSpPr>
        <p:spPr>
          <a:xfrm>
            <a:off x="3969026" y="2311188"/>
            <a:ext cx="229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Hash table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3615" y="2191388"/>
                <a:ext cx="4904456" cy="46169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Given a hash table, how do we look up a value? </a:t>
                </a:r>
                <a:endParaRPr lang="en-US" b="1" dirty="0"/>
              </a:p>
              <a:p>
                <a:r>
                  <a:rPr lang="en-US" dirty="0"/>
                  <a:t>Start with the key</a:t>
                </a:r>
              </a:p>
              <a:p>
                <a:r>
                  <a:rPr lang="en-US" dirty="0"/>
                  <a:t>Hash the key to hash value (address) in hash table</a:t>
                </a:r>
              </a:p>
              <a:p>
                <a:r>
                  <a:rPr lang="en-US" dirty="0"/>
                  <a:t>Value is now available for processing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average time!</a:t>
                </a:r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2" name="Content Placeholder 2">
                <a:extLst>
                  <a:ext uri="{FF2B5EF4-FFF2-40B4-BE49-F238E27FC236}">
                    <a16:creationId xmlns:a16="http://schemas.microsoft.com/office/drawing/2014/main" id="{0584C6A8-2283-47FA-8E91-B827D1865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615" y="2191388"/>
                <a:ext cx="4904456" cy="4616973"/>
              </a:xfrm>
              <a:prstGeom prst="rect">
                <a:avLst/>
              </a:prstGeom>
              <a:blipFill>
                <a:blip r:embed="rId2"/>
                <a:stretch>
                  <a:fillRect l="-2236" t="-2111" r="-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/>
              <p:nvPr/>
            </p:nvSpPr>
            <p:spPr>
              <a:xfrm>
                <a:off x="1297251" y="3880803"/>
                <a:ext cx="21710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𝑘𝑒𝑦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A9E263-3098-46A9-A485-AFFCD608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251" y="3880803"/>
                <a:ext cx="21710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6304F30E-893B-4A5A-A67B-C0D999F41BFE}"/>
              </a:ext>
            </a:extLst>
          </p:cNvPr>
          <p:cNvSpPr/>
          <p:nvPr/>
        </p:nvSpPr>
        <p:spPr>
          <a:xfrm>
            <a:off x="450772" y="3071851"/>
            <a:ext cx="1178451" cy="3728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key</a:t>
            </a:r>
            <a:r>
              <a:rPr lang="en-US" sz="2400" baseline="-25000" dirty="0" err="1">
                <a:solidFill>
                  <a:schemeClr val="tx1"/>
                </a:solidFill>
              </a:rPr>
              <a:t>i</a:t>
            </a:r>
            <a:endParaRPr 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B276967-A8EC-4E40-8B68-18A9EA5749E1}"/>
              </a:ext>
            </a:extLst>
          </p:cNvPr>
          <p:cNvSpPr/>
          <p:nvPr/>
        </p:nvSpPr>
        <p:spPr>
          <a:xfrm>
            <a:off x="2267712" y="4937760"/>
            <a:ext cx="1442139" cy="418011"/>
          </a:xfrm>
          <a:custGeom>
            <a:avLst/>
            <a:gdLst>
              <a:gd name="connsiteX0" fmla="*/ 1442139 w 1442139"/>
              <a:gd name="connsiteY0" fmla="*/ 0 h 418011"/>
              <a:gd name="connsiteX1" fmla="*/ 945751 w 1442139"/>
              <a:gd name="connsiteY1" fmla="*/ 10450 h 418011"/>
              <a:gd name="connsiteX2" fmla="*/ 423237 w 1442139"/>
              <a:gd name="connsiteY2" fmla="*/ 62702 h 418011"/>
              <a:gd name="connsiteX3" fmla="*/ 156754 w 1442139"/>
              <a:gd name="connsiteY3" fmla="*/ 209006 h 418011"/>
              <a:gd name="connsiteX4" fmla="*/ 41801 w 1442139"/>
              <a:gd name="connsiteY4" fmla="*/ 344859 h 418011"/>
              <a:gd name="connsiteX5" fmla="*/ 0 w 1442139"/>
              <a:gd name="connsiteY5" fmla="*/ 418011 h 418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39" h="418011">
                <a:moveTo>
                  <a:pt x="1442139" y="0"/>
                </a:moveTo>
                <a:cubicBezTo>
                  <a:pt x="1278853" y="0"/>
                  <a:pt x="1115568" y="0"/>
                  <a:pt x="945751" y="10450"/>
                </a:cubicBezTo>
                <a:cubicBezTo>
                  <a:pt x="775934" y="20900"/>
                  <a:pt x="554736" y="29609"/>
                  <a:pt x="423237" y="62702"/>
                </a:cubicBezTo>
                <a:cubicBezTo>
                  <a:pt x="291738" y="95795"/>
                  <a:pt x="220327" y="161980"/>
                  <a:pt x="156754" y="209006"/>
                </a:cubicBezTo>
                <a:cubicBezTo>
                  <a:pt x="93181" y="256032"/>
                  <a:pt x="67927" y="310025"/>
                  <a:pt x="41801" y="344859"/>
                </a:cubicBezTo>
                <a:cubicBezTo>
                  <a:pt x="15675" y="379693"/>
                  <a:pt x="7837" y="398852"/>
                  <a:pt x="0" y="418011"/>
                </a:cubicBezTo>
              </a:path>
            </a:pathLst>
          </a:custGeom>
          <a:noFill/>
          <a:ln w="28575"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4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11" grpId="0" animBg="1"/>
      <p:bldP spid="12" grpId="0" animBg="1"/>
      <p:bldP spid="14" grpId="0" animBg="1"/>
      <p:bldP spid="15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1" grpId="0"/>
      <p:bldP spid="16" grpId="0"/>
      <p:bldP spid="34" grpId="0" animBg="1"/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4C975-B64B-4985-7BB7-F3995B17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C15A-15E9-AC73-BE5F-B25552E48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Hash Functions</a:t>
            </a:r>
          </a:p>
        </p:txBody>
      </p:sp>
    </p:spTree>
    <p:extLst>
      <p:ext uri="{BB962C8B-B14F-4D97-AF65-F5344CB8AC3E}">
        <p14:creationId xmlns:p14="http://schemas.microsoft.com/office/powerpoint/2010/main" val="13307547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783"/>
            <a:ext cx="10515600" cy="5496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Commonly used </a:t>
            </a:r>
            <a:r>
              <a:rPr lang="en-US" sz="3200" b="1" dirty="0"/>
              <a:t>hash functions</a:t>
            </a:r>
            <a:r>
              <a:rPr lang="en-US" sz="3200" dirty="0"/>
              <a:t>  </a:t>
            </a:r>
          </a:p>
          <a:p>
            <a:r>
              <a:rPr lang="en-US" sz="3000" dirty="0"/>
              <a:t>A great many hash functions are used in practice   </a:t>
            </a:r>
          </a:p>
          <a:p>
            <a:r>
              <a:rPr lang="en-US" sz="3000" dirty="0"/>
              <a:t>Simple hash functions operate on numeric keys  </a:t>
            </a:r>
          </a:p>
          <a:p>
            <a:pPr lvl="1"/>
            <a:r>
              <a:rPr lang="en-US" sz="2600" dirty="0"/>
              <a:t>Binary or integer </a:t>
            </a:r>
          </a:p>
          <a:p>
            <a:r>
              <a:rPr lang="en-US" sz="3000" dirty="0"/>
              <a:t>Binary representation of strings, e.g. ASCII or Unicode  </a:t>
            </a:r>
            <a:endParaRPr lang="en-US" sz="2000" dirty="0"/>
          </a:p>
          <a:p>
            <a:pPr lvl="1"/>
            <a:r>
              <a:rPr lang="en-US" sz="2600" dirty="0"/>
              <a:t>Hash a binary or integer representation of a string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3309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ACE2-7EE6-1471-3563-CA26754E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4FEC52-06E4-E99A-FFBA-7E99A4BFC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Simple </a:t>
                </a:r>
                <a:r>
                  <a:rPr lang="en-US" sz="3200" b="1" dirty="0"/>
                  <a:t>hash functions</a:t>
                </a:r>
                <a:r>
                  <a:rPr lang="en-US" sz="3200" dirty="0"/>
                  <a:t>  </a:t>
                </a:r>
              </a:p>
              <a:p>
                <a:r>
                  <a:rPr lang="en-US" sz="3000" dirty="0"/>
                  <a:t>A great many hash functions are used in practice   </a:t>
                </a:r>
              </a:p>
              <a:p>
                <a:r>
                  <a:rPr lang="en-US" sz="3000" dirty="0"/>
                  <a:t>Simple hash function for integer key,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000" i="1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000" dirty="0"/>
              </a:p>
              <a:p>
                <a:pPr lvl="1"/>
                <a:r>
                  <a:rPr lang="en-US" sz="2600" dirty="0"/>
                  <a:t>a = multiplier,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600" dirty="0"/>
              </a:p>
              <a:p>
                <a:pPr lvl="1"/>
                <a:r>
                  <a:rPr lang="en-US" sz="2600" dirty="0"/>
                  <a:t>b = optional additive constant</a:t>
                </a:r>
              </a:p>
              <a:p>
                <a:pPr lvl="1"/>
                <a:r>
                  <a:rPr lang="en-US" sz="2600" dirty="0"/>
                  <a:t>p = constant, generally prime,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sz="2600" dirty="0"/>
                  <a:t>, the size of the set to be hashed</a:t>
                </a:r>
              </a:p>
              <a:p>
                <a:pPr lvl="1"/>
                <a:r>
                  <a:rPr lang="en-US" sz="2600" dirty="0"/>
                  <a:t>m = size of the hash table, typically,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4FEC52-06E4-E99A-FFBA-7E99A4BFC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  <a:blipFill>
                <a:blip r:embed="rId2"/>
                <a:stretch>
                  <a:fillRect l="-1507" t="-2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3862DDE-E9C6-C1EA-E9EB-C9E690CE832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8650723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5231A-D19F-C328-7E94-6A71FE89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4C4A7-4785-6851-D918-50EAE50F97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Simple </a:t>
                </a:r>
                <a:r>
                  <a:rPr lang="en-US" sz="3200" b="1" dirty="0"/>
                  <a:t>hash functions</a:t>
                </a:r>
                <a:r>
                  <a:rPr lang="en-US" sz="3200" dirty="0"/>
                  <a:t>  </a:t>
                </a:r>
                <a:endParaRPr lang="en-US" sz="3000" dirty="0"/>
              </a:p>
              <a:p>
                <a:r>
                  <a:rPr lang="en-US" sz="3000" dirty="0"/>
                  <a:t>Hash function is applied to a </a:t>
                </a:r>
                <a:r>
                  <a:rPr lang="en-US" sz="3000" b="1" dirty="0"/>
                  <a:t>scalar key, </a:t>
                </a:r>
                <a14:m>
                  <m:oMath xmlns:m="http://schemas.openxmlformats.org/officeDocument/2006/math">
                    <m:r>
                      <a:rPr lang="en-US" sz="30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3000" b="1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000" i="1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000" dirty="0"/>
              </a:p>
              <a:p>
                <a:r>
                  <a:rPr lang="en-US" sz="3000" dirty="0"/>
                  <a:t>How do we handle vector (multi) valued keys?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0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000" dirty="0"/>
              </a:p>
              <a:p>
                <a:r>
                  <a:rPr lang="en-US" sz="3000" dirty="0"/>
                  <a:t>We can sum the binary hashes,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000" dirty="0"/>
                  <a:t>, modulo the table length</a:t>
                </a:r>
              </a:p>
              <a:p>
                <a:pPr lvl="2"/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3000" dirty="0"/>
              </a:p>
              <a:p>
                <a:pPr marL="457200" lvl="1" indent="0">
                  <a:buNone/>
                </a:pPr>
                <a:r>
                  <a:rPr lang="en-US" sz="2600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dirty="0"/>
                  <a:t> is a unique or independent hash function  </a:t>
                </a:r>
              </a:p>
              <a:p>
                <a:endParaRPr lang="en-US" sz="3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4C4A7-4785-6851-D918-50EAE50F9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1783"/>
                <a:ext cx="10515600" cy="5496849"/>
              </a:xfrm>
              <a:blipFill>
                <a:blip r:embed="rId2"/>
                <a:stretch>
                  <a:fillRect l="-1507" t="-2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29BFFD6E-8309-3B28-4A70-4F5373832514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266673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48CF-3DE8-C147-4B0C-26587F28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2A4D2-70CD-4CEA-D93E-4759FF443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Properties of Hash Functions and </a:t>
            </a:r>
            <a:br>
              <a:rPr lang="en-US" sz="4400" dirty="0"/>
            </a:br>
            <a:r>
              <a:rPr lang="en-US" sz="4400" dirty="0"/>
              <a:t>Hash Collisions</a:t>
            </a:r>
          </a:p>
        </p:txBody>
      </p:sp>
    </p:spTree>
    <p:extLst>
      <p:ext uri="{BB962C8B-B14F-4D97-AF65-F5344CB8AC3E}">
        <p14:creationId xmlns:p14="http://schemas.microsoft.com/office/powerpoint/2010/main" val="2491891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For key values,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want a </a:t>
                </a:r>
                <a:r>
                  <a:rPr lang="en-US" b="1" dirty="0"/>
                  <a:t>uniform distribution over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/>
                  <a:t> hash values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)~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length hash table probability of bucket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b="1" dirty="0"/>
                  <a:t>Lumpy hash values </a:t>
                </a:r>
                <a:r>
                  <a:rPr lang="en-US" dirty="0"/>
                  <a:t>lead to increased </a:t>
                </a:r>
                <a:r>
                  <a:rPr lang="en-US" b="1" dirty="0"/>
                  <a:t>hash collisions </a:t>
                </a:r>
              </a:p>
              <a:p>
                <a:pPr lvl="1"/>
                <a:r>
                  <a:rPr lang="en-US" dirty="0"/>
                  <a:t>Can verify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test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Resolution method for inevitable hash collisions</a:t>
                </a:r>
              </a:p>
              <a:p>
                <a:pPr lvl="1"/>
                <a:r>
                  <a:rPr lang="en-US" dirty="0"/>
                  <a:t>Probability of collision increases as table fills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0289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966D-4FEB-4376-ED9A-7E24B5D5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713D0-5220-5B90-B085-A26344BE9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406"/>
            <a:ext cx="10515600" cy="5470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properties of a good hash tables?  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Appropriate table size</a:t>
            </a:r>
          </a:p>
          <a:p>
            <a:pPr lvl="1"/>
            <a:r>
              <a:rPr lang="en-US" dirty="0"/>
              <a:t>Hash functions produce limited range of hash values   </a:t>
            </a:r>
          </a:p>
          <a:p>
            <a:pPr lvl="1"/>
            <a:r>
              <a:rPr lang="en-US" dirty="0"/>
              <a:t>Too large wastes space</a:t>
            </a:r>
          </a:p>
          <a:p>
            <a:pPr lvl="1"/>
            <a:r>
              <a:rPr lang="en-US" dirty="0"/>
              <a:t>Too small leads to collisions</a:t>
            </a:r>
          </a:p>
          <a:p>
            <a:pPr lvl="1"/>
            <a:r>
              <a:rPr lang="en-US" dirty="0"/>
              <a:t>Ideally make hash table resizable - Half or double as needed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Ability to merge hash tables </a:t>
            </a:r>
          </a:p>
          <a:p>
            <a:pPr lvl="1"/>
            <a:r>
              <a:rPr lang="en-US" dirty="0"/>
              <a:t>Enables parallel processing </a:t>
            </a:r>
          </a:p>
          <a:p>
            <a:pPr lvl="1"/>
            <a:r>
              <a:rPr lang="en-US" dirty="0"/>
              <a:t>Hash multiple data streams </a:t>
            </a:r>
          </a:p>
          <a:p>
            <a:pPr lvl="1"/>
            <a:r>
              <a:rPr lang="en-US" dirty="0"/>
              <a:t>More on this later in the course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499FEE-81C5-CA87-ABD6-FE7C5C870E5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69103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123406"/>
                <a:ext cx="5431971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Resolving hash key collisions   </a:t>
                </a:r>
              </a:p>
              <a:p>
                <a:r>
                  <a:rPr lang="en-US" b="1" dirty="0">
                    <a:hlinkClick r:id="rId2"/>
                  </a:rPr>
                  <a:t>Separate chaining</a:t>
                </a:r>
                <a:endParaRPr lang="en-US" b="1" dirty="0"/>
              </a:p>
              <a:p>
                <a:r>
                  <a:rPr lang="en-US" dirty="0"/>
                  <a:t>Key collisions resolved by creating linked list</a:t>
                </a:r>
              </a:p>
              <a:p>
                <a:r>
                  <a:rPr lang="en-US" dirty="0"/>
                  <a:t>Search list in linear time,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Efficient if number of collisions,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, is small</a:t>
                </a:r>
              </a:p>
              <a:p>
                <a:endParaRPr lang="en-US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123406"/>
                <a:ext cx="5431971" cy="5470724"/>
              </a:xfrm>
              <a:blipFill>
                <a:blip r:embed="rId3"/>
                <a:stretch>
                  <a:fillRect l="-2242" t="-1782" r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46DE2-C49E-49D3-A29B-9D1A03666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905" y="1830373"/>
            <a:ext cx="5550463" cy="3415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3913C8-5D2D-43C2-B2CE-45A4513ED053}"/>
              </a:ext>
            </a:extLst>
          </p:cNvPr>
          <p:cNvSpPr txBox="1"/>
          <p:nvPr/>
        </p:nvSpPr>
        <p:spPr>
          <a:xfrm>
            <a:off x="6984083" y="5566822"/>
            <a:ext cx="476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5"/>
              </a:rPr>
              <a:t>Credit: Wikipedia commons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98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123406"/>
                <a:ext cx="5431971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Resolving hash key collisions   </a:t>
                </a:r>
              </a:p>
              <a:p>
                <a:r>
                  <a:rPr lang="en-US" b="1" dirty="0">
                    <a:hlinkClick r:id="rId2"/>
                  </a:rPr>
                  <a:t>Open addressing </a:t>
                </a:r>
                <a:r>
                  <a:rPr lang="en-US" dirty="0"/>
                  <a:t>methods widely used</a:t>
                </a:r>
              </a:p>
              <a:p>
                <a:r>
                  <a:rPr lang="en-US" dirty="0"/>
                  <a:t>Key collisions resolved by </a:t>
                </a:r>
                <a:r>
                  <a:rPr lang="en-US" b="1" dirty="0"/>
                  <a:t>probing</a:t>
                </a:r>
                <a:r>
                  <a:rPr lang="en-US" dirty="0"/>
                  <a:t> for open bucket</a:t>
                </a:r>
              </a:p>
              <a:p>
                <a:pPr lvl="1"/>
                <a:r>
                  <a:rPr lang="en-US" b="1" dirty="0">
                    <a:hlinkClick r:id="rId3"/>
                  </a:rPr>
                  <a:t>Linear probing </a:t>
                </a:r>
                <a:r>
                  <a:rPr lang="en-US" dirty="0"/>
                  <a:t>– search buckets in order – efficient and widely used</a:t>
                </a:r>
              </a:p>
              <a:p>
                <a:pPr lvl="1"/>
                <a:r>
                  <a:rPr lang="en-US" dirty="0"/>
                  <a:t>Quadratic probing – increases interval between buckets searched</a:t>
                </a:r>
              </a:p>
              <a:p>
                <a:pPr lvl="1"/>
                <a:r>
                  <a:rPr lang="en-US" dirty="0"/>
                  <a:t>Double hashing – search for open bucket with second hash</a:t>
                </a:r>
              </a:p>
              <a:p>
                <a:r>
                  <a:rPr lang="en-US" dirty="0"/>
                  <a:t>Searching colliding keys in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123406"/>
                <a:ext cx="5431971" cy="5470724"/>
              </a:xfrm>
              <a:blipFill>
                <a:blip r:embed="rId4"/>
                <a:stretch>
                  <a:fillRect l="-2242" t="-1782" r="-785" b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913C8-5D2D-43C2-B2CE-45A4513ED053}"/>
              </a:ext>
            </a:extLst>
          </p:cNvPr>
          <p:cNvSpPr txBox="1"/>
          <p:nvPr/>
        </p:nvSpPr>
        <p:spPr>
          <a:xfrm>
            <a:off x="6984083" y="5566822"/>
            <a:ext cx="476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5"/>
              </a:rPr>
              <a:t>Credit: Wikipedia commons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FCA564-4F03-40D5-BDD4-350BD922B5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552" y="1182822"/>
            <a:ext cx="5381177" cy="428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4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905F-17EC-9351-E47A-0E13F736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6F35F-5504-3FF6-7F3F-F41955A60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For key values,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want a </a:t>
                </a:r>
                <a:r>
                  <a:rPr lang="en-US" b="1" dirty="0"/>
                  <a:t>uniform distribution over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/>
                  <a:t> hash values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)~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length hash table probability of bucket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being occupied is: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b="1" dirty="0"/>
                  <a:t>Lumpy hash values </a:t>
                </a:r>
                <a:r>
                  <a:rPr lang="en-US" dirty="0"/>
                  <a:t>lead to increased </a:t>
                </a:r>
                <a:r>
                  <a:rPr lang="en-US" b="1" dirty="0"/>
                  <a:t>hash collisions </a:t>
                </a:r>
              </a:p>
              <a:p>
                <a:pPr lvl="1"/>
                <a:r>
                  <a:rPr lang="en-US" dirty="0"/>
                  <a:t>Can verify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test</a:t>
                </a:r>
              </a:p>
              <a:p>
                <a:r>
                  <a:rPr lang="en-US" dirty="0"/>
                  <a:t>For a uniformly distributed hash function the probability of a hash collision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filled in the table,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6F35F-5504-3FF6-7F3F-F41955A60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9CDD3AB4-A9E3-8623-71E8-A086F9266E92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91866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A56C-70FE-5B2C-A831-909F1DDB9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B342E0-F512-00E2-2EB2-0181FBB761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For a uniformly distributed hash function the probability of a hash collision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filled in the table,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Given table utilization,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number of probes required to find an open bucket is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𝑝𝑟𝑜𝑏𝑠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B342E0-F512-00E2-2EB2-0181FBB761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CA76E0F-11D1-BAC3-B65E-D210BD3050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9526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27B62-95A2-A33F-3E97-DA8CBA75D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3FE2C5-A1AE-9949-3815-87F58D102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4313791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Given table utilization,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number of probes required to find an open bucket is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𝑝𝑟𝑜𝑏𝑠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Complexity of probing increases rapidly as table fills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3FE2C5-A1AE-9949-3815-87F58D102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4313791" cy="5470724"/>
              </a:xfrm>
              <a:blipFill>
                <a:blip r:embed="rId2"/>
                <a:stretch>
                  <a:fillRect l="-2970" t="-1782" r="-4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4AA09B5-0045-DC0F-0835-D4290DB1F5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BAD6E-1AA4-B7BC-6C7C-7CC29E528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592" y="1036018"/>
            <a:ext cx="4953435" cy="564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7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91A7B-B292-CB80-547D-AB423941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1C620-67AE-577D-4AF0-75C4C5C080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are the properties of a good hash function?  </a:t>
                </a:r>
              </a:p>
              <a:p>
                <a:r>
                  <a:rPr lang="en-US" dirty="0"/>
                  <a:t>For a uniformly distributed hash function the probability of a hash collision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 filled in the table,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How can we do better than this?   </a:t>
                </a:r>
              </a:p>
              <a:p>
                <a:r>
                  <a:rPr lang="en-US" dirty="0"/>
                  <a:t>We can concatenate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independent hashes </a:t>
                </a:r>
              </a:p>
              <a:p>
                <a:r>
                  <a:rPr lang="en-US" dirty="0"/>
                  <a:t>The probability of a hash collisions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independent hashes with n elements filled becomes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More on this approach later in the course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1C620-67AE-577D-4AF0-75C4C5C08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23406"/>
                <a:ext cx="10515600" cy="5470724"/>
              </a:xfrm>
              <a:blipFill>
                <a:blip r:embed="rId2"/>
                <a:stretch>
                  <a:fillRect l="-1217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9431E3-9330-1D27-19B1-308FC2EB554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Introduction to Hashing</a:t>
            </a:r>
          </a:p>
        </p:txBody>
      </p:sp>
    </p:spTree>
    <p:extLst>
      <p:ext uri="{BB962C8B-B14F-4D97-AF65-F5344CB8AC3E}">
        <p14:creationId xmlns:p14="http://schemas.microsoft.com/office/powerpoint/2010/main" val="352357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87113-4FF5-4C8C-6DD2-6ED943D7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4D97-C525-0D5F-DBA4-E2E62A9E45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6655338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mining is the science of </a:t>
            </a:r>
            <a:r>
              <a:rPr lang="en-US" b="1" dirty="0"/>
              <a:t>knowledge discovery</a:t>
            </a:r>
            <a:r>
              <a:rPr lang="en-US" dirty="0"/>
              <a:t> using data </a:t>
            </a:r>
          </a:p>
          <a:p>
            <a:r>
              <a:rPr lang="en-US" dirty="0"/>
              <a:t>Data mining uses </a:t>
            </a:r>
            <a:r>
              <a:rPr lang="en-US" b="1" dirty="0"/>
              <a:t>massive data sets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Manage massive data with key-values pairs</a:t>
            </a:r>
          </a:p>
          <a:p>
            <a:pPr lvl="1"/>
            <a:r>
              <a:rPr lang="en-US" dirty="0"/>
              <a:t>Hashing keys can reduce storge and retrieval times</a:t>
            </a:r>
          </a:p>
          <a:p>
            <a:r>
              <a:rPr lang="en-US" dirty="0"/>
              <a:t>Hash functions provide direct addressing at a massive scale</a:t>
            </a:r>
          </a:p>
          <a:p>
            <a:pPr lvl="1"/>
            <a:r>
              <a:rPr lang="en-US" dirty="0"/>
              <a:t>Ideal hash functions should have uniform distribution of hash values </a:t>
            </a:r>
          </a:p>
          <a:p>
            <a:pPr lvl="1"/>
            <a:r>
              <a:rPr lang="en-US" dirty="0"/>
              <a:t>Hash collisions are expected and must be managed  </a:t>
            </a:r>
          </a:p>
          <a:p>
            <a:pPr lvl="1"/>
            <a:r>
              <a:rPr lang="en-US" dirty="0"/>
              <a:t>Hash tables require resizing algorithms </a:t>
            </a:r>
          </a:p>
          <a:p>
            <a:pPr lvl="1"/>
            <a:r>
              <a:rPr lang="en-US" dirty="0"/>
              <a:t>Merging is a key operation for hash tables.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Key Points</a:t>
            </a:r>
          </a:p>
        </p:txBody>
      </p:sp>
    </p:spTree>
    <p:extLst>
      <p:ext uri="{BB962C8B-B14F-4D97-AF65-F5344CB8AC3E}">
        <p14:creationId xmlns:p14="http://schemas.microsoft.com/office/powerpoint/2010/main" val="305343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25513</TotalTime>
  <Words>4300</Words>
  <Application>Microsoft Office PowerPoint</Application>
  <PresentationFormat>Widescreen</PresentationFormat>
  <Paragraphs>587</Paragraphs>
  <Slides>63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Google Sans</vt:lpstr>
      <vt:lpstr>Rubik</vt:lpstr>
      <vt:lpstr>Segoe UI</vt:lpstr>
      <vt:lpstr>Segoe UI Light</vt:lpstr>
      <vt:lpstr>Office Theme</vt:lpstr>
      <vt:lpstr>CSCI E-108 Data Mining, Discovery and Exploration Introduction and Pitfalls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Dimensions of Data Mining  </vt:lpstr>
      <vt:lpstr>About This Course</vt:lpstr>
      <vt:lpstr>About your Instructor: Steve Elston</vt:lpstr>
      <vt:lpstr>About your T.A.: Eric Trucksess </vt:lpstr>
      <vt:lpstr>About your TA: Hellen S. Momoh</vt:lpstr>
      <vt:lpstr>PowerPoint Presentation</vt:lpstr>
      <vt:lpstr>PowerPoint Presentation</vt:lpstr>
      <vt:lpstr>PowerPoint Presentation</vt:lpstr>
      <vt:lpstr>PowerPoint Presentation</vt:lpstr>
      <vt:lpstr>Dimensions of Data Mining  </vt:lpstr>
      <vt:lpstr>PowerPoint Presentation</vt:lpstr>
      <vt:lpstr>Main topics in this course </vt:lpstr>
      <vt:lpstr>Main topics in this course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Foundations of Large-Scale Data-Mining</vt:lpstr>
      <vt:lpstr>Main topics in this course </vt:lpstr>
      <vt:lpstr>PowerPoint Presentation</vt:lpstr>
      <vt:lpstr>Data Management with Key-Value Pairs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Hashing</vt:lpstr>
      <vt:lpstr>PowerPoint Presentation</vt:lpstr>
      <vt:lpstr>PowerPoint Presentation</vt:lpstr>
      <vt:lpstr>PowerPoint Presentation</vt:lpstr>
      <vt:lpstr>PowerPoint Presentation</vt:lpstr>
      <vt:lpstr>Hash Functions</vt:lpstr>
      <vt:lpstr>PowerPoint Presentation</vt:lpstr>
      <vt:lpstr>PowerPoint Presentation</vt:lpstr>
      <vt:lpstr>PowerPoint Presentation</vt:lpstr>
      <vt:lpstr>Properties of Hash Functions and  Hash Collisions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572</cp:revision>
  <cp:lastPrinted>2019-09-03T23:18:19Z</cp:lastPrinted>
  <dcterms:created xsi:type="dcterms:W3CDTF">2019-08-02T23:14:29Z</dcterms:created>
  <dcterms:modified xsi:type="dcterms:W3CDTF">2026-09-02T23:41:24Z</dcterms:modified>
</cp:coreProperties>
</file>