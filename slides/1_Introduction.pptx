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794" r:id="rId10"/>
    <p:sldId id="788" r:id="rId11"/>
    <p:sldId id="795" r:id="rId12"/>
    <p:sldId id="724" r:id="rId13"/>
    <p:sldId id="397" r:id="rId14"/>
    <p:sldId id="718" r:id="rId15"/>
    <p:sldId id="790" r:id="rId16"/>
    <p:sldId id="791" r:id="rId17"/>
    <p:sldId id="792" r:id="rId18"/>
    <p:sldId id="783" r:id="rId19"/>
    <p:sldId id="786" r:id="rId20"/>
    <p:sldId id="396" r:id="rId21"/>
    <p:sldId id="400" r:id="rId22"/>
    <p:sldId id="352" r:id="rId23"/>
    <p:sldId id="388" r:id="rId24"/>
    <p:sldId id="721" r:id="rId25"/>
    <p:sldId id="381" r:id="rId26"/>
    <p:sldId id="722" r:id="rId27"/>
    <p:sldId id="402" r:id="rId28"/>
    <p:sldId id="789" r:id="rId29"/>
    <p:sldId id="401" r:id="rId30"/>
    <p:sldId id="395" r:id="rId31"/>
    <p:sldId id="793" r:id="rId32"/>
    <p:sldId id="725" r:id="rId33"/>
    <p:sldId id="713" r:id="rId34"/>
    <p:sldId id="784" r:id="rId35"/>
    <p:sldId id="387" r:id="rId36"/>
    <p:sldId id="720" r:id="rId37"/>
    <p:sldId id="382" r:id="rId38"/>
    <p:sldId id="787" r:id="rId39"/>
    <p:sldId id="357" r:id="rId40"/>
    <p:sldId id="385" r:id="rId41"/>
    <p:sldId id="359" r:id="rId42"/>
    <p:sldId id="727" r:id="rId43"/>
    <p:sldId id="386" r:id="rId44"/>
    <p:sldId id="714" r:id="rId45"/>
    <p:sldId id="360" r:id="rId46"/>
    <p:sldId id="731" r:id="rId47"/>
    <p:sldId id="374" r:id="rId48"/>
    <p:sldId id="375" r:id="rId49"/>
    <p:sldId id="738" r:id="rId50"/>
    <p:sldId id="377" r:id="rId51"/>
    <p:sldId id="729" r:id="rId52"/>
    <p:sldId id="730" r:id="rId53"/>
    <p:sldId id="739" r:id="rId54"/>
    <p:sldId id="376" r:id="rId55"/>
    <p:sldId id="728" r:id="rId56"/>
    <p:sldId id="379" r:id="rId57"/>
    <p:sldId id="380" r:id="rId58"/>
    <p:sldId id="742" r:id="rId59"/>
    <p:sldId id="743" r:id="rId60"/>
    <p:sldId id="744" r:id="rId61"/>
    <p:sldId id="785" r:id="rId62"/>
    <p:sldId id="740" r:id="rId63"/>
    <p:sldId id="384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9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32D8-8557-DB3F-21D4-44232170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F28B5-2A3C-A662-5BB5-01105BF0A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79AF0-4020-16F8-FE7C-1DFA6EF33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BC192-EE75-6410-B5BC-D0850C0AE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2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39B7C2-6A65-43EF-9DD1-61635A9B6C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50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try-jupyter/notebooks/?path=notebooks/Intro.ipynb" TargetMode="External"/><Relationship Id="rId2" Type="http://schemas.openxmlformats.org/officeDocument/2006/relationships/hyperlink" Target="https://jupyter-notebook.readthedocs.io/en/stable/examples/Notebook/Working%20With%20Markdown%20Cell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www.w3schools.com/git/git_intro.asp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extension.harvard.edu/enrolled-students/academic-integrity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hyperlink" Target="https://en.wikipedia.org/wiki/Hash_table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data mining?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</a:t>
            </a:r>
          </a:p>
          <a:p>
            <a:pPr lvl="1"/>
            <a:r>
              <a:rPr lang="en-US" dirty="0"/>
              <a:t>Hash functions provide direct addressing at a massive scale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Iteratively apply many approaches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focuses on analytics at a </a:t>
            </a:r>
            <a:r>
              <a:rPr lang="en-US" b="1" dirty="0"/>
              <a:t>massive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High 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ADCB176-2C73-258E-E558-49D81DC3D17B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9467D-C382-809A-7C02-4A9437E9793F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D37EB6-D985-47B6-5752-1BDE773DF71A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7" y="1295835"/>
            <a:ext cx="8168835" cy="5355772"/>
          </a:xfrm>
        </p:spPr>
        <p:txBody>
          <a:bodyPr>
            <a:normAutofit fontScale="92500" lnSpcReduction="10000"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Led team that commercialized Bell Labs S, now opensource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Inventor on</a:t>
            </a:r>
            <a:r>
              <a:rPr lang="en-US" sz="2800" b="0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5</a:t>
            </a:r>
            <a:r>
              <a:rPr lang="en-US" sz="2800" b="0" dirty="0">
                <a:cs typeface="Arial" panose="020B0604020202020204" pitchFamily="34" charset="0"/>
              </a:rPr>
              <a:t>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238" y="446017"/>
            <a:ext cx="3632018" cy="298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87304" y="621226"/>
            <a:ext cx="9143640" cy="66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chemeClr val="dk1"/>
                </a:solidFill>
                <a:latin typeface="+mn-lt"/>
              </a:rPr>
              <a:t>About your T.A.: Eric Trucksess 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846473" y="1369132"/>
            <a:ext cx="9927772" cy="45823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Registered Patent Attorney focused on the chemical arts, particularly pharmaceuticals, solid state devices and polymeric coatings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Founder/architect of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HasHave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, formerly an online bartering site which facilitated the exchange of goods and services amongst members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Counsel to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RocketFuel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 an early-generation targeted marketing firm that applied ML principles in online marketing campaigns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Currently a consultant to several Defense Contractors and a Director in a Dubai-based betting syndicate with a focus on horse racing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194" y="599904"/>
            <a:ext cx="10515600" cy="48657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</a:rPr>
              <a:t>About your TA: Hellen S. Momoh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2" y="1398657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sz="2400" dirty="0"/>
              <a:t>Data Scientist and AI/ML Engineer developing applied machine learning and intelligent systems</a:t>
            </a:r>
          </a:p>
          <a:p>
            <a:r>
              <a:rPr sz="2400" dirty="0"/>
              <a:t>Founder &amp; CEO of </a:t>
            </a:r>
            <a:r>
              <a:rPr sz="2400" dirty="0" err="1"/>
              <a:t>Surna</a:t>
            </a:r>
            <a:r>
              <a:rPr sz="2400" dirty="0"/>
              <a:t> Technologies, building</a:t>
            </a:r>
            <a:r>
              <a:rPr lang="en-US" sz="2400" dirty="0"/>
              <a:t> sovereign</a:t>
            </a:r>
            <a:r>
              <a:rPr sz="2400" dirty="0"/>
              <a:t> AI-powered </a:t>
            </a:r>
            <a:r>
              <a:rPr lang="en-US" sz="2400" dirty="0"/>
              <a:t>systems</a:t>
            </a:r>
            <a:r>
              <a:rPr sz="2400" dirty="0"/>
              <a:t> and digital infrastructure</a:t>
            </a:r>
          </a:p>
          <a:p>
            <a:r>
              <a:rPr sz="2400" dirty="0"/>
              <a:t>Applied AI experience across financial systems, maternal wellness, and public-sector technology</a:t>
            </a:r>
          </a:p>
          <a:p>
            <a:r>
              <a:rPr sz="2400" dirty="0"/>
              <a:t>ALM in Data Science, Harvard University; BALS in Interdisciplinary Mathematics, Georgetown University</a:t>
            </a:r>
          </a:p>
          <a:p>
            <a:r>
              <a:rPr sz="2400" dirty="0"/>
              <a:t>Professional experience spanning technology, engineering, and international public service</a:t>
            </a:r>
          </a:p>
          <a:p>
            <a:r>
              <a:rPr sz="2400" dirty="0"/>
              <a:t>Passionate about translating data science and machine learning from theory into real-world systems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CB480-AA3E-213A-60C4-4D4D0A43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LLMs in data mining is not a major focus for this course</a:t>
                </a:r>
                <a:endParaRPr lang="en-US" sz="3200" b="1" dirty="0"/>
              </a:p>
              <a:p>
                <a:r>
                  <a:rPr lang="en-US" dirty="0"/>
                  <a:t>LLMs have a growing impact on data mining     </a:t>
                </a:r>
              </a:p>
              <a:p>
                <a:r>
                  <a:rPr lang="en-US" dirty="0"/>
                  <a:t>LLMs can achieve high accuracy for some tasks   </a:t>
                </a:r>
              </a:p>
              <a:p>
                <a:r>
                  <a:rPr lang="en-US" dirty="0"/>
                  <a:t>Application is </a:t>
                </a:r>
                <a:r>
                  <a:rPr lang="en-US" b="1" dirty="0"/>
                  <a:t>limited by scalability    </a:t>
                </a:r>
              </a:p>
              <a:p>
                <a:pPr lvl="1"/>
                <a:r>
                  <a:rPr lang="en-US" dirty="0"/>
                  <a:t>High computational costs at web scale</a:t>
                </a:r>
              </a:p>
              <a:p>
                <a:pPr lvl="1"/>
                <a:r>
                  <a:rPr lang="en-US" dirty="0"/>
                  <a:t>Long latency limits real-time response application</a:t>
                </a:r>
              </a:p>
              <a:p>
                <a:r>
                  <a:rPr lang="en-US" b="1" dirty="0"/>
                  <a:t>LLM costs are high</a:t>
                </a:r>
                <a:r>
                  <a:rPr lang="en-US" dirty="0"/>
                  <a:t>, even for ‘low-cost’ models     </a:t>
                </a:r>
              </a:p>
              <a:p>
                <a:pPr lvl="1"/>
                <a:r>
                  <a:rPr lang="en-US" dirty="0"/>
                  <a:t>Example, a large-scale document search could require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dirty="0"/>
                  <a:t> tokens!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  <a:blipFill>
                <a:blip r:embed="rId2"/>
                <a:stretch>
                  <a:fillRect l="-1507" t="-2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467E74-681C-BF89-AF4C-D551410A993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4424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61C0-94BA-AAF3-1841-9ED3BEFB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4DCB-0BC6-C446-7D6F-3117CCC0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1792A-FD07-5D4A-F979-A142BE750E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At massive scale we must consider the trade-off between </a:t>
            </a:r>
          </a:p>
          <a:p>
            <a:pPr lvl="1"/>
            <a:r>
              <a:rPr lang="en-US" dirty="0">
                <a:latin typeface="+mn-lt"/>
              </a:rPr>
              <a:t>Computational complexity  </a:t>
            </a:r>
          </a:p>
          <a:p>
            <a:pPr lvl="1"/>
            <a:r>
              <a:rPr lang="en-US" dirty="0">
                <a:latin typeface="+mn-lt"/>
              </a:rPr>
              <a:t>Memory requirements</a:t>
            </a:r>
          </a:p>
          <a:p>
            <a:pPr lvl="1"/>
            <a:r>
              <a:rPr lang="en-US" dirty="0">
                <a:latin typeface="+mn-lt"/>
              </a:rPr>
              <a:t>Accuracy of results  </a:t>
            </a:r>
          </a:p>
          <a:p>
            <a:r>
              <a:rPr lang="en-US" dirty="0">
                <a:latin typeface="+mn-lt"/>
              </a:rPr>
              <a:t>LLMs can achieve high accuracy at a high cost</a:t>
            </a:r>
          </a:p>
          <a:p>
            <a:r>
              <a:rPr lang="en-US" dirty="0">
                <a:latin typeface="+mn-lt"/>
              </a:rPr>
              <a:t>At massive scale we trade-off accuracy for scalability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E1FA1535-CB4E-24DD-A018-DF9111ADB986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D7A4-743A-327E-6122-5FDA10FAB93C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88049-66D1-78AC-E09E-24259CF542ED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6494F-27B6-7352-1B75-8AEF19C2B9AA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184D42-CB03-C7C9-C97A-8F0C43E3A4D2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76CC0-8974-8C5F-7CED-ADD2757D0E18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62949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73AC7-5FAE-B3F8-CB3D-7ABE322C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4F65C-AE3A-BA7F-19EA-7001BD7A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Where do LLMs fit into data </a:t>
            </a:r>
            <a:r>
              <a:rPr lang="en-US" sz="3200" dirty="0" err="1"/>
              <a:t>minning</a:t>
            </a:r>
            <a:r>
              <a:rPr lang="en-US" sz="3200" dirty="0"/>
              <a:t> at massive scale?</a:t>
            </a:r>
            <a:endParaRPr lang="en-US" sz="3200" b="1" dirty="0"/>
          </a:p>
          <a:p>
            <a:r>
              <a:rPr lang="en-US" dirty="0"/>
              <a:t>LLM algorithms use retrieval augmented generation (RAG) to guide generation  </a:t>
            </a:r>
          </a:p>
          <a:p>
            <a:pPr lvl="1"/>
            <a:r>
              <a:rPr lang="en-US" dirty="0"/>
              <a:t>RAG algorithms require massive scale similarity search, a core data mining topic </a:t>
            </a:r>
          </a:p>
          <a:p>
            <a:r>
              <a:rPr lang="en-US" dirty="0"/>
              <a:t>Often use highly scalable algorithms as filter then apply LLM</a:t>
            </a:r>
          </a:p>
          <a:p>
            <a:pPr lvl="1"/>
            <a:r>
              <a:rPr lang="en-US" dirty="0"/>
              <a:t>Example: in document search use massively scalable algorithm as filter, with LLM used as </a:t>
            </a:r>
            <a:r>
              <a:rPr lang="en-US" b="1" dirty="0" err="1"/>
              <a:t>reranker</a:t>
            </a:r>
            <a:r>
              <a:rPr lang="en-US" dirty="0"/>
              <a:t> for refinement </a:t>
            </a:r>
          </a:p>
          <a:p>
            <a:pPr lvl="1"/>
            <a:r>
              <a:rPr lang="en-US" dirty="0"/>
              <a:t>More efficient methods available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689192-8B3A-A810-B0C6-30704ECCBFA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91837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during Summer School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8 assignments </a:t>
            </a:r>
            <a:r>
              <a:rPr lang="en-US" dirty="0"/>
              <a:t>plus online discussion questions and projects for graduate credit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8 assignments </a:t>
            </a:r>
            <a:br>
              <a:rPr lang="en-US" dirty="0"/>
            </a:b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8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3567"/>
            <a:ext cx="10515600" cy="578761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Expect 8 assignments + project! </a:t>
            </a:r>
          </a:p>
          <a:p>
            <a:r>
              <a:rPr lang="en-US" dirty="0"/>
              <a:t>Assignments and projects are done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Format discussion text using </a:t>
            </a:r>
            <a:r>
              <a:rPr lang="en-US" dirty="0" err="1">
                <a:hlinkClick r:id="rId2"/>
              </a:rPr>
              <a:t>Jupyter</a:t>
            </a:r>
            <a:r>
              <a:rPr lang="en-US" dirty="0">
                <a:hlinkClick r:id="rId2"/>
              </a:rPr>
              <a:t> Markdown  </a:t>
            </a:r>
            <a:endParaRPr lang="en-US" dirty="0"/>
          </a:p>
          <a:p>
            <a:pPr lvl="1"/>
            <a:r>
              <a:rPr lang="en-US" dirty="0"/>
              <a:t>You will lose points for poor formatting of your discussion text, e.g. no section headings, text that does not wrap to page width, discussion only in code comments,…    </a:t>
            </a:r>
          </a:p>
          <a:p>
            <a:pPr lvl="1"/>
            <a:r>
              <a:rPr lang="en-US" dirty="0"/>
              <a:t>If you are not familiar with </a:t>
            </a:r>
            <a:r>
              <a:rPr lang="en-US" dirty="0" err="1"/>
              <a:t>Jupyter</a:t>
            </a:r>
            <a:r>
              <a:rPr lang="en-US" dirty="0"/>
              <a:t>, you can find a </a:t>
            </a:r>
            <a:r>
              <a:rPr lang="en-US" u="sng" dirty="0">
                <a:hlinkClick r:id="rId3"/>
              </a:rPr>
              <a:t>basic tutorial here</a:t>
            </a:r>
            <a:endParaRPr lang="en-US" dirty="0"/>
          </a:p>
          <a:p>
            <a:r>
              <a:rPr lang="en-US" dirty="0"/>
              <a:t>Updated assignment </a:t>
            </a:r>
            <a:r>
              <a:rPr lang="en-US" dirty="0" err="1"/>
              <a:t>Jupyter</a:t>
            </a:r>
            <a:r>
              <a:rPr lang="en-US" dirty="0"/>
              <a:t> notebooks will be posted in the course GitHub repository</a:t>
            </a:r>
          </a:p>
          <a:p>
            <a:pPr lvl="1"/>
            <a:r>
              <a:rPr lang="en-US" b="1" dirty="0"/>
              <a:t>Clone</a:t>
            </a:r>
            <a:r>
              <a:rPr lang="en-US" dirty="0"/>
              <a:t> the repository and do </a:t>
            </a:r>
            <a:r>
              <a:rPr lang="en-US" b="1" dirty="0"/>
              <a:t>frequent pulls </a:t>
            </a:r>
            <a:r>
              <a:rPr lang="en-US" dirty="0"/>
              <a:t>to get the latest material   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Make sure to work in your own branch or copy to another directory</a:t>
            </a:r>
          </a:p>
          <a:p>
            <a:pPr lvl="1"/>
            <a:r>
              <a:rPr lang="en-US" dirty="0"/>
              <a:t>There are many good Git and GitHub tutorials online, including </a:t>
            </a:r>
            <a:r>
              <a:rPr lang="en-US" u="sng" dirty="0">
                <a:hlinkClick r:id="rId4"/>
              </a:rPr>
              <a:t>this one</a:t>
            </a:r>
            <a:endParaRPr lang="en-US" u="sng" dirty="0"/>
          </a:p>
          <a:p>
            <a:r>
              <a:rPr lang="en-US" dirty="0"/>
              <a:t>Some assignment notebooks are tested using GPU support in in </a:t>
            </a:r>
            <a:r>
              <a:rPr lang="en-US" dirty="0">
                <a:hlinkClick r:id="rId5"/>
              </a:rPr>
              <a:t>Google </a:t>
            </a:r>
            <a:r>
              <a:rPr lang="en-US" dirty="0" err="1">
                <a:hlinkClick r:id="rId5"/>
              </a:rPr>
              <a:t>Colab</a:t>
            </a:r>
            <a:r>
              <a:rPr lang="en-US" dirty="0">
                <a:hlinkClick r:id="rId5"/>
              </a:rPr>
              <a:t> </a:t>
            </a:r>
            <a:endParaRPr lang="en-US" dirty="0"/>
          </a:p>
          <a:p>
            <a:pPr lvl="1"/>
            <a:r>
              <a:rPr lang="en-US" dirty="0"/>
              <a:t>A paid subscription is recommended to limit you frustration!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Assignments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6446E5C-F06F-D65D-110E-9269A95B6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D85D-5611-A420-798A-40685DF8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20% </a:t>
            </a:r>
          </a:p>
          <a:p>
            <a:pPr lvl="1"/>
            <a:r>
              <a:rPr lang="en-US" dirty="0"/>
              <a:t>Up to 3 days late – less 40%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C7495-545D-58A2-1941-4463A39C1E6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308918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8 assignments and a project, there is very </a:t>
            </a:r>
            <a:r>
              <a:rPr lang="en-US" b="1" dirty="0">
                <a:solidFill>
                  <a:srgbClr val="C00000"/>
                </a:solidFill>
              </a:rPr>
              <a:t>little time to “catch-up</a:t>
            </a:r>
            <a:r>
              <a:rPr lang="en-US" b="1" dirty="0"/>
              <a:t>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two days late - less 10% </a:t>
            </a:r>
          </a:p>
          <a:p>
            <a:pPr lvl="1"/>
            <a:r>
              <a:rPr lang="en-US" dirty="0"/>
              <a:t>Up to three days late - less 20% </a:t>
            </a:r>
          </a:p>
          <a:p>
            <a:pPr lvl="1"/>
            <a:r>
              <a:rPr lang="en-US" dirty="0"/>
              <a:t>Up to four days late - less 30% </a:t>
            </a:r>
          </a:p>
          <a:p>
            <a:pPr lvl="1"/>
            <a:r>
              <a:rPr lang="en-US" dirty="0"/>
              <a:t>Up to five days late - less 40% </a:t>
            </a:r>
          </a:p>
          <a:p>
            <a:pPr lvl="1"/>
            <a:r>
              <a:rPr lang="en-US" dirty="0"/>
              <a:t>More than five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Hellen Siah Momoh: hem299 at g dot </a:t>
            </a:r>
            <a:r>
              <a:rPr lang="en-US" dirty="0" err="1"/>
              <a:t>harvard</a:t>
            </a:r>
            <a:r>
              <a:rPr lang="en-US" dirty="0"/>
              <a:t> </a:t>
            </a:r>
            <a:r>
              <a:rPr lang="en-US" dirty="0" err="1"/>
              <a:t>dotedu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It’s the way we do things these days! </a:t>
            </a:r>
          </a:p>
          <a:p>
            <a:pPr lvl="1"/>
            <a:r>
              <a:rPr lang="en-US" dirty="0"/>
              <a:t>LLM generated code lets us test ideas quickly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>
                <a:solidFill>
                  <a:srgbClr val="C00000"/>
                </a:solidFill>
              </a:rPr>
              <a:t>Attribution &amp; Integrity:</a:t>
            </a:r>
            <a:r>
              <a:rPr lang="en-US" dirty="0">
                <a:solidFill>
                  <a:srgbClr val="C00000"/>
                </a:solidFill>
              </a:rPr>
              <a:t> Cite AI use per the </a:t>
            </a:r>
            <a:r>
              <a:rPr lang="en-US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Harvard Extension School Academic Integrity Policy</a:t>
            </a:r>
            <a:r>
              <a:rPr lang="en-US" dirty="0">
                <a:solidFill>
                  <a:srgbClr val="C00000"/>
                </a:solidFill>
              </a:rPr>
              <a:t>!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Hashing and key-value pair management are foundations of working with massive datasets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typically a scalar, and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r>
              <a:rPr lang="en-US" dirty="0"/>
              <a:t>…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 dirty="0"/>
                  <a:t>Hashed key-value pairs </a:t>
                </a:r>
                <a:r>
                  <a:rPr lang="en-US" dirty="0"/>
                  <a:t>form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8367177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8367177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Simple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</a:t>
                </a:r>
                <a:r>
                  <a:rPr lang="en-US" sz="2600"/>
                  <a:t>= optional additive </a:t>
                </a:r>
                <a:r>
                  <a:rPr lang="en-US" sz="2600" dirty="0"/>
                  <a:t>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Simple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 dirty="0"/>
                  <a:t>Hash function is 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</a:t>
            </a:r>
            <a:r>
              <a:rPr lang="en-US"/>
              <a:t>in greater </a:t>
            </a:r>
            <a:r>
              <a:rPr lang="en-US" dirty="0"/>
              <a:t>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Hash functions provide direct addressing at a massive scale</a:t>
            </a:r>
          </a:p>
          <a:p>
            <a:pPr lvl="1"/>
            <a:r>
              <a:rPr lang="en-US" dirty="0"/>
              <a:t>Ideal hash functions should have uniform distribution of hash values </a:t>
            </a:r>
          </a:p>
          <a:p>
            <a:pPr lvl="1"/>
            <a:r>
              <a:rPr lang="en-US" dirty="0"/>
              <a:t>Hash collisions are expected and must be managed  </a:t>
            </a:r>
          </a:p>
          <a:p>
            <a:pPr lvl="1"/>
            <a:r>
              <a:rPr lang="en-US" dirty="0"/>
              <a:t>Hash tables require resizing algorithms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25193</TotalTime>
  <Words>4287</Words>
  <Application>Microsoft Office PowerPoint</Application>
  <PresentationFormat>Widescreen</PresentationFormat>
  <Paragraphs>586</Paragraphs>
  <Slides>63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T.A.: Eric Trucksess </vt:lpstr>
      <vt:lpstr>About your TA: Hellen S. Momoh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571</cp:revision>
  <cp:lastPrinted>2019-09-03T23:18:19Z</cp:lastPrinted>
  <dcterms:created xsi:type="dcterms:W3CDTF">2019-08-02T23:14:29Z</dcterms:created>
  <dcterms:modified xsi:type="dcterms:W3CDTF">2026-09-02T18:21:10Z</dcterms:modified>
</cp:coreProperties>
</file>