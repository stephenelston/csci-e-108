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75" r:id="rId2"/>
    <p:sldId id="819" r:id="rId3"/>
    <p:sldId id="342" r:id="rId4"/>
    <p:sldId id="343" r:id="rId5"/>
    <p:sldId id="344" r:id="rId6"/>
    <p:sldId id="863" r:id="rId7"/>
    <p:sldId id="533" r:id="rId8"/>
    <p:sldId id="534" r:id="rId9"/>
    <p:sldId id="535" r:id="rId10"/>
    <p:sldId id="351" r:id="rId11"/>
    <p:sldId id="345" r:id="rId12"/>
    <p:sldId id="488" r:id="rId13"/>
    <p:sldId id="532" r:id="rId14"/>
    <p:sldId id="517" r:id="rId15"/>
    <p:sldId id="482" r:id="rId16"/>
    <p:sldId id="348" r:id="rId17"/>
    <p:sldId id="347" r:id="rId18"/>
    <p:sldId id="346" r:id="rId19"/>
    <p:sldId id="536" r:id="rId20"/>
    <p:sldId id="493" r:id="rId21"/>
    <p:sldId id="546" r:id="rId22"/>
    <p:sldId id="520" r:id="rId23"/>
    <p:sldId id="354" r:id="rId24"/>
    <p:sldId id="349" r:id="rId25"/>
    <p:sldId id="352" r:id="rId26"/>
    <p:sldId id="864" r:id="rId27"/>
    <p:sldId id="389" r:id="rId28"/>
    <p:sldId id="537" r:id="rId29"/>
    <p:sldId id="358" r:id="rId30"/>
    <p:sldId id="391" r:id="rId31"/>
    <p:sldId id="404" r:id="rId32"/>
    <p:sldId id="490" r:id="rId33"/>
    <p:sldId id="481" r:id="rId34"/>
    <p:sldId id="861" r:id="rId35"/>
    <p:sldId id="539" r:id="rId36"/>
    <p:sldId id="540" r:id="rId37"/>
    <p:sldId id="865" r:id="rId38"/>
    <p:sldId id="483" r:id="rId39"/>
    <p:sldId id="403" r:id="rId40"/>
    <p:sldId id="547" r:id="rId41"/>
    <p:sldId id="362" r:id="rId42"/>
    <p:sldId id="359" r:id="rId43"/>
    <p:sldId id="361" r:id="rId44"/>
    <p:sldId id="360" r:id="rId45"/>
    <p:sldId id="356" r:id="rId46"/>
    <p:sldId id="363" r:id="rId47"/>
    <p:sldId id="484" r:id="rId48"/>
    <p:sldId id="548" r:id="rId49"/>
    <p:sldId id="355" r:id="rId50"/>
    <p:sldId id="384" r:id="rId51"/>
    <p:sldId id="385" r:id="rId52"/>
    <p:sldId id="386" r:id="rId53"/>
    <p:sldId id="387" r:id="rId54"/>
    <p:sldId id="388" r:id="rId55"/>
    <p:sldId id="485" r:id="rId56"/>
    <p:sldId id="855" r:id="rId57"/>
    <p:sldId id="856" r:id="rId58"/>
    <p:sldId id="857" r:id="rId59"/>
    <p:sldId id="858" r:id="rId60"/>
    <p:sldId id="859" r:id="rId61"/>
    <p:sldId id="860" r:id="rId62"/>
    <p:sldId id="380" r:id="rId63"/>
    <p:sldId id="381" r:id="rId64"/>
    <p:sldId id="510" r:id="rId65"/>
    <p:sldId id="496" r:id="rId66"/>
    <p:sldId id="399" r:id="rId67"/>
    <p:sldId id="397" r:id="rId68"/>
    <p:sldId id="398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6" autoAdjust="0"/>
    <p:restoredTop sz="94660"/>
  </p:normalViewPr>
  <p:slideViewPr>
    <p:cSldViewPr snapToGrid="0">
      <p:cViewPr varScale="1">
        <p:scale>
          <a:sx n="77" d="100"/>
          <a:sy n="77" d="100"/>
        </p:scale>
        <p:origin x="4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4722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380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ink.springer.com/article/10.1007/s00521-024-10828-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xiv.org/html/2407.13699v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7.13699v1" TargetMode="External"/><Relationship Id="rId2" Type="http://schemas.openxmlformats.org/officeDocument/2006/relationships/hyperlink" Target="https://link.springer.com/article/10.1007/s00521-024-10828-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stamp/stamp.jsp?tp=&amp;arnumber=10415424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examples/structured_data/collaborative_filtering_movielens/" TargetMode="External"/><Relationship Id="rId2" Type="http://schemas.openxmlformats.org/officeDocument/2006/relationships/hyperlink" Target="https://www.manning.com/books/graph-powered-machine-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rahamjenson/list_of_recommender_systems" TargetMode="External"/><Relationship Id="rId5" Type="http://schemas.openxmlformats.org/officeDocument/2006/relationships/hyperlink" Target="https://blog.twitter.com/engineering/en_us/topics/open-source/2023/twitter-recommendation-algorithm" TargetMode="External"/><Relationship Id="rId4" Type="http://schemas.openxmlformats.org/officeDocument/2006/relationships/hyperlink" Target="https://pytorch.org/blog/introducing-torchrec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datasets?task=recommendation-systems" TargetMode="External"/><Relationship Id="rId2" Type="http://schemas.openxmlformats.org/officeDocument/2006/relationships/hyperlink" Target="https://github.com/RUCAIBox/RecSysDatase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search?q=recommendation+dataset+in%3Adataset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Relationship Id="rId9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1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science/blog/more-efficient-caching-for-product-retrieva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601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Evaluation_measures_(information_retrieval)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12.16015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12.16015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25" y="866581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Learning to Rank and Recommender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0291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 2021, 2022, 2023, 2024, 2025, 2026,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Users need recommendations to navigate these vast choices</a:t>
            </a:r>
          </a:p>
          <a:p>
            <a:r>
              <a:rPr lang="en-US" dirty="0"/>
              <a:t>Many areas require recommendations</a:t>
            </a:r>
          </a:p>
          <a:p>
            <a:pPr lvl="1"/>
            <a:r>
              <a:rPr lang="en-US" dirty="0"/>
              <a:t>Physical products</a:t>
            </a:r>
          </a:p>
          <a:p>
            <a:pPr lvl="1"/>
            <a:r>
              <a:rPr lang="en-US" dirty="0"/>
              <a:t>Social media</a:t>
            </a:r>
          </a:p>
          <a:p>
            <a:pPr lvl="1"/>
            <a:r>
              <a:rPr lang="en-US" dirty="0"/>
              <a:t>Hospitality – Hotels, restaurants,…</a:t>
            </a:r>
          </a:p>
          <a:p>
            <a:pPr lvl="1"/>
            <a:r>
              <a:rPr lang="en-US" dirty="0"/>
              <a:t>Books</a:t>
            </a:r>
          </a:p>
          <a:p>
            <a:pPr lvl="1"/>
            <a:r>
              <a:rPr lang="en-US" dirty="0"/>
              <a:t>News articles</a:t>
            </a:r>
          </a:p>
          <a:p>
            <a:pPr lvl="1"/>
            <a:r>
              <a:rPr lang="en-US" dirty="0"/>
              <a:t>Music</a:t>
            </a:r>
          </a:p>
          <a:p>
            <a:pPr lvl="1"/>
            <a:r>
              <a:rPr lang="en-US" dirty="0"/>
              <a:t>Movies and TV shows</a:t>
            </a:r>
          </a:p>
          <a:p>
            <a:pPr lvl="1"/>
            <a:r>
              <a:rPr lang="en-US" dirty="0"/>
              <a:t>App stores</a:t>
            </a:r>
          </a:p>
          <a:p>
            <a:pPr lvl="1"/>
            <a:r>
              <a:rPr lang="en-US" dirty="0"/>
              <a:t>Matching people with required job skills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In the physical world user choice is limited to small number of items</a:t>
            </a:r>
          </a:p>
          <a:p>
            <a:pPr lvl="1"/>
            <a:r>
              <a:rPr lang="en-US" dirty="0"/>
              <a:t>Items on the shelves of a store</a:t>
            </a:r>
          </a:p>
          <a:p>
            <a:pPr lvl="1"/>
            <a:r>
              <a:rPr lang="en-US" dirty="0"/>
              <a:t>News articles printed on paper</a:t>
            </a:r>
          </a:p>
          <a:p>
            <a:pPr lvl="1"/>
            <a:r>
              <a:rPr lang="en-US" dirty="0"/>
              <a:t>Books in a book store</a:t>
            </a:r>
          </a:p>
          <a:p>
            <a:pPr lvl="1"/>
            <a:r>
              <a:rPr lang="en-US" dirty="0"/>
              <a:t>Music in a music store</a:t>
            </a:r>
          </a:p>
          <a:p>
            <a:pPr lvl="1"/>
            <a:r>
              <a:rPr lang="en-US" dirty="0"/>
              <a:t>People submitting paper resumes for a job</a:t>
            </a:r>
          </a:p>
          <a:p>
            <a:pPr lvl="1"/>
            <a:r>
              <a:rPr lang="en-US" dirty="0"/>
              <a:t>Movies at a theater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But, in the online word the choices are nearly limitless </a:t>
            </a:r>
          </a:p>
          <a:p>
            <a:pPr lvl="1"/>
            <a:r>
              <a:rPr lang="en-US" dirty="0"/>
              <a:t>Choice is no longer limited by physical constraints</a:t>
            </a:r>
          </a:p>
          <a:p>
            <a:pPr lvl="1"/>
            <a:r>
              <a:rPr lang="en-US" dirty="0"/>
              <a:t>Most of the choices are rarely purchased</a:t>
            </a:r>
          </a:p>
          <a:p>
            <a:pPr lvl="1"/>
            <a:r>
              <a:rPr lang="en-US" dirty="0"/>
              <a:t>Users will rarely find these choices on their own</a:t>
            </a:r>
          </a:p>
          <a:p>
            <a:pPr lvl="1"/>
            <a:r>
              <a:rPr lang="en-US" dirty="0"/>
              <a:t>This is known as the </a:t>
            </a:r>
            <a:r>
              <a:rPr lang="en-US" b="1" dirty="0"/>
              <a:t>long tail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781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With large catalogs there are many items which are obscure and rarely purchased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D39A73-62CA-47AA-9DAC-616C09FAF4F2}"/>
              </a:ext>
            </a:extLst>
          </p:cNvPr>
          <p:cNvCxnSpPr>
            <a:cxnSpLocks/>
          </p:cNvCxnSpPr>
          <p:nvPr/>
        </p:nvCxnSpPr>
        <p:spPr>
          <a:xfrm>
            <a:off x="2199784" y="6231635"/>
            <a:ext cx="647850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DD087E-AF0E-4508-885D-5DCD525F2A3E}"/>
              </a:ext>
            </a:extLst>
          </p:cNvPr>
          <p:cNvCxnSpPr>
            <a:cxnSpLocks/>
          </p:cNvCxnSpPr>
          <p:nvPr/>
        </p:nvCxnSpPr>
        <p:spPr>
          <a:xfrm flipH="1" flipV="1">
            <a:off x="2199784" y="2589970"/>
            <a:ext cx="43068" cy="36416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A9CACA3-9F0A-4BE8-A34B-F9AAC56318EF}"/>
              </a:ext>
            </a:extLst>
          </p:cNvPr>
          <p:cNvSpPr/>
          <p:nvPr/>
        </p:nvSpPr>
        <p:spPr>
          <a:xfrm>
            <a:off x="3767564" y="5259758"/>
            <a:ext cx="4248042" cy="731520"/>
          </a:xfrm>
          <a:custGeom>
            <a:avLst/>
            <a:gdLst>
              <a:gd name="connsiteX0" fmla="*/ 4248042 w 4248042"/>
              <a:gd name="connsiteY0" fmla="*/ 731520 h 731520"/>
              <a:gd name="connsiteX1" fmla="*/ 3370218 w 4248042"/>
              <a:gd name="connsiteY1" fmla="*/ 715845 h 731520"/>
              <a:gd name="connsiteX2" fmla="*/ 2434917 w 4248042"/>
              <a:gd name="connsiteY2" fmla="*/ 674044 h 731520"/>
              <a:gd name="connsiteX3" fmla="*/ 1306286 w 4248042"/>
              <a:gd name="connsiteY3" fmla="*/ 543415 h 731520"/>
              <a:gd name="connsiteX4" fmla="*/ 506839 w 4248042"/>
              <a:gd name="connsiteY4" fmla="*/ 308284 h 731520"/>
              <a:gd name="connsiteX5" fmla="*/ 0 w 4248042"/>
              <a:gd name="connsiteY5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48042" h="731520">
                <a:moveTo>
                  <a:pt x="4248042" y="731520"/>
                </a:moveTo>
                <a:lnTo>
                  <a:pt x="3370218" y="715845"/>
                </a:lnTo>
                <a:cubicBezTo>
                  <a:pt x="3068031" y="706266"/>
                  <a:pt x="2778906" y="702782"/>
                  <a:pt x="2434917" y="674044"/>
                </a:cubicBezTo>
                <a:cubicBezTo>
                  <a:pt x="2090928" y="645306"/>
                  <a:pt x="1627632" y="604375"/>
                  <a:pt x="1306286" y="543415"/>
                </a:cubicBezTo>
                <a:cubicBezTo>
                  <a:pt x="984940" y="482455"/>
                  <a:pt x="724553" y="398853"/>
                  <a:pt x="506839" y="308284"/>
                </a:cubicBezTo>
                <a:cubicBezTo>
                  <a:pt x="289125" y="217715"/>
                  <a:pt x="0" y="0"/>
                  <a:pt x="0" y="0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CF0A0C-2AE0-46BF-874D-E062A27E3AB6}"/>
              </a:ext>
            </a:extLst>
          </p:cNvPr>
          <p:cNvCxnSpPr/>
          <p:nvPr/>
        </p:nvCxnSpPr>
        <p:spPr>
          <a:xfrm>
            <a:off x="3767565" y="5259759"/>
            <a:ext cx="0" cy="971876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C81044-519E-4E6A-9694-7B5BA8C545A8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8015605" y="5991278"/>
            <a:ext cx="1" cy="240357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7FEB203-4F9D-4F47-BEBE-6E4E6FB6548F}"/>
              </a:ext>
            </a:extLst>
          </p:cNvPr>
          <p:cNvSpPr/>
          <p:nvPr/>
        </p:nvSpPr>
        <p:spPr>
          <a:xfrm rot="359675">
            <a:off x="2142751" y="2511551"/>
            <a:ext cx="1780445" cy="2671288"/>
          </a:xfrm>
          <a:custGeom>
            <a:avLst/>
            <a:gdLst>
              <a:gd name="connsiteX0" fmla="*/ 1517073 w 1517073"/>
              <a:gd name="connsiteY0" fmla="*/ 2272145 h 2272145"/>
              <a:gd name="connsiteX1" fmla="*/ 1233055 w 1517073"/>
              <a:gd name="connsiteY1" fmla="*/ 2105891 h 2272145"/>
              <a:gd name="connsiteX2" fmla="*/ 782782 w 1517073"/>
              <a:gd name="connsiteY2" fmla="*/ 1738745 h 2272145"/>
              <a:gd name="connsiteX3" fmla="*/ 443346 w 1517073"/>
              <a:gd name="connsiteY3" fmla="*/ 1336964 h 2272145"/>
              <a:gd name="connsiteX4" fmla="*/ 187037 w 1517073"/>
              <a:gd name="connsiteY4" fmla="*/ 762000 h 2272145"/>
              <a:gd name="connsiteX5" fmla="*/ 76200 w 1517073"/>
              <a:gd name="connsiteY5" fmla="*/ 381000 h 2272145"/>
              <a:gd name="connsiteX6" fmla="*/ 0 w 1517073"/>
              <a:gd name="connsiteY6" fmla="*/ 0 h 227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7073" h="2272145">
                <a:moveTo>
                  <a:pt x="1517073" y="2272145"/>
                </a:moveTo>
                <a:cubicBezTo>
                  <a:pt x="1436255" y="2233468"/>
                  <a:pt x="1355437" y="2194791"/>
                  <a:pt x="1233055" y="2105891"/>
                </a:cubicBezTo>
                <a:cubicBezTo>
                  <a:pt x="1110673" y="2016991"/>
                  <a:pt x="914400" y="1866899"/>
                  <a:pt x="782782" y="1738745"/>
                </a:cubicBezTo>
                <a:cubicBezTo>
                  <a:pt x="651164" y="1610590"/>
                  <a:pt x="542637" y="1499755"/>
                  <a:pt x="443346" y="1336964"/>
                </a:cubicBezTo>
                <a:cubicBezTo>
                  <a:pt x="344055" y="1174173"/>
                  <a:pt x="248228" y="921327"/>
                  <a:pt x="187037" y="762000"/>
                </a:cubicBezTo>
                <a:cubicBezTo>
                  <a:pt x="125846" y="602673"/>
                  <a:pt x="107373" y="508000"/>
                  <a:pt x="76200" y="381000"/>
                </a:cubicBezTo>
                <a:cubicBezTo>
                  <a:pt x="45027" y="254000"/>
                  <a:pt x="22513" y="127000"/>
                  <a:pt x="0" y="0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35736-A4F6-49A3-87CB-37D6E133AC43}"/>
              </a:ext>
            </a:extLst>
          </p:cNvPr>
          <p:cNvSpPr txBox="1"/>
          <p:nvPr/>
        </p:nvSpPr>
        <p:spPr>
          <a:xfrm rot="16200000">
            <a:off x="113323" y="4225237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Probability of Finding Item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6A0A7-894F-41DD-9476-98DEC3DBFB47}"/>
              </a:ext>
            </a:extLst>
          </p:cNvPr>
          <p:cNvSpPr txBox="1"/>
          <p:nvPr/>
        </p:nvSpPr>
        <p:spPr>
          <a:xfrm>
            <a:off x="3759925" y="5837322"/>
            <a:ext cx="3025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rarely purchased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57CF84-E5D1-4766-89B7-8CBB693668A8}"/>
              </a:ext>
            </a:extLst>
          </p:cNvPr>
          <p:cNvSpPr txBox="1"/>
          <p:nvPr/>
        </p:nvSpPr>
        <p:spPr>
          <a:xfrm>
            <a:off x="2178998" y="5074339"/>
            <a:ext cx="1645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commonly purchased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9B601-507B-4A67-847D-BF7F5420FD11}"/>
              </a:ext>
            </a:extLst>
          </p:cNvPr>
          <p:cNvSpPr txBox="1"/>
          <p:nvPr/>
        </p:nvSpPr>
        <p:spPr>
          <a:xfrm>
            <a:off x="4198894" y="3984810"/>
            <a:ext cx="4971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Users unlikely to find rarely purchased items without recommender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11D7A0-846E-4571-97D3-F559FC89A575}"/>
              </a:ext>
            </a:extLst>
          </p:cNvPr>
          <p:cNvCxnSpPr/>
          <p:nvPr/>
        </p:nvCxnSpPr>
        <p:spPr>
          <a:xfrm flipV="1">
            <a:off x="4337740" y="4956368"/>
            <a:ext cx="3986784" cy="22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F3969A-D828-D811-E46C-A0E25589B41A}"/>
              </a:ext>
            </a:extLst>
          </p:cNvPr>
          <p:cNvSpPr txBox="1"/>
          <p:nvPr/>
        </p:nvSpPr>
        <p:spPr>
          <a:xfrm>
            <a:off x="3234144" y="6241159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 of purchase</a:t>
            </a:r>
          </a:p>
        </p:txBody>
      </p:sp>
    </p:spTree>
    <p:extLst>
      <p:ext uri="{BB962C8B-B14F-4D97-AF65-F5344CB8AC3E}">
        <p14:creationId xmlns:p14="http://schemas.microsoft.com/office/powerpoint/2010/main" val="7032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9" grpId="0"/>
      <p:bldP spid="15" grpId="0"/>
      <p:bldP spid="16" grpId="0"/>
      <p:bldP spid="1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51EA-1280-0ADB-8388-6D1BAAAD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2F19-B54A-59E2-0AB5-EF14F3BA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D6DE-C623-994C-A176-1D184DA4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781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long tail from </a:t>
            </a:r>
            <a:r>
              <a:rPr lang="en-US" dirty="0" err="1"/>
              <a:t>MovieLens</a:t>
            </a:r>
            <a:r>
              <a:rPr lang="en-US" dirty="0"/>
              <a:t> 1M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76BA7297-0EBF-BC25-90BD-86011C16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771" y="1730828"/>
            <a:ext cx="9048285" cy="483820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0EB453-2846-1366-5448-EFF13D126E01}"/>
              </a:ext>
            </a:extLst>
          </p:cNvPr>
          <p:cNvSpPr txBox="1">
            <a:spLocks/>
          </p:cNvSpPr>
          <p:nvPr/>
        </p:nvSpPr>
        <p:spPr>
          <a:xfrm>
            <a:off x="775447" y="5906055"/>
            <a:ext cx="2095499" cy="7015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Figure provided by Humphry Lim.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67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94D5-86C7-787D-1D7B-27B35256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69D910F-20CC-91CB-D791-064EEDD11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Overview of Recommender Algorithms</a:t>
            </a:r>
          </a:p>
        </p:txBody>
      </p:sp>
    </p:spTree>
    <p:extLst>
      <p:ext uri="{BB962C8B-B14F-4D97-AF65-F5344CB8AC3E}">
        <p14:creationId xmlns:p14="http://schemas.microsoft.com/office/powerpoint/2010/main" val="70208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E1166-EA3A-7D2B-C07E-1EDB91BA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BFE-1F0B-5E3E-032F-50A40862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367F-9C6A-B439-D3AF-97F385697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u="sng" dirty="0">
                <a:hlinkClick r:id="rId2"/>
              </a:rPr>
              <a:t>Ibrahim, et. al, 2025</a:t>
            </a:r>
            <a:r>
              <a:rPr lang="en-US" u="sng" dirty="0"/>
              <a:t>,</a:t>
            </a:r>
            <a:r>
              <a:rPr lang="en-US" dirty="0"/>
              <a:t> propose a taxonomy to organize recommender 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CFB34-CDE1-A3B3-731A-C626105B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328" y="1687973"/>
            <a:ext cx="10540257" cy="507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8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B1AF-3CA5-603C-3033-95526434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A8F7-02CB-CA80-5BC4-A909A7B1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6463-02E5-FC5F-5DEE-D1900E08B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Recommendation algorithms have evolved with time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F3A6E-75F9-38D0-B3F9-3D13DA0EEEDC}"/>
              </a:ext>
            </a:extLst>
          </p:cNvPr>
          <p:cNvSpPr txBox="1"/>
          <p:nvPr/>
        </p:nvSpPr>
        <p:spPr>
          <a:xfrm>
            <a:off x="3446928" y="6272684"/>
            <a:ext cx="51475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2"/>
              </a:rPr>
              <a:t>A Comprehensive Review of Recommender Systems: Transitioning From Theory to Practice, Raza, et.al., 2024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9BC894-CEC6-45F8-2A60-45E59F45C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41" y="1804835"/>
            <a:ext cx="10278909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4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Many algorithms have been tried to find recommendations</a:t>
                </a:r>
              </a:p>
              <a:p>
                <a:r>
                  <a:rPr lang="en-US" b="1" dirty="0"/>
                  <a:t>Classifiers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Very sparse and changing training data</a:t>
                </a:r>
              </a:p>
              <a:p>
                <a:pPr lvl="1"/>
                <a:r>
                  <a:rPr lang="en-US" dirty="0"/>
                  <a:t>Long tail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extreme class imbalanced training cases</a:t>
                </a:r>
              </a:p>
              <a:p>
                <a:pPr lvl="1"/>
                <a:r>
                  <a:rPr lang="en-US" dirty="0"/>
                  <a:t>Generally poor performance</a:t>
                </a:r>
              </a:p>
              <a:p>
                <a:r>
                  <a:rPr lang="en-US" b="1" dirty="0"/>
                  <a:t>Clustering</a:t>
                </a:r>
                <a:endParaRPr lang="en-US" dirty="0"/>
              </a:p>
              <a:p>
                <a:pPr lvl="1"/>
                <a:r>
                  <a:rPr lang="en-US" dirty="0"/>
                  <a:t>Attempt to put common users and items in groups</a:t>
                </a:r>
              </a:p>
              <a:p>
                <a:pPr lvl="1"/>
                <a:r>
                  <a:rPr lang="en-US" dirty="0"/>
                  <a:t>Data is very sparse in long tail, extreme class imbalance, so often poor performance</a:t>
                </a:r>
              </a:p>
              <a:p>
                <a:pPr lvl="1"/>
                <a:r>
                  <a:rPr lang="en-US" dirty="0"/>
                  <a:t>Can be used to </a:t>
                </a:r>
                <a:r>
                  <a:rPr lang="en-US" b="1" dirty="0"/>
                  <a:t>fill null values when little history </a:t>
                </a:r>
                <a:r>
                  <a:rPr lang="en-US" dirty="0"/>
                  <a:t>– the cold start problem</a:t>
                </a:r>
              </a:p>
              <a:p>
                <a:pPr lvl="1"/>
                <a:r>
                  <a:rPr lang="en-US" b="1" dirty="0"/>
                  <a:t>Reduce computation </a:t>
                </a:r>
                <a:r>
                  <a:rPr lang="en-US" dirty="0"/>
                  <a:t>by applying complex recommender algorithms within clusters with common characteristics </a:t>
                </a:r>
              </a:p>
              <a:p>
                <a:r>
                  <a:rPr lang="en-US" b="1" dirty="0"/>
                  <a:t>Association models  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55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  <a:p>
            <a:r>
              <a:rPr lang="en-US" dirty="0"/>
              <a:t>Algorithms based on </a:t>
            </a:r>
            <a:r>
              <a:rPr lang="en-US" b="1" dirty="0"/>
              <a:t>similarity search </a:t>
            </a:r>
            <a:r>
              <a:rPr lang="en-US" dirty="0"/>
              <a:t>dominate</a:t>
            </a:r>
            <a:endParaRPr lang="en-US" b="1" dirty="0"/>
          </a:p>
          <a:p>
            <a:r>
              <a:rPr lang="en-US" b="1" dirty="0"/>
              <a:t>Content based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Find items with common properties by </a:t>
            </a:r>
            <a:r>
              <a:rPr lang="en-US" b="1" dirty="0"/>
              <a:t>similarity search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unsupervised</a:t>
            </a:r>
            <a:r>
              <a:rPr lang="en-US" dirty="0"/>
              <a:t> learning algorithms </a:t>
            </a:r>
          </a:p>
          <a:p>
            <a:pPr lvl="1"/>
            <a:r>
              <a:rPr lang="en-US" dirty="0"/>
              <a:t>Related to frequent item set algorithms – Last lesson of course</a:t>
            </a:r>
          </a:p>
          <a:p>
            <a:r>
              <a:rPr lang="en-US" b="1" dirty="0"/>
              <a:t>Collaborative filtering</a:t>
            </a:r>
            <a:endParaRPr lang="en-US" dirty="0"/>
          </a:p>
          <a:p>
            <a:pPr lvl="1"/>
            <a:r>
              <a:rPr lang="en-US" dirty="0"/>
              <a:t>Based on </a:t>
            </a:r>
            <a:r>
              <a:rPr lang="en-US" b="1" dirty="0"/>
              <a:t>similarity</a:t>
            </a:r>
            <a:r>
              <a:rPr lang="en-US" dirty="0"/>
              <a:t> between behavior or engagement between items or between users</a:t>
            </a:r>
          </a:p>
          <a:p>
            <a:pPr lvl="1"/>
            <a:r>
              <a:rPr lang="en-US" dirty="0"/>
              <a:t>Widely used algorithm</a:t>
            </a:r>
          </a:p>
          <a:p>
            <a:pPr lvl="1"/>
            <a:r>
              <a:rPr lang="en-US" b="1" dirty="0"/>
              <a:t>Unsupervised</a:t>
            </a:r>
            <a:r>
              <a:rPr lang="en-US" dirty="0"/>
              <a:t> and </a:t>
            </a:r>
            <a:r>
              <a:rPr lang="en-US" b="1" dirty="0"/>
              <a:t>supervised (ML)</a:t>
            </a:r>
            <a:r>
              <a:rPr lang="en-US" dirty="0"/>
              <a:t> algorithms applied   </a:t>
            </a:r>
          </a:p>
          <a:p>
            <a:pPr lvl="1"/>
            <a:r>
              <a:rPr lang="en-US" dirty="0"/>
              <a:t>Has cold-start problem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References for recommender systems</a:t>
            </a:r>
          </a:p>
          <a:p>
            <a:pPr lvl="0"/>
            <a:r>
              <a:rPr lang="en-US" u="sng" dirty="0">
                <a:hlinkClick r:id="rId2"/>
              </a:rPr>
              <a:t>Revisiting Recommender Systems: An Investigative Survey. Ibrahim, et. al, 2025</a:t>
            </a:r>
            <a:endParaRPr lang="en-US" dirty="0"/>
          </a:p>
          <a:p>
            <a:pPr lvl="0"/>
            <a:r>
              <a:rPr lang="en-US" u="sng" dirty="0">
                <a:hlinkClick r:id="rId3"/>
              </a:rPr>
              <a:t>A Comprehensive Review of Recommender Systems: Transitioning From Theory to Practice, Raza, et.al., 2024</a:t>
            </a:r>
            <a:endParaRPr lang="en-US" dirty="0"/>
          </a:p>
          <a:p>
            <a:pPr lvl="0"/>
            <a:r>
              <a:rPr lang="en-US" u="sng" dirty="0">
                <a:hlinkClick r:id="rId4"/>
              </a:rPr>
              <a:t>Systematic Literature Review on Recommender System: Approach, Problem, Evaluation Techniques, Datasets, </a:t>
            </a:r>
            <a:r>
              <a:rPr lang="en-US" u="sng" dirty="0" err="1">
                <a:hlinkClick r:id="rId4"/>
              </a:rPr>
              <a:t>Saifudin</a:t>
            </a:r>
            <a:r>
              <a:rPr lang="en-US" u="sng" dirty="0">
                <a:hlinkClick r:id="rId4"/>
              </a:rPr>
              <a:t> and </a:t>
            </a:r>
            <a:r>
              <a:rPr lang="en-US" u="sng" dirty="0" err="1">
                <a:hlinkClick r:id="rId4"/>
              </a:rPr>
              <a:t>Widiyaningtyas</a:t>
            </a:r>
            <a:r>
              <a:rPr lang="en-US" u="sng" dirty="0">
                <a:hlinkClick r:id="rId4"/>
              </a:rPr>
              <a:t>, 2023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23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0A0AA-389C-FCEA-7F6B-7701297E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3DC4-5C77-EA11-7985-E41A7144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4C7F7-5E10-76E7-4EA7-D5923068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Resources for massively scalable recommenders</a:t>
            </a:r>
          </a:p>
          <a:p>
            <a:r>
              <a:rPr lang="en-US" dirty="0"/>
              <a:t>For examples of using graph recommender models at massive scale with Neo4j, see </a:t>
            </a:r>
            <a:r>
              <a:rPr lang="en-US" dirty="0">
                <a:hlinkClick r:id="rId2"/>
              </a:rPr>
              <a:t>Graph Powered Machine Learning, Alessandro Negro, Manning, 2021</a:t>
            </a:r>
            <a:r>
              <a:rPr lang="en-US" dirty="0"/>
              <a:t> </a:t>
            </a:r>
          </a:p>
          <a:p>
            <a:r>
              <a:rPr lang="en-US" dirty="0"/>
              <a:t>For an example of building scalable collaborative filtering and neural collaborative filtering recommenders in </a:t>
            </a:r>
            <a:r>
              <a:rPr lang="en-US" dirty="0" err="1"/>
              <a:t>Keras</a:t>
            </a:r>
            <a:r>
              <a:rPr lang="en-US" dirty="0"/>
              <a:t>, see </a:t>
            </a:r>
            <a:r>
              <a:rPr lang="en-US" dirty="0">
                <a:hlinkClick r:id="rId3"/>
              </a:rPr>
              <a:t>this example by Siddhartha Banerjee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hlinkClick r:id="rId4"/>
              </a:rPr>
              <a:t>Torch Rec system from Meta</a:t>
            </a:r>
            <a:r>
              <a:rPr lang="en-US" dirty="0"/>
              <a:t> supports building massive scale recommenders using </a:t>
            </a:r>
            <a:r>
              <a:rPr lang="en-US" dirty="0" err="1"/>
              <a:t>sharding</a:t>
            </a:r>
            <a:r>
              <a:rPr lang="en-US" dirty="0"/>
              <a:t> and embedding algorithms</a:t>
            </a:r>
          </a:p>
          <a:p>
            <a:r>
              <a:rPr lang="en-US" dirty="0">
                <a:hlinkClick r:id="rId5"/>
              </a:rPr>
              <a:t>Twitter’s recommender </a:t>
            </a:r>
            <a:r>
              <a:rPr lang="en-US" dirty="0"/>
              <a:t>uses a complex combination of NLP, social graph analysis and recommendation generation </a:t>
            </a:r>
          </a:p>
          <a:p>
            <a:r>
              <a:rPr lang="en-US" dirty="0"/>
              <a:t>Grahm Jensen’s list of recommender system software can be found </a:t>
            </a:r>
            <a:r>
              <a:rPr lang="en-US" dirty="0">
                <a:hlinkClick r:id="rId6"/>
              </a:rPr>
              <a:t>here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905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5B752-4951-9447-294D-596F741F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6AE2-FE09-E5AE-1E7D-684B27BB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Datasets and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A96A-9024-9E12-3F11-F5BBB97A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is a growing list of recommender datasets</a:t>
            </a:r>
          </a:p>
          <a:p>
            <a:r>
              <a:rPr lang="en-US" dirty="0">
                <a:hlinkClick r:id="rId2"/>
              </a:rPr>
              <a:t>GitHub site with links to multiple other sites</a:t>
            </a:r>
            <a:endParaRPr lang="en-US" dirty="0"/>
          </a:p>
          <a:p>
            <a:r>
              <a:rPr lang="en-US" dirty="0">
                <a:hlinkClick r:id="rId3"/>
              </a:rPr>
              <a:t>Page with recommender dataset on Papers with Code</a:t>
            </a:r>
            <a:endParaRPr lang="en-US" dirty="0"/>
          </a:p>
          <a:p>
            <a:r>
              <a:rPr lang="en-US" dirty="0">
                <a:hlinkClick r:id="rId4"/>
              </a:rPr>
              <a:t>List of recommender datasets on Kagel 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641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Generating Recommendations is Hard!</a:t>
            </a:r>
          </a:p>
        </p:txBody>
      </p:sp>
    </p:spTree>
    <p:extLst>
      <p:ext uri="{BB962C8B-B14F-4D97-AF65-F5344CB8AC3E}">
        <p14:creationId xmlns:p14="http://schemas.microsoft.com/office/powerpoint/2010/main" val="2319331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Creating a good recommender algorithm for the real-world is hard!</a:t>
            </a:r>
          </a:p>
          <a:p>
            <a:r>
              <a:rPr lang="en-US" dirty="0"/>
              <a:t>We do not have purchase information on new users or new items – </a:t>
            </a:r>
          </a:p>
          <a:p>
            <a:pPr lvl="1"/>
            <a:r>
              <a:rPr lang="en-US" b="1" dirty="0"/>
              <a:t>The cold-start problem!</a:t>
            </a:r>
          </a:p>
          <a:p>
            <a:r>
              <a:rPr lang="en-US" dirty="0"/>
              <a:t>Human users have </a:t>
            </a:r>
            <a:r>
              <a:rPr lang="en-US" b="1" dirty="0"/>
              <a:t>variable behavior</a:t>
            </a:r>
          </a:p>
          <a:p>
            <a:r>
              <a:rPr lang="en-US" dirty="0"/>
              <a:t>Naïve solutions do not address long-tail</a:t>
            </a:r>
          </a:p>
          <a:p>
            <a:pPr lvl="1"/>
            <a:r>
              <a:rPr lang="en-US" b="1" dirty="0"/>
              <a:t>Data are very sparse </a:t>
            </a:r>
            <a:r>
              <a:rPr lang="en-US" dirty="0"/>
              <a:t>– users only interact with a small fraction of the </a:t>
            </a:r>
            <a:r>
              <a:rPr lang="en-US" dirty="0" err="1"/>
              <a:t>catelog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Negative sampling bias </a:t>
            </a:r>
            <a:r>
              <a:rPr lang="en-US" dirty="0"/>
              <a:t>– No samples when </a:t>
            </a:r>
            <a:r>
              <a:rPr lang="en-US" b="1" dirty="0"/>
              <a:t>user does not take action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Position bias </a:t>
            </a:r>
            <a:r>
              <a:rPr lang="en-US" dirty="0"/>
              <a:t>– </a:t>
            </a:r>
            <a:r>
              <a:rPr lang="en-US" b="1" dirty="0"/>
              <a:t>Users typically only see top few items </a:t>
            </a:r>
            <a:r>
              <a:rPr lang="en-US" dirty="0"/>
              <a:t>on recommendation list </a:t>
            </a:r>
          </a:p>
          <a:p>
            <a:pPr lvl="1"/>
            <a:r>
              <a:rPr lang="en-US" dirty="0"/>
              <a:t>These biases are </a:t>
            </a:r>
            <a:r>
              <a:rPr lang="en-US" b="1" dirty="0"/>
              <a:t>strongly interdependent!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Cold start problems </a:t>
            </a:r>
            <a:r>
              <a:rPr lang="en-US" dirty="0"/>
              <a:t>limit predictions from recommenders</a:t>
            </a:r>
          </a:p>
          <a:p>
            <a:r>
              <a:rPr lang="en-US" dirty="0"/>
              <a:t>Cold start problem for </a:t>
            </a:r>
            <a:r>
              <a:rPr lang="en-US" b="1" dirty="0"/>
              <a:t>new or rarely purchased items</a:t>
            </a:r>
          </a:p>
          <a:p>
            <a:pPr lvl="1"/>
            <a:r>
              <a:rPr lang="en-US" dirty="0"/>
              <a:t>New items are constantly added to digital catalogs  </a:t>
            </a:r>
          </a:p>
          <a:p>
            <a:pPr lvl="1"/>
            <a:r>
              <a:rPr lang="en-US" dirty="0"/>
              <a:t>No reviews</a:t>
            </a:r>
          </a:p>
          <a:p>
            <a:pPr lvl="1"/>
            <a:r>
              <a:rPr lang="en-US" dirty="0"/>
              <a:t>No purchase history</a:t>
            </a:r>
          </a:p>
          <a:p>
            <a:pPr lvl="1"/>
            <a:r>
              <a:rPr lang="en-US" dirty="0"/>
              <a:t>Must rely on </a:t>
            </a:r>
            <a:r>
              <a:rPr lang="en-US" b="1" dirty="0"/>
              <a:t>item similarity</a:t>
            </a:r>
          </a:p>
          <a:p>
            <a:r>
              <a:rPr lang="en-US" dirty="0"/>
              <a:t>Cold start problem for </a:t>
            </a:r>
            <a:r>
              <a:rPr lang="en-US" b="1" dirty="0"/>
              <a:t>new users</a:t>
            </a:r>
          </a:p>
          <a:p>
            <a:pPr lvl="1"/>
            <a:r>
              <a:rPr lang="en-US" dirty="0"/>
              <a:t>No or few reviews or purchases</a:t>
            </a:r>
          </a:p>
          <a:p>
            <a:pPr lvl="1"/>
            <a:r>
              <a:rPr lang="en-US" dirty="0"/>
              <a:t>Similarity measures can be limited – little or no profile information</a:t>
            </a:r>
          </a:p>
          <a:p>
            <a:pPr lvl="1"/>
            <a:r>
              <a:rPr lang="en-US" dirty="0"/>
              <a:t>Must rely on other approaches – frequent item set search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1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User behavior </a:t>
            </a:r>
            <a:r>
              <a:rPr lang="en-US" dirty="0"/>
              <a:t>limits recommender predictions</a:t>
            </a:r>
          </a:p>
          <a:p>
            <a:r>
              <a:rPr lang="en-US" dirty="0"/>
              <a:t>People have complex behavior</a:t>
            </a:r>
          </a:p>
          <a:p>
            <a:pPr lvl="1"/>
            <a:r>
              <a:rPr lang="en-US" dirty="0"/>
              <a:t>Have variable taste – may change mind what they are looking for</a:t>
            </a:r>
          </a:p>
          <a:p>
            <a:pPr lvl="1"/>
            <a:r>
              <a:rPr lang="en-US" dirty="0"/>
              <a:t>May have multiple interests – e.g. user may want both classic country and baroque music</a:t>
            </a:r>
          </a:p>
          <a:p>
            <a:pPr lvl="1"/>
            <a:r>
              <a:rPr lang="en-US" dirty="0"/>
              <a:t>More than one person accessing user account – e.g. a family</a:t>
            </a:r>
          </a:p>
          <a:p>
            <a:r>
              <a:rPr lang="en-US" dirty="0"/>
              <a:t>User ratings are not constant with time</a:t>
            </a:r>
          </a:p>
          <a:p>
            <a:pPr lvl="1"/>
            <a:r>
              <a:rPr lang="en-US" dirty="0"/>
              <a:t>Average rating of movies increases with time from release</a:t>
            </a:r>
          </a:p>
          <a:p>
            <a:pPr lvl="1"/>
            <a:r>
              <a:rPr lang="en-US" dirty="0"/>
              <a:t>Game ratings decline with time from release</a:t>
            </a:r>
          </a:p>
          <a:p>
            <a:pPr lvl="1"/>
            <a:r>
              <a:rPr lang="en-US" dirty="0"/>
              <a:t>Fad products come and go quickly over time 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solidFill>
                  <a:srgbClr val="C00000"/>
                </a:solidFill>
              </a:rPr>
              <a:t>Data quality often limits recommender performance more than algorithm choice!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58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0265-2875-E0E1-055D-AF87AA15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0B46-1E03-F916-8987-5180463A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7E91-0FF9-7F8B-9124-9D14B29D7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Good recommendations depend on </a:t>
            </a:r>
            <a:r>
              <a:rPr lang="en-US" b="1" dirty="0"/>
              <a:t>user context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The music the user wants to hear depends on time of day    </a:t>
            </a:r>
          </a:p>
          <a:p>
            <a:pPr lvl="1"/>
            <a:r>
              <a:rPr lang="en-US" dirty="0"/>
              <a:t>Travel recommendations depend on the nature of the trip, business, vacation, etc., budget, and intended destination    </a:t>
            </a:r>
          </a:p>
          <a:p>
            <a:r>
              <a:rPr lang="en-US" dirty="0"/>
              <a:t>Context can be ambiguous</a:t>
            </a:r>
          </a:p>
          <a:p>
            <a:pPr lvl="1"/>
            <a:r>
              <a:rPr lang="en-US" dirty="0"/>
              <a:t>Example: video choice can depend on time of day, but also on if a child is present    </a:t>
            </a:r>
          </a:p>
          <a:p>
            <a:pPr lvl="1"/>
            <a:r>
              <a:rPr lang="en-US" dirty="0"/>
              <a:t>Example: recommendations can be location dependent, but dependent on users’ purpose</a:t>
            </a:r>
          </a:p>
          <a:p>
            <a:r>
              <a:rPr lang="en-US" dirty="0"/>
              <a:t>Analysis of context leads to a cold start problem    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1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data suffers from </a:t>
            </a:r>
            <a:r>
              <a:rPr lang="en-US" b="1" dirty="0"/>
              <a:t>bias</a:t>
            </a:r>
            <a:r>
              <a:rPr lang="en-US" dirty="0"/>
              <a:t>   </a:t>
            </a:r>
          </a:p>
          <a:p>
            <a:r>
              <a:rPr lang="en-US" dirty="0"/>
              <a:t>We can only sample when user takes positive action, </a:t>
            </a:r>
            <a:r>
              <a:rPr lang="en-US" b="1" dirty="0"/>
              <a:t>negative sampling bias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 did not click through</a:t>
            </a:r>
          </a:p>
          <a:p>
            <a:pPr lvl="1"/>
            <a:r>
              <a:rPr lang="en-US" dirty="0"/>
              <a:t>User </a:t>
            </a:r>
            <a:r>
              <a:rPr lang="en-US"/>
              <a:t>did not purchase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Many selections in a massive catalog are rarely or never selected by any user because of </a:t>
            </a:r>
            <a:r>
              <a:rPr lang="en-US" b="1" dirty="0"/>
              <a:t>position bias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New items are constantly added to digital catalogs </a:t>
            </a:r>
          </a:p>
          <a:p>
            <a:pPr lvl="1"/>
            <a:r>
              <a:rPr lang="en-US" dirty="0"/>
              <a:t>Rarely purchased items have positions far down recommendation lists  </a:t>
            </a:r>
          </a:p>
          <a:p>
            <a:r>
              <a:rPr lang="en-US" dirty="0"/>
              <a:t>Position bias leads to negative sampling bias and vice versa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97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F4C0-C0F3-C4BF-4971-B025794C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7725-6E7B-35C8-D233-7FBC85C2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1516-6055-6DBC-7D71-20B206AE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systems are subject to </a:t>
            </a:r>
            <a:r>
              <a:rPr lang="en-US" b="1" dirty="0"/>
              <a:t>adversarial and poisoning attacks</a:t>
            </a:r>
          </a:p>
          <a:p>
            <a:r>
              <a:rPr lang="en-US" dirty="0"/>
              <a:t>Actors may wish to boost or depress ratings for various reasons</a:t>
            </a:r>
          </a:p>
          <a:p>
            <a:pPr lvl="1"/>
            <a:r>
              <a:rPr lang="en-US" b="1" dirty="0"/>
              <a:t>Commercial,</a:t>
            </a:r>
            <a:r>
              <a:rPr lang="en-US" dirty="0"/>
              <a:t> to gain unfair advantage in the market place </a:t>
            </a:r>
          </a:p>
          <a:p>
            <a:pPr lvl="1"/>
            <a:r>
              <a:rPr lang="en-US" b="1" dirty="0"/>
              <a:t>Political and cultural</a:t>
            </a:r>
            <a:r>
              <a:rPr lang="en-US" dirty="0"/>
              <a:t>, to boost or suppress certain points of view     </a:t>
            </a:r>
          </a:p>
          <a:p>
            <a:r>
              <a:rPr lang="en-US" b="1" dirty="0"/>
              <a:t>Adversarial attacks </a:t>
            </a:r>
            <a:r>
              <a:rPr lang="en-US" dirty="0"/>
              <a:t>aim to manipulate input data to temporarily deceive the system into producing inaccurate real-time inferences or predictions</a:t>
            </a:r>
          </a:p>
          <a:p>
            <a:r>
              <a:rPr lang="en-US" dirty="0"/>
              <a:t>More commonly, </a:t>
            </a:r>
            <a:r>
              <a:rPr lang="en-US" b="1" dirty="0"/>
              <a:t>poisoning attacks </a:t>
            </a:r>
            <a:r>
              <a:rPr lang="en-US" dirty="0"/>
              <a:t>aim to inject carefully crafted data into the model’s training data to fundamentally change the results   </a:t>
            </a:r>
          </a:p>
          <a:p>
            <a:r>
              <a:rPr lang="en-US" dirty="0"/>
              <a:t>Real-world recommenders need to employ </a:t>
            </a:r>
            <a:r>
              <a:rPr lang="en-US" b="1" dirty="0"/>
              <a:t>countermeasures</a:t>
            </a:r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3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FFFF-DB5C-8280-0A99-320715FB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0248915-2A11-25EA-686F-20312A06A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Representation for Recommenders</a:t>
            </a:r>
          </a:p>
        </p:txBody>
      </p:sp>
    </p:spTree>
    <p:extLst>
      <p:ext uri="{BB962C8B-B14F-4D97-AF65-F5344CB8AC3E}">
        <p14:creationId xmlns:p14="http://schemas.microsoft.com/office/powerpoint/2010/main" val="1372845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Recommender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Utility matrix </a:t>
                </a:r>
                <a:r>
                  <a:rPr lang="en-US" dirty="0"/>
                  <a:t>is a representation used for recommender models</a:t>
                </a:r>
              </a:p>
              <a:p>
                <a:r>
                  <a:rPr lang="en-US" dirty="0"/>
                  <a:t>The utility matrix relates a set of customers, </a:t>
                </a:r>
                <a:r>
                  <a:rPr lang="en-US" i="1" dirty="0"/>
                  <a:t>X,</a:t>
                </a:r>
                <a:r>
                  <a:rPr lang="en-US" dirty="0"/>
                  <a:t> and items, </a:t>
                </a:r>
                <a:r>
                  <a:rPr lang="en-US" i="1" dirty="0"/>
                  <a:t>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Or, the transpose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The general model is a </a:t>
                </a:r>
                <a:r>
                  <a:rPr lang="en-US" b="1" dirty="0"/>
                  <a:t>utility function,</a:t>
                </a:r>
                <a:r>
                  <a:rPr lang="en-US" dirty="0"/>
                  <a:t> </a:t>
                </a:r>
                <a:r>
                  <a:rPr lang="en-US" i="1" dirty="0"/>
                  <a:t>u</a:t>
                </a:r>
                <a:r>
                  <a:rPr lang="en-US" dirty="0"/>
                  <a:t> that maps a set of customers, </a:t>
                </a:r>
                <a:r>
                  <a:rPr lang="en-US" i="1" dirty="0"/>
                  <a:t>X,</a:t>
                </a:r>
                <a:r>
                  <a:rPr lang="en-US" dirty="0"/>
                  <a:t> and items, </a:t>
                </a:r>
                <a:r>
                  <a:rPr lang="en-US" i="1" dirty="0"/>
                  <a:t>S,</a:t>
                </a:r>
                <a:r>
                  <a:rPr lang="en-US" dirty="0"/>
                  <a:t> to </a:t>
                </a:r>
                <a:r>
                  <a:rPr lang="en-US" b="1" dirty="0"/>
                  <a:t>implied ratings</a:t>
                </a:r>
                <a:r>
                  <a:rPr lang="en-US" dirty="0"/>
                  <a:t>, </a:t>
                </a:r>
                <a:r>
                  <a:rPr lang="en-US" i="1" dirty="0"/>
                  <a:t>R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Specific algorithms are versions of this general model</a:t>
                </a:r>
              </a:p>
              <a:p>
                <a:pPr lvl="1"/>
                <a:r>
                  <a:rPr lang="en-US" dirty="0"/>
                  <a:t>For example, utility can be measured as similarity between items or users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75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A </a:t>
            </a:r>
            <a:r>
              <a:rPr lang="en-US" b="1" dirty="0"/>
              <a:t>utility matrix</a:t>
            </a:r>
          </a:p>
          <a:p>
            <a:pPr lvl="1"/>
            <a:r>
              <a:rPr lang="en-US" dirty="0"/>
              <a:t>Users in the rows, item ratings or purchases in the columns</a:t>
            </a:r>
          </a:p>
          <a:p>
            <a:pPr lvl="1"/>
            <a:r>
              <a:rPr lang="en-US" dirty="0"/>
              <a:t>Or the transpose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We can create a similar data structure using feature or user embeddings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9B68930-3698-415F-BC4A-0C5DBC02B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16552"/>
              </p:ext>
            </p:extLst>
          </p:nvPr>
        </p:nvGraphicFramePr>
        <p:xfrm>
          <a:off x="397511" y="2619555"/>
          <a:ext cx="11479635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55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53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most users have watched only a few movies</a:t>
            </a:r>
          </a:p>
          <a:p>
            <a:r>
              <a:rPr lang="en-US" dirty="0"/>
              <a:t>There is only </a:t>
            </a:r>
            <a:r>
              <a:rPr lang="en-US" b="1" dirty="0"/>
              <a:t>limited similarity information </a:t>
            </a:r>
            <a:r>
              <a:rPr lang="en-US" dirty="0"/>
              <a:t>between users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8F591F4-B430-492C-8513-7A10E7FF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00886"/>
              </p:ext>
            </p:extLst>
          </p:nvPr>
        </p:nvGraphicFramePr>
        <p:xfrm>
          <a:off x="293429" y="1593668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03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sparsity pattern&#10;&#10;AI-generated content may be incorrect.">
            <a:extLst>
              <a:ext uri="{FF2B5EF4-FFF2-40B4-BE49-F238E27FC236}">
                <a16:creationId xmlns:a16="http://schemas.microsoft.com/office/drawing/2014/main" id="{075348DF-DB34-B6D0-BC55-F2ED16F1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157" y="1037572"/>
            <a:ext cx="5726191" cy="575307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4FAC2C-1A5D-73A9-CE54-54BB6053C6F1}"/>
              </a:ext>
            </a:extLst>
          </p:cNvPr>
          <p:cNvSpPr txBox="1">
            <a:spLocks/>
          </p:cNvSpPr>
          <p:nvPr/>
        </p:nvSpPr>
        <p:spPr>
          <a:xfrm>
            <a:off x="791774" y="3516640"/>
            <a:ext cx="4808925" cy="19371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 of sparse utility matrix from </a:t>
            </a:r>
            <a:r>
              <a:rPr lang="en-US" dirty="0" err="1"/>
              <a:t>MovieLens</a:t>
            </a:r>
            <a:r>
              <a:rPr lang="en-US" dirty="0"/>
              <a:t> 1M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Figure provided by Humphry Lim.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9EDDE0-1118-3701-48F5-9589C551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53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</p:spTree>
    <p:extLst>
      <p:ext uri="{BB962C8B-B14F-4D97-AF65-F5344CB8AC3E}">
        <p14:creationId xmlns:p14="http://schemas.microsoft.com/office/powerpoint/2010/main" val="3686681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3739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70" y="942878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Do we always have ratings from users? </a:t>
            </a:r>
          </a:p>
          <a:p>
            <a:r>
              <a:rPr lang="en-US" dirty="0"/>
              <a:t>No! Many people will buy, watch, or listen without ever rating </a:t>
            </a:r>
          </a:p>
          <a:p>
            <a:pPr lvl="1"/>
            <a:r>
              <a:rPr lang="en-US" dirty="0"/>
              <a:t>Click-throughs are inherently binary </a:t>
            </a:r>
          </a:p>
          <a:p>
            <a:r>
              <a:rPr lang="en-US" dirty="0"/>
              <a:t>Often, only have binary response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8F591F4-B430-492C-8513-7A10E7FF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48584"/>
              </p:ext>
            </p:extLst>
          </p:nvPr>
        </p:nvGraphicFramePr>
        <p:xfrm>
          <a:off x="356181" y="3252539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61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F91F-C05F-90BD-3056-2ABD6297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8138-D44D-F112-8D4B-A99A22D8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3739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080E8-1093-85BD-0572-01F4AB941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70" y="942878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Do we always have ratings from users? </a:t>
            </a:r>
          </a:p>
          <a:p>
            <a:r>
              <a:rPr lang="en-US" dirty="0"/>
              <a:t>Often, only have binary response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7C3436-96D7-A713-D96F-0E90E3ACD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691672"/>
              </p:ext>
            </p:extLst>
          </p:nvPr>
        </p:nvGraphicFramePr>
        <p:xfrm>
          <a:off x="356181" y="3252539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327186"/>
                <a:ext cx="10515600" cy="5329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integrate binary responses with ordinal ratings? </a:t>
                </a:r>
              </a:p>
              <a:p>
                <a:r>
                  <a:rPr lang="en-US" dirty="0"/>
                  <a:t>Make all responses binary – the general approach </a:t>
                </a:r>
              </a:p>
              <a:p>
                <a:pPr lvl="1"/>
                <a:r>
                  <a:rPr lang="en-US" dirty="0"/>
                  <a:t>Losses information</a:t>
                </a:r>
              </a:p>
              <a:p>
                <a:pPr lvl="1"/>
                <a:r>
                  <a:rPr lang="en-US" dirty="0"/>
                  <a:t>Can code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𝑤𝑎𝑡𝑐ℎ𝑒𝑑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𝑤𝑎𝑡𝑐ℎ𝑒𝑑</m:t>
                        </m:r>
                      </m:e>
                    </m:d>
                  </m:oMath>
                </a14:m>
                <a:r>
                  <a:rPr lang="en-US" dirty="0"/>
                  <a:t> - no need for user rating</a:t>
                </a:r>
              </a:p>
              <a:p>
                <a:r>
                  <a:rPr lang="en-US" b="1" dirty="0"/>
                  <a:t>Interpolate ratings</a:t>
                </a:r>
                <a:r>
                  <a:rPr lang="en-US" dirty="0"/>
                  <a:t> – more difficult to implement </a:t>
                </a:r>
                <a:endParaRPr lang="en-US" b="1" dirty="0"/>
              </a:p>
              <a:p>
                <a:pPr lvl="1"/>
                <a:r>
                  <a:rPr lang="en-US" dirty="0"/>
                  <a:t>Average for user – may have limited or no rating</a:t>
                </a:r>
              </a:p>
              <a:p>
                <a:pPr lvl="1"/>
                <a:r>
                  <a:rPr lang="en-US" dirty="0"/>
                  <a:t>Average for item – usually a bit better</a:t>
                </a:r>
              </a:p>
              <a:p>
                <a:pPr lvl="1"/>
                <a:r>
                  <a:rPr lang="en-US" dirty="0"/>
                  <a:t>A weighted average of average item and user ratings</a:t>
                </a:r>
              </a:p>
              <a:p>
                <a:pPr lvl="1"/>
                <a:r>
                  <a:rPr lang="en-US" dirty="0"/>
                  <a:t>Averages for nearest neighbors</a:t>
                </a:r>
              </a:p>
              <a:p>
                <a:pPr lvl="1"/>
                <a:r>
                  <a:rPr lang="en-US" dirty="0"/>
                  <a:t>Averages from centroid of clusters</a:t>
                </a:r>
              </a:p>
              <a:p>
                <a:r>
                  <a:rPr lang="en-US" dirty="0"/>
                  <a:t>Interpolated ratings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baseline recommendation model</a:t>
                </a:r>
                <a:endParaRPr lang="en-US" dirty="0"/>
              </a:p>
              <a:p>
                <a:r>
                  <a:rPr lang="en-US" dirty="0"/>
                  <a:t>Average rating for users and items, known as </a:t>
                </a:r>
                <a:r>
                  <a:rPr lang="en-US" b="1" dirty="0"/>
                  <a:t>biases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327186"/>
                <a:ext cx="10515600" cy="5329108"/>
              </a:xfrm>
              <a:blipFill>
                <a:blip r:embed="rId2"/>
                <a:stretch>
                  <a:fillRect l="-1159" t="-1945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26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Maria only one person?</a:t>
            </a:r>
          </a:p>
          <a:p>
            <a:r>
              <a:rPr lang="en-US" dirty="0"/>
              <a:t>Maybe not – multiple people share accounts</a:t>
            </a:r>
          </a:p>
          <a:p>
            <a:r>
              <a:rPr lang="en-US" dirty="0"/>
              <a:t>Perhaps the Maria account represents several people in a household?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9B68930-3698-415F-BC4A-0C5DBC02B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56750"/>
              </p:ext>
            </p:extLst>
          </p:nvPr>
        </p:nvGraphicFramePr>
        <p:xfrm>
          <a:off x="356182" y="2950186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30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5758703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Graph representation of utility matrix </a:t>
            </a:r>
          </a:p>
          <a:p>
            <a:r>
              <a:rPr lang="en-US" dirty="0"/>
              <a:t>One type of node represents users  </a:t>
            </a:r>
          </a:p>
          <a:p>
            <a:r>
              <a:rPr lang="en-US" dirty="0"/>
              <a:t>One type of node represents items</a:t>
            </a:r>
          </a:p>
          <a:p>
            <a:r>
              <a:rPr lang="en-US" dirty="0"/>
              <a:t>Weighted edges associate users and items – e.g. item ratings or similarity</a:t>
            </a:r>
          </a:p>
          <a:p>
            <a:r>
              <a:rPr lang="en-US" dirty="0"/>
              <a:t>Is a bipartite graph   </a:t>
            </a:r>
          </a:p>
          <a:p>
            <a:r>
              <a:rPr lang="en-US" dirty="0"/>
              <a:t>Graph representation is inherently sparse    </a:t>
            </a:r>
          </a:p>
          <a:p>
            <a:r>
              <a:rPr lang="en-US" dirty="0"/>
              <a:t>Many state of the art recommender algorithms are graph-based 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B003ABD-3B39-AA0F-C112-9FF29515597C}"/>
                  </a:ext>
                </a:extLst>
              </p:cNvPr>
              <p:cNvSpPr/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B003ABD-3B39-AA0F-C112-9FF2951559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D2F272-2434-64FF-D92F-AB91DB06A68C}"/>
                  </a:ext>
                </a:extLst>
              </p:cNvPr>
              <p:cNvSpPr/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D2F272-2434-64FF-D92F-AB91DB06A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5C57D4C-A77C-6F58-3A21-A537D6712A65}"/>
                  </a:ext>
                </a:extLst>
              </p:cNvPr>
              <p:cNvSpPr/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5C57D4C-A77C-6F58-3A21-A537D6712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6A96DA-B62A-E446-81C8-55FF1C571022}"/>
                  </a:ext>
                </a:extLst>
              </p:cNvPr>
              <p:cNvSpPr/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6A96DA-B62A-E446-81C8-55FF1C5710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A3F876B-B76B-CD0C-769A-B3BB6746FE10}"/>
              </a:ext>
            </a:extLst>
          </p:cNvPr>
          <p:cNvSpPr txBox="1"/>
          <p:nvPr/>
        </p:nvSpPr>
        <p:spPr>
          <a:xfrm rot="5400000">
            <a:off x="7346092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29F326-74FF-9E08-FFB0-9F135AAB8E47}"/>
                  </a:ext>
                </a:extLst>
              </p:cNvPr>
              <p:cNvSpPr/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29F326-74FF-9E08-FFB0-9F135AAB8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9DC023-0357-C181-F7B3-A8E7123A814F}"/>
                  </a:ext>
                </a:extLst>
              </p:cNvPr>
              <p:cNvSpPr/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9DC023-0357-C181-F7B3-A8E7123A81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F2A8B9-F539-A03B-7AC8-4CE9350D0FD8}"/>
                  </a:ext>
                </a:extLst>
              </p:cNvPr>
              <p:cNvSpPr/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F2A8B9-F539-A03B-7AC8-4CE9350D0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B79B89C-9AAF-6E43-E435-5C3C2230EC56}"/>
                  </a:ext>
                </a:extLst>
              </p:cNvPr>
              <p:cNvSpPr/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B79B89C-9AAF-6E43-E435-5C3C2230E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AE2823C-C436-6FB8-716C-C896D7BAA916}"/>
              </a:ext>
            </a:extLst>
          </p:cNvPr>
          <p:cNvSpPr txBox="1"/>
          <p:nvPr/>
        </p:nvSpPr>
        <p:spPr>
          <a:xfrm rot="5400000">
            <a:off x="10365260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F45984-64B8-EB5D-2C3C-391EC67CFC9D}"/>
              </a:ext>
            </a:extLst>
          </p:cNvPr>
          <p:cNvCxnSpPr>
            <a:stCxn id="4" idx="6"/>
            <a:endCxn id="12" idx="2"/>
          </p:cNvCxnSpPr>
          <p:nvPr/>
        </p:nvCxnSpPr>
        <p:spPr>
          <a:xfrm>
            <a:off x="7840362" y="1591481"/>
            <a:ext cx="2376617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425FE6-956D-6931-5C10-7B2505CB391A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7840362" y="1591481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069878-B52E-E175-FB7F-52E1C831DB41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0E1441-9112-257A-4262-325000DDC891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7821827" y="3423199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E11619-8A8C-8642-4354-317880D93784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F71378-C3CD-A26D-2CFA-89E54093D098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7821827" y="2507340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D569EB-366F-D041-514B-BC17E280D717}"/>
              </a:ext>
            </a:extLst>
          </p:cNvPr>
          <p:cNvCxnSpPr>
            <a:cxnSpLocks/>
          </p:cNvCxnSpPr>
          <p:nvPr/>
        </p:nvCxnSpPr>
        <p:spPr>
          <a:xfrm flipV="1">
            <a:off x="7821827" y="1591481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5A1BE4-D71B-127B-172E-3C5AAC3D54E7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7840362" y="2507340"/>
            <a:ext cx="237661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4C8FCB-2F07-D335-2F2C-F79CB6F3D6CC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7821827" y="2507340"/>
            <a:ext cx="241368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51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AC0D-3966-B202-2413-9A25A8A0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004F-AA36-BDDA-62B0-F452625D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34A9B-90FE-E650-1142-B65665D98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327186"/>
                <a:ext cx="5758703" cy="5329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Graph representation of utility matrix </a:t>
                </a:r>
              </a:p>
              <a:p>
                <a:r>
                  <a:rPr lang="en-US" dirty="0"/>
                  <a:t>One type of node represents users  </a:t>
                </a:r>
              </a:p>
              <a:p>
                <a:r>
                  <a:rPr lang="en-US" dirty="0"/>
                  <a:t>One type of node represents items</a:t>
                </a:r>
              </a:p>
              <a:p>
                <a:r>
                  <a:rPr lang="en-US" dirty="0"/>
                  <a:t>Bipartite graph is ideal for a sparse representation as K,V pairs </a:t>
                </a:r>
              </a:p>
              <a:p>
                <a:pPr lvl="1"/>
                <a:r>
                  <a:rPr lang="en-US" dirty="0"/>
                  <a:t>Keys are user, item tuple,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Values are ratings, </a:t>
                </a:r>
                <a:r>
                  <a:rPr lang="en-US" i="1" dirty="0"/>
                  <a:t>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Graph representation maps well to graph database 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34A9B-90FE-E650-1142-B65665D98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327186"/>
                <a:ext cx="5758703" cy="5329108"/>
              </a:xfrm>
              <a:blipFill>
                <a:blip r:embed="rId2"/>
                <a:stretch>
                  <a:fillRect l="-2116" t="-1945" r="-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588306F-922A-4B45-5540-77C4EC176419}"/>
                  </a:ext>
                </a:extLst>
              </p:cNvPr>
              <p:cNvSpPr/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588306F-922A-4B45-5540-77C4EC176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78CE89-84C7-18B9-64B7-72EB5B1EF4EE}"/>
                  </a:ext>
                </a:extLst>
              </p:cNvPr>
              <p:cNvSpPr/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78CE89-84C7-18B9-64B7-72EB5B1EF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EFC37F-E61A-901F-D4E2-94405BC8AB1B}"/>
                  </a:ext>
                </a:extLst>
              </p:cNvPr>
              <p:cNvSpPr/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EFC37F-E61A-901F-D4E2-94405BC8AB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C8A6725-B12D-797A-8928-80E4872C5A8E}"/>
                  </a:ext>
                </a:extLst>
              </p:cNvPr>
              <p:cNvSpPr/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C8A6725-B12D-797A-8928-80E4872C5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2A7AF5E-74CF-DFBF-B666-43FD1DF2E298}"/>
              </a:ext>
            </a:extLst>
          </p:cNvPr>
          <p:cNvSpPr txBox="1"/>
          <p:nvPr/>
        </p:nvSpPr>
        <p:spPr>
          <a:xfrm rot="5400000">
            <a:off x="7346092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8DF9D6D-92F4-F1DD-BA65-A475871304EB}"/>
                  </a:ext>
                </a:extLst>
              </p:cNvPr>
              <p:cNvSpPr/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8DF9D6D-92F4-F1DD-BA65-A475871304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53A9255-4BE0-D48C-2430-0B3005A5B016}"/>
                  </a:ext>
                </a:extLst>
              </p:cNvPr>
              <p:cNvSpPr/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53A9255-4BE0-D48C-2430-0B3005A5B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F39CB7-485E-2567-F88A-F9B1BF9C0ED8}"/>
                  </a:ext>
                </a:extLst>
              </p:cNvPr>
              <p:cNvSpPr/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F39CB7-485E-2567-F88A-F9B1BF9C0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3320B4-D5DE-246C-17EA-46B9A142F638}"/>
                  </a:ext>
                </a:extLst>
              </p:cNvPr>
              <p:cNvSpPr/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3320B4-D5DE-246C-17EA-46B9A142F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4727E81-AAA6-4FBB-EBD7-D2ADA216B7CD}"/>
              </a:ext>
            </a:extLst>
          </p:cNvPr>
          <p:cNvSpPr txBox="1"/>
          <p:nvPr/>
        </p:nvSpPr>
        <p:spPr>
          <a:xfrm rot="5400000">
            <a:off x="10365260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E8260-6400-50B3-45FE-3A6483F8F013}"/>
              </a:ext>
            </a:extLst>
          </p:cNvPr>
          <p:cNvCxnSpPr>
            <a:stCxn id="4" idx="6"/>
            <a:endCxn id="12" idx="2"/>
          </p:cNvCxnSpPr>
          <p:nvPr/>
        </p:nvCxnSpPr>
        <p:spPr>
          <a:xfrm>
            <a:off x="7840362" y="1591481"/>
            <a:ext cx="2376617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3D6CD4-7D0C-ABAF-E6B2-14428CE5BC5D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7840362" y="1591481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4630F5-8DA7-F8CC-BC3E-D2A83C1A83DA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73434E-B084-42B3-D478-5B7D75FD983F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7821827" y="3423199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99BCA1-D912-B7DC-60AB-0496DEA1DC58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78AFA6-8CB1-0E5A-6CA4-521639950A5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7821827" y="2507340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AC13BC-BFC2-411E-1039-A6FE6A6CA1DB}"/>
              </a:ext>
            </a:extLst>
          </p:cNvPr>
          <p:cNvCxnSpPr>
            <a:cxnSpLocks/>
          </p:cNvCxnSpPr>
          <p:nvPr/>
        </p:nvCxnSpPr>
        <p:spPr>
          <a:xfrm flipV="1">
            <a:off x="7821827" y="1591481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4250A5-82A7-93F7-9901-7D4F3D98EC03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7840362" y="2507340"/>
            <a:ext cx="237661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A15F273-E5EB-AC51-EEBB-DA5616E67631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7821827" y="2507340"/>
            <a:ext cx="241368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13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Extending the Representation   </a:t>
            </a:r>
          </a:p>
        </p:txBody>
      </p:sp>
    </p:spTree>
    <p:extLst>
      <p:ext uri="{BB962C8B-B14F-4D97-AF65-F5344CB8AC3E}">
        <p14:creationId xmlns:p14="http://schemas.microsoft.com/office/powerpoint/2010/main" val="509705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F39E-83F4-6C50-E38A-540C6C55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721A7F-7E5F-03D8-D098-B40B54F25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BE9117-A581-BA79-9009-D26E9199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F476-0E6B-15F0-ADD6-9E84C3E1B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Context-aware recommender for improved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33FA7-FEB5-1931-1C13-360449925262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59A327-FEE9-CF0F-DCDB-1C4E6913501B}"/>
              </a:ext>
            </a:extLst>
          </p:cNvPr>
          <p:cNvSpPr/>
          <p:nvPr/>
        </p:nvSpPr>
        <p:spPr>
          <a:xfrm rot="2668442">
            <a:off x="5075573" y="2035017"/>
            <a:ext cx="1521249" cy="2626577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97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BF73-1211-489B-3BAF-CFE4A1DE7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30AF-89D5-548A-5642-9CCB0232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70504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the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342A-248C-AF41-1752-5A0BCE453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add </a:t>
            </a:r>
            <a:r>
              <a:rPr lang="en-US" b="1" dirty="0"/>
              <a:t>context</a:t>
            </a:r>
            <a:r>
              <a:rPr lang="en-US" dirty="0"/>
              <a:t> to the representation to improve </a:t>
            </a:r>
            <a:r>
              <a:rPr lang="en-US" b="1" dirty="0"/>
              <a:t>personalization</a:t>
            </a:r>
            <a:r>
              <a:rPr lang="en-US" dirty="0"/>
              <a:t>? </a:t>
            </a:r>
          </a:p>
          <a:p>
            <a:r>
              <a:rPr lang="en-US" dirty="0"/>
              <a:t>Extend the utility matrix  </a:t>
            </a:r>
          </a:p>
          <a:p>
            <a:r>
              <a:rPr lang="en-US" dirty="0"/>
              <a:t>Add </a:t>
            </a:r>
            <a:r>
              <a:rPr lang="en-US" b="1" dirty="0"/>
              <a:t>context</a:t>
            </a:r>
            <a:r>
              <a:rPr lang="en-US" dirty="0"/>
              <a:t> dimensions to utility matrix     </a:t>
            </a:r>
          </a:p>
          <a:p>
            <a:r>
              <a:rPr lang="en-US" dirty="0"/>
              <a:t>Example: for each rating or interaction</a:t>
            </a:r>
          </a:p>
          <a:p>
            <a:pPr lvl="1"/>
            <a:r>
              <a:rPr lang="en-US" dirty="0"/>
              <a:t>Time of day  </a:t>
            </a:r>
          </a:p>
          <a:p>
            <a:pPr lvl="1"/>
            <a:r>
              <a:rPr lang="en-US" dirty="0"/>
              <a:t>Location </a:t>
            </a:r>
          </a:p>
          <a:p>
            <a:pPr lvl="1"/>
            <a:r>
              <a:rPr lang="en-US" dirty="0"/>
              <a:t>Pages visited   </a:t>
            </a:r>
          </a:p>
          <a:p>
            <a:pPr lvl="1"/>
            <a:r>
              <a:rPr lang="en-US" dirty="0"/>
              <a:t>Reliability metrics </a:t>
            </a:r>
          </a:p>
          <a:p>
            <a:pPr lvl="1"/>
            <a:r>
              <a:rPr lang="en-US" dirty="0"/>
              <a:t>Etc.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17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0680-F595-91CC-81EC-F6CAB6B4D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F43F-D2AB-2DF2-60EC-ADCD2FC1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70504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the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616E-B77A-E0D2-58BD-307CBC50C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add context to the representation? </a:t>
            </a:r>
          </a:p>
          <a:p>
            <a:r>
              <a:rPr lang="en-US" dirty="0"/>
              <a:t>Context representation is difficult</a:t>
            </a:r>
          </a:p>
          <a:p>
            <a:r>
              <a:rPr lang="en-US" b="1" dirty="0"/>
              <a:t>High dimensional: </a:t>
            </a:r>
            <a:r>
              <a:rPr lang="en-US" dirty="0"/>
              <a:t>many possible contexts  </a:t>
            </a:r>
          </a:p>
          <a:p>
            <a:r>
              <a:rPr lang="en-US" b="1" dirty="0"/>
              <a:t>Sparse:</a:t>
            </a:r>
            <a:r>
              <a:rPr lang="en-US" dirty="0"/>
              <a:t> only limited context for specific situation    </a:t>
            </a:r>
          </a:p>
          <a:p>
            <a:r>
              <a:rPr lang="en-US" b="1" dirty="0"/>
              <a:t>Cold start problem </a:t>
            </a:r>
          </a:p>
          <a:p>
            <a:pPr lvl="1"/>
            <a:r>
              <a:rPr lang="en-US" dirty="0"/>
              <a:t>Few contexts encountered per user</a:t>
            </a:r>
          </a:p>
          <a:p>
            <a:pPr lvl="1"/>
            <a:r>
              <a:rPr lang="en-US" dirty="0"/>
              <a:t>No context for new user   </a:t>
            </a:r>
          </a:p>
          <a:p>
            <a:r>
              <a:rPr lang="en-US" dirty="0"/>
              <a:t>Need to embed sparse high dimensional vector space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4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A3EE-5121-F49B-EB93-002B00E2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5B3D-F461-77B3-C309-43A3D21B6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the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643A8-B223-7FBE-4E66-3D87EBE2D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127"/>
            <a:ext cx="10515600" cy="919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extending the utility matrix to include context and content information embeddings 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3D9FE2A-5AA9-5F57-0673-5B79D2F9E68B}"/>
              </a:ext>
            </a:extLst>
          </p:cNvPr>
          <p:cNvGrpSpPr/>
          <p:nvPr/>
        </p:nvGrpSpPr>
        <p:grpSpPr>
          <a:xfrm>
            <a:off x="1978007" y="3553977"/>
            <a:ext cx="7337837" cy="613171"/>
            <a:chOff x="955729" y="4806070"/>
            <a:chExt cx="7337837" cy="61317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5EBDDA-8FCA-2AB9-A0ED-D13CACCA65C6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698CF8A-811B-74EE-4944-F6C5E92F7210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F9194E-6AD9-3718-4041-12F24FFD51ED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2F7C6B-8299-B2AE-9EEC-A68528298093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07A581-3610-D8CB-14D4-CEA386DBF6E0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F15B3CA-7C6C-9DCB-2AC1-3F0DFD583F80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CEDBFAB-3FC9-9F6E-0AA0-8B2E596F4E43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CA0B4F-99ED-6468-4EA9-9C17E11AF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19BEF7-8C8E-55C8-F0AA-9780040928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4832DA5-912A-1790-75C6-4567BCF9296A}"/>
              </a:ext>
            </a:extLst>
          </p:cNvPr>
          <p:cNvGrpSpPr/>
          <p:nvPr/>
        </p:nvGrpSpPr>
        <p:grpSpPr>
          <a:xfrm>
            <a:off x="1978007" y="4039686"/>
            <a:ext cx="7337837" cy="602744"/>
            <a:chOff x="3854193" y="5952382"/>
            <a:chExt cx="7337837" cy="60274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C484D57-3609-50AF-0FAF-27F49803B5A7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78205E-D37D-FEAA-C435-D052D712D964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9BD601A-7B14-65AE-3105-30CAAF7DE819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B927942-42F3-124F-06DA-35F40BA031C5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549F8AF-9D9F-3943-A668-8E0FDAEF5E72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2FD7B82-5212-43A9-0542-0C99428A199E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3D04A66-A8F5-78C4-EEBE-CF74898B9F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482A76-AFD8-ECE7-C98F-F78BB0A73FB7}"/>
              </a:ext>
            </a:extLst>
          </p:cNvPr>
          <p:cNvGrpSpPr/>
          <p:nvPr/>
        </p:nvGrpSpPr>
        <p:grpSpPr>
          <a:xfrm>
            <a:off x="1978007" y="4514968"/>
            <a:ext cx="7337837" cy="602744"/>
            <a:chOff x="3854193" y="5952382"/>
            <a:chExt cx="7337837" cy="60274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4E557EF-0179-544C-AAED-26C31F61EE21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944A95-3CE7-2924-818E-153C5222667E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A800AA4-849D-31BD-6305-612947BBC7C1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5A4B088-B1F6-86E3-9EB1-E11E69483728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5F6EAF-3F76-A190-1649-339ABE4B4231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8DFFD05-8575-0B4F-1739-E7231556416E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95A4BC7-8FFD-6536-8A5A-B1FFBF950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2FE1531-BD8B-237D-FF92-E50CBA487BD7}"/>
              </a:ext>
            </a:extLst>
          </p:cNvPr>
          <p:cNvGrpSpPr/>
          <p:nvPr/>
        </p:nvGrpSpPr>
        <p:grpSpPr>
          <a:xfrm>
            <a:off x="1978007" y="6091615"/>
            <a:ext cx="7337837" cy="602744"/>
            <a:chOff x="3854193" y="5952382"/>
            <a:chExt cx="7337837" cy="60274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99382C5-F182-9F31-A547-F7C3387D2F1E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9DD9D97-E45F-52B4-D0D3-31E5978959DF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8CCA8CF-5601-53CB-7BCD-274FF96E0BF8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A42ACD2-EE8B-17B9-FA1E-44028CD86AD2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4DB8E00-6B00-41B0-50A6-262D36E9885C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3C30AF1-13E5-8E9A-4819-18F1985668A0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006B33B-35DD-CA67-10AA-930B397A4D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BFFB105-DEF6-15A5-F426-E21127BF6D9D}"/>
              </a:ext>
            </a:extLst>
          </p:cNvPr>
          <p:cNvGrpSpPr/>
          <p:nvPr/>
        </p:nvGrpSpPr>
        <p:grpSpPr>
          <a:xfrm>
            <a:off x="1978007" y="5592994"/>
            <a:ext cx="7337837" cy="613171"/>
            <a:chOff x="955729" y="4806070"/>
            <a:chExt cx="7337837" cy="61317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0EB49CD-6865-2C1C-3CFF-88FBFF4EB6BC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0E7C626-D19C-6A34-4535-0C49E18B165A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70EDEEA-A01E-0AF4-3ACA-4B7C8851A466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A913CD8-97B2-32BB-47E3-2466294D7DC0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CF4CEE1-152B-8426-8451-023986356016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379CA50-2B02-906D-337A-449741118B24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576E3C0-8E73-B251-D5BE-A719E7A12620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D2EBB61-7AD9-4F8F-F652-AAFDF7DAF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9D97901-F730-F195-6197-D25E0A900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1F3ED4C-21AD-31A2-5F7F-3AEADAFDC91D}"/>
              </a:ext>
            </a:extLst>
          </p:cNvPr>
          <p:cNvGrpSpPr/>
          <p:nvPr/>
        </p:nvGrpSpPr>
        <p:grpSpPr>
          <a:xfrm>
            <a:off x="2199726" y="3407918"/>
            <a:ext cx="7337837" cy="613171"/>
            <a:chOff x="2364328" y="2420540"/>
            <a:chExt cx="7337837" cy="613171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A4601F6-758A-C396-4D4C-1BF5DD67E3FF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8EF6244-F826-D5AD-B253-067CF54C641A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BE2BCDA-7F10-922F-A1CD-E72259CBA2A4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2AB1E82-6065-60DD-4BA4-34B915892D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401706E-4B39-6B29-3782-4F4E1C7CBD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089F964-6791-950C-828E-A98CE45DA98F}"/>
              </a:ext>
            </a:extLst>
          </p:cNvPr>
          <p:cNvGrpSpPr/>
          <p:nvPr/>
        </p:nvGrpSpPr>
        <p:grpSpPr>
          <a:xfrm>
            <a:off x="9337730" y="3898745"/>
            <a:ext cx="235762" cy="602744"/>
            <a:chOff x="11454704" y="1823048"/>
            <a:chExt cx="235762" cy="602744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BC83EFA-F0E1-E897-F5AB-55353E6AD1FE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9F12F14-EB86-A4BC-F68E-BDCCD0666A93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E911561-8054-5433-FAB1-329FB25881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AB1427D-D8F8-400F-7B7A-150395265ADB}"/>
              </a:ext>
            </a:extLst>
          </p:cNvPr>
          <p:cNvGrpSpPr/>
          <p:nvPr/>
        </p:nvGrpSpPr>
        <p:grpSpPr>
          <a:xfrm>
            <a:off x="2435488" y="3277686"/>
            <a:ext cx="7337837" cy="613171"/>
            <a:chOff x="2364328" y="2420540"/>
            <a:chExt cx="7337837" cy="613171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956AD67-6B1D-1A97-43A5-165EDEA7A435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73E39F9-D1DF-21DD-476F-244028CD495B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421FBBA-CA3A-5A3A-E80F-E9FBB9C5224E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B94E422-854A-5969-46C3-1FED7EFEA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6C1605F-60C3-9926-D5CA-BDE2116838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A812599-88F0-1A16-33A0-9E9B7F4B833C}"/>
              </a:ext>
            </a:extLst>
          </p:cNvPr>
          <p:cNvGrpSpPr/>
          <p:nvPr/>
        </p:nvGrpSpPr>
        <p:grpSpPr>
          <a:xfrm>
            <a:off x="2640348" y="3152994"/>
            <a:ext cx="7337837" cy="613171"/>
            <a:chOff x="2364328" y="2420540"/>
            <a:chExt cx="7337837" cy="613171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1B329EA-586C-DB25-C70B-43628BBAE8E7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5EFAB8A-78FC-95AF-1BB4-B4CEEB5A5011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BA16489-6672-DE2E-67F7-185ABDD59434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F8FE346-D09F-4A2A-C006-37CDE014B1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437EBCA-483B-FDAE-12D0-C03CD43B7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800DFC6-D2E4-7A18-FBE6-824649BA8096}"/>
              </a:ext>
            </a:extLst>
          </p:cNvPr>
          <p:cNvGrpSpPr/>
          <p:nvPr/>
        </p:nvGrpSpPr>
        <p:grpSpPr>
          <a:xfrm>
            <a:off x="3374545" y="2109534"/>
            <a:ext cx="7337837" cy="613171"/>
            <a:chOff x="2364328" y="2420540"/>
            <a:chExt cx="7337837" cy="613171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091CB63-5711-0F55-4AB5-A907F3B5616F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40E3C10-FDDE-89B1-A0D1-D0DE4597A931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94F287F-1D68-0590-7156-A48E7A79CB7C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9E3FDC-D13E-718B-A56A-B33D63632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C5DC87D-E693-045C-9EBA-DE67C5CFEF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C27443-0831-5FF3-6DFC-C2D0E0EB93CD}"/>
              </a:ext>
            </a:extLst>
          </p:cNvPr>
          <p:cNvGrpSpPr/>
          <p:nvPr/>
        </p:nvGrpSpPr>
        <p:grpSpPr>
          <a:xfrm>
            <a:off x="3174835" y="2221708"/>
            <a:ext cx="7337837" cy="613171"/>
            <a:chOff x="955729" y="4806070"/>
            <a:chExt cx="7337837" cy="61317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9ECB29B-B43E-3A8D-BABB-C582CCBB1442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E7A87E4-503A-2688-E4E5-EDB7D9F239E4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B6B05B9-A602-BB3E-BB1E-79278BAD2AE9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EEA1062-16B7-378B-B8F8-31B8E15EB885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A71756A-7DE7-0424-1C26-C5E2A7003520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C345156-49C2-0EBD-88A6-AFFEA6F5049C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D9DB6B1-487F-C892-BFAC-5D3268AF028A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6D800BF-3A31-3E85-7F2D-071088052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6DD2028-7699-1D79-4000-155B3F5C9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DC98DD3-837F-7C21-6D19-7037B206828E}"/>
              </a:ext>
            </a:extLst>
          </p:cNvPr>
          <p:cNvGrpSpPr/>
          <p:nvPr/>
        </p:nvGrpSpPr>
        <p:grpSpPr>
          <a:xfrm>
            <a:off x="9346043" y="4378112"/>
            <a:ext cx="235762" cy="602744"/>
            <a:chOff x="11454704" y="1823048"/>
            <a:chExt cx="235762" cy="602744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10D782B-1BDD-A3E5-3C05-CDC29F09CB31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745681CD-2342-B899-7675-156FF4E8FC6F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B41FD34E-BAB0-C8E4-D1F4-1DE2A5C6E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75773D2-FA80-5F33-AAFE-EA6B984EFF8C}"/>
              </a:ext>
            </a:extLst>
          </p:cNvPr>
          <p:cNvGrpSpPr/>
          <p:nvPr/>
        </p:nvGrpSpPr>
        <p:grpSpPr>
          <a:xfrm>
            <a:off x="9337730" y="5943676"/>
            <a:ext cx="235762" cy="602744"/>
            <a:chOff x="11454704" y="1823048"/>
            <a:chExt cx="235762" cy="602744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BA0C36F-43BC-793F-E55D-E469FAEDFB2C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22EA3F5-AC70-7DDB-FC4F-C3308C835B37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D1FE771-4BCE-CA25-F4A2-1B3A6C4D5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CFFCBEC-65C4-5A90-6A96-987944CEA204}"/>
              </a:ext>
            </a:extLst>
          </p:cNvPr>
          <p:cNvGrpSpPr/>
          <p:nvPr/>
        </p:nvGrpSpPr>
        <p:grpSpPr>
          <a:xfrm>
            <a:off x="9589883" y="3729719"/>
            <a:ext cx="235762" cy="602744"/>
            <a:chOff x="11454704" y="1823048"/>
            <a:chExt cx="235762" cy="602744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012F619-B9DC-A72C-A790-2A744818F8DC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38135FC-B10B-9F36-850D-31A3ECD1F247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A3589711-234D-C491-8E59-ED306C085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A0F36BC-7CF5-A5A1-8293-59765F269FA0}"/>
              </a:ext>
            </a:extLst>
          </p:cNvPr>
          <p:cNvGrpSpPr/>
          <p:nvPr/>
        </p:nvGrpSpPr>
        <p:grpSpPr>
          <a:xfrm>
            <a:off x="9598196" y="4209086"/>
            <a:ext cx="235762" cy="602744"/>
            <a:chOff x="11454704" y="1823048"/>
            <a:chExt cx="235762" cy="602744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D5B5B29-16C3-53F1-48CA-B6CE2AAC9D82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ECEA059-61DE-8147-2CE2-2BACF5E20377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8251B54-8C9E-F2EF-5BFB-4A4E3F9FE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394F881-ED24-BD1F-43E9-473F11A6EC0E}"/>
              </a:ext>
            </a:extLst>
          </p:cNvPr>
          <p:cNvGrpSpPr/>
          <p:nvPr/>
        </p:nvGrpSpPr>
        <p:grpSpPr>
          <a:xfrm>
            <a:off x="9792159" y="3593944"/>
            <a:ext cx="235762" cy="602744"/>
            <a:chOff x="11454704" y="1823048"/>
            <a:chExt cx="235762" cy="602744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A7F9DE4-0458-ADD7-1F7B-31BC1AD8D60D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F611D24-20A0-6A00-4662-2EF07B6C3F32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9FBCC4C-9022-4506-F49C-196639CAA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FCFE537-2F34-BDB4-19E8-D97F21DE5269}"/>
              </a:ext>
            </a:extLst>
          </p:cNvPr>
          <p:cNvGrpSpPr/>
          <p:nvPr/>
        </p:nvGrpSpPr>
        <p:grpSpPr>
          <a:xfrm>
            <a:off x="9800472" y="4073311"/>
            <a:ext cx="235762" cy="602744"/>
            <a:chOff x="11454704" y="1823048"/>
            <a:chExt cx="235762" cy="602744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3D1B448-D3BD-B11D-DCDA-BFEE762D3F9D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6C35C3E-FBE1-A4E6-595B-BC4A1D95E82F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AAAB3A3-F093-2EE0-6A10-5975494E1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033A836-DD28-CFF9-EE8C-61A3C0CB3157}"/>
              </a:ext>
            </a:extLst>
          </p:cNvPr>
          <p:cNvGrpSpPr/>
          <p:nvPr/>
        </p:nvGrpSpPr>
        <p:grpSpPr>
          <a:xfrm>
            <a:off x="2196955" y="5467523"/>
            <a:ext cx="7337837" cy="613171"/>
            <a:chOff x="2364328" y="2420540"/>
            <a:chExt cx="7337837" cy="61317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2E84F8A-C085-5B24-30AE-FE57C03D827A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29BCF28-1DA0-4FE3-00BA-0909191CE85B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EFEAAAEA-46DE-F83E-888E-DE3C3BC9F35E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0438D77-0814-50AB-0DD4-CE31243D33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079B8D4-1D51-5F5B-41F4-7DE441127A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CA4C750-B428-6171-9C51-B916763B8A85}"/>
              </a:ext>
            </a:extLst>
          </p:cNvPr>
          <p:cNvGrpSpPr/>
          <p:nvPr/>
        </p:nvGrpSpPr>
        <p:grpSpPr>
          <a:xfrm>
            <a:off x="1412020" y="3718560"/>
            <a:ext cx="523220" cy="2953789"/>
            <a:chOff x="1107220" y="3746269"/>
            <a:chExt cx="523220" cy="2953789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F6BBCD34-A961-B919-8C3C-3F69A6981AF6}"/>
                </a:ext>
              </a:extLst>
            </p:cNvPr>
            <p:cNvCxnSpPr>
              <a:cxnSpLocks/>
              <a:stCxn id="173" idx="1"/>
            </p:cNvCxnSpPr>
            <p:nvPr/>
          </p:nvCxnSpPr>
          <p:spPr>
            <a:xfrm>
              <a:off x="1368830" y="5649132"/>
              <a:ext cx="0" cy="10509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A25B04A6-FF02-84D1-AED1-E17568030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830" y="3746269"/>
              <a:ext cx="0" cy="897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880863A5-2038-9A59-369A-2732D391A55C}"/>
                </a:ext>
              </a:extLst>
            </p:cNvPr>
            <p:cNvSpPr txBox="1"/>
            <p:nvPr/>
          </p:nvSpPr>
          <p:spPr>
            <a:xfrm rot="16200000">
              <a:off x="862327" y="4881019"/>
              <a:ext cx="10130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Users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C7926D2-CF0D-F0EB-E7F2-BE604D4D8807}"/>
              </a:ext>
            </a:extLst>
          </p:cNvPr>
          <p:cNvGrpSpPr/>
          <p:nvPr/>
        </p:nvGrpSpPr>
        <p:grpSpPr>
          <a:xfrm rot="2694650">
            <a:off x="2263987" y="1706567"/>
            <a:ext cx="523220" cy="2223162"/>
            <a:chOff x="1107219" y="3746269"/>
            <a:chExt cx="523220" cy="2855369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0A995B3E-EE7A-1AD6-CAE7-4CFB5E00DF0F}"/>
                </a:ext>
              </a:extLst>
            </p:cNvPr>
            <p:cNvCxnSpPr>
              <a:cxnSpLocks/>
              <a:stCxn id="183" idx="1"/>
            </p:cNvCxnSpPr>
            <p:nvPr/>
          </p:nvCxnSpPr>
          <p:spPr>
            <a:xfrm rot="18905350" flipH="1">
              <a:off x="1183428" y="6123898"/>
              <a:ext cx="370803" cy="4777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478F55D4-4A71-272C-0F2D-490470320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830" y="3746269"/>
              <a:ext cx="0" cy="897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6B17DE6-8A5A-43F2-6AC2-861DFD6BFA31}"/>
                </a:ext>
              </a:extLst>
            </p:cNvPr>
            <p:cNvSpPr txBox="1"/>
            <p:nvPr/>
          </p:nvSpPr>
          <p:spPr>
            <a:xfrm rot="16200000">
              <a:off x="706144" y="5101187"/>
              <a:ext cx="1325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Items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67DAC897-4A0F-11F2-045A-314E64354F01}"/>
              </a:ext>
            </a:extLst>
          </p:cNvPr>
          <p:cNvGrpSpPr/>
          <p:nvPr/>
        </p:nvGrpSpPr>
        <p:grpSpPr>
          <a:xfrm>
            <a:off x="3593447" y="1962676"/>
            <a:ext cx="7337837" cy="613171"/>
            <a:chOff x="2364328" y="2420540"/>
            <a:chExt cx="7337837" cy="613171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A407959-F2D9-2983-F733-985227821971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4BB226A-CCCB-131A-B07E-D5F16B8A9606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F8A8595-317E-1176-AB4F-CC28EFE7A01A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8A3974F-2AE7-37C9-0CCC-29DB6891A6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28D0786-B642-A437-E6C9-6677C49426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9953FB3-08F4-A91F-1A7C-3C825D5F867D}"/>
                  </a:ext>
                </a:extLst>
              </p:cNvPr>
              <p:cNvSpPr txBox="1"/>
              <p:nvPr/>
            </p:nvSpPr>
            <p:spPr>
              <a:xfrm rot="16200000">
                <a:off x="4987637" y="50153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51A74814-4C45-3058-AB38-E53CDDCE0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87637" y="5015346"/>
                <a:ext cx="73706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0195DF6-EF25-8319-14DD-6B2ACD29E316}"/>
                  </a:ext>
                </a:extLst>
              </p:cNvPr>
              <p:cNvSpPr txBox="1"/>
              <p:nvPr/>
            </p:nvSpPr>
            <p:spPr>
              <a:xfrm rot="18708453">
                <a:off x="5949143" y="2609247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CFCB084-82D0-FCFA-BC53-6CF154F19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5949143" y="2609247"/>
                <a:ext cx="737061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D5251C76-B1DC-130B-505E-CFA9848F9444}"/>
                  </a:ext>
                </a:extLst>
              </p:cNvPr>
              <p:cNvSpPr txBox="1"/>
              <p:nvPr/>
            </p:nvSpPr>
            <p:spPr>
              <a:xfrm rot="18708453">
                <a:off x="9193877" y="26092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40EF02D-0528-FA40-CB8D-FA8481A60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9193877" y="2609246"/>
                <a:ext cx="737061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A068682E-399C-ED0B-F772-8EEAE9AA43DF}"/>
                  </a:ext>
                </a:extLst>
              </p:cNvPr>
              <p:cNvSpPr txBox="1"/>
              <p:nvPr/>
            </p:nvSpPr>
            <p:spPr>
              <a:xfrm rot="18708453">
                <a:off x="3031376" y="26092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A9B2451-3131-4192-BE2C-347D8DAF9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3031376" y="2609246"/>
                <a:ext cx="737061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B204EABF-67A9-882C-33D1-125135F910E8}"/>
                  </a:ext>
                </a:extLst>
              </p:cNvPr>
              <p:cNvSpPr txBox="1"/>
              <p:nvPr/>
            </p:nvSpPr>
            <p:spPr>
              <a:xfrm rot="16200000">
                <a:off x="8398626" y="4951615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ED8D012-7282-6C42-67CD-2F5BA9F68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98626" y="4951615"/>
                <a:ext cx="737061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27B7364-E587-72C2-CFA7-4D3C2557A3E0}"/>
                  </a:ext>
                </a:extLst>
              </p:cNvPr>
              <p:cNvSpPr txBox="1"/>
              <p:nvPr/>
            </p:nvSpPr>
            <p:spPr>
              <a:xfrm rot="16200000">
                <a:off x="2233353" y="495161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814FE45-EB69-6F11-0B18-1DB2C0789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3353" y="4951616"/>
                <a:ext cx="737061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465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Content Based Recommenders</a:t>
            </a:r>
          </a:p>
        </p:txBody>
      </p:sp>
    </p:spTree>
    <p:extLst>
      <p:ext uri="{BB962C8B-B14F-4D97-AF65-F5344CB8AC3E}">
        <p14:creationId xmlns:p14="http://schemas.microsoft.com/office/powerpoint/2010/main" val="1783482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Based on similarity of item profiles</a:t>
            </a:r>
          </a:p>
          <a:p>
            <a:r>
              <a:rPr lang="en-US" dirty="0"/>
              <a:t>Is an unsupervised </a:t>
            </a:r>
            <a:r>
              <a:rPr lang="en-US" b="1" dirty="0"/>
              <a:t>similarity search</a:t>
            </a:r>
          </a:p>
          <a:p>
            <a:r>
              <a:rPr lang="en-US" dirty="0"/>
              <a:t>Can use most any similarity metric, with default of cosine</a:t>
            </a:r>
          </a:p>
          <a:p>
            <a:r>
              <a:rPr lang="en-US" dirty="0"/>
              <a:t>Goal: Recommend related items to user</a:t>
            </a:r>
          </a:p>
          <a:p>
            <a:r>
              <a:rPr lang="en-US" dirty="0"/>
              <a:t>Example: recommend movie</a:t>
            </a:r>
          </a:p>
          <a:p>
            <a:pPr lvl="1"/>
            <a:r>
              <a:rPr lang="en-US" dirty="0"/>
              <a:t>Find movies with similar actors, director, writers, etc. to user profile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2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3BDD-769C-1268-241F-2A141041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5035-4A54-BED1-A943-87F4460F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2302-F51F-6737-9246-EC892103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Vector nearest neighbor search algorithm for content-based recommender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CD309-8FEB-7658-17EE-E1645D1A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328" y="1687973"/>
            <a:ext cx="10540257" cy="5073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66464-3E74-5A5F-257C-498EAFF933F0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A41D4E-75F4-960E-CCD3-2532D870EC1E}"/>
              </a:ext>
            </a:extLst>
          </p:cNvPr>
          <p:cNvSpPr/>
          <p:nvPr/>
        </p:nvSpPr>
        <p:spPr>
          <a:xfrm rot="2054766">
            <a:off x="7384725" y="3360202"/>
            <a:ext cx="1402223" cy="25767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7AAB44-4335-DC1F-A989-15E868A3EC9F}"/>
              </a:ext>
            </a:extLst>
          </p:cNvPr>
          <p:cNvSpPr/>
          <p:nvPr/>
        </p:nvSpPr>
        <p:spPr>
          <a:xfrm rot="3962343">
            <a:off x="8908817" y="1331038"/>
            <a:ext cx="1402223" cy="4284108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502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49531"/>
            <a:ext cx="10515600" cy="550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Item profiles (characteristics)</a:t>
            </a:r>
          </a:p>
          <a:p>
            <a:pPr lvl="1"/>
            <a:r>
              <a:rPr lang="en-US" dirty="0"/>
              <a:t>Acquired from item descriptions</a:t>
            </a:r>
          </a:p>
          <a:p>
            <a:pPr lvl="1"/>
            <a:r>
              <a:rPr lang="en-US" dirty="0"/>
              <a:t>No item cold-start problem</a:t>
            </a:r>
          </a:p>
          <a:p>
            <a:pPr lvl="1"/>
            <a:r>
              <a:rPr lang="en-US" dirty="0"/>
              <a:t>Feature map from embedding </a:t>
            </a:r>
          </a:p>
          <a:p>
            <a:r>
              <a:rPr lang="en-US" dirty="0">
                <a:hlinkClick r:id="rId2"/>
              </a:rPr>
              <a:t>Amazon uses mini-hashing LSH, Luo, 2022, </a:t>
            </a:r>
            <a:r>
              <a:rPr lang="en-US" dirty="0"/>
              <a:t>for large scale Item similarity search  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14" y="1078072"/>
            <a:ext cx="11263231" cy="523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14 Best People Public Domain images | Silhouette, Image, Human silhouette">
            <a:extLst>
              <a:ext uri="{FF2B5EF4-FFF2-40B4-BE49-F238E27FC236}">
                <a16:creationId xmlns:a16="http://schemas.microsoft.com/office/drawing/2014/main" id="{86277AE8-A377-4213-B6D6-F67F3640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061" y="1872462"/>
            <a:ext cx="1356826" cy="113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13FFBC8-E5F8-451B-AB0F-A33B2A6BD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080" y="4899621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n on Food and drink vectors in public domain">
            <a:extLst>
              <a:ext uri="{FF2B5EF4-FFF2-40B4-BE49-F238E27FC236}">
                <a16:creationId xmlns:a16="http://schemas.microsoft.com/office/drawing/2014/main" id="{D01855B7-C2FB-4733-9688-ACD3779F79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8" t="-2149" r="13691" b="16343"/>
          <a:stretch/>
        </p:blipFill>
        <p:spPr bwMode="auto">
          <a:xfrm>
            <a:off x="7745235" y="4846601"/>
            <a:ext cx="862148" cy="107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ort bottle silhouette fitness equipment Vector Image">
            <a:extLst>
              <a:ext uri="{FF2B5EF4-FFF2-40B4-BE49-F238E27FC236}">
                <a16:creationId xmlns:a16="http://schemas.microsoft.com/office/drawing/2014/main" id="{5AEA7475-4EB4-4ED6-95A6-BE86AA7A7B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8" t="13798" r="23870" b="15715"/>
          <a:stretch/>
        </p:blipFill>
        <p:spPr bwMode="auto">
          <a:xfrm>
            <a:off x="9469531" y="4828011"/>
            <a:ext cx="784956" cy="12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port bottle water solid icon hydro flask Vector Image">
            <a:extLst>
              <a:ext uri="{FF2B5EF4-FFF2-40B4-BE49-F238E27FC236}">
                <a16:creationId xmlns:a16="http://schemas.microsoft.com/office/drawing/2014/main" id="{FA1C0892-BE43-4637-97E2-E1095AC2A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7" t="21250" r="27664" b="23493"/>
          <a:stretch/>
        </p:blipFill>
        <p:spPr bwMode="auto">
          <a:xfrm>
            <a:off x="8607383" y="4708800"/>
            <a:ext cx="1029355" cy="144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B554F33-035B-4E5E-B8BE-C24CCDE0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974" y="1963346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FFA4BE12-1F67-42B1-A3D8-C22C0CFA1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54" y="4938854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Sport bottle silhouette fitness equipment Vector Image">
            <a:extLst>
              <a:ext uri="{FF2B5EF4-FFF2-40B4-BE49-F238E27FC236}">
                <a16:creationId xmlns:a16="http://schemas.microsoft.com/office/drawing/2014/main" id="{0F640782-C90D-4AC3-99BF-74A566A37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8" t="13798" r="23870" b="15715"/>
          <a:stretch/>
        </p:blipFill>
        <p:spPr bwMode="auto">
          <a:xfrm>
            <a:off x="1235998" y="4867465"/>
            <a:ext cx="784956" cy="12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7189EF0-4B51-421F-8CDF-EC764A10ECCB}"/>
              </a:ext>
            </a:extLst>
          </p:cNvPr>
          <p:cNvSpPr/>
          <p:nvPr/>
        </p:nvSpPr>
        <p:spPr>
          <a:xfrm>
            <a:off x="2779775" y="2373572"/>
            <a:ext cx="5925311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3A4F91C-7B2F-472C-AF03-842DEB7105AE}"/>
              </a:ext>
            </a:extLst>
          </p:cNvPr>
          <p:cNvSpPr/>
          <p:nvPr/>
        </p:nvSpPr>
        <p:spPr>
          <a:xfrm rot="5400000">
            <a:off x="8381869" y="3685713"/>
            <a:ext cx="1522304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EB080C8-5DD0-4125-AC7D-E432DC30D1FC}"/>
              </a:ext>
            </a:extLst>
          </p:cNvPr>
          <p:cNvSpPr/>
          <p:nvPr/>
        </p:nvSpPr>
        <p:spPr>
          <a:xfrm rot="10800000">
            <a:off x="2781106" y="5393111"/>
            <a:ext cx="4732649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44CBB74-1112-4CB6-94EE-4AAE0C52E150}"/>
              </a:ext>
            </a:extLst>
          </p:cNvPr>
          <p:cNvSpPr/>
          <p:nvPr/>
        </p:nvSpPr>
        <p:spPr>
          <a:xfrm rot="16200000">
            <a:off x="1218322" y="3743921"/>
            <a:ext cx="1522304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A51C2-7207-45EB-A065-BBB589987E77}"/>
              </a:ext>
            </a:extLst>
          </p:cNvPr>
          <p:cNvSpPr txBox="1"/>
          <p:nvPr/>
        </p:nvSpPr>
        <p:spPr>
          <a:xfrm>
            <a:off x="2778736" y="1635084"/>
            <a:ext cx="5828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 profile of searchers, purchases and ratings of bicycle water bottles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6D0D6-E48B-45D6-B58F-BD075535F08B}"/>
              </a:ext>
            </a:extLst>
          </p:cNvPr>
          <p:cNvSpPr txBox="1"/>
          <p:nvPr/>
        </p:nvSpPr>
        <p:spPr>
          <a:xfrm>
            <a:off x="2895203" y="5659207"/>
            <a:ext cx="461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Filter on k highest similarity between user and item profiles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1FF296-D31D-4ACC-A718-397BE3FC3EC5}"/>
              </a:ext>
            </a:extLst>
          </p:cNvPr>
          <p:cNvSpPr txBox="1"/>
          <p:nvPr/>
        </p:nvSpPr>
        <p:spPr>
          <a:xfrm>
            <a:off x="2067584" y="3302353"/>
            <a:ext cx="211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Present recommended</a:t>
            </a:r>
          </a:p>
          <a:p>
            <a:pPr algn="ctr"/>
            <a:r>
              <a:rPr lang="en-US" sz="24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5E02F3-7EC5-4256-B8EC-0D2D8BB549F4}"/>
              </a:ext>
            </a:extLst>
          </p:cNvPr>
          <p:cNvSpPr txBox="1"/>
          <p:nvPr/>
        </p:nvSpPr>
        <p:spPr>
          <a:xfrm>
            <a:off x="6096000" y="3302353"/>
            <a:ext cx="2884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Many possible similar items from item descriptions (choices)</a:t>
            </a:r>
          </a:p>
        </p:txBody>
      </p:sp>
    </p:spTree>
    <p:extLst>
      <p:ext uri="{BB962C8B-B14F-4D97-AF65-F5344CB8AC3E}">
        <p14:creationId xmlns:p14="http://schemas.microsoft.com/office/powerpoint/2010/main" val="340981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  <p:bldP spid="6" grpId="0"/>
      <p:bldP spid="19" grpId="0"/>
      <p:bldP spid="20" grpId="0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Extracting consistent item characteristics can be difficult</a:t>
            </a:r>
          </a:p>
          <a:p>
            <a:r>
              <a:rPr lang="en-US" dirty="0"/>
              <a:t>Descriptions often inconsistent, incomplete or missing</a:t>
            </a:r>
          </a:p>
          <a:p>
            <a:pPr lvl="1"/>
            <a:r>
              <a:rPr lang="en-US" dirty="0"/>
              <a:t>Different sources code and format characteristics differently</a:t>
            </a:r>
          </a:p>
          <a:p>
            <a:pPr lvl="1"/>
            <a:r>
              <a:rPr lang="en-US" dirty="0"/>
              <a:t>Integrate categorical and numerical characteristics </a:t>
            </a:r>
          </a:p>
          <a:p>
            <a:r>
              <a:rPr lang="en-US" dirty="0"/>
              <a:t>Categorical features</a:t>
            </a:r>
          </a:p>
          <a:p>
            <a:pPr lvl="1"/>
            <a:r>
              <a:rPr lang="en-US" dirty="0"/>
              <a:t>Feature hashing – hashing trick</a:t>
            </a:r>
          </a:p>
          <a:p>
            <a:pPr lvl="1"/>
            <a:r>
              <a:rPr lang="en-US" dirty="0"/>
              <a:t>Dense semantic embedding</a:t>
            </a:r>
          </a:p>
          <a:p>
            <a:r>
              <a:rPr lang="en-US" dirty="0"/>
              <a:t>Unstructured text and image descriptions</a:t>
            </a:r>
          </a:p>
          <a:p>
            <a:pPr lvl="1"/>
            <a:r>
              <a:rPr lang="en-US" dirty="0"/>
              <a:t>Use neural embedding</a:t>
            </a:r>
          </a:p>
          <a:p>
            <a:r>
              <a:rPr lang="en-US" dirty="0"/>
              <a:t>Use </a:t>
            </a:r>
            <a:r>
              <a:rPr lang="en-US" b="1" dirty="0"/>
              <a:t>embedding space </a:t>
            </a:r>
            <a:r>
              <a:rPr lang="en-US" dirty="0"/>
              <a:t>for similarity search 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10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45449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build a </a:t>
                </a:r>
                <a:r>
                  <a:rPr lang="en-US" b="1" dirty="0"/>
                  <a:t>content-based recommender?</a:t>
                </a:r>
                <a:endParaRPr lang="en-US" dirty="0"/>
              </a:p>
              <a:p>
                <a:r>
                  <a:rPr lang="en-US" dirty="0"/>
                  <a:t>Recommend items with highest measures of similarity</a:t>
                </a:r>
              </a:p>
              <a:p>
                <a:pPr lvl="1"/>
                <a:r>
                  <a:rPr lang="en-US" dirty="0"/>
                  <a:t>Jaccard similarity – binary profiles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Cosign similarity –commonly used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Pearson’s correlation – widely used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′)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Similarity has limitations</a:t>
                </a:r>
              </a:p>
              <a:p>
                <a:pPr lvl="1"/>
                <a:r>
                  <a:rPr lang="en-US" dirty="0"/>
                  <a:t>Assumes item and user profiles consistently coded</a:t>
                </a:r>
              </a:p>
              <a:p>
                <a:pPr lvl="1"/>
                <a:r>
                  <a:rPr lang="en-US" dirty="0"/>
                  <a:t>Similarity by characteristics may not be how humans understand relationships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45449"/>
                <a:ext cx="10515600" cy="5447426"/>
              </a:xfrm>
              <a:blipFill>
                <a:blip r:embed="rId2"/>
                <a:stretch>
                  <a:fillRect l="-1217" t="-2461" r="-580" b="-1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88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of content-based recommenders</a:t>
            </a:r>
          </a:p>
          <a:p>
            <a:r>
              <a:rPr lang="en-US" dirty="0"/>
              <a:t>No need for data on other item characteristics, e.g. ratings</a:t>
            </a:r>
          </a:p>
          <a:p>
            <a:r>
              <a:rPr lang="en-US" dirty="0"/>
              <a:t>Recommend new and unpopular item by profile alone</a:t>
            </a:r>
          </a:p>
          <a:p>
            <a:pPr lvl="1"/>
            <a:r>
              <a:rPr lang="en-US" dirty="0"/>
              <a:t>No cold start problem for items</a:t>
            </a:r>
          </a:p>
          <a:p>
            <a:r>
              <a:rPr lang="en-US" dirty="0"/>
              <a:t>Works for users with unusual tastes</a:t>
            </a:r>
          </a:p>
          <a:p>
            <a:pPr lvl="1"/>
            <a:r>
              <a:rPr lang="en-US" dirty="0"/>
              <a:t>No first-rater problem</a:t>
            </a:r>
          </a:p>
          <a:p>
            <a:r>
              <a:rPr lang="en-US" dirty="0"/>
              <a:t>Outcome is explainable</a:t>
            </a:r>
          </a:p>
          <a:p>
            <a:pPr lvl="1"/>
            <a:r>
              <a:rPr lang="en-US" dirty="0"/>
              <a:t>Easy to understand ranking by similarity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65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Disadvantages of content-based recommenders</a:t>
            </a:r>
          </a:p>
          <a:p>
            <a:r>
              <a:rPr lang="en-US" dirty="0"/>
              <a:t>Finding features for profile is hard </a:t>
            </a:r>
          </a:p>
          <a:p>
            <a:pPr lvl="1"/>
            <a:r>
              <a:rPr lang="en-US" dirty="0"/>
              <a:t>Inconsistent descriptions</a:t>
            </a:r>
          </a:p>
          <a:p>
            <a:pPr lvl="1"/>
            <a:r>
              <a:rPr lang="en-US" dirty="0"/>
              <a:t>Information in unstructured data; text, images</a:t>
            </a:r>
          </a:p>
          <a:p>
            <a:r>
              <a:rPr lang="en-US" dirty="0"/>
              <a:t>Cold start problem for new user with no profile</a:t>
            </a:r>
          </a:p>
          <a:p>
            <a:r>
              <a:rPr lang="en-US" dirty="0"/>
              <a:t>Can give over-specialized recommendations</a:t>
            </a:r>
          </a:p>
          <a:p>
            <a:pPr lvl="1"/>
            <a:r>
              <a:rPr lang="en-US" dirty="0"/>
              <a:t>Will never find item without similarity to user search</a:t>
            </a:r>
          </a:p>
          <a:p>
            <a:pPr lvl="1"/>
            <a:r>
              <a:rPr lang="en-US" dirty="0"/>
              <a:t>Does not account for user with multiple interests</a:t>
            </a:r>
          </a:p>
          <a:p>
            <a:pPr lvl="1"/>
            <a:r>
              <a:rPr lang="en-US" dirty="0"/>
              <a:t>Does not use information from other users; e.g. ratings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2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Collaborative Filtering </a:t>
            </a:r>
          </a:p>
        </p:txBody>
      </p:sp>
    </p:spTree>
    <p:extLst>
      <p:ext uri="{BB962C8B-B14F-4D97-AF65-F5344CB8AC3E}">
        <p14:creationId xmlns:p14="http://schemas.microsoft.com/office/powerpoint/2010/main" val="2876937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742E-2371-A06D-04F8-9DCD4622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AB3D76-25D1-751F-0862-640BCED90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C7426A-21B2-3BF2-C9C6-21D85283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8C79-36EF-D202-7D20-32853AC41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filtering with k-nearest neighbor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4621E-BE25-D609-6477-44C156C6D581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A4BE73-8C57-56AC-9B1B-D505A111C04A}"/>
              </a:ext>
            </a:extLst>
          </p:cNvPr>
          <p:cNvSpPr/>
          <p:nvPr/>
        </p:nvSpPr>
        <p:spPr>
          <a:xfrm rot="17995006">
            <a:off x="2846823" y="1128056"/>
            <a:ext cx="1072910" cy="578489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6E7973-B3BE-AC1E-3F42-8D32BE3D2CA3}"/>
              </a:ext>
            </a:extLst>
          </p:cNvPr>
          <p:cNvSpPr/>
          <p:nvPr/>
        </p:nvSpPr>
        <p:spPr>
          <a:xfrm rot="16200000">
            <a:off x="5107786" y="4359118"/>
            <a:ext cx="794644" cy="332301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887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collaborative filtering </a:t>
                </a:r>
                <a:r>
                  <a:rPr lang="en-US" dirty="0"/>
                  <a:t>computes similarity weighted average rating between </a:t>
                </a:r>
                <a:r>
                  <a:rPr lang="en-US" b="1" dirty="0"/>
                  <a:t>nearest neighbors </a:t>
                </a:r>
              </a:p>
              <a:p>
                <a:r>
                  <a:rPr lang="en-US" dirty="0"/>
                  <a:t>Collaborative filtering invokes the </a:t>
                </a:r>
                <a:r>
                  <a:rPr lang="en-US" b="1" dirty="0"/>
                  <a:t>concept of homophily</a:t>
                </a:r>
              </a:p>
              <a:p>
                <a:r>
                  <a:rPr lang="en-US" dirty="0"/>
                  <a:t>Uses a measure of </a:t>
                </a:r>
                <a:r>
                  <a:rPr lang="en-US" b="1" dirty="0"/>
                  <a:t>similarity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:r>
                  <a:rPr lang="en-US" b="1" dirty="0"/>
                  <a:t>unsupervised nearest neighbor search </a:t>
                </a:r>
              </a:p>
              <a:p>
                <a:r>
                  <a:rPr lang="en-US" dirty="0"/>
                  <a:t>Can measure similarity two ways</a:t>
                </a:r>
              </a:p>
              <a:p>
                <a:pPr lvl="1"/>
                <a:r>
                  <a:rPr lang="en-US" dirty="0"/>
                  <a:t>User-User</a:t>
                </a:r>
              </a:p>
              <a:p>
                <a:pPr lvl="1"/>
                <a:r>
                  <a:rPr lang="en-US" dirty="0"/>
                  <a:t>Item-Item</a:t>
                </a:r>
              </a:p>
              <a:p>
                <a:pPr lvl="1"/>
                <a:r>
                  <a:rPr lang="en-US" dirty="0"/>
                  <a:t>We focus on user-user</a:t>
                </a:r>
              </a:p>
              <a:p>
                <a:r>
                  <a:rPr lang="en-US" dirty="0"/>
                  <a:t>Prediction by filtering for k highest similarity, and estimate rating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35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203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Start with a utility matrix</a:t>
            </a:r>
          </a:p>
          <a:p>
            <a:r>
              <a:rPr lang="en-US" dirty="0"/>
              <a:t>Here we use ratings, but can use feature embeddings with same basic algorithm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178695" y="477477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062369" y="334721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697958"/>
              </p:ext>
            </p:extLst>
          </p:nvPr>
        </p:nvGraphicFramePr>
        <p:xfrm>
          <a:off x="623969" y="3829887"/>
          <a:ext cx="6950812" cy="258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167232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</a:tblGrid>
              <a:tr h="2649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6487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2004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Want to predict </a:t>
            </a:r>
            <a:r>
              <a:rPr lang="en-US" b="1" dirty="0"/>
              <a:t>implied rating</a:t>
            </a:r>
            <a:r>
              <a:rPr lang="en-US" dirty="0"/>
              <a:t> for user 7 of item 1</a:t>
            </a:r>
          </a:p>
          <a:p>
            <a:r>
              <a:rPr lang="en-US" dirty="0"/>
              <a:t>Compute the mean and Variance of the item ratings</a:t>
            </a:r>
          </a:p>
          <a:p>
            <a:r>
              <a:rPr lang="en-US" dirty="0"/>
              <a:t>Subtract mean rating from item rating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178695" y="477477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062369" y="334721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04174"/>
              </p:ext>
            </p:extLst>
          </p:nvPr>
        </p:nvGraphicFramePr>
        <p:xfrm>
          <a:off x="623969" y="3829887"/>
          <a:ext cx="10515600" cy="270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167232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2145182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419606">
                  <a:extLst>
                    <a:ext uri="{9D8B030D-6E8A-4147-A177-3AD203B41FA5}">
                      <a16:colId xmlns:a16="http://schemas.microsoft.com/office/drawing/2014/main" val="1884601115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Mean Rating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Variance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3.60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2.80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2.7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3927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1.71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1.8</a:t>
                      </a: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3.00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2.60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1.30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18426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Compute Pearson’s Correlation between item 1 ratings and other items </a:t>
            </a:r>
          </a:p>
          <a:p>
            <a:r>
              <a:rPr lang="en-US" dirty="0"/>
              <a:t>Two items have high correlation similarity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27217" y="4373888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213847" y="294632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309322"/>
              </p:ext>
            </p:extLst>
          </p:nvPr>
        </p:nvGraphicFramePr>
        <p:xfrm>
          <a:off x="775446" y="3429000"/>
          <a:ext cx="10340890" cy="2948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71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073751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041775299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Pearson Correlation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Jaccard Similarity</a:t>
                      </a: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60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9"/>
            <a:ext cx="10515600" cy="1326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Compute weighted rating = (0.84*2 + 1.0*3)/(0.84+1.0) = </a:t>
            </a:r>
            <a:r>
              <a:rPr lang="en-US" b="1" dirty="0"/>
              <a:t>2.54</a:t>
            </a: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203739" y="4029810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444803" y="260224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406A42-91FF-48AF-87A0-DBFDB39A0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81086"/>
              </p:ext>
            </p:extLst>
          </p:nvPr>
        </p:nvGraphicFramePr>
        <p:xfrm>
          <a:off x="950157" y="3248247"/>
          <a:ext cx="10340890" cy="2948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71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073751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041775299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Pearson Correlation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Jaccard Similarity</a:t>
                      </a: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4087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Supervised collaborative filtering computes similarity weighted average rating</a:t>
                </a:r>
              </a:p>
              <a:p>
                <a:r>
                  <a:rPr lang="en-US" dirty="0"/>
                  <a:t>Could we use some other weighting other than similarity, w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Prediction by filtering for k highest weights, and estimate rating: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find optimal weights by minimizing MSE with gradient descent</a:t>
                </a:r>
              </a:p>
              <a:p>
                <a:pPr lvl="1"/>
                <a:r>
                  <a:rPr lang="en-US" dirty="0"/>
                  <a:t>Can include baseline terms</a:t>
                </a:r>
              </a:p>
              <a:p>
                <a:pPr lvl="1"/>
                <a:r>
                  <a:rPr lang="en-US" dirty="0"/>
                  <a:t>Will take up gradient decent later</a:t>
                </a:r>
              </a:p>
              <a:p>
                <a:r>
                  <a:rPr lang="en-US" dirty="0"/>
                  <a:t>Or use neural collaborative filtering, </a:t>
                </a:r>
                <a:r>
                  <a:rPr lang="en-US" dirty="0">
                    <a:hlinkClick r:id="rId2"/>
                  </a:rPr>
                  <a:t>He, et. el., 2017</a:t>
                </a:r>
                <a:r>
                  <a:rPr lang="en-US" dirty="0"/>
                  <a:t>, to learn optimal weights </a:t>
                </a: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3"/>
                <a:stretch>
                  <a:fillRect l="-1159" t="-2461" r="-1275" b="-2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7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Evaluating Recommenders</a:t>
            </a:r>
          </a:p>
        </p:txBody>
      </p:sp>
    </p:spTree>
    <p:extLst>
      <p:ext uri="{BB962C8B-B14F-4D97-AF65-F5344CB8AC3E}">
        <p14:creationId xmlns:p14="http://schemas.microsoft.com/office/powerpoint/2010/main" val="31149234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1713" y="896079"/>
            <a:ext cx="7078859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algorithms?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dirty="0">
                <a:latin typeface="+mn-lt"/>
              </a:rPr>
              <a:t>Many possible </a:t>
            </a:r>
            <a:r>
              <a:rPr lang="en-US" dirty="0">
                <a:latin typeface="+mn-lt"/>
                <a:hlinkClick r:id="rId3"/>
              </a:rPr>
              <a:t>recommendation performance metrics</a:t>
            </a:r>
            <a:r>
              <a:rPr lang="en-US" dirty="0">
                <a:latin typeface="+mn-lt"/>
                <a:hlinkClick r:id="rId4"/>
              </a:rPr>
              <a:t> </a:t>
            </a:r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</a:t>
            </a:r>
          </a:p>
          <a:p>
            <a:pPr lvl="1"/>
            <a:r>
              <a:rPr lang="en-US" dirty="0">
                <a:latin typeface="+mn-lt"/>
              </a:rPr>
              <a:t>Users will only pay attention to promptly displayed recommendations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341033" y="5577562"/>
            <a:ext cx="1850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Retrieval Performance</a:t>
            </a:r>
          </a:p>
        </p:txBody>
      </p:sp>
    </p:spTree>
    <p:extLst>
      <p:ext uri="{BB962C8B-B14F-4D97-AF65-F5344CB8AC3E}">
        <p14:creationId xmlns:p14="http://schemas.microsoft.com/office/powerpoint/2010/main" val="8777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8501-B656-A203-0084-D99C3720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2B5E-C5E0-A670-25D1-6E85E1A7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B8A5-C072-FB27-8058-BCA2869F8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Jadon Patil 2024 </a:t>
            </a:r>
            <a:r>
              <a:rPr lang="en-US" dirty="0"/>
              <a:t>provide a exhaustive, perhaps exhausting</a:t>
            </a:r>
            <a:r>
              <a:rPr lang="en-US" dirty="0">
                <a:sym typeface="Wingdings" panose="05000000000000000000" pitchFamily="2" charset="2"/>
              </a:rPr>
              <a:t>,</a:t>
            </a:r>
            <a:r>
              <a:rPr lang="en-US" dirty="0"/>
              <a:t> review of four aspects of recommender system performance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Similarity metrics </a:t>
            </a:r>
            <a:r>
              <a:rPr lang="en-US" dirty="0"/>
              <a:t>measure the similarity of recommendations to user queries   </a:t>
            </a:r>
          </a:p>
          <a:p>
            <a:pPr lvl="1"/>
            <a:r>
              <a:rPr lang="en-US" dirty="0"/>
              <a:t>We have addressed these metrics previously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Candidate generation </a:t>
            </a:r>
            <a:r>
              <a:rPr lang="en-US" dirty="0"/>
              <a:t>metrics evaluate the how broad and relevant the recommendations are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Predictive metrics </a:t>
            </a:r>
            <a:r>
              <a:rPr lang="en-US" dirty="0"/>
              <a:t>evaluate how well the recommender system predicts the ratings of users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Business metrics </a:t>
            </a:r>
            <a:r>
              <a:rPr lang="en-US" dirty="0"/>
              <a:t>how well the recommender system improves business performance  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2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BD38-9E2F-0B9D-F94A-7A134081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8E9C-57F4-75C4-5DF4-F5FEC2F4B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565D-5226-E04B-3A54-1E02B86D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Jadon Patil 2024 </a:t>
            </a:r>
            <a:r>
              <a:rPr lang="en-US" dirty="0"/>
              <a:t>review a large number of </a:t>
            </a:r>
            <a:r>
              <a:rPr lang="en-US" b="1" dirty="0"/>
              <a:t>candidate generation metrics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Ranking metrics </a:t>
            </a:r>
            <a:r>
              <a:rPr lang="en-US" dirty="0"/>
              <a:t>for either candidate generation or business evaluation</a:t>
            </a:r>
            <a:endParaRPr lang="en-US" b="1" dirty="0"/>
          </a:p>
          <a:p>
            <a:pPr lvl="1"/>
            <a:r>
              <a:rPr lang="en-US" dirty="0" err="1"/>
              <a:t>Precision@k</a:t>
            </a:r>
            <a:r>
              <a:rPr lang="en-US" dirty="0"/>
              <a:t>, </a:t>
            </a:r>
            <a:r>
              <a:rPr lang="en-US" dirty="0" err="1"/>
              <a:t>Recall@k</a:t>
            </a:r>
            <a:r>
              <a:rPr lang="en-US" dirty="0"/>
              <a:t>, average </a:t>
            </a:r>
            <a:r>
              <a:rPr lang="en-US" dirty="0" err="1"/>
              <a:t>Precision@k</a:t>
            </a:r>
            <a:r>
              <a:rPr lang="en-US" dirty="0"/>
              <a:t>, average </a:t>
            </a:r>
            <a:r>
              <a:rPr lang="en-US" dirty="0" err="1"/>
              <a:t>Recall@k</a:t>
            </a:r>
            <a:endParaRPr lang="en-US" dirty="0"/>
          </a:p>
          <a:p>
            <a:pPr lvl="1"/>
            <a:r>
              <a:rPr lang="en-US" dirty="0"/>
              <a:t>Normalized cumulative discounted gain</a:t>
            </a:r>
          </a:p>
          <a:p>
            <a:pPr lvl="1"/>
            <a:r>
              <a:rPr lang="en-US" dirty="0"/>
              <a:t>Mean reciprocal rank</a:t>
            </a:r>
          </a:p>
          <a:p>
            <a:pPr lvl="1"/>
            <a:r>
              <a:rPr lang="en-US" dirty="0"/>
              <a:t>…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Candidate generation metrics</a:t>
            </a:r>
          </a:p>
          <a:p>
            <a:pPr lvl="1"/>
            <a:r>
              <a:rPr lang="en-US" dirty="0"/>
              <a:t>Novelty</a:t>
            </a:r>
          </a:p>
          <a:p>
            <a:pPr lvl="1"/>
            <a:r>
              <a:rPr lang="en-US" dirty="0"/>
              <a:t>Diversity</a:t>
            </a:r>
          </a:p>
          <a:p>
            <a:pPr lvl="1"/>
            <a:r>
              <a:rPr lang="en-US" dirty="0"/>
              <a:t>Serendipity</a:t>
            </a:r>
          </a:p>
          <a:p>
            <a:pPr lvl="1"/>
            <a:r>
              <a:rPr lang="en-US" dirty="0"/>
              <a:t>Catalog coverage</a:t>
            </a:r>
          </a:p>
          <a:p>
            <a:pPr lvl="1"/>
            <a:r>
              <a:rPr lang="en-US" dirty="0"/>
              <a:t>Distributional coverage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6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8AA1-5119-F61A-40EF-00972012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34E0-7CF5-BFBC-5F4F-DF238221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4131C-8029-2A94-7124-6D62CD5287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Candidate generation metrics</a:t>
                </a:r>
              </a:p>
              <a:p>
                <a:r>
                  <a:rPr lang="en-US" b="1" dirty="0"/>
                  <a:t>Novelty</a:t>
                </a:r>
                <a:r>
                  <a:rPr lang="en-US" dirty="0"/>
                  <a:t> measures how unexpected items in recommender set of user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given normalized </a:t>
                </a:r>
                <a:r>
                  <a:rPr lang="en-US" b="1" dirty="0"/>
                  <a:t>popularity score</a:t>
                </a:r>
                <a:r>
                  <a:rPr lang="en-US" dirty="0"/>
                  <a:t> for item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𝑁𝑜𝑣𝑒𝑙𝑡𝑦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𝑝𝑠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𝑟𝑎𝑛𝑘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𝑎𝑣𝑎𝑖𝑙𝑎𝑏𝑙𝑒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𝑖𝑡𝑒𝑚𝑠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𝑁𝑜𝑣𝑒𝑙𝑡𝑦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Popular items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have lower novelty </a:t>
                </a:r>
              </a:p>
              <a:p>
                <a:r>
                  <a:rPr lang="en-US" dirty="0"/>
                  <a:t>Including novel items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improves user experience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4131C-8029-2A94-7124-6D62CD528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80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9754-1576-9922-95A6-159EBFC3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6465-FA7D-12EA-C053-6CFD618C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1DB024-E523-F824-8A01-A31EE683A2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Candidate generation metrics</a:t>
                </a:r>
              </a:p>
              <a:p>
                <a:r>
                  <a:rPr lang="en-US" b="1" dirty="0"/>
                  <a:t>Diversity</a:t>
                </a:r>
                <a:r>
                  <a:rPr lang="en-US" dirty="0"/>
                  <a:t> measures pairwise dissimilarity of recommendation set,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𝑑𝑖𝑠𝑠𝑖𝑚𝑖𝑙𝑎𝑟𝑖𝑡𝑦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𝑑𝑖𝑠𝑠𝑖𝑚𝑖𝑙𝑎𝑟𝑖𝑡𝑦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is metric of dissimilarity or distance between recommendations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𝐷𝑖𝑣𝑒𝑟𝑠𝑖𝑡𝑦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Recommendation sets with high diversity are thought to increase user engagement 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1DB024-E523-F824-8A01-A31EE683A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67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7125-C28F-C7DC-4CBD-B6C9E2CD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7226-5FC7-9ACB-196C-839E90EA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1C7F6-8706-858B-D3BC-74B83283EE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Candidate generation metrics</a:t>
                </a:r>
              </a:p>
              <a:p>
                <a:r>
                  <a:rPr lang="en-US" b="1" dirty="0"/>
                  <a:t>Serendipity</a:t>
                </a:r>
                <a:r>
                  <a:rPr lang="en-US" dirty="0"/>
                  <a:t> measures how well the recommender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for the set of users,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set of items, I, set of items discovered by the user,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and</a:t>
                </a:r>
                <a:r>
                  <a:rPr lang="en-US" dirty="0"/>
                  <a:t> set of items liked by the user L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𝑆𝑒𝑟𝑒𝑛𝑑𝑖𝑝𝑖𝑡𝑦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∩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)∩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Serendipity measures how well the user likes but does not expect items in the recommendations</a:t>
                </a:r>
              </a:p>
              <a:p>
                <a:r>
                  <a:rPr lang="en-US" dirty="0"/>
                  <a:t>In other words, serendipity measures the recommender's ability to provide useful but unexpected recommendations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1C7F6-8706-858B-D3BC-74B83283EE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96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5131" y="1060534"/>
                <a:ext cx="11850624" cy="20715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Evaluating </a:t>
                </a:r>
                <a:r>
                  <a:rPr lang="en-US" b="1" dirty="0"/>
                  <a:t>predictive performance </a:t>
                </a:r>
                <a:r>
                  <a:rPr lang="en-US" dirty="0"/>
                  <a:t>or recommender systems</a:t>
                </a:r>
              </a:p>
              <a:p>
                <a:r>
                  <a:rPr lang="en-US" b="1" dirty="0"/>
                  <a:t>Predictive metrics </a:t>
                </a:r>
                <a:r>
                  <a:rPr lang="en-US" dirty="0"/>
                  <a:t>compare actual ratings for item, </a:t>
                </a:r>
                <a:r>
                  <a:rPr lang="en-US" i="1" dirty="0" err="1"/>
                  <a:t>i</a:t>
                </a:r>
                <a:r>
                  <a:rPr lang="en-US" dirty="0"/>
                  <a:t>, and user 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</m:oMath>
                </a14:m>
                <a:r>
                  <a:rPr lang="en-US" dirty="0"/>
                  <a:t>, to the predicted rating,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Follows supervised learning (regression) evaluation process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5131" y="1060534"/>
                <a:ext cx="11850624" cy="2071539"/>
              </a:xfrm>
              <a:blipFill>
                <a:blip r:embed="rId2"/>
                <a:stretch>
                  <a:fillRect l="-1080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C78B94-5AB1-430D-915C-1FDBE7A28BF2}"/>
              </a:ext>
            </a:extLst>
          </p:cNvPr>
          <p:cNvSpPr txBox="1">
            <a:spLocks/>
          </p:cNvSpPr>
          <p:nvPr/>
        </p:nvSpPr>
        <p:spPr>
          <a:xfrm>
            <a:off x="4815523" y="3392982"/>
            <a:ext cx="7270232" cy="3099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Compare estimated rating to actual ratings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evaluation metrics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with full data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Hold back Bernoulli sampled fraction of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using metric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0F5926-38D3-44ED-BAAB-A08528500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87177"/>
              </p:ext>
            </p:extLst>
          </p:nvPr>
        </p:nvGraphicFramePr>
        <p:xfrm>
          <a:off x="887869" y="360198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306B50-E0B9-44A2-A52F-5F58E3CB2C0B}"/>
              </a:ext>
            </a:extLst>
          </p:cNvPr>
          <p:cNvSpPr txBox="1"/>
          <p:nvPr/>
        </p:nvSpPr>
        <p:spPr>
          <a:xfrm>
            <a:off x="2000958" y="3067129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B9402-0FE2-45C1-ACAF-3FFD74A7024A}"/>
              </a:ext>
            </a:extLst>
          </p:cNvPr>
          <p:cNvSpPr txBox="1"/>
          <p:nvPr/>
        </p:nvSpPr>
        <p:spPr>
          <a:xfrm rot="16200000">
            <a:off x="31940" y="467709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08987B-A8C8-45D3-9842-03D904DE9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129502"/>
              </p:ext>
            </p:extLst>
          </p:nvPr>
        </p:nvGraphicFramePr>
        <p:xfrm>
          <a:off x="887868" y="360198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00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C78B94-5AB1-430D-915C-1FDBE7A28B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6053" y="986119"/>
                <a:ext cx="6989617" cy="55962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Which predictive evaluation metrics can we use? </a:t>
                </a:r>
              </a:p>
              <a:p>
                <a:r>
                  <a:rPr lang="en-US" dirty="0"/>
                  <a:t>Could compare actual and estimated ratings</a:t>
                </a:r>
              </a:p>
              <a:p>
                <a:pPr lvl="1"/>
                <a:r>
                  <a:rPr lang="en-US" dirty="0"/>
                  <a:t>RMSE</a:t>
                </a:r>
              </a:p>
              <a:p>
                <a:pPr lvl="1"/>
                <a:r>
                  <a:rPr lang="en-US" dirty="0"/>
                  <a:t>MAE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r>
                  <a:rPr lang="en-US" dirty="0"/>
                  <a:t>Ranking and candidate generation metrics </a:t>
                </a:r>
              </a:p>
              <a:p>
                <a:r>
                  <a:rPr lang="en-US" dirty="0"/>
                  <a:t>Example: </a:t>
                </a:r>
                <a:r>
                  <a:rPr lang="en-US" b="1" dirty="0"/>
                  <a:t>root mean squared error, RMSE</a:t>
                </a:r>
              </a:p>
              <a:p>
                <a:pPr lvl="1"/>
                <a:r>
                  <a:rPr lang="en-US" dirty="0"/>
                  <a:t>Most widely used</a:t>
                </a:r>
              </a:p>
              <a:p>
                <a:pPr lvl="1"/>
                <a:r>
                  <a:rPr lang="en-US" dirty="0"/>
                  <a:t>Assumes algorithm is </a:t>
                </a:r>
                <a:r>
                  <a:rPr lang="en-US" b="1" dirty="0"/>
                  <a:t>MLE</a:t>
                </a:r>
              </a:p>
              <a:p>
                <a:pPr lvl="1"/>
                <a:r>
                  <a:rPr lang="en-US" dirty="0"/>
                  <a:t>Fast to compute for item, </a:t>
                </a:r>
                <a:r>
                  <a:rPr lang="en-US" i="1" dirty="0" err="1"/>
                  <a:t>i</a:t>
                </a:r>
                <a:r>
                  <a:rPr lang="en-US" dirty="0"/>
                  <a:t>, and user, </a:t>
                </a:r>
                <a:r>
                  <a:rPr lang="en-US" i="1" dirty="0"/>
                  <a:t>x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C78B94-5AB1-430D-915C-1FDBE7A28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053" y="986119"/>
                <a:ext cx="6989617" cy="5596258"/>
              </a:xfrm>
              <a:prstGeom prst="rect">
                <a:avLst/>
              </a:prstGeom>
              <a:blipFill>
                <a:blip r:embed="rId2"/>
                <a:stretch>
                  <a:fillRect l="-1744" t="-2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1306B50-E0B9-44A2-A52F-5F58E3CB2C0B}"/>
              </a:ext>
            </a:extLst>
          </p:cNvPr>
          <p:cNvSpPr txBox="1"/>
          <p:nvPr/>
        </p:nvSpPr>
        <p:spPr>
          <a:xfrm>
            <a:off x="1844204" y="181507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B9402-0FE2-45C1-ACAF-3FFD74A7024A}"/>
              </a:ext>
            </a:extLst>
          </p:cNvPr>
          <p:cNvSpPr txBox="1"/>
          <p:nvPr/>
        </p:nvSpPr>
        <p:spPr>
          <a:xfrm rot="16200000">
            <a:off x="-124814" y="3425038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3993A2-0B8A-424E-8A5B-95D40E9E4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18384"/>
              </p:ext>
            </p:extLst>
          </p:nvPr>
        </p:nvGraphicFramePr>
        <p:xfrm>
          <a:off x="731114" y="2384437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67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apply </a:t>
            </a:r>
            <a:r>
              <a:rPr lang="en-US" b="1" dirty="0"/>
              <a:t>cross validation </a:t>
            </a:r>
            <a:r>
              <a:rPr lang="en-US" dirty="0"/>
              <a:t>to recommender algorithms?</a:t>
            </a:r>
          </a:p>
          <a:p>
            <a:r>
              <a:rPr lang="en-US" dirty="0"/>
              <a:t>Yes! Use </a:t>
            </a:r>
            <a:r>
              <a:rPr lang="en-US" b="1" dirty="0"/>
              <a:t>K-fold CV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Randomly sample data into K-folds (subsets)</a:t>
            </a:r>
          </a:p>
          <a:p>
            <a:pPr lvl="1"/>
            <a:r>
              <a:rPr lang="en-US" dirty="0"/>
              <a:t>Round robin hold back one fold for evaluation and train model on K-1 folds</a:t>
            </a:r>
          </a:p>
          <a:p>
            <a:pPr lvl="1"/>
            <a:r>
              <a:rPr lang="en-US" dirty="0"/>
              <a:t>Base evaluation on mean and variance of K performance metric sets  </a:t>
            </a:r>
          </a:p>
          <a:p>
            <a:r>
              <a:rPr lang="en-US" dirty="0"/>
              <a:t>CV is an effective tool for comparing performance of models</a:t>
            </a:r>
          </a:p>
          <a:p>
            <a:r>
              <a:rPr lang="en-US" dirty="0"/>
              <a:t>In theory, can use </a:t>
            </a:r>
            <a:r>
              <a:rPr lang="en-US" b="1" dirty="0"/>
              <a:t>nested CV</a:t>
            </a:r>
            <a:r>
              <a:rPr lang="en-US" dirty="0"/>
              <a:t> for hyperparameter search</a:t>
            </a:r>
          </a:p>
          <a:p>
            <a:pPr lvl="1"/>
            <a:r>
              <a:rPr lang="en-US" dirty="0"/>
              <a:t>But computation can be prohibitive – data can be massive</a:t>
            </a:r>
          </a:p>
          <a:p>
            <a:pPr lvl="1"/>
            <a:r>
              <a:rPr lang="en-US" dirty="0"/>
              <a:t>Can limit folds and number of hyperparameter values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3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5748995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r>
              <a:rPr lang="en-US" dirty="0"/>
              <a:t>Online catalogs have a long tail</a:t>
            </a:r>
          </a:p>
          <a:p>
            <a:pPr lvl="1"/>
            <a:r>
              <a:rPr lang="en-US" dirty="0"/>
              <a:t>Many rarely purchased and reviewed items</a:t>
            </a:r>
          </a:p>
          <a:p>
            <a:pPr lvl="1"/>
            <a:r>
              <a:rPr lang="en-US" dirty="0"/>
              <a:t>Users will not find items in the tail without a recommender</a:t>
            </a:r>
          </a:p>
          <a:p>
            <a:r>
              <a:rPr lang="en-US" dirty="0"/>
              <a:t>Recommender algorithms connect users with items</a:t>
            </a:r>
          </a:p>
          <a:p>
            <a:r>
              <a:rPr lang="en-US" dirty="0"/>
              <a:t>Creating a good recommender algorithm for the real-world is hard!</a:t>
            </a:r>
          </a:p>
          <a:p>
            <a:pPr lvl="1"/>
            <a:r>
              <a:rPr lang="en-US" dirty="0"/>
              <a:t>People have complex and variable behavior</a:t>
            </a:r>
          </a:p>
          <a:p>
            <a:pPr lvl="1"/>
            <a:r>
              <a:rPr lang="en-US" dirty="0"/>
              <a:t>User ratings are not constant with time</a:t>
            </a:r>
          </a:p>
          <a:p>
            <a:pPr lvl="1"/>
            <a:r>
              <a:rPr lang="en-US" dirty="0"/>
              <a:t>Biases from position and negative sampling </a:t>
            </a:r>
          </a:p>
          <a:p>
            <a:pPr lvl="1"/>
            <a:r>
              <a:rPr lang="en-US" dirty="0"/>
              <a:t>Attacks on recommenders a growing problem </a:t>
            </a:r>
          </a:p>
          <a:p>
            <a:pPr lvl="1"/>
            <a:r>
              <a:rPr lang="en-US" dirty="0"/>
              <a:t>Cold start problem for new items</a:t>
            </a:r>
          </a:p>
          <a:p>
            <a:pPr lvl="1"/>
            <a:r>
              <a:rPr lang="en-US" dirty="0"/>
              <a:t>Cold start problem for new users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94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  <a:p>
            <a:r>
              <a:rPr lang="en-US" dirty="0"/>
              <a:t>Commonly used algorithms are </a:t>
            </a:r>
            <a:r>
              <a:rPr lang="en-US" b="1" dirty="0"/>
              <a:t>based on similarity search</a:t>
            </a:r>
          </a:p>
          <a:p>
            <a:r>
              <a:rPr lang="en-US" b="1" dirty="0"/>
              <a:t>Content based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Similarity search to find items with common properties</a:t>
            </a:r>
          </a:p>
          <a:p>
            <a:pPr lvl="1"/>
            <a:r>
              <a:rPr lang="en-US" dirty="0"/>
              <a:t>Related to frequent item set algorithms</a:t>
            </a:r>
          </a:p>
          <a:p>
            <a:r>
              <a:rPr lang="en-US" b="1" dirty="0"/>
              <a:t>Collaborative filtering</a:t>
            </a:r>
            <a:endParaRPr lang="en-US" dirty="0"/>
          </a:p>
          <a:p>
            <a:pPr lvl="1"/>
            <a:r>
              <a:rPr lang="en-US" dirty="0"/>
              <a:t>Based on similarity between items and between users</a:t>
            </a:r>
          </a:p>
          <a:p>
            <a:pPr lvl="1"/>
            <a:r>
              <a:rPr lang="en-US" dirty="0"/>
              <a:t>Widely used algorithms</a:t>
            </a:r>
          </a:p>
          <a:p>
            <a:pPr lvl="1"/>
            <a:r>
              <a:rPr lang="en-US" dirty="0"/>
              <a:t>Can be unsupervised or supervised </a:t>
            </a:r>
          </a:p>
          <a:p>
            <a:pPr lvl="1"/>
            <a:r>
              <a:rPr lang="en-US" dirty="0"/>
              <a:t>Linear and nonlinear (neural) algorithms widely employed</a:t>
            </a:r>
          </a:p>
          <a:p>
            <a:pPr lvl="1"/>
            <a:r>
              <a:rPr lang="en-US" dirty="0"/>
              <a:t>Has cold-start problem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930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Latent factor methods</a:t>
                </a:r>
                <a:r>
                  <a:rPr lang="en-US" dirty="0"/>
                  <a:t> are powerful models</a:t>
                </a:r>
              </a:p>
              <a:p>
                <a:r>
                  <a:rPr lang="en-US" dirty="0"/>
                  <a:t>Decompose utility matrix into item and user latent factors, PQ</a:t>
                </a:r>
                <a:r>
                  <a:rPr lang="en-US" baseline="30000" dirty="0"/>
                  <a:t>T</a:t>
                </a:r>
              </a:p>
              <a:p>
                <a:pPr lvl="1"/>
                <a:r>
                  <a:rPr lang="en-US" dirty="0"/>
                  <a:t>Efficiently learn factor weights with SGD </a:t>
                </a:r>
              </a:p>
              <a:p>
                <a:pPr lvl="1"/>
                <a:r>
                  <a:rPr lang="en-US" dirty="0"/>
                  <a:t>Predict missing ratings by product PQ</a:t>
                </a:r>
                <a:r>
                  <a:rPr lang="en-US" baseline="30000" dirty="0"/>
                  <a:t>T</a:t>
                </a:r>
              </a:p>
              <a:p>
                <a:r>
                  <a:rPr lang="en-US" dirty="0"/>
                  <a:t>Improve with baseline functions</a:t>
                </a:r>
              </a:p>
              <a:p>
                <a:pPr lvl="1"/>
                <a:r>
                  <a:rPr lang="en-US" dirty="0"/>
                  <a:t>Average rating</a:t>
                </a:r>
              </a:p>
              <a:p>
                <a:pPr lvl="1"/>
                <a:r>
                  <a:rPr lang="en-US" dirty="0"/>
                  <a:t>Average user rating</a:t>
                </a:r>
              </a:p>
              <a:p>
                <a:pPr lvl="1"/>
                <a:r>
                  <a:rPr lang="en-US" dirty="0"/>
                  <a:t>Average item rating</a:t>
                </a:r>
              </a:p>
              <a:p>
                <a:r>
                  <a:rPr lang="en-US" dirty="0"/>
                  <a:t>Evaluate recommenders</a:t>
                </a:r>
              </a:p>
              <a:p>
                <a:pPr lvl="1"/>
                <a:r>
                  <a:rPr lang="en-US" dirty="0"/>
                  <a:t>RMSE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perform cross validation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7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19627</TotalTime>
  <Words>4178</Words>
  <Application>Microsoft Office PowerPoint</Application>
  <PresentationFormat>Widescreen</PresentationFormat>
  <Paragraphs>1368</Paragraphs>
  <Slides>68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Calibri</vt:lpstr>
      <vt:lpstr>Calibri Light</vt:lpstr>
      <vt:lpstr>Cambria Math</vt:lpstr>
      <vt:lpstr>Segoe UI</vt:lpstr>
      <vt:lpstr>Segoe UI Light</vt:lpstr>
      <vt:lpstr>Segoe UI Symbol</vt:lpstr>
      <vt:lpstr>Wingdings</vt:lpstr>
      <vt:lpstr>Office Theme</vt:lpstr>
      <vt:lpstr>CSCI E-108 Data Mining, Exploration and Discovery Learning to Rank and Recommender Algorithms</vt:lpstr>
      <vt:lpstr>Main topics in this course </vt:lpstr>
      <vt:lpstr>Why Recommender Systems?</vt:lpstr>
      <vt:lpstr>Why Recommender Systems?</vt:lpstr>
      <vt:lpstr>Why Recommender Systems?</vt:lpstr>
      <vt:lpstr>Why Recommender Systems?</vt:lpstr>
      <vt:lpstr>PowerPoint Presentation</vt:lpstr>
      <vt:lpstr>Recommender Systems</vt:lpstr>
      <vt:lpstr>Recommender Systems</vt:lpstr>
      <vt:lpstr>Recommender Systems</vt:lpstr>
      <vt:lpstr>Recommender Systems</vt:lpstr>
      <vt:lpstr>Recommender Systems</vt:lpstr>
      <vt:lpstr>Recommender Systems</vt:lpstr>
      <vt:lpstr>Datasets and Software</vt:lpstr>
      <vt:lpstr>PowerPoint Presentation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PowerPoint Presentation</vt:lpstr>
      <vt:lpstr>General Recommender Model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PowerPoint Presentation</vt:lpstr>
      <vt:lpstr>Recommender Systems</vt:lpstr>
      <vt:lpstr>Extending the Representation</vt:lpstr>
      <vt:lpstr>Extending the Representation</vt:lpstr>
      <vt:lpstr>Extending the representation</vt:lpstr>
      <vt:lpstr>PowerPoint Presentation</vt:lpstr>
      <vt:lpstr>Content Based Recommenders</vt:lpstr>
      <vt:lpstr>Recommender Systems</vt:lpstr>
      <vt:lpstr>Content Based Recommenders</vt:lpstr>
      <vt:lpstr>Content Based Recommenders</vt:lpstr>
      <vt:lpstr>Content Based Recommenders</vt:lpstr>
      <vt:lpstr>Content Based Recommenders</vt:lpstr>
      <vt:lpstr>Content Based Recommenders</vt:lpstr>
      <vt:lpstr>Content Based Recommenders</vt:lpstr>
      <vt:lpstr>PowerPoint Presentation</vt:lpstr>
      <vt:lpstr>Recommender Systems</vt:lpstr>
      <vt:lpstr>Collaborative Filter Recommenders</vt:lpstr>
      <vt:lpstr>Collaborative Filter Recommenders</vt:lpstr>
      <vt:lpstr>Collaborative Filter Recommenders</vt:lpstr>
      <vt:lpstr>Collaborative Filter Recommenders</vt:lpstr>
      <vt:lpstr>Collaborative Filter Recommenders</vt:lpstr>
      <vt:lpstr>Collaborative Filter Recommenders</vt:lpstr>
      <vt:lpstr>PowerPoint Presentation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PowerPoint Presentation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750</cp:revision>
  <dcterms:created xsi:type="dcterms:W3CDTF">2020-08-19T23:28:02Z</dcterms:created>
  <dcterms:modified xsi:type="dcterms:W3CDTF">2026-10-18T23:09:51Z</dcterms:modified>
</cp:coreProperties>
</file>