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718" r:id="rId2"/>
    <p:sldId id="853" r:id="rId3"/>
    <p:sldId id="753" r:id="rId4"/>
    <p:sldId id="851" r:id="rId5"/>
    <p:sldId id="764" r:id="rId6"/>
    <p:sldId id="835" r:id="rId7"/>
    <p:sldId id="837" r:id="rId8"/>
    <p:sldId id="795" r:id="rId9"/>
    <p:sldId id="765" r:id="rId10"/>
    <p:sldId id="756" r:id="rId11"/>
    <p:sldId id="784" r:id="rId12"/>
    <p:sldId id="785" r:id="rId13"/>
    <p:sldId id="802" r:id="rId14"/>
    <p:sldId id="804" r:id="rId15"/>
    <p:sldId id="801" r:id="rId16"/>
    <p:sldId id="809" r:id="rId17"/>
    <p:sldId id="805" r:id="rId18"/>
    <p:sldId id="800" r:id="rId19"/>
    <p:sldId id="813" r:id="rId20"/>
    <p:sldId id="806" r:id="rId21"/>
    <p:sldId id="807" r:id="rId22"/>
    <p:sldId id="808" r:id="rId23"/>
    <p:sldId id="810" r:id="rId24"/>
    <p:sldId id="812" r:id="rId25"/>
    <p:sldId id="817" r:id="rId26"/>
    <p:sldId id="827" r:id="rId27"/>
    <p:sldId id="828" r:id="rId28"/>
    <p:sldId id="829" r:id="rId29"/>
    <p:sldId id="830" r:id="rId30"/>
    <p:sldId id="823" r:id="rId31"/>
    <p:sldId id="824" r:id="rId32"/>
    <p:sldId id="838" r:id="rId33"/>
    <p:sldId id="842" r:id="rId34"/>
    <p:sldId id="845" r:id="rId35"/>
    <p:sldId id="825" r:id="rId36"/>
    <p:sldId id="826" r:id="rId37"/>
    <p:sldId id="844" r:id="rId38"/>
    <p:sldId id="846" r:id="rId39"/>
    <p:sldId id="847" r:id="rId40"/>
    <p:sldId id="843" r:id="rId41"/>
    <p:sldId id="761" r:id="rId42"/>
    <p:sldId id="729" r:id="rId43"/>
    <p:sldId id="675" r:id="rId44"/>
    <p:sldId id="723" r:id="rId45"/>
    <p:sldId id="725" r:id="rId46"/>
    <p:sldId id="728" r:id="rId47"/>
    <p:sldId id="760" r:id="rId48"/>
    <p:sldId id="706" r:id="rId49"/>
    <p:sldId id="712" r:id="rId50"/>
    <p:sldId id="727" r:id="rId51"/>
    <p:sldId id="713" r:id="rId52"/>
    <p:sldId id="726" r:id="rId53"/>
    <p:sldId id="762" r:id="rId54"/>
    <p:sldId id="709" r:id="rId55"/>
    <p:sldId id="714" r:id="rId56"/>
    <p:sldId id="715" r:id="rId57"/>
    <p:sldId id="716" r:id="rId58"/>
    <p:sldId id="717" r:id="rId59"/>
    <p:sldId id="732" r:id="rId60"/>
    <p:sldId id="848" r:id="rId61"/>
    <p:sldId id="720" r:id="rId62"/>
    <p:sldId id="721" r:id="rId63"/>
    <p:sldId id="854" r:id="rId64"/>
    <p:sldId id="731" r:id="rId65"/>
    <p:sldId id="85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534D1-5B48-49E9-A024-C5EAE54CADD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EEBAC-B083-4D6F-9402-80E985106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1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734B-AC59-6B2C-9041-40370BE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64006-6B93-D0AC-BD1E-90A71723E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5AA25-60F3-E8E5-2F41-81C262FF7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29553-5BF6-BCE1-07E1-DA0436FE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66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810B-E9D8-0840-C306-362D6607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B4362-666B-EBFB-1F1D-3CCC9C107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FDBD7-7328-B196-3781-9A973E5D9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E5C1-94C9-FA6F-3177-865DEAC07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90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7203-0E30-6E95-6F3A-50D18572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4BBDF-63C6-3438-DBE2-4FBCE9C4A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C7633-9B6C-395B-D1ED-DE12F330F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CF3A-7636-D252-C57B-FF2503E15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2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2D64-405A-9870-AAB8-C6225AE6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A7516-BC16-D9AB-D255-784E23BED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11175-965B-17AA-1F52-3C72CE100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00CE-8DBA-276C-0B99-342ABD3C3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2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B776-13B6-B6B4-C4C0-819442A9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9E57C-06F5-46CE-1428-B435F6C5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28338-FBED-843D-2006-E1185D74E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BAB76-0D2A-83D7-8CFA-67128F491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68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B176-0719-23B5-F766-5DB32C1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ECC7-E776-657C-632A-672C978EF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16A4C-FA05-7FF6-6A6D-E0C7AD035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36E46-A9EE-F179-1923-78E81C301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5C49-A18B-ACF3-A907-E610876FA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DE7F5-53A4-D9C2-5E78-3B4033444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BDFCF-B52D-FCAC-4123-33BA413FE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B62B7-265A-2B9F-705B-EC0A99C30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24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0C0E-7F49-B200-DC89-6A2E060A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4455A-C43F-92B2-99A0-16683FD16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B751C-1FE3-B3AC-6B67-714B5819B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A81B-F8A8-E6F7-2D51-36A7CBCC7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19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6D3C-D1B6-DBF8-D685-72DB9E66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A8899-F15F-4D27-BBFE-8EC43EB2B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DC9EF-F0B6-C305-88DE-B23FEDD00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5588-131B-EDF2-06D3-AC79ADAD6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17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77CA9-BA17-DD61-5666-C0091F62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B1117-6E7B-8A9E-5567-3E1258ED9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F05AC-3832-2BF7-2D11-5D638EBA1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10C38-2947-4065-4AF5-2AB95285E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1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A94F-C87F-DEA3-F02B-6AC166A4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10FF6-E7D6-239E-A83B-16DB3FCCD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DC883-16A2-4902-46CF-5BA295C18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0326E-EB72-117E-4078-C6C9B2B7A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16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CBF3E-2509-16CB-9626-F040E9C8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8CFCA-502D-5E97-C08E-860E63ECB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B52A3-7EC4-7283-1C07-F0940394A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D6120-EDC9-A54C-BFB5-BB92DD47A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11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493B-A53A-CBB4-3C20-3C1DAF7A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6B988-62C9-ABD8-8104-116BA20A4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186F9-D6A1-C632-3E08-4C7644778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7AB76-3F49-38B9-62CB-C5B91E856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10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1405-B011-8C00-51A9-C8E59972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9DF45-896F-E3C4-B341-3C12B7669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416F3-CFB9-5EE9-6E93-5AB94B3A2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C9210-686D-D52D-6C32-7F001369E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61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B6C4-068B-6CFB-1D71-1DF65E4C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C955D-EF2D-C09A-F028-1F51D4ACE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E28C2-0BDE-6C0A-7616-951F1BCC4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0A6EA-1EC4-E4C7-DD5A-4A3720F37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76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4672-F5C0-D423-1A24-7CE44975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0806A-1E9E-D4C6-5B2B-4C11CF42A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A6B53-A637-007A-584D-B0302DC7D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2F510-368F-72C7-4CEC-E70340417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37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1FCD-5B4D-C9D9-3140-53471390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F3F55-9A8D-7187-38B2-786F8A35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44B1C-5CDA-9945-C944-9DDB43CD4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6DA69-6488-85EF-3305-6FAFCEDF0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920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7369-F2B9-D5FE-3B4C-87C90923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4C7B9-AA84-6111-2139-681DC2A6B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B9529-24CD-A967-FBAA-5589BCECE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BEEC3-B329-84B4-7AC1-DFFAE8C32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061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BE7B6-E7B3-101B-7C6C-5B5B7751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A6CAB-D3F8-FDEE-EA28-2878063B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73EB4-E6B0-9054-78CB-485A5FACF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EA3D2-AA0C-B2F3-B284-E36F21251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650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70B2-0013-4753-CE98-E68F34C2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3C1BC-C122-E90E-619E-EE3BE8581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50100-E5BF-CE5C-A2BA-4333BBB45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A75E7-91C8-301A-F418-01D51C00E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81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97DF-DCF0-E8C0-5D53-3F8DB92E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15C4D-6B45-BF7B-0307-509A1ACE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FF4FF-5AC1-2497-7F37-298EF7C91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7CCEB-E54B-D938-8E05-EE4CE1321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15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28DE-771C-AC9C-DD08-7101ED89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9AE27-2C9A-2FD3-B55B-0EF59D58A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BC89B-952E-C1E1-6CD5-423BB16F9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3F8FF-8B9A-D3A3-7BF6-9A64C0C57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92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45FD-FD13-5E40-4EB8-374A1EA2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E5A99-827D-A612-107B-B6B756890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F3E0D-D625-3801-6576-9689C1B57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7B53-DD4C-F691-736D-7F764EEEC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2BF9-5B73-7C2D-A80E-67C4AD31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5433F-076E-B7B9-677F-841CEB837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E368C-7A71-D498-0DD5-524C9BE88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F593A-D3B2-FFCF-587D-33046A773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995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1FD2-03E0-4412-F85C-A934F39F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102E4-3936-78A3-3E51-6F064653B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99EA1-6A9C-0DE3-9C3F-D6FF0273C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2A55-4BF5-B730-F7FE-56286C61F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450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BDCF-701B-14C2-AC78-7F842F37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34FD9-935C-9134-D70D-C84B669F4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703CD-1DCF-3047-956A-6BEEFC9EF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2EE1-14CC-9C48-4CB4-0B1486CB7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88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0DD1-4A05-211A-C0D2-15A41F05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F1D32-CB9A-F22C-02E7-F711046AF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B321C-DC41-299F-9703-47A0305F9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64765-F594-02BA-9A73-B4EDFFF76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173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B93B-CEBD-C2BC-08CD-53A79AF9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5065-8CD3-E1FF-67CE-9D1087B73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BE325-D200-7A54-C404-0B2A48EF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D367F-0FD2-F3D3-E39F-264C0C4FF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71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C16A-ADAD-9D16-B160-057F5F71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5891E-CE1A-62D0-5AE1-5FF891871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8300C-8F01-08B0-3D91-0579959E9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E1E25-D805-482B-5CE4-F390311FE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00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0FF9-35E0-9450-59E6-247656F9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71895-933A-831C-24B4-73FC40B78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4BA1E-F60A-9AE8-56D5-B3F5E2AE6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734C0-626A-6990-31E7-99677E70C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76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3B67-48CD-A21C-A167-7614227B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A4F9A-5685-C6B3-8EFB-C21E58172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BE101-124E-BA0B-A550-9510BC267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B6900-F063-7377-174D-B1F899F42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595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7170-0B5D-13D8-F89F-E5161098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D99CE-1F31-88F8-0153-B026AA4C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94AF5-C262-7F9F-2AF9-04DFABF5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1F53F-0BC1-3E16-6306-650B27E962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59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8DD9-CFEA-1D7C-AE55-3BCBD9E3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8D4AD-1C7D-D57A-0699-3054FF210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1BCD9-507D-8906-7EA5-C1A9B5DEE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A57D4-B710-CD02-996C-837064F35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7539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9B0F-2FE1-5CD6-8040-4A249168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3E9AF-626F-1C49-732E-7BA8D100C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4E40-CBDC-463C-A8A7-F22A3808B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C725C-8E3B-C80C-F6E5-5C210C049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602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26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233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92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41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640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93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610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639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756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906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491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806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83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29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90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370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393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455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83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D2F9-E600-EA8C-91AC-7330E90A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D397-C5B8-9F03-01EA-816228F03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50EED-43AA-CDC6-FA10-8882D6475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414F4-C420-7AAA-A23A-194FF202D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BF2D-41FA-4DC4-ACC3-8DBE09B5C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3E280-A648-496F-85AA-9A66AAFBB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F1F5B-8D44-4C83-9847-9551BDB9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3EC5-9432-4A66-9E64-E003554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60A7-E873-4AE3-A514-E4BB65FC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54C-82AC-4275-8221-D46FC266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B4F01-9014-47D8-8412-C244B62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B737-AC34-448C-98C8-898605FA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AE056-A155-42C1-99FF-43666877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504B6-2335-4095-8B32-5F546DC6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2810-4E61-4DB3-B18D-C9651617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02EFD-6306-4EE5-A93E-C3B3D3977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911E-21ED-48DB-87D1-BAEBD3DE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AC4B-FA15-4C3B-8886-15F84DD5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126E0-E09D-46FC-99D1-733DF58D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2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5468-6E3C-464D-A6F9-9A5E61BD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0FFA-BA3D-4026-B5EE-95A00E43F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18753-9280-4B68-B1BA-6C5B41A53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AF946-8BD2-4E05-B886-1FBA90C0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CCFF-AF08-450A-8E24-1D390154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57094-F2F0-4A8D-A5C3-D80BC46D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8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D42C-20FB-433D-B2FA-15722CF5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6BDB4-437B-4186-8704-EDB6B55F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E20E-37E7-4857-AB8D-67948CF3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3DCC-87D5-46CD-B027-BA49CC6B1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33A01-0D20-4787-9FA8-283275AB4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574D2-843D-4F2D-AF16-E7E1F35B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64638-A973-4BE2-AA0D-66B04C9B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6A5EE-6F5E-4133-B608-A36D2C04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4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0394-55C9-4C4A-93DB-AAA9493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A156-2986-4ABD-88EB-80463BB8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26ACC-44A1-415B-AB92-2445AC79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5FF18-7690-4BEF-A85B-1A8FDA4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0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4E047-CF1F-417C-929D-18F84456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A4F07-AD23-4E5E-9D5E-A87F2D58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53E95-DB56-411B-BBAF-EB0EAFEE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955A-B592-4DB6-A7B5-B68170C5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1CCC-97B2-4BF2-8369-40860ECB3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F55B1-BF41-4C84-B04F-06D900AC3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F8CC-17EE-455F-8D16-116AB173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BF062-FCFC-4AB6-9E1B-1BFB8D9B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17FCE-EFD7-4175-A763-32BF3DBC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326B-82FA-4368-92A0-C51E5CC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04CE4-5C9C-4E2A-9970-F159A60B7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66A65-F884-4AEB-B19D-2497ADCFC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EAC10-F420-471E-84BC-C7B24E22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7FE1D-5DF8-4727-A7F1-8BCA4ED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22EEE-ACB0-49BB-9812-5ADB795B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6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79D8-3828-4F5E-A0BB-AE8F18A2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49175-8BA9-4D53-9A50-714757279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69A9-F519-4FA9-87F2-1A347FB6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8528B-FA2D-4D43-8A7A-88991C0E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180F-7D0D-482B-8460-366B4570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92452-B6BA-4A34-9679-D34A2491E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9B900-A9C9-4E80-B0A6-A832725EC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8F2A1-3E26-417B-A42B-3427FF81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67A0C-4E40-41D0-87DD-C9D85960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001-2CEE-4F16-93B6-4F0DBBE7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85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FB1D0-F1BF-42CA-83CA-B3568E5E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3485-E4D3-4F57-A46D-C56DED0FC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6D78-2DED-4113-B1CF-35F31813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83D5-83EE-4A48-BB2E-1FC30CD8E44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7174D-3533-4CD4-AD63-7B08E0402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482C-E75C-4391-BC8F-CC472108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099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us/products/ai-services/ai-search/?ef_id=_k_Cj0KCQjw0qTCBhCmARIsAAj8C4bWYP5bJ_q2egFsGNg1jOm-_5rCYbSmeVkqoC5BaTI--gmRA743Cb8aAqNCEALw_wcB_k_&amp;OCID=AIDcmm5edswduu_SEM__k_Cj0KCQjw0qTCBhCmARIsAAj8C4bWYP5bJ_q2egFsGNg1jOm-_5rCYbSmeVkqoC5BaTI--gmRA743Cb8aAqNCEALw_wcB_k_&amp;gad_source=1&amp;gad_campaignid=21496728177&amp;gbraid=0AAAAADcJh_tZAjLmwL75PLHE3fkQJ61Xs&amp;gclid=Cj0KCQjw0qTCBhCmARIsAAj8C4bWYP5bJ_q2egFsGNg1jOm-_5rCYbSmeVkqoC5BaTI--gmRA743Cb8aAqNCEALw_wcB" TargetMode="External"/><Relationship Id="rId3" Type="http://schemas.openxmlformats.org/officeDocument/2006/relationships/hyperlink" Target="https://www.pinecone.io/" TargetMode="External"/><Relationship Id="rId7" Type="http://schemas.openxmlformats.org/officeDocument/2006/relationships/hyperlink" Target="https://aws.amazon.com/what-is/elasticsearch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eaviate.io/" TargetMode="External"/><Relationship Id="rId5" Type="http://schemas.openxmlformats.org/officeDocument/2006/relationships/hyperlink" Target="https://www.trychroma.com/" TargetMode="External"/><Relationship Id="rId4" Type="http://schemas.openxmlformats.org/officeDocument/2006/relationships/hyperlink" Target="https://milvus.io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acebookresearch/faiss/wiki/The-index-factory" TargetMode="External"/><Relationship Id="rId3" Type="http://schemas.openxmlformats.org/officeDocument/2006/relationships/hyperlink" Target="https://github.com/spotify/annoy" TargetMode="External"/><Relationship Id="rId7" Type="http://schemas.openxmlformats.org/officeDocument/2006/relationships/hyperlink" Target="https://opensearch.org/platform/vector-engine/?utm_source=google&amp;utm_medium=paid-search&amp;utm_campaign=opensearch-vector&amp;utm_term=opensearch-vector-db-search-os&amp;utm_content=opensearch-vector-db-search-os-rsa&amp;gad_source=1&amp;gad_campaignid=22587674346&amp;gbraid=0AAAAAD2R-lqiwK3OD-kJs-F-97uO-uEQj&amp;gclid=CjwKCAjw4K3DBhBqEiwAYtG_9HyX76OHqKTBSCDfdcZxwqAqdPMpO20YyOv6jfMzo5B1iOeimSJOIxoCzDwQAvD_Bw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vespa.ai/" TargetMode="External"/><Relationship Id="rId5" Type="http://schemas.openxmlformats.org/officeDocument/2006/relationships/hyperlink" Target="https://github.com/vearch/gamma" TargetMode="External"/><Relationship Id="rId4" Type="http://schemas.openxmlformats.org/officeDocument/2006/relationships/hyperlink" Target="https://qdrant.tech/documentation/concepts/search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932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zilliz.com/learn/pg-based-ann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mall-world_networ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30643791300130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9320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15721.courses.cs.cmu.edu/spring2018/papers/08-oltpindexes1/pugh-skiplists-cacm1990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102.3828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The-index-factory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composite-indexes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Guidelines-to-choose-an-index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inecone.io/learn/series/faiss/composite-indexes/" TargetMode="Externa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Faiss-indexes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facebookresearch/faiss/wiki/MetricType-and-distances" TargetMode="External"/><Relationship Id="rId4" Type="http://schemas.openxmlformats.org/officeDocument/2006/relationships/hyperlink" Target="https://scikit-learn.org/stable/modules/generated/sklearn.metrics.pairwise.distance_metrics.html#sklearn.metrics.pairwise.distance_metrics" TargetMode="Externa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Efficient Similarity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39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Need an efficient method for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dirty="0">
                <a:latin typeface="+mn-lt"/>
              </a:rPr>
              <a:t>Constructing nearest-neighbor graphs </a:t>
            </a:r>
          </a:p>
          <a:p>
            <a:pPr lvl="1"/>
            <a:r>
              <a:rPr lang="en-US" dirty="0">
                <a:latin typeface="+mn-lt"/>
              </a:rPr>
              <a:t>Cluster models  </a:t>
            </a:r>
          </a:p>
          <a:p>
            <a:pPr lvl="1"/>
            <a:r>
              <a:rPr lang="en-US" dirty="0">
                <a:latin typeface="+mn-lt"/>
              </a:rPr>
              <a:t>Dimensionality reduction </a:t>
            </a:r>
          </a:p>
          <a:p>
            <a:pPr lvl="1"/>
            <a:r>
              <a:rPr lang="en-US" dirty="0">
                <a:latin typeface="+mn-lt"/>
              </a:rPr>
              <a:t>Network analysis</a:t>
            </a:r>
          </a:p>
          <a:p>
            <a:r>
              <a:rPr lang="en-US" dirty="0">
                <a:latin typeface="+mn-lt"/>
              </a:rPr>
              <a:t>Find similar products and for recommendation </a:t>
            </a:r>
          </a:p>
          <a:p>
            <a:r>
              <a:rPr lang="en-US" dirty="0">
                <a:latin typeface="+mn-lt"/>
              </a:rPr>
              <a:t>Information </a:t>
            </a:r>
            <a:r>
              <a:rPr lang="en-US" dirty="0" err="1">
                <a:latin typeface="+mn-lt"/>
              </a:rPr>
              <a:t>retrival</a:t>
            </a:r>
            <a:r>
              <a:rPr lang="en-US" dirty="0">
                <a:latin typeface="+mn-lt"/>
              </a:rPr>
              <a:t> and document search   </a:t>
            </a:r>
          </a:p>
          <a:p>
            <a:pPr lvl="1"/>
            <a:r>
              <a:rPr lang="en-US" dirty="0">
                <a:latin typeface="+mn-lt"/>
              </a:rPr>
              <a:t>Web search</a:t>
            </a:r>
          </a:p>
          <a:p>
            <a:pPr lvl="1"/>
            <a:r>
              <a:rPr lang="en-US" dirty="0">
                <a:latin typeface="+mn-lt"/>
              </a:rPr>
              <a:t>Document search </a:t>
            </a:r>
          </a:p>
          <a:p>
            <a:pPr lvl="1"/>
            <a:r>
              <a:rPr lang="en-US" dirty="0">
                <a:latin typeface="+mn-lt"/>
              </a:rPr>
              <a:t>Deduplication </a:t>
            </a:r>
          </a:p>
          <a:p>
            <a:pPr lvl="1"/>
            <a:r>
              <a:rPr lang="en-US" dirty="0">
                <a:latin typeface="+mn-lt"/>
              </a:rPr>
              <a:t>Plagiarism detection </a:t>
            </a:r>
          </a:p>
          <a:p>
            <a:pPr lvl="1"/>
            <a:r>
              <a:rPr lang="en-US" dirty="0">
                <a:latin typeface="+mn-lt"/>
              </a:rPr>
              <a:t>…</a:t>
            </a:r>
          </a:p>
          <a:p>
            <a:r>
              <a:rPr lang="en-US" dirty="0">
                <a:latin typeface="+mn-lt"/>
              </a:rPr>
              <a:t>Search for similar images</a:t>
            </a:r>
          </a:p>
          <a:p>
            <a:r>
              <a:rPr lang="en-US" b="1" dirty="0">
                <a:latin typeface="+mn-lt"/>
              </a:rPr>
              <a:t>Retrieval Augmented Generation (RAG) </a:t>
            </a:r>
            <a:r>
              <a:rPr lang="en-US" dirty="0">
                <a:latin typeface="+mn-lt"/>
              </a:rPr>
              <a:t>models for generative AI</a:t>
            </a:r>
          </a:p>
          <a:p>
            <a:pPr lvl="1"/>
            <a:r>
              <a:rPr lang="en-US" dirty="0">
                <a:latin typeface="+mn-lt"/>
              </a:rPr>
              <a:t>For a review of RAG including the similarity search problem see </a:t>
            </a:r>
            <a:r>
              <a:rPr lang="en-US" dirty="0">
                <a:latin typeface="+mn-lt"/>
                <a:hlinkClick r:id="rId3"/>
              </a:rPr>
              <a:t>Gao, et. al., 2024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247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AC63-4AD3-1CDC-AFE6-96CFE325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3FCD-07BF-BB18-1DDE-43533B37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Need an efficient method for high-dimensional </a:t>
                </a:r>
                <a:r>
                  <a:rPr lang="en-US" b="1" dirty="0">
                    <a:latin typeface="+mn-lt"/>
                  </a:rPr>
                  <a:t>similarity joins</a:t>
                </a:r>
                <a:r>
                  <a:rPr lang="en-US" dirty="0">
                    <a:latin typeface="+mn-lt"/>
                  </a:rPr>
                  <a:t> at massive scale</a:t>
                </a:r>
              </a:p>
              <a:p>
                <a:r>
                  <a:rPr lang="en-US" dirty="0">
                    <a:latin typeface="+mn-lt"/>
                  </a:rPr>
                  <a:t>Simple pairwise similarity is computationally </a:t>
                </a:r>
                <a:r>
                  <a:rPr lang="en-US" b="1" dirty="0">
                    <a:latin typeface="+mn-lt"/>
                  </a:rPr>
                  <a:t>infeasible</a:t>
                </a:r>
                <a:r>
                  <a:rPr lang="en-US" dirty="0">
                    <a:latin typeface="+mn-lt"/>
                  </a:rPr>
                  <a:t> for large scale problems!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Complexity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/>
                  <a:t>!</a:t>
                </a:r>
              </a:p>
              <a:p>
                <a:r>
                  <a:rPr lang="en-US" dirty="0">
                    <a:latin typeface="+mn-lt"/>
                  </a:rPr>
                  <a:t>Simple linear similarity search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dimensional, observation vectors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process in both computation and memory </a:t>
                </a:r>
              </a:p>
              <a:p>
                <a:r>
                  <a:rPr lang="en-US" dirty="0">
                    <a:latin typeface="+mn-lt"/>
                  </a:rPr>
                  <a:t>Use an </a:t>
                </a:r>
                <a:r>
                  <a:rPr lang="en-US" b="1" dirty="0">
                    <a:latin typeface="+mn-lt"/>
                  </a:rPr>
                  <a:t>approximate nearest neighbor search (ANNS)! </a:t>
                </a:r>
              </a:p>
              <a:p>
                <a:pPr lvl="1"/>
                <a:r>
                  <a:rPr lang="en-US" dirty="0">
                    <a:latin typeface="+mn-lt"/>
                  </a:rPr>
                  <a:t>Build a graph of the k nearest neighbors</a:t>
                </a:r>
              </a:p>
              <a:p>
                <a:pPr lvl="1"/>
                <a:r>
                  <a:rPr lang="en-US" dirty="0">
                    <a:latin typeface="+mn-lt"/>
                  </a:rPr>
                  <a:t>Nearest neighbors are most important in terms of finding similar cases </a:t>
                </a:r>
              </a:p>
              <a:p>
                <a:pPr lvl="1"/>
                <a:r>
                  <a:rPr lang="en-US" dirty="0">
                    <a:latin typeface="+mn-lt"/>
                  </a:rPr>
                  <a:t>Apply to different distance metrics in high-dimensional spaces       </a:t>
                </a:r>
              </a:p>
              <a:p>
                <a:r>
                  <a:rPr lang="en-US" b="1" dirty="0">
                    <a:latin typeface="+mn-lt"/>
                  </a:rPr>
                  <a:t>ANNS is unsupervised learning! </a:t>
                </a:r>
              </a:p>
              <a:p>
                <a:endParaRPr lang="en-US" sz="33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98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2ECF4D-6E81-926A-7B32-C1390ACA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36F4-C323-EB5B-18DF-F2B396A2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707D7-7889-4DD8-B948-04F54A91D2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is wide landscape of technologies available for the similarity search problem</a:t>
            </a:r>
          </a:p>
          <a:p>
            <a:r>
              <a:rPr lang="en-US" dirty="0">
                <a:latin typeface="+mn-lt"/>
              </a:rPr>
              <a:t>Vector databases incorporate massive scale similarity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Pinecone</a:t>
            </a:r>
            <a:r>
              <a:rPr lang="en-US" dirty="0">
                <a:latin typeface="+mn-lt"/>
              </a:rPr>
              <a:t> includes FAISS</a:t>
            </a:r>
          </a:p>
          <a:p>
            <a:pPr lvl="1"/>
            <a:r>
              <a:rPr lang="en-US" dirty="0">
                <a:latin typeface="+mn-lt"/>
                <a:hlinkClick r:id="rId4"/>
              </a:rPr>
              <a:t>Milvus</a:t>
            </a:r>
            <a:r>
              <a:rPr lang="en-US" dirty="0">
                <a:latin typeface="+mn-lt"/>
              </a:rPr>
              <a:t> from Zilli</a:t>
            </a:r>
          </a:p>
          <a:p>
            <a:pPr lvl="1"/>
            <a:r>
              <a:rPr lang="en-US" dirty="0">
                <a:latin typeface="+mn-lt"/>
                <a:hlinkClick r:id="rId5"/>
              </a:rPr>
              <a:t>Chroma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6"/>
              </a:rPr>
              <a:t>Weaviate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many more…</a:t>
            </a:r>
          </a:p>
          <a:p>
            <a:r>
              <a:rPr lang="en-US" dirty="0">
                <a:latin typeface="+mn-lt"/>
              </a:rPr>
              <a:t>Cloud platforms often include massive scale document similarity search,</a:t>
            </a:r>
          </a:p>
          <a:p>
            <a:pPr lvl="1"/>
            <a:r>
              <a:rPr lang="en-US" dirty="0">
                <a:latin typeface="+mn-lt"/>
                <a:hlinkClick r:id="rId7"/>
              </a:rPr>
              <a:t>AWS </a:t>
            </a:r>
            <a:r>
              <a:rPr lang="en-US" dirty="0" err="1">
                <a:latin typeface="+mn-lt"/>
                <a:hlinkClick r:id="rId7"/>
              </a:rPr>
              <a:t>ElasticSearch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8"/>
              </a:rPr>
              <a:t>Azure AI 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others….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880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7D8DA7-E7C7-7E10-22A4-37B7DE26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1775-E2D7-FF22-19A8-E3E47BAB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2E26-F656-9FB4-B8AF-B8B04723AE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are several vector similarity search platforms for recommender systems, document search and web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Approximate Nearest Neighbor Search Oh Yeah (Annoy)</a:t>
            </a:r>
            <a:r>
              <a:rPr lang="en-US" dirty="0">
                <a:latin typeface="+mn-lt"/>
              </a:rPr>
              <a:t> from Spotify </a:t>
            </a:r>
          </a:p>
          <a:p>
            <a:pPr lvl="1"/>
            <a:r>
              <a:rPr lang="en-US" dirty="0" err="1">
                <a:latin typeface="+mn-lt"/>
                <a:hlinkClick r:id="rId4"/>
              </a:rPr>
              <a:t>Qdrant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5"/>
              </a:rPr>
              <a:t>Vearch</a:t>
            </a:r>
            <a:r>
              <a:rPr lang="en-US" dirty="0">
                <a:latin typeface="+mn-lt"/>
                <a:hlinkClick r:id="rId5"/>
              </a:rPr>
              <a:t>-Gamma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6"/>
              </a:rPr>
              <a:t>Vespa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  <a:hlinkClick r:id="rId7"/>
              </a:rPr>
              <a:t>OpenSearch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</a:t>
            </a:r>
          </a:p>
          <a:p>
            <a:r>
              <a:rPr lang="en-US" dirty="0">
                <a:latin typeface="+mn-lt"/>
              </a:rPr>
              <a:t>We will focus on </a:t>
            </a:r>
            <a:r>
              <a:rPr lang="en-US" b="1" dirty="0">
                <a:latin typeface="+mn-lt"/>
                <a:hlinkClick r:id="rId8"/>
              </a:rPr>
              <a:t>Facebook AI Similarity Search (FAISS)</a:t>
            </a:r>
            <a:endParaRPr lang="en-US" b="1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FAISS is widely used as a basis for many similarity search platforms</a:t>
            </a:r>
          </a:p>
          <a:p>
            <a:r>
              <a:rPr lang="en-US" dirty="0">
                <a:latin typeface="+mn-lt"/>
              </a:rPr>
              <a:t>We will explore specific solutions using these algorithms in subsequent lessons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317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2E59-A553-2DC8-32BD-807DE956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E9E3-02EE-276B-33A8-25A72E78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82E5-A4BA-EE20-7F83-4CB56BB6BE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We need an efficient way to (approximately) perform similarity joins at massive scale   </a:t>
            </a:r>
          </a:p>
          <a:p>
            <a:r>
              <a:rPr lang="en-US" dirty="0">
                <a:latin typeface="+mn-lt"/>
              </a:rPr>
              <a:t>Need an efficient method for large-scale and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! 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sz="2800" b="1" dirty="0">
                <a:latin typeface="+mn-lt"/>
              </a:rPr>
              <a:t>Tree</a:t>
            </a:r>
            <a:r>
              <a:rPr lang="en-US" sz="2800" dirty="0">
                <a:latin typeface="+mn-lt"/>
              </a:rPr>
              <a:t> search</a:t>
            </a:r>
          </a:p>
          <a:p>
            <a:pPr lvl="1"/>
            <a:r>
              <a:rPr lang="en-US" sz="2800" b="1" dirty="0">
                <a:latin typeface="+mn-lt"/>
              </a:rPr>
              <a:t>Hash</a:t>
            </a:r>
            <a:r>
              <a:rPr lang="en-US" sz="2800" dirty="0">
                <a:latin typeface="+mn-lt"/>
              </a:rPr>
              <a:t>-based search – today!</a:t>
            </a:r>
            <a:endParaRPr lang="en-US" sz="2800" b="1" dirty="0">
              <a:latin typeface="+mn-lt"/>
            </a:endParaRPr>
          </a:p>
          <a:p>
            <a:pPr lvl="1"/>
            <a:r>
              <a:rPr lang="en-US" sz="2800" b="1" dirty="0">
                <a:latin typeface="+mn-lt"/>
              </a:rPr>
              <a:t>Quantization</a:t>
            </a:r>
            <a:r>
              <a:rPr lang="en-US" sz="2800" dirty="0">
                <a:latin typeface="+mn-lt"/>
              </a:rPr>
              <a:t>-based search</a:t>
            </a:r>
          </a:p>
          <a:p>
            <a:pPr lvl="1"/>
            <a:r>
              <a:rPr lang="en-US" sz="2800" b="1" dirty="0">
                <a:latin typeface="+mn-lt"/>
              </a:rPr>
              <a:t>Graph</a:t>
            </a:r>
            <a:r>
              <a:rPr lang="en-US" sz="2800" dirty="0">
                <a:latin typeface="+mn-lt"/>
              </a:rPr>
              <a:t> search – today!</a:t>
            </a:r>
          </a:p>
          <a:p>
            <a:r>
              <a:rPr lang="en-US" dirty="0">
                <a:latin typeface="+mn-lt"/>
              </a:rPr>
              <a:t>Apply appropriate </a:t>
            </a:r>
            <a:r>
              <a:rPr lang="en-US" b="1" dirty="0">
                <a:latin typeface="+mn-lt"/>
              </a:rPr>
              <a:t>distance metrics </a:t>
            </a:r>
            <a:r>
              <a:rPr lang="en-US" dirty="0">
                <a:latin typeface="+mn-lt"/>
              </a:rPr>
              <a:t>in high-dimensional spaces     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981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2BCB-E35F-71F4-ACCB-5980CA61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9039-7502-1DF6-8301-AA0C9898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93CB-C8CB-2922-EED4-EE11BED775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206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Pipeline for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sz="2400" dirty="0">
                <a:latin typeface="+mn-lt"/>
              </a:rPr>
              <a:t>Our goal is to rapidly find approximate nearest neighbors with </a:t>
            </a:r>
            <a:r>
              <a:rPr lang="en-US" sz="2400" b="1" dirty="0">
                <a:latin typeface="+mn-lt"/>
              </a:rPr>
              <a:t>high recall </a:t>
            </a:r>
          </a:p>
          <a:p>
            <a:r>
              <a:rPr lang="en-US" sz="2400" dirty="0">
                <a:latin typeface="+mn-lt"/>
              </a:rPr>
              <a:t>No one method can achieve this goal </a:t>
            </a:r>
          </a:p>
          <a:p>
            <a:r>
              <a:rPr lang="en-US" sz="2400" dirty="0">
                <a:latin typeface="+mn-lt"/>
              </a:rPr>
              <a:t>In practice use a pipeline concatenating several methods –</a:t>
            </a:r>
            <a:r>
              <a:rPr lang="en-US" sz="2400" b="1" dirty="0">
                <a:latin typeface="+mn-lt"/>
              </a:rPr>
              <a:t> Composite index</a:t>
            </a:r>
            <a:r>
              <a:rPr lang="en-US" sz="2400" dirty="0">
                <a:latin typeface="+mn-lt"/>
              </a:rPr>
              <a:t>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25C636-61DA-807E-BA01-B210757D5C93}"/>
              </a:ext>
            </a:extLst>
          </p:cNvPr>
          <p:cNvSpPr/>
          <p:nvPr/>
        </p:nvSpPr>
        <p:spPr>
          <a:xfrm>
            <a:off x="239764" y="3946372"/>
            <a:ext cx="2643414" cy="268963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Dimensionality Reduction (Embedding)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 D dimensional numeric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Neural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AD268-0773-52CB-6348-0A468FE42675}"/>
              </a:ext>
            </a:extLst>
          </p:cNvPr>
          <p:cNvSpPr/>
          <p:nvPr/>
        </p:nvSpPr>
        <p:spPr>
          <a:xfrm>
            <a:off x="3370244" y="3946644"/>
            <a:ext cx="3094509" cy="26896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Coarse Quantization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Reduce scope for ANN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file - IVF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IVF Product quantization (IVF-PQ)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Multi-Index (IMI)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1C1917"/>
                </a:solidFill>
                <a:effectLst/>
                <a:latin typeface="__gtPlanar_9a6492"/>
              </a:rPr>
              <a:t>IVF Hierarchical Navigable Small Worlds (HNSW)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7B868-2907-489F-A7AA-7E43FB3CC1A3}"/>
              </a:ext>
            </a:extLst>
          </p:cNvPr>
          <p:cNvSpPr/>
          <p:nvPr/>
        </p:nvSpPr>
        <p:spPr>
          <a:xfrm>
            <a:off x="6951819" y="3975983"/>
            <a:ext cx="2486610" cy="268963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Fine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Quantizaton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Further reduce search scope and improve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Exhaustive search – 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 PQ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Locally Sensitive Hashing (LSH)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BDB3C-F527-7DBC-BD3D-C6B4B99A27F3}"/>
              </a:ext>
            </a:extLst>
          </p:cNvPr>
          <p:cNvSpPr/>
          <p:nvPr/>
        </p:nvSpPr>
        <p:spPr>
          <a:xfrm>
            <a:off x="9859061" y="3946370"/>
            <a:ext cx="2260379" cy="268963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Refinemnet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Increase recall for 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Re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sidual PQ</a:t>
            </a: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 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Neural reranking </a:t>
            </a:r>
            <a:endParaRPr lang="en-US" i="0" dirty="0">
              <a:solidFill>
                <a:srgbClr val="1C1917"/>
              </a:solidFill>
              <a:effectLst/>
              <a:latin typeface="__gtPlanar_9a6492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58B08C-D0B3-CF5E-3160-DA35D5363FBE}"/>
              </a:ext>
            </a:extLst>
          </p:cNvPr>
          <p:cNvSpPr/>
          <p:nvPr/>
        </p:nvSpPr>
        <p:spPr>
          <a:xfrm>
            <a:off x="6532466" y="5144876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84C926F-6491-E28D-1427-C3F12A5B2060}"/>
              </a:ext>
            </a:extLst>
          </p:cNvPr>
          <p:cNvSpPr/>
          <p:nvPr/>
        </p:nvSpPr>
        <p:spPr>
          <a:xfrm>
            <a:off x="2920166" y="5130861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9F50681-ADDF-1475-FEA8-6BB31A5C0EC6}"/>
              </a:ext>
            </a:extLst>
          </p:cNvPr>
          <p:cNvSpPr/>
          <p:nvPr/>
        </p:nvSpPr>
        <p:spPr>
          <a:xfrm>
            <a:off x="9437150" y="5071145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57A6B-0325-6EF4-0EC8-99214EB0655C}"/>
              </a:ext>
            </a:extLst>
          </p:cNvPr>
          <p:cNvSpPr/>
          <p:nvPr/>
        </p:nvSpPr>
        <p:spPr>
          <a:xfrm>
            <a:off x="4381499" y="3051258"/>
            <a:ext cx="4258847" cy="50646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Distance (Similarity) Metric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907C35-5E52-5241-0F60-431DF9DD65B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917499" y="3597729"/>
            <a:ext cx="0" cy="348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F4BB66-795D-D06A-34FA-D4554624CC3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195123" y="3557721"/>
            <a:ext cx="1" cy="418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2171E6-67D9-E231-505C-A89B66B705E4}"/>
              </a:ext>
            </a:extLst>
          </p:cNvPr>
          <p:cNvCxnSpPr>
            <a:cxnSpLocks/>
          </p:cNvCxnSpPr>
          <p:nvPr/>
        </p:nvCxnSpPr>
        <p:spPr>
          <a:xfrm>
            <a:off x="1472171" y="3303814"/>
            <a:ext cx="0" cy="642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E3C582-AC30-BCBE-84CD-2B35DC110CAA}"/>
              </a:ext>
            </a:extLst>
          </p:cNvPr>
          <p:cNvCxnSpPr>
            <a:cxnSpLocks/>
          </p:cNvCxnSpPr>
          <p:nvPr/>
        </p:nvCxnSpPr>
        <p:spPr>
          <a:xfrm>
            <a:off x="11008057" y="3303814"/>
            <a:ext cx="0" cy="6028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1D3CE3-1216-32C5-279E-4605BBFD31FA}"/>
              </a:ext>
            </a:extLst>
          </p:cNvPr>
          <p:cNvCxnSpPr>
            <a:stCxn id="7" idx="3"/>
          </p:cNvCxnSpPr>
          <p:nvPr/>
        </p:nvCxnSpPr>
        <p:spPr>
          <a:xfrm flipV="1">
            <a:off x="8640346" y="3303814"/>
            <a:ext cx="2386883" cy="6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3FBC1F-87D0-30E3-E2E5-27CA1D47988E}"/>
              </a:ext>
            </a:extLst>
          </p:cNvPr>
          <p:cNvCxnSpPr>
            <a:cxnSpLocks/>
          </p:cNvCxnSpPr>
          <p:nvPr/>
        </p:nvCxnSpPr>
        <p:spPr>
          <a:xfrm flipV="1">
            <a:off x="1472171" y="3303814"/>
            <a:ext cx="2890157" cy="6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31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17D7-21DC-66AE-C2EF-027E3913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8980-3914-1E64-27D6-1F2D5C1F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02C7-4FC9-9193-085A-D535901ABF2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Dimensionality reduction </a:t>
            </a:r>
            <a:r>
              <a:rPr lang="en-US" dirty="0">
                <a:latin typeface="+mn-lt"/>
              </a:rPr>
              <a:t>often applied to similarity </a:t>
            </a:r>
            <a:r>
              <a:rPr lang="en-US" dirty="0" err="1">
                <a:latin typeface="+mn-lt"/>
              </a:rPr>
              <a:t>serarch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It is easier to search in a lower-dimensional space</a:t>
            </a:r>
          </a:p>
          <a:p>
            <a:r>
              <a:rPr lang="en-US" dirty="0">
                <a:latin typeface="+mn-lt"/>
              </a:rPr>
              <a:t>Many possible transformations to lower-dimensional embedding space</a:t>
            </a:r>
          </a:p>
          <a:p>
            <a:pPr lvl="1"/>
            <a:r>
              <a:rPr lang="en-US" dirty="0">
                <a:latin typeface="+mn-lt"/>
              </a:rPr>
              <a:t>Some algorithms start with a nearest neighbor similarity search!  </a:t>
            </a:r>
          </a:p>
          <a:p>
            <a:pPr lvl="1"/>
            <a:r>
              <a:rPr lang="en-US" dirty="0">
                <a:latin typeface="+mn-lt"/>
              </a:rPr>
              <a:t>Can use a neural network to find an embedding space, but computationally expensive</a:t>
            </a:r>
          </a:p>
          <a:p>
            <a:r>
              <a:rPr lang="en-US" dirty="0">
                <a:latin typeface="+mn-lt"/>
              </a:rPr>
              <a:t>Ideally want an </a:t>
            </a:r>
            <a:r>
              <a:rPr lang="en-US" b="1" dirty="0">
                <a:latin typeface="+mn-lt"/>
              </a:rPr>
              <a:t>orthogonal embedding space</a:t>
            </a:r>
          </a:p>
          <a:p>
            <a:r>
              <a:rPr lang="en-US" dirty="0">
                <a:latin typeface="+mn-lt"/>
              </a:rPr>
              <a:t>More on embedding and dimensionality reduction in next lesson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661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4568-39A5-70E1-4544-45419DAA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F637-F5DF-F24F-A9CD-46CDCAAF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Hierarchical Navigable Small World (HNSW) Graphs</a:t>
            </a:r>
          </a:p>
        </p:txBody>
      </p:sp>
    </p:spTree>
    <p:extLst>
      <p:ext uri="{BB962C8B-B14F-4D97-AF65-F5344CB8AC3E}">
        <p14:creationId xmlns:p14="http://schemas.microsoft.com/office/powerpoint/2010/main" val="185823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CDAC-0A38-7230-033A-E25B8578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EBCF-8DE5-616E-F58F-252F4780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BB0E3-A65F-7673-5CFA-87CE6AF63C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for ANNS where first proposed for ANNS by </a:t>
            </a:r>
            <a:r>
              <a:rPr lang="en-US" dirty="0">
                <a:latin typeface="+mn-lt"/>
                <a:hlinkClick r:id="rId3"/>
              </a:rPr>
              <a:t>Malkov and </a:t>
            </a:r>
            <a:r>
              <a:rPr lang="en-US" dirty="0" err="1">
                <a:latin typeface="+mn-lt"/>
                <a:hlinkClick r:id="rId3"/>
              </a:rPr>
              <a:t>Yashunin</a:t>
            </a:r>
            <a:r>
              <a:rPr lang="en-US" dirty="0">
                <a:latin typeface="+mn-lt"/>
                <a:hlinkClick r:id="rId3"/>
              </a:rPr>
              <a:t>, 2016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A HNSW graph performs an ANNS on a hierarchy of graphs in two greedy search steps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Search through hierarchy from top to bottom with increasing detail, ‘zooming in’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Search at most detailed level, ‘zooming out’ </a:t>
            </a:r>
          </a:p>
          <a:p>
            <a:r>
              <a:rPr lang="en-US" dirty="0">
                <a:latin typeface="+mn-lt"/>
              </a:rPr>
              <a:t>HNSW graphs incorporate several concepts  </a:t>
            </a:r>
          </a:p>
          <a:p>
            <a:pPr lvl="1"/>
            <a:r>
              <a:rPr lang="en-US" dirty="0">
                <a:latin typeface="+mn-lt"/>
              </a:rPr>
              <a:t>Proximity graphs</a:t>
            </a:r>
          </a:p>
          <a:p>
            <a:pPr lvl="1"/>
            <a:r>
              <a:rPr lang="en-US" dirty="0">
                <a:latin typeface="+mn-lt"/>
              </a:rPr>
              <a:t>Probabilistic hierarchical search </a:t>
            </a:r>
          </a:p>
          <a:p>
            <a:pPr lvl="1"/>
            <a:r>
              <a:rPr lang="en-US" dirty="0">
                <a:latin typeface="+mn-lt"/>
              </a:rPr>
              <a:t>Navigable small world graphs</a:t>
            </a:r>
          </a:p>
          <a:p>
            <a:pPr marL="914400" lvl="2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848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F0AF-A879-F713-1578-44E32028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4813-6491-D138-6F5D-DE263ECB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Proximity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43678-3860-F091-74F5-EDFA1D4D731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500036" cy="331440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Nearest neighbor (NN) graphs</a:t>
                </a:r>
                <a:r>
                  <a:rPr lang="en-US" dirty="0">
                    <a:latin typeface="+mn-lt"/>
                  </a:rPr>
                  <a:t> are an example of </a:t>
                </a:r>
                <a:r>
                  <a:rPr lang="en-US" b="1" dirty="0">
                    <a:latin typeface="+mn-lt"/>
                  </a:rPr>
                  <a:t>proximity graphs </a:t>
                </a:r>
              </a:p>
              <a:p>
                <a:r>
                  <a:rPr lang="en-US" dirty="0">
                    <a:latin typeface="+mn-lt"/>
                  </a:rPr>
                  <a:t>Presence of edges in a proximity graph (index) determined by distance or similarity between nearest neighbors</a:t>
                </a:r>
              </a:p>
              <a:p>
                <a:r>
                  <a:rPr lang="en-US" dirty="0">
                    <a:latin typeface="+mn-lt"/>
                  </a:rPr>
                  <a:t>Searching graph by proximity finds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nearest neighbors </a:t>
                </a:r>
              </a:p>
              <a:p>
                <a:r>
                  <a:rPr lang="en-US" dirty="0">
                    <a:latin typeface="+mn-lt"/>
                  </a:rPr>
                  <a:t>Notice that nodes must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degree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for search to succeed </a:t>
                </a:r>
              </a:p>
              <a:p>
                <a:r>
                  <a:rPr lang="en-US" dirty="0">
                    <a:latin typeface="+mn-lt"/>
                  </a:rPr>
                  <a:t>You can find more detail on proximity graphs in a number of sources, including </a:t>
                </a:r>
                <a:r>
                  <a:rPr lang="en-US" dirty="0" err="1">
                    <a:latin typeface="+mn-lt"/>
                    <a:hlinkClick r:id="rId3"/>
                  </a:rPr>
                  <a:t>Mengzhao</a:t>
                </a:r>
                <a:r>
                  <a:rPr lang="en-US" dirty="0">
                    <a:latin typeface="+mn-lt"/>
                    <a:hlinkClick r:id="rId3"/>
                  </a:rPr>
                  <a:t> Wang’s blog post</a:t>
                </a: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43678-3860-F091-74F5-EDFA1D4D73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500036" cy="3314409"/>
              </a:xfrm>
              <a:blipFill>
                <a:blip r:embed="rId4"/>
                <a:stretch>
                  <a:fillRect l="-1113" t="-4044" b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5F8A663-A640-8001-5F73-C40BD3ED4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961" y="4440272"/>
            <a:ext cx="8747924" cy="1910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E64C52-F7F1-9763-C2BE-791977550571}"/>
              </a:ext>
            </a:extLst>
          </p:cNvPr>
          <p:cNvSpPr txBox="1"/>
          <p:nvPr/>
        </p:nvSpPr>
        <p:spPr>
          <a:xfrm>
            <a:off x="3816637" y="6350680"/>
            <a:ext cx="4136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Diagram credit, </a:t>
            </a:r>
            <a:r>
              <a:rPr lang="en-US" dirty="0" err="1">
                <a:hlinkClick r:id="rId3"/>
              </a:rPr>
              <a:t>Mengzhao</a:t>
            </a:r>
            <a:r>
              <a:rPr lang="en-US" dirty="0">
                <a:hlinkClick r:id="rId3"/>
              </a:rPr>
              <a:t> Wang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23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3AC91-3FEF-F012-50F2-DB556E8F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CCCA-05B6-399F-C06C-7C9D8649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8743B-9C26-92E1-FD2A-BD8565DD9DB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88220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defined as having high clustering coefficients and distance growing by a </a:t>
                </a:r>
                <a:r>
                  <a:rPr lang="en-US" b="1" dirty="0">
                    <a:latin typeface="+mn-lt"/>
                  </a:rPr>
                  <a:t>power law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  <a:hlinkClick r:id="rId3"/>
                  </a:rPr>
                  <a:t>small world graph </a:t>
                </a:r>
                <a:r>
                  <a:rPr lang="en-US" dirty="0">
                    <a:latin typeface="+mn-lt"/>
                  </a:rPr>
                  <a:t>exhibits </a:t>
                </a:r>
                <a:r>
                  <a:rPr lang="en-US" b="1" dirty="0">
                    <a:latin typeface="+mn-lt"/>
                  </a:rPr>
                  <a:t>high association</a:t>
                </a:r>
                <a:r>
                  <a:rPr lang="en-US" dirty="0">
                    <a:latin typeface="+mn-lt"/>
                  </a:rPr>
                  <a:t> between nodes resulting from high clustering</a:t>
                </a:r>
              </a:p>
              <a:p>
                <a:r>
                  <a:rPr lang="en-US" dirty="0">
                    <a:latin typeface="+mn-lt"/>
                  </a:rPr>
                  <a:t>NSW graphs have both short-range connections between near neighbors and long-range connections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8743B-9C26-92E1-FD2A-BD8565DD9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88220" cy="5520629"/>
              </a:xfrm>
              <a:blipFill>
                <a:blip r:embed="rId4"/>
                <a:stretch>
                  <a:fillRect l="-2293" t="-1766" r="-2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3C30C89-85FC-CDEB-E3C8-531A64627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703" y="1110147"/>
            <a:ext cx="5537657" cy="56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0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0E7E01-AB46-C253-3183-F0ADCB03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50E9-0250-8580-209A-C003F96D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BA22A-30C7-BF83-1A25-22909B78BCC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a form of proximity graph </a:t>
                </a:r>
              </a:p>
              <a:p>
                <a:r>
                  <a:rPr lang="en-US" dirty="0">
                    <a:latin typeface="+mn-lt"/>
                  </a:rPr>
                  <a:t>Connectivity determined by number of edges per node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+mn-lt"/>
                  </a:rPr>
                  <a:t> in FAISS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in </a:t>
                </a:r>
                <a:r>
                  <a:rPr lang="en-US" dirty="0" err="1">
                    <a:latin typeface="+mn-lt"/>
                  </a:rPr>
                  <a:t>NetworkX</a:t>
                </a:r>
                <a:r>
                  <a:rPr lang="en-US" dirty="0">
                    <a:latin typeface="+mn-lt"/>
                  </a:rPr>
                  <a:t>)</a:t>
                </a:r>
              </a:p>
              <a:p>
                <a:r>
                  <a:rPr lang="en-US" dirty="0">
                    <a:latin typeface="+mn-lt"/>
                  </a:rPr>
                  <a:t>As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the proximity graph becomes fully connected </a:t>
                </a:r>
              </a:p>
              <a:p>
                <a:r>
                  <a:rPr lang="en-US" dirty="0">
                    <a:latin typeface="+mn-lt"/>
                  </a:rPr>
                  <a:t>Clustering coefficient increases and average distance decreases as average number of connections per node increase  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BA22A-30C7-BF83-1A25-22909B78B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58F768-876D-3F0F-4F3F-8D5515AF2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14" y="898071"/>
            <a:ext cx="5492710" cy="588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2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5C1975-86BE-6471-DDF7-FB1A61D1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6148-25E3-635A-6ECF-D4136695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CFC3C-30A0-220C-3F5B-01208B78340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defined as having high clustering coefficients and distance growing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Clustering coefficient increases and average distance decreases as average number of long-range connections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 in </a:t>
                </a:r>
                <a:r>
                  <a:rPr lang="en-US" dirty="0" err="1">
                    <a:latin typeface="+mn-lt"/>
                  </a:rPr>
                  <a:t>NetworkX</a:t>
                </a:r>
                <a:r>
                  <a:rPr lang="en-US" dirty="0">
                    <a:latin typeface="+mn-lt"/>
                  </a:rPr>
                  <a:t>) per node increase   </a:t>
                </a:r>
              </a:p>
              <a:p>
                <a:r>
                  <a:rPr lang="en-US" dirty="0">
                    <a:latin typeface="+mn-lt"/>
                  </a:rPr>
                  <a:t>NSW graphs have relatively few </a:t>
                </a:r>
                <a:r>
                  <a:rPr lang="en-US" b="1" dirty="0">
                    <a:latin typeface="+mn-lt"/>
                  </a:rPr>
                  <a:t>hub nodes </a:t>
                </a:r>
                <a:r>
                  <a:rPr lang="en-US" dirty="0">
                    <a:latin typeface="+mn-lt"/>
                  </a:rPr>
                  <a:t>with high degree compared to other nodes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CFC3C-30A0-220C-3F5B-01208B7834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BA406F-C0EC-86D7-D4C4-782600EC8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276" y="938229"/>
            <a:ext cx="5492744" cy="586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1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9253-3C87-DABA-1C3D-8A283451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1944-2E01-CD22-81C9-1C26C078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6DF4-DAB1-D0B5-6EB0-2CFD24FC68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11270795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enable efficient and scalable ANNS </a:t>
            </a:r>
          </a:p>
          <a:p>
            <a:r>
              <a:rPr lang="en-US" dirty="0">
                <a:latin typeface="+mn-lt"/>
                <a:hlinkClick r:id="rId3"/>
              </a:rPr>
              <a:t>Malkov, et. al., 2014</a:t>
            </a:r>
            <a:r>
              <a:rPr lang="en-US" dirty="0">
                <a:latin typeface="+mn-lt"/>
              </a:rPr>
              <a:t> applied NSW graphs to the ANNS problem </a:t>
            </a:r>
          </a:p>
          <a:p>
            <a:pPr lvl="1"/>
            <a:r>
              <a:rPr lang="en-US" dirty="0">
                <a:latin typeface="+mn-lt"/>
              </a:rPr>
              <a:t>In some cases, a greedy search on a NSW effectively finds the NNs </a:t>
            </a:r>
          </a:p>
          <a:p>
            <a:pPr lvl="1"/>
            <a:r>
              <a:rPr lang="en-US" dirty="0">
                <a:latin typeface="+mn-lt"/>
              </a:rPr>
              <a:t>If the graph exhibits considerable clustering only a sub-optimal local solution will be found </a:t>
            </a:r>
          </a:p>
          <a:p>
            <a:pPr lvl="1"/>
            <a:r>
              <a:rPr lang="en-US" dirty="0">
                <a:latin typeface="+mn-lt"/>
              </a:rPr>
              <a:t>In other cases, the search path can be excessively long     </a:t>
            </a:r>
          </a:p>
          <a:p>
            <a:r>
              <a:rPr lang="en-US" dirty="0">
                <a:latin typeface="+mn-lt"/>
              </a:rPr>
              <a:t>Using a hierarchy of NSW graphs is more robust and helps to overcome these problems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45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86A7F-33F3-9EED-FDE1-2A0E0FAE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29FB-DC52-A09C-8ED9-597B4861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28218-D661-DCFD-AC6F-6EDDA7F363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976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for ANNS where first proposed for ANNS by </a:t>
            </a:r>
            <a:r>
              <a:rPr lang="en-US" dirty="0">
                <a:latin typeface="+mn-lt"/>
                <a:hlinkClick r:id="rId3"/>
              </a:rPr>
              <a:t>Malkov and </a:t>
            </a:r>
            <a:r>
              <a:rPr lang="en-US" dirty="0" err="1">
                <a:latin typeface="+mn-lt"/>
                <a:hlinkClick r:id="rId3"/>
              </a:rPr>
              <a:t>Yashunin</a:t>
            </a:r>
            <a:r>
              <a:rPr lang="en-US" dirty="0">
                <a:latin typeface="+mn-lt"/>
                <a:hlinkClick r:id="rId3"/>
              </a:rPr>
              <a:t>, 2016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CBFA5-7DA0-EA9A-E218-4BBFD083A1C5}"/>
              </a:ext>
            </a:extLst>
          </p:cNvPr>
          <p:cNvSpPr/>
          <p:nvPr/>
        </p:nvSpPr>
        <p:spPr>
          <a:xfrm>
            <a:off x="3766458" y="1928837"/>
            <a:ext cx="6253842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Select entry point node in top 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2DBD5-346B-251A-EB65-F95907D9355C}"/>
              </a:ext>
            </a:extLst>
          </p:cNvPr>
          <p:cNvSpPr/>
          <p:nvPr/>
        </p:nvSpPr>
        <p:spPr>
          <a:xfrm>
            <a:off x="3766460" y="2609369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Greedy search for nearest neighbor to the query vector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8F40AB-3908-3928-35A1-7476C743E9F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893379" y="2389077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004456-0D36-51A1-807E-A7A5291F4ACB}"/>
              </a:ext>
            </a:extLst>
          </p:cNvPr>
          <p:cNvSpPr txBox="1"/>
          <p:nvPr/>
        </p:nvSpPr>
        <p:spPr>
          <a:xfrm>
            <a:off x="3766455" y="6002615"/>
            <a:ext cx="6037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Nearest neighbor search on </a:t>
            </a:r>
            <a:r>
              <a:rPr lang="en-US" sz="2400" b="1"/>
              <a:t>HNSW graph</a:t>
            </a:r>
            <a:endParaRPr lang="en-US" sz="24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C5EA2C-24E2-20E3-D695-E3F153474478}"/>
              </a:ext>
            </a:extLst>
          </p:cNvPr>
          <p:cNvSpPr/>
          <p:nvPr/>
        </p:nvSpPr>
        <p:spPr>
          <a:xfrm>
            <a:off x="3766456" y="3277192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nearest neighbor from previous layer as entry point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BFA8A9-BFB1-8DB8-8F7E-99543D54BCBC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6893375" y="3056900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5F6EE63-77C3-F190-E979-04061EBA0E0F}"/>
              </a:ext>
            </a:extLst>
          </p:cNvPr>
          <p:cNvSpPr/>
          <p:nvPr/>
        </p:nvSpPr>
        <p:spPr>
          <a:xfrm>
            <a:off x="3766455" y="3957724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Greedy search next layer for nearest neighbor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075465-DAF4-1D66-FDFC-DB17F0777524}"/>
              </a:ext>
            </a:extLst>
          </p:cNvPr>
          <p:cNvCxnSpPr>
            <a:cxnSpLocks/>
          </p:cNvCxnSpPr>
          <p:nvPr/>
        </p:nvCxnSpPr>
        <p:spPr>
          <a:xfrm>
            <a:off x="6860030" y="3766145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52A40D9-BC9A-B5AF-D471-7985612DFF52}"/>
              </a:ext>
            </a:extLst>
          </p:cNvPr>
          <p:cNvSpPr/>
          <p:nvPr/>
        </p:nvSpPr>
        <p:spPr>
          <a:xfrm>
            <a:off x="3766455" y="5332540"/>
            <a:ext cx="625384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Search bottom layer for nearest neighbor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94E0A4-AF13-18BA-6001-D53BC1676041}"/>
              </a:ext>
            </a:extLst>
          </p:cNvPr>
          <p:cNvCxnSpPr>
            <a:cxnSpLocks/>
          </p:cNvCxnSpPr>
          <p:nvPr/>
        </p:nvCxnSpPr>
        <p:spPr>
          <a:xfrm>
            <a:off x="6862756" y="4446677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7F085C3-8948-CD20-19B4-1844093301E6}"/>
              </a:ext>
            </a:extLst>
          </p:cNvPr>
          <p:cNvSpPr/>
          <p:nvPr/>
        </p:nvSpPr>
        <p:spPr>
          <a:xfrm>
            <a:off x="3766455" y="4666969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nearest neighbor from previous layer as entry point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D68C34-A6E4-6BA7-1536-F1A062FF0026}"/>
              </a:ext>
            </a:extLst>
          </p:cNvPr>
          <p:cNvCxnSpPr>
            <a:cxnSpLocks/>
          </p:cNvCxnSpPr>
          <p:nvPr/>
        </p:nvCxnSpPr>
        <p:spPr>
          <a:xfrm>
            <a:off x="6893374" y="5127209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794C8B-5B10-0553-9F2E-E7A1781F74CA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10020296" y="3507312"/>
            <a:ext cx="5660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6F5AF6-21A3-3D4D-8F42-49CD39D4583F}"/>
              </a:ext>
            </a:extLst>
          </p:cNvPr>
          <p:cNvCxnSpPr>
            <a:cxnSpLocks/>
          </p:cNvCxnSpPr>
          <p:nvPr/>
        </p:nvCxnSpPr>
        <p:spPr>
          <a:xfrm flipH="1">
            <a:off x="10001931" y="4175599"/>
            <a:ext cx="56606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29ED31-EA1D-7730-767A-B08701988BF9}"/>
              </a:ext>
            </a:extLst>
          </p:cNvPr>
          <p:cNvCxnSpPr>
            <a:cxnSpLocks/>
          </p:cNvCxnSpPr>
          <p:nvPr/>
        </p:nvCxnSpPr>
        <p:spPr>
          <a:xfrm>
            <a:off x="10567992" y="3507312"/>
            <a:ext cx="0" cy="667823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ight Brace 43">
            <a:extLst>
              <a:ext uri="{FF2B5EF4-FFF2-40B4-BE49-F238E27FC236}">
                <a16:creationId xmlns:a16="http://schemas.microsoft.com/office/drawing/2014/main" id="{B42A9146-BCF4-4759-A16B-925461BE3678}"/>
              </a:ext>
            </a:extLst>
          </p:cNvPr>
          <p:cNvSpPr/>
          <p:nvPr/>
        </p:nvSpPr>
        <p:spPr>
          <a:xfrm rot="10800000">
            <a:off x="3322923" y="1928837"/>
            <a:ext cx="263919" cy="245871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DC06B-93FB-4CD7-FB69-EA7D7982962B}"/>
              </a:ext>
            </a:extLst>
          </p:cNvPr>
          <p:cNvSpPr txBox="1"/>
          <p:nvPr/>
        </p:nvSpPr>
        <p:spPr>
          <a:xfrm rot="5400000">
            <a:off x="2225543" y="2936213"/>
            <a:ext cx="173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Zoom In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573494D8-AC9B-3620-48B6-5291A85534D8}"/>
              </a:ext>
            </a:extLst>
          </p:cNvPr>
          <p:cNvSpPr/>
          <p:nvPr/>
        </p:nvSpPr>
        <p:spPr>
          <a:xfrm rot="10800000">
            <a:off x="3304556" y="4666969"/>
            <a:ext cx="263915" cy="111921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50E28C-FC2C-6A67-284E-561EE0B95AB3}"/>
              </a:ext>
            </a:extLst>
          </p:cNvPr>
          <p:cNvSpPr txBox="1"/>
          <p:nvPr/>
        </p:nvSpPr>
        <p:spPr>
          <a:xfrm rot="5400000">
            <a:off x="2207175" y="4896376"/>
            <a:ext cx="173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Zoom Out</a:t>
            </a:r>
          </a:p>
        </p:txBody>
      </p:sp>
    </p:spTree>
    <p:extLst>
      <p:ext uri="{BB962C8B-B14F-4D97-AF65-F5344CB8AC3E}">
        <p14:creationId xmlns:p14="http://schemas.microsoft.com/office/powerpoint/2010/main" val="244488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  <p:bldP spid="23" grpId="0" animBg="1"/>
      <p:bldP spid="25" grpId="0" animBg="1"/>
      <p:bldP spid="27" grpId="0" animBg="1"/>
      <p:bldP spid="30" grpId="0" animBg="1"/>
      <p:bldP spid="44" grpId="0" animBg="1"/>
      <p:bldP spid="45" grpId="0"/>
      <p:bldP spid="46" grpId="0" animBg="1"/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238F-77C3-A259-BE0F-F9989CD4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DDE3-D070-E60F-6C3C-353EE773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1F5E-70F0-2502-571D-6F67E53500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936171"/>
            <a:ext cx="11493953" cy="29010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enable efficient and scalable ANNS </a:t>
            </a:r>
          </a:p>
          <a:p>
            <a:r>
              <a:rPr lang="en-US" dirty="0">
                <a:latin typeface="+mn-lt"/>
              </a:rPr>
              <a:t>The hierarchy of NSW graphs creates a skip list </a:t>
            </a:r>
          </a:p>
          <a:p>
            <a:r>
              <a:rPr lang="en-US" dirty="0">
                <a:latin typeface="+mn-lt"/>
              </a:rPr>
              <a:t>Skip-list search was introduced by </a:t>
            </a:r>
            <a:r>
              <a:rPr lang="en-US" dirty="0">
                <a:latin typeface="+mn-lt"/>
                <a:hlinkClick r:id="rId3"/>
              </a:rPr>
              <a:t>Pugh, 1990</a:t>
            </a:r>
            <a:r>
              <a:rPr lang="en-US" dirty="0">
                <a:latin typeface="+mn-lt"/>
              </a:rPr>
              <a:t>, as a fast search algorithm</a:t>
            </a:r>
          </a:p>
          <a:p>
            <a:r>
              <a:rPr lang="en-US" dirty="0">
                <a:latin typeface="+mn-lt"/>
              </a:rPr>
              <a:t>A skip-list is a form of linked list using a hierarchy of long-range and short-range links </a:t>
            </a:r>
          </a:p>
          <a:p>
            <a:r>
              <a:rPr lang="en-US" dirty="0">
                <a:latin typeface="+mn-lt"/>
              </a:rPr>
              <a:t>Links connecting observations are sampled probabilistically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CD350-8BD3-2DB4-9078-132B807F1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20" y="3696579"/>
            <a:ext cx="7321852" cy="3124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D9B59-C887-3854-7D70-9EEEF1326E73}"/>
              </a:ext>
            </a:extLst>
          </p:cNvPr>
          <p:cNvSpPr txBox="1"/>
          <p:nvPr/>
        </p:nvSpPr>
        <p:spPr>
          <a:xfrm>
            <a:off x="8224170" y="5437905"/>
            <a:ext cx="300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Diagram credit, Pugh, 1990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2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B3DD-6AF3-7F01-243B-9935A70B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806806E-0258-60E1-04C4-1AF989B596EB}"/>
              </a:ext>
            </a:extLst>
          </p:cNvPr>
          <p:cNvCxnSpPr>
            <a:cxnSpLocks/>
          </p:cNvCxnSpPr>
          <p:nvPr/>
        </p:nvCxnSpPr>
        <p:spPr>
          <a:xfrm>
            <a:off x="8706412" y="5768665"/>
            <a:ext cx="2063983" cy="30709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0816B93-6C8E-9CD9-6CFA-14841B6E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8646-8F4A-2043-16A2-7D88AF9A35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5549101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 has layers comprised of NSW graphs of increasing resolution</a:t>
            </a:r>
          </a:p>
          <a:p>
            <a:r>
              <a:rPr lang="en-US" dirty="0">
                <a:latin typeface="+mn-lt"/>
              </a:rPr>
              <a:t>The highest level of the hierarchy has the longest-range edges</a:t>
            </a:r>
          </a:p>
          <a:p>
            <a:r>
              <a:rPr lang="en-US" dirty="0">
                <a:latin typeface="+mn-lt"/>
              </a:rPr>
              <a:t>The search proceeds to increasingly finer detail levels </a:t>
            </a:r>
          </a:p>
          <a:p>
            <a:r>
              <a:rPr lang="en-US" dirty="0">
                <a:latin typeface="+mn-lt"/>
              </a:rPr>
              <a:t>The lowest level contains all nodes and the most detail 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23875B6-AEFA-AE79-FEBC-717CFCB7C411}"/>
              </a:ext>
            </a:extLst>
          </p:cNvPr>
          <p:cNvSpPr/>
          <p:nvPr/>
        </p:nvSpPr>
        <p:spPr>
          <a:xfrm>
            <a:off x="6309525" y="4822372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D3E2A3-2827-4742-46C7-2622C18A26A6}"/>
              </a:ext>
            </a:extLst>
          </p:cNvPr>
          <p:cNvSpPr/>
          <p:nvPr/>
        </p:nvSpPr>
        <p:spPr>
          <a:xfrm>
            <a:off x="7021287" y="509451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2172-E6CD-EABD-387D-126D4321CB19}"/>
              </a:ext>
            </a:extLst>
          </p:cNvPr>
          <p:cNvSpPr/>
          <p:nvPr/>
        </p:nvSpPr>
        <p:spPr>
          <a:xfrm>
            <a:off x="7149194" y="56968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9A72ED-B5B0-FD36-81F2-D1FD00A701DA}"/>
              </a:ext>
            </a:extLst>
          </p:cNvPr>
          <p:cNvSpPr/>
          <p:nvPr/>
        </p:nvSpPr>
        <p:spPr>
          <a:xfrm>
            <a:off x="7832272" y="591824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3577B1-1666-1215-B074-F3C171C45E0D}"/>
              </a:ext>
            </a:extLst>
          </p:cNvPr>
          <p:cNvSpPr/>
          <p:nvPr/>
        </p:nvSpPr>
        <p:spPr>
          <a:xfrm>
            <a:off x="8502539" y="562573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D3CB37-8E9D-8ECC-988D-8AC29CCD33AC}"/>
              </a:ext>
            </a:extLst>
          </p:cNvPr>
          <p:cNvSpPr/>
          <p:nvPr/>
        </p:nvSpPr>
        <p:spPr>
          <a:xfrm>
            <a:off x="8753875" y="49297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AE11E2-492F-7F6C-5067-0894E930202F}"/>
              </a:ext>
            </a:extLst>
          </p:cNvPr>
          <p:cNvSpPr/>
          <p:nvPr/>
        </p:nvSpPr>
        <p:spPr>
          <a:xfrm>
            <a:off x="9482589" y="554137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D3A10-DF33-AC65-9109-A8A13BF8030B}"/>
              </a:ext>
            </a:extLst>
          </p:cNvPr>
          <p:cNvSpPr/>
          <p:nvPr/>
        </p:nvSpPr>
        <p:spPr>
          <a:xfrm>
            <a:off x="10756909" y="600261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E21BB0-4E5A-B4D6-3FD3-89E025811612}"/>
              </a:ext>
            </a:extLst>
          </p:cNvPr>
          <p:cNvSpPr/>
          <p:nvPr/>
        </p:nvSpPr>
        <p:spPr>
          <a:xfrm>
            <a:off x="11012723" y="543476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4E550A-B1E2-15E2-4D36-054B1C29E0C3}"/>
              </a:ext>
            </a:extLst>
          </p:cNvPr>
          <p:cNvSpPr/>
          <p:nvPr/>
        </p:nvSpPr>
        <p:spPr>
          <a:xfrm>
            <a:off x="10501095" y="494848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0303A0-4485-C2DB-BA01-6465AEB83FD4}"/>
              </a:ext>
            </a:extLst>
          </p:cNvPr>
          <p:cNvSpPr/>
          <p:nvPr/>
        </p:nvSpPr>
        <p:spPr>
          <a:xfrm>
            <a:off x="9781141" y="5178878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9C0BDFA-7B86-E1F9-FA37-C27614AEC000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9E5BD3-933D-0567-A4E7-2BDFAC8C4339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78EFF97-01CC-6A2E-2BFB-D7136BF02DE1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8CADBF-110A-D1AE-4167-68D67DA97ECD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A10C70-5F55-4DAA-757B-68C2740752E0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838ACE-2476-4292-3A7C-2791861EACA8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35106DA-76D9-F18F-1AE6-196A3B9EFD26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8D46603-DB25-89E4-D701-278AEA2B7692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64BE22-1966-FA1B-FC04-99B49F0B0DAC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9C6398-CCCE-2A1F-2108-A5E6ACA3B7D4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F9CDA4EF-7EFA-2BCA-3791-F9D88C314FD3}"/>
              </a:ext>
            </a:extLst>
          </p:cNvPr>
          <p:cNvSpPr/>
          <p:nvPr/>
        </p:nvSpPr>
        <p:spPr>
          <a:xfrm>
            <a:off x="9391174" y="5942742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7972C5-7DC8-6024-D6A0-708B0C397143}"/>
              </a:ext>
            </a:extLst>
          </p:cNvPr>
          <p:cNvSpPr txBox="1"/>
          <p:nvPr/>
        </p:nvSpPr>
        <p:spPr>
          <a:xfrm>
            <a:off x="9113356" y="6067867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38" name="Cross 37">
            <a:extLst>
              <a:ext uri="{FF2B5EF4-FFF2-40B4-BE49-F238E27FC236}">
                <a16:creationId xmlns:a16="http://schemas.microsoft.com/office/drawing/2014/main" id="{FDAAEC98-F31C-F445-EAFF-83863437D3D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C70E6E-6E5D-1C15-631E-32BB754003DD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31631918-C3C9-9A66-B66A-0FB81DD6F976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78A98B-F55B-92EA-020A-6D950891D45E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318DBA-2C65-5F15-6553-B137400F6BC8}"/>
              </a:ext>
            </a:extLst>
          </p:cNvPr>
          <p:cNvSpPr txBox="1"/>
          <p:nvPr/>
        </p:nvSpPr>
        <p:spPr>
          <a:xfrm>
            <a:off x="8182371" y="642437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2969D5-7B01-3D98-7ADA-0EE92AA11C7A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5DB427-1A7D-AEE8-99FA-4B4F610871B0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442A88-90AD-8B87-DF5C-9E4B16A1B2B9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0A68A8-6B26-2528-479F-2CD83E313284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F12D3B6-6858-C8FE-ECFA-587824B1A928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66059B6-FED1-127B-6819-CDCCBEFEA66E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63617D7-A4BD-0BB0-68BD-325A765E96D7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FA096B3-ADB1-583F-AD36-1292790CD0EB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09CF094-15B0-11F4-DA4A-68C8177E1146}"/>
              </a:ext>
            </a:extLst>
          </p:cNvPr>
          <p:cNvCxnSpPr/>
          <p:nvPr/>
        </p:nvCxnSpPr>
        <p:spPr>
          <a:xfrm>
            <a:off x="7239638" y="5201518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2A575E1-A151-729D-67E9-1BAF71013D47}"/>
              </a:ext>
            </a:extLst>
          </p:cNvPr>
          <p:cNvCxnSpPr>
            <a:cxnSpLocks/>
          </p:cNvCxnSpPr>
          <p:nvPr/>
        </p:nvCxnSpPr>
        <p:spPr>
          <a:xfrm flipV="1">
            <a:off x="7277101" y="5058976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01B0FE9-9172-282C-00A5-892E7000361E}"/>
              </a:ext>
            </a:extLst>
          </p:cNvPr>
          <p:cNvCxnSpPr>
            <a:cxnSpLocks/>
          </p:cNvCxnSpPr>
          <p:nvPr/>
        </p:nvCxnSpPr>
        <p:spPr>
          <a:xfrm>
            <a:off x="10605025" y="5117215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9AC36D-A25E-874B-3A03-4A8AF3180D88}"/>
              </a:ext>
            </a:extLst>
          </p:cNvPr>
          <p:cNvCxnSpPr>
            <a:cxnSpLocks/>
            <a:stCxn id="20" idx="7"/>
            <a:endCxn id="24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3A18491-4D13-A3E2-DAAE-052BDB93BF91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E47819-EE46-7764-69F3-C46194333103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B731B24-330A-4ABF-B5C7-A995D7562208}"/>
              </a:ext>
            </a:extLst>
          </p:cNvPr>
          <p:cNvCxnSpPr>
            <a:cxnSpLocks/>
            <a:stCxn id="22" idx="0"/>
            <a:endCxn id="24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94AD7A9-0D87-6E46-5A61-A75DDA153E79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DE693E4-3C0C-4A73-DF13-D0875B2A7F95}"/>
              </a:ext>
            </a:extLst>
          </p:cNvPr>
          <p:cNvCxnSpPr>
            <a:cxnSpLocks/>
          </p:cNvCxnSpPr>
          <p:nvPr/>
        </p:nvCxnSpPr>
        <p:spPr>
          <a:xfrm flipV="1">
            <a:off x="7255101" y="4991299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AA0AAD8-7286-3255-F216-71823C7524FA}"/>
              </a:ext>
            </a:extLst>
          </p:cNvPr>
          <p:cNvCxnSpPr>
            <a:cxnSpLocks/>
          </p:cNvCxnSpPr>
          <p:nvPr/>
        </p:nvCxnSpPr>
        <p:spPr>
          <a:xfrm>
            <a:off x="8982176" y="4989494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6961EBB-F5CC-CB17-CCFE-92F400331C9D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7239638" y="5238533"/>
            <a:ext cx="1300364" cy="41191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DBA80A6-E4BF-6666-CB34-6E92689222C2}"/>
              </a:ext>
            </a:extLst>
          </p:cNvPr>
          <p:cNvCxnSpPr>
            <a:cxnSpLocks/>
            <a:stCxn id="17" idx="2"/>
            <a:endCxn id="12" idx="5"/>
          </p:cNvCxnSpPr>
          <p:nvPr/>
        </p:nvCxnSpPr>
        <p:spPr>
          <a:xfrm flipH="1" flipV="1">
            <a:off x="8972226" y="5073799"/>
            <a:ext cx="808915" cy="18944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A25BEDE-E1FB-9268-3EE4-3CBC4492522F}"/>
              </a:ext>
            </a:extLst>
          </p:cNvPr>
          <p:cNvCxnSpPr>
            <a:cxnSpLocks/>
            <a:stCxn id="17" idx="6"/>
            <a:endCxn id="16" idx="3"/>
          </p:cNvCxnSpPr>
          <p:nvPr/>
        </p:nvCxnSpPr>
        <p:spPr>
          <a:xfrm flipV="1">
            <a:off x="10036955" y="5092505"/>
            <a:ext cx="501603" cy="1707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61187C3-38B3-8C25-F047-EE1793DA9D97}"/>
              </a:ext>
            </a:extLst>
          </p:cNvPr>
          <p:cNvCxnSpPr>
            <a:cxnSpLocks/>
            <a:stCxn id="16" idx="5"/>
            <a:endCxn id="15" idx="1"/>
          </p:cNvCxnSpPr>
          <p:nvPr/>
        </p:nvCxnSpPr>
        <p:spPr>
          <a:xfrm>
            <a:off x="10719446" y="5092505"/>
            <a:ext cx="330740" cy="36696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F6DA59-876B-CF54-0F10-637D85D4BE3B}"/>
              </a:ext>
            </a:extLst>
          </p:cNvPr>
          <p:cNvCxnSpPr>
            <a:cxnSpLocks/>
            <a:stCxn id="14" idx="7"/>
            <a:endCxn id="15" idx="3"/>
          </p:cNvCxnSpPr>
          <p:nvPr/>
        </p:nvCxnSpPr>
        <p:spPr>
          <a:xfrm flipV="1">
            <a:off x="10975260" y="5578780"/>
            <a:ext cx="74926" cy="44854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4E4A2C5-78A8-8DF8-A644-6D277A48D26D}"/>
              </a:ext>
            </a:extLst>
          </p:cNvPr>
          <p:cNvCxnSpPr>
            <a:cxnSpLocks/>
            <a:stCxn id="13" idx="0"/>
            <a:endCxn id="17" idx="3"/>
          </p:cNvCxnSpPr>
          <p:nvPr/>
        </p:nvCxnSpPr>
        <p:spPr>
          <a:xfrm flipV="1">
            <a:off x="9610496" y="5322897"/>
            <a:ext cx="208108" cy="21847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3299CB6-3F14-3684-A49B-B5D0811AA73C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8758353" y="5625739"/>
            <a:ext cx="724236" cy="8436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7E7A2BC-56DA-C614-E8F2-FB7EC5016BD7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8050623" y="5769758"/>
            <a:ext cx="489379" cy="17319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9381C6-78A1-D03F-E3AC-53667E27C983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7149194" y="5263243"/>
            <a:ext cx="127907" cy="4336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F6BF875-AE41-98A5-2211-FA4642DBC0D6}"/>
              </a:ext>
            </a:extLst>
          </p:cNvPr>
          <p:cNvCxnSpPr>
            <a:cxnSpLocks/>
            <a:stCxn id="10" idx="2"/>
            <a:endCxn id="9" idx="5"/>
          </p:cNvCxnSpPr>
          <p:nvPr/>
        </p:nvCxnSpPr>
        <p:spPr>
          <a:xfrm flipH="1" flipV="1">
            <a:off x="7367545" y="5840899"/>
            <a:ext cx="464727" cy="1617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86E7CFC-387F-7C17-E1C0-130B1D4EDA6C}"/>
              </a:ext>
            </a:extLst>
          </p:cNvPr>
          <p:cNvCxnSpPr>
            <a:cxnSpLocks/>
            <a:stCxn id="14" idx="2"/>
            <a:endCxn id="13" idx="6"/>
          </p:cNvCxnSpPr>
          <p:nvPr/>
        </p:nvCxnSpPr>
        <p:spPr>
          <a:xfrm flipH="1" flipV="1">
            <a:off x="9738403" y="5625739"/>
            <a:ext cx="1018506" cy="46123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545F15A-FE67-FA69-002A-3DCFB5654BB5}"/>
              </a:ext>
            </a:extLst>
          </p:cNvPr>
          <p:cNvCxnSpPr>
            <a:cxnSpLocks/>
            <a:stCxn id="13" idx="4"/>
            <a:endCxn id="36" idx="0"/>
          </p:cNvCxnSpPr>
          <p:nvPr/>
        </p:nvCxnSpPr>
        <p:spPr>
          <a:xfrm flipH="1">
            <a:off x="9543574" y="5710103"/>
            <a:ext cx="66922" cy="23263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289887-E021-4B42-CCC4-17DF94EA212F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176B36-021A-4FD4-9EB7-638CA9BF5006}"/>
              </a:ext>
            </a:extLst>
          </p:cNvPr>
          <p:cNvCxnSpPr>
            <a:cxnSpLocks/>
          </p:cNvCxnSpPr>
          <p:nvPr/>
        </p:nvCxnSpPr>
        <p:spPr>
          <a:xfrm>
            <a:off x="8543768" y="3837530"/>
            <a:ext cx="37463" cy="1807644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8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/>
      <p:bldP spid="40" grpId="0" animBg="1"/>
      <p:bldP spid="41" grpId="0"/>
      <p:bldP spid="43" grpId="0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DC7B-A4D4-6FF8-8C5E-B9545B71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AB3D-5A02-E995-D121-81FD784E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43F2C-CAFA-379B-05D9-C764A1F04AE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search at the highest level begins at a chosen </a:t>
                </a:r>
                <a:r>
                  <a:rPr lang="en-US" b="1" dirty="0">
                    <a:latin typeface="+mn-lt"/>
                  </a:rPr>
                  <a:t>entry point node</a:t>
                </a:r>
              </a:p>
              <a:p>
                <a:r>
                  <a:rPr lang="en-US" dirty="0">
                    <a:latin typeface="+mn-lt"/>
                  </a:rPr>
                  <a:t>The graph is traversed in a greedy manner until the nodes closest to the query are found</a:t>
                </a:r>
              </a:p>
              <a:p>
                <a:r>
                  <a:rPr lang="en-US" dirty="0">
                    <a:latin typeface="+mn-lt"/>
                  </a:rPr>
                  <a:t>Searches at subsequent levels are the ‘zoom in’ phase of the search 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43F2C-CAFA-379B-05D9-C764A1F04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Parallelogram 29">
            <a:extLst>
              <a:ext uri="{FF2B5EF4-FFF2-40B4-BE49-F238E27FC236}">
                <a16:creationId xmlns:a16="http://schemas.microsoft.com/office/drawing/2014/main" id="{0BB0C581-776F-2E88-CBA9-BA3F88E36658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76BF2A-68FD-FB57-7BA0-2F0AA999173B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0579B8B-A679-0DE9-4E21-1B0AACB8A1E2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F407EB-15C3-959F-6BC3-D8820A58B15C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51CF7BF0-D7F0-8F82-76A8-D3FC4B5E9285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712875-F79C-FBC1-A052-1DCD90528AA1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7297A0-4F7D-CDD2-20AF-8634433810D6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71F219-3A61-3B44-3A6E-03ECE416E833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F79376-94F2-E148-D1F8-EC5C0E8FE315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D0E2108-2563-178B-A23E-315F58A8ECD7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A1B79B-3136-EB2F-6AA1-9F7DE03455CB}"/>
              </a:ext>
            </a:extLst>
          </p:cNvPr>
          <p:cNvCxnSpPr>
            <a:cxnSpLocks/>
          </p:cNvCxnSpPr>
          <p:nvPr/>
        </p:nvCxnSpPr>
        <p:spPr>
          <a:xfrm flipV="1">
            <a:off x="5063163" y="1304527"/>
            <a:ext cx="2158202" cy="2055240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9CB789-4D24-55A3-5F2C-EAAEB48CCDC8}"/>
              </a:ext>
            </a:extLst>
          </p:cNvPr>
          <p:cNvCxnSpPr>
            <a:cxnSpLocks/>
          </p:cNvCxnSpPr>
          <p:nvPr/>
        </p:nvCxnSpPr>
        <p:spPr>
          <a:xfrm flipV="1">
            <a:off x="5475950" y="2283387"/>
            <a:ext cx="5608944" cy="212140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16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66884-BB68-805E-7D24-CE50436B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83C3-2230-0E0E-0B56-46086490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5F9B0-A576-A2F7-FEF5-9E9417D3E6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NN node at the previous level is used as the </a:t>
                </a:r>
                <a:r>
                  <a:rPr lang="en-US" b="1" dirty="0">
                    <a:latin typeface="+mn-lt"/>
                  </a:rPr>
                  <a:t>entry point node </a:t>
                </a:r>
                <a:r>
                  <a:rPr lang="en-US" dirty="0">
                    <a:latin typeface="+mn-lt"/>
                  </a:rPr>
                  <a:t>for a greedy search at the next level of the hierarchy</a:t>
                </a:r>
              </a:p>
              <a:p>
                <a:r>
                  <a:rPr lang="en-US" dirty="0">
                    <a:latin typeface="+mn-lt"/>
                  </a:rPr>
                  <a:t>Greedy search at next level of detail finds next NN node</a:t>
                </a:r>
              </a:p>
              <a:p>
                <a:r>
                  <a:rPr lang="en-US" dirty="0">
                    <a:latin typeface="+mn-lt"/>
                  </a:rPr>
                  <a:t>The foregoing steps are repeated until bottom level is reached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5F9B0-A576-A2F7-FEF5-9E9417D3E6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Parallelogram 18">
            <a:extLst>
              <a:ext uri="{FF2B5EF4-FFF2-40B4-BE49-F238E27FC236}">
                <a16:creationId xmlns:a16="http://schemas.microsoft.com/office/drawing/2014/main" id="{6BF8EAA6-95EE-9728-06BB-6D446DFFA5D3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54C500-9F85-C538-1105-0605C8FFD56B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6607B4-765E-73D5-49DD-EF4C16209808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70F5AD-7E6A-29F4-F04F-5AF4A8382190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4E5183E-4505-96B3-AEFE-9E6F989922A1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0893C1-D598-68A6-4848-3D4CE8C2144C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13F73852-377B-0AAC-2A5F-BB3E9FF8F945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C5398B-D3E8-EA3E-A31D-C148D4B3B524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20120EA-21A8-3E71-40E6-554D4AE60B6B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33253C8-F58A-F8D5-F477-7E0F4A3DA465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>
            <a:extLst>
              <a:ext uri="{FF2B5EF4-FFF2-40B4-BE49-F238E27FC236}">
                <a16:creationId xmlns:a16="http://schemas.microsoft.com/office/drawing/2014/main" id="{2D35ACAE-B65C-C4B4-2A2F-3275FFA4593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588C43-B542-AD83-5F2F-8091A7AE19A5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CAFAC627-5FEA-4C07-6217-1023846128FD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317728-BD7F-51DA-FE5F-F3EE54419422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FA2758-9F85-B9DA-EE07-C20F62BA93C4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87FA1D-79AE-D313-2928-ED9437836147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45B5BBE-8D28-F807-14A9-C502E59663C1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3DB25A-E0C0-A0A4-A41A-1D0BBDFBC4E6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EAE9E0-988D-9A03-D268-E1872AD0C5EA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43B38C8-CFEC-E19C-1DBA-6B3AA5022D10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D771A15-35E1-6E6E-6ACD-142E7E885CE4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C3DCFE9-E0FC-13D6-865A-D143DC1AB284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61172D2-471F-4418-2178-18E4572CBC79}"/>
              </a:ext>
            </a:extLst>
          </p:cNvPr>
          <p:cNvCxnSpPr>
            <a:cxnSpLocks/>
            <a:stCxn id="20" idx="7"/>
            <a:endCxn id="24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AA0B16-B7E8-F263-EC6A-C839EE416575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A2D9C5C-A89A-E348-319D-129650B518C3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7C4BD6D-5E54-A435-C2C9-886D2DF7D5F6}"/>
              </a:ext>
            </a:extLst>
          </p:cNvPr>
          <p:cNvCxnSpPr>
            <a:cxnSpLocks/>
            <a:stCxn id="22" idx="0"/>
            <a:endCxn id="24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A583C7-6054-0A80-560F-182DD6EA57D3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F2F854-68D8-84B5-9C49-814B13A00DE9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C39AF-8509-9880-ECB0-0E66B3268AE3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5627914" y="2187913"/>
            <a:ext cx="5366536" cy="80017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C4F403-B671-C83D-716A-A87012B72A83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4971327" y="3818095"/>
            <a:ext cx="3440768" cy="92173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FDBC3D-2967-B4C2-61E3-068551DCE09E}"/>
              </a:ext>
            </a:extLst>
          </p:cNvPr>
          <p:cNvCxnSpPr>
            <a:cxnSpLocks/>
          </p:cNvCxnSpPr>
          <p:nvPr/>
        </p:nvCxnSpPr>
        <p:spPr>
          <a:xfrm>
            <a:off x="5762733" y="3039905"/>
            <a:ext cx="5113919" cy="933632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76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8" grpId="0" animBg="1"/>
      <p:bldP spid="39" grpId="0"/>
      <p:bldP spid="43" grpId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8E51-F755-B036-43B1-A1805091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FFC6-371B-BD80-3FDB-82B89C94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A1F2-6BA3-B516-51CB-7F9DF621658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NN node at the previous level is used as the </a:t>
                </a:r>
                <a:r>
                  <a:rPr lang="en-US" b="1" dirty="0">
                    <a:latin typeface="+mn-lt"/>
                  </a:rPr>
                  <a:t>entry point node </a:t>
                </a:r>
                <a:r>
                  <a:rPr lang="en-US" dirty="0">
                    <a:latin typeface="+mn-lt"/>
                  </a:rPr>
                  <a:t>for a greedy search at the lowest level of the hierarchy</a:t>
                </a:r>
              </a:p>
              <a:p>
                <a:r>
                  <a:rPr lang="en-US" dirty="0">
                    <a:latin typeface="+mn-lt"/>
                  </a:rPr>
                  <a:t>Greedy search at the lowest level is has full detail, finding NN nodes</a:t>
                </a:r>
              </a:p>
              <a:p>
                <a:r>
                  <a:rPr lang="en-US" dirty="0">
                    <a:latin typeface="+mn-lt"/>
                  </a:rPr>
                  <a:t>The lowest level search is the ‘zoom out’ phase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A1F2-6BA3-B516-51CB-7F9DF6216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2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027448-B9FA-7DA4-9074-9B3E2E888256}"/>
              </a:ext>
            </a:extLst>
          </p:cNvPr>
          <p:cNvCxnSpPr>
            <a:cxnSpLocks/>
          </p:cNvCxnSpPr>
          <p:nvPr/>
        </p:nvCxnSpPr>
        <p:spPr>
          <a:xfrm>
            <a:off x="8706412" y="5768665"/>
            <a:ext cx="2063983" cy="30709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rallelogram 4">
            <a:extLst>
              <a:ext uri="{FF2B5EF4-FFF2-40B4-BE49-F238E27FC236}">
                <a16:creationId xmlns:a16="http://schemas.microsoft.com/office/drawing/2014/main" id="{92883C2E-FA76-2AE6-2A02-222F933E036D}"/>
              </a:ext>
            </a:extLst>
          </p:cNvPr>
          <p:cNvSpPr/>
          <p:nvPr/>
        </p:nvSpPr>
        <p:spPr>
          <a:xfrm>
            <a:off x="6309525" y="4822372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5F5FA4-FCC2-F527-1BE4-69A1A5DD11B5}"/>
              </a:ext>
            </a:extLst>
          </p:cNvPr>
          <p:cNvSpPr/>
          <p:nvPr/>
        </p:nvSpPr>
        <p:spPr>
          <a:xfrm>
            <a:off x="7021287" y="509451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1E69C2-4F62-AE40-077B-9D4A54A0BD48}"/>
              </a:ext>
            </a:extLst>
          </p:cNvPr>
          <p:cNvSpPr/>
          <p:nvPr/>
        </p:nvSpPr>
        <p:spPr>
          <a:xfrm>
            <a:off x="7149194" y="56968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07EA71-436E-24FC-C85C-1F0DCC0B9134}"/>
              </a:ext>
            </a:extLst>
          </p:cNvPr>
          <p:cNvSpPr/>
          <p:nvPr/>
        </p:nvSpPr>
        <p:spPr>
          <a:xfrm>
            <a:off x="7832272" y="591824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628CF7-1F20-2AB1-1820-68117B4A708D}"/>
              </a:ext>
            </a:extLst>
          </p:cNvPr>
          <p:cNvSpPr/>
          <p:nvPr/>
        </p:nvSpPr>
        <p:spPr>
          <a:xfrm>
            <a:off x="8502539" y="5625739"/>
            <a:ext cx="255814" cy="16872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930A90-3F87-DF00-CA0C-26320C7361D2}"/>
              </a:ext>
            </a:extLst>
          </p:cNvPr>
          <p:cNvSpPr/>
          <p:nvPr/>
        </p:nvSpPr>
        <p:spPr>
          <a:xfrm>
            <a:off x="8753875" y="49297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CD2286-98B3-40AA-D552-CB3B1316E0B6}"/>
              </a:ext>
            </a:extLst>
          </p:cNvPr>
          <p:cNvSpPr/>
          <p:nvPr/>
        </p:nvSpPr>
        <p:spPr>
          <a:xfrm>
            <a:off x="9482589" y="554137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7F7754-6051-D376-52B6-D0F1C513AE44}"/>
              </a:ext>
            </a:extLst>
          </p:cNvPr>
          <p:cNvSpPr/>
          <p:nvPr/>
        </p:nvSpPr>
        <p:spPr>
          <a:xfrm>
            <a:off x="10756909" y="600261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B24A3A-D5E1-849D-A317-35BE5CCC3E47}"/>
              </a:ext>
            </a:extLst>
          </p:cNvPr>
          <p:cNvSpPr/>
          <p:nvPr/>
        </p:nvSpPr>
        <p:spPr>
          <a:xfrm>
            <a:off x="11012723" y="543476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4D86DD-8070-4315-FEA8-606F25DD942E}"/>
              </a:ext>
            </a:extLst>
          </p:cNvPr>
          <p:cNvSpPr/>
          <p:nvPr/>
        </p:nvSpPr>
        <p:spPr>
          <a:xfrm>
            <a:off x="10501095" y="494848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1E2A6E-A133-B22A-02DC-160EC79E7320}"/>
              </a:ext>
            </a:extLst>
          </p:cNvPr>
          <p:cNvSpPr/>
          <p:nvPr/>
        </p:nvSpPr>
        <p:spPr>
          <a:xfrm>
            <a:off x="9781141" y="5178878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AD97C2EB-E080-8A9E-919C-313424D190BF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C8BACB-3BAC-4692-41D0-B3B3F7A2C5F5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2D925A-5B22-47FB-E975-88FBBCFFCAE4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CB69D8-DA67-715D-105F-289488C9B4F3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D1E808-E891-85AB-FB03-216DDF940445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66E3A68-6DEC-0DF3-97B7-469C593E8498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4E91FED9-8AFB-C7B7-BD55-9BA2227790C6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1E5C078-89C4-EC7A-4486-306F3558203D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B8DD2D-45D4-1E5E-1F59-A39AB9C74A49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EE0CC93-31C0-6F5A-DF3F-AC941457BDDB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>
            <a:extLst>
              <a:ext uri="{FF2B5EF4-FFF2-40B4-BE49-F238E27FC236}">
                <a16:creationId xmlns:a16="http://schemas.microsoft.com/office/drawing/2014/main" id="{E5C075B8-F30A-300A-68CE-1937EC4C8972}"/>
              </a:ext>
            </a:extLst>
          </p:cNvPr>
          <p:cNvSpPr/>
          <p:nvPr/>
        </p:nvSpPr>
        <p:spPr>
          <a:xfrm>
            <a:off x="9391174" y="5942742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52EAFF-2F3A-D2A6-1F12-00E1444838EF}"/>
              </a:ext>
            </a:extLst>
          </p:cNvPr>
          <p:cNvSpPr txBox="1"/>
          <p:nvPr/>
        </p:nvSpPr>
        <p:spPr>
          <a:xfrm>
            <a:off x="9113356" y="6067867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5" name="Cross 44">
            <a:extLst>
              <a:ext uri="{FF2B5EF4-FFF2-40B4-BE49-F238E27FC236}">
                <a16:creationId xmlns:a16="http://schemas.microsoft.com/office/drawing/2014/main" id="{99E94EE4-4A5B-7242-4ADD-8E96858DC7E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D93ED0-B658-27B7-CDD8-8B0539884555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66CA212E-4321-33F0-9408-0439FA557AA4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22E55C-94FE-5FA0-F01E-80801F6E5963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7F5F1F-65EA-D750-8F8C-EA7FF53CCF37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AB58DB-7C67-5BA3-D31E-4C182B701301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016697A-01DD-62B7-338E-21F505C7DBAE}"/>
              </a:ext>
            </a:extLst>
          </p:cNvPr>
          <p:cNvCxnSpPr>
            <a:stCxn id="32" idx="5"/>
            <a:endCxn id="33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88F8B5B-0868-FC04-B7E5-06E3C4124212}"/>
              </a:ext>
            </a:extLst>
          </p:cNvPr>
          <p:cNvCxnSpPr>
            <a:cxnSpLocks/>
            <a:stCxn id="32" idx="7"/>
            <a:endCxn id="36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B6BC89-84B5-7D93-CCC8-D28F817BAF90}"/>
              </a:ext>
            </a:extLst>
          </p:cNvPr>
          <p:cNvCxnSpPr>
            <a:cxnSpLocks/>
            <a:stCxn id="36" idx="4"/>
            <a:endCxn id="33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F39472-278E-C500-9EBC-1AB8613DBFDA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C9EE60E-DC28-2780-87BB-8F8343E7549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3801710-10C5-9F21-A10C-A99358A65FB8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0A87F5-348C-6482-1EB6-0FE803DA2D9B}"/>
              </a:ext>
            </a:extLst>
          </p:cNvPr>
          <p:cNvCxnSpPr/>
          <p:nvPr/>
        </p:nvCxnSpPr>
        <p:spPr>
          <a:xfrm>
            <a:off x="7239638" y="5201518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2048F83-06FA-871A-40C3-BFF217379CB3}"/>
              </a:ext>
            </a:extLst>
          </p:cNvPr>
          <p:cNvCxnSpPr>
            <a:cxnSpLocks/>
          </p:cNvCxnSpPr>
          <p:nvPr/>
        </p:nvCxnSpPr>
        <p:spPr>
          <a:xfrm flipV="1">
            <a:off x="7277101" y="5058976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A49A0C-7913-7E3A-5D1D-C39442C84AB1}"/>
              </a:ext>
            </a:extLst>
          </p:cNvPr>
          <p:cNvCxnSpPr>
            <a:cxnSpLocks/>
          </p:cNvCxnSpPr>
          <p:nvPr/>
        </p:nvCxnSpPr>
        <p:spPr>
          <a:xfrm>
            <a:off x="10605025" y="5117215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84D62B2-8619-D09A-28A4-38486652585D}"/>
              </a:ext>
            </a:extLst>
          </p:cNvPr>
          <p:cNvCxnSpPr>
            <a:cxnSpLocks/>
            <a:stCxn id="17" idx="7"/>
            <a:endCxn id="21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AF3CF4E-917C-D809-7750-D952E1254D4D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1CC2891-B1C7-BACC-D44C-C337CDD72F9C}"/>
              </a:ext>
            </a:extLst>
          </p:cNvPr>
          <p:cNvCxnSpPr>
            <a:cxnSpLocks/>
            <a:stCxn id="17" idx="4"/>
            <a:endCxn id="18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B997537-24F7-4C93-6549-1830BC3A3EFC}"/>
              </a:ext>
            </a:extLst>
          </p:cNvPr>
          <p:cNvCxnSpPr>
            <a:cxnSpLocks/>
            <a:stCxn id="18" idx="0"/>
            <a:endCxn id="21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6676EC4-4D1C-ECCA-9B20-A8BE753E8574}"/>
              </a:ext>
            </a:extLst>
          </p:cNvPr>
          <p:cNvCxnSpPr>
            <a:cxnSpLocks/>
            <a:stCxn id="18" idx="6"/>
            <a:endCxn id="25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98C55D9-DD32-8E9F-4322-1F65C9BA8572}"/>
              </a:ext>
            </a:extLst>
          </p:cNvPr>
          <p:cNvCxnSpPr>
            <a:cxnSpLocks/>
          </p:cNvCxnSpPr>
          <p:nvPr/>
        </p:nvCxnSpPr>
        <p:spPr>
          <a:xfrm flipV="1">
            <a:off x="7255101" y="4991299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B688C4D-7648-A1F7-67AF-294116BB5497}"/>
              </a:ext>
            </a:extLst>
          </p:cNvPr>
          <p:cNvCxnSpPr>
            <a:cxnSpLocks/>
          </p:cNvCxnSpPr>
          <p:nvPr/>
        </p:nvCxnSpPr>
        <p:spPr>
          <a:xfrm>
            <a:off x="8982176" y="4989494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502A9D5-218B-56B7-1088-F43DBD63A2A3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7239638" y="5238533"/>
            <a:ext cx="1300364" cy="41191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B81B198-83EC-354A-82DE-7D97353FAA1F}"/>
              </a:ext>
            </a:extLst>
          </p:cNvPr>
          <p:cNvCxnSpPr>
            <a:cxnSpLocks/>
            <a:stCxn id="15" idx="2"/>
            <a:endCxn id="10" idx="5"/>
          </p:cNvCxnSpPr>
          <p:nvPr/>
        </p:nvCxnSpPr>
        <p:spPr>
          <a:xfrm flipH="1" flipV="1">
            <a:off x="8972226" y="5073799"/>
            <a:ext cx="808915" cy="18944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A1CA436-DBA8-B3A6-6F0E-8032223CC55F}"/>
              </a:ext>
            </a:extLst>
          </p:cNvPr>
          <p:cNvCxnSpPr>
            <a:cxnSpLocks/>
            <a:stCxn id="15" idx="6"/>
            <a:endCxn id="14" idx="3"/>
          </p:cNvCxnSpPr>
          <p:nvPr/>
        </p:nvCxnSpPr>
        <p:spPr>
          <a:xfrm flipV="1">
            <a:off x="10036955" y="5092505"/>
            <a:ext cx="501603" cy="1707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B6E10EC-E00C-D733-3C3B-1B4D455993BE}"/>
              </a:ext>
            </a:extLst>
          </p:cNvPr>
          <p:cNvCxnSpPr>
            <a:cxnSpLocks/>
            <a:stCxn id="14" idx="5"/>
            <a:endCxn id="13" idx="1"/>
          </p:cNvCxnSpPr>
          <p:nvPr/>
        </p:nvCxnSpPr>
        <p:spPr>
          <a:xfrm>
            <a:off x="10719446" y="5092505"/>
            <a:ext cx="330740" cy="36696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8C4BA0-C000-4079-AB35-CEE100C7B0DE}"/>
              </a:ext>
            </a:extLst>
          </p:cNvPr>
          <p:cNvCxnSpPr>
            <a:cxnSpLocks/>
            <a:stCxn id="12" idx="7"/>
            <a:endCxn id="13" idx="3"/>
          </p:cNvCxnSpPr>
          <p:nvPr/>
        </p:nvCxnSpPr>
        <p:spPr>
          <a:xfrm flipV="1">
            <a:off x="10975260" y="5578780"/>
            <a:ext cx="74926" cy="44854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24B0DA7-CC4E-91DD-AD68-009C85B461BA}"/>
              </a:ext>
            </a:extLst>
          </p:cNvPr>
          <p:cNvCxnSpPr>
            <a:cxnSpLocks/>
            <a:stCxn id="11" idx="0"/>
            <a:endCxn id="15" idx="3"/>
          </p:cNvCxnSpPr>
          <p:nvPr/>
        </p:nvCxnSpPr>
        <p:spPr>
          <a:xfrm flipV="1">
            <a:off x="9610496" y="5322897"/>
            <a:ext cx="208108" cy="21847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5F8D473-BD95-0B46-1676-1A12A61494A4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8758353" y="5625739"/>
            <a:ext cx="724236" cy="8436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4B11C67-8C8B-A59B-972F-B5E411DA6FD0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8050623" y="5769758"/>
            <a:ext cx="489379" cy="17319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FB9558C-7663-4AAD-462E-544A2F6EACEB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7149194" y="5263243"/>
            <a:ext cx="127907" cy="4336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8721833-4FC8-AFAA-F987-C2F23B87E774}"/>
              </a:ext>
            </a:extLst>
          </p:cNvPr>
          <p:cNvCxnSpPr>
            <a:cxnSpLocks/>
            <a:stCxn id="8" idx="2"/>
            <a:endCxn id="7" idx="5"/>
          </p:cNvCxnSpPr>
          <p:nvPr/>
        </p:nvCxnSpPr>
        <p:spPr>
          <a:xfrm flipH="1" flipV="1">
            <a:off x="7367545" y="5840899"/>
            <a:ext cx="464727" cy="1617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72BEFD2-E527-DE6A-6B7C-921D1FCF4F59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 flipV="1">
            <a:off x="9738403" y="5625739"/>
            <a:ext cx="1018506" cy="46123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EC3E50C-00BD-5A79-5E69-EDCF25BCBCBE}"/>
              </a:ext>
            </a:extLst>
          </p:cNvPr>
          <p:cNvCxnSpPr>
            <a:cxnSpLocks/>
            <a:stCxn id="11" idx="4"/>
            <a:endCxn id="37" idx="0"/>
          </p:cNvCxnSpPr>
          <p:nvPr/>
        </p:nvCxnSpPr>
        <p:spPr>
          <a:xfrm flipH="1">
            <a:off x="9543574" y="5710103"/>
            <a:ext cx="66922" cy="23263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CCB2368-DE69-6B87-15BB-4704797241DC}"/>
              </a:ext>
            </a:extLst>
          </p:cNvPr>
          <p:cNvCxnSpPr>
            <a:cxnSpLocks/>
            <a:stCxn id="33" idx="4"/>
            <a:endCxn id="25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9130859-DFC7-0E5D-935A-8BCD49000759}"/>
              </a:ext>
            </a:extLst>
          </p:cNvPr>
          <p:cNvCxnSpPr>
            <a:cxnSpLocks/>
          </p:cNvCxnSpPr>
          <p:nvPr/>
        </p:nvCxnSpPr>
        <p:spPr>
          <a:xfrm>
            <a:off x="8543768" y="3837530"/>
            <a:ext cx="37463" cy="1807644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F425CA-1912-3F27-18DE-808B2EACD83D}"/>
              </a:ext>
            </a:extLst>
          </p:cNvPr>
          <p:cNvCxnSpPr>
            <a:cxnSpLocks/>
          </p:cNvCxnSpPr>
          <p:nvPr/>
        </p:nvCxnSpPr>
        <p:spPr>
          <a:xfrm>
            <a:off x="5762733" y="3429000"/>
            <a:ext cx="2496039" cy="329441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3898F9-DF8F-9F73-593B-5D8968930A8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399590" y="5178878"/>
            <a:ext cx="4120462" cy="387206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CBBCF6-7603-9D5E-8BC1-2F1531BBA188}"/>
              </a:ext>
            </a:extLst>
          </p:cNvPr>
          <p:cNvCxnSpPr>
            <a:cxnSpLocks/>
          </p:cNvCxnSpPr>
          <p:nvPr/>
        </p:nvCxnSpPr>
        <p:spPr>
          <a:xfrm>
            <a:off x="5762733" y="3429000"/>
            <a:ext cx="2690024" cy="2174490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19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7" grpId="0" animBg="1"/>
      <p:bldP spid="42" grpId="0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239A-D4D9-9AB3-98B6-9DB76ECB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B02B-B5B0-78F1-F61F-D54104FE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Constructing NSW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6846D-9DC9-669E-19D4-8814817100B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construction process for HNSW graphs is similar to the query process </a:t>
                </a:r>
              </a:p>
              <a:p>
                <a:r>
                  <a:rPr lang="en-US" dirty="0">
                    <a:latin typeface="+mn-lt"/>
                  </a:rPr>
                  <a:t>A hierarchical NN search is used to find the location of the new element on the HNSW graph  </a:t>
                </a:r>
              </a:p>
              <a:p>
                <a:r>
                  <a:rPr lang="en-US" dirty="0">
                    <a:latin typeface="+mn-lt"/>
                  </a:rPr>
                  <a:t>The level of the new element is determined by probabilistically sampling from an exponential decay distribution over levels,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1,…,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𝑢𝑛𝑖𝑓𝑜𝑟𝑚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𝑢𝑛𝑖𝑓𝑜𝑟𝑚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𝑢𝑛𝑖𝑓𝑜𝑟𝑚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…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else,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+mn-lt"/>
                  </a:rPr>
                  <a:t>, for the top (terminal) level</a:t>
                </a:r>
              </a:p>
              <a:p>
                <a:r>
                  <a:rPr lang="en-US" dirty="0">
                    <a:latin typeface="+mn-lt"/>
                  </a:rPr>
                  <a:t>Notice the rapid decay of this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latin typeface="+mn-lt"/>
                  </a:rPr>
                  <a:t>Detail increases rapidly with depth in the hierarchy, improving search speed </a:t>
                </a:r>
              </a:p>
              <a:p>
                <a:endParaRPr lang="en-US" dirty="0"/>
              </a:p>
              <a:p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6846D-9DC9-669E-19D4-881481710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5520629"/>
              </a:xfrm>
              <a:blipFill>
                <a:blip r:embed="rId3"/>
                <a:stretch>
                  <a:fillRect l="-1136" t="-1766" r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8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A3FC-7FC3-9B63-FC63-1392BC11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433D-454E-1BEB-0204-D67D6D50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DE89-6B48-60AA-479A-BA34C321DBF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11270795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b="1" i="1" dirty="0">
                <a:latin typeface="+mn-lt"/>
              </a:rPr>
              <a:t>M</a:t>
            </a:r>
            <a:r>
              <a:rPr lang="en-US" i="1" dirty="0">
                <a:latin typeface="+mn-lt"/>
              </a:rPr>
              <a:t>, the number of levels,</a:t>
            </a:r>
            <a:r>
              <a:rPr lang="en-US" dirty="0">
                <a:latin typeface="+mn-lt"/>
              </a:rPr>
              <a:t> determines the number of edges each node in the graph has. </a:t>
            </a:r>
          </a:p>
          <a:p>
            <a:pPr lvl="1"/>
            <a:r>
              <a:rPr lang="en-US" dirty="0">
                <a:latin typeface="+mn-lt"/>
              </a:rPr>
              <a:t>Limits are set by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and M_max0 limit the number of edges in the layers and in the bottom layer, 0, with defaults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= M and M_max0 = 2*M   </a:t>
            </a:r>
          </a:p>
          <a:p>
            <a:r>
              <a:rPr lang="en-US" b="1" i="1" dirty="0" err="1">
                <a:latin typeface="+mn-lt"/>
              </a:rPr>
              <a:t>efConstruction</a:t>
            </a:r>
            <a:r>
              <a:rPr lang="en-US" b="1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sets the number of entry point nodes used when building the index  </a:t>
            </a:r>
          </a:p>
          <a:p>
            <a:r>
              <a:rPr lang="en-US" b="1" i="1" dirty="0" err="1">
                <a:latin typeface="+mn-lt"/>
              </a:rPr>
              <a:t>efSearch</a:t>
            </a:r>
            <a:r>
              <a:rPr lang="en-US" dirty="0">
                <a:latin typeface="+mn-lt"/>
              </a:rPr>
              <a:t> sets the number of entry point nodes used for the NN search  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775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CC47-DBDA-2D10-0D6C-363AE3AD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8740-4FFF-348A-3B45-9DEF6021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ANNS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4936-58BF-5659-47A1-D8EA845945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7" y="1056205"/>
            <a:ext cx="6072864" cy="55206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dirty="0">
                <a:latin typeface="+mn-lt"/>
              </a:rPr>
              <a:t>M determines the number of edges each node in the graph has. </a:t>
            </a:r>
          </a:p>
          <a:p>
            <a:pPr lvl="1"/>
            <a:r>
              <a:rPr lang="en-US" dirty="0">
                <a:latin typeface="+mn-lt"/>
              </a:rPr>
              <a:t>Limits are set by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and M_max0 limit the number of edges in the layers and in the bottom layer, 0, with defaults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= M and M_max0 = 2*M   </a:t>
            </a:r>
          </a:p>
          <a:p>
            <a:r>
              <a:rPr lang="en-US" dirty="0" err="1">
                <a:latin typeface="+mn-lt"/>
              </a:rPr>
              <a:t>efConstruction</a:t>
            </a:r>
            <a:r>
              <a:rPr lang="en-US" dirty="0">
                <a:latin typeface="+mn-lt"/>
              </a:rPr>
              <a:t> sets the number of entry points used when building the index  </a:t>
            </a:r>
          </a:p>
          <a:p>
            <a:r>
              <a:rPr lang="en-US" dirty="0" err="1">
                <a:latin typeface="+mn-lt"/>
              </a:rPr>
              <a:t>efSearch</a:t>
            </a:r>
            <a:r>
              <a:rPr lang="en-US" dirty="0">
                <a:latin typeface="+mn-lt"/>
              </a:rPr>
              <a:t> sets the number of entry points used for the NN search  </a:t>
            </a:r>
          </a:p>
          <a:p>
            <a:pPr lvl="1"/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2DB2557-C470-D5B5-F045-C02F3A9D4641}"/>
              </a:ext>
            </a:extLst>
          </p:cNvPr>
          <p:cNvSpPr/>
          <p:nvPr/>
        </p:nvSpPr>
        <p:spPr>
          <a:xfrm>
            <a:off x="6787242" y="1689789"/>
            <a:ext cx="5023757" cy="3887773"/>
          </a:xfrm>
          <a:prstGeom prst="triangle">
            <a:avLst>
              <a:gd name="adj" fmla="val 5022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41721-55C3-069A-7762-BC92E87DC10E}"/>
              </a:ext>
            </a:extLst>
          </p:cNvPr>
          <p:cNvSpPr txBox="1"/>
          <p:nvPr/>
        </p:nvSpPr>
        <p:spPr>
          <a:xfrm>
            <a:off x="6293304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8BE73-4186-0CE1-6F53-2C689D18C948}"/>
              </a:ext>
            </a:extLst>
          </p:cNvPr>
          <p:cNvSpPr txBox="1"/>
          <p:nvPr/>
        </p:nvSpPr>
        <p:spPr>
          <a:xfrm>
            <a:off x="10619014" y="5577562"/>
            <a:ext cx="1572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7D0539-9658-17AA-1DEB-2716CB420833}"/>
              </a:ext>
            </a:extLst>
          </p:cNvPr>
          <p:cNvCxnSpPr>
            <a:cxnSpLocks/>
          </p:cNvCxnSpPr>
          <p:nvPr/>
        </p:nvCxnSpPr>
        <p:spPr>
          <a:xfrm>
            <a:off x="10107386" y="5327947"/>
            <a:ext cx="11593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E38DD2-767E-A033-F4DC-187B874E2FE8}"/>
              </a:ext>
            </a:extLst>
          </p:cNvPr>
          <p:cNvCxnSpPr>
            <a:cxnSpLocks/>
          </p:cNvCxnSpPr>
          <p:nvPr/>
        </p:nvCxnSpPr>
        <p:spPr>
          <a:xfrm>
            <a:off x="10816771" y="4511896"/>
            <a:ext cx="566058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0B2CFBF-EC79-367F-2D30-FAF28D448D5C}"/>
              </a:ext>
            </a:extLst>
          </p:cNvPr>
          <p:cNvSpPr txBox="1"/>
          <p:nvPr/>
        </p:nvSpPr>
        <p:spPr>
          <a:xfrm>
            <a:off x="9214753" y="3665953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190346-2DDA-FEDA-69C0-631485EDA444}"/>
              </a:ext>
            </a:extLst>
          </p:cNvPr>
          <p:cNvCxnSpPr>
            <a:cxnSpLocks/>
          </p:cNvCxnSpPr>
          <p:nvPr/>
        </p:nvCxnSpPr>
        <p:spPr>
          <a:xfrm>
            <a:off x="9378043" y="2294150"/>
            <a:ext cx="859970" cy="1357963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1448EA-026C-FC57-3ED1-FE3D31E912EE}"/>
              </a:ext>
            </a:extLst>
          </p:cNvPr>
          <p:cNvSpPr txBox="1"/>
          <p:nvPr/>
        </p:nvSpPr>
        <p:spPr>
          <a:xfrm>
            <a:off x="8675912" y="4746565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M and </a:t>
            </a:r>
            <a:r>
              <a:rPr lang="en-US" sz="2400" dirty="0" err="1"/>
              <a:t>ef’s</a:t>
            </a: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A1C346-4979-A935-445B-B2818A0D950E}"/>
              </a:ext>
            </a:extLst>
          </p:cNvPr>
          <p:cNvCxnSpPr>
            <a:cxnSpLocks/>
          </p:cNvCxnSpPr>
          <p:nvPr/>
        </p:nvCxnSpPr>
        <p:spPr>
          <a:xfrm>
            <a:off x="7407729" y="5360597"/>
            <a:ext cx="1298115" cy="0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5D5C49-9ED1-7056-819E-A50B90257FF5}"/>
              </a:ext>
            </a:extLst>
          </p:cNvPr>
          <p:cNvSpPr txBox="1"/>
          <p:nvPr/>
        </p:nvSpPr>
        <p:spPr>
          <a:xfrm>
            <a:off x="8360227" y="76157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</p:spTree>
    <p:extLst>
      <p:ext uri="{BB962C8B-B14F-4D97-AF65-F5344CB8AC3E}">
        <p14:creationId xmlns:p14="http://schemas.microsoft.com/office/powerpoint/2010/main" val="381544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9" grpId="0"/>
      <p:bldP spid="11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51251-2F49-A329-41C3-21AAEC93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4DE4-E179-9319-358C-B8DD88A9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754E-B08D-385D-3B5A-BF334FFC7A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dirty="0">
                <a:latin typeface="+mn-lt"/>
              </a:rPr>
              <a:t>ANNS with HNSW can achieve high recall but at a price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3CBD8-EBB6-E17E-958D-B1266C91A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250" y="2242693"/>
            <a:ext cx="7943739" cy="4046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9D0AE-57C6-2481-F515-974C4C7BE74C}"/>
              </a:ext>
            </a:extLst>
          </p:cNvPr>
          <p:cNvSpPr txBox="1"/>
          <p:nvPr/>
        </p:nvSpPr>
        <p:spPr>
          <a:xfrm>
            <a:off x="3049742" y="6451342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17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7B6D-F8CA-47DD-3170-9620B93D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BC98-4EC6-0EA4-E36B-99165833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F97A8-ACD4-7BC2-2E72-7382388FA9F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</a:t>
            </a:r>
          </a:p>
          <a:p>
            <a:r>
              <a:rPr lang="en-US" dirty="0">
                <a:latin typeface="+mn-lt"/>
              </a:rPr>
              <a:t>Achieving higher recall with HNSW ANNS increases search time significantly   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8BFD6-6B4C-F0DE-CF8B-DCF204328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511" y="2287257"/>
            <a:ext cx="8136977" cy="41176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F8FCF5-36EB-CCCA-3819-83D836AAA34E}"/>
              </a:ext>
            </a:extLst>
          </p:cNvPr>
          <p:cNvSpPr txBox="1"/>
          <p:nvPr/>
        </p:nvSpPr>
        <p:spPr>
          <a:xfrm>
            <a:off x="3489633" y="6451342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58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0BD7-AEE4-82D9-DF8A-FA1ED0AD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636B-4A94-F551-81F6-C4032DE9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AC48-3C88-983D-FFC1-AD8291A025F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</a:t>
            </a:r>
          </a:p>
          <a:p>
            <a:r>
              <a:rPr lang="en-US" dirty="0">
                <a:latin typeface="+mn-lt"/>
              </a:rPr>
              <a:t>Achieving higher recall by increasing M in HNSW ANNS increases memory consumption linearly   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18244-2F1F-D154-2100-3DEE9713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72" y="2277755"/>
            <a:ext cx="5754378" cy="40743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32C4EA-9C2B-5B38-26DA-4C0CEE513D64}"/>
              </a:ext>
            </a:extLst>
          </p:cNvPr>
          <p:cNvSpPr txBox="1"/>
          <p:nvPr/>
        </p:nvSpPr>
        <p:spPr>
          <a:xfrm>
            <a:off x="3259727" y="6352065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78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4B27D-58BA-A7B6-56E2-87C803A8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4688-D0EA-C4BD-AF1E-AD3837EE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Composite Indices</a:t>
            </a:r>
          </a:p>
        </p:txBody>
      </p:sp>
    </p:spTree>
    <p:extLst>
      <p:ext uri="{BB962C8B-B14F-4D97-AF65-F5344CB8AC3E}">
        <p14:creationId xmlns:p14="http://schemas.microsoft.com/office/powerpoint/2010/main" val="60976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6A1D-D75D-6AF1-5F18-06A35BBA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E3CB-3BB6-9990-50A4-BA16F97B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62FDE-3723-A450-1CAA-409804445B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215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a composite is created from multiple indices</a:t>
            </a:r>
          </a:p>
          <a:p>
            <a:r>
              <a:rPr lang="en-US" dirty="0">
                <a:latin typeface="+mn-lt"/>
              </a:rPr>
              <a:t>While single indices can achieve good recall, it is unreasonable to expect optimal performance on all three dimensions </a:t>
            </a:r>
          </a:p>
          <a:p>
            <a:r>
              <a:rPr lang="en-US" dirty="0">
                <a:latin typeface="+mn-lt"/>
              </a:rPr>
              <a:t>Optimal performance is obtained with composite indices    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94FEA-80C5-D576-3392-7F283BD6883B}"/>
              </a:ext>
            </a:extLst>
          </p:cNvPr>
          <p:cNvSpPr/>
          <p:nvPr/>
        </p:nvSpPr>
        <p:spPr>
          <a:xfrm>
            <a:off x="239764" y="3946372"/>
            <a:ext cx="2643414" cy="268963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Dimensionality Reduction (Embedding)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 D dimensional numeric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Neural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90AA4-37BF-3CD7-F433-F94EB01532D4}"/>
              </a:ext>
            </a:extLst>
          </p:cNvPr>
          <p:cNvSpPr/>
          <p:nvPr/>
        </p:nvSpPr>
        <p:spPr>
          <a:xfrm>
            <a:off x="3370244" y="3946644"/>
            <a:ext cx="3094509" cy="26896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Coarse Quantization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Reduce scope for ANN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file - IVF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IVF Product quantization (IVF-PQ)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Multi-Index (IMI)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1C1917"/>
                </a:solidFill>
                <a:effectLst/>
                <a:latin typeface="__gtPlanar_9a6492"/>
              </a:rPr>
              <a:t>IVF Hierarchical Navigable Small Worlds (HNSW)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065CD-0D84-5E3C-8E02-C8E8518F66C5}"/>
              </a:ext>
            </a:extLst>
          </p:cNvPr>
          <p:cNvSpPr/>
          <p:nvPr/>
        </p:nvSpPr>
        <p:spPr>
          <a:xfrm>
            <a:off x="6951819" y="3975983"/>
            <a:ext cx="2486610" cy="268963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Fine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Quantizaton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Further reduce search scope and improve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Exhaustive search – 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 PQ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Locally Sensitive Hashing (LSH)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52B62-12C8-4E6F-D6F5-81F30003D6BC}"/>
              </a:ext>
            </a:extLst>
          </p:cNvPr>
          <p:cNvSpPr/>
          <p:nvPr/>
        </p:nvSpPr>
        <p:spPr>
          <a:xfrm>
            <a:off x="9859061" y="3946370"/>
            <a:ext cx="2260379" cy="268963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Refinemnet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Increase recall for 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Re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sidual PQ</a:t>
            </a: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 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algorithm</a:t>
            </a:r>
            <a:endParaRPr lang="en-US" i="0" dirty="0">
              <a:solidFill>
                <a:srgbClr val="1C1917"/>
              </a:solidFill>
              <a:effectLst/>
              <a:latin typeface="__gtPlanar_9a6492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019389D-C518-79C4-4EE4-61104597438A}"/>
              </a:ext>
            </a:extLst>
          </p:cNvPr>
          <p:cNvSpPr/>
          <p:nvPr/>
        </p:nvSpPr>
        <p:spPr>
          <a:xfrm>
            <a:off x="6532466" y="5144876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CB7E47-5AD6-6D66-3B36-996745959818}"/>
              </a:ext>
            </a:extLst>
          </p:cNvPr>
          <p:cNvSpPr/>
          <p:nvPr/>
        </p:nvSpPr>
        <p:spPr>
          <a:xfrm>
            <a:off x="2920166" y="5130861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4A62243-B5B8-4EB2-22EE-93B5EB25A8B1}"/>
              </a:ext>
            </a:extLst>
          </p:cNvPr>
          <p:cNvSpPr/>
          <p:nvPr/>
        </p:nvSpPr>
        <p:spPr>
          <a:xfrm>
            <a:off x="9437150" y="5071145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2C7A05-2341-BDB8-8A8F-04A4EA186BA3}"/>
              </a:ext>
            </a:extLst>
          </p:cNvPr>
          <p:cNvSpPr/>
          <p:nvPr/>
        </p:nvSpPr>
        <p:spPr>
          <a:xfrm>
            <a:off x="4381499" y="3051258"/>
            <a:ext cx="4258847" cy="50646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Distance (Similarity) Metric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0B9EB8-39F6-D107-FB7F-5AB4A784561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917499" y="3597729"/>
            <a:ext cx="0" cy="348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EC4277-D8F0-8308-86FC-DB597C298F2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195123" y="3557721"/>
            <a:ext cx="1" cy="418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4442A2-F406-561E-A5A3-DA6BE682FE70}"/>
              </a:ext>
            </a:extLst>
          </p:cNvPr>
          <p:cNvCxnSpPr>
            <a:cxnSpLocks/>
          </p:cNvCxnSpPr>
          <p:nvPr/>
        </p:nvCxnSpPr>
        <p:spPr>
          <a:xfrm>
            <a:off x="1472171" y="3303814"/>
            <a:ext cx="0" cy="642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DBE2B3-F015-0568-2E05-908FE796BB9E}"/>
              </a:ext>
            </a:extLst>
          </p:cNvPr>
          <p:cNvCxnSpPr>
            <a:cxnSpLocks/>
          </p:cNvCxnSpPr>
          <p:nvPr/>
        </p:nvCxnSpPr>
        <p:spPr>
          <a:xfrm>
            <a:off x="11008057" y="3303814"/>
            <a:ext cx="0" cy="6028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4BC1C1-FB3D-E81A-F219-B181F5BCD6C9}"/>
              </a:ext>
            </a:extLst>
          </p:cNvPr>
          <p:cNvCxnSpPr>
            <a:stCxn id="11" idx="3"/>
          </p:cNvCxnSpPr>
          <p:nvPr/>
        </p:nvCxnSpPr>
        <p:spPr>
          <a:xfrm flipV="1">
            <a:off x="8640346" y="3303814"/>
            <a:ext cx="2386883" cy="6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CB626B-C262-B1E9-7C78-8B7AB6FBB909}"/>
              </a:ext>
            </a:extLst>
          </p:cNvPr>
          <p:cNvCxnSpPr>
            <a:cxnSpLocks/>
          </p:cNvCxnSpPr>
          <p:nvPr/>
        </p:nvCxnSpPr>
        <p:spPr>
          <a:xfrm flipV="1">
            <a:off x="1472171" y="3303814"/>
            <a:ext cx="2890157" cy="6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99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9831-596B-35E4-F220-A85BE3AF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1146-2AB5-93E5-C5F4-1177D172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as a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058E-ED96-3E46-6DB1-0DDE903D22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13352" y="825228"/>
            <a:ext cx="5231264" cy="58107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PQ algorithm can be used to refine searches following coarse quantization</a:t>
            </a:r>
          </a:p>
          <a:p>
            <a:pPr marL="285750" indent="-285750"/>
            <a:r>
              <a:rPr lang="en-US" dirty="0">
                <a:latin typeface="+mn-lt"/>
              </a:rPr>
              <a:t>Idea introduced by </a:t>
            </a:r>
            <a:r>
              <a:rPr lang="en-US" dirty="0">
                <a:latin typeface="+mn-lt"/>
                <a:hlinkClick r:id="rId3"/>
              </a:rPr>
              <a:t>Jegou, et. al., 2011</a:t>
            </a:r>
            <a:endParaRPr lang="en-US" dirty="0">
              <a:latin typeface="+mn-lt"/>
            </a:endParaRPr>
          </a:p>
          <a:p>
            <a:pPr marL="285750" indent="-285750"/>
            <a:r>
              <a:rPr lang="en-US" dirty="0">
                <a:latin typeface="+mn-lt"/>
              </a:rPr>
              <a:t>Coarse quantization is efficient in memory and computation</a:t>
            </a:r>
          </a:p>
          <a:p>
            <a:pPr marL="285750" indent="-285750"/>
            <a:r>
              <a:rPr lang="en-US" dirty="0">
                <a:latin typeface="+mn-lt"/>
              </a:rPr>
              <a:t>PQ compresses the observation vectors</a:t>
            </a:r>
          </a:p>
          <a:p>
            <a:pPr marL="285750" indent="-285750"/>
            <a:r>
              <a:rPr lang="en-US" dirty="0">
                <a:latin typeface="+mn-lt"/>
              </a:rPr>
              <a:t>PQ is applied only to cells being probed  </a:t>
            </a:r>
          </a:p>
          <a:p>
            <a:pPr marL="285750" indent="-285750"/>
            <a:r>
              <a:rPr lang="en-US" dirty="0">
                <a:latin typeface="+mn-lt"/>
              </a:rPr>
              <a:t>Concatenating these algorithms provides improved recall with low memory use and computational complexity  </a:t>
            </a:r>
          </a:p>
          <a:p>
            <a:pPr marL="285750" indent="-285750"/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842BD-EAF2-8AA6-A1B5-53D15A0D8B61}"/>
              </a:ext>
            </a:extLst>
          </p:cNvPr>
          <p:cNvSpPr txBox="1"/>
          <p:nvPr/>
        </p:nvSpPr>
        <p:spPr>
          <a:xfrm>
            <a:off x="355266" y="6386777"/>
            <a:ext cx="542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Jegou, et. al., 2011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6615D-1FFF-A09E-8634-E561018D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01" y="985078"/>
            <a:ext cx="5705034" cy="529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8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2B45-CD3B-0E09-FF30-BDCA055C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FC86-EAB8-B1ED-8AC4-2C1BEB6B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0596-4F1D-7894-800F-39C884BAF6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5252711" cy="5579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Example: concatenate IVF and PQ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IVF quantizes vector into coarse Voronoi cells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Vector-valued observations mapped by coarse code book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Code maps to cell centroid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8DD533-53BD-1285-83D4-C83294B43BA4}"/>
              </a:ext>
            </a:extLst>
          </p:cNvPr>
          <p:cNvSpPr txBox="1"/>
          <p:nvPr/>
        </p:nvSpPr>
        <p:spPr>
          <a:xfrm>
            <a:off x="5534180" y="5988529"/>
            <a:ext cx="6645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Illustration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33D15-58A6-ABA4-564B-EB521FC82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087" y="1921706"/>
            <a:ext cx="6541479" cy="38800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AAC912-39DC-2E7A-364B-D5B6AFAA8DC0}"/>
              </a:ext>
            </a:extLst>
          </p:cNvPr>
          <p:cNvCxnSpPr>
            <a:cxnSpLocks/>
          </p:cNvCxnSpPr>
          <p:nvPr/>
        </p:nvCxnSpPr>
        <p:spPr>
          <a:xfrm>
            <a:off x="4963886" y="3761829"/>
            <a:ext cx="1943753" cy="91989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8FAC23-CD44-F3B0-5717-E9B5B4177951}"/>
              </a:ext>
            </a:extLst>
          </p:cNvPr>
          <p:cNvCxnSpPr>
            <a:cxnSpLocks/>
          </p:cNvCxnSpPr>
          <p:nvPr/>
        </p:nvCxnSpPr>
        <p:spPr>
          <a:xfrm flipV="1">
            <a:off x="4795157" y="3885436"/>
            <a:ext cx="4729843" cy="22936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762B20-AC0B-5730-A434-734A5CC5F9E8}"/>
              </a:ext>
            </a:extLst>
          </p:cNvPr>
          <p:cNvCxnSpPr>
            <a:cxnSpLocks/>
          </p:cNvCxnSpPr>
          <p:nvPr/>
        </p:nvCxnSpPr>
        <p:spPr>
          <a:xfrm>
            <a:off x="5372100" y="2710970"/>
            <a:ext cx="574858" cy="3852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8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DFCC-56C0-7CD3-2B96-ABE5B580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2257-21DE-594E-3785-7E9FF14D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C457-4F8C-FDBA-5415-BD1596E382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5252711" cy="5579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Example: query IVF and PQ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-US" dirty="0">
                <a:latin typeface="+mn-lt"/>
              </a:rPr>
              <a:t>IVF assignment determines coarse cell and code book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-US" dirty="0">
                <a:latin typeface="+mn-lt"/>
              </a:rPr>
              <a:t>PQ ASD code book compresses </a:t>
            </a: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using code book for the coarse cell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-US" dirty="0" err="1">
                <a:latin typeface="+mn-lt"/>
              </a:rPr>
              <a:t>Subvector</a:t>
            </a:r>
            <a:r>
              <a:rPr lang="en-US" dirty="0">
                <a:latin typeface="+mn-lt"/>
              </a:rPr>
              <a:t> fine-quantize to the Voronoi regions within cell</a:t>
            </a:r>
          </a:p>
          <a:p>
            <a:pPr marL="914400" lvl="1" indent="-457200">
              <a:buFont typeface="+mj-lt"/>
              <a:buAutoNum type="arabicPeriod" startAt="4"/>
            </a:pPr>
            <a:endParaRPr lang="en-US" dirty="0"/>
          </a:p>
          <a:p>
            <a:pPr marL="914400" lvl="1" indent="-457200">
              <a:buFont typeface="+mj-lt"/>
              <a:buAutoNum type="arabicPeriod" startAt="4"/>
            </a:pPr>
            <a:endParaRPr lang="en-US" dirty="0"/>
          </a:p>
          <a:p>
            <a:pPr marL="914400" lvl="1" indent="-457200">
              <a:buFont typeface="+mj-lt"/>
              <a:buAutoNum type="arabicPeriod" startAt="4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4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4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1F27EE-56C2-E6D1-5A52-DAC38416FC33}"/>
              </a:ext>
            </a:extLst>
          </p:cNvPr>
          <p:cNvSpPr txBox="1"/>
          <p:nvPr/>
        </p:nvSpPr>
        <p:spPr>
          <a:xfrm>
            <a:off x="5534180" y="5988529"/>
            <a:ext cx="6645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Illustration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7AE58C-C163-5672-2C9C-586F64FA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036" y="2229767"/>
            <a:ext cx="6184064" cy="32737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C6686D-DE2B-BF63-3191-7D74ED214085}"/>
              </a:ext>
            </a:extLst>
          </p:cNvPr>
          <p:cNvCxnSpPr>
            <a:cxnSpLocks/>
          </p:cNvCxnSpPr>
          <p:nvPr/>
        </p:nvCxnSpPr>
        <p:spPr>
          <a:xfrm>
            <a:off x="4806043" y="2749359"/>
            <a:ext cx="2724310" cy="52683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98F41B-425C-6721-30EC-00C7AD8F6CF7}"/>
              </a:ext>
            </a:extLst>
          </p:cNvPr>
          <p:cNvCxnSpPr>
            <a:cxnSpLocks/>
          </p:cNvCxnSpPr>
          <p:nvPr/>
        </p:nvCxnSpPr>
        <p:spPr>
          <a:xfrm>
            <a:off x="5366657" y="3635829"/>
            <a:ext cx="2087903" cy="126254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F82858-49B0-3B38-6FF6-F322F3FCA74B}"/>
              </a:ext>
            </a:extLst>
          </p:cNvPr>
          <p:cNvCxnSpPr>
            <a:cxnSpLocks/>
          </p:cNvCxnSpPr>
          <p:nvPr/>
        </p:nvCxnSpPr>
        <p:spPr>
          <a:xfrm flipV="1">
            <a:off x="5295900" y="3962400"/>
            <a:ext cx="6008914" cy="51707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57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D3CB-7254-11E0-C1C0-3AE18901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5ABB-05FC-1135-45E2-E9F7EAC1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01B3-28C1-A671-0D7E-3010A94026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7" y="1056206"/>
            <a:ext cx="5691214" cy="5349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dirty="0">
                <a:latin typeface="+mn-lt"/>
                <a:hlinkClick r:id="rId3"/>
              </a:rPr>
              <a:t>FAISS index factory </a:t>
            </a:r>
            <a:r>
              <a:rPr lang="en-US" dirty="0">
                <a:latin typeface="+mn-lt"/>
              </a:rPr>
              <a:t>simplifies creation of Composite indices  </a:t>
            </a:r>
          </a:p>
          <a:p>
            <a:r>
              <a:rPr lang="en-US" dirty="0">
                <a:latin typeface="+mn-lt"/>
              </a:rPr>
              <a:t>FAISS allows a complex set of choices for Composite indices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FD507C-11FC-8E0F-DBE1-E9196620B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98" y="221992"/>
            <a:ext cx="5779659" cy="654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17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D6EF-F065-3B19-BB5F-A15BBBCE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9785-A66B-6C3C-5999-C1EACAF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6476F-53FC-31F4-8617-114DBAB21D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7"/>
            <a:ext cx="11270795" cy="2474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construct effective Composite indices?    </a:t>
            </a:r>
          </a:p>
          <a:p>
            <a:r>
              <a:rPr lang="en-US" b="1" dirty="0">
                <a:solidFill>
                  <a:srgbClr val="C00000"/>
                </a:solidFill>
                <a:latin typeface="+mn-lt"/>
              </a:rPr>
              <a:t>Be careful! Order maters for Composite </a:t>
            </a:r>
            <a:r>
              <a:rPr lang="en-US" b="1" dirty="0" err="1">
                <a:solidFill>
                  <a:srgbClr val="C00000"/>
                </a:solidFill>
                <a:latin typeface="+mn-lt"/>
              </a:rPr>
              <a:t>indicies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!</a:t>
            </a:r>
          </a:p>
          <a:p>
            <a:pPr lvl="1"/>
            <a:r>
              <a:rPr lang="en-US" dirty="0">
                <a:latin typeface="+mn-lt"/>
              </a:rPr>
              <a:t>Many orderings do not make sense, actually reducing performance </a:t>
            </a:r>
          </a:p>
          <a:p>
            <a:pPr lvl="1"/>
            <a:r>
              <a:rPr lang="en-US" dirty="0">
                <a:latin typeface="+mn-lt"/>
              </a:rPr>
              <a:t>Concatenated indices must work from coarse to fine    </a:t>
            </a:r>
          </a:p>
          <a:p>
            <a:r>
              <a:rPr lang="en-US" dirty="0">
                <a:latin typeface="+mn-lt"/>
              </a:rPr>
              <a:t>Example of using FAISS index factory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2EC363-AD43-1DAC-A28F-965E782CC1CB}"/>
              </a:ext>
            </a:extLst>
          </p:cNvPr>
          <p:cNvSpPr txBox="1"/>
          <p:nvPr/>
        </p:nvSpPr>
        <p:spPr>
          <a:xfrm>
            <a:off x="1087699" y="3552767"/>
            <a:ext cx="358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Dimension of input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BB4197-E1C4-CB19-D913-0A7E7F303266}"/>
                  </a:ext>
                </a:extLst>
              </p:cNvPr>
              <p:cNvSpPr txBox="1"/>
              <p:nvPr/>
            </p:nvSpPr>
            <p:spPr>
              <a:xfrm>
                <a:off x="1260515" y="4373908"/>
                <a:ext cx="10111612" cy="2314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index =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index_factory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(128,"OPQ16_64,IMI2x8, PQ32x8")</a:t>
                </a: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Where: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OPQ16_64</a:t>
                </a:r>
                <a:r>
                  <a:rPr lang="en-US" sz="2400" dirty="0">
                    <a:cs typeface="Courier New" panose="02070309020205020404" pitchFamily="49" charset="0"/>
                  </a:rPr>
                  <a:t>: optimized PQ coarse quantizer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=16</m:t>
                    </m:r>
                  </m:oMath>
                </a14:m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2400" dirty="0">
                    <a:cs typeface="Courier New" panose="02070309020205020404" pitchFamily="49" charset="0"/>
                  </a:rPr>
                  <a:t>and output dimension 64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IMI2x8</a:t>
                </a:r>
                <a:r>
                  <a:rPr lang="en-US" sz="2400" dirty="0">
                    <a:cs typeface="Courier New" panose="02070309020205020404" pitchFamily="49" charset="0"/>
                  </a:rPr>
                  <a:t>: inverted multi-index with 2 dimensions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𝑏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8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=256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levels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PQ32x8</a:t>
                </a:r>
                <a:r>
                  <a:rPr lang="en-US" sz="2400" dirty="0">
                    <a:cs typeface="Courier New" panose="02070309020205020404" pitchFamily="49" charset="0"/>
                  </a:rPr>
                  <a:t>: PQ fine 8-bit quantizer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=32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𝑏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8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=256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levels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BB4197-E1C4-CB19-D913-0A7E7F30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515" y="4373908"/>
                <a:ext cx="10111612" cy="2314864"/>
              </a:xfrm>
              <a:prstGeom prst="rect">
                <a:avLst/>
              </a:prstGeom>
              <a:blipFill>
                <a:blip r:embed="rId3"/>
                <a:stretch>
                  <a:fillRect l="-964" t="-1847" b="-5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823031D-F7DD-8006-E9A9-8CB1767E0873}"/>
              </a:ext>
            </a:extLst>
          </p:cNvPr>
          <p:cNvSpPr txBox="1"/>
          <p:nvPr/>
        </p:nvSpPr>
        <p:spPr>
          <a:xfrm>
            <a:off x="6160442" y="3524724"/>
            <a:ext cx="5263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String specifying concatenated indexes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3AFFD6-5B90-738B-9215-BE2CE57C59B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881775" y="4014432"/>
            <a:ext cx="2604625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1F661F-A3E5-9AB0-C485-246C65C9EF34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7160562" y="3986389"/>
            <a:ext cx="1631611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F8BC2E-4ACF-01CA-F7C1-60EC3902AD92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673737" y="3986389"/>
            <a:ext cx="118436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A7E41B-0FF6-30B2-29DA-3A861565BC2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8792173" y="3986389"/>
            <a:ext cx="1000120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12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41E8-5EF8-3BDE-5E44-DF5C7EAA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256B-79B3-5F29-C38B-D4104CC0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072E-FE87-6978-A219-3707CB8B39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586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Different quantization sequences result in different recall, search time and memory use</a:t>
            </a:r>
          </a:p>
          <a:p>
            <a:r>
              <a:rPr lang="en-US" dirty="0">
                <a:latin typeface="+mn-lt"/>
              </a:rPr>
              <a:t>Example: The three quantization sequences all use nearly identical recall and memory use</a:t>
            </a:r>
          </a:p>
          <a:p>
            <a:r>
              <a:rPr lang="en-US" dirty="0">
                <a:latin typeface="+mn-lt"/>
              </a:rPr>
              <a:t>Notice how orthogonalization (rotation) preprocessing reduces query time at no penalty in memory or recall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EAACC5D-57FF-3DEF-5006-5FD1C2AF8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253" y="4006734"/>
            <a:ext cx="7700067" cy="21762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3E28BFC-BC30-DD52-F976-0D82879CB68B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4"/>
              </a:rPr>
              <a:t>FAISS the Missing Manual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489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E1DE-AA2C-BDAA-1EC3-0BCE7CBE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621D-9168-5BB4-F6B7-34FDC9AB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8BA9-BC26-CCDE-66DC-39693C0BDB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586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Example: Hyperparameter choice affect recalls, search time and memory use</a:t>
            </a:r>
          </a:p>
          <a:p>
            <a:r>
              <a:rPr lang="en-US" dirty="0">
                <a:latin typeface="+mn-lt"/>
              </a:rPr>
              <a:t>Increasing </a:t>
            </a:r>
            <a:r>
              <a:rPr lang="en-US" dirty="0" err="1">
                <a:latin typeface="+mn-lt"/>
              </a:rPr>
              <a:t>nprobe</a:t>
            </a:r>
            <a:r>
              <a:rPr lang="en-US" dirty="0">
                <a:latin typeface="+mn-lt"/>
              </a:rPr>
              <a:t> gives higher recall, but slower queries, at no change in memory   </a:t>
            </a:r>
          </a:p>
          <a:p>
            <a:r>
              <a:rPr lang="en-US" dirty="0">
                <a:latin typeface="+mn-lt"/>
              </a:rPr>
              <a:t>Increasing PQ </a:t>
            </a: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quantization increases memory use but greatly boosts recall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40E269-95E2-994E-31C9-23F8C75D9294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A68EB-AF02-7DFC-00A9-2C18EDA27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174" y="3679993"/>
            <a:ext cx="7067233" cy="25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E138-4E27-1610-44C7-43DEBBEF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FC2B-450F-D429-B0F6-04AD982F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216E7-69BF-B508-6E0D-041EE9C4A56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6"/>
                <a:ext cx="11270795" cy="54619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HNSW graph algorithm can be used as a course quantizer</a:t>
                </a:r>
              </a:p>
              <a:p>
                <a:r>
                  <a:rPr lang="en-US" dirty="0">
                    <a:latin typeface="+mn-lt"/>
                  </a:rPr>
                  <a:t>Recall we have explored using IVF and IMI as coarse quantizers </a:t>
                </a:r>
              </a:p>
              <a:p>
                <a:r>
                  <a:rPr lang="en-US" dirty="0">
                    <a:latin typeface="+mn-lt"/>
                  </a:rPr>
                  <a:t>Combining ideas from IVF and HNSW graph algorithms is another option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centroids of Voronoi cells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Train the HNSW graph on the vectors in the Voronoi cells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Traverse the HNSW graph to perform queries on the Voronoi cells  </a:t>
                </a:r>
              </a:p>
              <a:p>
                <a:r>
                  <a:rPr lang="en-US" dirty="0">
                    <a:latin typeface="+mn-lt"/>
                  </a:rPr>
                  <a:t>Algorithm requires a large number of the cells</a:t>
                </a:r>
              </a:p>
              <a:p>
                <a:pPr lvl="1"/>
                <a:r>
                  <a:rPr lang="en-US" dirty="0">
                    <a:latin typeface="+mn-lt"/>
                  </a:rPr>
                  <a:t>The </a:t>
                </a:r>
                <a:r>
                  <a:rPr lang="en-US" dirty="0">
                    <a:latin typeface="+mn-lt"/>
                    <a:hlinkClick r:id="rId3"/>
                  </a:rPr>
                  <a:t>FAISS Wiki </a:t>
                </a:r>
                <a:r>
                  <a:rPr lang="en-US" dirty="0">
                    <a:latin typeface="+mn-lt"/>
                  </a:rPr>
                  <a:t>recommends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65536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But, wait! We need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samples</a:t>
                </a:r>
              </a:p>
              <a:p>
                <a:pPr lvl="1"/>
                <a:r>
                  <a:rPr lang="en-US" dirty="0">
                    <a:latin typeface="+mn-lt"/>
                  </a:rPr>
                  <a:t>Typically, must choose a 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𝑛𝑙𝑖𝑠𝑡</m:t>
                    </m:r>
                  </m:oMath>
                </a14:m>
                <a:r>
                  <a:rPr lang="en-US" dirty="0">
                    <a:latin typeface="+mn-lt"/>
                  </a:rPr>
                  <a:t> given limits on dataset size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216E7-69BF-B508-6E0D-041EE9C4A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6"/>
                <a:ext cx="11270795" cy="5461949"/>
              </a:xfrm>
              <a:blipFill>
                <a:blip r:embed="rId4"/>
                <a:stretch>
                  <a:fillRect l="-1136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4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B1A4-B348-0A5B-1651-3510818D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03FE-C262-448B-2992-1497218D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26655-6F4E-1F3B-466E-CDDECCFDFC1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25573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 Composite IVF HNSW graph coarse quantizer can be a useful choice</a:t>
                </a:r>
              </a:p>
              <a:p>
                <a:r>
                  <a:rPr lang="en-US" dirty="0">
                    <a:latin typeface="+mn-lt"/>
                  </a:rPr>
                  <a:t>Using IVF coarse quantization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=4096</m:t>
                    </m:r>
                  </m:oMath>
                </a14:m>
                <a:r>
                  <a:rPr lang="en-US" dirty="0">
                    <a:latin typeface="+mn-lt"/>
                  </a:rPr>
                  <a:t> requires large memory</a:t>
                </a:r>
              </a:p>
              <a:p>
                <a:r>
                  <a:rPr lang="en-US" dirty="0">
                    <a:latin typeface="+mn-lt"/>
                  </a:rPr>
                  <a:t>Using HNSW coarse quantization reduces memory use by more than an order of magnitude! </a:t>
                </a:r>
              </a:p>
              <a:p>
                <a:r>
                  <a:rPr lang="en-US" dirty="0">
                    <a:latin typeface="+mn-lt"/>
                  </a:rPr>
                  <a:t>Using OPQ as a preprocessor improves recall and search time with no memory penalty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26655-6F4E-1F3B-466E-CDDECCFDF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2557385"/>
              </a:xfrm>
              <a:blipFill>
                <a:blip r:embed="rId3"/>
                <a:stretch>
                  <a:fillRect l="-973" t="-4762" r="-216" b="-5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A327FC2-5E42-92DD-3386-D311D6C8A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681" y="3796959"/>
            <a:ext cx="8295311" cy="2396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DAB9AD-E724-7A64-3101-56833F6B91D9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5"/>
              </a:rPr>
              <a:t>FAISS the Missing Manual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306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4FEE-F730-20D7-BB7C-47B6DCCF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5589-00E9-A33E-686B-906EA3FAA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LSH for Cosine Distance</a:t>
            </a:r>
          </a:p>
        </p:txBody>
      </p:sp>
    </p:spTree>
    <p:extLst>
      <p:ext uri="{BB962C8B-B14F-4D97-AF65-F5344CB8AC3E}">
        <p14:creationId xmlns:p14="http://schemas.microsoft.com/office/powerpoint/2010/main" val="110213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270000"/>
            <a:ext cx="11010128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mini-hashing be applied to numeric variables? </a:t>
            </a:r>
          </a:p>
          <a:p>
            <a:r>
              <a:rPr lang="en-US" dirty="0">
                <a:latin typeface="+mn-lt"/>
              </a:rPr>
              <a:t>Can create hashes to </a:t>
            </a:r>
            <a:r>
              <a:rPr lang="en-US" b="1" dirty="0">
                <a:latin typeface="+mn-lt"/>
              </a:rPr>
              <a:t>estimate cosine distance </a:t>
            </a:r>
          </a:p>
          <a:p>
            <a:r>
              <a:rPr lang="en-US" dirty="0">
                <a:latin typeface="+mn-lt"/>
              </a:rPr>
              <a:t>Cosine distances computed with </a:t>
            </a:r>
            <a:r>
              <a:rPr lang="en-US" b="1" dirty="0">
                <a:latin typeface="+mn-lt"/>
              </a:rPr>
              <a:t>numeric (real) variables     </a:t>
            </a:r>
          </a:p>
          <a:p>
            <a:r>
              <a:rPr lang="en-US" dirty="0">
                <a:latin typeface="+mn-lt"/>
              </a:rPr>
              <a:t>Uses computationally efficient dot products as hashes  </a:t>
            </a:r>
          </a:p>
          <a:p>
            <a:r>
              <a:rPr lang="en-US" dirty="0">
                <a:latin typeface="+mn-lt"/>
              </a:rPr>
              <a:t>Apply LSH to find cosine distance estimates    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058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Review Cosine Similarity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l="-1111" t="-6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/>
          <p:nvPr/>
        </p:nvCxnSpPr>
        <p:spPr>
          <a:xfrm>
            <a:off x="758008" y="5961921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758008" y="2578125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B40F0C-6CA8-4E2B-9506-257938DB4E99}"/>
              </a:ext>
            </a:extLst>
          </p:cNvPr>
          <p:cNvSpPr txBox="1"/>
          <p:nvPr/>
        </p:nvSpPr>
        <p:spPr>
          <a:xfrm>
            <a:off x="2907106" y="5961921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3A1DA-70A2-4EC3-9CAF-5C65A92AE62B}"/>
              </a:ext>
            </a:extLst>
          </p:cNvPr>
          <p:cNvSpPr txBox="1"/>
          <p:nvPr/>
        </p:nvSpPr>
        <p:spPr>
          <a:xfrm>
            <a:off x="238462" y="3953012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23426B5-5480-4DE4-9184-9876C2CB2517}"/>
              </a:ext>
            </a:extLst>
          </p:cNvPr>
          <p:cNvSpPr/>
          <p:nvPr/>
        </p:nvSpPr>
        <p:spPr>
          <a:xfrm>
            <a:off x="4316808" y="339031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CD8CD439-2CC4-4431-AB63-0F32315F3BC5}"/>
              </a:ext>
            </a:extLst>
          </p:cNvPr>
          <p:cNvSpPr/>
          <p:nvPr/>
        </p:nvSpPr>
        <p:spPr>
          <a:xfrm>
            <a:off x="2498956" y="522982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27AE9-6F7D-46F4-B0C2-70E2F3CD488A}"/>
              </a:ext>
            </a:extLst>
          </p:cNvPr>
          <p:cNvSpPr txBox="1"/>
          <p:nvPr/>
        </p:nvSpPr>
        <p:spPr>
          <a:xfrm>
            <a:off x="2211797" y="5411221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0F31-6C70-4F71-B1DD-342BB67BF461}"/>
              </a:ext>
            </a:extLst>
          </p:cNvPr>
          <p:cNvSpPr txBox="1"/>
          <p:nvPr/>
        </p:nvSpPr>
        <p:spPr>
          <a:xfrm>
            <a:off x="4531787" y="3222984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Points at (2,1) and (4,3)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the distance between them?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Cosine distance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𝑑𝑐𝑜𝑠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2∗4 +1∗3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blipFill>
                <a:blip r:embed="rId4"/>
                <a:stretch>
                  <a:fillRect l="-1229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58008" y="5334265"/>
            <a:ext cx="1740948" cy="62765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42126" y="3494755"/>
            <a:ext cx="3574682" cy="246716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1850592" y="5051214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52682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640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hashes with random hyperplanes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>
            <a:cxnSpLocks/>
          </p:cNvCxnSpPr>
          <p:nvPr/>
        </p:nvCxnSpPr>
        <p:spPr>
          <a:xfrm flipV="1">
            <a:off x="2445406" y="4920792"/>
            <a:ext cx="3220103" cy="143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2445406" y="2286000"/>
            <a:ext cx="0" cy="277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00536" y="1355916"/>
                <a:ext cx="531170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Start with two vectors, 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   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Choose a hyperplane H at random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Hyperplane defined by a perpendicular vector, v 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Dot products of v with x and y have opposite signs: 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Or if v has opposite sign: 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36" y="1355916"/>
                <a:ext cx="5311709" cy="4524315"/>
              </a:xfrm>
              <a:prstGeom prst="rect">
                <a:avLst/>
              </a:prstGeom>
              <a:blipFill>
                <a:blip r:embed="rId3"/>
                <a:stretch>
                  <a:fillRect l="-1607" t="-1077" r="-2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</p:cNvCxnSpPr>
          <p:nvPr/>
        </p:nvCxnSpPr>
        <p:spPr>
          <a:xfrm flipV="1">
            <a:off x="2429523" y="4457290"/>
            <a:ext cx="2593221" cy="60537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</p:cNvCxnSpPr>
          <p:nvPr/>
        </p:nvCxnSpPr>
        <p:spPr>
          <a:xfrm flipV="1">
            <a:off x="2429524" y="2724347"/>
            <a:ext cx="1204509" cy="233991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3537990" y="4153548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A1524-375C-EDF7-3BC0-3101B734DD5D}"/>
              </a:ext>
            </a:extLst>
          </p:cNvPr>
          <p:cNvSpPr txBox="1"/>
          <p:nvPr/>
        </p:nvSpPr>
        <p:spPr>
          <a:xfrm>
            <a:off x="5047904" y="4228046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34270C-B65E-331E-35A7-1C894F3C5FB8}"/>
              </a:ext>
            </a:extLst>
          </p:cNvPr>
          <p:cNvSpPr txBox="1"/>
          <p:nvPr/>
        </p:nvSpPr>
        <p:spPr>
          <a:xfrm>
            <a:off x="3657503" y="2434781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60D0D0-F2DA-A5EA-9DE0-A646FCD5F066}"/>
              </a:ext>
            </a:extLst>
          </p:cNvPr>
          <p:cNvCxnSpPr>
            <a:cxnSpLocks/>
          </p:cNvCxnSpPr>
          <p:nvPr/>
        </p:nvCxnSpPr>
        <p:spPr>
          <a:xfrm>
            <a:off x="981949" y="3555602"/>
            <a:ext cx="2706076" cy="279636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6865B7-C98D-6FF3-C51B-A76849593668}"/>
              </a:ext>
            </a:extLst>
          </p:cNvPr>
          <p:cNvCxnSpPr>
            <a:cxnSpLocks/>
          </p:cNvCxnSpPr>
          <p:nvPr/>
        </p:nvCxnSpPr>
        <p:spPr>
          <a:xfrm flipV="1">
            <a:off x="2429523" y="4214462"/>
            <a:ext cx="1027142" cy="848204"/>
          </a:xfrm>
          <a:prstGeom prst="straightConnector1">
            <a:avLst/>
          </a:prstGeom>
          <a:ln w="444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4B2945-1BB7-3D29-E27F-5C9D35B3F829}"/>
              </a:ext>
            </a:extLst>
          </p:cNvPr>
          <p:cNvSpPr txBox="1"/>
          <p:nvPr/>
        </p:nvSpPr>
        <p:spPr>
          <a:xfrm>
            <a:off x="3329869" y="3802740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22443-AAE1-AA8F-33BA-78577A6F86A7}"/>
              </a:ext>
            </a:extLst>
          </p:cNvPr>
          <p:cNvSpPr txBox="1"/>
          <p:nvPr/>
        </p:nvSpPr>
        <p:spPr>
          <a:xfrm>
            <a:off x="2588344" y="5474388"/>
            <a:ext cx="357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5685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31" grpId="0"/>
      <p:bldP spid="3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640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hashes with random hyperplanes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>
            <a:cxnSpLocks/>
          </p:cNvCxnSpPr>
          <p:nvPr/>
        </p:nvCxnSpPr>
        <p:spPr>
          <a:xfrm flipV="1">
            <a:off x="2445406" y="4920792"/>
            <a:ext cx="3220103" cy="143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2445406" y="2286000"/>
            <a:ext cx="0" cy="277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00536" y="1474727"/>
                <a:ext cx="531170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Choose another hyperplane H at random with orthogonal vector 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Dot products of v with 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 have same signs: 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Or if v has same sign: 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Expected probability that dot product with orthogonal vector have opposite signs:  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+,−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36" y="1474727"/>
                <a:ext cx="5311709" cy="4893647"/>
              </a:xfrm>
              <a:prstGeom prst="rect">
                <a:avLst/>
              </a:prstGeom>
              <a:blipFill>
                <a:blip r:embed="rId3"/>
                <a:stretch>
                  <a:fillRect l="-1607" t="-996" r="-344" b="-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</p:cNvCxnSpPr>
          <p:nvPr/>
        </p:nvCxnSpPr>
        <p:spPr>
          <a:xfrm flipV="1">
            <a:off x="2429523" y="4457290"/>
            <a:ext cx="2593221" cy="60537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</p:cNvCxnSpPr>
          <p:nvPr/>
        </p:nvCxnSpPr>
        <p:spPr>
          <a:xfrm flipV="1">
            <a:off x="2429524" y="2724347"/>
            <a:ext cx="1204509" cy="233991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3537990" y="4153548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A1524-375C-EDF7-3BC0-3101B734DD5D}"/>
              </a:ext>
            </a:extLst>
          </p:cNvPr>
          <p:cNvSpPr txBox="1"/>
          <p:nvPr/>
        </p:nvSpPr>
        <p:spPr>
          <a:xfrm>
            <a:off x="5047904" y="4228046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34270C-B65E-331E-35A7-1C894F3C5FB8}"/>
              </a:ext>
            </a:extLst>
          </p:cNvPr>
          <p:cNvSpPr txBox="1"/>
          <p:nvPr/>
        </p:nvSpPr>
        <p:spPr>
          <a:xfrm>
            <a:off x="3657503" y="2434781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60D0D0-F2DA-A5EA-9DE0-A646FCD5F066}"/>
              </a:ext>
            </a:extLst>
          </p:cNvPr>
          <p:cNvCxnSpPr>
            <a:cxnSpLocks/>
          </p:cNvCxnSpPr>
          <p:nvPr/>
        </p:nvCxnSpPr>
        <p:spPr>
          <a:xfrm>
            <a:off x="584200" y="4992523"/>
            <a:ext cx="4341305" cy="19221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6865B7-C98D-6FF3-C51B-A76849593668}"/>
              </a:ext>
            </a:extLst>
          </p:cNvPr>
          <p:cNvCxnSpPr>
            <a:cxnSpLocks/>
          </p:cNvCxnSpPr>
          <p:nvPr/>
        </p:nvCxnSpPr>
        <p:spPr>
          <a:xfrm flipV="1">
            <a:off x="2439268" y="3921551"/>
            <a:ext cx="138963" cy="1141115"/>
          </a:xfrm>
          <a:prstGeom prst="straightConnector1">
            <a:avLst/>
          </a:prstGeom>
          <a:ln w="444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4B2945-1BB7-3D29-E27F-5C9D35B3F829}"/>
              </a:ext>
            </a:extLst>
          </p:cNvPr>
          <p:cNvSpPr txBox="1"/>
          <p:nvPr/>
        </p:nvSpPr>
        <p:spPr>
          <a:xfrm>
            <a:off x="2508749" y="3464220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22443-AAE1-AA8F-33BA-78577A6F86A7}"/>
              </a:ext>
            </a:extLst>
          </p:cNvPr>
          <p:cNvSpPr txBox="1"/>
          <p:nvPr/>
        </p:nvSpPr>
        <p:spPr>
          <a:xfrm>
            <a:off x="4343470" y="5132406"/>
            <a:ext cx="357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2217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LSH for Numeric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Use sketches to simplify cosine distance LSH  </a:t>
                </a:r>
              </a:p>
              <a:p>
                <a:r>
                  <a:rPr lang="en-US" dirty="0">
                    <a:latin typeface="+mn-lt"/>
                  </a:rPr>
                  <a:t>Need to compute a number of hashes to accurately estimate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>
                  <a:latin typeface="Symbol" panose="05050102010706020507" pitchFamily="18" charset="2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Must average out error of each hash (estimate)   </a:t>
                </a:r>
              </a:p>
              <a:p>
                <a:r>
                  <a:rPr lang="en-US" dirty="0">
                    <a:latin typeface="+mn-lt"/>
                  </a:rPr>
                  <a:t>Sketches can speed this calculation  </a:t>
                </a:r>
              </a:p>
              <a:p>
                <a:r>
                  <a:rPr lang="en-US" dirty="0">
                    <a:latin typeface="+mn-lt"/>
                  </a:rPr>
                  <a:t>Use </a:t>
                </a:r>
                <a:r>
                  <a:rPr lang="en-US" b="1" dirty="0">
                    <a:latin typeface="+mn-lt"/>
                  </a:rPr>
                  <a:t>random vectors (random projections) with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latin typeface="+mn-lt"/>
                  </a:rPr>
                  <a:t> values</a:t>
                </a:r>
                <a:r>
                  <a:rPr lang="en-US" dirty="0">
                    <a:latin typeface="+mn-lt"/>
                  </a:rPr>
                  <a:t>, 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+1,−1,−1,+1,…,−1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Hash family,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, is </a:t>
                </a:r>
                <a:r>
                  <a:rPr lang="en-US" b="1" dirty="0">
                    <a:latin typeface="+mn-lt"/>
                  </a:rPr>
                  <a:t>sign of dot products </a:t>
                </a:r>
                <a:r>
                  <a:rPr lang="en-US" dirty="0">
                    <a:latin typeface="+mn-lt"/>
                  </a:rPr>
                  <a:t>of variables with random vectors </a:t>
                </a:r>
              </a:p>
              <a:p>
                <a:r>
                  <a:rPr lang="en-US" dirty="0">
                    <a:latin typeface="+mn-lt"/>
                  </a:rPr>
                  <a:t>For d dimensional data, limited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possible hashes</a:t>
                </a:r>
              </a:p>
              <a:p>
                <a:pPr lvl="1"/>
                <a:r>
                  <a:rPr lang="en-US" dirty="0">
                    <a:latin typeface="+mn-lt"/>
                  </a:rPr>
                  <a:t>Most useful for very high-dimensional variables  </a:t>
                </a:r>
              </a:p>
              <a:p>
                <a:r>
                  <a:rPr lang="en-US" dirty="0">
                    <a:latin typeface="+mn-lt"/>
                  </a:rPr>
                  <a:t>See the MMDS book for similar method for Euclidean spaces 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  <a:blipFill>
                <a:blip r:embed="rId3"/>
                <a:stretch>
                  <a:fillRect l="-1163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64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7B35-8AF8-3E3F-9285-48A0C513A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1325-53CA-D7CB-C924-BDFCCF4A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Locally Sensitive Hashing</a:t>
            </a:r>
          </a:p>
        </p:txBody>
      </p:sp>
    </p:spTree>
    <p:extLst>
      <p:ext uri="{BB962C8B-B14F-4D97-AF65-F5344CB8AC3E}">
        <p14:creationId xmlns:p14="http://schemas.microsoft.com/office/powerpoint/2010/main" val="19151855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28299"/>
                <a:ext cx="11525250" cy="55281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Probability of error from mini-hashing</a:t>
                </a:r>
              </a:p>
              <a:p>
                <a:r>
                  <a:rPr lang="en-US" dirty="0">
                    <a:latin typeface="+mn-lt"/>
                  </a:rPr>
                  <a:t>Consider a similarity measure between two vectors: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The probability that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mini-hashes agree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probability that at least 1 of the mini-hashes disagrees: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28299"/>
                <a:ext cx="11525250" cy="5528101"/>
              </a:xfrm>
              <a:blipFill>
                <a:blip r:embed="rId3"/>
                <a:stretch>
                  <a:fillRect l="-1111" t="-1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6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707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Model for understanding locally sensitive hashing  </a:t>
                </a:r>
              </a:p>
              <a:p>
                <a:r>
                  <a:rPr lang="en-US" dirty="0">
                    <a:latin typeface="+mn-lt"/>
                  </a:rPr>
                  <a:t>Set </a:t>
                </a:r>
                <a:r>
                  <a:rPr lang="en-US" b="1" dirty="0">
                    <a:latin typeface="+mn-lt"/>
                  </a:rPr>
                  <a:t>thresholds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to define a </a:t>
                </a:r>
                <a:r>
                  <a:rPr lang="en-US" b="1" dirty="0">
                    <a:latin typeface="+mn-lt"/>
                  </a:rPr>
                  <a:t>decision rule</a:t>
                </a:r>
              </a:p>
              <a:p>
                <a:r>
                  <a:rPr lang="en-US" dirty="0">
                    <a:latin typeface="+mn-lt"/>
                  </a:rPr>
                  <a:t>Consider distance measures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generated from a family of functions,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 with decision rule:</a:t>
                </a:r>
              </a:p>
              <a:p>
                <a:pPr lvl="1"/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𝑚𝑎𝑡𝑐ℎ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latin typeface="+mn-lt"/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𝑚𝑎𝑡𝑐ℎ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We say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sensitive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Intuitively, the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more sensitive the hash function the more sensitive the decision rule</a:t>
                </a:r>
                <a:endParaRPr lang="en-US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  <a:blipFill>
                <a:blip r:embed="rId3"/>
                <a:stretch>
                  <a:fillRect l="-1111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70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Model to understand locally sensitive hashing  </a:t>
                </a:r>
              </a:p>
              <a:p>
                <a:r>
                  <a:rPr lang="en-US" dirty="0">
                    <a:latin typeface="+mn-lt"/>
                  </a:rPr>
                  <a:t>Example of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family</a:t>
                </a:r>
              </a:p>
              <a:p>
                <a:r>
                  <a:rPr lang="en-US" dirty="0">
                    <a:latin typeface="+mn-lt"/>
                  </a:rPr>
                  <a:t>Set the thresholds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latin typeface="+mn-lt"/>
                  </a:rPr>
                  <a:t>Then: </a:t>
                </a:r>
              </a:p>
              <a:p>
                <a:pPr lvl="1"/>
                <a:r>
                  <a:rPr lang="en-US" dirty="0">
                    <a:latin typeface="+mn-lt"/>
                  </a:rPr>
                  <a:t>Probability of match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=1−0.3=0.7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Probability of false positive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=1−0.6=0.4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0.3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0.6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0.7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family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  <a:blipFill>
                <a:blip r:embed="rId3"/>
                <a:stretch>
                  <a:fillRect l="-1111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83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199742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Model to understand locally sensitive hashing  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Can visualize relationship between hash function and sensitivity of the decision rule 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Higher sensitivity,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and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, increases probability of correct decision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1997425"/>
              </a:xfrm>
              <a:blipFill>
                <a:blip r:embed="rId3"/>
                <a:stretch>
                  <a:fillRect l="-952" t="-7951" b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FF35517-4F73-4034-8FDD-6EB5CD007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002" y="2902336"/>
            <a:ext cx="5403998" cy="3624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468D23-BF29-497D-A119-A80232340E6A}"/>
              </a:ext>
            </a:extLst>
          </p:cNvPr>
          <p:cNvSpPr txBox="1"/>
          <p:nvPr/>
        </p:nvSpPr>
        <p:spPr>
          <a:xfrm>
            <a:off x="3241040" y="6527264"/>
            <a:ext cx="494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Credit; </a:t>
            </a:r>
            <a:r>
              <a:rPr lang="en-US" dirty="0" err="1"/>
              <a:t>Leskovec</a:t>
            </a:r>
            <a:r>
              <a:rPr lang="en-US" dirty="0"/>
              <a:t> et.al. 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5231F-CF4C-88FC-DE8E-FF7D0CAA88A2}"/>
              </a:ext>
            </a:extLst>
          </p:cNvPr>
          <p:cNvSpPr txBox="1"/>
          <p:nvPr/>
        </p:nvSpPr>
        <p:spPr>
          <a:xfrm>
            <a:off x="6824421" y="5014144"/>
            <a:ext cx="1007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False Positive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B24DD-E961-A0FF-562A-F974593993CF}"/>
              </a:ext>
            </a:extLst>
          </p:cNvPr>
          <p:cNvSpPr txBox="1"/>
          <p:nvPr/>
        </p:nvSpPr>
        <p:spPr>
          <a:xfrm>
            <a:off x="3985645" y="2782669"/>
            <a:ext cx="1097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False Negative</a:t>
            </a:r>
          </a:p>
        </p:txBody>
      </p:sp>
    </p:spTree>
    <p:extLst>
      <p:ext uri="{BB962C8B-B14F-4D97-AF65-F5344CB8AC3E}">
        <p14:creationId xmlns:p14="http://schemas.microsoft.com/office/powerpoint/2010/main" val="13168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LSH for Cosine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family for cosine distance hashes 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Using cosine hashes,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iif</a:t>
                </a:r>
                <a:r>
                  <a:rPr lang="en-US" dirty="0">
                    <a:latin typeface="+mn-lt"/>
                  </a:rPr>
                  <a:t> the dot products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+mn-lt"/>
                  </a:rPr>
                  <a:t> have the same sign,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  <a:blipFill>
                <a:blip r:embed="rId3"/>
                <a:stretch>
                  <a:fillRect l="-1163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84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81614-7556-0990-89BE-B6D81C26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5547-44B4-22A7-AAC8-A7BBF3D5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Improving LSH</a:t>
            </a:r>
          </a:p>
        </p:txBody>
      </p:sp>
    </p:spTree>
    <p:extLst>
      <p:ext uri="{BB962C8B-B14F-4D97-AF65-F5344CB8AC3E}">
        <p14:creationId xmlns:p14="http://schemas.microsoft.com/office/powerpoint/2010/main" val="4141996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270000"/>
            <a:ext cx="6331585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Probability of error from mini-hashing</a:t>
            </a:r>
          </a:p>
          <a:p>
            <a:r>
              <a:rPr lang="en-US" dirty="0">
                <a:latin typeface="+mn-lt"/>
              </a:rPr>
              <a:t>Single mini-hash yields low sensitivity to positive cases</a:t>
            </a:r>
          </a:p>
          <a:p>
            <a:r>
              <a:rPr lang="en-US" dirty="0">
                <a:latin typeface="+mn-lt"/>
              </a:rPr>
              <a:t>How can we improve on </a:t>
            </a:r>
            <a:r>
              <a:rPr lang="en-US" b="1" dirty="0">
                <a:latin typeface="+mn-lt"/>
              </a:rPr>
              <a:t>local sensitivity?</a:t>
            </a:r>
          </a:p>
          <a:p>
            <a:r>
              <a:rPr lang="en-US" dirty="0">
                <a:latin typeface="+mn-lt"/>
              </a:rPr>
              <a:t>We employ </a:t>
            </a:r>
            <a:r>
              <a:rPr lang="en-US" b="1" dirty="0">
                <a:latin typeface="+mn-lt"/>
              </a:rPr>
              <a:t>b bands of r mini-hashes</a:t>
            </a:r>
            <a:r>
              <a:rPr lang="en-US" dirty="0">
                <a:latin typeface="+mn-lt"/>
              </a:rPr>
              <a:t> per band</a:t>
            </a:r>
            <a:endParaRPr lang="en-US" b="1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473CA-D09B-4BDA-97FE-949D0E7E67F5}"/>
              </a:ext>
            </a:extLst>
          </p:cNvPr>
          <p:cNvSpPr/>
          <p:nvPr/>
        </p:nvSpPr>
        <p:spPr>
          <a:xfrm>
            <a:off x="8292775" y="1152735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21A98-1BAA-4ECE-BDA1-5E38BA12BFDD}"/>
              </a:ext>
            </a:extLst>
          </p:cNvPr>
          <p:cNvSpPr/>
          <p:nvPr/>
        </p:nvSpPr>
        <p:spPr>
          <a:xfrm>
            <a:off x="8292775" y="1152743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470E0-3C32-4879-A663-5CACF1F6B52B}"/>
              </a:ext>
            </a:extLst>
          </p:cNvPr>
          <p:cNvSpPr/>
          <p:nvPr/>
        </p:nvSpPr>
        <p:spPr>
          <a:xfrm>
            <a:off x="8292775" y="1465389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AFD31-D172-419D-AFA0-BFAD413C28B7}"/>
              </a:ext>
            </a:extLst>
          </p:cNvPr>
          <p:cNvSpPr/>
          <p:nvPr/>
        </p:nvSpPr>
        <p:spPr>
          <a:xfrm>
            <a:off x="8292775" y="2080790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4D261-FA4B-4DC9-B14C-2D23523BC7E7}"/>
              </a:ext>
            </a:extLst>
          </p:cNvPr>
          <p:cNvSpPr/>
          <p:nvPr/>
        </p:nvSpPr>
        <p:spPr>
          <a:xfrm>
            <a:off x="8292775" y="1778037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7DAD05-DAF6-4261-A7CB-BD57638829DF}"/>
              </a:ext>
            </a:extLst>
          </p:cNvPr>
          <p:cNvSpPr/>
          <p:nvPr/>
        </p:nvSpPr>
        <p:spPr>
          <a:xfrm>
            <a:off x="8292775" y="3614337"/>
            <a:ext cx="1598809" cy="123080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14463-A07F-42A1-A51B-ADF868166DF1}"/>
              </a:ext>
            </a:extLst>
          </p:cNvPr>
          <p:cNvSpPr txBox="1"/>
          <p:nvPr/>
        </p:nvSpPr>
        <p:spPr>
          <a:xfrm>
            <a:off x="7183802" y="1561607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C4FAA-F577-4D27-A1E4-4DABB5B2CEF1}"/>
              </a:ext>
            </a:extLst>
          </p:cNvPr>
          <p:cNvSpPr txBox="1"/>
          <p:nvPr/>
        </p:nvSpPr>
        <p:spPr>
          <a:xfrm>
            <a:off x="7183802" y="2675836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3C727D-D847-4660-8DAB-7FDC7AE443D4}"/>
              </a:ext>
            </a:extLst>
          </p:cNvPr>
          <p:cNvSpPr txBox="1"/>
          <p:nvPr/>
        </p:nvSpPr>
        <p:spPr>
          <a:xfrm>
            <a:off x="7183802" y="5243592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99ED6E-37A5-451E-B67B-6FFDDD4A0935}"/>
              </a:ext>
            </a:extLst>
          </p:cNvPr>
          <p:cNvSpPr/>
          <p:nvPr/>
        </p:nvSpPr>
        <p:spPr>
          <a:xfrm>
            <a:off x="8292775" y="2393429"/>
            <a:ext cx="1598809" cy="123080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A74B55-C89F-4060-A95F-FD34C1BF7F93}"/>
              </a:ext>
            </a:extLst>
          </p:cNvPr>
          <p:cNvSpPr/>
          <p:nvPr/>
        </p:nvSpPr>
        <p:spPr>
          <a:xfrm>
            <a:off x="8292775" y="2393437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D5DE2-C40D-4351-A6C2-7C3B66705A64}"/>
              </a:ext>
            </a:extLst>
          </p:cNvPr>
          <p:cNvSpPr/>
          <p:nvPr/>
        </p:nvSpPr>
        <p:spPr>
          <a:xfrm>
            <a:off x="8292775" y="2706083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7FE512-038E-4233-8509-DF4DA2667A6A}"/>
              </a:ext>
            </a:extLst>
          </p:cNvPr>
          <p:cNvSpPr/>
          <p:nvPr/>
        </p:nvSpPr>
        <p:spPr>
          <a:xfrm>
            <a:off x="8292775" y="3321484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8035A-4F1D-4D13-BA0C-065ADAE13C0F}"/>
              </a:ext>
            </a:extLst>
          </p:cNvPr>
          <p:cNvSpPr/>
          <p:nvPr/>
        </p:nvSpPr>
        <p:spPr>
          <a:xfrm>
            <a:off x="8292775" y="3018731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7C58B-1764-4809-8951-8040ACBE5597}"/>
              </a:ext>
            </a:extLst>
          </p:cNvPr>
          <p:cNvSpPr/>
          <p:nvPr/>
        </p:nvSpPr>
        <p:spPr>
          <a:xfrm>
            <a:off x="8217712" y="4889717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57542E-402E-4F02-A93E-2C228BA76619}"/>
              </a:ext>
            </a:extLst>
          </p:cNvPr>
          <p:cNvSpPr/>
          <p:nvPr/>
        </p:nvSpPr>
        <p:spPr>
          <a:xfrm>
            <a:off x="8217712" y="4889725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DAE0EB-7E2A-4E90-84C1-DEA478FC12D1}"/>
              </a:ext>
            </a:extLst>
          </p:cNvPr>
          <p:cNvSpPr/>
          <p:nvPr/>
        </p:nvSpPr>
        <p:spPr>
          <a:xfrm>
            <a:off x="8217712" y="5202371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E16C37-4E54-43A0-A897-0BF29F425253}"/>
              </a:ext>
            </a:extLst>
          </p:cNvPr>
          <p:cNvSpPr/>
          <p:nvPr/>
        </p:nvSpPr>
        <p:spPr>
          <a:xfrm>
            <a:off x="8217712" y="5817772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643539-9CF6-4E9D-A50E-F7DF7F792F43}"/>
              </a:ext>
            </a:extLst>
          </p:cNvPr>
          <p:cNvSpPr/>
          <p:nvPr/>
        </p:nvSpPr>
        <p:spPr>
          <a:xfrm>
            <a:off x="8217712" y="5515019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5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78710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improve local sensitivity of a family of functions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Start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r>
                  <a:rPr lang="en-US" dirty="0">
                    <a:latin typeface="+mn-lt"/>
                  </a:rPr>
                  <a:t>Construct a new family from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, called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+mn-lt"/>
                  </a:rPr>
                  <a:t> by </a:t>
                </a:r>
                <a:r>
                  <a:rPr lang="en-US" b="1" dirty="0">
                    <a:latin typeface="+mn-lt"/>
                  </a:rPr>
                  <a:t>AND-construction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Construct family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distance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Assuming </a:t>
                </a:r>
                <a:r>
                  <a:rPr lang="en-US" b="1" dirty="0">
                    <a:latin typeface="+mn-lt"/>
                  </a:rPr>
                  <a:t>independence of the distance functions</a:t>
                </a:r>
                <a:r>
                  <a:rPr lang="en-US" dirty="0">
                    <a:latin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 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AND-construction uses agreement – logical AND</a:t>
                </a:r>
              </a:p>
              <a:p>
                <a:r>
                  <a:rPr lang="en-US" dirty="0">
                    <a:latin typeface="+mn-lt"/>
                  </a:rPr>
                  <a:t>AND-construction </a:t>
                </a:r>
                <a:r>
                  <a:rPr lang="en-US" b="1" dirty="0">
                    <a:latin typeface="+mn-lt"/>
                  </a:rPr>
                  <a:t>decreases</a:t>
                </a:r>
                <a:r>
                  <a:rPr lang="en-US" dirty="0">
                    <a:latin typeface="+mn-lt"/>
                  </a:rPr>
                  <a:t> both decision thresholds,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787105"/>
              </a:xfrm>
              <a:blipFill>
                <a:blip r:embed="rId3"/>
                <a:stretch>
                  <a:fillRect l="-1111" t="-1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07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Locally Sensitive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78710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improve local sensitivity of a family of functions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Can also use </a:t>
                </a:r>
                <a:r>
                  <a:rPr lang="en-US" b="1" dirty="0">
                    <a:latin typeface="+mn-lt"/>
                  </a:rPr>
                  <a:t>OR-construction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Construct family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distance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Assume independence of the distance functions: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1−( 1−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OR-construction is positive if any mini-hash exceeds threshold – OR operator </a:t>
                </a:r>
              </a:p>
              <a:p>
                <a:r>
                  <a:rPr lang="en-US" dirty="0">
                    <a:latin typeface="+mn-lt"/>
                  </a:rPr>
                  <a:t>OR-construction </a:t>
                </a:r>
                <a:r>
                  <a:rPr lang="en-US" b="1" dirty="0">
                    <a:latin typeface="+mn-lt"/>
                  </a:rPr>
                  <a:t>increases</a:t>
                </a:r>
                <a:r>
                  <a:rPr lang="en-US" dirty="0">
                    <a:latin typeface="+mn-lt"/>
                  </a:rPr>
                  <a:t> both decision thresholds,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787105"/>
              </a:xfrm>
              <a:blipFill>
                <a:blip r:embed="rId3"/>
                <a:stretch>
                  <a:fillRect l="-1111" t="-1791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0936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260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improve local sensitivity of a family of functions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Can get the best of both by combining AND-construction and OR-construction </a:t>
                </a:r>
              </a:p>
              <a:p>
                <a:pPr lvl="1"/>
                <a:r>
                  <a:rPr lang="en-US" dirty="0">
                    <a:latin typeface="+mn-lt"/>
                  </a:rPr>
                  <a:t>r hashes per band</a:t>
                </a:r>
              </a:p>
              <a:p>
                <a:pPr lvl="1"/>
                <a:r>
                  <a:rPr lang="en-US" dirty="0">
                    <a:latin typeface="+mn-lt"/>
                  </a:rPr>
                  <a:t>d bands</a:t>
                </a:r>
              </a:p>
              <a:p>
                <a:r>
                  <a:rPr lang="en-US" dirty="0">
                    <a:latin typeface="+mn-lt"/>
                  </a:rPr>
                  <a:t>Option 1: AND-OR-Construction – apply AND-Construction first then apply OR-Construction, giving sensitivity: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Option 2: OR-AND-Construction – apply OR-Construction first then apply AND-Construction, giving sensitivity: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26073"/>
              </a:xfrm>
              <a:blipFill>
                <a:blip r:embed="rId3"/>
                <a:stretch>
                  <a:fillRect l="-1111" t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14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939801"/>
                <a:ext cx="11525250" cy="5791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improve local sensitivity of a family of functions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Increased sensitivity for both constructions </a:t>
                </a:r>
              </a:p>
              <a:p>
                <a:pPr lvl="1"/>
                <a:r>
                  <a:rPr lang="en-US" dirty="0">
                    <a:latin typeface="+mn-lt"/>
                  </a:rPr>
                  <a:t>AND-OR-Construction slightly biased to negative cases</a:t>
                </a:r>
              </a:p>
              <a:p>
                <a:pPr lvl="1"/>
                <a:r>
                  <a:rPr lang="en-US" dirty="0">
                    <a:latin typeface="+mn-lt"/>
                  </a:rPr>
                  <a:t>OR-AND-Construction slightly biased to positive cases  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939801"/>
                <a:ext cx="11525250" cy="5791200"/>
              </a:xfrm>
              <a:blipFill>
                <a:blip r:embed="rId3"/>
                <a:stretch>
                  <a:fillRect l="-1111" t="-1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C449DD-1C2F-4286-8E14-84FE2D4849A5}"/>
              </a:ext>
            </a:extLst>
          </p:cNvPr>
          <p:cNvGraphicFramePr>
            <a:graphicFrameLocks noGrp="1"/>
          </p:cNvGraphicFramePr>
          <p:nvPr/>
        </p:nvGraphicFramePr>
        <p:xfrm>
          <a:off x="735291" y="1945005"/>
          <a:ext cx="5231366" cy="29679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2566">
                  <a:extLst>
                    <a:ext uri="{9D8B030D-6E8A-4147-A177-3AD203B41FA5}">
                      <a16:colId xmlns:a16="http://schemas.microsoft.com/office/drawing/2014/main" val="1651001826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033534380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141342899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AND-OR-Construction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OR-AND-Construction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/>
                </a:tc>
                <a:extLst>
                  <a:ext uri="{0D108BD9-81ED-4DB2-BD59-A6C34878D82A}">
                    <a16:rowId xmlns:a16="http://schemas.microsoft.com/office/drawing/2014/main" val="28357875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3.9994E-04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1.3987E-02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95608157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6.3847E-03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1.2150E-01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32269064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3.2008E-02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3.3345E-01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894495679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9.8535E-02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5.7395E-01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88817452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2.2752E-01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7.7248E-01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7955250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4.2605E-01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9.0147E-01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733985634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6.6655E-01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9.6799E-01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613072975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8.7850E-01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9.9362E-01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23285505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9.8601E-01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9.9960E-01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023872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4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939801"/>
                <a:ext cx="11525250" cy="5791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improve local sensitivity of a family of functions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Example: AND-OR construction of LSH decision function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Optimal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Notice, slope of decision function increases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939801"/>
                <a:ext cx="11525250" cy="5791200"/>
              </a:xfrm>
              <a:blipFill>
                <a:blip r:embed="rId3"/>
                <a:stretch>
                  <a:fillRect l="-1111" t="-1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34DE209-6B3F-2C8B-F81E-6731A59B3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334" y="2054053"/>
            <a:ext cx="4998257" cy="337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0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18EC-026C-7594-F28D-F78931F3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A8FF-540B-108A-CABA-DEF50818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/>
              <a:t>Efficient LSH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99588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Efficient LSH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What is an efficient algorithm for LSH? </a:t>
                </a:r>
              </a:p>
              <a:p>
                <a:r>
                  <a:rPr lang="en-US" dirty="0">
                    <a:latin typeface="+mn-lt"/>
                  </a:rPr>
                  <a:t>Pairwise comparison is inefficient      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+mn-lt"/>
                  </a:rPr>
                  <a:t> pairs   </a:t>
                </a:r>
              </a:p>
              <a:p>
                <a:pPr lvl="1"/>
                <a:r>
                  <a:rPr lang="en-US" dirty="0">
                    <a:latin typeface="+mn-lt"/>
                  </a:rPr>
                  <a:t>Computational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for KD-tree</a:t>
                </a:r>
              </a:p>
              <a:p>
                <a:r>
                  <a:rPr lang="en-US" dirty="0">
                    <a:latin typeface="+mn-lt"/>
                  </a:rPr>
                  <a:t>Use hash buckets to find candidate pairs      </a:t>
                </a:r>
              </a:p>
              <a:p>
                <a:pPr lvl="1"/>
                <a:r>
                  <a:rPr lang="en-US" dirty="0">
                    <a:latin typeface="+mn-lt"/>
                  </a:rPr>
                  <a:t>Band of signature matrix hash to bucket  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More than one hash in bucket is candidate pair  </a:t>
                </a:r>
              </a:p>
              <a:p>
                <a:pPr lvl="1"/>
                <a:r>
                  <a:rPr lang="en-US" dirty="0">
                    <a:latin typeface="+mn-lt"/>
                  </a:rPr>
                  <a:t>Hashing algorithm with </a:t>
                </a:r>
                <a:r>
                  <a:rPr lang="en-US" b="1" dirty="0">
                    <a:latin typeface="+mn-lt"/>
                  </a:rPr>
                  <a:t>computational complexity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latin typeface="+mn-lt"/>
                  </a:rPr>
                  <a:t>!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  <a:blipFill>
                <a:blip r:embed="rId3"/>
                <a:stretch>
                  <a:fillRect l="-1163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71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3648435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Efficient LSH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6" y="1201918"/>
            <a:ext cx="3800278" cy="5554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Efficient algorithm for LSH uses hash table </a:t>
            </a:r>
          </a:p>
          <a:p>
            <a:r>
              <a:rPr lang="en-US" dirty="0">
                <a:latin typeface="+mn-lt"/>
              </a:rPr>
              <a:t>Start with hash table</a:t>
            </a:r>
          </a:p>
          <a:p>
            <a:r>
              <a:rPr lang="en-US" dirty="0">
                <a:latin typeface="+mn-lt"/>
              </a:rPr>
              <a:t>Signatures arranged in bands</a:t>
            </a:r>
          </a:p>
          <a:p>
            <a:r>
              <a:rPr lang="en-US" dirty="0">
                <a:latin typeface="+mn-lt"/>
              </a:rPr>
              <a:t>Hash signatures in bands to hash buckets   </a:t>
            </a:r>
          </a:p>
          <a:p>
            <a:r>
              <a:rPr lang="en-US" dirty="0">
                <a:latin typeface="+mn-lt"/>
              </a:rPr>
              <a:t>Match hash to same bucket indicates high similarity  </a:t>
            </a:r>
            <a:endParaRPr lang="en-US" b="1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473CA-D09B-4BDA-97FE-949D0E7E67F5}"/>
              </a:ext>
            </a:extLst>
          </p:cNvPr>
          <p:cNvSpPr/>
          <p:nvPr/>
        </p:nvSpPr>
        <p:spPr>
          <a:xfrm>
            <a:off x="5341608" y="1050531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21A98-1BAA-4ECE-BDA1-5E38BA12BFDD}"/>
              </a:ext>
            </a:extLst>
          </p:cNvPr>
          <p:cNvSpPr/>
          <p:nvPr/>
        </p:nvSpPr>
        <p:spPr>
          <a:xfrm>
            <a:off x="5341608" y="1050539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470E0-3C32-4879-A663-5CACF1F6B52B}"/>
              </a:ext>
            </a:extLst>
          </p:cNvPr>
          <p:cNvSpPr/>
          <p:nvPr/>
        </p:nvSpPr>
        <p:spPr>
          <a:xfrm>
            <a:off x="5341608" y="1363185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AFD31-D172-419D-AFA0-BFAD413C28B7}"/>
              </a:ext>
            </a:extLst>
          </p:cNvPr>
          <p:cNvSpPr/>
          <p:nvPr/>
        </p:nvSpPr>
        <p:spPr>
          <a:xfrm>
            <a:off x="5341608" y="1978586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4D261-FA4B-4DC9-B14C-2D23523BC7E7}"/>
              </a:ext>
            </a:extLst>
          </p:cNvPr>
          <p:cNvSpPr/>
          <p:nvPr/>
        </p:nvSpPr>
        <p:spPr>
          <a:xfrm>
            <a:off x="5341608" y="1675833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7DAD05-DAF6-4261-A7CB-BD57638829DF}"/>
              </a:ext>
            </a:extLst>
          </p:cNvPr>
          <p:cNvSpPr/>
          <p:nvPr/>
        </p:nvSpPr>
        <p:spPr>
          <a:xfrm>
            <a:off x="5341608" y="3512133"/>
            <a:ext cx="1598809" cy="123080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14463-A07F-42A1-A51B-ADF868166DF1}"/>
              </a:ext>
            </a:extLst>
          </p:cNvPr>
          <p:cNvSpPr txBox="1"/>
          <p:nvPr/>
        </p:nvSpPr>
        <p:spPr>
          <a:xfrm>
            <a:off x="4232635" y="1459403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C4FAA-F577-4D27-A1E4-4DABB5B2CEF1}"/>
              </a:ext>
            </a:extLst>
          </p:cNvPr>
          <p:cNvSpPr txBox="1"/>
          <p:nvPr/>
        </p:nvSpPr>
        <p:spPr>
          <a:xfrm>
            <a:off x="4232635" y="2573632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3C727D-D847-4660-8DAB-7FDC7AE443D4}"/>
              </a:ext>
            </a:extLst>
          </p:cNvPr>
          <p:cNvSpPr txBox="1"/>
          <p:nvPr/>
        </p:nvSpPr>
        <p:spPr>
          <a:xfrm>
            <a:off x="4307698" y="5146101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99ED6E-37A5-451E-B67B-6FFDDD4A0935}"/>
              </a:ext>
            </a:extLst>
          </p:cNvPr>
          <p:cNvSpPr/>
          <p:nvPr/>
        </p:nvSpPr>
        <p:spPr>
          <a:xfrm>
            <a:off x="5341608" y="2291225"/>
            <a:ext cx="1598809" cy="123080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A74B55-C89F-4060-A95F-FD34C1BF7F93}"/>
              </a:ext>
            </a:extLst>
          </p:cNvPr>
          <p:cNvSpPr/>
          <p:nvPr/>
        </p:nvSpPr>
        <p:spPr>
          <a:xfrm>
            <a:off x="5341608" y="2291233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D5DE2-C40D-4351-A6C2-7C3B66705A64}"/>
              </a:ext>
            </a:extLst>
          </p:cNvPr>
          <p:cNvSpPr/>
          <p:nvPr/>
        </p:nvSpPr>
        <p:spPr>
          <a:xfrm>
            <a:off x="5341608" y="2603879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7FE512-038E-4233-8509-DF4DA2667A6A}"/>
              </a:ext>
            </a:extLst>
          </p:cNvPr>
          <p:cNvSpPr/>
          <p:nvPr/>
        </p:nvSpPr>
        <p:spPr>
          <a:xfrm>
            <a:off x="5341608" y="3219280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8035A-4F1D-4D13-BA0C-065ADAE13C0F}"/>
              </a:ext>
            </a:extLst>
          </p:cNvPr>
          <p:cNvSpPr/>
          <p:nvPr/>
        </p:nvSpPr>
        <p:spPr>
          <a:xfrm>
            <a:off x="5341608" y="2916527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7C58B-1764-4809-8951-8040ACBE5597}"/>
              </a:ext>
            </a:extLst>
          </p:cNvPr>
          <p:cNvSpPr/>
          <p:nvPr/>
        </p:nvSpPr>
        <p:spPr>
          <a:xfrm>
            <a:off x="5341608" y="4792226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57542E-402E-4F02-A93E-2C228BA76619}"/>
              </a:ext>
            </a:extLst>
          </p:cNvPr>
          <p:cNvSpPr/>
          <p:nvPr/>
        </p:nvSpPr>
        <p:spPr>
          <a:xfrm>
            <a:off x="5341608" y="4792234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DAE0EB-7E2A-4E90-84C1-DEA478FC12D1}"/>
              </a:ext>
            </a:extLst>
          </p:cNvPr>
          <p:cNvSpPr/>
          <p:nvPr/>
        </p:nvSpPr>
        <p:spPr>
          <a:xfrm>
            <a:off x="5341608" y="5104880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E16C37-4E54-43A0-A897-0BF29F425253}"/>
              </a:ext>
            </a:extLst>
          </p:cNvPr>
          <p:cNvSpPr/>
          <p:nvPr/>
        </p:nvSpPr>
        <p:spPr>
          <a:xfrm>
            <a:off x="5341608" y="5720281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643539-9CF6-4E9D-A50E-F7DF7F792F43}"/>
              </a:ext>
            </a:extLst>
          </p:cNvPr>
          <p:cNvSpPr/>
          <p:nvPr/>
        </p:nvSpPr>
        <p:spPr>
          <a:xfrm>
            <a:off x="5341608" y="5417528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A3BFEC-B0B0-8D88-D86B-118F7B27561C}"/>
              </a:ext>
            </a:extLst>
          </p:cNvPr>
          <p:cNvSpPr/>
          <p:nvPr/>
        </p:nvSpPr>
        <p:spPr>
          <a:xfrm>
            <a:off x="7492490" y="1050523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1D2CF4-C34A-567D-429B-C19106C59626}"/>
              </a:ext>
            </a:extLst>
          </p:cNvPr>
          <p:cNvSpPr/>
          <p:nvPr/>
        </p:nvSpPr>
        <p:spPr>
          <a:xfrm>
            <a:off x="7492490" y="1050531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A86E49-220F-BC93-132F-710957492C1D}"/>
              </a:ext>
            </a:extLst>
          </p:cNvPr>
          <p:cNvSpPr/>
          <p:nvPr/>
        </p:nvSpPr>
        <p:spPr>
          <a:xfrm>
            <a:off x="7492490" y="1363177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96FB1B-C024-7392-D628-23DC237AF3A0}"/>
              </a:ext>
            </a:extLst>
          </p:cNvPr>
          <p:cNvSpPr/>
          <p:nvPr/>
        </p:nvSpPr>
        <p:spPr>
          <a:xfrm>
            <a:off x="7492490" y="1978578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8544A0-839D-4B85-7970-A09B24F3747D}"/>
              </a:ext>
            </a:extLst>
          </p:cNvPr>
          <p:cNvSpPr/>
          <p:nvPr/>
        </p:nvSpPr>
        <p:spPr>
          <a:xfrm>
            <a:off x="7492490" y="1675825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F5575F-53D5-B21B-0E6A-D923B15812BC}"/>
              </a:ext>
            </a:extLst>
          </p:cNvPr>
          <p:cNvSpPr/>
          <p:nvPr/>
        </p:nvSpPr>
        <p:spPr>
          <a:xfrm>
            <a:off x="7492490" y="3512125"/>
            <a:ext cx="1598809" cy="123080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1DCEF96-C558-89E9-E7AE-BFD9ADCDF185}"/>
              </a:ext>
            </a:extLst>
          </p:cNvPr>
          <p:cNvSpPr/>
          <p:nvPr/>
        </p:nvSpPr>
        <p:spPr>
          <a:xfrm>
            <a:off x="7492490" y="2291217"/>
            <a:ext cx="1598809" cy="123080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406779-AF2C-7238-14E5-3736CCEC906D}"/>
              </a:ext>
            </a:extLst>
          </p:cNvPr>
          <p:cNvSpPr/>
          <p:nvPr/>
        </p:nvSpPr>
        <p:spPr>
          <a:xfrm>
            <a:off x="7492490" y="2291225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413EEC0-5304-754C-1721-FC7882632151}"/>
              </a:ext>
            </a:extLst>
          </p:cNvPr>
          <p:cNvSpPr/>
          <p:nvPr/>
        </p:nvSpPr>
        <p:spPr>
          <a:xfrm>
            <a:off x="7492490" y="2603871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127302-7B5C-46B9-6110-C47174F93164}"/>
              </a:ext>
            </a:extLst>
          </p:cNvPr>
          <p:cNvSpPr/>
          <p:nvPr/>
        </p:nvSpPr>
        <p:spPr>
          <a:xfrm>
            <a:off x="7492490" y="3219272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1BFE77-B80F-A3ED-1E0C-418D55CD6920}"/>
              </a:ext>
            </a:extLst>
          </p:cNvPr>
          <p:cNvSpPr/>
          <p:nvPr/>
        </p:nvSpPr>
        <p:spPr>
          <a:xfrm>
            <a:off x="7492490" y="2916519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2F76B9-DE1A-1907-A6F8-12566A91BF53}"/>
              </a:ext>
            </a:extLst>
          </p:cNvPr>
          <p:cNvSpPr/>
          <p:nvPr/>
        </p:nvSpPr>
        <p:spPr>
          <a:xfrm>
            <a:off x="7492490" y="4792218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C334C5-220D-1C71-CD2A-0E2C2C1E4C24}"/>
              </a:ext>
            </a:extLst>
          </p:cNvPr>
          <p:cNvSpPr/>
          <p:nvPr/>
        </p:nvSpPr>
        <p:spPr>
          <a:xfrm>
            <a:off x="7492490" y="4792226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79CB35-E639-752D-FFEF-4FB6C498B5F5}"/>
              </a:ext>
            </a:extLst>
          </p:cNvPr>
          <p:cNvSpPr/>
          <p:nvPr/>
        </p:nvSpPr>
        <p:spPr>
          <a:xfrm>
            <a:off x="7492490" y="5104872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F718EE-9D20-3ABE-0A87-0FEC8F6E31C7}"/>
              </a:ext>
            </a:extLst>
          </p:cNvPr>
          <p:cNvSpPr/>
          <p:nvPr/>
        </p:nvSpPr>
        <p:spPr>
          <a:xfrm>
            <a:off x="7492490" y="5720273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9166B62-CF11-E096-5375-F3E57E9785AB}"/>
              </a:ext>
            </a:extLst>
          </p:cNvPr>
          <p:cNvSpPr/>
          <p:nvPr/>
        </p:nvSpPr>
        <p:spPr>
          <a:xfrm>
            <a:off x="7492490" y="5417520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5C169E-1F6F-034C-BA93-BDDEC716A2DB}"/>
              </a:ext>
            </a:extLst>
          </p:cNvPr>
          <p:cNvSpPr txBox="1"/>
          <p:nvPr/>
        </p:nvSpPr>
        <p:spPr>
          <a:xfrm>
            <a:off x="5186680" y="581144"/>
            <a:ext cx="187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Candidate 1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DB6D78-BDFC-EB2D-5E57-36ECB97BF9DB}"/>
              </a:ext>
            </a:extLst>
          </p:cNvPr>
          <p:cNvSpPr txBox="1"/>
          <p:nvPr/>
        </p:nvSpPr>
        <p:spPr>
          <a:xfrm>
            <a:off x="7340600" y="546755"/>
            <a:ext cx="187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Candidate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F04DF74-5597-4709-13F8-BB4004AF7179}"/>
              </a:ext>
            </a:extLst>
          </p:cNvPr>
          <p:cNvSpPr/>
          <p:nvPr/>
        </p:nvSpPr>
        <p:spPr>
          <a:xfrm>
            <a:off x="10581588" y="1050523"/>
            <a:ext cx="1410932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B75AD25-829B-FAEB-85D7-DF7676719B0F}"/>
              </a:ext>
            </a:extLst>
          </p:cNvPr>
          <p:cNvSpPr/>
          <p:nvPr/>
        </p:nvSpPr>
        <p:spPr>
          <a:xfrm>
            <a:off x="10581588" y="1050531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8C6272E-6B75-357B-B79D-58BE6B6B7B54}"/>
              </a:ext>
            </a:extLst>
          </p:cNvPr>
          <p:cNvSpPr/>
          <p:nvPr/>
        </p:nvSpPr>
        <p:spPr>
          <a:xfrm>
            <a:off x="10581588" y="1363177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5B1C40-60FA-7549-3216-3802B6E8A1E4}"/>
              </a:ext>
            </a:extLst>
          </p:cNvPr>
          <p:cNvSpPr/>
          <p:nvPr/>
        </p:nvSpPr>
        <p:spPr>
          <a:xfrm>
            <a:off x="10581588" y="1978578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B09281-4119-6423-5AD7-CD009B7805D9}"/>
              </a:ext>
            </a:extLst>
          </p:cNvPr>
          <p:cNvSpPr/>
          <p:nvPr/>
        </p:nvSpPr>
        <p:spPr>
          <a:xfrm>
            <a:off x="10581588" y="1675825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6BBFF4-6AA5-5FF4-CA73-90F446A02266}"/>
              </a:ext>
            </a:extLst>
          </p:cNvPr>
          <p:cNvSpPr/>
          <p:nvPr/>
        </p:nvSpPr>
        <p:spPr>
          <a:xfrm>
            <a:off x="10581588" y="3512125"/>
            <a:ext cx="1410932" cy="123080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B8224A4-0040-6B89-CC40-5C487AB2AAAE}"/>
              </a:ext>
            </a:extLst>
          </p:cNvPr>
          <p:cNvSpPr/>
          <p:nvPr/>
        </p:nvSpPr>
        <p:spPr>
          <a:xfrm>
            <a:off x="10581588" y="2291217"/>
            <a:ext cx="1410932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58BABB8-8542-7F6C-8DB8-8F1E4852D4ED}"/>
              </a:ext>
            </a:extLst>
          </p:cNvPr>
          <p:cNvSpPr/>
          <p:nvPr/>
        </p:nvSpPr>
        <p:spPr>
          <a:xfrm>
            <a:off x="10581588" y="2291225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61C3CAB-C727-88DD-00D3-9399BDC84CCB}"/>
              </a:ext>
            </a:extLst>
          </p:cNvPr>
          <p:cNvSpPr/>
          <p:nvPr/>
        </p:nvSpPr>
        <p:spPr>
          <a:xfrm>
            <a:off x="10581588" y="2603871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6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136A7B6-866F-F898-D626-4686BCF10F2F}"/>
              </a:ext>
            </a:extLst>
          </p:cNvPr>
          <p:cNvSpPr/>
          <p:nvPr/>
        </p:nvSpPr>
        <p:spPr>
          <a:xfrm>
            <a:off x="10581588" y="3219272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90397B-B6ED-DFBA-7DA7-A46EEEA57898}"/>
              </a:ext>
            </a:extLst>
          </p:cNvPr>
          <p:cNvSpPr/>
          <p:nvPr/>
        </p:nvSpPr>
        <p:spPr>
          <a:xfrm>
            <a:off x="10581588" y="2916519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7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5F19986-E1E9-C2EB-D8D9-47F88CFFDB40}"/>
              </a:ext>
            </a:extLst>
          </p:cNvPr>
          <p:cNvSpPr/>
          <p:nvPr/>
        </p:nvSpPr>
        <p:spPr>
          <a:xfrm>
            <a:off x="10581588" y="4792218"/>
            <a:ext cx="1410932" cy="92805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27F2AC5-C171-8A7F-3A77-607274ACEDB9}"/>
              </a:ext>
            </a:extLst>
          </p:cNvPr>
          <p:cNvSpPr/>
          <p:nvPr/>
        </p:nvSpPr>
        <p:spPr>
          <a:xfrm>
            <a:off x="10581588" y="4792226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n-2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FD21400-69A4-B5AF-E4BF-779566F21B42}"/>
              </a:ext>
            </a:extLst>
          </p:cNvPr>
          <p:cNvSpPr/>
          <p:nvPr/>
        </p:nvSpPr>
        <p:spPr>
          <a:xfrm>
            <a:off x="10581588" y="5104872"/>
            <a:ext cx="1410932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2 n-1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4AFDE12-04E9-7D98-761F-4C2F5ABF015A}"/>
              </a:ext>
            </a:extLst>
          </p:cNvPr>
          <p:cNvSpPr/>
          <p:nvPr/>
        </p:nvSpPr>
        <p:spPr>
          <a:xfrm>
            <a:off x="10581588" y="5417520"/>
            <a:ext cx="1410932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8B2178-88B9-A2FA-2DD4-A1C9D450A8D8}"/>
              </a:ext>
            </a:extLst>
          </p:cNvPr>
          <p:cNvSpPr txBox="1"/>
          <p:nvPr/>
        </p:nvSpPr>
        <p:spPr>
          <a:xfrm>
            <a:off x="10393710" y="546755"/>
            <a:ext cx="159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Hash Table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61F262-CB81-6079-D692-BBFD768C8F93}"/>
              </a:ext>
            </a:extLst>
          </p:cNvPr>
          <p:cNvCxnSpPr>
            <a:endCxn id="67" idx="1"/>
          </p:cNvCxnSpPr>
          <p:nvPr/>
        </p:nvCxnSpPr>
        <p:spPr>
          <a:xfrm flipV="1">
            <a:off x="6940417" y="1514555"/>
            <a:ext cx="3641171" cy="30481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912841D-3F1E-6959-16B8-23B8AD4D971A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9091299" y="1827203"/>
            <a:ext cx="1490289" cy="23857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CAB399A-1967-996C-4FA6-C188ED96A861}"/>
              </a:ext>
            </a:extLst>
          </p:cNvPr>
          <p:cNvCxnSpPr>
            <a:cxnSpLocks/>
            <a:stCxn id="23" idx="3"/>
            <a:endCxn id="78" idx="1"/>
          </p:cNvCxnSpPr>
          <p:nvPr/>
        </p:nvCxnSpPr>
        <p:spPr>
          <a:xfrm>
            <a:off x="6940417" y="3370658"/>
            <a:ext cx="3641171" cy="188559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5525133-E5CD-36C8-313A-42EA8D53A463}"/>
              </a:ext>
            </a:extLst>
          </p:cNvPr>
          <p:cNvCxnSpPr>
            <a:cxnSpLocks/>
            <a:stCxn id="38" idx="3"/>
            <a:endCxn id="78" idx="1"/>
          </p:cNvCxnSpPr>
          <p:nvPr/>
        </p:nvCxnSpPr>
        <p:spPr>
          <a:xfrm>
            <a:off x="9091299" y="2755249"/>
            <a:ext cx="1490289" cy="25010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19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5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65" grpId="0" animBg="1"/>
      <p:bldP spid="66" grpId="0" animBg="1"/>
      <p:bldP spid="67" grpId="0" animBg="1"/>
      <p:bldP spid="68" grpId="0" animBg="1"/>
      <p:bldP spid="69" grpId="0" animBg="1"/>
      <p:bldP spid="70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0" grpId="0" animBg="1"/>
      <p:bldP spid="8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3415-6310-A5FE-345E-10F4AE25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EB4E-FA1A-00C0-D5BD-009A3697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888685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Summary of algorithms discussed: See also </a:t>
            </a:r>
            <a:r>
              <a:rPr lang="en-US" dirty="0">
                <a:latin typeface="+mn-lt"/>
                <a:hlinkClick r:id="rId3"/>
              </a:rPr>
              <a:t>this page</a:t>
            </a:r>
            <a:r>
              <a:rPr lang="en-US" dirty="0">
                <a:latin typeface="+mn-lt"/>
              </a:rPr>
              <a:t> in the FAISS Wiki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534B26-0E2D-BC96-2A6E-5DC1EF478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613747"/>
              </p:ext>
            </p:extLst>
          </p:nvPr>
        </p:nvGraphicFramePr>
        <p:xfrm>
          <a:off x="505238" y="1508723"/>
          <a:ext cx="1107175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011">
                  <a:extLst>
                    <a:ext uri="{9D8B030D-6E8A-4147-A177-3AD203B41FA5}">
                      <a16:colId xmlns:a16="http://schemas.microsoft.com/office/drawing/2014/main" val="1280803350"/>
                    </a:ext>
                  </a:extLst>
                </a:gridCol>
                <a:gridCol w="3413108">
                  <a:extLst>
                    <a:ext uri="{9D8B030D-6E8A-4147-A177-3AD203B41FA5}">
                      <a16:colId xmlns:a16="http://schemas.microsoft.com/office/drawing/2014/main" val="3815494307"/>
                    </a:ext>
                  </a:extLst>
                </a:gridCol>
                <a:gridCol w="1378935">
                  <a:extLst>
                    <a:ext uri="{9D8B030D-6E8A-4147-A177-3AD203B41FA5}">
                      <a16:colId xmlns:a16="http://schemas.microsoft.com/office/drawing/2014/main" val="4123305998"/>
                    </a:ext>
                  </a:extLst>
                </a:gridCol>
                <a:gridCol w="1457172">
                  <a:extLst>
                    <a:ext uri="{9D8B030D-6E8A-4147-A177-3AD203B41FA5}">
                      <a16:colId xmlns:a16="http://schemas.microsoft.com/office/drawing/2014/main" val="2666986122"/>
                    </a:ext>
                  </a:extLst>
                </a:gridCol>
                <a:gridCol w="1462062">
                  <a:extLst>
                    <a:ext uri="{9D8B030D-6E8A-4147-A177-3AD203B41FA5}">
                      <a16:colId xmlns:a16="http://schemas.microsoft.com/office/drawing/2014/main" val="2417303005"/>
                    </a:ext>
                  </a:extLst>
                </a:gridCol>
                <a:gridCol w="2012463">
                  <a:extLst>
                    <a:ext uri="{9D8B030D-6E8A-4147-A177-3AD203B41FA5}">
                      <a16:colId xmlns:a16="http://schemas.microsoft.com/office/drawing/2014/main" val="1594176011"/>
                    </a:ext>
                  </a:extLst>
                </a:gridCol>
              </a:tblGrid>
              <a:tr h="38853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Metrics  Typically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18592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KD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to medium, low-dimensional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Minkowski, also see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4"/>
                        </a:rPr>
                        <a:t>Sklean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/>
                        </a:rPr>
                        <a:t> docs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807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stand-alone – typically combined with other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84657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5533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03523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size and very high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Jaccard, Hamming, Cosine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175591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PQ, RPQ, OPQ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Massive if 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– high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 to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994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HNSW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large if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9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8061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2FD8-CE3C-CC63-5E1E-58B986E5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7985-700F-9631-4B45-04BEA788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E5C6-0509-2B6A-52A7-7E037E2F34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Key points for this lesson</a:t>
            </a:r>
          </a:p>
          <a:p>
            <a:r>
              <a:rPr lang="en-US" dirty="0">
                <a:latin typeface="+mn-lt"/>
              </a:rPr>
              <a:t>Exact nearest neighbor search is not scalable to massive dataset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b="1" dirty="0">
                <a:latin typeface="+mn-lt"/>
              </a:rPr>
              <a:t>Tree</a:t>
            </a:r>
            <a:r>
              <a:rPr lang="en-US" dirty="0">
                <a:latin typeface="+mn-lt"/>
              </a:rPr>
              <a:t> search</a:t>
            </a:r>
          </a:p>
          <a:p>
            <a:pPr lvl="1"/>
            <a:r>
              <a:rPr lang="en-US" b="1" dirty="0">
                <a:latin typeface="+mn-lt"/>
              </a:rPr>
              <a:t>Hash</a:t>
            </a:r>
            <a:r>
              <a:rPr lang="en-US" dirty="0">
                <a:latin typeface="+mn-lt"/>
              </a:rPr>
              <a:t>-based search</a:t>
            </a:r>
            <a:endParaRPr lang="en-US" b="1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Quantization</a:t>
            </a:r>
            <a:r>
              <a:rPr lang="en-US" dirty="0">
                <a:latin typeface="+mn-lt"/>
              </a:rPr>
              <a:t>-based search</a:t>
            </a:r>
          </a:p>
          <a:p>
            <a:pPr lvl="1"/>
            <a:r>
              <a:rPr lang="en-US" b="1" dirty="0">
                <a:latin typeface="+mn-lt"/>
              </a:rPr>
              <a:t>Graph</a:t>
            </a:r>
            <a:r>
              <a:rPr lang="en-US" dirty="0">
                <a:latin typeface="+mn-lt"/>
              </a:rPr>
              <a:t> search</a:t>
            </a:r>
          </a:p>
          <a:p>
            <a:r>
              <a:rPr lang="en-US" dirty="0">
                <a:latin typeface="+mn-lt"/>
              </a:rPr>
              <a:t>ANNS on massive datasets requires trade-offs between performance characteristics      </a:t>
            </a:r>
          </a:p>
          <a:p>
            <a:pPr lvl="1"/>
            <a:r>
              <a:rPr lang="en-US" b="1" dirty="0">
                <a:latin typeface="+mn-lt"/>
              </a:rPr>
              <a:t>Recall</a:t>
            </a:r>
          </a:p>
          <a:p>
            <a:pPr lvl="1"/>
            <a:r>
              <a:rPr lang="en-US" b="1" dirty="0">
                <a:latin typeface="+mn-lt"/>
              </a:rPr>
              <a:t>Memory</a:t>
            </a:r>
          </a:p>
          <a:p>
            <a:pPr lvl="1"/>
            <a:r>
              <a:rPr lang="en-US" b="1" dirty="0">
                <a:latin typeface="+mn-lt"/>
              </a:rPr>
              <a:t>Query speed</a:t>
            </a:r>
          </a:p>
          <a:p>
            <a:r>
              <a:rPr lang="en-US" dirty="0">
                <a:latin typeface="+mn-lt"/>
              </a:rPr>
              <a:t>Can apply different distance metrics to ANNS </a:t>
            </a:r>
          </a:p>
          <a:p>
            <a:r>
              <a:rPr lang="en-US" dirty="0">
                <a:latin typeface="+mn-lt"/>
              </a:rPr>
              <a:t>Composite index can achieve greater performance 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838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30669</TotalTime>
  <Words>4189</Words>
  <Application>Microsoft Office PowerPoint</Application>
  <PresentationFormat>Widescreen</PresentationFormat>
  <Paragraphs>798</Paragraphs>
  <Slides>65</Slides>
  <Notes>56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5" baseType="lpstr">
      <vt:lpstr>__gtPlanar_9a6492</vt:lpstr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Office Theme</vt:lpstr>
      <vt:lpstr>CSCI E-96 Data Mining, Discovery and Exploration Efficient Similarity Search</vt:lpstr>
      <vt:lpstr>Main topics in this course 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Hierarchical Navigable Small World (HNSW) Graphs</vt:lpstr>
      <vt:lpstr>Hierarchical Navigable Small World Graphs</vt:lpstr>
      <vt:lpstr>Proximity Graphs</vt:lpstr>
      <vt:lpstr>Navigable Small World Graphs</vt:lpstr>
      <vt:lpstr>Navigable Small World Graphs</vt:lpstr>
      <vt:lpstr>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Constructing NSW Graphs</vt:lpstr>
      <vt:lpstr>Optimizing HNSW graph   </vt:lpstr>
      <vt:lpstr>Optimizing HNSW ANNS  </vt:lpstr>
      <vt:lpstr>Optimizing HNSW graph   </vt:lpstr>
      <vt:lpstr>Optimizing HNSW graph   </vt:lpstr>
      <vt:lpstr>Optimizing HNSW graph   </vt:lpstr>
      <vt:lpstr>Composite Indices</vt:lpstr>
      <vt:lpstr>Composite Indices </vt:lpstr>
      <vt:lpstr>Product Quantization as a Refinement</vt:lpstr>
      <vt:lpstr>Composite Indices </vt:lpstr>
      <vt:lpstr>Composite Indices </vt:lpstr>
      <vt:lpstr>Composite Indices </vt:lpstr>
      <vt:lpstr>Composite Indices </vt:lpstr>
      <vt:lpstr>Composite Indices </vt:lpstr>
      <vt:lpstr>Composite Indices </vt:lpstr>
      <vt:lpstr>Composite Indices </vt:lpstr>
      <vt:lpstr>Composite Indices </vt:lpstr>
      <vt:lpstr>LSH for Cosine Distance</vt:lpstr>
      <vt:lpstr>Mini-Hashing Numeric Variables</vt:lpstr>
      <vt:lpstr>Mini-Hashing Numeric Variables  </vt:lpstr>
      <vt:lpstr>Mini-Hashing Numeric Variables  </vt:lpstr>
      <vt:lpstr>Mini-Hashing Numeric Variables  </vt:lpstr>
      <vt:lpstr>LSH for Numeric Variables</vt:lpstr>
      <vt:lpstr>Locally Sensitive Hashing</vt:lpstr>
      <vt:lpstr>Locally Sensitive Hashing</vt:lpstr>
      <vt:lpstr>Locally Sensitive Functions</vt:lpstr>
      <vt:lpstr>Locally Sensitive Functions</vt:lpstr>
      <vt:lpstr>Locally Sensitive Functions</vt:lpstr>
      <vt:lpstr>LSH for Cosine Similarity</vt:lpstr>
      <vt:lpstr>Improving LSH</vt:lpstr>
      <vt:lpstr>Locally Sensitive Hashing</vt:lpstr>
      <vt:lpstr>Improving Locally Sensitive Functions</vt:lpstr>
      <vt:lpstr>Improving Locally Sensitive Functions</vt:lpstr>
      <vt:lpstr>Improving Locally Sensitive Functions</vt:lpstr>
      <vt:lpstr>Improving Locally Sensitive Functions</vt:lpstr>
      <vt:lpstr>Improving Locally Sensitive Functions</vt:lpstr>
      <vt:lpstr>Efficient LSH</vt:lpstr>
      <vt:lpstr>Efficient LSH</vt:lpstr>
      <vt:lpstr>Efficient LSH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E-96 Data Mining, Discovery and Exploration Similarity Measres</dc:title>
  <dc:creator>Stephe Elston</dc:creator>
  <cp:lastModifiedBy>Stephen Elston</cp:lastModifiedBy>
  <cp:revision>921</cp:revision>
  <dcterms:created xsi:type="dcterms:W3CDTF">2021-06-01T18:04:30Z</dcterms:created>
  <dcterms:modified xsi:type="dcterms:W3CDTF">2026-10-28T23:36:58Z</dcterms:modified>
</cp:coreProperties>
</file>