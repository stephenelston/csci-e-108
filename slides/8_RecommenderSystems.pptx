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275" r:id="rId2"/>
    <p:sldId id="342" r:id="rId3"/>
    <p:sldId id="343" r:id="rId4"/>
    <p:sldId id="344" r:id="rId5"/>
    <p:sldId id="533" r:id="rId6"/>
    <p:sldId id="519" r:id="rId7"/>
    <p:sldId id="534" r:id="rId8"/>
    <p:sldId id="535" r:id="rId9"/>
    <p:sldId id="351" r:id="rId10"/>
    <p:sldId id="345" r:id="rId11"/>
    <p:sldId id="488" r:id="rId12"/>
    <p:sldId id="532" r:id="rId13"/>
    <p:sldId id="517" r:id="rId14"/>
    <p:sldId id="482" r:id="rId15"/>
    <p:sldId id="348" r:id="rId16"/>
    <p:sldId id="347" r:id="rId17"/>
    <p:sldId id="346" r:id="rId18"/>
    <p:sldId id="536" r:id="rId19"/>
    <p:sldId id="546" r:id="rId20"/>
    <p:sldId id="493" r:id="rId21"/>
    <p:sldId id="520" r:id="rId22"/>
    <p:sldId id="354" r:id="rId23"/>
    <p:sldId id="349" r:id="rId24"/>
    <p:sldId id="352" r:id="rId25"/>
    <p:sldId id="389" r:id="rId26"/>
    <p:sldId id="358" r:id="rId27"/>
    <p:sldId id="537" r:id="rId28"/>
    <p:sldId id="391" r:id="rId29"/>
    <p:sldId id="404" r:id="rId30"/>
    <p:sldId id="490" r:id="rId31"/>
    <p:sldId id="481" r:id="rId32"/>
    <p:sldId id="539" r:id="rId33"/>
    <p:sldId id="540" r:id="rId34"/>
    <p:sldId id="538" r:id="rId35"/>
    <p:sldId id="528" r:id="rId36"/>
    <p:sldId id="521" r:id="rId37"/>
    <p:sldId id="523" r:id="rId38"/>
    <p:sldId id="522" r:id="rId39"/>
    <p:sldId id="524" r:id="rId40"/>
    <p:sldId id="525" r:id="rId41"/>
    <p:sldId id="526" r:id="rId42"/>
    <p:sldId id="527" r:id="rId43"/>
    <p:sldId id="483" r:id="rId44"/>
    <p:sldId id="403" r:id="rId45"/>
    <p:sldId id="547" r:id="rId46"/>
    <p:sldId id="362" r:id="rId47"/>
    <p:sldId id="359" r:id="rId48"/>
    <p:sldId id="361" r:id="rId49"/>
    <p:sldId id="360" r:id="rId50"/>
    <p:sldId id="356" r:id="rId51"/>
    <p:sldId id="363" r:id="rId52"/>
    <p:sldId id="484" r:id="rId53"/>
    <p:sldId id="548" r:id="rId54"/>
    <p:sldId id="355" r:id="rId55"/>
    <p:sldId id="384" r:id="rId56"/>
    <p:sldId id="385" r:id="rId57"/>
    <p:sldId id="386" r:id="rId58"/>
    <p:sldId id="387" r:id="rId59"/>
    <p:sldId id="388" r:id="rId60"/>
    <p:sldId id="485" r:id="rId61"/>
    <p:sldId id="380" r:id="rId62"/>
    <p:sldId id="381" r:id="rId63"/>
    <p:sldId id="364" r:id="rId64"/>
    <p:sldId id="510" r:id="rId65"/>
    <p:sldId id="486" r:id="rId66"/>
    <p:sldId id="549" r:id="rId67"/>
    <p:sldId id="382" r:id="rId68"/>
    <p:sldId id="495" r:id="rId69"/>
    <p:sldId id="392" r:id="rId70"/>
    <p:sldId id="365" r:id="rId71"/>
    <p:sldId id="366" r:id="rId72"/>
    <p:sldId id="367" r:id="rId73"/>
    <p:sldId id="368" r:id="rId74"/>
    <p:sldId id="369" r:id="rId75"/>
    <p:sldId id="515" r:id="rId76"/>
    <p:sldId id="551" r:id="rId77"/>
    <p:sldId id="550" r:id="rId78"/>
    <p:sldId id="370" r:id="rId79"/>
    <p:sldId id="371" r:id="rId80"/>
    <p:sldId id="372" r:id="rId81"/>
    <p:sldId id="373" r:id="rId82"/>
    <p:sldId id="374" r:id="rId83"/>
    <p:sldId id="375" r:id="rId84"/>
    <p:sldId id="489" r:id="rId85"/>
    <p:sldId id="516" r:id="rId86"/>
    <p:sldId id="376" r:id="rId87"/>
    <p:sldId id="377" r:id="rId88"/>
    <p:sldId id="378" r:id="rId89"/>
    <p:sldId id="400" r:id="rId90"/>
    <p:sldId id="541" r:id="rId91"/>
    <p:sldId id="401" r:id="rId92"/>
    <p:sldId id="552" r:id="rId93"/>
    <p:sldId id="542" r:id="rId94"/>
    <p:sldId id="543" r:id="rId95"/>
    <p:sldId id="544" r:id="rId96"/>
    <p:sldId id="497" r:id="rId97"/>
    <p:sldId id="498" r:id="rId98"/>
    <p:sldId id="553" r:id="rId99"/>
    <p:sldId id="393" r:id="rId100"/>
    <p:sldId id="501" r:id="rId101"/>
    <p:sldId id="508" r:id="rId102"/>
    <p:sldId id="509" r:id="rId103"/>
    <p:sldId id="545" r:id="rId104"/>
    <p:sldId id="556" r:id="rId105"/>
    <p:sldId id="557" r:id="rId106"/>
    <p:sldId id="554" r:id="rId107"/>
    <p:sldId id="555" r:id="rId108"/>
    <p:sldId id="512" r:id="rId109"/>
    <p:sldId id="492" r:id="rId110"/>
    <p:sldId id="513" r:id="rId111"/>
    <p:sldId id="514" r:id="rId112"/>
    <p:sldId id="518" r:id="rId113"/>
    <p:sldId id="511" r:id="rId114"/>
    <p:sldId id="529" r:id="rId115"/>
    <p:sldId id="530" r:id="rId116"/>
    <p:sldId id="531" r:id="rId117"/>
    <p:sldId id="496" r:id="rId118"/>
    <p:sldId id="399" r:id="rId119"/>
    <p:sldId id="397" r:id="rId120"/>
    <p:sldId id="398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6" autoAdjust="0"/>
    <p:restoredTop sz="94660"/>
  </p:normalViewPr>
  <p:slideViewPr>
    <p:cSldViewPr snapToGrid="0">
      <p:cViewPr varScale="1">
        <p:scale>
          <a:sx n="71" d="100"/>
          <a:sy n="71" d="100"/>
        </p:scale>
        <p:origin x="58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722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html/2407.13699v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7.13699v1" TargetMode="External"/><Relationship Id="rId2" Type="http://schemas.openxmlformats.org/officeDocument/2006/relationships/hyperlink" Target="https://link.springer.com/article/10.1007/s00521-024-10828-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stamp/stamp.jsp?tp=&amp;arnumber=10415424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examples/structured_data/collaborative_filtering_movielens/" TargetMode="External"/><Relationship Id="rId2" Type="http://schemas.openxmlformats.org/officeDocument/2006/relationships/hyperlink" Target="https://www.manning.com/books/graph-powered-machine-lear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twitter.com/engineering/en_us/topics/open-source/2023/twitter-recommendation-algorithm" TargetMode="External"/><Relationship Id="rId4" Type="http://schemas.openxmlformats.org/officeDocument/2006/relationships/hyperlink" Target="https://pytorch.org/blog/introducing-torchrec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datasets?task=recommendation-systems" TargetMode="External"/><Relationship Id="rId2" Type="http://schemas.openxmlformats.org/officeDocument/2006/relationships/hyperlink" Target="https://github.com/RUCAIBox/RecSysDatas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search?q=recommendation+dataset+in%3Adatasets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1.01527v3" TargetMode="External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11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1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FeatureHasher.html" TargetMode="External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eras.io/api/layers/preprocessing_layers/categorical/hashing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science/blog/more-efficient-caching-for-product-retrieva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42.png"/><Relationship Id="rId4" Type="http://schemas.openxmlformats.org/officeDocument/2006/relationships/image" Target="../media/image25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hyperlink" Target="https://en.wikipedia.org/wiki/Stochastic_gradient_descent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ochastic_gradient_descent" TargetMode="Externa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5031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flixprize.com/assets/ProgressPrize2008_BigChaos.pdf" TargetMode="External"/><Relationship Id="rId2" Type="http://schemas.openxmlformats.org/officeDocument/2006/relationships/hyperlink" Target="https://www.netflixprize.com/assets/ProgressPrize2007_KorBell.pdf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1.01527v3" TargetMode="External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mixed-negative-sampling-for-learning-two-tower-neural-networks-in-recommendations/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iwk.github.io/assets/youtube-multitask.pdf" TargetMode="Externa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arxiv.org/abs/2203.1101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acm.org/doi/10.1145/3556702.3556821" TargetMode="Externa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25" y="866581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Learning to Rank and Recommender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Users need recommendations to navigate these vast choices</a:t>
            </a:r>
          </a:p>
          <a:p>
            <a:r>
              <a:rPr lang="en-US" dirty="0"/>
              <a:t>Many areas require recommendations</a:t>
            </a:r>
          </a:p>
          <a:p>
            <a:pPr lvl="1"/>
            <a:r>
              <a:rPr lang="en-US" dirty="0"/>
              <a:t>Physical products</a:t>
            </a:r>
          </a:p>
          <a:p>
            <a:pPr lvl="1"/>
            <a:r>
              <a:rPr lang="en-US" dirty="0"/>
              <a:t>Hospitality – Hotels, restaurants,…</a:t>
            </a:r>
          </a:p>
          <a:p>
            <a:pPr lvl="1"/>
            <a:r>
              <a:rPr lang="en-US" dirty="0"/>
              <a:t>Books</a:t>
            </a:r>
          </a:p>
          <a:p>
            <a:pPr lvl="1"/>
            <a:r>
              <a:rPr lang="en-US" dirty="0"/>
              <a:t>News articles</a:t>
            </a:r>
          </a:p>
          <a:p>
            <a:pPr lvl="1"/>
            <a:r>
              <a:rPr lang="en-US" dirty="0"/>
              <a:t>Music</a:t>
            </a:r>
          </a:p>
          <a:p>
            <a:pPr lvl="1"/>
            <a:r>
              <a:rPr lang="en-US" dirty="0"/>
              <a:t>Movies and TV shows</a:t>
            </a:r>
          </a:p>
          <a:p>
            <a:pPr lvl="1"/>
            <a:r>
              <a:rPr lang="en-US" dirty="0"/>
              <a:t>App stores</a:t>
            </a:r>
          </a:p>
          <a:p>
            <a:pPr lvl="1"/>
            <a:r>
              <a:rPr lang="en-US" dirty="0"/>
              <a:t>Matching people with required job skills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In the physical world user choice is limited to small number of items</a:t>
            </a:r>
          </a:p>
          <a:p>
            <a:pPr lvl="1"/>
            <a:r>
              <a:rPr lang="en-US" dirty="0"/>
              <a:t>Items on the shelves of a store</a:t>
            </a:r>
          </a:p>
          <a:p>
            <a:pPr lvl="1"/>
            <a:r>
              <a:rPr lang="en-US" dirty="0"/>
              <a:t>News articles printed on paper</a:t>
            </a:r>
          </a:p>
          <a:p>
            <a:pPr lvl="1"/>
            <a:r>
              <a:rPr lang="en-US" dirty="0"/>
              <a:t>Books in a book store</a:t>
            </a:r>
          </a:p>
          <a:p>
            <a:pPr lvl="1"/>
            <a:r>
              <a:rPr lang="en-US" dirty="0"/>
              <a:t>Music in a music store</a:t>
            </a:r>
          </a:p>
          <a:p>
            <a:pPr lvl="1"/>
            <a:r>
              <a:rPr lang="en-US" dirty="0"/>
              <a:t>People submitting paper resumes for a job</a:t>
            </a:r>
          </a:p>
          <a:p>
            <a:pPr lvl="1"/>
            <a:r>
              <a:rPr lang="en-US" dirty="0"/>
              <a:t>Movies at a theater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But, in the online word the choices are nearly limitless </a:t>
            </a:r>
          </a:p>
          <a:p>
            <a:pPr lvl="1"/>
            <a:r>
              <a:rPr lang="en-US" dirty="0"/>
              <a:t>Choice is no longer limited by physical constraints</a:t>
            </a:r>
          </a:p>
          <a:p>
            <a:pPr lvl="1"/>
            <a:r>
              <a:rPr lang="en-US" dirty="0"/>
              <a:t>Most of the choices are rarely purchased</a:t>
            </a:r>
          </a:p>
          <a:p>
            <a:pPr lvl="1"/>
            <a:r>
              <a:rPr lang="en-US" dirty="0"/>
              <a:t>Users will rarely find these choices on their own</a:t>
            </a:r>
          </a:p>
          <a:p>
            <a:pPr lvl="1"/>
            <a:r>
              <a:rPr lang="en-US" dirty="0"/>
              <a:t>This is known as the </a:t>
            </a:r>
            <a:r>
              <a:rPr lang="en-US" b="1" dirty="0"/>
              <a:t>long tail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With large catalogs there are many items which are obscure and rarely purchased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D39A73-62CA-47AA-9DAC-616C09FAF4F2}"/>
              </a:ext>
            </a:extLst>
          </p:cNvPr>
          <p:cNvCxnSpPr>
            <a:cxnSpLocks/>
          </p:cNvCxnSpPr>
          <p:nvPr/>
        </p:nvCxnSpPr>
        <p:spPr>
          <a:xfrm>
            <a:off x="2199784" y="6231635"/>
            <a:ext cx="647850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DD087E-AF0E-4508-885D-5DCD525F2A3E}"/>
              </a:ext>
            </a:extLst>
          </p:cNvPr>
          <p:cNvCxnSpPr>
            <a:cxnSpLocks/>
          </p:cNvCxnSpPr>
          <p:nvPr/>
        </p:nvCxnSpPr>
        <p:spPr>
          <a:xfrm flipH="1" flipV="1">
            <a:off x="2199784" y="2589970"/>
            <a:ext cx="43068" cy="3641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9CACA3-9F0A-4BE8-A34B-F9AAC56318EF}"/>
              </a:ext>
            </a:extLst>
          </p:cNvPr>
          <p:cNvSpPr/>
          <p:nvPr/>
        </p:nvSpPr>
        <p:spPr>
          <a:xfrm>
            <a:off x="3767564" y="5259758"/>
            <a:ext cx="4248042" cy="731520"/>
          </a:xfrm>
          <a:custGeom>
            <a:avLst/>
            <a:gdLst>
              <a:gd name="connsiteX0" fmla="*/ 4248042 w 4248042"/>
              <a:gd name="connsiteY0" fmla="*/ 731520 h 731520"/>
              <a:gd name="connsiteX1" fmla="*/ 3370218 w 4248042"/>
              <a:gd name="connsiteY1" fmla="*/ 715845 h 731520"/>
              <a:gd name="connsiteX2" fmla="*/ 2434917 w 4248042"/>
              <a:gd name="connsiteY2" fmla="*/ 674044 h 731520"/>
              <a:gd name="connsiteX3" fmla="*/ 1306286 w 4248042"/>
              <a:gd name="connsiteY3" fmla="*/ 543415 h 731520"/>
              <a:gd name="connsiteX4" fmla="*/ 506839 w 4248042"/>
              <a:gd name="connsiteY4" fmla="*/ 308284 h 731520"/>
              <a:gd name="connsiteX5" fmla="*/ 0 w 4248042"/>
              <a:gd name="connsiteY5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8042" h="731520">
                <a:moveTo>
                  <a:pt x="4248042" y="731520"/>
                </a:moveTo>
                <a:lnTo>
                  <a:pt x="3370218" y="715845"/>
                </a:lnTo>
                <a:cubicBezTo>
                  <a:pt x="3068031" y="706266"/>
                  <a:pt x="2778906" y="702782"/>
                  <a:pt x="2434917" y="674044"/>
                </a:cubicBezTo>
                <a:cubicBezTo>
                  <a:pt x="2090928" y="645306"/>
                  <a:pt x="1627632" y="604375"/>
                  <a:pt x="1306286" y="543415"/>
                </a:cubicBezTo>
                <a:cubicBezTo>
                  <a:pt x="984940" y="482455"/>
                  <a:pt x="724553" y="398853"/>
                  <a:pt x="506839" y="308284"/>
                </a:cubicBezTo>
                <a:cubicBezTo>
                  <a:pt x="289125" y="217715"/>
                  <a:pt x="0" y="0"/>
                  <a:pt x="0" y="0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CF0A0C-2AE0-46BF-874D-E062A27E3AB6}"/>
              </a:ext>
            </a:extLst>
          </p:cNvPr>
          <p:cNvCxnSpPr/>
          <p:nvPr/>
        </p:nvCxnSpPr>
        <p:spPr>
          <a:xfrm>
            <a:off x="3767565" y="5259759"/>
            <a:ext cx="0" cy="971876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C81044-519E-4E6A-9694-7B5BA8C545A8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8015605" y="5991278"/>
            <a:ext cx="1" cy="240357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7FEB203-4F9D-4F47-BEBE-6E4E6FB6548F}"/>
              </a:ext>
            </a:extLst>
          </p:cNvPr>
          <p:cNvSpPr/>
          <p:nvPr/>
        </p:nvSpPr>
        <p:spPr>
          <a:xfrm rot="359675">
            <a:off x="2142751" y="2511551"/>
            <a:ext cx="1780445" cy="2671288"/>
          </a:xfrm>
          <a:custGeom>
            <a:avLst/>
            <a:gdLst>
              <a:gd name="connsiteX0" fmla="*/ 1517073 w 1517073"/>
              <a:gd name="connsiteY0" fmla="*/ 2272145 h 2272145"/>
              <a:gd name="connsiteX1" fmla="*/ 1233055 w 1517073"/>
              <a:gd name="connsiteY1" fmla="*/ 2105891 h 2272145"/>
              <a:gd name="connsiteX2" fmla="*/ 782782 w 1517073"/>
              <a:gd name="connsiteY2" fmla="*/ 1738745 h 2272145"/>
              <a:gd name="connsiteX3" fmla="*/ 443346 w 1517073"/>
              <a:gd name="connsiteY3" fmla="*/ 1336964 h 2272145"/>
              <a:gd name="connsiteX4" fmla="*/ 187037 w 1517073"/>
              <a:gd name="connsiteY4" fmla="*/ 762000 h 2272145"/>
              <a:gd name="connsiteX5" fmla="*/ 76200 w 1517073"/>
              <a:gd name="connsiteY5" fmla="*/ 381000 h 2272145"/>
              <a:gd name="connsiteX6" fmla="*/ 0 w 1517073"/>
              <a:gd name="connsiteY6" fmla="*/ 0 h 227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7073" h="2272145">
                <a:moveTo>
                  <a:pt x="1517073" y="2272145"/>
                </a:moveTo>
                <a:cubicBezTo>
                  <a:pt x="1436255" y="2233468"/>
                  <a:pt x="1355437" y="2194791"/>
                  <a:pt x="1233055" y="2105891"/>
                </a:cubicBezTo>
                <a:cubicBezTo>
                  <a:pt x="1110673" y="2016991"/>
                  <a:pt x="914400" y="1866899"/>
                  <a:pt x="782782" y="1738745"/>
                </a:cubicBezTo>
                <a:cubicBezTo>
                  <a:pt x="651164" y="1610590"/>
                  <a:pt x="542637" y="1499755"/>
                  <a:pt x="443346" y="1336964"/>
                </a:cubicBezTo>
                <a:cubicBezTo>
                  <a:pt x="344055" y="1174173"/>
                  <a:pt x="248228" y="921327"/>
                  <a:pt x="187037" y="762000"/>
                </a:cubicBezTo>
                <a:cubicBezTo>
                  <a:pt x="125846" y="602673"/>
                  <a:pt x="107373" y="508000"/>
                  <a:pt x="76200" y="381000"/>
                </a:cubicBezTo>
                <a:cubicBezTo>
                  <a:pt x="45027" y="254000"/>
                  <a:pt x="22513" y="127000"/>
                  <a:pt x="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35736-A4F6-49A3-87CB-37D6E133AC43}"/>
              </a:ext>
            </a:extLst>
          </p:cNvPr>
          <p:cNvSpPr txBox="1"/>
          <p:nvPr/>
        </p:nvSpPr>
        <p:spPr>
          <a:xfrm rot="16200000">
            <a:off x="113323" y="4225237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Probability of Finding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6A0A7-894F-41DD-9476-98DEC3DBFB47}"/>
              </a:ext>
            </a:extLst>
          </p:cNvPr>
          <p:cNvSpPr txBox="1"/>
          <p:nvPr/>
        </p:nvSpPr>
        <p:spPr>
          <a:xfrm>
            <a:off x="3759925" y="5837322"/>
            <a:ext cx="3025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rarely purchased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7CF84-E5D1-4766-89B7-8CBB693668A8}"/>
              </a:ext>
            </a:extLst>
          </p:cNvPr>
          <p:cNvSpPr txBox="1"/>
          <p:nvPr/>
        </p:nvSpPr>
        <p:spPr>
          <a:xfrm>
            <a:off x="2178998" y="5074339"/>
            <a:ext cx="1645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commonly purchased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9B601-507B-4A67-847D-BF7F5420FD11}"/>
              </a:ext>
            </a:extLst>
          </p:cNvPr>
          <p:cNvSpPr txBox="1"/>
          <p:nvPr/>
        </p:nvSpPr>
        <p:spPr>
          <a:xfrm>
            <a:off x="4198894" y="3984810"/>
            <a:ext cx="4971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unlikely to find rarely purchased items without recommender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11D7A0-846E-4571-97D3-F559FC89A575}"/>
              </a:ext>
            </a:extLst>
          </p:cNvPr>
          <p:cNvCxnSpPr/>
          <p:nvPr/>
        </p:nvCxnSpPr>
        <p:spPr>
          <a:xfrm flipV="1">
            <a:off x="4337740" y="4956368"/>
            <a:ext cx="3986784" cy="22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F3969A-D828-D811-E46C-A0E25589B41A}"/>
              </a:ext>
            </a:extLst>
          </p:cNvPr>
          <p:cNvSpPr txBox="1"/>
          <p:nvPr/>
        </p:nvSpPr>
        <p:spPr>
          <a:xfrm>
            <a:off x="3234144" y="6241159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of purchase</a:t>
            </a:r>
          </a:p>
        </p:txBody>
      </p:sp>
    </p:spTree>
    <p:extLst>
      <p:ext uri="{BB962C8B-B14F-4D97-AF65-F5344CB8AC3E}">
        <p14:creationId xmlns:p14="http://schemas.microsoft.com/office/powerpoint/2010/main" val="7032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9" grpId="0"/>
      <p:bldP spid="15" grpId="0"/>
      <p:bldP spid="16" grpId="0"/>
      <p:bldP spid="17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94D5-86C7-787D-1D7B-27B35256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69D910F-20CC-91CB-D791-064EEDD1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Overview of Recommender Algorithms</a:t>
            </a:r>
          </a:p>
        </p:txBody>
      </p:sp>
    </p:spTree>
    <p:extLst>
      <p:ext uri="{BB962C8B-B14F-4D97-AF65-F5344CB8AC3E}">
        <p14:creationId xmlns:p14="http://schemas.microsoft.com/office/powerpoint/2010/main" val="702082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53AE-7328-5D0E-73AC-8C72C64A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6085-9D37-58BB-E0BE-15C6CE4D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347D8-0C3D-C971-9F43-150558BEA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2" y="123469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Recommenders are an example of </a:t>
            </a:r>
            <a:r>
              <a:rPr lang="en-US" b="1" dirty="0"/>
              <a:t>learning to rank (LTR) algorithms</a:t>
            </a:r>
          </a:p>
          <a:p>
            <a:r>
              <a:rPr lang="en-US" dirty="0"/>
              <a:t>Learning to rank is a widely used concept</a:t>
            </a:r>
          </a:p>
          <a:p>
            <a:pPr lvl="1"/>
            <a:r>
              <a:rPr lang="en-US" dirty="0"/>
              <a:t>Information retrieval </a:t>
            </a:r>
          </a:p>
          <a:p>
            <a:pPr lvl="1"/>
            <a:r>
              <a:rPr lang="en-US" dirty="0"/>
              <a:t>Recommenders</a:t>
            </a:r>
          </a:p>
          <a:p>
            <a:r>
              <a:rPr lang="en-US" dirty="0"/>
              <a:t>Recommenders return a </a:t>
            </a:r>
            <a:r>
              <a:rPr lang="en-US" b="1" dirty="0"/>
              <a:t>ranked list </a:t>
            </a:r>
            <a:r>
              <a:rPr lang="en-US" dirty="0"/>
              <a:t>of items</a:t>
            </a:r>
          </a:p>
          <a:p>
            <a:r>
              <a:rPr lang="en-US" dirty="0"/>
              <a:t>A more sophisticated form of LTR algorithm adjust for bias</a:t>
            </a:r>
          </a:p>
          <a:p>
            <a:pPr lvl="1"/>
            <a:r>
              <a:rPr lang="en-US" b="1" dirty="0"/>
              <a:t>Unbiased learning to rank (ULTR) </a:t>
            </a:r>
            <a:r>
              <a:rPr lang="en-US" dirty="0"/>
              <a:t>algorithms </a:t>
            </a:r>
          </a:p>
          <a:p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6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1166-EA3A-7D2B-C07E-1EDB91B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BFE-1F0B-5E3E-032F-50A40862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367F-9C6A-B439-D3AF-97F385697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CFB34-CDE1-A3B3-731A-C626105BC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FA65D-7DFA-C3BB-BB07-7BA95F40D6FB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228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B1AF-3CA5-603C-3033-95526434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A8F7-02CB-CA80-5BC4-A909A7B1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6463-02E5-FC5F-5DEE-D1900E08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Recommendation algorithms have evolved with time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F3A6E-75F9-38D0-B3F9-3D13DA0EEEDC}"/>
              </a:ext>
            </a:extLst>
          </p:cNvPr>
          <p:cNvSpPr txBox="1"/>
          <p:nvPr/>
        </p:nvSpPr>
        <p:spPr>
          <a:xfrm>
            <a:off x="3446928" y="6272684"/>
            <a:ext cx="51475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2"/>
              </a:rPr>
              <a:t>A Comprehensive Review of Recommender Systems: Transitioning From Theory to Practice, Raza, et.al., 2024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9BC894-CEC6-45F8-2A60-45E59F45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41" y="1804835"/>
            <a:ext cx="1027890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Many algorithms have been tried to find recommendations</a:t>
                </a:r>
              </a:p>
              <a:p>
                <a:r>
                  <a:rPr lang="en-US" b="1" dirty="0"/>
                  <a:t>Classifiers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Very sparse and changing training data</a:t>
                </a:r>
              </a:p>
              <a:p>
                <a:pPr lvl="1"/>
                <a:r>
                  <a:rPr lang="en-US" dirty="0"/>
                  <a:t>Long tail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imbalanced training cases</a:t>
                </a:r>
              </a:p>
              <a:p>
                <a:pPr lvl="1"/>
                <a:r>
                  <a:rPr lang="en-US" dirty="0"/>
                  <a:t>Generally poor performance</a:t>
                </a:r>
              </a:p>
              <a:p>
                <a:r>
                  <a:rPr lang="en-US" b="1" dirty="0"/>
                  <a:t>Clustering</a:t>
                </a:r>
                <a:endParaRPr lang="en-US" dirty="0"/>
              </a:p>
              <a:p>
                <a:pPr lvl="1"/>
                <a:r>
                  <a:rPr lang="en-US" dirty="0"/>
                  <a:t>Attempt to put common users and items in groups</a:t>
                </a:r>
              </a:p>
              <a:p>
                <a:pPr lvl="1"/>
                <a:r>
                  <a:rPr lang="en-US" dirty="0"/>
                  <a:t>But data is very sparse in long tail, so often poor performance</a:t>
                </a:r>
              </a:p>
              <a:p>
                <a:pPr lvl="1"/>
                <a:r>
                  <a:rPr lang="en-US" dirty="0"/>
                  <a:t>Can be used to </a:t>
                </a:r>
                <a:r>
                  <a:rPr lang="en-US" b="1" dirty="0"/>
                  <a:t>fill null values when little history </a:t>
                </a:r>
                <a:r>
                  <a:rPr lang="en-US" dirty="0"/>
                  <a:t>– the cold start problem</a:t>
                </a:r>
              </a:p>
              <a:p>
                <a:pPr lvl="1"/>
                <a:r>
                  <a:rPr lang="en-US" b="1" dirty="0"/>
                  <a:t>Reduce computation </a:t>
                </a:r>
                <a:r>
                  <a:rPr lang="en-US" dirty="0"/>
                  <a:t>by applying complex recommender algorithms within clusters with common characteristics </a:t>
                </a:r>
              </a:p>
              <a:p>
                <a:r>
                  <a:rPr lang="en-US" b="1" dirty="0"/>
                  <a:t>Association models  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55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dirty="0"/>
              <a:t>Algorithms based on </a:t>
            </a:r>
            <a:r>
              <a:rPr lang="en-US" b="1" dirty="0"/>
              <a:t>similarity search </a:t>
            </a:r>
            <a:r>
              <a:rPr lang="en-US" dirty="0"/>
              <a:t>dominate</a:t>
            </a:r>
            <a:endParaRPr lang="en-US" b="1" dirty="0"/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Find items with common properties by </a:t>
            </a:r>
            <a:r>
              <a:rPr lang="en-US" b="1" dirty="0"/>
              <a:t>similarity search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unsupervised</a:t>
            </a:r>
            <a:r>
              <a:rPr lang="en-US" dirty="0"/>
              <a:t> learning algorithms </a:t>
            </a:r>
          </a:p>
          <a:p>
            <a:pPr lvl="1"/>
            <a:r>
              <a:rPr lang="en-US" dirty="0"/>
              <a:t>Related to frequent item set algorithms – Last lesson of course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</a:t>
            </a:r>
            <a:r>
              <a:rPr lang="en-US" b="1" dirty="0"/>
              <a:t>similarity</a:t>
            </a:r>
            <a:r>
              <a:rPr lang="en-US" dirty="0"/>
              <a:t> between items or between users</a:t>
            </a:r>
          </a:p>
          <a:p>
            <a:pPr lvl="1"/>
            <a:r>
              <a:rPr lang="en-US" dirty="0"/>
              <a:t>Widely used algorithm</a:t>
            </a:r>
          </a:p>
          <a:p>
            <a:pPr lvl="1"/>
            <a:r>
              <a:rPr lang="en-US" b="1" dirty="0"/>
              <a:t>Unsupervised</a:t>
            </a:r>
            <a:r>
              <a:rPr lang="en-US" dirty="0"/>
              <a:t> and </a:t>
            </a:r>
            <a:r>
              <a:rPr lang="en-US" b="1" dirty="0"/>
              <a:t>supervised (ML)</a:t>
            </a:r>
            <a:r>
              <a:rPr lang="en-US" dirty="0"/>
              <a:t> algorithms applied   </a:t>
            </a:r>
          </a:p>
          <a:p>
            <a:pPr lvl="1"/>
            <a:r>
              <a:rPr lang="en-US" dirty="0"/>
              <a:t>Has cold-start problem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References for recommender systems</a:t>
            </a:r>
          </a:p>
          <a:p>
            <a:pPr lvl="0"/>
            <a:r>
              <a:rPr lang="en-US" u="sng" dirty="0">
                <a:hlinkClick r:id="rId2"/>
              </a:rPr>
              <a:t>Revisiting Recommender Systems: An Investigative Survey. Ibrahim, et. al, 2025</a:t>
            </a:r>
            <a:endParaRPr lang="en-US" dirty="0"/>
          </a:p>
          <a:p>
            <a:pPr lvl="0"/>
            <a:r>
              <a:rPr lang="en-US" u="sng" dirty="0">
                <a:hlinkClick r:id="rId3"/>
              </a:rPr>
              <a:t>A Comprehensive Review of Recommender Systems: Transitioning From Theory to Practice, Raza, et.al., 2024</a:t>
            </a:r>
            <a:endParaRPr lang="en-US" dirty="0"/>
          </a:p>
          <a:p>
            <a:pPr lvl="0"/>
            <a:r>
              <a:rPr lang="en-US" u="sng" dirty="0">
                <a:hlinkClick r:id="rId4"/>
              </a:rPr>
              <a:t>Systematic Literature Review on Recommender System: Approach, Problem, Evaluation Techniques, Datasets, </a:t>
            </a:r>
            <a:r>
              <a:rPr lang="en-US" u="sng" dirty="0" err="1">
                <a:hlinkClick r:id="rId4"/>
              </a:rPr>
              <a:t>Saifudin</a:t>
            </a:r>
            <a:r>
              <a:rPr lang="en-US" u="sng" dirty="0">
                <a:hlinkClick r:id="rId4"/>
              </a:rPr>
              <a:t> and </a:t>
            </a:r>
            <a:r>
              <a:rPr lang="en-US" u="sng" dirty="0" err="1">
                <a:hlinkClick r:id="rId4"/>
              </a:rPr>
              <a:t>Widiyaningtyas</a:t>
            </a:r>
            <a:r>
              <a:rPr lang="en-US" u="sng" dirty="0">
                <a:hlinkClick r:id="rId4"/>
              </a:rPr>
              <a:t>, 2023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35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A0AA-389C-FCEA-7F6B-7701297E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DC4-5C77-EA11-7985-E41A7144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C7F7-5E10-76E7-4EA7-D5923068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Resources for massively scalable recommenders</a:t>
            </a:r>
          </a:p>
          <a:p>
            <a:r>
              <a:rPr lang="en-US" dirty="0"/>
              <a:t>For examples of using graph recommender models at massive scale with Neo4j, see </a:t>
            </a:r>
            <a:r>
              <a:rPr lang="en-US" dirty="0">
                <a:hlinkClick r:id="rId2"/>
              </a:rPr>
              <a:t>Graph Powered Machine Learning, Alessandro Negro, Manning, 2021</a:t>
            </a:r>
            <a:r>
              <a:rPr lang="en-US" dirty="0"/>
              <a:t> </a:t>
            </a:r>
          </a:p>
          <a:p>
            <a:r>
              <a:rPr lang="en-US" dirty="0"/>
              <a:t>For an example of building scalable collaborative filtering and neural collaborative filtering recommenders in </a:t>
            </a:r>
            <a:r>
              <a:rPr lang="en-US" dirty="0" err="1"/>
              <a:t>Keras</a:t>
            </a:r>
            <a:r>
              <a:rPr lang="en-US" dirty="0"/>
              <a:t>, see </a:t>
            </a:r>
            <a:r>
              <a:rPr lang="en-US" dirty="0">
                <a:hlinkClick r:id="rId3"/>
              </a:rPr>
              <a:t>this example by Siddhartha Banerjee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linkClick r:id="rId4"/>
              </a:rPr>
              <a:t>Torch Rec system from Meta</a:t>
            </a:r>
            <a:r>
              <a:rPr lang="en-US" dirty="0"/>
              <a:t> supports building massive scale recommenders using </a:t>
            </a:r>
            <a:r>
              <a:rPr lang="en-US" dirty="0" err="1"/>
              <a:t>sharding</a:t>
            </a:r>
            <a:r>
              <a:rPr lang="en-US" dirty="0"/>
              <a:t> and embedding algorithms</a:t>
            </a:r>
          </a:p>
          <a:p>
            <a:r>
              <a:rPr lang="en-US" dirty="0">
                <a:hlinkClick r:id="rId5"/>
              </a:rPr>
              <a:t>Twitter’s recommender </a:t>
            </a:r>
            <a:r>
              <a:rPr lang="en-US" dirty="0"/>
              <a:t>uses a complex combination of NLP, social graph analysis and recommendation generation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0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B752-4951-9447-294D-596F741F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6AE2-FE09-E5AE-1E7D-684B27BB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A96A-9024-9E12-3F11-F5BBB97A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is a growing list of recommender datasets</a:t>
            </a:r>
          </a:p>
          <a:p>
            <a:r>
              <a:rPr lang="en-US" dirty="0">
                <a:hlinkClick r:id="rId2"/>
              </a:rPr>
              <a:t>GitHub site with links to multiple other sites</a:t>
            </a:r>
            <a:endParaRPr lang="en-US" dirty="0"/>
          </a:p>
          <a:p>
            <a:r>
              <a:rPr lang="en-US" dirty="0">
                <a:hlinkClick r:id="rId3"/>
              </a:rPr>
              <a:t>Page with recommender dataset on Papers with Code</a:t>
            </a:r>
            <a:endParaRPr lang="en-US" dirty="0"/>
          </a:p>
          <a:p>
            <a:r>
              <a:rPr lang="en-US" dirty="0">
                <a:hlinkClick r:id="rId4"/>
              </a:rPr>
              <a:t>List of recommender datasets on Kagel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4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Generating Recommendations is Hard!</a:t>
            </a:r>
          </a:p>
        </p:txBody>
      </p:sp>
    </p:spTree>
    <p:extLst>
      <p:ext uri="{BB962C8B-B14F-4D97-AF65-F5344CB8AC3E}">
        <p14:creationId xmlns:p14="http://schemas.microsoft.com/office/powerpoint/2010/main" val="2319331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Creating a good recommender algorithm for the real-world is hard!</a:t>
            </a:r>
          </a:p>
          <a:p>
            <a:r>
              <a:rPr lang="en-US" dirty="0"/>
              <a:t>We do not have purchase information on new users or new items – </a:t>
            </a:r>
          </a:p>
          <a:p>
            <a:pPr lvl="1"/>
            <a:r>
              <a:rPr lang="en-US" b="1" dirty="0"/>
              <a:t>The cold-start problem!</a:t>
            </a:r>
          </a:p>
          <a:p>
            <a:r>
              <a:rPr lang="en-US" dirty="0"/>
              <a:t>Human users have </a:t>
            </a:r>
            <a:r>
              <a:rPr lang="en-US" b="1" dirty="0"/>
              <a:t>variable behavior</a:t>
            </a:r>
          </a:p>
          <a:p>
            <a:r>
              <a:rPr lang="en-US" dirty="0"/>
              <a:t>Naïve solutions do not address long-tail</a:t>
            </a:r>
          </a:p>
          <a:p>
            <a:pPr lvl="1"/>
            <a:r>
              <a:rPr lang="en-US" b="1" dirty="0"/>
              <a:t>Negative sampling bias </a:t>
            </a:r>
            <a:r>
              <a:rPr lang="en-US" dirty="0"/>
              <a:t>– Never collect samples when </a:t>
            </a:r>
            <a:r>
              <a:rPr lang="en-US" b="1" dirty="0"/>
              <a:t>user does not take action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Position bias </a:t>
            </a:r>
            <a:r>
              <a:rPr lang="en-US" dirty="0"/>
              <a:t>– </a:t>
            </a:r>
            <a:r>
              <a:rPr lang="en-US" b="1" dirty="0"/>
              <a:t>Users only see top few items </a:t>
            </a:r>
            <a:r>
              <a:rPr lang="en-US" dirty="0"/>
              <a:t>on recommendation list </a:t>
            </a:r>
          </a:p>
          <a:p>
            <a:pPr lvl="1"/>
            <a:r>
              <a:rPr lang="en-US" dirty="0"/>
              <a:t>These biases are strongly interdependent!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Cold start problems </a:t>
            </a:r>
            <a:r>
              <a:rPr lang="en-US" dirty="0"/>
              <a:t>limit predictions from recommenders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or rarely purchased items</a:t>
            </a:r>
          </a:p>
          <a:p>
            <a:pPr lvl="1"/>
            <a:r>
              <a:rPr lang="en-US" dirty="0"/>
              <a:t>New items are constantly added to digital catalogs  </a:t>
            </a:r>
          </a:p>
          <a:p>
            <a:pPr lvl="1"/>
            <a:r>
              <a:rPr lang="en-US" dirty="0"/>
              <a:t>No reviews</a:t>
            </a:r>
          </a:p>
          <a:p>
            <a:pPr lvl="1"/>
            <a:r>
              <a:rPr lang="en-US" dirty="0"/>
              <a:t>No purchase history</a:t>
            </a:r>
          </a:p>
          <a:p>
            <a:pPr lvl="1"/>
            <a:r>
              <a:rPr lang="en-US" dirty="0"/>
              <a:t>Must rely on </a:t>
            </a:r>
            <a:r>
              <a:rPr lang="en-US" b="1" dirty="0"/>
              <a:t>item similarity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users</a:t>
            </a:r>
          </a:p>
          <a:p>
            <a:pPr lvl="1"/>
            <a:r>
              <a:rPr lang="en-US" dirty="0"/>
              <a:t>No or few reviews or purchases</a:t>
            </a:r>
          </a:p>
          <a:p>
            <a:pPr lvl="1"/>
            <a:r>
              <a:rPr lang="en-US" dirty="0"/>
              <a:t>Similarity measures can be limited – little or no profile information</a:t>
            </a:r>
          </a:p>
          <a:p>
            <a:pPr lvl="1"/>
            <a:r>
              <a:rPr lang="en-US" dirty="0"/>
              <a:t>Must rely on other approaches – frequent item set search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1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User behavior </a:t>
            </a:r>
            <a:r>
              <a:rPr lang="en-US" dirty="0"/>
              <a:t>limits recommender predictions</a:t>
            </a:r>
          </a:p>
          <a:p>
            <a:r>
              <a:rPr lang="en-US" dirty="0"/>
              <a:t>People have complex behavior</a:t>
            </a:r>
          </a:p>
          <a:p>
            <a:pPr lvl="1"/>
            <a:r>
              <a:rPr lang="en-US" dirty="0"/>
              <a:t>Have variable taste – may change mind what they are looking for</a:t>
            </a:r>
          </a:p>
          <a:p>
            <a:pPr lvl="1"/>
            <a:r>
              <a:rPr lang="en-US" dirty="0"/>
              <a:t>May have multiple interests – e.g. user may want both classic country and baroque music</a:t>
            </a:r>
          </a:p>
          <a:p>
            <a:pPr lvl="1"/>
            <a:r>
              <a:rPr lang="en-US" dirty="0"/>
              <a:t>More than one person accessing user account – e.g. a family</a:t>
            </a:r>
          </a:p>
          <a:p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Average rating of movies have increased with time</a:t>
            </a:r>
          </a:p>
          <a:p>
            <a:pPr lvl="1"/>
            <a:r>
              <a:rPr lang="en-US" dirty="0"/>
              <a:t>Game ratings decline with age</a:t>
            </a:r>
          </a:p>
          <a:p>
            <a:pPr lvl="1"/>
            <a:r>
              <a:rPr lang="en-US" dirty="0"/>
              <a:t>Fad products come and go </a:t>
            </a:r>
            <a:r>
              <a:rPr lang="en-US" dirty="0" err="1"/>
              <a:t>quikly</a:t>
            </a:r>
            <a:r>
              <a:rPr lang="en-US" dirty="0"/>
              <a:t> over time 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solidFill>
                  <a:srgbClr val="C00000"/>
                </a:solidFill>
              </a:rPr>
              <a:t>Data quality often limits recommender performance more than algorithm choice!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5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0265-2875-E0E1-055D-AF87AA15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0B46-1E03-F916-8987-5180463A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7E91-0FF9-7F8B-9124-9D14B29D7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Good recommendations depend on </a:t>
            </a:r>
            <a:r>
              <a:rPr lang="en-US" b="1" dirty="0"/>
              <a:t>user context</a:t>
            </a:r>
          </a:p>
          <a:p>
            <a:r>
              <a:rPr lang="en-US" dirty="0"/>
              <a:t>Example: the music the user wants to hear depends on time of day    </a:t>
            </a:r>
          </a:p>
          <a:p>
            <a:r>
              <a:rPr lang="en-US" dirty="0"/>
              <a:t>Example: Travel recommendations depend on the nature of the trip, business, vacation, etc.   </a:t>
            </a:r>
          </a:p>
          <a:p>
            <a:r>
              <a:rPr lang="en-US" dirty="0"/>
              <a:t>Context can be ambiguous</a:t>
            </a:r>
          </a:p>
          <a:p>
            <a:pPr lvl="1"/>
            <a:r>
              <a:rPr lang="en-US" dirty="0"/>
              <a:t>Example: video choice can depend on time of day, but what if a child is present    </a:t>
            </a:r>
          </a:p>
          <a:p>
            <a:pPr lvl="1"/>
            <a:r>
              <a:rPr lang="en-US" dirty="0"/>
              <a:t>Example: recommendations can be location dependent, but may not know location</a:t>
            </a:r>
          </a:p>
          <a:p>
            <a:r>
              <a:rPr lang="en-US" dirty="0"/>
              <a:t>Analysis of context leads to a cold start problem    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F4C0-C0F3-C4BF-4971-B025794C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7725-6E7B-35C8-D233-7FBC85C2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1516-6055-6DBC-7D71-20B206AE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r>
              <a:rPr lang="en-US" dirty="0">
                <a:hlinkClick r:id="rId2"/>
              </a:rPr>
              <a:t>Manipulating Recommender Systems: A Survey of Poisoning Attacks and Countermeasures, Nguyen, et. al., 2024</a:t>
            </a:r>
            <a:endParaRPr lang="en-US" dirty="0"/>
          </a:p>
          <a:p>
            <a:r>
              <a:rPr lang="en-US" dirty="0">
                <a:hlinkClick r:id="rId3"/>
              </a:rPr>
              <a:t>Poisoning Attacks against Recommender Systems: A Survey, Wang, et. al., 2024</a:t>
            </a: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33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bias</a:t>
            </a:r>
            <a:r>
              <a:rPr lang="en-US" dirty="0"/>
              <a:t>   </a:t>
            </a:r>
          </a:p>
          <a:p>
            <a:r>
              <a:rPr lang="en-US" dirty="0"/>
              <a:t>We can only sample when user takes positive action, </a:t>
            </a:r>
            <a:r>
              <a:rPr lang="en-US" b="1" dirty="0"/>
              <a:t>negative sampling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Click through</a:t>
            </a:r>
          </a:p>
          <a:p>
            <a:pPr lvl="1"/>
            <a:r>
              <a:rPr lang="en-US" dirty="0"/>
              <a:t>Purchase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Many selections in a massive catalog are rarely or never selected by any user because of </a:t>
            </a:r>
            <a:r>
              <a:rPr lang="en-US" b="1" dirty="0"/>
              <a:t>position bias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New items are constantly added to digital catalogs </a:t>
            </a:r>
          </a:p>
          <a:p>
            <a:pPr lvl="1"/>
            <a:r>
              <a:rPr lang="en-US" dirty="0"/>
              <a:t>Rarely </a:t>
            </a:r>
            <a:r>
              <a:rPr lang="en-US" dirty="0" err="1"/>
              <a:t>purchad</a:t>
            </a:r>
            <a:r>
              <a:rPr lang="en-US" dirty="0"/>
              <a:t> items have positions far down recommendation lists  </a:t>
            </a:r>
          </a:p>
          <a:p>
            <a:r>
              <a:rPr lang="en-US" dirty="0"/>
              <a:t>Position bias leads to negative sampling bias and vice versa </a:t>
            </a:r>
          </a:p>
          <a:p>
            <a:r>
              <a:rPr lang="en-US" dirty="0"/>
              <a:t>The result is very sparse data with mostly missing values 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7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FFFF-DB5C-8280-0A99-320715FB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0248915-2A11-25EA-686F-20312A06A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Representation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372845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Recommender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Utility matrix </a:t>
                </a:r>
                <a:r>
                  <a:rPr lang="en-US" dirty="0"/>
                  <a:t>is a representation used for recommender models</a:t>
                </a:r>
              </a:p>
              <a:p>
                <a:r>
                  <a:rPr lang="en-US" dirty="0"/>
                  <a:t>The utility matrix relates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Or, the transpose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The general model is a </a:t>
                </a:r>
                <a:r>
                  <a:rPr lang="en-US" b="1" dirty="0"/>
                  <a:t>utility function,</a:t>
                </a:r>
                <a:r>
                  <a:rPr lang="en-US" dirty="0"/>
                  <a:t> </a:t>
                </a:r>
                <a:r>
                  <a:rPr lang="en-US" i="1" dirty="0"/>
                  <a:t>u</a:t>
                </a:r>
                <a:r>
                  <a:rPr lang="en-US" dirty="0"/>
                  <a:t> that maps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S,</a:t>
                </a:r>
                <a:r>
                  <a:rPr lang="en-US" dirty="0"/>
                  <a:t> to </a:t>
                </a:r>
                <a:r>
                  <a:rPr lang="en-US" b="1" dirty="0"/>
                  <a:t>implied ratings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Specific algorithms are versions of this general model</a:t>
                </a:r>
              </a:p>
              <a:p>
                <a:pPr lvl="1"/>
                <a:r>
                  <a:rPr lang="en-US" dirty="0"/>
                  <a:t>For example, utility can be measured as similarity between items or users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75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A </a:t>
            </a:r>
            <a:r>
              <a:rPr lang="en-US" b="1" dirty="0"/>
              <a:t>utility matrix</a:t>
            </a:r>
          </a:p>
          <a:p>
            <a:pPr lvl="1"/>
            <a:r>
              <a:rPr lang="en-US" dirty="0"/>
              <a:t>Users in the rows, item ratings or purchases in the columns</a:t>
            </a:r>
          </a:p>
          <a:p>
            <a:pPr lvl="1"/>
            <a:r>
              <a:rPr lang="en-US" dirty="0"/>
              <a:t>Or the transpose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We can create a similar data structure using feature or user embeddings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16552"/>
              </p:ext>
            </p:extLst>
          </p:nvPr>
        </p:nvGraphicFramePr>
        <p:xfrm>
          <a:off x="397511" y="2619555"/>
          <a:ext cx="11479635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5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most users have watched only a few movies</a:t>
            </a:r>
          </a:p>
          <a:p>
            <a:r>
              <a:rPr lang="en-US" dirty="0"/>
              <a:t>There is only </a:t>
            </a:r>
            <a:r>
              <a:rPr lang="en-US" b="1" dirty="0"/>
              <a:t>limited similarity information </a:t>
            </a:r>
            <a:r>
              <a:rPr lang="en-US" dirty="0"/>
              <a:t>between users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00886"/>
              </p:ext>
            </p:extLst>
          </p:nvPr>
        </p:nvGraphicFramePr>
        <p:xfrm>
          <a:off x="293429" y="1593668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0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No! Many people will buy, watch, or listen without ever rating </a:t>
            </a:r>
          </a:p>
          <a:p>
            <a:pPr lvl="1"/>
            <a:r>
              <a:rPr lang="en-US" dirty="0"/>
              <a:t>Click-throughs are inherently binary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48584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61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integrate binary responses with ordinal ratings? </a:t>
                </a:r>
              </a:p>
              <a:p>
                <a:r>
                  <a:rPr lang="en-US" dirty="0"/>
                  <a:t>Make all responses binary – the general approach </a:t>
                </a:r>
              </a:p>
              <a:p>
                <a:pPr lvl="1"/>
                <a:r>
                  <a:rPr lang="en-US" dirty="0"/>
                  <a:t>Losses information</a:t>
                </a:r>
              </a:p>
              <a:p>
                <a:pPr lvl="1"/>
                <a:r>
                  <a:rPr lang="en-US" dirty="0"/>
                  <a:t>Can code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𝑤𝑎𝑡𝑐h𝑒𝑑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𝑤𝑎𝑡𝑐h𝑒𝑑</m:t>
                        </m:r>
                      </m:e>
                    </m:d>
                  </m:oMath>
                </a14:m>
                <a:r>
                  <a:rPr lang="en-US" dirty="0"/>
                  <a:t> - no need for user rating</a:t>
                </a:r>
              </a:p>
              <a:p>
                <a:r>
                  <a:rPr lang="en-US" b="1" dirty="0"/>
                  <a:t>Interpolate ratings</a:t>
                </a:r>
                <a:r>
                  <a:rPr lang="en-US" dirty="0"/>
                  <a:t> – more difficult to implement </a:t>
                </a:r>
                <a:endParaRPr lang="en-US" b="1" dirty="0"/>
              </a:p>
              <a:p>
                <a:pPr lvl="1"/>
                <a:r>
                  <a:rPr lang="en-US" dirty="0"/>
                  <a:t>Average for user – may have limited or no rating</a:t>
                </a:r>
              </a:p>
              <a:p>
                <a:pPr lvl="1"/>
                <a:r>
                  <a:rPr lang="en-US" dirty="0"/>
                  <a:t>Average for item – usually a bit better</a:t>
                </a:r>
              </a:p>
              <a:p>
                <a:pPr lvl="1"/>
                <a:r>
                  <a:rPr lang="en-US" dirty="0"/>
                  <a:t>A weighted average of average item and user ratings</a:t>
                </a:r>
              </a:p>
              <a:p>
                <a:pPr lvl="1"/>
                <a:r>
                  <a:rPr lang="en-US" dirty="0"/>
                  <a:t>Averages for nearest neighbors</a:t>
                </a:r>
              </a:p>
              <a:p>
                <a:pPr lvl="1"/>
                <a:r>
                  <a:rPr lang="en-US" dirty="0"/>
                  <a:t>Averages from centroid of clusters</a:t>
                </a:r>
              </a:p>
              <a:p>
                <a:r>
                  <a:rPr lang="en-US" dirty="0"/>
                  <a:t>Interpolated ratings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baseline recommendation model</a:t>
                </a:r>
                <a:endParaRPr lang="en-US" dirty="0"/>
              </a:p>
              <a:p>
                <a:r>
                  <a:rPr lang="en-US" dirty="0"/>
                  <a:t>Average rating for users and items, known as </a:t>
                </a:r>
                <a:r>
                  <a:rPr lang="en-US" b="1" dirty="0"/>
                  <a:t>biases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  <a:blipFill>
                <a:blip r:embed="rId2"/>
                <a:stretch>
                  <a:fillRect l="-1159" t="-1945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2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F91F-C05F-90BD-3056-2ABD6297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8138-D44D-F112-8D4B-A99A22D8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80E8-1093-85BD-0572-01F4AB94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7C3436-96D7-A713-D96F-0E90E3AC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91672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Maria only one person?</a:t>
            </a:r>
          </a:p>
          <a:p>
            <a:r>
              <a:rPr lang="en-US" dirty="0"/>
              <a:t>Maybe not – multiple people share accounts</a:t>
            </a:r>
          </a:p>
          <a:p>
            <a:r>
              <a:rPr lang="en-US" dirty="0"/>
              <a:t>Perhaps the Maria account represents several people in a household?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56750"/>
              </p:ext>
            </p:extLst>
          </p:nvPr>
        </p:nvGraphicFramePr>
        <p:xfrm>
          <a:off x="356182" y="2950186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30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5758703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 representation of utility matrix </a:t>
            </a:r>
          </a:p>
          <a:p>
            <a:r>
              <a:rPr lang="en-US" dirty="0"/>
              <a:t>One type of node represents users  </a:t>
            </a:r>
          </a:p>
          <a:p>
            <a:r>
              <a:rPr lang="en-US" dirty="0"/>
              <a:t>One type of node represents items</a:t>
            </a:r>
          </a:p>
          <a:p>
            <a:r>
              <a:rPr lang="en-US" dirty="0"/>
              <a:t>Weighted edges associate users and items – e.g. item ratings or similarity</a:t>
            </a:r>
          </a:p>
          <a:p>
            <a:r>
              <a:rPr lang="en-US" dirty="0"/>
              <a:t>Is a bipartite graph   </a:t>
            </a:r>
          </a:p>
          <a:p>
            <a:r>
              <a:rPr lang="en-US" dirty="0"/>
              <a:t>Graph representation is inherently sparse    </a:t>
            </a:r>
          </a:p>
          <a:p>
            <a:r>
              <a:rPr lang="en-US" dirty="0"/>
              <a:t>Many state of the art recommender algorithms are graph-based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A3F876B-B76B-CD0C-769A-B3BB6746FE10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AE2823C-C436-6FB8-716C-C896D7BAA916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F45984-64B8-EB5D-2C3C-391EC67CFC9D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425FE6-956D-6931-5C10-7B2505CB391A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069878-B52E-E175-FB7F-52E1C831DB41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0E1441-9112-257A-4262-325000DDC891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E11619-8A8C-8642-4354-317880D93784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F71378-C3CD-A26D-2CFA-89E54093D098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D569EB-366F-D041-514B-BC17E280D717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5A1BE4-D71B-127B-172E-3C5AAC3D54E7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4C8FCB-2F07-D335-2F2C-F79CB6F3D6CC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51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AC0D-3966-B202-2413-9A25A8A0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004F-AA36-BDDA-62B0-F452625D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Graph representation of utility matrix </a:t>
                </a:r>
              </a:p>
              <a:p>
                <a:r>
                  <a:rPr lang="en-US" dirty="0"/>
                  <a:t>One type of node represents users  </a:t>
                </a:r>
              </a:p>
              <a:p>
                <a:r>
                  <a:rPr lang="en-US" dirty="0"/>
                  <a:t>One type of node represents items</a:t>
                </a:r>
              </a:p>
              <a:p>
                <a:r>
                  <a:rPr lang="en-US" dirty="0"/>
                  <a:t>Bipartite graph is ideal for a sparse representation as K,V pairs </a:t>
                </a:r>
              </a:p>
              <a:p>
                <a:pPr lvl="1"/>
                <a:r>
                  <a:rPr lang="en-US" dirty="0"/>
                  <a:t>Keys are user, item tuple,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Values are ratings, </a:t>
                </a:r>
                <a:r>
                  <a:rPr lang="en-US" i="1" dirty="0"/>
                  <a:t>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Graph representation maps well to graph database 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  <a:blipFill>
                <a:blip r:embed="rId2"/>
                <a:stretch>
                  <a:fillRect l="-2116" t="-1945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2A7AF5E-74CF-DFBF-B666-43FD1DF2E298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727E81-AAA6-4FBB-EBD7-D2ADA216B7CD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E8260-6400-50B3-45FE-3A6483F8F013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3D6CD4-7D0C-ABAF-E6B2-14428CE5BC5D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4630F5-8DA7-F8CC-BC3E-D2A83C1A83DA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73434E-B084-42B3-D478-5B7D75FD983F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99BCA1-D912-B7DC-60AB-0496DEA1DC58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78AFA6-8CB1-0E5A-6CA4-521639950A5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AC13BC-BFC2-411E-1039-A6FE6A6CA1DB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4250A5-82A7-93F7-9901-7D4F3D98EC03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15F273-E5EB-AC51-EEBB-DA5616E67631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13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Extending the Representation   </a:t>
            </a:r>
          </a:p>
        </p:txBody>
      </p:sp>
    </p:spTree>
    <p:extLst>
      <p:ext uri="{BB962C8B-B14F-4D97-AF65-F5344CB8AC3E}">
        <p14:creationId xmlns:p14="http://schemas.microsoft.com/office/powerpoint/2010/main" val="509705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BF73-1211-489B-3BAF-CFE4A1DE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30AF-89D5-548A-5642-9CCB0232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342A-248C-AF41-1752-5A0BCE453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context to the representation? </a:t>
            </a:r>
          </a:p>
          <a:p>
            <a:r>
              <a:rPr lang="en-US" dirty="0"/>
              <a:t>Extend the utility matrix  </a:t>
            </a:r>
          </a:p>
          <a:p>
            <a:r>
              <a:rPr lang="en-US" dirty="0"/>
              <a:t>Add context dimensions to utility matrix        </a:t>
            </a:r>
          </a:p>
          <a:p>
            <a:pPr lvl="1"/>
            <a:r>
              <a:rPr lang="en-US" dirty="0"/>
              <a:t>Time of day  </a:t>
            </a:r>
          </a:p>
          <a:p>
            <a:pPr lvl="1"/>
            <a:r>
              <a:rPr lang="en-US" dirty="0"/>
              <a:t>Location </a:t>
            </a:r>
          </a:p>
          <a:p>
            <a:pPr lvl="1"/>
            <a:r>
              <a:rPr lang="en-US" dirty="0"/>
              <a:t>Pages visited   </a:t>
            </a:r>
          </a:p>
          <a:p>
            <a:pPr lvl="1"/>
            <a:r>
              <a:rPr lang="en-US" dirty="0"/>
              <a:t>Reliability metrics </a:t>
            </a:r>
          </a:p>
          <a:p>
            <a:pPr lvl="1"/>
            <a:r>
              <a:rPr lang="en-US" dirty="0"/>
              <a:t>Etc.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7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0680-F595-91CC-81EC-F6CAB6B4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F43F-D2AB-2DF2-60EC-ADCD2FC1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616E-B77A-E0D2-58BD-307CBC50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context to the representation? </a:t>
            </a:r>
          </a:p>
          <a:p>
            <a:r>
              <a:rPr lang="en-US" dirty="0"/>
              <a:t>Context representation is difficult</a:t>
            </a:r>
          </a:p>
          <a:p>
            <a:r>
              <a:rPr lang="en-US" b="1" dirty="0"/>
              <a:t>High dimensional: </a:t>
            </a:r>
            <a:r>
              <a:rPr lang="en-US" dirty="0"/>
              <a:t>many possible contexts  </a:t>
            </a:r>
          </a:p>
          <a:p>
            <a:r>
              <a:rPr lang="en-US" b="1" dirty="0"/>
              <a:t>Sparse:</a:t>
            </a:r>
            <a:r>
              <a:rPr lang="en-US" dirty="0"/>
              <a:t> only limited context for specific situation    </a:t>
            </a:r>
          </a:p>
          <a:p>
            <a:r>
              <a:rPr lang="en-US" b="1" dirty="0"/>
              <a:t>Cold start problem </a:t>
            </a:r>
          </a:p>
          <a:p>
            <a:pPr lvl="1"/>
            <a:r>
              <a:rPr lang="en-US" dirty="0"/>
              <a:t>Few contexts encountered per user</a:t>
            </a:r>
          </a:p>
          <a:p>
            <a:pPr lvl="1"/>
            <a:r>
              <a:rPr lang="en-US" dirty="0"/>
              <a:t>No context for new user   </a:t>
            </a:r>
          </a:p>
          <a:p>
            <a:r>
              <a:rPr lang="en-US" dirty="0"/>
              <a:t>Need to embed sparse high dimensional vector space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4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9798-6EBA-6A82-4099-A8813522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2097424-8C6C-F864-D6D9-025171D07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Embedding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313349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D2B3-7585-A05F-D26D-0E1D16C5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011C-F531-7A63-ADFF-A19A763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16AF-CC70-7676-7344-83A94C25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Effective embeddings are essential for recommendations</a:t>
            </a:r>
          </a:p>
          <a:p>
            <a:r>
              <a:rPr lang="en-US" dirty="0"/>
              <a:t>Algorithms typically operate on features in an </a:t>
            </a:r>
            <a:r>
              <a:rPr lang="en-US" b="1" dirty="0"/>
              <a:t>embedding space</a:t>
            </a:r>
            <a:endParaRPr lang="en-US" dirty="0"/>
          </a:p>
          <a:p>
            <a:pPr lvl="1"/>
            <a:r>
              <a:rPr lang="en-US" dirty="0"/>
              <a:t>Often use hash sketches </a:t>
            </a:r>
          </a:p>
          <a:p>
            <a:pPr lvl="1"/>
            <a:r>
              <a:rPr lang="en-US" dirty="0"/>
              <a:t>Learned embedding spaces </a:t>
            </a:r>
          </a:p>
          <a:p>
            <a:r>
              <a:rPr lang="en-US" dirty="0"/>
              <a:t>Good embeddings must have several properties 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 for each category embedded  </a:t>
            </a:r>
          </a:p>
          <a:p>
            <a:pPr lvl="1"/>
            <a:r>
              <a:rPr lang="en-US" b="1" dirty="0"/>
              <a:t>Equal similarity </a:t>
            </a:r>
            <a:r>
              <a:rPr lang="en-US" dirty="0"/>
              <a:t>between classes, to prevent bias </a:t>
            </a:r>
          </a:p>
          <a:p>
            <a:pPr lvl="1"/>
            <a:r>
              <a:rPr lang="en-US" b="1" dirty="0"/>
              <a:t>Reduction of high dimensionality</a:t>
            </a:r>
            <a:r>
              <a:rPr lang="en-US" dirty="0"/>
              <a:t>, to reduce computation and memory use</a:t>
            </a:r>
          </a:p>
          <a:p>
            <a:pPr lvl="1"/>
            <a:r>
              <a:rPr lang="en-US" b="1" dirty="0"/>
              <a:t>High Shannon entropy</a:t>
            </a:r>
            <a:r>
              <a:rPr lang="en-US" dirty="0"/>
              <a:t>, ensuring all dimensions of the embedding contain information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01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D2B8-1DDE-B4C8-9826-C19B17B0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8207-9624-C611-8863-5058E97A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very high dimension      </a:t>
                </a:r>
              </a:p>
              <a:p>
                <a:pPr lvl="1"/>
                <a:r>
                  <a:rPr lang="en-US" b="1" dirty="0"/>
                  <a:t>Vocabulary expands continuously </a:t>
                </a:r>
                <a:r>
                  <a:rPr lang="en-US" dirty="0"/>
                  <a:t>as new categories (actors) added</a:t>
                </a:r>
              </a:p>
              <a:p>
                <a:r>
                  <a:rPr lang="en-US" dirty="0"/>
                  <a:t>Example: context     </a:t>
                </a:r>
              </a:p>
              <a:p>
                <a:pPr lvl="1"/>
                <a:r>
                  <a:rPr lang="en-US" dirty="0"/>
                  <a:t>Massive number of permutations   </a:t>
                </a:r>
              </a:p>
              <a:p>
                <a:pPr lvl="1"/>
                <a:r>
                  <a:rPr lang="en-US" dirty="0"/>
                  <a:t>Vocabularory includes clicks, locations, time of day, type of device, …</a:t>
                </a:r>
              </a:p>
              <a:p>
                <a:r>
                  <a:rPr lang="en-US" dirty="0"/>
                  <a:t>One-hot-encoding is sparse, inefficient and inflexible     </a:t>
                </a:r>
              </a:p>
              <a:p>
                <a:pPr lvl="1"/>
                <a:r>
                  <a:rPr lang="en-US" dirty="0"/>
                  <a:t>Requires impractically large data structure for storage </a:t>
                </a:r>
              </a:p>
              <a:p>
                <a:pPr lvl="1"/>
                <a:r>
                  <a:rPr lang="en-US" dirty="0"/>
                  <a:t>Cannot be dynamically expanded as new categories added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54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28AB2-A79F-DC6B-3BE6-F48BD24C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F3A7-89A1-B241-F2D5-88878D14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Can we simply assign a binary coded ID number to each actor and use Hamming distance?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Hamming distances are all different!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14510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65303"/>
                  </p:ext>
                </p:extLst>
              </p:nvPr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01" t="-109231" r="-201502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9231" r="-10089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901" t="-109231" r="-1201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F4BFE0-EA68-6ED3-EC4A-DEED04B059A1}"/>
              </a:ext>
            </a:extLst>
          </p:cNvPr>
          <p:cNvGraphicFramePr>
            <a:graphicFrameLocks noGrp="1"/>
          </p:cNvGraphicFramePr>
          <p:nvPr/>
        </p:nvGraphicFramePr>
        <p:xfrm>
          <a:off x="3642664" y="4794993"/>
          <a:ext cx="51566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57">
                  <a:extLst>
                    <a:ext uri="{9D8B030D-6E8A-4147-A177-3AD203B41FA5}">
                      <a16:colId xmlns:a16="http://schemas.microsoft.com/office/drawing/2014/main" val="4209855428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510343905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4043855501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2071165429"/>
                    </a:ext>
                  </a:extLst>
                </a:gridCol>
              </a:tblGrid>
              <a:tr h="1451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Actor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8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5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1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63D6F-2B5D-C565-43A0-D0D0744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8C27-6691-D754-2B02-3FDE263C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We can use a </a:t>
                </a:r>
                <a:r>
                  <a:rPr lang="en-US" b="1" dirty="0">
                    <a:hlinkClick r:id="rId2"/>
                  </a:rPr>
                  <a:t>hash embedding or the ‘hash trick’</a:t>
                </a:r>
                <a:endParaRPr lang="en-US" b="1" dirty="0"/>
              </a:p>
              <a:p>
                <a:pPr lvl="1"/>
                <a:r>
                  <a:rPr lang="en-US" dirty="0"/>
                  <a:t>Hash category to fixed length embedding vector </a:t>
                </a:r>
              </a:p>
              <a:p>
                <a:r>
                  <a:rPr lang="en-US" dirty="0"/>
                  <a:t>Example: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3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4B90A-BBD8-15D0-93E8-D09BC8BCC541}"/>
              </a:ext>
            </a:extLst>
          </p:cNvPr>
          <p:cNvGraphicFramePr>
            <a:graphicFrameLocks noGrp="1"/>
          </p:cNvGraphicFramePr>
          <p:nvPr/>
        </p:nvGraphicFramePr>
        <p:xfrm>
          <a:off x="1687986" y="3989691"/>
          <a:ext cx="1833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760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/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Binary Hash Function 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5F5992-1917-D177-282C-3257F6D218F8}"/>
              </a:ext>
            </a:extLst>
          </p:cNvPr>
          <p:cNvGraphicFramePr>
            <a:graphicFrameLocks noGrp="1"/>
          </p:cNvGraphicFramePr>
          <p:nvPr/>
        </p:nvGraphicFramePr>
        <p:xfrm>
          <a:off x="6739377" y="3946817"/>
          <a:ext cx="454102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68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  <a:gridCol w="684494">
                  <a:extLst>
                    <a:ext uri="{9D8B030D-6E8A-4147-A177-3AD203B41FA5}">
                      <a16:colId xmlns:a16="http://schemas.microsoft.com/office/drawing/2014/main" val="335391034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105611649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247563388"/>
                    </a:ext>
                  </a:extLst>
                </a:gridCol>
                <a:gridCol w="606117">
                  <a:extLst>
                    <a:ext uri="{9D8B030D-6E8A-4147-A177-3AD203B41FA5}">
                      <a16:colId xmlns:a16="http://schemas.microsoft.com/office/drawing/2014/main" val="1127819869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1294739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7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BC57-C4AC-F9B8-98F9-A060E6B2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2B83-9C81-6257-5F08-3ABE4B9E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DC60-FF02-ADCE-B565-98EE510BA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We can use a </a:t>
            </a:r>
            <a:r>
              <a:rPr lang="en-US" b="1" dirty="0">
                <a:hlinkClick r:id="rId2"/>
              </a:rPr>
              <a:t>hash embedding or the ‘hash trick’</a:t>
            </a:r>
            <a:endParaRPr lang="en-US" b="1" dirty="0"/>
          </a:p>
          <a:p>
            <a:pPr lvl="1"/>
            <a:r>
              <a:rPr lang="en-US" dirty="0"/>
              <a:t>Hash category to fixed length embedding vector </a:t>
            </a:r>
          </a:p>
          <a:p>
            <a:r>
              <a:rPr lang="en-US" b="1" dirty="0"/>
              <a:t>Hash collisions</a:t>
            </a:r>
            <a:r>
              <a:rPr lang="en-US" dirty="0"/>
              <a:t> create non-uniqueness in coding features  </a:t>
            </a:r>
          </a:p>
          <a:p>
            <a:r>
              <a:rPr lang="en-US" dirty="0"/>
              <a:t>How can we reduce hash collisions? </a:t>
            </a:r>
          </a:p>
          <a:p>
            <a:pPr lvl="1"/>
            <a:r>
              <a:rPr lang="en-US" dirty="0"/>
              <a:t>Use longer hash word</a:t>
            </a:r>
          </a:p>
          <a:p>
            <a:pPr lvl="1"/>
            <a:r>
              <a:rPr lang="en-US" dirty="0"/>
              <a:t>Use multiple hash functions </a:t>
            </a:r>
          </a:p>
          <a:p>
            <a:pPr lvl="1"/>
            <a:r>
              <a:rPr lang="en-US" dirty="0"/>
              <a:t>Randomize hash words by using binary </a:t>
            </a:r>
            <a:r>
              <a:rPr lang="en-US" b="1" dirty="0"/>
              <a:t>sign hash multiplier </a:t>
            </a:r>
            <a:r>
              <a:rPr lang="en-US" dirty="0"/>
              <a:t>– inner products become zero-centered </a:t>
            </a: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Feature hashing is well supported in many machine </a:t>
            </a:r>
            <a:r>
              <a:rPr lang="en-US" dirty="0" err="1"/>
              <a:t>learninging</a:t>
            </a:r>
            <a:r>
              <a:rPr lang="en-US" dirty="0"/>
              <a:t> packages including, </a:t>
            </a:r>
            <a:r>
              <a:rPr lang="en-US" dirty="0">
                <a:hlinkClick r:id="rId3"/>
              </a:rPr>
              <a:t>Scikit-learn</a:t>
            </a:r>
            <a:r>
              <a:rPr lang="en-US" dirty="0"/>
              <a:t> and </a:t>
            </a:r>
            <a:r>
              <a:rPr lang="en-US" dirty="0">
                <a:hlinkClick r:id="rId4"/>
              </a:rPr>
              <a:t>TensorFlow (</a:t>
            </a:r>
            <a:r>
              <a:rPr lang="en-US" dirty="0" err="1">
                <a:hlinkClick r:id="rId4"/>
              </a:rPr>
              <a:t>Keras</a:t>
            </a:r>
            <a:r>
              <a:rPr lang="en-US" dirty="0">
                <a:hlinkClick r:id="rId4"/>
              </a:rPr>
              <a:t>)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5AEB-7A70-9D7D-1A4E-AA97075A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D534-90DF-61A8-5291-4A0B0072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2895-E8AF-8C75-A6F8-1FFAF5E9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Hash trick has several limitations   </a:t>
            </a:r>
          </a:p>
          <a:p>
            <a:pPr lvl="1"/>
            <a:r>
              <a:rPr lang="en-US" dirty="0"/>
              <a:t>Hash collisions reduce uniqueness</a:t>
            </a:r>
          </a:p>
          <a:p>
            <a:pPr lvl="1"/>
            <a:r>
              <a:rPr lang="en-US" dirty="0"/>
              <a:t>Hash values do not maintain high entropy, e.g. the information content of the hash word is low</a:t>
            </a:r>
          </a:p>
          <a:p>
            <a:r>
              <a:rPr lang="en-US" dirty="0"/>
              <a:t>To overcome these deficiencies, </a:t>
            </a:r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1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9625-4845-85CC-7168-4681BAF3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C99C-81BF-FA0B-C43E-DA5BC955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A0A7-F881-1DF8-96AC-0CEF65757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909488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032D6-02F9-4AF1-48BA-66DE842F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052" y="833220"/>
            <a:ext cx="4913340" cy="59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28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857A-5EFB-4655-DB24-C584EA5C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7FBA-925B-FF73-1837-7E74903E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0B4E-5507-D827-D63E-05B51E78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439373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r>
              <a:rPr lang="en-US" dirty="0"/>
              <a:t>DHE exhibits each of the optimal properties for feature hashing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E65D6-C9CA-522E-4DAA-AA27A492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19" y="2619215"/>
            <a:ext cx="5638329" cy="27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Content Based Recommenders</a:t>
            </a:r>
          </a:p>
        </p:txBody>
      </p:sp>
    </p:spTree>
    <p:extLst>
      <p:ext uri="{BB962C8B-B14F-4D97-AF65-F5344CB8AC3E}">
        <p14:creationId xmlns:p14="http://schemas.microsoft.com/office/powerpoint/2010/main" val="1783482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Based on similarity of item and user profiles</a:t>
            </a:r>
          </a:p>
          <a:p>
            <a:r>
              <a:rPr lang="en-US" dirty="0"/>
              <a:t>Is an unsupervised </a:t>
            </a:r>
            <a:r>
              <a:rPr lang="en-US" b="1" dirty="0"/>
              <a:t>similarity search</a:t>
            </a:r>
          </a:p>
          <a:p>
            <a:r>
              <a:rPr lang="en-US" dirty="0"/>
              <a:t>Can use most any similarity metric, with default of cosine</a:t>
            </a:r>
          </a:p>
          <a:p>
            <a:r>
              <a:rPr lang="en-US" dirty="0"/>
              <a:t>Goal: Recommend related items to user</a:t>
            </a:r>
          </a:p>
          <a:p>
            <a:r>
              <a:rPr lang="en-US" dirty="0"/>
              <a:t>Example: recommend movie</a:t>
            </a:r>
          </a:p>
          <a:p>
            <a:pPr lvl="1"/>
            <a:r>
              <a:rPr lang="en-US" dirty="0"/>
              <a:t>Find movies with similar actors, director, writers, etc. to user profile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2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3BDD-769C-1268-241F-2A141041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5035-4A54-BED1-A943-87F4460F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2302-F51F-6737-9246-EC892103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CD309-8FEB-7658-17EE-E1645D1A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66464-3E74-5A5F-257C-498EAFF933F0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A41D4E-75F4-960E-CCD3-2532D870EC1E}"/>
              </a:ext>
            </a:extLst>
          </p:cNvPr>
          <p:cNvSpPr/>
          <p:nvPr/>
        </p:nvSpPr>
        <p:spPr>
          <a:xfrm rot="2054766">
            <a:off x="7384725" y="3360202"/>
            <a:ext cx="1402223" cy="25767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50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49531"/>
            <a:ext cx="10515600" cy="5506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Item profiles (characteristics)</a:t>
            </a:r>
          </a:p>
          <a:p>
            <a:pPr lvl="1"/>
            <a:r>
              <a:rPr lang="en-US" dirty="0"/>
              <a:t>Acquired from item descriptions</a:t>
            </a:r>
          </a:p>
          <a:p>
            <a:pPr lvl="1"/>
            <a:r>
              <a:rPr lang="en-US" dirty="0"/>
              <a:t>No item cold-start problem</a:t>
            </a:r>
          </a:p>
          <a:p>
            <a:pPr lvl="1"/>
            <a:r>
              <a:rPr lang="en-US" dirty="0"/>
              <a:t>Feature map from embedding </a:t>
            </a:r>
          </a:p>
          <a:p>
            <a:r>
              <a:rPr lang="en-US" dirty="0"/>
              <a:t>User profile based on activity</a:t>
            </a:r>
          </a:p>
          <a:p>
            <a:pPr lvl="1"/>
            <a:r>
              <a:rPr lang="en-US" dirty="0"/>
              <a:t>Searches (natural language)</a:t>
            </a:r>
          </a:p>
          <a:p>
            <a:pPr lvl="1"/>
            <a:r>
              <a:rPr lang="en-US" dirty="0"/>
              <a:t>Click-through (binary)</a:t>
            </a:r>
          </a:p>
          <a:p>
            <a:pPr lvl="1"/>
            <a:r>
              <a:rPr lang="en-US" dirty="0"/>
              <a:t>Purchases (binary)</a:t>
            </a:r>
          </a:p>
          <a:p>
            <a:pPr lvl="1"/>
            <a:r>
              <a:rPr lang="en-US" dirty="0"/>
              <a:t>Ratings (ordinal)</a:t>
            </a:r>
          </a:p>
          <a:p>
            <a:pPr lvl="1"/>
            <a:r>
              <a:rPr lang="en-US" dirty="0"/>
              <a:t>Can combine data types, concatenate embeddings </a:t>
            </a:r>
          </a:p>
          <a:p>
            <a:r>
              <a:rPr lang="en-US" dirty="0">
                <a:hlinkClick r:id="rId2"/>
              </a:rPr>
              <a:t>Amazon uses mini-hashing, Luo, 2022, </a:t>
            </a:r>
            <a:r>
              <a:rPr lang="en-US" dirty="0"/>
              <a:t>for large scale Item similarity search  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14" y="1078072"/>
            <a:ext cx="11263231" cy="523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14 Best People Public Domain images | Silhouette, Image, Human silhouette">
            <a:extLst>
              <a:ext uri="{FF2B5EF4-FFF2-40B4-BE49-F238E27FC236}">
                <a16:creationId xmlns:a16="http://schemas.microsoft.com/office/drawing/2014/main" id="{86277AE8-A377-4213-B6D6-F67F3640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061" y="1872462"/>
            <a:ext cx="1356826" cy="113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3FFBC8-E5F8-451B-AB0F-A33B2A6BD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080" y="4899621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n on Food and drink vectors in public domain">
            <a:extLst>
              <a:ext uri="{FF2B5EF4-FFF2-40B4-BE49-F238E27FC236}">
                <a16:creationId xmlns:a16="http://schemas.microsoft.com/office/drawing/2014/main" id="{D01855B7-C2FB-4733-9688-ACD3779F7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-2149" r="13691" b="16343"/>
          <a:stretch/>
        </p:blipFill>
        <p:spPr bwMode="auto">
          <a:xfrm>
            <a:off x="7745235" y="4846601"/>
            <a:ext cx="862148" cy="107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ort bottle silhouette fitness equipment Vector Image">
            <a:extLst>
              <a:ext uri="{FF2B5EF4-FFF2-40B4-BE49-F238E27FC236}">
                <a16:creationId xmlns:a16="http://schemas.microsoft.com/office/drawing/2014/main" id="{5AEA7475-4EB4-4ED6-95A6-BE86AA7A7B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9469531" y="4828011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port bottle water solid icon hydro flask Vector Image">
            <a:extLst>
              <a:ext uri="{FF2B5EF4-FFF2-40B4-BE49-F238E27FC236}">
                <a16:creationId xmlns:a16="http://schemas.microsoft.com/office/drawing/2014/main" id="{FA1C0892-BE43-4637-97E2-E1095AC2A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7" t="21250" r="27664" b="23493"/>
          <a:stretch/>
        </p:blipFill>
        <p:spPr bwMode="auto">
          <a:xfrm>
            <a:off x="8607383" y="4708800"/>
            <a:ext cx="1029355" cy="144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B554F33-035B-4E5E-B8BE-C24CCDE0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974" y="1963346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FA4BE12-1F67-42B1-A3D8-C22C0CFA1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54" y="4938854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Sport bottle silhouette fitness equipment Vector Image">
            <a:extLst>
              <a:ext uri="{FF2B5EF4-FFF2-40B4-BE49-F238E27FC236}">
                <a16:creationId xmlns:a16="http://schemas.microsoft.com/office/drawing/2014/main" id="{0F640782-C90D-4AC3-99BF-74A566A37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1235998" y="4867465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7189EF0-4B51-421F-8CDF-EC764A10ECCB}"/>
              </a:ext>
            </a:extLst>
          </p:cNvPr>
          <p:cNvSpPr/>
          <p:nvPr/>
        </p:nvSpPr>
        <p:spPr>
          <a:xfrm>
            <a:off x="2779775" y="2373572"/>
            <a:ext cx="5925311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3A4F91C-7B2F-472C-AF03-842DEB7105AE}"/>
              </a:ext>
            </a:extLst>
          </p:cNvPr>
          <p:cNvSpPr/>
          <p:nvPr/>
        </p:nvSpPr>
        <p:spPr>
          <a:xfrm rot="5400000">
            <a:off x="8381869" y="3685713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B080C8-5DD0-4125-AC7D-E432DC30D1FC}"/>
              </a:ext>
            </a:extLst>
          </p:cNvPr>
          <p:cNvSpPr/>
          <p:nvPr/>
        </p:nvSpPr>
        <p:spPr>
          <a:xfrm rot="10800000">
            <a:off x="2781106" y="5393111"/>
            <a:ext cx="4732649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44CBB74-1112-4CB6-94EE-4AAE0C52E150}"/>
              </a:ext>
            </a:extLst>
          </p:cNvPr>
          <p:cNvSpPr/>
          <p:nvPr/>
        </p:nvSpPr>
        <p:spPr>
          <a:xfrm rot="16200000">
            <a:off x="1218322" y="3743921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A51C2-7207-45EB-A065-BBB589987E77}"/>
              </a:ext>
            </a:extLst>
          </p:cNvPr>
          <p:cNvSpPr txBox="1"/>
          <p:nvPr/>
        </p:nvSpPr>
        <p:spPr>
          <a:xfrm>
            <a:off x="2778736" y="1635084"/>
            <a:ext cx="5828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profile of searchers, purchases and ratings of bicycle water bottles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6D0D6-E48B-45D6-B58F-BD075535F08B}"/>
              </a:ext>
            </a:extLst>
          </p:cNvPr>
          <p:cNvSpPr txBox="1"/>
          <p:nvPr/>
        </p:nvSpPr>
        <p:spPr>
          <a:xfrm>
            <a:off x="2895203" y="5659207"/>
            <a:ext cx="461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Filter on k highest similarity between user and item profiles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FF296-D31D-4ACC-A718-397BE3FC3EC5}"/>
              </a:ext>
            </a:extLst>
          </p:cNvPr>
          <p:cNvSpPr txBox="1"/>
          <p:nvPr/>
        </p:nvSpPr>
        <p:spPr>
          <a:xfrm>
            <a:off x="2067584" y="3302353"/>
            <a:ext cx="211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Present recommended</a:t>
            </a:r>
          </a:p>
          <a:p>
            <a:pPr algn="ctr"/>
            <a:r>
              <a:rPr lang="en-US" sz="24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E02F3-7EC5-4256-B8EC-0D2D8BB549F4}"/>
              </a:ext>
            </a:extLst>
          </p:cNvPr>
          <p:cNvSpPr txBox="1"/>
          <p:nvPr/>
        </p:nvSpPr>
        <p:spPr>
          <a:xfrm>
            <a:off x="6096000" y="3302353"/>
            <a:ext cx="2884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Many possible similar items from item descriptions (choices)</a:t>
            </a:r>
          </a:p>
        </p:txBody>
      </p:sp>
    </p:spTree>
    <p:extLst>
      <p:ext uri="{BB962C8B-B14F-4D97-AF65-F5344CB8AC3E}">
        <p14:creationId xmlns:p14="http://schemas.microsoft.com/office/powerpoint/2010/main" val="340981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6" grpId="0"/>
      <p:bldP spid="19" grpId="0"/>
      <p:bldP spid="20" grpId="0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Extracting consistent item characteristics can be difficult</a:t>
            </a:r>
          </a:p>
          <a:p>
            <a:r>
              <a:rPr lang="en-US" dirty="0"/>
              <a:t>Descriptions often inconsistent, incomplete or missing</a:t>
            </a:r>
          </a:p>
          <a:p>
            <a:pPr lvl="1"/>
            <a:r>
              <a:rPr lang="en-US" dirty="0"/>
              <a:t>Different sources code and format characteristics differently</a:t>
            </a:r>
          </a:p>
          <a:p>
            <a:pPr lvl="1"/>
            <a:r>
              <a:rPr lang="en-US" dirty="0"/>
              <a:t>Integrate categorical and numerical characteristics </a:t>
            </a:r>
          </a:p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Use dense embedding</a:t>
            </a:r>
          </a:p>
          <a:p>
            <a:r>
              <a:rPr lang="en-US" dirty="0"/>
              <a:t>Unstructured text descriptions</a:t>
            </a:r>
          </a:p>
          <a:p>
            <a:pPr lvl="1"/>
            <a:r>
              <a:rPr lang="en-US" dirty="0"/>
              <a:t>Use neural embedding of natural language</a:t>
            </a:r>
          </a:p>
          <a:p>
            <a:r>
              <a:rPr lang="en-US" dirty="0"/>
              <a:t>Use </a:t>
            </a:r>
            <a:r>
              <a:rPr lang="en-US" b="1" dirty="0"/>
              <a:t>embedding space </a:t>
            </a:r>
            <a:r>
              <a:rPr lang="en-US" dirty="0"/>
              <a:t>for similarity search 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0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build a </a:t>
                </a:r>
                <a:r>
                  <a:rPr lang="en-US" b="1" dirty="0"/>
                  <a:t>content-based recommender?</a:t>
                </a:r>
                <a:endParaRPr lang="en-US" dirty="0"/>
              </a:p>
              <a:p>
                <a:r>
                  <a:rPr lang="en-US" dirty="0"/>
                  <a:t>Recommend items with highest measures of similarity</a:t>
                </a:r>
              </a:p>
              <a:p>
                <a:pPr lvl="1"/>
                <a:r>
                  <a:rPr lang="en-US" dirty="0"/>
                  <a:t>Jaccard similarity – binary profiles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Cosign similarity –commonly used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Pearson’s correlation – widely used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′)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Similarity has limitations</a:t>
                </a:r>
              </a:p>
              <a:p>
                <a:pPr lvl="1"/>
                <a:r>
                  <a:rPr lang="en-US" dirty="0"/>
                  <a:t>Assumes item and user profiles consistently coded</a:t>
                </a:r>
              </a:p>
              <a:p>
                <a:pPr lvl="1"/>
                <a:r>
                  <a:rPr lang="en-US" dirty="0"/>
                  <a:t>Similarity by characteristics may not be how humans understand relationships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  <a:blipFill>
                <a:blip r:embed="rId2"/>
                <a:stretch>
                  <a:fillRect l="-1217" t="-2461" r="-580" b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8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of content-based recommenders</a:t>
            </a:r>
          </a:p>
          <a:p>
            <a:r>
              <a:rPr lang="en-US" dirty="0"/>
              <a:t>No need for data on other users, e.g. ratings</a:t>
            </a:r>
          </a:p>
          <a:p>
            <a:r>
              <a:rPr lang="en-US" dirty="0"/>
              <a:t>Recommend new and unpopular item by profile alone</a:t>
            </a:r>
          </a:p>
          <a:p>
            <a:pPr lvl="1"/>
            <a:r>
              <a:rPr lang="en-US" dirty="0"/>
              <a:t>No cold start problem for items</a:t>
            </a:r>
          </a:p>
          <a:p>
            <a:r>
              <a:rPr lang="en-US" dirty="0"/>
              <a:t>Works for users with unusual tastes</a:t>
            </a:r>
          </a:p>
          <a:p>
            <a:pPr lvl="1"/>
            <a:r>
              <a:rPr lang="en-US" dirty="0"/>
              <a:t>No first-rater problem</a:t>
            </a:r>
          </a:p>
          <a:p>
            <a:r>
              <a:rPr lang="en-US" dirty="0"/>
              <a:t>Outcome is explainable</a:t>
            </a:r>
          </a:p>
          <a:p>
            <a:pPr lvl="1"/>
            <a:r>
              <a:rPr lang="en-US" dirty="0"/>
              <a:t>Easy to understand ranking by similarity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5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 of content-based recommenders</a:t>
            </a:r>
          </a:p>
          <a:p>
            <a:r>
              <a:rPr lang="en-US" dirty="0"/>
              <a:t>Finding features for profile is hard </a:t>
            </a:r>
          </a:p>
          <a:p>
            <a:pPr lvl="1"/>
            <a:r>
              <a:rPr lang="en-US" dirty="0"/>
              <a:t>Inconsistent descriptions</a:t>
            </a:r>
          </a:p>
          <a:p>
            <a:pPr lvl="1"/>
            <a:r>
              <a:rPr lang="en-US" dirty="0"/>
              <a:t>Information in unstructured data; text, images</a:t>
            </a:r>
          </a:p>
          <a:p>
            <a:r>
              <a:rPr lang="en-US" dirty="0"/>
              <a:t>Cold start problem for new user with no profile</a:t>
            </a:r>
          </a:p>
          <a:p>
            <a:r>
              <a:rPr lang="en-US" dirty="0"/>
              <a:t>Can give over-specialized recommendations</a:t>
            </a:r>
          </a:p>
          <a:p>
            <a:pPr lvl="1"/>
            <a:r>
              <a:rPr lang="en-US" dirty="0"/>
              <a:t>Will never find item without similarity to user search</a:t>
            </a:r>
          </a:p>
          <a:p>
            <a:pPr lvl="1"/>
            <a:r>
              <a:rPr lang="en-US" dirty="0"/>
              <a:t>Does not account for user with multiple interests</a:t>
            </a:r>
          </a:p>
          <a:p>
            <a:pPr lvl="1"/>
            <a:r>
              <a:rPr lang="en-US" dirty="0"/>
              <a:t>Does not use information from other users; e.g. ratings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2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Collaborative Filtering </a:t>
            </a:r>
          </a:p>
        </p:txBody>
      </p:sp>
    </p:spTree>
    <p:extLst>
      <p:ext uri="{BB962C8B-B14F-4D97-AF65-F5344CB8AC3E}">
        <p14:creationId xmlns:p14="http://schemas.microsoft.com/office/powerpoint/2010/main" val="28769376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742E-2371-A06D-04F8-9DCD4622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B3D76-25D1-751F-0862-640BCED9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7426A-21B2-3BF2-C9C6-21D85283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8C79-36EF-D202-7D20-32853AC41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4621E-BE25-D609-6477-44C156C6D58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A4BE73-8C57-56AC-9B1B-D505A111C04A}"/>
              </a:ext>
            </a:extLst>
          </p:cNvPr>
          <p:cNvSpPr/>
          <p:nvPr/>
        </p:nvSpPr>
        <p:spPr>
          <a:xfrm rot="17995006">
            <a:off x="2846823" y="1128056"/>
            <a:ext cx="1072910" cy="578489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6E7973-B3BE-AC1E-3F42-8D32BE3D2CA3}"/>
              </a:ext>
            </a:extLst>
          </p:cNvPr>
          <p:cNvSpPr/>
          <p:nvPr/>
        </p:nvSpPr>
        <p:spPr>
          <a:xfrm rot="16200000">
            <a:off x="5107786" y="4359118"/>
            <a:ext cx="794644" cy="332301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88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collaborative filtering </a:t>
                </a:r>
                <a:r>
                  <a:rPr lang="en-US" dirty="0"/>
                  <a:t>computes similarity weighted average rating between </a:t>
                </a:r>
                <a:r>
                  <a:rPr lang="en-US" b="1" dirty="0"/>
                  <a:t>nearest neighbors </a:t>
                </a:r>
              </a:p>
              <a:p>
                <a:r>
                  <a:rPr lang="en-US" dirty="0"/>
                  <a:t>Uses a measure of </a:t>
                </a:r>
                <a:r>
                  <a:rPr lang="en-US" b="1" dirty="0"/>
                  <a:t>similarity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b="1" dirty="0"/>
                  <a:t>unsupervised nearest neighbor search </a:t>
                </a:r>
              </a:p>
              <a:p>
                <a:r>
                  <a:rPr lang="en-US" dirty="0"/>
                  <a:t>Can measure similarity two ways</a:t>
                </a:r>
              </a:p>
              <a:p>
                <a:pPr lvl="1"/>
                <a:r>
                  <a:rPr lang="en-US" dirty="0"/>
                  <a:t>User-User</a:t>
                </a:r>
              </a:p>
              <a:p>
                <a:pPr lvl="1"/>
                <a:r>
                  <a:rPr lang="en-US" dirty="0"/>
                  <a:t>Item-Item</a:t>
                </a:r>
              </a:p>
              <a:p>
                <a:pPr lvl="1"/>
                <a:r>
                  <a:rPr lang="en-US" dirty="0"/>
                  <a:t>We focus on item-item, since generally works better in practice</a:t>
                </a:r>
              </a:p>
              <a:p>
                <a:r>
                  <a:rPr lang="en-US" dirty="0"/>
                  <a:t>Prediction by filtering for k highest similarity, and estimate rating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35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3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collaborative filtering</a:t>
            </a:r>
          </a:p>
          <a:p>
            <a:r>
              <a:rPr lang="en-US" dirty="0"/>
              <a:t>Start with a utility matrix</a:t>
            </a:r>
          </a:p>
          <a:p>
            <a:r>
              <a:rPr lang="en-US" dirty="0"/>
              <a:t>Here we use ratings, but can use feature embeddings with same basic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97958"/>
              </p:ext>
            </p:extLst>
          </p:nvPr>
        </p:nvGraphicFramePr>
        <p:xfrm>
          <a:off x="623969" y="3829887"/>
          <a:ext cx="6950812" cy="258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</a:tblGrid>
              <a:tr h="2649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487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04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collaborative filtering</a:t>
            </a:r>
          </a:p>
          <a:p>
            <a:r>
              <a:rPr lang="en-US" dirty="0"/>
              <a:t>Want to predict </a:t>
            </a:r>
            <a:r>
              <a:rPr lang="en-US" b="1" dirty="0"/>
              <a:t>implied rating</a:t>
            </a:r>
            <a:r>
              <a:rPr lang="en-US" dirty="0"/>
              <a:t> for user 7 of item 1</a:t>
            </a:r>
          </a:p>
          <a:p>
            <a:r>
              <a:rPr lang="en-US" dirty="0"/>
              <a:t>Compute the mean and Variance of the item ratings</a:t>
            </a:r>
          </a:p>
          <a:p>
            <a:r>
              <a:rPr lang="en-US" dirty="0"/>
              <a:t>Subtract mean rating from item rating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04174"/>
              </p:ext>
            </p:extLst>
          </p:nvPr>
        </p:nvGraphicFramePr>
        <p:xfrm>
          <a:off x="623969" y="3829887"/>
          <a:ext cx="10515600" cy="270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419606">
                  <a:extLst>
                    <a:ext uri="{9D8B030D-6E8A-4147-A177-3AD203B41FA5}">
                      <a16:colId xmlns:a16="http://schemas.microsoft.com/office/drawing/2014/main" val="1884601115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Mean Rating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Variance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2.80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3927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1.71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1.8</a:t>
                      </a: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1.30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1842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collaborative filtering</a:t>
            </a:r>
          </a:p>
          <a:p>
            <a:r>
              <a:rPr lang="en-US" dirty="0"/>
              <a:t>Compute Pearson’s Correlation between item 1 ratings and other items </a:t>
            </a:r>
          </a:p>
          <a:p>
            <a:r>
              <a:rPr lang="en-US" dirty="0"/>
              <a:t>Two items have high correlation similarity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27217" y="437388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213847" y="294632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309322"/>
              </p:ext>
            </p:extLst>
          </p:nvPr>
        </p:nvGraphicFramePr>
        <p:xfrm>
          <a:off x="775446" y="3429000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0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9"/>
            <a:ext cx="10515600" cy="1326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collaborative filtering</a:t>
            </a:r>
          </a:p>
          <a:p>
            <a:r>
              <a:rPr lang="en-US" dirty="0"/>
              <a:t>Compute weighted rating = (0.84*2 + 1.0*3)/(0.84+1.0) = </a:t>
            </a:r>
            <a:r>
              <a:rPr lang="en-US" b="1" dirty="0"/>
              <a:t>2.54</a:t>
            </a: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203739" y="402981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444803" y="260224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406A42-91FF-48AF-87A0-DBFDB39A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81086"/>
              </p:ext>
            </p:extLst>
          </p:nvPr>
        </p:nvGraphicFramePr>
        <p:xfrm>
          <a:off x="950157" y="3248247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4087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Collaborative filtering computes similarity weighted average rating</a:t>
                </a:r>
              </a:p>
              <a:p>
                <a:r>
                  <a:rPr lang="en-US" dirty="0"/>
                  <a:t>Could we use some other weighting other than similarity, w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Prediction by filtering for k highest weights, and estimate rating: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find optimal weights by minimizing MSE with gradient descent</a:t>
                </a:r>
              </a:p>
              <a:p>
                <a:pPr lvl="1"/>
                <a:r>
                  <a:rPr lang="en-US" dirty="0"/>
                  <a:t>Can include baseline terms</a:t>
                </a:r>
              </a:p>
              <a:p>
                <a:pPr lvl="1"/>
                <a:r>
                  <a:rPr lang="en-US" dirty="0"/>
                  <a:t>Will take up gradient decent later</a:t>
                </a:r>
              </a:p>
              <a:p>
                <a:r>
                  <a:rPr lang="en-US" dirty="0"/>
                  <a:t>Or use neural collaborative filtering, </a:t>
                </a:r>
                <a:r>
                  <a:rPr lang="en-US" dirty="0">
                    <a:hlinkClick r:id="rId2"/>
                  </a:rPr>
                  <a:t>He, et. el., 2017</a:t>
                </a:r>
                <a:r>
                  <a:rPr lang="en-US" dirty="0"/>
                  <a:t>, to learn optimal weights </a:t>
                </a: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3"/>
                <a:stretch>
                  <a:fillRect l="-1159" t="-246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7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Evaluating Recommenders</a:t>
            </a:r>
          </a:p>
        </p:txBody>
      </p:sp>
    </p:spTree>
    <p:extLst>
      <p:ext uri="{BB962C8B-B14F-4D97-AF65-F5344CB8AC3E}">
        <p14:creationId xmlns:p14="http://schemas.microsoft.com/office/powerpoint/2010/main" val="3114923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evaluate and compare the performance of recommender systems?</a:t>
                </a:r>
              </a:p>
              <a:p>
                <a:r>
                  <a:rPr lang="en-US" dirty="0"/>
                  <a:t>Compare actual ratings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r>
                  <a:rPr lang="en-US" dirty="0"/>
                  <a:t>, to the predicted rating,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Follows supervised learning evaluation process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  <a:blipFill>
                <a:blip r:embed="rId2"/>
                <a:stretch>
                  <a:fillRect l="-1080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C78B94-5AB1-430D-915C-1FDBE7A28BF2}"/>
              </a:ext>
            </a:extLst>
          </p:cNvPr>
          <p:cNvSpPr txBox="1">
            <a:spLocks/>
          </p:cNvSpPr>
          <p:nvPr/>
        </p:nvSpPr>
        <p:spPr>
          <a:xfrm>
            <a:off x="4815523" y="3392982"/>
            <a:ext cx="7270232" cy="3099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Compare estimated rating to actual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evaluation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full data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Hold back Bernoulli sampled fraction of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using metric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0F5926-38D3-44ED-BAAB-A08528500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87177"/>
              </p:ext>
            </p:extLst>
          </p:nvPr>
        </p:nvGraphicFramePr>
        <p:xfrm>
          <a:off x="887869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2000958" y="3067129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31940" y="467709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08987B-A8C8-45D3-9842-03D904DE9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29502"/>
              </p:ext>
            </p:extLst>
          </p:nvPr>
        </p:nvGraphicFramePr>
        <p:xfrm>
          <a:off x="887868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0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Which evaluation metrics can we use? </a:t>
                </a:r>
              </a:p>
              <a:p>
                <a:r>
                  <a:rPr lang="en-US" dirty="0"/>
                  <a:t>Could compare ratings pair-wise by items or users</a:t>
                </a:r>
              </a:p>
              <a:p>
                <a:pPr lvl="1"/>
                <a:r>
                  <a:rPr lang="en-US" dirty="0"/>
                  <a:t>Average cosign similarity</a:t>
                </a:r>
              </a:p>
              <a:p>
                <a:pPr lvl="1"/>
                <a:r>
                  <a:rPr lang="en-US" dirty="0"/>
                  <a:t>Average Pearson’s correlation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r>
                  <a:rPr lang="en-US" dirty="0"/>
                  <a:t>Example: </a:t>
                </a:r>
                <a:r>
                  <a:rPr lang="en-US" b="1" dirty="0"/>
                  <a:t>root mean squared error, RMSE</a:t>
                </a:r>
              </a:p>
              <a:p>
                <a:pPr lvl="1"/>
                <a:r>
                  <a:rPr lang="en-US" dirty="0"/>
                  <a:t>Most widely used</a:t>
                </a:r>
              </a:p>
              <a:p>
                <a:pPr lvl="1"/>
                <a:r>
                  <a:rPr lang="en-US" dirty="0"/>
                  <a:t>Assumes algorithm is </a:t>
                </a:r>
                <a:r>
                  <a:rPr lang="en-US" b="1" dirty="0"/>
                  <a:t>MLE</a:t>
                </a:r>
              </a:p>
              <a:p>
                <a:pPr lvl="1"/>
                <a:r>
                  <a:rPr lang="en-US" dirty="0"/>
                  <a:t>Fast to compute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user, </a:t>
                </a:r>
                <a:r>
                  <a:rPr lang="en-US" i="1" dirty="0"/>
                  <a:t>x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  <a:blipFill>
                <a:blip r:embed="rId2"/>
                <a:stretch>
                  <a:fillRect l="-1744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1844204" y="181507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-124814" y="342503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3993A2-0B8A-424E-8A5B-95D40E9E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18384"/>
              </p:ext>
            </p:extLst>
          </p:nvPr>
        </p:nvGraphicFramePr>
        <p:xfrm>
          <a:off x="731114" y="2384437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67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Recall at K and precision at K measure fraction of correct </a:t>
                </a:r>
                <a:r>
                  <a:rPr lang="en-US" dirty="0" err="1"/>
                  <a:t>recommedations</a:t>
                </a:r>
                <a:r>
                  <a:rPr lang="en-US" dirty="0"/>
                  <a:t>  </a:t>
                </a:r>
              </a:p>
              <a:p>
                <a:r>
                  <a:rPr lang="en-US" dirty="0"/>
                  <a:t>Based on predictions for random held-back sample </a:t>
                </a:r>
              </a:p>
              <a:p>
                <a:r>
                  <a:rPr lang="en-US" dirty="0"/>
                  <a:t>Recall at 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𝑟𝑒𝑙𝑖𝑣𝑒𝑛𝑡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𝑖𝑡𝑒𝑚𝑠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𝑟𝑒𝑙𝑖𝑣𝑒𝑛𝑡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𝑖𝑡𝑒𝑚𝑠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  <a:p>
                <a:r>
                  <a:rPr lang="en-US" dirty="0"/>
                  <a:t>Precision at 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𝑟𝑒𝑙𝑖𝑣𝑒𝑛𝑡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𝑖𝑡𝑒𝑚𝑠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𝑡𝑜𝑝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  <a:p>
                <a:r>
                  <a:rPr lang="en-US" dirty="0"/>
                  <a:t>Example: 3 of next 5 movies user watches from 10 recommended: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@10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@10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043" t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7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apply </a:t>
            </a:r>
            <a:r>
              <a:rPr lang="en-US" b="1" dirty="0"/>
              <a:t>cross validation </a:t>
            </a:r>
            <a:r>
              <a:rPr lang="en-US" dirty="0"/>
              <a:t>to recommender algorithms?</a:t>
            </a:r>
          </a:p>
          <a:p>
            <a:r>
              <a:rPr lang="en-US" dirty="0"/>
              <a:t>Yes! Use </a:t>
            </a:r>
            <a:r>
              <a:rPr lang="en-US" b="1" dirty="0"/>
              <a:t>K-fold CV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Randomly sample data into K-folds (subsets)</a:t>
            </a:r>
          </a:p>
          <a:p>
            <a:pPr lvl="1"/>
            <a:r>
              <a:rPr lang="en-US" dirty="0"/>
              <a:t>Round robin hold back one fold for evaluation and train model on K-1 folds</a:t>
            </a:r>
          </a:p>
          <a:p>
            <a:pPr lvl="1"/>
            <a:r>
              <a:rPr lang="en-US" dirty="0"/>
              <a:t>Base evaluation on mean and variance of K performance metric sets  </a:t>
            </a:r>
          </a:p>
          <a:p>
            <a:r>
              <a:rPr lang="en-US" dirty="0"/>
              <a:t>CV is an effective tool for comparing performance of models</a:t>
            </a:r>
          </a:p>
          <a:p>
            <a:r>
              <a:rPr lang="en-US" dirty="0"/>
              <a:t>In theory, can use </a:t>
            </a:r>
            <a:r>
              <a:rPr lang="en-US" b="1" dirty="0"/>
              <a:t>nested CV</a:t>
            </a:r>
            <a:r>
              <a:rPr lang="en-US" dirty="0"/>
              <a:t> for hyperparameter search</a:t>
            </a:r>
          </a:p>
          <a:p>
            <a:pPr lvl="1"/>
            <a:r>
              <a:rPr lang="en-US" dirty="0"/>
              <a:t>But computation can be prohibitive – data can be massive</a:t>
            </a:r>
          </a:p>
          <a:p>
            <a:pPr lvl="1"/>
            <a:r>
              <a:rPr lang="en-US" dirty="0"/>
              <a:t>Can limit folds and number of hyperparameter values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3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Variable Models</a:t>
            </a:r>
          </a:p>
        </p:txBody>
      </p:sp>
    </p:spTree>
    <p:extLst>
      <p:ext uri="{BB962C8B-B14F-4D97-AF65-F5344CB8AC3E}">
        <p14:creationId xmlns:p14="http://schemas.microsoft.com/office/powerpoint/2010/main" val="40562688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11EE-7E2E-0FCB-0B3E-CB043DCA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E3F698-02AC-A1C6-E60E-C21D0956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D17614-D456-A518-4522-EA94A1C2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5AF7-E88B-55A4-7DF7-2A987BB0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49E3B-5B81-63AB-425A-EF895714544D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E3F51E-9BCA-4683-AC32-337D9A53609B}"/>
              </a:ext>
            </a:extLst>
          </p:cNvPr>
          <p:cNvSpPr/>
          <p:nvPr/>
        </p:nvSpPr>
        <p:spPr>
          <a:xfrm rot="20284361">
            <a:off x="1113604" y="2072482"/>
            <a:ext cx="2071725" cy="464270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48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machine learning models</a:t>
            </a:r>
          </a:p>
          <a:p>
            <a:r>
              <a:rPr lang="en-US" dirty="0"/>
              <a:t>Latent variables are </a:t>
            </a:r>
            <a:r>
              <a:rPr lang="en-US" b="1" dirty="0"/>
              <a:t>low-dimensional and dense embedding </a:t>
            </a:r>
            <a:r>
              <a:rPr lang="en-US" dirty="0"/>
              <a:t>of the spare response data        </a:t>
            </a:r>
          </a:p>
          <a:p>
            <a:r>
              <a:rPr lang="en-US" dirty="0"/>
              <a:t>Data values can be dense or sparse  </a:t>
            </a:r>
          </a:p>
          <a:p>
            <a:pPr lvl="1"/>
            <a:r>
              <a:rPr lang="en-US" dirty="0"/>
              <a:t>Example, numeric features are typically dense   </a:t>
            </a:r>
          </a:p>
          <a:p>
            <a:pPr lvl="1"/>
            <a:r>
              <a:rPr lang="en-US" dirty="0"/>
              <a:t>Categorical features with high dimensionality are sparsely coded  </a:t>
            </a:r>
          </a:p>
          <a:p>
            <a:r>
              <a:rPr lang="en-US" dirty="0"/>
              <a:t>Negative sampling bias results in few positive responses    </a:t>
            </a:r>
          </a:p>
          <a:p>
            <a:pPr lvl="1"/>
            <a:r>
              <a:rPr lang="en-US" dirty="0"/>
              <a:t>Imbalanced training cases  </a:t>
            </a:r>
          </a:p>
          <a:p>
            <a:r>
              <a:rPr lang="en-US" dirty="0"/>
              <a:t>An </a:t>
            </a:r>
            <a:r>
              <a:rPr lang="en-US" b="1" dirty="0"/>
              <a:t>embedding space </a:t>
            </a:r>
            <a:r>
              <a:rPr lang="en-US" dirty="0"/>
              <a:t>used to overcome these problems </a:t>
            </a:r>
          </a:p>
          <a:p>
            <a:pPr lvl="1"/>
            <a:r>
              <a:rPr lang="en-US" dirty="0"/>
              <a:t>Embedding spaces contain latent factors</a:t>
            </a:r>
          </a:p>
          <a:p>
            <a:pPr lvl="1"/>
            <a:r>
              <a:rPr lang="en-US" dirty="0"/>
              <a:t>Latent factors that are not observable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Uses a </a:t>
            </a:r>
            <a:r>
              <a:rPr lang="en-US" b="1" dirty="0"/>
              <a:t>unsupervised non-negative matrix decomposition </a:t>
            </a:r>
            <a:r>
              <a:rPr lang="en-US" dirty="0"/>
              <a:t>of the utility matrix</a:t>
            </a:r>
          </a:p>
          <a:p>
            <a:r>
              <a:rPr lang="en-US" dirty="0"/>
              <a:t>Compute missing ratings from matrix decomposition</a:t>
            </a:r>
          </a:p>
          <a:p>
            <a:r>
              <a:rPr lang="en-US" dirty="0"/>
              <a:t>But, need a trick!</a:t>
            </a:r>
          </a:p>
          <a:p>
            <a:pPr lvl="1"/>
            <a:r>
              <a:rPr lang="en-US" dirty="0"/>
              <a:t>Utility matrix is not square: wide, n users by m items</a:t>
            </a:r>
          </a:p>
          <a:p>
            <a:pPr lvl="1"/>
            <a:r>
              <a:rPr lang="en-US" dirty="0"/>
              <a:t>Typically, n &lt;&lt; m, or sometimes m &lt; n</a:t>
            </a:r>
          </a:p>
          <a:p>
            <a:pPr lvl="1"/>
            <a:r>
              <a:rPr lang="en-US" dirty="0"/>
              <a:t>Many missing values, negative sample bias </a:t>
            </a:r>
          </a:p>
          <a:p>
            <a:pPr lvl="1"/>
            <a:r>
              <a:rPr lang="en-US" dirty="0"/>
              <a:t>Standard SVD biased by 0 filling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78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What are factor models? </a:t>
            </a:r>
          </a:p>
          <a:p>
            <a:r>
              <a:rPr lang="en-US" b="1" dirty="0"/>
              <a:t>Statistical factor models </a:t>
            </a:r>
            <a:r>
              <a:rPr lang="en-US" dirty="0"/>
              <a:t>attempt to </a:t>
            </a:r>
            <a:r>
              <a:rPr lang="en-US" b="1" dirty="0"/>
              <a:t>explain data </a:t>
            </a:r>
            <a:endParaRPr lang="en-US" dirty="0"/>
          </a:p>
          <a:p>
            <a:pPr lvl="1"/>
            <a:r>
              <a:rPr lang="en-US" dirty="0"/>
              <a:t>Factors define </a:t>
            </a:r>
            <a:r>
              <a:rPr lang="en-US" b="1" dirty="0"/>
              <a:t>a low-dimensional embedding space</a:t>
            </a:r>
          </a:p>
          <a:p>
            <a:pPr lvl="1"/>
            <a:r>
              <a:rPr lang="en-US" dirty="0"/>
              <a:t>Embeddings are </a:t>
            </a:r>
            <a:r>
              <a:rPr lang="en-US" b="1" dirty="0"/>
              <a:t>explanatory factors</a:t>
            </a:r>
          </a:p>
          <a:p>
            <a:pPr lvl="1"/>
            <a:r>
              <a:rPr lang="en-US" dirty="0"/>
              <a:t>Algorithm learns </a:t>
            </a:r>
            <a:r>
              <a:rPr lang="en-US" b="1" dirty="0"/>
              <a:t>factor weights</a:t>
            </a:r>
          </a:p>
          <a:p>
            <a:r>
              <a:rPr lang="en-US" dirty="0"/>
              <a:t>Can use </a:t>
            </a:r>
            <a:r>
              <a:rPr lang="en-US" b="1" dirty="0"/>
              <a:t>observable factors</a:t>
            </a:r>
            <a:endParaRPr lang="en-US" dirty="0"/>
          </a:p>
          <a:p>
            <a:pPr lvl="1"/>
            <a:r>
              <a:rPr lang="en-US" dirty="0"/>
              <a:t>Example; factors for film, director, writer, lead actors</a:t>
            </a:r>
          </a:p>
          <a:p>
            <a:r>
              <a:rPr lang="en-US" b="1" dirty="0"/>
              <a:t>Unobservable factors </a:t>
            </a:r>
            <a:r>
              <a:rPr lang="en-US" dirty="0"/>
              <a:t>are called </a:t>
            </a:r>
            <a:r>
              <a:rPr lang="en-US" b="1" dirty="0"/>
              <a:t>latent factors</a:t>
            </a:r>
          </a:p>
          <a:p>
            <a:pPr lvl="1"/>
            <a:r>
              <a:rPr lang="en-US" dirty="0"/>
              <a:t>Latent since these factors </a:t>
            </a:r>
            <a:r>
              <a:rPr lang="en-US" b="1" dirty="0"/>
              <a:t>cannot be observed</a:t>
            </a:r>
          </a:p>
          <a:p>
            <a:pPr lvl="1"/>
            <a:r>
              <a:rPr lang="en-US" dirty="0"/>
              <a:t>Factors weights learned from observed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67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 recommenders are powerful model</a:t>
                </a:r>
              </a:p>
              <a:p>
                <a:r>
                  <a:rPr lang="en-US" dirty="0"/>
                  <a:t>Recall </a:t>
                </a:r>
                <a:r>
                  <a:rPr lang="en-US" b="1" dirty="0"/>
                  <a:t>singular value decomposition (SVD)</a:t>
                </a:r>
                <a:r>
                  <a:rPr lang="en-US" dirty="0"/>
                  <a:t> of </a:t>
                </a:r>
                <a:r>
                  <a:rPr lang="en-US" dirty="0" err="1"/>
                  <a:t>nxm</a:t>
                </a:r>
                <a:r>
                  <a:rPr lang="en-US" dirty="0"/>
                  <a:t> matrix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SVD is an unsupervised matrix factorization</a:t>
                </a:r>
              </a:p>
              <a:p>
                <a:pPr lvl="1"/>
                <a:r>
                  <a:rPr lang="en-US" dirty="0"/>
                  <a:t> Utility matrix is not square, so no exact (eigen) decomposition</a:t>
                </a:r>
              </a:p>
              <a:p>
                <a:pPr lvl="1"/>
                <a:r>
                  <a:rPr lang="en-US" dirty="0"/>
                  <a:t>Approximate decomposition (factorization)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i="1" dirty="0"/>
              </a:p>
              <a:p>
                <a:pPr lvl="1"/>
                <a:r>
                  <a:rPr lang="en-US" i="1" dirty="0"/>
                  <a:t>U </a:t>
                </a:r>
                <a:r>
                  <a:rPr lang="en-US" dirty="0"/>
                  <a:t>is </a:t>
                </a:r>
                <a:r>
                  <a:rPr lang="en-US" i="1" dirty="0"/>
                  <a:t>m x s</a:t>
                </a:r>
                <a:r>
                  <a:rPr lang="en-US" dirty="0"/>
                  <a:t> 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left singular vectors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latin typeface="Symbol" panose="05050102010706020507" pitchFamily="18" charset="2"/>
                  </a:rPr>
                  <a:t>S</a:t>
                </a:r>
                <a:r>
                  <a:rPr lang="en-US" dirty="0"/>
                  <a:t> is diagonal matrix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singular values</a:t>
                </a:r>
              </a:p>
              <a:p>
                <a:pPr lvl="1"/>
                <a:r>
                  <a:rPr lang="en-US" i="1" dirty="0"/>
                  <a:t>V</a:t>
                </a:r>
                <a:r>
                  <a:rPr lang="en-US" dirty="0"/>
                  <a:t> is </a:t>
                </a:r>
                <a:r>
                  <a:rPr lang="en-US" i="1" dirty="0"/>
                  <a:t>n x s </a:t>
                </a:r>
                <a:r>
                  <a:rPr lang="en-US" dirty="0"/>
                  <a:t>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right singular vectors</a:t>
                </a:r>
              </a:p>
              <a:p>
                <a:r>
                  <a:rPr lang="en-US" dirty="0"/>
                  <a:t>Matrix multiplication of decomposition,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approximately reconstructs </a:t>
                </a:r>
                <a:r>
                  <a:rPr lang="en-US" i="1" dirty="0"/>
                  <a:t>A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2"/>
                <a:stretch>
                  <a:fillRect l="-115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3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SVD decomposition the on utility matrix,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Problem, SVD biased by missing values and produces negative ratings</a:t>
                </a:r>
              </a:p>
              <a:p>
                <a:r>
                  <a:rPr lang="en-US" dirty="0"/>
                  <a:t>Reconstruction of utility matrix is biased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  <a:blipFill>
                <a:blip r:embed="rId2"/>
                <a:stretch>
                  <a:fillRect l="-1159" t="-1867"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BB15E6B-04F9-4ACD-936C-E4B39626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9339"/>
              </p:ext>
            </p:extLst>
          </p:nvPr>
        </p:nvGraphicFramePr>
        <p:xfrm>
          <a:off x="1189968" y="2256166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29664"/>
              </p:ext>
            </p:extLst>
          </p:nvPr>
        </p:nvGraphicFramePr>
        <p:xfrm>
          <a:off x="9120447" y="2161896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8E3763-5349-497E-896D-21740188E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65341"/>
              </p:ext>
            </p:extLst>
          </p:nvPr>
        </p:nvGraphicFramePr>
        <p:xfrm>
          <a:off x="7198970" y="2204648"/>
          <a:ext cx="1312716" cy="131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7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</a:tblGrid>
              <a:tr h="315231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73077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70040"/>
              </p:ext>
            </p:extLst>
          </p:nvPr>
        </p:nvGraphicFramePr>
        <p:xfrm>
          <a:off x="5277492" y="2244534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/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/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/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/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8A13AB0-5CDC-445A-8066-8823E48FE52C}"/>
              </a:ext>
            </a:extLst>
          </p:cNvPr>
          <p:cNvSpPr txBox="1"/>
          <p:nvPr/>
        </p:nvSpPr>
        <p:spPr>
          <a:xfrm>
            <a:off x="2303057" y="1721314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6A090-6754-490D-B334-AE21CF62022C}"/>
              </a:ext>
            </a:extLst>
          </p:cNvPr>
          <p:cNvSpPr txBox="1"/>
          <p:nvPr/>
        </p:nvSpPr>
        <p:spPr>
          <a:xfrm rot="16200000">
            <a:off x="334039" y="333128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327855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Perform </a:t>
                </a:r>
                <a:r>
                  <a:rPr lang="en-US" b="1" dirty="0"/>
                  <a:t>non-negative factorization </a:t>
                </a:r>
                <a:r>
                  <a:rPr lang="en-US" dirty="0"/>
                  <a:t>of utility matrix,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Wait! Don’t need SVD,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Don’t care about the orthonormal properties of,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Need a decomposition that works with missing values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Use </a:t>
                </a:r>
                <a:r>
                  <a:rPr lang="en-US" b="1" dirty="0">
                    <a:ea typeface="Cambria Math" panose="02040503050406030204" pitchFamily="18" charset="0"/>
                  </a:rPr>
                  <a:t>non-negative matrix factorization</a:t>
                </a:r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Where,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  <a:blipFill>
                <a:blip r:embed="rId2"/>
                <a:stretch>
                  <a:fillRect l="-1217" t="-1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77477"/>
              </p:ext>
            </p:extLst>
          </p:nvPr>
        </p:nvGraphicFramePr>
        <p:xfrm>
          <a:off x="8223192" y="4067909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79104"/>
              </p:ext>
            </p:extLst>
          </p:nvPr>
        </p:nvGraphicFramePr>
        <p:xfrm>
          <a:off x="5529771" y="3996188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425050"/>
              </p:ext>
            </p:extLst>
          </p:nvPr>
        </p:nvGraphicFramePr>
        <p:xfrm>
          <a:off x="1178700" y="4076139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291789" y="35412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322771" y="5151253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223192" y="354128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810926" y="50973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501234" y="350103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239695" y="4491368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6891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decomposition on the utility matrix, A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How can we interpret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decomposition?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Different factors for items and users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Vectors of </a:t>
                </a:r>
                <a:r>
                  <a:rPr lang="en-US" b="1" dirty="0">
                    <a:ea typeface="Cambria Math" panose="02040503050406030204" pitchFamily="18" charset="0"/>
                  </a:rPr>
                  <a:t>explanatory factors</a:t>
                </a:r>
                <a:r>
                  <a:rPr lang="en-US" dirty="0">
                    <a:ea typeface="Cambria Math" panose="02040503050406030204" pitchFamily="18" charset="0"/>
                  </a:rPr>
                  <a:t> for the values of the utility matrix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Inner product of </a:t>
                </a:r>
                <a:r>
                  <a:rPr lang="en-US" b="1" dirty="0"/>
                  <a:t>Factor weights </a:t>
                </a:r>
                <a:r>
                  <a:rPr lang="en-US" dirty="0"/>
                  <a:t>predicts the rating values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  <a:blipFill>
                <a:blip r:embed="rId2"/>
                <a:stretch>
                  <a:fillRect l="-1043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82546"/>
              </p:ext>
            </p:extLst>
          </p:nvPr>
        </p:nvGraphicFramePr>
        <p:xfrm>
          <a:off x="8669015" y="23349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63798"/>
              </p:ext>
            </p:extLst>
          </p:nvPr>
        </p:nvGraphicFramePr>
        <p:xfrm>
          <a:off x="5975594" y="22632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42845"/>
              </p:ext>
            </p:extLst>
          </p:nvPr>
        </p:nvGraphicFramePr>
        <p:xfrm>
          <a:off x="1624523" y="23431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672084" y="183080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768594" y="34183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603487" y="183080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5256749" y="33644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881529" y="179055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685518" y="27584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211834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With 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decomposition compute rating of item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 err="1"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</a:rPr>
                  <a:t>for user </a:t>
                </a:r>
                <a:r>
                  <a:rPr lang="en-US" i="1" dirty="0">
                    <a:ea typeface="Cambria Math" panose="02040503050406030204" pitchFamily="18" charset="0"/>
                  </a:rPr>
                  <a:t>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,∙</m:t>
                        </m:r>
                      </m:sub>
                    </m:sSub>
                  </m:oMath>
                </a14:m>
                <a:r>
                  <a:rPr lang="en-US" dirty="0"/>
                  <a:t> is the vector of factor weights for item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vector of factor weights for user </a:t>
                </a:r>
                <a:r>
                  <a:rPr lang="en-US" i="1" dirty="0"/>
                  <a:t>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  <a:blipFill>
                <a:blip r:embed="rId2"/>
                <a:stretch>
                  <a:fillRect l="-1159" t="-4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75190"/>
              </p:ext>
            </p:extLst>
          </p:nvPr>
        </p:nvGraphicFramePr>
        <p:xfrm>
          <a:off x="8096486" y="36656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17236"/>
              </p:ext>
            </p:extLst>
          </p:nvPr>
        </p:nvGraphicFramePr>
        <p:xfrm>
          <a:off x="5403065" y="35939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3750"/>
              </p:ext>
            </p:extLst>
          </p:nvPr>
        </p:nvGraphicFramePr>
        <p:xfrm>
          <a:off x="1051994" y="36738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165083" y="31390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196065" y="47490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096486" y="3139036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684220" y="46951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374528" y="3098783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112989" y="40891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/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/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8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  <p:bldP spid="4" grpId="0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2F7F-ABF5-263A-4BB0-8995F910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1C8D2E9-9A8F-C864-8727-670CEB70F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Solving For Factor Weights</a:t>
            </a:r>
          </a:p>
        </p:txBody>
      </p:sp>
    </p:spTree>
    <p:extLst>
      <p:ext uri="{BB962C8B-B14F-4D97-AF65-F5344CB8AC3E}">
        <p14:creationId xmlns:p14="http://schemas.microsoft.com/office/powerpoint/2010/main" val="33375457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E5F5-DC43-8447-0B72-70E8AC4C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3F6A-D4D1-04D7-C159-B3EB0E9D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factors can be learned</a:t>
                </a:r>
              </a:p>
              <a:p>
                <a:r>
                  <a:rPr lang="en-US" dirty="0"/>
                  <a:t>Learned factorization finds optimal weights </a:t>
                </a:r>
                <a:r>
                  <a:rPr lang="en-US" b="1" dirty="0"/>
                  <a:t>minimizing a loss function</a:t>
                </a:r>
              </a:p>
              <a:p>
                <a:r>
                  <a:rPr lang="en-US" dirty="0"/>
                  <a:t>Algorithm learns latent,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factors minimize sum of squared error, the </a:t>
                </a:r>
                <a:r>
                  <a:rPr lang="en-US" b="1" dirty="0"/>
                  <a:t>least squares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use linear on neural network (nonlinear) algorithms </a:t>
                </a:r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2"/>
                <a:stretch>
                  <a:fillRect l="-115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04EA-9E8B-10A8-CA00-E0D89B20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86EDDF-F378-42E6-9DFE-6A9A15DE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A9340-B0FF-DA5F-54A1-778E2993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6430-7262-E1A8-46E0-818BA3D5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5AF06-B969-75F6-A786-056CFD44E4A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A62BA2-938C-F63F-1032-524A3CF4A5C6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84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 we compute the factor weights?</a:t>
                </a:r>
              </a:p>
              <a:p>
                <a:r>
                  <a:rPr lang="en-US" dirty="0"/>
                  <a:t>Find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that minimize squared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This problem is under-constrained</a:t>
                </a:r>
              </a:p>
              <a:p>
                <a:r>
                  <a:rPr lang="en-US" dirty="0"/>
                  <a:t>There are areas of the utility matrix that have very sparse values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  <a:blipFill>
                <a:blip r:embed="rId2"/>
                <a:stretch>
                  <a:fillRect l="-166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45DED00-D403-4BF5-AA23-0B420CD4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14380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A77C7FC-1C7B-424F-99D0-1B7C92851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159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3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least squared error problem is under constrained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Require some (L2) regularization to constrain factor weights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Is bias-variance trade-off with two hyperparameters,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greater constraint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more bias  </a:t>
                </a:r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constraint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bias</a:t>
                </a:r>
              </a:p>
              <a:p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66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Solving the minimization problem is difficult since must minimize over two matrices,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solve by </a:t>
                </a:r>
                <a:r>
                  <a:rPr lang="en-US" b="1" dirty="0"/>
                  <a:t>alternating gradient descent</a:t>
                </a:r>
                <a:r>
                  <a:rPr lang="en-US" dirty="0"/>
                  <a:t> updates</a:t>
                </a:r>
              </a:p>
              <a:p>
                <a:pPr lvl="1"/>
                <a:r>
                  <a:rPr lang="en-US" dirty="0"/>
                  <a:t>Find initial values of 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; e.g. by SVD</a:t>
                </a:r>
              </a:p>
              <a:p>
                <a:pPr lvl="1"/>
                <a:r>
                  <a:rPr lang="en-US" dirty="0"/>
                  <a:t>Alternate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Until convergence</a:t>
                </a:r>
              </a:p>
              <a:p>
                <a:pPr lvl="1"/>
                <a:r>
                  <a:rPr lang="en-US" dirty="0"/>
                  <a:t>Where first gradient component: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/>
                  <a:t> is the learning rate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6702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Need a more efficient way to perform updates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Idea: Use </a:t>
                </a:r>
                <a:r>
                  <a:rPr lang="en-US" b="1" dirty="0">
                    <a:hlinkClick r:id="rId2"/>
                  </a:rPr>
                  <a:t>stochastic gradient descent</a:t>
                </a:r>
                <a:r>
                  <a:rPr lang="en-US" b="1" dirty="0"/>
                  <a:t> (SGD)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Batch GD, requiring a double sum: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SGD can operate component-wise: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SGD approximately follows gradient at each step</a:t>
                </a:r>
              </a:p>
              <a:p>
                <a:r>
                  <a:rPr lang="en-US" dirty="0"/>
                  <a:t>Generally, SGD requires more steps, but is more efficient overall than batch GD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3"/>
                <a:stretch>
                  <a:fillRect l="-1194" t="-2597" b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30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are some properties of SGD?</a:t>
                </a:r>
              </a:p>
              <a:p>
                <a:pPr lvl="1"/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pPr lvl="1"/>
                <a:r>
                  <a:rPr lang="en-US" dirty="0"/>
                  <a:t>Gradient is computed locally</a:t>
                </a:r>
              </a:p>
              <a:p>
                <a:pPr lvl="1"/>
                <a:r>
                  <a:rPr lang="en-US" dirty="0"/>
                  <a:t>An update may not reduce global sum of square error – loss function</a:t>
                </a:r>
              </a:p>
              <a:p>
                <a:pPr lvl="1"/>
                <a:r>
                  <a:rPr lang="en-US" dirty="0"/>
                  <a:t>In practice convergence is good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6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r>
                  <a:rPr lang="en-US" dirty="0"/>
                  <a:t>Gradient is computed locally</a:t>
                </a:r>
              </a:p>
              <a:p>
                <a:r>
                  <a:rPr lang="en-US" dirty="0"/>
                  <a:t>An update may not reduce global sum of square error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  <a:blipFill>
                <a:blip r:embed="rId2"/>
                <a:stretch>
                  <a:fillRect l="-258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22DE2B1-BDBE-4C99-82F8-01DADE59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7" y="1196532"/>
            <a:ext cx="5877221" cy="461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A3287-C740-4C99-914F-D38D1F9CDB52}"/>
              </a:ext>
            </a:extLst>
          </p:cNvPr>
          <p:cNvSpPr txBox="1"/>
          <p:nvPr/>
        </p:nvSpPr>
        <p:spPr>
          <a:xfrm rot="16200000">
            <a:off x="-1809946" y="3174695"/>
            <a:ext cx="4459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Sum of Square Loss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DBE8C-B738-479F-B35C-319B7DD0A8C7}"/>
              </a:ext>
            </a:extLst>
          </p:cNvPr>
          <p:cNvSpPr txBox="1"/>
          <p:nvPr/>
        </p:nvSpPr>
        <p:spPr>
          <a:xfrm>
            <a:off x="989936" y="5843713"/>
            <a:ext cx="5338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Update steps – iterations</a:t>
            </a:r>
          </a:p>
          <a:p>
            <a:pPr algn="ctr"/>
            <a:r>
              <a:rPr lang="en-US" sz="1400" dirty="0"/>
              <a:t>Credit: </a:t>
            </a:r>
            <a:r>
              <a:rPr lang="en-US" sz="1400" dirty="0">
                <a:hlinkClick r:id="rId4"/>
              </a:rPr>
              <a:t>Wiki Commons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995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algorithm can scale massively!</a:t>
                </a:r>
              </a:p>
              <a:p>
                <a:pPr lvl="1"/>
                <a:r>
                  <a:rPr lang="en-US" dirty="0"/>
                  <a:t>Can scale to hundreds of millions of users and tens of millions of items</a:t>
                </a:r>
              </a:p>
              <a:p>
                <a:pPr lvl="1"/>
                <a:r>
                  <a:rPr lang="en-US" dirty="0"/>
                  <a:t>Manage very spare utility matrix with key-value pairs  </a:t>
                </a:r>
              </a:p>
              <a:p>
                <a:pPr lvl="1"/>
                <a:r>
                  <a:rPr lang="en-US" dirty="0"/>
                  <a:t>Use MapReduce!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15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334C-A563-6B65-CE71-E85C9A69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1683F6-6BE9-C141-B4B4-B5A9E0945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Factor Models with Baseline</a:t>
            </a:r>
          </a:p>
        </p:txBody>
      </p:sp>
    </p:spTree>
    <p:extLst>
      <p:ext uri="{BB962C8B-B14F-4D97-AF65-F5344CB8AC3E}">
        <p14:creationId xmlns:p14="http://schemas.microsoft.com/office/powerpoint/2010/main" val="39458855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Linear model parameterized by factors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Like many models, can improve by using </a:t>
                </a:r>
                <a:r>
                  <a:rPr lang="en-US" b="1" dirty="0"/>
                  <a:t>baseline</a:t>
                </a:r>
                <a:r>
                  <a:rPr lang="en-US" dirty="0"/>
                  <a:t> </a:t>
                </a:r>
                <a:endParaRPr lang="en-US" b="1" dirty="0"/>
              </a:p>
              <a:p>
                <a:pPr lvl="1"/>
                <a:r>
                  <a:rPr lang="en-US" dirty="0"/>
                  <a:t>Analogous to an intercept terms for linear regression</a:t>
                </a:r>
              </a:p>
              <a:p>
                <a:r>
                  <a:rPr lang="en-US" dirty="0"/>
                  <a:t>And:</a:t>
                </a:r>
              </a:p>
              <a:p>
                <a:pPr lvl="1"/>
                <a:r>
                  <a:rPr lang="en-US" dirty="0"/>
                  <a:t>There is a mean rating of all items</a:t>
                </a:r>
              </a:p>
              <a:p>
                <a:pPr lvl="1"/>
                <a:r>
                  <a:rPr lang="en-US" dirty="0"/>
                  <a:t>Some users have higher or lower average ratings than others</a:t>
                </a:r>
              </a:p>
              <a:p>
                <a:pPr lvl="1"/>
                <a:r>
                  <a:rPr lang="en-US" dirty="0"/>
                  <a:t>Some items get higher or lower average ratings that others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54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parameterize baseline term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global mean rating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user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item</a:t>
                </a:r>
              </a:p>
              <a:p>
                <a:r>
                  <a:rPr lang="en-US" dirty="0"/>
                  <a:t>Including a baseline term in the loss function along with regularization:</a:t>
                </a:r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 r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1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Static baseline parameters are not optimal</a:t>
                </a:r>
              </a:p>
              <a:p>
                <a:r>
                  <a:rPr lang="en-US" dirty="0"/>
                  <a:t>Average ratings change with time</a:t>
                </a:r>
              </a:p>
              <a:p>
                <a:pPr lvl="1"/>
                <a:r>
                  <a:rPr lang="en-US" dirty="0"/>
                  <a:t>Users’ movie reviews have increased over time</a:t>
                </a:r>
              </a:p>
              <a:p>
                <a:r>
                  <a:rPr lang="en-US" dirty="0"/>
                  <a:t>Item ratings change with time</a:t>
                </a:r>
              </a:p>
              <a:p>
                <a:pPr lvl="1"/>
                <a:r>
                  <a:rPr lang="en-US" dirty="0"/>
                  <a:t>Game ratings decrease following game release</a:t>
                </a:r>
              </a:p>
              <a:p>
                <a:r>
                  <a:rPr lang="en-US" dirty="0"/>
                  <a:t>Users behavior can change over time</a:t>
                </a:r>
              </a:p>
              <a:p>
                <a:r>
                  <a:rPr lang="en-US" dirty="0"/>
                  <a:t>Can parameterize baseline term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Linear trends</a:t>
                </a:r>
              </a:p>
              <a:p>
                <a:pPr lvl="1"/>
                <a:r>
                  <a:rPr lang="en-US" dirty="0"/>
                  <a:t>Quadratic trends</a:t>
                </a:r>
              </a:p>
              <a:p>
                <a:pPr lvl="1"/>
                <a:r>
                  <a:rPr lang="en-US" dirty="0"/>
                  <a:t>Nonlinear, tree models, GAMs, </a:t>
                </a:r>
                <a:r>
                  <a:rPr lang="en-US" dirty="0" err="1"/>
                  <a:t>Lowess</a:t>
                </a:r>
                <a:r>
                  <a:rPr lang="en-US" dirty="0"/>
                  <a:t>, etc.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0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State of the art recommenders require additional baseline terms</a:t>
            </a:r>
          </a:p>
          <a:p>
            <a:r>
              <a:rPr lang="en-US" dirty="0"/>
              <a:t>Peoples’ opinions differ in many systematic ways</a:t>
            </a:r>
          </a:p>
          <a:p>
            <a:pPr lvl="1"/>
            <a:r>
              <a:rPr lang="en-US" dirty="0"/>
              <a:t>Regional differences</a:t>
            </a:r>
          </a:p>
          <a:p>
            <a:pPr lvl="1"/>
            <a:r>
              <a:rPr lang="en-US" dirty="0"/>
              <a:t>Product category differences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Can add baseline terms for </a:t>
            </a:r>
            <a:r>
              <a:rPr lang="en-US" b="1" dirty="0"/>
              <a:t>observable factors</a:t>
            </a:r>
          </a:p>
          <a:p>
            <a:pPr lvl="1"/>
            <a:r>
              <a:rPr lang="en-US" dirty="0"/>
              <a:t>Selection of factors is solution specific</a:t>
            </a:r>
          </a:p>
          <a:p>
            <a:pPr lvl="1"/>
            <a:r>
              <a:rPr lang="en-US" dirty="0"/>
              <a:t>May be time dependent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3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801F-CBF1-F4AD-6D2F-DD363887C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4A81B22-00BD-0746-CE91-68118396C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Neural Collaborative Filtering</a:t>
            </a:r>
          </a:p>
        </p:txBody>
      </p:sp>
    </p:spTree>
    <p:extLst>
      <p:ext uri="{BB962C8B-B14F-4D97-AF65-F5344CB8AC3E}">
        <p14:creationId xmlns:p14="http://schemas.microsoft.com/office/powerpoint/2010/main" val="17310513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Deep neural networks are having a significant impact on recommenders </a:t>
            </a:r>
          </a:p>
          <a:p>
            <a:r>
              <a:rPr lang="en-US" dirty="0"/>
              <a:t>Deep neural network algorithms compute </a:t>
            </a:r>
            <a:r>
              <a:rPr lang="en-US" b="1" dirty="0"/>
              <a:t>complex embedding spaces   </a:t>
            </a:r>
          </a:p>
          <a:p>
            <a:r>
              <a:rPr lang="en-US" b="1" dirty="0"/>
              <a:t>Interactions </a:t>
            </a:r>
            <a:r>
              <a:rPr lang="en-US" dirty="0"/>
              <a:t>are common in recommender data   </a:t>
            </a:r>
          </a:p>
          <a:p>
            <a:pPr lvl="1"/>
            <a:r>
              <a:rPr lang="en-US" dirty="0"/>
              <a:t>Example: user likes romantic comedy genre movies and with a specific actor    </a:t>
            </a:r>
          </a:p>
          <a:p>
            <a:pPr lvl="1"/>
            <a:r>
              <a:rPr lang="en-US" dirty="0"/>
              <a:t>Example: a workman searches for a specific type of tool and favors a specific brand </a:t>
            </a:r>
          </a:p>
          <a:p>
            <a:r>
              <a:rPr lang="en-US" dirty="0"/>
              <a:t>Linear models cannot not account for numerous interaction terms</a:t>
            </a:r>
          </a:p>
          <a:p>
            <a:r>
              <a:rPr lang="en-US" dirty="0"/>
              <a:t>Deep neural networks can learn complex feature interactions  </a:t>
            </a:r>
          </a:p>
          <a:p>
            <a:pPr lvl="1"/>
            <a:r>
              <a:rPr lang="en-US" dirty="0"/>
              <a:t>Too many potential interaction for linear factor model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12B-86F8-276C-D986-C0062D16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6755D8-6F32-93B6-54F9-D5E8FFB2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BDD8C-46C3-9717-EDF9-70AB09E6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EB20-9A39-CBAA-946C-5310B7CFE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444F0-D49C-7FD4-F89A-95467416F6B2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31973F-88DE-15BC-1C1D-378DBE51F46C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26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28AC-9CAF-A6D9-72EC-0D9FDCD2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CC35-5D11-40A4-193B-66C794AF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AB18-8C2F-15DB-5451-8FF30E0A9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94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recommendation ranks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B6E68-7002-8607-FE0F-5BB26CDF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836"/>
            <a:ext cx="5728630" cy="365879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731E54-3009-CF8C-74C8-1C29D03F1DD8}"/>
              </a:ext>
            </a:extLst>
          </p:cNvPr>
          <p:cNvSpPr txBox="1">
            <a:spLocks/>
          </p:cNvSpPr>
          <p:nvPr/>
        </p:nvSpPr>
        <p:spPr>
          <a:xfrm>
            <a:off x="838200" y="629254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77321-0733-6E38-A283-BFD8B5416704}"/>
              </a:ext>
            </a:extLst>
          </p:cNvPr>
          <p:cNvSpPr txBox="1">
            <a:spLocks/>
          </p:cNvSpPr>
          <p:nvPr/>
        </p:nvSpPr>
        <p:spPr>
          <a:xfrm>
            <a:off x="6238867" y="2028344"/>
            <a:ext cx="5612191" cy="43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Why do we need non-linear collaborative filtering?  </a:t>
            </a:r>
          </a:p>
          <a:p>
            <a:r>
              <a:rPr lang="en-US" sz="2400" dirty="0"/>
              <a:t>Interaction terms are inherently nonlinear</a:t>
            </a:r>
          </a:p>
          <a:p>
            <a:r>
              <a:rPr lang="en-US" sz="2400" dirty="0"/>
              <a:t>He, et. al., provide an example where binary coding of user features leads to misleading similarity, compared to Jaccard similarity  </a:t>
            </a:r>
            <a:endParaRPr lang="en-US" sz="2000" dirty="0"/>
          </a:p>
          <a:p>
            <a:r>
              <a:rPr lang="en-US" sz="2400" dirty="0"/>
              <a:t>Correct ranking requires learning a nonlinear interaction with a neural network 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3F3F36-F51C-D405-E6F5-89EF606EF6C0}"/>
              </a:ext>
            </a:extLst>
          </p:cNvPr>
          <p:cNvCxnSpPr>
            <a:cxnSpLocks/>
          </p:cNvCxnSpPr>
          <p:nvPr/>
        </p:nvCxnSpPr>
        <p:spPr>
          <a:xfrm flipH="1" flipV="1">
            <a:off x="4876800" y="3166820"/>
            <a:ext cx="1586572" cy="552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F8779B-3560-BAB9-306D-C20AC3D809B6}"/>
              </a:ext>
            </a:extLst>
          </p:cNvPr>
          <p:cNvCxnSpPr>
            <a:cxnSpLocks/>
          </p:cNvCxnSpPr>
          <p:nvPr/>
        </p:nvCxnSpPr>
        <p:spPr>
          <a:xfrm flipH="1" flipV="1">
            <a:off x="3512949" y="3063498"/>
            <a:ext cx="2872353" cy="2040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9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5972-6893-E045-3B6D-AD8877E9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6BEB-0D38-4D88-AB2F-7700CDA8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D120-E8FB-314C-25F2-C1783FEC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BBF623-4DBB-DDB1-567A-72E8E9CDA4AD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0931F-DA2D-EDE9-EC96-D9DD094D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45" y="2602896"/>
            <a:ext cx="6147560" cy="37437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EE75E-0ACA-6BD6-DCC1-8AE9FBB82E44}"/>
              </a:ext>
            </a:extLst>
          </p:cNvPr>
          <p:cNvSpPr txBox="1">
            <a:spLocks/>
          </p:cNvSpPr>
          <p:nvPr/>
        </p:nvSpPr>
        <p:spPr>
          <a:xfrm>
            <a:off x="1228497" y="4501157"/>
            <a:ext cx="4302228" cy="757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User and item dense latent embedding vectors are computed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1B7EB-5B14-9E49-623D-D0B60220CD96}"/>
              </a:ext>
            </a:extLst>
          </p:cNvPr>
          <p:cNvSpPr txBox="1">
            <a:spLocks/>
          </p:cNvSpPr>
          <p:nvPr/>
        </p:nvSpPr>
        <p:spPr>
          <a:xfrm>
            <a:off x="1542560" y="5677779"/>
            <a:ext cx="3604345" cy="757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Inputs are sparse user and item identification vectors  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C473D4-BE58-1BD8-2F81-7695C53469AE}"/>
              </a:ext>
            </a:extLst>
          </p:cNvPr>
          <p:cNvSpPr txBox="1">
            <a:spLocks/>
          </p:cNvSpPr>
          <p:nvPr/>
        </p:nvSpPr>
        <p:spPr>
          <a:xfrm>
            <a:off x="838200" y="3110326"/>
            <a:ext cx="4732819" cy="957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Recommendation ranks computed with NN layers, including nonlinear interaction terms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C1615-164B-E4FE-6537-D56546101C0F}"/>
              </a:ext>
            </a:extLst>
          </p:cNvPr>
          <p:cNvSpPr txBox="1">
            <a:spLocks/>
          </p:cNvSpPr>
          <p:nvPr/>
        </p:nvSpPr>
        <p:spPr>
          <a:xfrm>
            <a:off x="2392473" y="2254438"/>
            <a:ext cx="3465238" cy="654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Error (score) is minimized in training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C89A91-5D57-D0CE-699B-0B2511F92421}"/>
              </a:ext>
            </a:extLst>
          </p:cNvPr>
          <p:cNvCxnSpPr>
            <a:cxnSpLocks/>
          </p:cNvCxnSpPr>
          <p:nvPr/>
        </p:nvCxnSpPr>
        <p:spPr>
          <a:xfrm flipV="1">
            <a:off x="5090068" y="5811719"/>
            <a:ext cx="1651242" cy="2448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44BEB3-344B-5151-6EB2-CB77C835765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530725" y="4879929"/>
            <a:ext cx="2186037" cy="341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77A237-0DD2-4951-5117-980691B5811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571019" y="3589156"/>
            <a:ext cx="2590848" cy="328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EC50A-6F8F-DD87-9DA2-5693745D2A98}"/>
              </a:ext>
            </a:extLst>
          </p:cNvPr>
          <p:cNvCxnSpPr>
            <a:cxnSpLocks/>
          </p:cNvCxnSpPr>
          <p:nvPr/>
        </p:nvCxnSpPr>
        <p:spPr>
          <a:xfrm>
            <a:off x="5965064" y="2446384"/>
            <a:ext cx="2903165" cy="4072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7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D1FA-E84C-77DF-1F81-357F926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556-C1B3-0230-3FED-3C135E3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3E83-72DD-1540-7C70-E185DCF1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  <a:hlinkClick r:id="rId2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, He et.al., 2016</a:t>
            </a:r>
            <a:r>
              <a:rPr lang="en-US" dirty="0">
                <a:ea typeface="Cambria Math" panose="02040503050406030204" pitchFamily="18" charset="0"/>
              </a:rPr>
              <a:t>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5F6548-E8D9-8C38-D0DF-C95EC7100FF0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0270D-05ED-E2EB-D212-9A3ED542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56" y="2564191"/>
            <a:ext cx="5958567" cy="3628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C4840D3-7724-12DD-822E-198FB48F86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The predicted rating is computed as: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learned </a:t>
                </a:r>
                <a:r>
                  <a:rPr lang="en-US" dirty="0"/>
                  <a:t>latent factor matrices for users and items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bSup>
                  </m:oMath>
                </a14:m>
                <a:r>
                  <a:rPr lang="en-US" dirty="0"/>
                  <a:t> dense embedding vectors of user and item identifiers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tensor of model parameters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46E7222-41AE-8258-9FDD-52BDFA1B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  <a:blipFill>
                <a:blip r:embed="rId4"/>
                <a:stretch>
                  <a:fillRect l="-2172" t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89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Hybrid Models</a:t>
            </a:r>
          </a:p>
        </p:txBody>
      </p:sp>
    </p:spTree>
    <p:extLst>
      <p:ext uri="{BB962C8B-B14F-4D97-AF65-F5344CB8AC3E}">
        <p14:creationId xmlns:p14="http://schemas.microsoft.com/office/powerpoint/2010/main" val="9041208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/>
              <a:t>Hybrid Recommenders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combine methods content-based and collaborative filtering methods</a:t>
            </a:r>
          </a:p>
          <a:p>
            <a:r>
              <a:rPr lang="en-US" dirty="0"/>
              <a:t>May improve performance if errors are reasonably uncorrelated</a:t>
            </a:r>
          </a:p>
          <a:p>
            <a:r>
              <a:rPr lang="en-US" dirty="0"/>
              <a:t>Possibly overcome cold start problem</a:t>
            </a:r>
          </a:p>
          <a:p>
            <a:r>
              <a:rPr lang="en-US" dirty="0"/>
              <a:t>Different models can help with cold start problem</a:t>
            </a:r>
          </a:p>
          <a:p>
            <a:pPr lvl="1"/>
            <a:r>
              <a:rPr lang="en-US" dirty="0"/>
              <a:t>Baseline estimates</a:t>
            </a:r>
          </a:p>
          <a:p>
            <a:pPr lvl="1"/>
            <a:r>
              <a:rPr lang="en-US" dirty="0"/>
              <a:t>Use clustering methods to find similar users and items</a:t>
            </a:r>
          </a:p>
          <a:p>
            <a:r>
              <a:rPr lang="en-US" dirty="0"/>
              <a:t>Can start with semi-supervised (content-based) systems </a:t>
            </a:r>
          </a:p>
          <a:p>
            <a:pPr lvl="1"/>
            <a:r>
              <a:rPr lang="en-US" dirty="0"/>
              <a:t>Initially use item profiles</a:t>
            </a:r>
          </a:p>
          <a:p>
            <a:pPr lvl="1"/>
            <a:r>
              <a:rPr lang="en-US" dirty="0"/>
              <a:t>Combine with matrix factorization results as more data acquired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9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C36B-42F7-DC82-DEFB-7B0DF067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E750D-9B38-66B1-7448-6D77009E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76D0-DB79-7A48-9360-4B5DFD51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5A49-6E0D-97B8-5ABA-D1A8E025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B0294-B7E0-F6A2-5B7B-2FD935DCFC38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09220A-398C-59FD-EA40-2EE09E4DA410}"/>
              </a:ext>
            </a:extLst>
          </p:cNvPr>
          <p:cNvSpPr/>
          <p:nvPr/>
        </p:nvSpPr>
        <p:spPr>
          <a:xfrm>
            <a:off x="473524" y="2673274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3D92B3-8CF0-AF54-25E8-ED9C3B3483DB}"/>
              </a:ext>
            </a:extLst>
          </p:cNvPr>
          <p:cNvSpPr/>
          <p:nvPr/>
        </p:nvSpPr>
        <p:spPr>
          <a:xfrm>
            <a:off x="9242799" y="2594385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078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Ensembles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create ensembles of recommenders </a:t>
            </a:r>
          </a:p>
          <a:p>
            <a:r>
              <a:rPr lang="en-US" dirty="0"/>
              <a:t>Yes!</a:t>
            </a:r>
          </a:p>
          <a:p>
            <a:r>
              <a:rPr lang="en-US" dirty="0"/>
              <a:t>Can use different algorithms to overcome some cold start problems</a:t>
            </a:r>
          </a:p>
          <a:p>
            <a:r>
              <a:rPr lang="en-US" dirty="0"/>
              <a:t>Winners of the Netflix prize used complex ensembles</a:t>
            </a:r>
          </a:p>
          <a:p>
            <a:pPr lvl="1"/>
            <a:r>
              <a:rPr lang="en-US" dirty="0" err="1">
                <a:hlinkClick r:id="rId2"/>
              </a:rPr>
              <a:t>BellKor</a:t>
            </a:r>
            <a:r>
              <a:rPr lang="en-US" dirty="0">
                <a:hlinkClick r:id="rId2"/>
              </a:rPr>
              <a:t> team solution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Big chaos solution</a:t>
            </a:r>
            <a:endParaRPr lang="en-US" dirty="0"/>
          </a:p>
          <a:p>
            <a:pPr lvl="1"/>
            <a:r>
              <a:rPr lang="en-US" dirty="0"/>
              <a:t>But, these solutions are complex and may not be worth effort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5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769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  <a:hlinkClick r:id="rId2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sz="3000" dirty="0">
                <a:ea typeface="Cambria Math" panose="02040503050406030204" pitchFamily="18" charset="0"/>
              </a:rPr>
              <a:t>, is a hybrid model combine neural encoding with linear matrix factorization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4677902" y="644486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CA512-B061-0564-B12B-D5B59993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0" y="3474761"/>
            <a:ext cx="11719686" cy="297010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101A7C-D9B7-A422-B8D0-1AFA80E7BCA5}"/>
              </a:ext>
            </a:extLst>
          </p:cNvPr>
          <p:cNvSpPr txBox="1">
            <a:spLocks/>
          </p:cNvSpPr>
          <p:nvPr/>
        </p:nvSpPr>
        <p:spPr>
          <a:xfrm>
            <a:off x="696685" y="2034419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Linear model with </a:t>
            </a:r>
            <a:r>
              <a:rPr lang="en-US" sz="2600" b="1" dirty="0"/>
              <a:t>wide sparse latent space </a:t>
            </a:r>
            <a:r>
              <a:rPr lang="en-US" sz="2600" dirty="0"/>
              <a:t>and matrix factorization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FF0134-5B3B-4F32-09F3-3422217ED91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969105" y="3171372"/>
            <a:ext cx="162075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1F8FD8-2D74-BB13-E414-81A309EBFD37}"/>
              </a:ext>
            </a:extLst>
          </p:cNvPr>
          <p:cNvSpPr txBox="1">
            <a:spLocks/>
          </p:cNvSpPr>
          <p:nvPr/>
        </p:nvSpPr>
        <p:spPr>
          <a:xfrm>
            <a:off x="9250438" y="1949752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Nonlinear model with </a:t>
            </a:r>
            <a:r>
              <a:rPr lang="en-US" sz="2600" b="1" dirty="0"/>
              <a:t>dense latent space </a:t>
            </a:r>
            <a:r>
              <a:rPr lang="en-US" sz="2600" dirty="0"/>
              <a:t>and neural network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4F904B-0CFD-B347-07D5-9C33FE70D48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624457" y="3086705"/>
            <a:ext cx="60476" cy="388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B9DB722-4B09-EBB3-004D-A69F9ACCD620}"/>
              </a:ext>
            </a:extLst>
          </p:cNvPr>
          <p:cNvSpPr txBox="1">
            <a:spLocks/>
          </p:cNvSpPr>
          <p:nvPr/>
        </p:nvSpPr>
        <p:spPr>
          <a:xfrm>
            <a:off x="3959979" y="2014966"/>
            <a:ext cx="4579257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Hybrid model </a:t>
            </a:r>
            <a:r>
              <a:rPr lang="en-US" sz="2600" dirty="0"/>
              <a:t>uses linear matrix factorization for sparse latent features and neural network for dense latent feature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EA62-DB1D-CA89-292F-7DB9A107B16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907314" y="3151919"/>
            <a:ext cx="342294" cy="558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9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528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Wide and deep architecture, 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dirty="0">
                <a:ea typeface="Cambria Math" panose="02040503050406030204" pitchFamily="18" charset="0"/>
              </a:rPr>
              <a:t>, has 2 stages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6AC39-DDA5-1FF1-7302-4747AED8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81" y="2346477"/>
            <a:ext cx="6601837" cy="36581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1CDF08-C31D-3963-2609-C6EA2722F59C}"/>
              </a:ext>
            </a:extLst>
          </p:cNvPr>
          <p:cNvSpPr txBox="1">
            <a:spLocks/>
          </p:cNvSpPr>
          <p:nvPr/>
        </p:nvSpPr>
        <p:spPr>
          <a:xfrm>
            <a:off x="502740" y="2184299"/>
            <a:ext cx="4579257" cy="11926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Retrieval stage </a:t>
            </a:r>
            <a:r>
              <a:rPr lang="en-US" sz="2600" dirty="0"/>
              <a:t>uses a hybrid of similarity search on query algorithms to generate candidates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A3686E-F1FE-7560-5921-090C19685824}"/>
              </a:ext>
            </a:extLst>
          </p:cNvPr>
          <p:cNvCxnSpPr>
            <a:cxnSpLocks/>
          </p:cNvCxnSpPr>
          <p:nvPr/>
        </p:nvCxnSpPr>
        <p:spPr>
          <a:xfrm>
            <a:off x="5099352" y="2767390"/>
            <a:ext cx="2699658" cy="111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2BF567D-CEC8-3639-917C-8AE920721EC7}"/>
              </a:ext>
            </a:extLst>
          </p:cNvPr>
          <p:cNvSpPr txBox="1">
            <a:spLocks/>
          </p:cNvSpPr>
          <p:nvPr/>
        </p:nvSpPr>
        <p:spPr>
          <a:xfrm>
            <a:off x="655140" y="4315742"/>
            <a:ext cx="4579257" cy="933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Ranking stage </a:t>
            </a:r>
            <a:r>
              <a:rPr lang="en-US" sz="2600" dirty="0"/>
              <a:t>assigns positions (ranks) to items for presentation to user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B6059E-14E8-3553-0924-17F1A20B57F0}"/>
              </a:ext>
            </a:extLst>
          </p:cNvPr>
          <p:cNvCxnSpPr>
            <a:cxnSpLocks/>
          </p:cNvCxnSpPr>
          <p:nvPr/>
        </p:nvCxnSpPr>
        <p:spPr>
          <a:xfrm flipV="1">
            <a:off x="5251752" y="4460724"/>
            <a:ext cx="2779486" cy="438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0"/>
            <a:ext cx="10924648" cy="78974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</a:rPr>
              <a:t>Chang, et. al., 2016 accommodates both sparse categorical and dense numeric features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16D66-21CE-1205-CC07-103124FAD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40" y="2297392"/>
            <a:ext cx="7163670" cy="403177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FE5C3A-F808-E741-1BE0-04F2C0EC2DA1}"/>
              </a:ext>
            </a:extLst>
          </p:cNvPr>
          <p:cNvSpPr txBox="1">
            <a:spLocks/>
          </p:cNvSpPr>
          <p:nvPr/>
        </p:nvSpPr>
        <p:spPr>
          <a:xfrm>
            <a:off x="438180" y="5229981"/>
            <a:ext cx="3630660" cy="901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Dense features </a:t>
            </a:r>
            <a:r>
              <a:rPr lang="en-US" sz="2600" dirty="0"/>
              <a:t>(e.g. numeric) features require no embedding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93192F-0894-3A57-E58D-840AAFA1C2A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068840" y="5268686"/>
            <a:ext cx="967617" cy="412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5DF7E19-55A9-DD44-B7F0-9DC3B5EEE09C}"/>
              </a:ext>
            </a:extLst>
          </p:cNvPr>
          <p:cNvSpPr txBox="1">
            <a:spLocks/>
          </p:cNvSpPr>
          <p:nvPr/>
        </p:nvSpPr>
        <p:spPr>
          <a:xfrm>
            <a:off x="992142" y="3706998"/>
            <a:ext cx="363066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Sparse features </a:t>
            </a:r>
            <a:r>
              <a:rPr lang="en-US" sz="2600" dirty="0"/>
              <a:t>(e.g. categorical) require dense embedding, or hashing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A32CF3-3636-A799-7CAD-8B3F188F31D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622802" y="4275475"/>
            <a:ext cx="2552093" cy="4002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379A6A-57E0-65F1-BD5D-521C80E70D1F}"/>
              </a:ext>
            </a:extLst>
          </p:cNvPr>
          <p:cNvSpPr txBox="1">
            <a:spLocks/>
          </p:cNvSpPr>
          <p:nvPr/>
        </p:nvSpPr>
        <p:spPr>
          <a:xfrm>
            <a:off x="992142" y="2494657"/>
            <a:ext cx="3630660" cy="6563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Concatenated </a:t>
            </a:r>
            <a:r>
              <a:rPr lang="en-US" sz="2600" b="1" dirty="0" err="1"/>
              <a:t>emedding</a:t>
            </a:r>
            <a:r>
              <a:rPr lang="en-US" sz="2600" dirty="0"/>
              <a:t> encodes all features</a:t>
            </a:r>
            <a:endParaRPr lang="en-US" dirty="0"/>
          </a:p>
          <a:p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3C45ED-C6C3-520D-3628-039D322E990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622802" y="2822830"/>
            <a:ext cx="902303" cy="1125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84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7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FDB2-A02B-AE80-6654-DEF42709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C01E68E-84A9-CEE3-5888-24E451FD8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Adversarial and Poisoning Attacks </a:t>
            </a:r>
          </a:p>
        </p:txBody>
      </p:sp>
    </p:spTree>
    <p:extLst>
      <p:ext uri="{BB962C8B-B14F-4D97-AF65-F5344CB8AC3E}">
        <p14:creationId xmlns:p14="http://schemas.microsoft.com/office/powerpoint/2010/main" val="129342513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6225-7985-1D35-307A-91D53BD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9958-B240-8A48-666F-77511BDD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6DE5-FABA-270C-4036-38A36885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E634-437A-FBCA-EC0C-5F655B0D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4D2F-B174-05AE-30EA-E41032D4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Growing Literature on Recommender Attacks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1450-4F3B-CAD5-9693-39306697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 review papers focus on poisoning attacks </a:t>
            </a:r>
            <a:endParaRPr lang="en-US" b="1" dirty="0"/>
          </a:p>
          <a:p>
            <a:r>
              <a:rPr lang="en-US" dirty="0">
                <a:hlinkClick r:id="rId2"/>
              </a:rPr>
              <a:t>Manipulating Recommender Systems: A Survey of Poisoning Attacks and Countermeasures, Nguyen, et. al., 2024</a:t>
            </a:r>
            <a:endParaRPr lang="en-US" dirty="0"/>
          </a:p>
          <a:p>
            <a:r>
              <a:rPr lang="en-US" dirty="0">
                <a:hlinkClick r:id="rId3"/>
              </a:rPr>
              <a:t>Poisoning Attacks against Recommender Systems: A Survey, Wang, et. al., 2024</a:t>
            </a: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00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E888-FCCB-E9AD-8027-BB7800C6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3CA7644-89C5-0D0E-9606-F62486384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Advanced Neural Recommender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2909653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9829-FD35-C47F-CAC9-8F2407B8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1123-8B83-E825-2C38-DABA6652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Advanced Neural Recommender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434AF-29E3-C042-4774-E18194AC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Recently recommender system researchers have tried many paths </a:t>
            </a:r>
          </a:p>
          <a:p>
            <a:r>
              <a:rPr lang="en-US" dirty="0"/>
              <a:t>The introduction of neural recommenders has led to many improvements   </a:t>
            </a:r>
          </a:p>
          <a:p>
            <a:r>
              <a:rPr lang="en-US" dirty="0"/>
              <a:t>The </a:t>
            </a:r>
            <a:r>
              <a:rPr lang="en-US" b="1" dirty="0"/>
              <a:t>two-tower model </a:t>
            </a:r>
            <a:r>
              <a:rPr lang="en-US" dirty="0"/>
              <a:t>is now fairly standard</a:t>
            </a:r>
          </a:p>
          <a:p>
            <a:pPr lvl="1"/>
            <a:r>
              <a:rPr lang="en-US" b="1" dirty="0"/>
              <a:t>Query tower </a:t>
            </a:r>
            <a:r>
              <a:rPr lang="en-US" dirty="0"/>
              <a:t>embeds the user queries  </a:t>
            </a:r>
          </a:p>
          <a:p>
            <a:pPr lvl="1"/>
            <a:r>
              <a:rPr lang="en-US" b="1" dirty="0"/>
              <a:t>Item tower </a:t>
            </a:r>
            <a:r>
              <a:rPr lang="en-US" dirty="0"/>
              <a:t>embeds item features </a:t>
            </a:r>
          </a:p>
          <a:p>
            <a:r>
              <a:rPr lang="en-US" dirty="0"/>
              <a:t>Methods like </a:t>
            </a:r>
            <a:r>
              <a:rPr lang="en-US" b="1" dirty="0"/>
              <a:t>mixed negative sampling </a:t>
            </a:r>
            <a:r>
              <a:rPr lang="en-US" dirty="0"/>
              <a:t>reduce inherent negative sampling bias   </a:t>
            </a:r>
          </a:p>
          <a:p>
            <a:r>
              <a:rPr lang="en-US" b="1" dirty="0"/>
              <a:t>Ensemble recommenders </a:t>
            </a:r>
            <a:r>
              <a:rPr lang="en-US" dirty="0"/>
              <a:t>attempt to average out errors and reduce position bias using multiple approaches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8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Two-Tower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Two-tower architectures </a:t>
            </a:r>
            <a:r>
              <a:rPr lang="en-US" sz="3000" dirty="0">
                <a:ea typeface="Cambria Math" panose="02040503050406030204" pitchFamily="18" charset="0"/>
              </a:rPr>
              <a:t>are a prevalent in modern production recommenders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FB8E33-434E-5119-0A04-E4465899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22" y="2430520"/>
            <a:ext cx="8020595" cy="314751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E11BD1-87F7-45ED-B2C7-8CC81B12F5E3}"/>
              </a:ext>
            </a:extLst>
          </p:cNvPr>
          <p:cNvSpPr txBox="1">
            <a:spLocks/>
          </p:cNvSpPr>
          <p:nvPr/>
        </p:nvSpPr>
        <p:spPr>
          <a:xfrm>
            <a:off x="4226682" y="5657040"/>
            <a:ext cx="4227141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Query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9A4605-0FF1-237D-4CF2-10378161733B}"/>
              </a:ext>
            </a:extLst>
          </p:cNvPr>
          <p:cNvSpPr txBox="1">
            <a:spLocks/>
          </p:cNvSpPr>
          <p:nvPr/>
        </p:nvSpPr>
        <p:spPr>
          <a:xfrm>
            <a:off x="8581971" y="5657040"/>
            <a:ext cx="3025357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02789C-4164-5391-9AA5-BD37AF239348}"/>
              </a:ext>
            </a:extLst>
          </p:cNvPr>
          <p:cNvSpPr/>
          <p:nvPr/>
        </p:nvSpPr>
        <p:spPr>
          <a:xfrm>
            <a:off x="4023628" y="3690794"/>
            <a:ext cx="441574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A54971-BDF1-3F3F-4FC8-7B988D9E8191}"/>
              </a:ext>
            </a:extLst>
          </p:cNvPr>
          <p:cNvSpPr/>
          <p:nvPr/>
        </p:nvSpPr>
        <p:spPr>
          <a:xfrm>
            <a:off x="8539684" y="3690794"/>
            <a:ext cx="315217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5457B84-EFF6-B2E3-C2F9-2C538885BCEE}"/>
              </a:ext>
            </a:extLst>
          </p:cNvPr>
          <p:cNvSpPr txBox="1">
            <a:spLocks/>
          </p:cNvSpPr>
          <p:nvPr/>
        </p:nvSpPr>
        <p:spPr>
          <a:xfrm>
            <a:off x="4088191" y="1968286"/>
            <a:ext cx="2903484" cy="456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User query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B76D944-D767-F99E-C3C6-60C9F410A0F7}"/>
              </a:ext>
            </a:extLst>
          </p:cNvPr>
          <p:cNvSpPr txBox="1">
            <a:spLocks/>
          </p:cNvSpPr>
          <p:nvPr/>
        </p:nvSpPr>
        <p:spPr>
          <a:xfrm>
            <a:off x="8962162" y="2006454"/>
            <a:ext cx="3142753" cy="367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feature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B09BF8-2261-F01A-A53F-C23AF0531DD0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5539933" y="2424465"/>
            <a:ext cx="127300" cy="9596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C527FD-5F30-96AC-F554-A1D820733BD5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9855053" y="2374122"/>
            <a:ext cx="678486" cy="9028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12CDEE8-701A-9281-DF4E-F27E35AE663D}"/>
              </a:ext>
            </a:extLst>
          </p:cNvPr>
          <p:cNvSpPr txBox="1">
            <a:spLocks/>
          </p:cNvSpPr>
          <p:nvPr/>
        </p:nvSpPr>
        <p:spPr>
          <a:xfrm>
            <a:off x="6340252" y="632349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0CDABF-9E11-8061-BC79-52077ADC7078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51622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Architecture introduced by </a:t>
            </a:r>
            <a:r>
              <a:rPr lang="en-US" sz="2600" dirty="0">
                <a:hlinkClick r:id="rId4"/>
              </a:rPr>
              <a:t>Zhao, et. al, 2019</a:t>
            </a:r>
            <a:r>
              <a:rPr lang="en-US" sz="2600" dirty="0"/>
              <a:t>, for Google Play</a:t>
            </a:r>
          </a:p>
          <a:p>
            <a:r>
              <a:rPr lang="en-US" sz="2600" dirty="0"/>
              <a:t>Example, proposed by </a:t>
            </a:r>
            <a:r>
              <a:rPr lang="en-US" sz="2400" dirty="0">
                <a:ea typeface="Cambria Math" panose="02040503050406030204" pitchFamily="18" charset="0"/>
                <a:hlinkClick r:id="rId3"/>
              </a:rPr>
              <a:t>Yang et. al., 2020</a:t>
            </a:r>
            <a:r>
              <a:rPr lang="en-US" sz="2600" dirty="0"/>
              <a:t> of Google Research</a:t>
            </a:r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 animBg="1"/>
      <p:bldP spid="25" grpId="0" animBg="1"/>
      <p:bldP spid="26" grpId="0"/>
      <p:bldP spid="27" grpId="0"/>
      <p:bldP spid="3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Negative Sampling Bias Affects Recommender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negative sampling bias</a:t>
            </a:r>
            <a:r>
              <a:rPr lang="en-US" dirty="0"/>
              <a:t>   </a:t>
            </a:r>
          </a:p>
          <a:p>
            <a:r>
              <a:rPr lang="en-US" dirty="0"/>
              <a:t>We only get feedback about actions users take</a:t>
            </a:r>
          </a:p>
          <a:p>
            <a:pPr lvl="1"/>
            <a:r>
              <a:rPr lang="en-US" dirty="0"/>
              <a:t>Never know why users do not take action</a:t>
            </a:r>
          </a:p>
          <a:p>
            <a:pPr lvl="1"/>
            <a:r>
              <a:rPr lang="en-US" dirty="0"/>
              <a:t>Only have positive results (clicks)  </a:t>
            </a:r>
          </a:p>
          <a:p>
            <a:r>
              <a:rPr lang="en-US" dirty="0"/>
              <a:t>Example: consider a model with only binary response for an app store:</a:t>
            </a:r>
          </a:p>
          <a:p>
            <a:pPr lvl="1"/>
            <a:r>
              <a:rPr lang="en-US" dirty="0"/>
              <a:t>Value is 1 if user downloaded an app</a:t>
            </a:r>
          </a:p>
          <a:p>
            <a:pPr lvl="1"/>
            <a:r>
              <a:rPr lang="en-US" dirty="0"/>
              <a:t>Value is 0 if user did not download the app</a:t>
            </a:r>
          </a:p>
          <a:p>
            <a:pPr lvl="1"/>
            <a:r>
              <a:rPr lang="en-US" dirty="0"/>
              <a:t>If 1, we do not know if the user liked the app or not</a:t>
            </a:r>
          </a:p>
          <a:p>
            <a:pPr lvl="1"/>
            <a:r>
              <a:rPr lang="en-US" dirty="0"/>
              <a:t>If 0, we do not know if user did not want the app or never knew of its existence</a:t>
            </a:r>
          </a:p>
          <a:p>
            <a:r>
              <a:rPr lang="en-US" b="1" dirty="0"/>
              <a:t>Position bias</a:t>
            </a:r>
            <a:r>
              <a:rPr lang="en-US" dirty="0"/>
              <a:t> arises from negative sampling bias </a:t>
            </a:r>
            <a:endParaRPr lang="en-US" b="1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(MNS)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95072-FC37-48D9-FD0A-09A6DCD6DBEF}"/>
              </a:ext>
            </a:extLst>
          </p:cNvPr>
          <p:cNvSpPr txBox="1"/>
          <p:nvPr/>
        </p:nvSpPr>
        <p:spPr>
          <a:xfrm>
            <a:off x="502740" y="2105559"/>
            <a:ext cx="54916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MNS adds a uniformly sampled stream of negative samples from the entire catalog (corpus)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Embeddings of additional negative samples are appended to item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Adding negative sample of size 2-3 x positive samples reduces negative sampling bias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>
            <a:off x="5050971" y="3793067"/>
            <a:ext cx="3086705" cy="1596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0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(NMS)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/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log-loss function is: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e>
                                          </m:d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With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item candidate embedding dimensions 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negative sample embedding dimensions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dot product between query embedding and item embedding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200" dirty="0"/>
                  <a:t>, sampling weight for sampling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blipFill>
                <a:blip r:embed="rId4"/>
                <a:stretch>
                  <a:fillRect l="-1443" t="-880" r="-222" b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 flipV="1">
            <a:off x="5799350" y="3429000"/>
            <a:ext cx="2391131" cy="487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29F5C8-93A5-96AB-E2F6-1B52A85A71D5}"/>
              </a:ext>
            </a:extLst>
          </p:cNvPr>
          <p:cNvCxnSpPr>
            <a:cxnSpLocks/>
          </p:cNvCxnSpPr>
          <p:nvPr/>
        </p:nvCxnSpPr>
        <p:spPr>
          <a:xfrm flipV="1">
            <a:off x="4826272" y="3833634"/>
            <a:ext cx="3413108" cy="4205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0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081D-E742-E003-F545-07DBBAD7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C6DE-38B6-BDFB-9A0E-BCABD313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Position Bias Reduces Recommender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D0A00-6E24-31CB-3A5A-8BBF9CD8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Click probability depends on the position </a:t>
            </a:r>
            <a:r>
              <a:rPr lang="en-US" dirty="0"/>
              <a:t>in the search results </a:t>
            </a:r>
          </a:p>
          <a:p>
            <a:r>
              <a:rPr lang="en-US" dirty="0"/>
              <a:t>Items in the tail suffer </a:t>
            </a:r>
            <a:r>
              <a:rPr lang="en-US" b="1" dirty="0"/>
              <a:t>position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Users typically do not see choices far down the list </a:t>
            </a:r>
          </a:p>
          <a:p>
            <a:pPr lvl="1"/>
            <a:r>
              <a:rPr lang="en-US" dirty="0"/>
              <a:t>We never know the probability of click through for some items</a:t>
            </a:r>
          </a:p>
          <a:p>
            <a:r>
              <a:rPr lang="en-US" dirty="0"/>
              <a:t>Popularity of the top items in the list is biased upward by frequent clicks</a:t>
            </a:r>
          </a:p>
          <a:p>
            <a:pPr lvl="1"/>
            <a:r>
              <a:rPr lang="en-US" dirty="0"/>
              <a:t>Bias propagates to new recommendation lists, increasing subsequent bias</a:t>
            </a:r>
          </a:p>
          <a:p>
            <a:r>
              <a:rPr lang="en-US" dirty="0"/>
              <a:t>Position bias leads to negative sampling bias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Meta’s </a:t>
            </a:r>
            <a:r>
              <a:rPr lang="en-US" b="1" dirty="0">
                <a:hlinkClick r:id="rId2"/>
              </a:rPr>
              <a:t>DHEN deep and hierarchical ensemble recommender</a:t>
            </a:r>
            <a:r>
              <a:rPr lang="en-US" dirty="0">
                <a:hlinkClick r:id="rId2"/>
              </a:rPr>
              <a:t>, Zhang, et, al,2022</a:t>
            </a:r>
            <a:r>
              <a:rPr lang="en-US" dirty="0"/>
              <a:t>,</a:t>
            </a:r>
            <a:r>
              <a:rPr lang="en-US" dirty="0">
                <a:ea typeface="Cambria Math" panose="02040503050406030204" pitchFamily="18" charset="0"/>
              </a:rPr>
              <a:t> uses multiple similarity search algorithms in a two-stage, two-tower, architecture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Zhang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90C65-F4D2-1CA1-4F7F-F4012B78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80" y="2559352"/>
            <a:ext cx="8048922" cy="38151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5028F-B5CA-2E9F-2883-5E6BF5A7CF5D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41946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DEHN </a:t>
            </a:r>
            <a:r>
              <a:rPr lang="en-US" sz="2600" dirty="0"/>
              <a:t>architecture uses a hierarchy of several models for interactions for features in an embedding space</a:t>
            </a:r>
          </a:p>
          <a:p>
            <a:r>
              <a:rPr lang="en-US" sz="2600" dirty="0"/>
              <a:t>An NVIDIA team of </a:t>
            </a:r>
            <a:r>
              <a:rPr lang="en-US" sz="2400" dirty="0" err="1">
                <a:hlinkClick r:id="rId4"/>
              </a:rPr>
              <a:t>Schifferer</a:t>
            </a:r>
            <a:r>
              <a:rPr lang="en-US" sz="2400" dirty="0">
                <a:hlinkClick r:id="rId4"/>
              </a:rPr>
              <a:t>, et. al,. 2022 </a:t>
            </a:r>
            <a:r>
              <a:rPr lang="en-US" sz="2400" dirty="0"/>
              <a:t>used a similar </a:t>
            </a:r>
            <a:r>
              <a:rPr lang="en-US" sz="2400" dirty="0" err="1"/>
              <a:t>apprach</a:t>
            </a:r>
            <a:endParaRPr lang="en-US" sz="2600" dirty="0"/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8AAE-C3C2-70EF-A02E-DD816F9D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1874-997A-9C9F-B0DE-36D11EA2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F8247-8DE5-683F-B5DB-E898CE49C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649389-DEE3-1702-2433-452A6962635B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AFBB39-8535-603A-8DCB-A66CAC372637}"/>
              </a:ext>
            </a:extLst>
          </p:cNvPr>
          <p:cNvSpPr txBox="1">
            <a:spLocks/>
          </p:cNvSpPr>
          <p:nvPr/>
        </p:nvSpPr>
        <p:spPr>
          <a:xfrm>
            <a:off x="502739" y="2424465"/>
            <a:ext cx="5655253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</a:t>
            </a:r>
          </a:p>
          <a:p>
            <a:r>
              <a:rPr lang="en-US" sz="2600" b="1" dirty="0"/>
              <a:t>Observation tower </a:t>
            </a:r>
            <a:r>
              <a:rPr lang="en-US" sz="2600" dirty="0"/>
              <a:t>computes </a:t>
            </a:r>
            <a:r>
              <a:rPr lang="en-US" sz="2600" b="1" dirty="0"/>
              <a:t>position bias adjustment</a:t>
            </a:r>
            <a:r>
              <a:rPr lang="en-US" sz="2600" dirty="0"/>
              <a:t> </a:t>
            </a:r>
          </a:p>
          <a:p>
            <a:pPr lvl="1"/>
            <a:r>
              <a:rPr lang="en-US" dirty="0"/>
              <a:t>Uses log information on user behavior and context</a:t>
            </a:r>
          </a:p>
          <a:p>
            <a:pPr lvl="1"/>
            <a:r>
              <a:rPr lang="en-US" dirty="0"/>
              <a:t>Adjusts ranking to limit position bias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9C411-B6DB-FEBD-BA76-3AD0CCD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73" y="2060566"/>
            <a:ext cx="5031327" cy="447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4C22-4188-0602-76B9-2CE0EB3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DBD5-6954-3171-C616-F04B50AF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BB4B-94DA-F02F-9151-F6443004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30A8D8-BE54-24C2-28EE-F10635B0F792}"/>
              </a:ext>
            </a:extLst>
          </p:cNvPr>
          <p:cNvSpPr txBox="1">
            <a:spLocks/>
          </p:cNvSpPr>
          <p:nvPr/>
        </p:nvSpPr>
        <p:spPr>
          <a:xfrm>
            <a:off x="8967488" y="3821873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8A1F-9B19-556D-FA09-21D86AB8EC07}"/>
              </a:ext>
            </a:extLst>
          </p:cNvPr>
          <p:cNvSpPr txBox="1">
            <a:spLocks/>
          </p:cNvSpPr>
          <p:nvPr/>
        </p:nvSpPr>
        <p:spPr>
          <a:xfrm>
            <a:off x="502740" y="2230362"/>
            <a:ext cx="5655253" cy="1270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 assuming independence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071A9D-BCD4-B79E-1872-32DD6D7693BC}"/>
              </a:ext>
            </a:extLst>
          </p:cNvPr>
          <p:cNvSpPr txBox="1">
            <a:spLocks/>
          </p:cNvSpPr>
          <p:nvPr/>
        </p:nvSpPr>
        <p:spPr>
          <a:xfrm>
            <a:off x="6456670" y="2230361"/>
            <a:ext cx="5655253" cy="1096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But user </a:t>
            </a:r>
            <a:r>
              <a:rPr lang="en-US" sz="2600" b="1" dirty="0"/>
              <a:t>actions are not independent of position </a:t>
            </a:r>
            <a:r>
              <a:rPr lang="en-US" sz="2600" dirty="0"/>
              <a:t>with a causal relationship!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8EB672-B72E-93A1-8A0F-6BF1D59A7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834" y="3317164"/>
            <a:ext cx="5615493" cy="347527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71F78D-D0E3-F5C3-654F-89044299DDE3}"/>
              </a:ext>
            </a:extLst>
          </p:cNvPr>
          <p:cNvCxnSpPr>
            <a:cxnSpLocks/>
          </p:cNvCxnSpPr>
          <p:nvPr/>
        </p:nvCxnSpPr>
        <p:spPr>
          <a:xfrm flipH="1">
            <a:off x="7395882" y="3033656"/>
            <a:ext cx="1436146" cy="1576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9F16A4-C8F7-8E0D-7078-6EE0739D8D62}"/>
              </a:ext>
            </a:extLst>
          </p:cNvPr>
          <p:cNvCxnSpPr>
            <a:cxnSpLocks/>
          </p:cNvCxnSpPr>
          <p:nvPr/>
        </p:nvCxnSpPr>
        <p:spPr>
          <a:xfrm>
            <a:off x="2926080" y="3130475"/>
            <a:ext cx="457200" cy="298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5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AC68-21B8-190E-C2AF-D7673006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2651-6882-3177-0A0E-E799C778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FF78-E5A7-8A93-00AB-9726BF03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5B785B-C2F9-C196-0E35-BCF78A83D9FF}"/>
              </a:ext>
            </a:extLst>
          </p:cNvPr>
          <p:cNvSpPr txBox="1">
            <a:spLocks/>
          </p:cNvSpPr>
          <p:nvPr/>
        </p:nvSpPr>
        <p:spPr>
          <a:xfrm>
            <a:off x="6823041" y="64928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Zang, et. al., propose adding an </a:t>
                </a:r>
                <a:r>
                  <a:rPr lang="en-US" b="1" dirty="0"/>
                  <a:t>adversarial label </a:t>
                </a:r>
                <a:r>
                  <a:rPr lang="en-US" dirty="0"/>
                  <a:t>to the model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reverse gradient </a:t>
                </a:r>
                <a:r>
                  <a:rPr lang="en-US" dirty="0"/>
                  <a:t>is backpropagated into the position adjustment of the observation tower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a learning rate hyperparameter</a:t>
                </a:r>
              </a:p>
              <a:p>
                <a:r>
                  <a:rPr lang="en-US" dirty="0"/>
                  <a:t>Provides </a:t>
                </a:r>
                <a:r>
                  <a:rPr lang="en-US" b="1" dirty="0"/>
                  <a:t>unbiased learning to rank (ULTR) algorithm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  <a:blipFill>
                <a:blip r:embed="rId3"/>
                <a:stretch>
                  <a:fillRect l="-1940" t="-2716" r="-754" b="-4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7723595-2883-C157-81FB-D2943A41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" y="2123268"/>
            <a:ext cx="6208966" cy="45710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1D0854-E198-331E-3759-410636D645A4}"/>
              </a:ext>
            </a:extLst>
          </p:cNvPr>
          <p:cNvCxnSpPr>
            <a:cxnSpLocks/>
          </p:cNvCxnSpPr>
          <p:nvPr/>
        </p:nvCxnSpPr>
        <p:spPr>
          <a:xfrm flipH="1" flipV="1">
            <a:off x="4742481" y="2645044"/>
            <a:ext cx="1488705" cy="51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127AA8-0467-4E95-5C7C-9EB7F5265BA0}"/>
              </a:ext>
            </a:extLst>
          </p:cNvPr>
          <p:cNvCxnSpPr>
            <a:cxnSpLocks/>
          </p:cNvCxnSpPr>
          <p:nvPr/>
        </p:nvCxnSpPr>
        <p:spPr>
          <a:xfrm flipH="1" flipV="1">
            <a:off x="4954292" y="3042834"/>
            <a:ext cx="1355760" cy="5321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73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748995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r>
              <a:rPr lang="en-US" dirty="0"/>
              <a:t>Online catalogs have a long tail</a:t>
            </a:r>
          </a:p>
          <a:p>
            <a:pPr lvl="1"/>
            <a:r>
              <a:rPr lang="en-US" dirty="0"/>
              <a:t>Many rarely purchased and reviewed items</a:t>
            </a:r>
          </a:p>
          <a:p>
            <a:pPr lvl="1"/>
            <a:r>
              <a:rPr lang="en-US" dirty="0"/>
              <a:t>Users will not find items in the tail without a recommender</a:t>
            </a:r>
          </a:p>
          <a:p>
            <a:r>
              <a:rPr lang="en-US" dirty="0"/>
              <a:t>Recommender algorithms connect users with items</a:t>
            </a:r>
          </a:p>
          <a:p>
            <a:r>
              <a:rPr lang="en-US" dirty="0"/>
              <a:t>Creating a good recommender algorithm for the real-world is hard!</a:t>
            </a:r>
          </a:p>
          <a:p>
            <a:pPr lvl="1"/>
            <a:r>
              <a:rPr lang="en-US" dirty="0"/>
              <a:t>People have complex and variable behavior</a:t>
            </a:r>
          </a:p>
          <a:p>
            <a:pPr lvl="1"/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Biases from position and negative sampling </a:t>
            </a:r>
          </a:p>
          <a:p>
            <a:pPr lvl="1"/>
            <a:r>
              <a:rPr lang="en-US" dirty="0"/>
              <a:t>Attacks on recommenders </a:t>
            </a:r>
            <a:r>
              <a:rPr lang="en-US"/>
              <a:t>a growing problem </a:t>
            </a:r>
            <a:endParaRPr lang="en-US" dirty="0"/>
          </a:p>
          <a:p>
            <a:pPr lvl="1"/>
            <a:r>
              <a:rPr lang="en-US" dirty="0"/>
              <a:t>Cold start problem for new items</a:t>
            </a:r>
          </a:p>
          <a:p>
            <a:pPr lvl="1"/>
            <a:r>
              <a:rPr lang="en-US" dirty="0"/>
              <a:t>Cold start problem for new users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948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Similarity search to find items with common properties</a:t>
            </a:r>
          </a:p>
          <a:p>
            <a:pPr lvl="1"/>
            <a:r>
              <a:rPr lang="en-US" dirty="0"/>
              <a:t>Related to frequent item set algorithms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similarity between items and between users</a:t>
            </a:r>
          </a:p>
          <a:p>
            <a:pPr lvl="1"/>
            <a:r>
              <a:rPr lang="en-US" dirty="0"/>
              <a:t>Widely used algorithms</a:t>
            </a:r>
          </a:p>
          <a:p>
            <a:pPr lvl="1"/>
            <a:r>
              <a:rPr lang="en-US" dirty="0"/>
              <a:t>Can be unsupervised or supervised </a:t>
            </a:r>
          </a:p>
          <a:p>
            <a:pPr lvl="1"/>
            <a:r>
              <a:rPr lang="en-US" dirty="0"/>
              <a:t>Linear and nonlinear (neural) algorithms widely employed</a:t>
            </a:r>
          </a:p>
          <a:p>
            <a:pPr lvl="1"/>
            <a:r>
              <a:rPr lang="en-US" dirty="0"/>
              <a:t>Has cold-start problem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302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Latent factor methods</a:t>
                </a:r>
                <a:r>
                  <a:rPr lang="en-US" dirty="0"/>
                  <a:t> are powerful models</a:t>
                </a:r>
              </a:p>
              <a:p>
                <a:r>
                  <a:rPr lang="en-US" dirty="0"/>
                  <a:t>Decompose utility matrix into item and user latent factors, PQ</a:t>
                </a:r>
                <a:r>
                  <a:rPr lang="en-US" baseline="30000" dirty="0"/>
                  <a:t>T</a:t>
                </a:r>
              </a:p>
              <a:p>
                <a:pPr lvl="1"/>
                <a:r>
                  <a:rPr lang="en-US" dirty="0"/>
                  <a:t>Efficiently learn factor weights with SGD </a:t>
                </a:r>
              </a:p>
              <a:p>
                <a:pPr lvl="1"/>
                <a:r>
                  <a:rPr lang="en-US" dirty="0"/>
                  <a:t>Predict missing ratings by product PQ</a:t>
                </a:r>
                <a:r>
                  <a:rPr lang="en-US" baseline="30000" dirty="0"/>
                  <a:t>T</a:t>
                </a:r>
              </a:p>
              <a:p>
                <a:r>
                  <a:rPr lang="en-US" dirty="0"/>
                  <a:t>Improve with baseline functions</a:t>
                </a:r>
              </a:p>
              <a:p>
                <a:pPr lvl="1"/>
                <a:r>
                  <a:rPr lang="en-US" dirty="0"/>
                  <a:t>Average rating</a:t>
                </a:r>
              </a:p>
              <a:p>
                <a:pPr lvl="1"/>
                <a:r>
                  <a:rPr lang="en-US" dirty="0"/>
                  <a:t>Average user rating</a:t>
                </a:r>
              </a:p>
              <a:p>
                <a:pPr lvl="1"/>
                <a:r>
                  <a:rPr lang="en-US" dirty="0"/>
                  <a:t>Average item rating</a:t>
                </a:r>
              </a:p>
              <a:p>
                <a:r>
                  <a:rPr lang="en-US" dirty="0"/>
                  <a:t>Evaluate recommenders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perform cross validation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15367</TotalTime>
  <Words>7284</Words>
  <Application>Microsoft Office PowerPoint</Application>
  <PresentationFormat>Widescreen</PresentationFormat>
  <Paragraphs>2062</Paragraphs>
  <Slides>120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8" baseType="lpstr">
      <vt:lpstr>Arial</vt:lpstr>
      <vt:lpstr>Calibri</vt:lpstr>
      <vt:lpstr>Calibri Light</vt:lpstr>
      <vt:lpstr>Cambria Math</vt:lpstr>
      <vt:lpstr>Segoe UI Light</vt:lpstr>
      <vt:lpstr>Segoe UI Symbol</vt:lpstr>
      <vt:lpstr>Symbol</vt:lpstr>
      <vt:lpstr>Office Theme</vt:lpstr>
      <vt:lpstr>CSCI E-108 Data Mining, Exploration and Discovery Learning to Rank and Recommender Algorithms</vt:lpstr>
      <vt:lpstr>Why Recommender Systems?</vt:lpstr>
      <vt:lpstr>Why Recommender Systems?</vt:lpstr>
      <vt:lpstr>Why Recommender Systems?</vt:lpstr>
      <vt:lpstr>PowerPoint Presentation</vt:lpstr>
      <vt:lpstr>Recommender Systems</vt:lpstr>
      <vt:lpstr>Recommender Systems</vt:lpstr>
      <vt:lpstr>Recommender Systems</vt:lpstr>
      <vt:lpstr>Recommender Systems</vt:lpstr>
      <vt:lpstr>Recommender Systems</vt:lpstr>
      <vt:lpstr>Recommender Systems</vt:lpstr>
      <vt:lpstr>Recommender Systems</vt:lpstr>
      <vt:lpstr>Dataset</vt:lpstr>
      <vt:lpstr>PowerPoint Presentation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PowerPoint Presentation</vt:lpstr>
      <vt:lpstr>General Recommender Model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PowerPoint Presentation</vt:lpstr>
      <vt:lpstr>Extending the Representation</vt:lpstr>
      <vt:lpstr>Extending the Representation</vt:lpstr>
      <vt:lpstr>PowerPoint Presentation</vt:lpstr>
      <vt:lpstr>Recommender Systems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PowerPoint Presentation</vt:lpstr>
      <vt:lpstr>Content Based Recommenders</vt:lpstr>
      <vt:lpstr>Recommender Systems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PowerPoint Presentation</vt:lpstr>
      <vt:lpstr>Recommender Systems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PowerPoint Presentation</vt:lpstr>
      <vt:lpstr>Evaluating Recommenders</vt:lpstr>
      <vt:lpstr>Evaluating Recommenders</vt:lpstr>
      <vt:lpstr>Evaluating Recommenders</vt:lpstr>
      <vt:lpstr>Evaluating Recommenders</vt:lpstr>
      <vt:lpstr>PowerPoint Presentation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Neural Network Recommenders</vt:lpstr>
      <vt:lpstr>Recommender Systems</vt:lpstr>
      <vt:lpstr>Neural Collaborative Filtering</vt:lpstr>
      <vt:lpstr>Neural Collaborative Filtering</vt:lpstr>
      <vt:lpstr>Neural Collaborative Filtering</vt:lpstr>
      <vt:lpstr>PowerPoint Presentation</vt:lpstr>
      <vt:lpstr>Hybrid Recommenders</vt:lpstr>
      <vt:lpstr>Recommender Systems</vt:lpstr>
      <vt:lpstr>Recommender Ensembles</vt:lpstr>
      <vt:lpstr>Wide and Deep Architectures </vt:lpstr>
      <vt:lpstr>Wide and Deep Architectures </vt:lpstr>
      <vt:lpstr>Wide and Deep Architectures </vt:lpstr>
      <vt:lpstr>PowerPoint Presentation</vt:lpstr>
      <vt:lpstr>Attacks on Recommenders Attempt to Bias Results</vt:lpstr>
      <vt:lpstr>Growing Literature on Recommender Attacks </vt:lpstr>
      <vt:lpstr>PowerPoint Presentation</vt:lpstr>
      <vt:lpstr>Advanced Neural Recommender Architectures</vt:lpstr>
      <vt:lpstr>Two-Tower Architectures </vt:lpstr>
      <vt:lpstr>Negative Sampling Bias Affects Recommender Training</vt:lpstr>
      <vt:lpstr>Mixed Negative Sampling</vt:lpstr>
      <vt:lpstr>Mixed Negative Sampling</vt:lpstr>
      <vt:lpstr>Position Bias Reduces Recommender Effectiveness</vt:lpstr>
      <vt:lpstr>DHEN, Deep and Hierarchical Ensemble Recommender</vt:lpstr>
      <vt:lpstr>DHEN, Deep and Hierarchical Ensemble Recommender</vt:lpstr>
      <vt:lpstr>DHEN, Deep and Hierarchical Ensemble Recommender</vt:lpstr>
      <vt:lpstr>DHEN, Deep and Hierarchical Ensemble Recommender</vt:lpstr>
      <vt:lpstr>PowerPoint Presentation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681</cp:revision>
  <dcterms:created xsi:type="dcterms:W3CDTF">2020-08-19T23:28:02Z</dcterms:created>
  <dcterms:modified xsi:type="dcterms:W3CDTF">2025-10-27T19:20:04Z</dcterms:modified>
</cp:coreProperties>
</file>