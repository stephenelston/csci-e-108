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719" r:id="rId2"/>
    <p:sldId id="819" r:id="rId3"/>
    <p:sldId id="604" r:id="rId4"/>
    <p:sldId id="687" r:id="rId5"/>
    <p:sldId id="778" r:id="rId6"/>
    <p:sldId id="686" r:id="rId7"/>
    <p:sldId id="672" r:id="rId8"/>
    <p:sldId id="608" r:id="rId9"/>
    <p:sldId id="612" r:id="rId10"/>
    <p:sldId id="722" r:id="rId11"/>
    <p:sldId id="779" r:id="rId12"/>
    <p:sldId id="607" r:id="rId13"/>
    <p:sldId id="673" r:id="rId14"/>
    <p:sldId id="674" r:id="rId15"/>
    <p:sldId id="783" r:id="rId16"/>
    <p:sldId id="721" r:id="rId17"/>
    <p:sldId id="732" r:id="rId18"/>
    <p:sldId id="734" r:id="rId19"/>
    <p:sldId id="736" r:id="rId20"/>
    <p:sldId id="735" r:id="rId21"/>
    <p:sldId id="680" r:id="rId22"/>
    <p:sldId id="730" r:id="rId23"/>
    <p:sldId id="610" r:id="rId24"/>
    <p:sldId id="611" r:id="rId25"/>
    <p:sldId id="780" r:id="rId26"/>
    <p:sldId id="609" r:id="rId27"/>
    <p:sldId id="613" r:id="rId28"/>
    <p:sldId id="616" r:id="rId29"/>
    <p:sldId id="615" r:id="rId30"/>
    <p:sldId id="617" r:id="rId31"/>
    <p:sldId id="618" r:id="rId32"/>
    <p:sldId id="781" r:id="rId33"/>
    <p:sldId id="641" r:id="rId34"/>
    <p:sldId id="679" r:id="rId35"/>
    <p:sldId id="724" r:id="rId36"/>
    <p:sldId id="723" r:id="rId37"/>
    <p:sldId id="737" r:id="rId38"/>
    <p:sldId id="685" r:id="rId39"/>
    <p:sldId id="682" r:id="rId40"/>
    <p:sldId id="683" r:id="rId41"/>
    <p:sldId id="782" r:id="rId42"/>
    <p:sldId id="725" r:id="rId43"/>
    <p:sldId id="726" r:id="rId44"/>
    <p:sldId id="727" r:id="rId45"/>
    <p:sldId id="728" r:id="rId46"/>
    <p:sldId id="729" r:id="rId47"/>
    <p:sldId id="820" r:id="rId48"/>
    <p:sldId id="784" r:id="rId49"/>
    <p:sldId id="720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3" autoAdjust="0"/>
    <p:restoredTop sz="94660"/>
  </p:normalViewPr>
  <p:slideViewPr>
    <p:cSldViewPr snapToGrid="0">
      <p:cViewPr varScale="1">
        <p:scale>
          <a:sx n="68" d="100"/>
          <a:sy n="68" d="100"/>
        </p:scale>
        <p:origin x="50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534D1-5B48-49E9-A024-C5EAE54CADD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EEBAC-B083-4D6F-9402-80E985106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25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64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28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01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51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77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34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30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07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64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39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89892-C190-7F80-E633-2F0B93F3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C9374-452A-2F26-4391-D7ECF17EF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64D72-7AD7-307A-D8AC-AA5460C2A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24AC6-4BE7-1798-4C03-A5E1D907E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13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99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75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457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82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009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54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DD6AC-BBD5-0301-5EC0-682DF15FF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6AFC-AEBA-94F9-213E-59AA2F4FC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174B8-2DA8-0FF6-67B4-878A73B0E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7531D-0D14-78C7-3AD8-1F582CCA3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44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36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01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256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220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157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666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190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272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256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992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981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639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5AC6-D7C3-4A45-12C9-4F3BDB675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8A115-FD26-C36C-22EC-2D0DF1CE0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6CD3D-1DCD-A893-77AC-09CAEB36A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8AFF8-7FDB-815E-4024-E6FAB2B54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46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659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66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501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565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180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837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505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35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DC9E5-884D-1636-E679-AE020345E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DEC40-64E0-4565-505B-6AC718D3B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B724D-C4E0-B0EC-327E-00D87F112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6FF75-971B-3BA5-6572-0A792BD40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717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37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BF2D-41FA-4DC4-ACC3-8DBE09B5C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3E280-A648-496F-85AA-9A66AAFBB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F1F5B-8D44-4C83-9847-9551BDB9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C3EC5-9432-4A66-9E64-E003554D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260A7-E873-4AE3-A514-E4BB65FC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8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F54C-82AC-4275-8221-D46FC266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B4F01-9014-47D8-8412-C244B62E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CB737-AC34-448C-98C8-898605FA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AE056-A155-42C1-99FF-43666877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504B6-2335-4095-8B32-5F546DC6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2810-4E61-4DB3-B18D-C9651617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02EFD-6306-4EE5-A93E-C3B3D3977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911E-21ED-48DB-87D1-BAEBD3DE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AC4B-FA15-4C3B-8886-15F84DD5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126E0-E09D-46FC-99D1-733DF58D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2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5468-6E3C-464D-A6F9-9A5E61BD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0FFA-BA3D-4026-B5EE-95A00E43F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18753-9280-4B68-B1BA-6C5B41A53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AF946-8BD2-4E05-B886-1FBA90C0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ECCFF-AF08-450A-8E24-1D390154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57094-F2F0-4A8D-A5C3-D80BC46D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85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D42C-20FB-433D-B2FA-15722CF5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6BDB4-437B-4186-8704-EDB6B55F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AE20E-37E7-4857-AB8D-67948CF37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63DCC-87D5-46CD-B027-BA49CC6B1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33A01-0D20-4787-9FA8-283275AB4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574D2-843D-4F2D-AF16-E7E1F35B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64638-A973-4BE2-AA0D-66B04C9B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6A5EE-6F5E-4133-B608-A36D2C04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4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0394-55C9-4C4A-93DB-AAA9493A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2A156-2986-4ABD-88EB-80463BB88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26ACC-44A1-415B-AB92-2445AC79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5FF18-7690-4BEF-A85B-1A8FDA43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0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4E047-CF1F-417C-929D-18F84456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AA4F07-AD23-4E5E-9D5E-A87F2D58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53E95-DB56-411B-BBAF-EB0EAFEE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955A-B592-4DB6-A7B5-B68170C5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51CCC-97B2-4BF2-8369-40860ECB3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F55B1-BF41-4C84-B04F-06D900AC3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FF8CC-17EE-455F-8D16-116AB173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BF062-FCFC-4AB6-9E1B-1BFB8D9B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17FCE-EFD7-4175-A763-32BF3DBC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4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326B-82FA-4368-92A0-C51E5CC7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04CE4-5C9C-4E2A-9970-F159A60B7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66A65-F884-4AEB-B19D-2497ADCFC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EAC10-F420-471E-84BC-C7B24E22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7FE1D-5DF8-4727-A7F1-8BCA4ED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22EEE-ACB0-49BB-9812-5ADB795B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6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79D8-3828-4F5E-A0BB-AE8F18A2D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49175-8BA9-4D53-9A50-714757279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669A9-F519-4FA9-87F2-1A347FB6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8528B-FA2D-4D43-8A7A-88991C0E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2180F-7D0D-482B-8460-366B4570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6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92452-B6BA-4A34-9679-D34A2491E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9B900-A9C9-4E80-B0A6-A832725EC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8F2A1-3E26-417B-A42B-3427FF81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67A0C-4E40-41D0-87DD-C9D85960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0001-2CEE-4F16-93B6-4F0DBBE7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63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85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FB1D0-F1BF-42CA-83CA-B3568E5E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13485-E4D3-4F57-A46D-C56DED0FC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6D78-2DED-4113-B1CF-35F318132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183D5-83EE-4A48-BB2E-1FC30CD8E4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7174D-3533-4CD4-AD63-7B08E0402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482C-E75C-4391-BC8F-CC4721087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halanobis_distanc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1.png"/><Relationship Id="rId4" Type="http://schemas.openxmlformats.org/officeDocument/2006/relationships/hyperlink" Target="https://www.statisticshowto.com/mahalanobis-distance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eecs.csuohio.edu/~sschung/CIS660/MahalanobisDistance.pdf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hyperlink" Target="https://eecs.csuohio.edu/~sschung/CIS660/MahalanobisDistance.pdf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ecs.csuohio.edu/~sschung/CIS660/MahalanobisDistance.pdf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evenshtein_distanc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amming_distanc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or.org/stable/2528823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endall_rank_correlation_coefficient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1.png"/><Relationship Id="rId4" Type="http://schemas.openxmlformats.org/officeDocument/2006/relationships/hyperlink" Target="https://en.wikipedia.org/wiki/Spearman%27s_rank_correlation_coefficient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accard_index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636650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Distance and Similarity Measures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2317F-F47E-4078-8A9E-272A9AB83B75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883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6408020" y="5172609"/>
            <a:ext cx="2038966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8832447" y="5179257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Data minging </a:t>
            </a:r>
            <a:r>
              <a:rPr lang="en-US" dirty="0"/>
              <a:t>algorithms are built on the foundation of distance and similarity measures  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similarity and dissimilarity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data mining algorithms require unsupervised searching for the </a:t>
            </a:r>
            <a:r>
              <a:rPr lang="en-US" b="1" dirty="0">
                <a:latin typeface="+mn-lt"/>
              </a:rPr>
              <a:t>most similar or dissimilar cases</a:t>
            </a:r>
          </a:p>
          <a:p>
            <a:r>
              <a:rPr lang="en-US" dirty="0">
                <a:latin typeface="+mn-lt"/>
              </a:rPr>
              <a:t>Cluster models  </a:t>
            </a:r>
          </a:p>
          <a:p>
            <a:r>
              <a:rPr lang="en-US" dirty="0">
                <a:latin typeface="+mn-lt"/>
              </a:rPr>
              <a:t>Nearest neighbor graph algorithms   </a:t>
            </a:r>
          </a:p>
          <a:p>
            <a:r>
              <a:rPr lang="en-US" dirty="0">
                <a:latin typeface="+mn-lt"/>
              </a:rPr>
              <a:t>Recommender systems   </a:t>
            </a:r>
          </a:p>
          <a:p>
            <a:r>
              <a:rPr lang="en-US" dirty="0">
                <a:latin typeface="+mn-lt"/>
              </a:rPr>
              <a:t>Dimensionality reduction </a:t>
            </a:r>
          </a:p>
          <a:p>
            <a:r>
              <a:rPr lang="en-US" dirty="0">
                <a:latin typeface="+mn-lt"/>
              </a:rPr>
              <a:t>Document and image search</a:t>
            </a:r>
          </a:p>
          <a:p>
            <a:r>
              <a:rPr lang="en-US" dirty="0">
                <a:latin typeface="+mn-lt"/>
              </a:rPr>
              <a:t>Discovering similar mRNA sequences </a:t>
            </a:r>
          </a:p>
          <a:p>
            <a:r>
              <a:rPr lang="en-US" dirty="0">
                <a:latin typeface="+mn-lt"/>
              </a:rPr>
              <a:t>Finding the most similar sensor streams </a:t>
            </a:r>
          </a:p>
          <a:p>
            <a:r>
              <a:rPr lang="en-US" dirty="0">
                <a:latin typeface="+mn-lt"/>
              </a:rPr>
              <a:t>Retrieval augmented generation (RAG)</a:t>
            </a:r>
          </a:p>
          <a:p>
            <a:r>
              <a:rPr lang="en-US" dirty="0" err="1">
                <a:latin typeface="+mn-lt"/>
              </a:rPr>
              <a:t>Etc</a:t>
            </a:r>
            <a:r>
              <a:rPr lang="en-US" dirty="0">
                <a:latin typeface="+mn-lt"/>
              </a:rPr>
              <a:t>…     </a:t>
            </a: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5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similarity and dissimilarity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Measuring similarity and dissimilarity is fundamental to data mining</a:t>
            </a:r>
          </a:p>
          <a:p>
            <a:r>
              <a:rPr lang="en-US" dirty="0">
                <a:latin typeface="+mn-lt"/>
              </a:rPr>
              <a:t>Distance and similarity measures are the </a:t>
            </a:r>
            <a:r>
              <a:rPr lang="en-US" b="1" dirty="0">
                <a:latin typeface="+mn-lt"/>
              </a:rPr>
              <a:t>foundation of unsupervised learning</a:t>
            </a:r>
          </a:p>
          <a:p>
            <a:r>
              <a:rPr lang="en-US" dirty="0">
                <a:latin typeface="+mn-lt"/>
              </a:rPr>
              <a:t>A wide range of metrics used in data mining</a:t>
            </a:r>
          </a:p>
          <a:p>
            <a:r>
              <a:rPr lang="en-US" dirty="0">
                <a:latin typeface="+mn-lt"/>
              </a:rPr>
              <a:t>The metrics used must fit the nature of the data and the analysis </a:t>
            </a:r>
          </a:p>
          <a:p>
            <a:pPr lvl="1"/>
            <a:r>
              <a:rPr lang="en-US" dirty="0">
                <a:latin typeface="+mn-lt"/>
              </a:rPr>
              <a:t>Binary data</a:t>
            </a:r>
          </a:p>
          <a:p>
            <a:pPr lvl="1"/>
            <a:r>
              <a:rPr lang="en-US" dirty="0">
                <a:latin typeface="+mn-lt"/>
              </a:rPr>
              <a:t>Text strings</a:t>
            </a:r>
          </a:p>
          <a:p>
            <a:pPr lvl="1"/>
            <a:r>
              <a:rPr lang="en-US" dirty="0">
                <a:latin typeface="+mn-lt"/>
              </a:rPr>
              <a:t>Numeric data</a:t>
            </a:r>
          </a:p>
          <a:p>
            <a:pPr lvl="1"/>
            <a:r>
              <a:rPr lang="en-US" dirty="0">
                <a:latin typeface="+mn-lt"/>
              </a:rPr>
              <a:t>Ordinal data; e.g. rankings and ratings </a:t>
            </a:r>
          </a:p>
          <a:p>
            <a:pPr lvl="1"/>
            <a:r>
              <a:rPr lang="en-US" dirty="0">
                <a:latin typeface="+mn-lt"/>
              </a:rPr>
              <a:t>Unordered categorical data</a:t>
            </a:r>
          </a:p>
          <a:p>
            <a:r>
              <a:rPr lang="en-US" b="1" dirty="0">
                <a:latin typeface="+mn-lt"/>
              </a:rPr>
              <a:t>There is no one best metric!</a:t>
            </a: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5853-3F71-2F6B-5E06-87812B26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469B-973B-CC90-9785-C2ABFBC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Properties of Distance Metrics</a:t>
            </a:r>
          </a:p>
        </p:txBody>
      </p:sp>
    </p:spTree>
    <p:extLst>
      <p:ext uri="{BB962C8B-B14F-4D97-AF65-F5344CB8AC3E}">
        <p14:creationId xmlns:p14="http://schemas.microsoft.com/office/powerpoint/2010/main" val="3928595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Relationships between variables in a dataset are often based on </a:t>
                </a:r>
                <a:r>
                  <a:rPr lang="en-US" b="1" dirty="0">
                    <a:latin typeface="+mn-lt"/>
                  </a:rPr>
                  <a:t>dissimilarity</a:t>
                </a:r>
                <a:r>
                  <a:rPr lang="en-US" dirty="0">
                    <a:latin typeface="+mn-lt"/>
                  </a:rPr>
                  <a:t> using a </a:t>
                </a:r>
                <a:r>
                  <a:rPr lang="en-US" b="1" dirty="0">
                    <a:latin typeface="+mn-lt"/>
                  </a:rPr>
                  <a:t>distance metric</a:t>
                </a:r>
                <a:endParaRPr lang="en-US" sz="2800" b="1" dirty="0">
                  <a:latin typeface="+mn-lt"/>
                </a:endParaRPr>
              </a:p>
              <a:p>
                <a:r>
                  <a:rPr lang="en-US" sz="2800" dirty="0">
                    <a:latin typeface="+mn-lt"/>
                  </a:rPr>
                  <a:t>The variables or observations </a:t>
                </a:r>
                <a:r>
                  <a:rPr lang="en-US" dirty="0">
                    <a:latin typeface="+mn-lt"/>
                  </a:rPr>
                  <a:t>are </a:t>
                </a:r>
                <a:r>
                  <a:rPr lang="en-US" b="1" dirty="0">
                    <a:latin typeface="+mn-lt"/>
                  </a:rPr>
                  <a:t>vector valued</a:t>
                </a:r>
              </a:p>
              <a:p>
                <a:r>
                  <a:rPr lang="en-US" dirty="0">
                    <a:latin typeface="+mn-lt"/>
                  </a:rPr>
                  <a:t>Distance and similarity are </a:t>
                </a:r>
                <a:r>
                  <a:rPr lang="en-US" b="1" dirty="0">
                    <a:latin typeface="+mn-lt"/>
                  </a:rPr>
                  <a:t>scalar values </a:t>
                </a:r>
              </a:p>
              <a:p>
                <a:r>
                  <a:rPr lang="en-US" sz="3200" dirty="0">
                    <a:latin typeface="+mn-lt"/>
                  </a:rPr>
                  <a:t>A distance (similarity) metric,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>
                    <a:latin typeface="+mn-lt"/>
                  </a:rPr>
                  <a:t>, </a:t>
                </a:r>
                <a:r>
                  <a:rPr lang="en-US" sz="3200" b="1" dirty="0">
                    <a:latin typeface="+mn-lt"/>
                  </a:rPr>
                  <a:t>maps two vector valued variables,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3200" dirty="0">
                    <a:latin typeface="+mn-lt"/>
                  </a:rPr>
                  <a:t>, to a </a:t>
                </a:r>
                <a:r>
                  <a:rPr lang="en-US" sz="3200" b="1" dirty="0">
                    <a:latin typeface="+mn-lt"/>
                  </a:rPr>
                  <a:t>real valued scalar</a:t>
                </a:r>
                <a:r>
                  <a:rPr lang="en-US" sz="32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3200" b="1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3200" b="1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sz="3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200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32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  <a:blipFill>
                <a:blip r:embed="rId3"/>
                <a:stretch>
                  <a:fillRect l="-1217" t="-1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851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Distance metrics between two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, must conform to these </a:t>
                </a:r>
                <a:r>
                  <a:rPr lang="en-US" b="1" dirty="0">
                    <a:latin typeface="+mn-lt"/>
                  </a:rPr>
                  <a:t>4 axioms</a:t>
                </a:r>
                <a:r>
                  <a:rPr lang="en-US" dirty="0">
                    <a:latin typeface="+mn-lt"/>
                  </a:rPr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Distances are </a:t>
                </a:r>
                <a:r>
                  <a:rPr lang="en-US" b="1" dirty="0">
                    <a:latin typeface="+mn-lt"/>
                    <a:ea typeface="Cambria Math" panose="02040503050406030204" pitchFamily="18" charset="0"/>
                  </a:rPr>
                  <a:t>nonnegative</a:t>
                </a:r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>
                  <a:latin typeface="+mn-lt"/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sz="2800" b="0" dirty="0">
                    <a:latin typeface="+mn-lt"/>
                    <a:ea typeface="Cambria Math" panose="02040503050406030204" pitchFamily="18" charset="0"/>
                  </a:rPr>
                  <a:t>Distances are </a:t>
                </a:r>
                <a:r>
                  <a:rPr lang="en-US" b="1" dirty="0">
                    <a:latin typeface="+mn-lt"/>
                    <a:ea typeface="Cambria Math" panose="02040503050406030204" pitchFamily="18" charset="0"/>
                  </a:rPr>
                  <a:t>only 0</a:t>
                </a:r>
                <a:r>
                  <a:rPr lang="en-US" sz="2800" b="1" dirty="0">
                    <a:latin typeface="+mn-lt"/>
                    <a:ea typeface="Cambria Math" panose="02040503050406030204" pitchFamily="18" charset="0"/>
                  </a:rPr>
                  <a:t> between a point and itself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𝑖𝑓𝑓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Distances are </a:t>
                </a:r>
                <a:r>
                  <a:rPr lang="en-US" b="1" dirty="0">
                    <a:latin typeface="+mn-lt"/>
                    <a:ea typeface="Cambria Math" panose="02040503050406030204" pitchFamily="18" charset="0"/>
                  </a:rPr>
                  <a:t>symmetric</a:t>
                </a:r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n-lt"/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sz="2800" b="0" dirty="0">
                    <a:latin typeface="+mn-lt"/>
                    <a:ea typeface="Cambria Math" panose="02040503050406030204" pitchFamily="18" charset="0"/>
                  </a:rPr>
                  <a:t>Distances must follow the </a:t>
                </a:r>
                <a:r>
                  <a:rPr lang="en-US" sz="2800" b="1" dirty="0">
                    <a:latin typeface="+mn-lt"/>
                    <a:ea typeface="Cambria Math" panose="02040503050406030204" pitchFamily="18" charset="0"/>
                  </a:rPr>
                  <a:t>triangle inequality </a:t>
                </a:r>
                <a:r>
                  <a:rPr lang="en-US" sz="2800" b="0" dirty="0">
                    <a:latin typeface="+mn-lt"/>
                    <a:ea typeface="Cambria Math" panose="02040503050406030204" pitchFamily="18" charset="0"/>
                  </a:rPr>
                  <a:t>(no shortcuts!)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∀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𝑝𝑜𝑖𝑛𝑡𝑠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</a:endParaRPr>
              </a:p>
              <a:p>
                <a:endParaRPr lang="en-US" sz="2800" dirty="0">
                  <a:latin typeface="+mn-lt"/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  <a:blipFill>
                <a:blip r:embed="rId3"/>
                <a:stretch>
                  <a:fillRect l="-1111" t="-1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029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900312"/>
                <a:ext cx="11525250" cy="52903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Structure in data arises from </a:t>
                </a:r>
                <a:r>
                  <a:rPr lang="en-US" b="1" dirty="0">
                    <a:latin typeface="+mn-lt"/>
                  </a:rPr>
                  <a:t>dissimilarity</a:t>
                </a:r>
                <a:r>
                  <a:rPr lang="en-US" dirty="0">
                    <a:latin typeface="+mn-lt"/>
                  </a:rPr>
                  <a:t> measured by some </a:t>
                </a:r>
                <a:r>
                  <a:rPr lang="en-US" b="1" dirty="0">
                    <a:latin typeface="+mn-lt"/>
                  </a:rPr>
                  <a:t>distance metric</a:t>
                </a:r>
                <a:endParaRPr lang="en-US" sz="2800" b="1" dirty="0">
                  <a:latin typeface="+mn-lt"/>
                </a:endParaRPr>
              </a:p>
              <a:p>
                <a:r>
                  <a:rPr lang="en-US" sz="2800" dirty="0">
                    <a:latin typeface="+mn-lt"/>
                  </a:rPr>
                  <a:t>How do we organize dissimilarity (similarity) values? </a:t>
                </a:r>
              </a:p>
              <a:p>
                <a:r>
                  <a:rPr lang="en-US" dirty="0">
                    <a:latin typeface="+mn-lt"/>
                  </a:rPr>
                  <a:t>Create a </a:t>
                </a:r>
                <a:r>
                  <a:rPr lang="en-US" b="1" dirty="0">
                    <a:latin typeface="+mn-lt"/>
                  </a:rPr>
                  <a:t>dissimilarity matrix </a:t>
                </a:r>
                <a:r>
                  <a:rPr lang="en-US" dirty="0">
                    <a:latin typeface="+mn-lt"/>
                  </a:rPr>
                  <a:t>of the distances between each case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 and every other case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,</a:t>
                </a:r>
                <a:r>
                  <a:rPr lang="en-US" i="1" dirty="0">
                    <a:latin typeface="+mn-lt"/>
                  </a:rPr>
                  <a:t> d(x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,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)</a:t>
                </a:r>
              </a:p>
              <a:p>
                <a:endParaRPr lang="en-US" sz="2800" i="1" baseline="-25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8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900312"/>
                <a:ext cx="11525250" cy="5290388"/>
              </a:xfrm>
              <a:blipFill>
                <a:blip r:embed="rId3"/>
                <a:stretch>
                  <a:fillRect l="-1111" t="-1959" r="-1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79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 dissimilarity matrix contains the distances between each case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 and every other case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,</a:t>
                </a:r>
                <a:r>
                  <a:rPr lang="en-US" i="1" dirty="0">
                    <a:latin typeface="+mn-lt"/>
                  </a:rPr>
                  <a:t> d(x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,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)</a:t>
                </a:r>
              </a:p>
              <a:p>
                <a:endParaRPr lang="en-US" sz="2800" i="1" baseline="-25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8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baseline="-250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</a:endParaRPr>
              </a:p>
              <a:p>
                <a:pPr lvl="1"/>
                <a:endParaRPr lang="en-US" dirty="0"/>
              </a:p>
              <a:p>
                <a:r>
                  <a:rPr lang="en-US" dirty="0">
                    <a:latin typeface="+mn-lt"/>
                  </a:rPr>
                  <a:t>Dissimilarity matrix is symmetric,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diagonal elements of the dissimilarity matrix are all 0, there is no dissimilarity</a:t>
                </a:r>
              </a:p>
              <a:p>
                <a:r>
                  <a:rPr lang="en-US" dirty="0">
                    <a:latin typeface="+mn-lt"/>
                  </a:rPr>
                  <a:t>Similarity matrix is the inverse of dissimilarity matrix    </a:t>
                </a:r>
              </a:p>
              <a:p>
                <a:pPr lvl="1"/>
                <a:r>
                  <a:rPr lang="en-US" dirty="0">
                    <a:latin typeface="+mn-lt"/>
                  </a:rPr>
                  <a:t>Symmetric</a:t>
                </a:r>
              </a:p>
              <a:p>
                <a:pPr lvl="1"/>
                <a:r>
                  <a:rPr lang="en-US" dirty="0">
                    <a:latin typeface="+mn-lt"/>
                  </a:rPr>
                  <a:t>All 1s on the diagonal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  <a:blipFill>
                <a:blip r:embed="rId3"/>
                <a:stretch>
                  <a:fillRect l="-1111" t="-2539" b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19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 dissimilarity matrix contains the differences between each case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 and every other case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,</a:t>
                </a:r>
                <a:r>
                  <a:rPr lang="en-US" i="1" dirty="0">
                    <a:latin typeface="+mn-lt"/>
                  </a:rPr>
                  <a:t> d(x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,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)</a:t>
                </a:r>
              </a:p>
              <a:p>
                <a:endParaRPr lang="en-US" sz="2800" i="1" baseline="-25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8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baseline="-250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</a:endParaRPr>
              </a:p>
              <a:p>
                <a:pPr lvl="1"/>
                <a:endParaRPr lang="en-US" dirty="0"/>
              </a:p>
              <a:p>
                <a:r>
                  <a:rPr lang="en-US" dirty="0">
                    <a:latin typeface="+mn-lt"/>
                  </a:rPr>
                  <a:t>Only need to store upper (or lower) triangular elements of array  </a:t>
                </a:r>
              </a:p>
              <a:p>
                <a:r>
                  <a:rPr lang="en-US" dirty="0">
                    <a:latin typeface="+mn-lt"/>
                  </a:rPr>
                  <a:t>Is a </a:t>
                </a:r>
                <a:r>
                  <a:rPr lang="en-US" b="1" dirty="0">
                    <a:latin typeface="+mn-lt"/>
                  </a:rPr>
                  <a:t>dense and memory intensive representation</a:t>
                </a:r>
                <a:r>
                  <a:rPr lang="en-US" dirty="0">
                    <a:latin typeface="+mn-lt"/>
                  </a:rPr>
                  <a:t> requiring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>
                    <a:latin typeface="+mn-lt"/>
                  </a:rPr>
                  <a:t>  </a:t>
                </a:r>
                <a:r>
                  <a:rPr lang="en-US" dirty="0">
                    <a:latin typeface="+mn-lt"/>
                  </a:rPr>
                  <a:t>memory</a:t>
                </a:r>
              </a:p>
              <a:p>
                <a:pPr marL="0" indent="0">
                  <a:buNone/>
                </a:pPr>
                <a:endParaRPr 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  <a:blipFill>
                <a:blip r:embed="rId3"/>
                <a:stretch>
                  <a:fillRect l="-1111" t="-1876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86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72CC-21A1-D54E-D475-EFA6405D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5793-B39C-CE61-D1B0-1E4A2293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Basic Distance Metrics</a:t>
            </a:r>
          </a:p>
        </p:txBody>
      </p:sp>
    </p:spTree>
    <p:extLst>
      <p:ext uri="{BB962C8B-B14F-4D97-AF65-F5344CB8AC3E}">
        <p14:creationId xmlns:p14="http://schemas.microsoft.com/office/powerpoint/2010/main" val="301603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Different metrics for dissimilarity can be computed for numeric variables with p dimensions</a:t>
                </a:r>
              </a:p>
              <a:p>
                <a:r>
                  <a:rPr lang="en-US" b="1" dirty="0">
                    <a:latin typeface="+mn-lt"/>
                  </a:rPr>
                  <a:t>Euclidian distance, (L2</a:t>
                </a:r>
                <a:r>
                  <a:rPr lang="en-US" dirty="0">
                    <a:latin typeface="+mn-lt"/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Absolute distance</a:t>
                </a:r>
                <a:r>
                  <a:rPr lang="en-US" dirty="0">
                    <a:latin typeface="+mn-lt"/>
                  </a:rPr>
                  <a:t> or </a:t>
                </a:r>
                <a:r>
                  <a:rPr lang="en-US" b="1" dirty="0">
                    <a:latin typeface="+mn-lt"/>
                  </a:rPr>
                  <a:t>Manhattan distance (L1)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Max</a:t>
                </a:r>
                <a:r>
                  <a:rPr lang="en-US" dirty="0">
                    <a:latin typeface="+mn-lt"/>
                  </a:rPr>
                  <a:t>;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</a:t>
                </a: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 r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24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Square root of the sum of squares is the Euclidian distance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  <a:blipFill>
                <a:blip r:embed="rId3"/>
                <a:stretch>
                  <a:fillRect l="-847" t="-7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/>
          <p:nvPr/>
        </p:nvCxnSpPr>
        <p:spPr>
          <a:xfrm>
            <a:off x="1563920" y="5896166"/>
            <a:ext cx="45978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1563920" y="2512370"/>
            <a:ext cx="0" cy="33837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B40F0C-6CA8-4E2B-9506-257938DB4E99}"/>
              </a:ext>
            </a:extLst>
          </p:cNvPr>
          <p:cNvSpPr txBox="1"/>
          <p:nvPr/>
        </p:nvSpPr>
        <p:spPr>
          <a:xfrm>
            <a:off x="3713018" y="5896166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3A1DA-70A2-4EC3-9CAF-5C65A92AE62B}"/>
              </a:ext>
            </a:extLst>
          </p:cNvPr>
          <p:cNvSpPr txBox="1"/>
          <p:nvPr/>
        </p:nvSpPr>
        <p:spPr>
          <a:xfrm>
            <a:off x="1044374" y="3887257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2</a:t>
            </a: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B23426B5-5480-4DE4-9184-9876C2CB2517}"/>
              </a:ext>
            </a:extLst>
          </p:cNvPr>
          <p:cNvSpPr/>
          <p:nvPr/>
        </p:nvSpPr>
        <p:spPr>
          <a:xfrm>
            <a:off x="5122720" y="3324562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CD8CD439-2CC4-4431-AB63-0F32315F3BC5}"/>
              </a:ext>
            </a:extLst>
          </p:cNvPr>
          <p:cNvSpPr/>
          <p:nvPr/>
        </p:nvSpPr>
        <p:spPr>
          <a:xfrm>
            <a:off x="3304868" y="5164072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D27AE9-6F7D-46F4-B0C2-70E2F3CD488A}"/>
              </a:ext>
            </a:extLst>
          </p:cNvPr>
          <p:cNvSpPr txBox="1"/>
          <p:nvPr/>
        </p:nvSpPr>
        <p:spPr>
          <a:xfrm>
            <a:off x="3017709" y="5345466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(2,1)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00F31-6C70-4F71-B1DD-342BB67BF461}"/>
              </a:ext>
            </a:extLst>
          </p:cNvPr>
          <p:cNvSpPr txBox="1"/>
          <p:nvPr/>
        </p:nvSpPr>
        <p:spPr>
          <a:xfrm>
            <a:off x="5337699" y="3157229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(4,3)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6416298" y="2752880"/>
                <a:ext cx="5584552" cy="2397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Points at (2,1) and (4,3)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is the distance between them?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Sum of squares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2−4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Euclidian Norm  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=2.83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298" y="2752880"/>
                <a:ext cx="5584552" cy="2397579"/>
              </a:xfrm>
              <a:prstGeom prst="rect">
                <a:avLst/>
              </a:prstGeom>
              <a:blipFill>
                <a:blip r:embed="rId4"/>
                <a:stretch>
                  <a:fillRect l="-1528" t="-2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3405313" y="3533437"/>
            <a:ext cx="1817852" cy="1630635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5066A27-03ED-4C91-9E71-890ECF17A18B}"/>
              </a:ext>
            </a:extLst>
          </p:cNvPr>
          <p:cNvSpPr txBox="1"/>
          <p:nvPr/>
        </p:nvSpPr>
        <p:spPr>
          <a:xfrm>
            <a:off x="6382015" y="5164072"/>
            <a:ext cx="5584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Euclidian Norm is ‘crow-flies’ distance </a:t>
            </a:r>
          </a:p>
        </p:txBody>
      </p:sp>
    </p:spTree>
    <p:extLst>
      <p:ext uri="{BB962C8B-B14F-4D97-AF65-F5344CB8AC3E}">
        <p14:creationId xmlns:p14="http://schemas.microsoft.com/office/powerpoint/2010/main" val="128853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Manhattan Norm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  <a:blipFill>
                <a:blip r:embed="rId3"/>
                <a:stretch>
                  <a:fillRect l="-1111" t="-6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/>
          <p:nvPr/>
        </p:nvCxnSpPr>
        <p:spPr>
          <a:xfrm>
            <a:off x="1563920" y="5896166"/>
            <a:ext cx="45978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1563920" y="2512370"/>
            <a:ext cx="0" cy="33837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B40F0C-6CA8-4E2B-9506-257938DB4E99}"/>
              </a:ext>
            </a:extLst>
          </p:cNvPr>
          <p:cNvSpPr txBox="1"/>
          <p:nvPr/>
        </p:nvSpPr>
        <p:spPr>
          <a:xfrm>
            <a:off x="3713018" y="5896166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3A1DA-70A2-4EC3-9CAF-5C65A92AE62B}"/>
              </a:ext>
            </a:extLst>
          </p:cNvPr>
          <p:cNvSpPr txBox="1"/>
          <p:nvPr/>
        </p:nvSpPr>
        <p:spPr>
          <a:xfrm>
            <a:off x="1044374" y="3887257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2</a:t>
            </a: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B23426B5-5480-4DE4-9184-9876C2CB2517}"/>
              </a:ext>
            </a:extLst>
          </p:cNvPr>
          <p:cNvSpPr/>
          <p:nvPr/>
        </p:nvSpPr>
        <p:spPr>
          <a:xfrm>
            <a:off x="5122720" y="3324562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CD8CD439-2CC4-4431-AB63-0F32315F3BC5}"/>
              </a:ext>
            </a:extLst>
          </p:cNvPr>
          <p:cNvSpPr/>
          <p:nvPr/>
        </p:nvSpPr>
        <p:spPr>
          <a:xfrm>
            <a:off x="3304868" y="5164072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D27AE9-6F7D-46F4-B0C2-70E2F3CD488A}"/>
              </a:ext>
            </a:extLst>
          </p:cNvPr>
          <p:cNvSpPr txBox="1"/>
          <p:nvPr/>
        </p:nvSpPr>
        <p:spPr>
          <a:xfrm>
            <a:off x="3017709" y="5345466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(2,1)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00F31-6C70-4F71-B1DD-342BB67BF461}"/>
              </a:ext>
            </a:extLst>
          </p:cNvPr>
          <p:cNvSpPr txBox="1"/>
          <p:nvPr/>
        </p:nvSpPr>
        <p:spPr>
          <a:xfrm>
            <a:off x="5337699" y="3157229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(4,3)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6416298" y="2752880"/>
                <a:ext cx="558455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Points at (2,1) and (4,3)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is the distance between them?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Manhattan Norm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2−4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1−3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Manhattan distance is distance traveled on a grid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298" y="2752880"/>
                <a:ext cx="5584552" cy="2308324"/>
              </a:xfrm>
              <a:prstGeom prst="rect">
                <a:avLst/>
              </a:prstGeom>
              <a:blipFill>
                <a:blip r:embed="rId4"/>
                <a:stretch>
                  <a:fillRect l="-1528" t="-2116" r="-109" b="-5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505758" y="5268510"/>
            <a:ext cx="1691340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5197098" y="3533437"/>
            <a:ext cx="26067" cy="1735073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04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1D9FF-E41C-E876-3C19-0764AE051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DD4C-C176-D7CD-2E76-2AEA555C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412EDD-2044-629B-DB79-22304786837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412EDD-2044-629B-DB79-2230478683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  <a:blipFill>
                <a:blip r:embed="rId3"/>
                <a:stretch>
                  <a:fillRect t="-6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8339C03-A116-9DB5-E137-9FFB4D245DA3}"/>
              </a:ext>
            </a:extLst>
          </p:cNvPr>
          <p:cNvCxnSpPr/>
          <p:nvPr/>
        </p:nvCxnSpPr>
        <p:spPr>
          <a:xfrm>
            <a:off x="1563920" y="5896166"/>
            <a:ext cx="45978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2F073A-5749-91B1-9B14-4D5AB7B7610A}"/>
              </a:ext>
            </a:extLst>
          </p:cNvPr>
          <p:cNvCxnSpPr>
            <a:cxnSpLocks/>
          </p:cNvCxnSpPr>
          <p:nvPr/>
        </p:nvCxnSpPr>
        <p:spPr>
          <a:xfrm flipV="1">
            <a:off x="1563920" y="2512370"/>
            <a:ext cx="0" cy="33837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E95F523-4F3A-9F8B-88E3-5B5DBB4FFEB3}"/>
              </a:ext>
            </a:extLst>
          </p:cNvPr>
          <p:cNvSpPr txBox="1"/>
          <p:nvPr/>
        </p:nvSpPr>
        <p:spPr>
          <a:xfrm>
            <a:off x="3713018" y="5896166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28E4AA-5DFE-DF14-8E4C-E84B9274BF2E}"/>
              </a:ext>
            </a:extLst>
          </p:cNvPr>
          <p:cNvSpPr txBox="1"/>
          <p:nvPr/>
        </p:nvSpPr>
        <p:spPr>
          <a:xfrm>
            <a:off x="1044374" y="3887257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2</a:t>
            </a: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727E22DA-4180-C382-0150-1D93647F5866}"/>
              </a:ext>
            </a:extLst>
          </p:cNvPr>
          <p:cNvSpPr/>
          <p:nvPr/>
        </p:nvSpPr>
        <p:spPr>
          <a:xfrm>
            <a:off x="5122720" y="3324562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54B5728A-87F6-16C5-0D2F-95B70FC2BB9B}"/>
              </a:ext>
            </a:extLst>
          </p:cNvPr>
          <p:cNvSpPr/>
          <p:nvPr/>
        </p:nvSpPr>
        <p:spPr>
          <a:xfrm>
            <a:off x="3304868" y="5164072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0600A1-2D63-4A1F-746F-562EDE0C7B08}"/>
              </a:ext>
            </a:extLst>
          </p:cNvPr>
          <p:cNvSpPr txBox="1"/>
          <p:nvPr/>
        </p:nvSpPr>
        <p:spPr>
          <a:xfrm>
            <a:off x="3017709" y="5345466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(2,1)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42490E-41D4-87A4-914C-A521FFF7EF03}"/>
              </a:ext>
            </a:extLst>
          </p:cNvPr>
          <p:cNvSpPr txBox="1"/>
          <p:nvPr/>
        </p:nvSpPr>
        <p:spPr>
          <a:xfrm>
            <a:off x="5337699" y="3157229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(4,3)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6FA2A4-CFCD-5C9F-F4CA-37EAF5892DF8}"/>
                  </a:ext>
                </a:extLst>
              </p:cNvPr>
              <p:cNvSpPr txBox="1"/>
              <p:nvPr/>
            </p:nvSpPr>
            <p:spPr>
              <a:xfrm>
                <a:off x="6416298" y="2752880"/>
                <a:ext cx="558455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Points at (2,1) and (4,3)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is the maximum distance along any axis?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2400" dirty="0"/>
                  <a:t> Norm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2−4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1−3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6FA2A4-CFCD-5C9F-F4CA-37EAF5892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298" y="2752880"/>
                <a:ext cx="5584552" cy="1938992"/>
              </a:xfrm>
              <a:prstGeom prst="rect">
                <a:avLst/>
              </a:prstGeom>
              <a:blipFill>
                <a:blip r:embed="rId4"/>
                <a:stretch>
                  <a:fillRect l="-1528" t="-2516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46B6FC-3E25-9C31-0671-D6F0F28ABAD7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505758" y="5268510"/>
            <a:ext cx="1691340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26D40A-41A5-6AED-303D-BEBC0FAD5744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5197098" y="3533437"/>
            <a:ext cx="26067" cy="1735073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86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Different metrics for numeric dissimilarity can be computed for numeric variables in p dimensions</a:t>
                </a:r>
              </a:p>
              <a:p>
                <a:r>
                  <a:rPr lang="en-US" b="1" dirty="0" err="1">
                    <a:latin typeface="+mn-lt"/>
                    <a:hlinkClick r:id="rId3"/>
                  </a:rPr>
                  <a:t>Mahalanobis</a:t>
                </a:r>
                <a:r>
                  <a:rPr lang="en-US" b="1" dirty="0">
                    <a:latin typeface="+mn-lt"/>
                    <a:hlinkClick r:id="rId3"/>
                  </a:rPr>
                  <a:t> Distance </a:t>
                </a:r>
                <a:r>
                  <a:rPr lang="en-US" dirty="0">
                    <a:latin typeface="+mn-lt"/>
                  </a:rPr>
                  <a:t>(standardized Euclidean distance) is useful in cases with dependency (correlation) between variables  </a:t>
                </a:r>
              </a:p>
              <a:p>
                <a:r>
                  <a:rPr lang="en-US" dirty="0">
                    <a:latin typeface="+mn-lt"/>
                  </a:rPr>
                  <a:t>Technically is a ‘pseudo-distance’ metric since works in transformed space  </a:t>
                </a:r>
              </a:p>
              <a:p>
                <a:r>
                  <a:rPr lang="en-US" b="1" dirty="0" err="1">
                    <a:latin typeface="+mn-lt"/>
                  </a:rPr>
                  <a:t>Mahalanobis</a:t>
                </a:r>
                <a:r>
                  <a:rPr lang="en-US" b="1" dirty="0">
                    <a:latin typeface="+mn-lt"/>
                  </a:rPr>
                  <a:t> Distance </a:t>
                </a:r>
                <a:r>
                  <a:rPr lang="en-US" dirty="0">
                    <a:latin typeface="+mn-lt"/>
                  </a:rPr>
                  <a:t>between two points (vectors)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′)= 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ra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latin typeface="+mn-lt"/>
                  </a:rPr>
                  <a:t> is the empirical covariance estimate </a:t>
                </a:r>
              </a:p>
              <a:p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dirty="0" err="1">
                    <a:latin typeface="+mn-lt"/>
                  </a:rPr>
                  <a:t>Mahalanobis</a:t>
                </a:r>
                <a:r>
                  <a:rPr lang="en-US" dirty="0">
                    <a:latin typeface="+mn-lt"/>
                  </a:rPr>
                  <a:t> distance?   </a:t>
                </a:r>
              </a:p>
              <a:p>
                <a:pPr marL="0" indent="0">
                  <a:buNone/>
                </a:pPr>
                <a:endParaRPr lang="en-US" sz="240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2400">
                    <a:latin typeface="+mn-lt"/>
                  </a:rPr>
                  <a:t>You </a:t>
                </a:r>
                <a:r>
                  <a:rPr lang="en-US" sz="2400" dirty="0">
                    <a:latin typeface="+mn-lt"/>
                  </a:rPr>
                  <a:t>can find an alternative explanation in </a:t>
                </a:r>
                <a:r>
                  <a:rPr lang="en-US" sz="2400" dirty="0">
                    <a:latin typeface="+mn-lt"/>
                    <a:hlinkClick r:id="rId4"/>
                  </a:rPr>
                  <a:t>Statistics How To</a:t>
                </a: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2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09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Different metrics for numeric dissimilarity can be computed for numeric variables in p dimensions</a:t>
                </a:r>
              </a:p>
              <a:p>
                <a:r>
                  <a:rPr lang="en-US" b="1" dirty="0" err="1">
                    <a:latin typeface="+mn-lt"/>
                  </a:rPr>
                  <a:t>Mahalanobis</a:t>
                </a:r>
                <a:r>
                  <a:rPr lang="en-US" b="1" dirty="0">
                    <a:latin typeface="+mn-lt"/>
                  </a:rPr>
                  <a:t> Distance </a:t>
                </a:r>
                <a:r>
                  <a:rPr lang="en-US" dirty="0">
                    <a:latin typeface="+mn-lt"/>
                  </a:rPr>
                  <a:t>between two points (vectors)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′)= 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ra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latin typeface="+mn-lt"/>
                  </a:rPr>
                  <a:t> is the empirical covariance estimate </a:t>
                </a:r>
              </a:p>
              <a:p>
                <a:r>
                  <a:rPr lang="en-US" dirty="0">
                    <a:latin typeface="+mn-lt"/>
                  </a:rPr>
                  <a:t>Inverse covariance,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, transforms elliptical Normal distribution to spherical distribution</a:t>
                </a:r>
              </a:p>
              <a:p>
                <a:r>
                  <a:rPr lang="en-US" dirty="0">
                    <a:latin typeface="+mn-lt"/>
                  </a:rPr>
                  <a:t>Transformed space is </a:t>
                </a:r>
                <a:r>
                  <a:rPr lang="en-US" b="1" dirty="0">
                    <a:latin typeface="+mn-lt"/>
                  </a:rPr>
                  <a:t>orthogonal</a:t>
                </a:r>
                <a:r>
                  <a:rPr lang="en-US" dirty="0">
                    <a:latin typeface="+mn-lt"/>
                  </a:rPr>
                  <a:t>  </a:t>
                </a:r>
              </a:p>
              <a:p>
                <a:r>
                  <a:rPr lang="en-US" dirty="0" err="1">
                    <a:latin typeface="+mn-lt"/>
                  </a:rPr>
                  <a:t>Mahalanobis</a:t>
                </a:r>
                <a:r>
                  <a:rPr lang="en-US" dirty="0">
                    <a:latin typeface="+mn-lt"/>
                  </a:rPr>
                  <a:t> distance is measured in the transformed space </a:t>
                </a:r>
              </a:p>
              <a:p>
                <a:r>
                  <a:rPr lang="en-US" dirty="0" err="1">
                    <a:latin typeface="+mn-lt"/>
                  </a:rPr>
                  <a:t>Mahalanobis</a:t>
                </a:r>
                <a:r>
                  <a:rPr lang="en-US" dirty="0">
                    <a:latin typeface="+mn-lt"/>
                  </a:rPr>
                  <a:t> distance is </a:t>
                </a:r>
                <a:r>
                  <a:rPr lang="en-US" b="1" dirty="0">
                    <a:latin typeface="+mn-lt"/>
                  </a:rPr>
                  <a:t>scale invariant </a:t>
                </a:r>
                <a:r>
                  <a:rPr lang="en-US" dirty="0">
                    <a:latin typeface="+mn-lt"/>
                  </a:rPr>
                  <a:t>and </a:t>
                </a:r>
                <a:r>
                  <a:rPr lang="en-US" b="1" dirty="0">
                    <a:latin typeface="+mn-lt"/>
                  </a:rPr>
                  <a:t>unitless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 r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58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20309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Different metrics for numeric dissimilarity can be computed for numeric variables in p dimensions</a:t>
            </a:r>
          </a:p>
          <a:p>
            <a:r>
              <a:rPr lang="en-US" dirty="0">
                <a:latin typeface="+mn-lt"/>
              </a:rPr>
              <a:t>Example: start with some 2-dimensional observations  </a:t>
            </a:r>
          </a:p>
          <a:p>
            <a:r>
              <a:rPr lang="en-US" dirty="0">
                <a:latin typeface="+mn-lt"/>
              </a:rPr>
              <a:t>Variables are correlated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F6007-5EB8-0DD6-9E7A-06BEDDDD5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76" y="2883745"/>
            <a:ext cx="5330661" cy="34154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173562-5ECA-4FF9-B3FD-3958B8698064}"/>
              </a:ext>
            </a:extLst>
          </p:cNvPr>
          <p:cNvSpPr txBox="1"/>
          <p:nvPr/>
        </p:nvSpPr>
        <p:spPr>
          <a:xfrm>
            <a:off x="2762553" y="6328231"/>
            <a:ext cx="5597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Source, </a:t>
            </a:r>
            <a:r>
              <a:rPr lang="en-US" sz="1400" dirty="0">
                <a:hlinkClick r:id="rId4"/>
              </a:rPr>
              <a:t>lecture notes by Dr. Sunnie S. Chung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05895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7994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Different metrics for numeric dissimilarity can be computed for numeric variables in p dimensions</a:t>
                </a:r>
              </a:p>
              <a:p>
                <a:r>
                  <a:rPr lang="en-US" dirty="0">
                    <a:latin typeface="+mn-lt"/>
                  </a:rPr>
                  <a:t>Example: start with some 2-dimensional observations  </a:t>
                </a:r>
              </a:p>
              <a:p>
                <a:r>
                  <a:rPr lang="en-US" dirty="0">
                    <a:latin typeface="+mn-lt"/>
                  </a:rPr>
                  <a:t>Principle axis of data ellipse does not align with variable axes </a:t>
                </a:r>
              </a:p>
              <a:p>
                <a:r>
                  <a:rPr lang="en-US" dirty="0">
                    <a:latin typeface="+mn-lt"/>
                  </a:rPr>
                  <a:t>Principle axis is defined by the eigenvectors of the covariance,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799471"/>
              </a:xfrm>
              <a:blipFill>
                <a:blip r:embed="rId3"/>
                <a:stretch>
                  <a:fillRect l="-1111" t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E173562-5ECA-4FF9-B3FD-3958B8698064}"/>
              </a:ext>
            </a:extLst>
          </p:cNvPr>
          <p:cNvSpPr txBox="1"/>
          <p:nvPr/>
        </p:nvSpPr>
        <p:spPr>
          <a:xfrm>
            <a:off x="2786743" y="6482119"/>
            <a:ext cx="5597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Source, </a:t>
            </a:r>
            <a:r>
              <a:rPr lang="en-US" sz="1400" dirty="0">
                <a:hlinkClick r:id="rId4"/>
              </a:rPr>
              <a:t>lecture notes by Dr. Sunnie S. Chung 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C8EBC8-C970-710A-8E32-0E1BC9839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9123" y="3539515"/>
            <a:ext cx="5796039" cy="29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430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898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Different metrics for numeric dissimilarity can be computed for numeric variables in p dimensions</a:t>
            </a:r>
            <a:endParaRPr lang="en-US" dirty="0"/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FC55A-5F3E-3E43-C555-5C84A59D99AF}"/>
              </a:ext>
            </a:extLst>
          </p:cNvPr>
          <p:cNvSpPr txBox="1"/>
          <p:nvPr/>
        </p:nvSpPr>
        <p:spPr>
          <a:xfrm>
            <a:off x="7571620" y="6377214"/>
            <a:ext cx="4287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Source, </a:t>
            </a:r>
            <a:r>
              <a:rPr lang="en-US" sz="1400" dirty="0">
                <a:hlinkClick r:id="rId3"/>
              </a:rPr>
              <a:t>lecture notes by Dr. Sunnie S. Chung 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F09EC5-A545-502D-DC3F-2C6486EC7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579" y="1601997"/>
            <a:ext cx="4708677" cy="45981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3410E4D-0493-DFF6-FCAA-9DEA90442F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098" y="1907828"/>
                <a:ext cx="5653769" cy="28147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Font typeface="Arial" panose="020B0604020202020204" pitchFamily="34" charset="0"/>
                  <a:buChar char="•"/>
                  <a:defRPr sz="2800" b="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+mn-lt"/>
                  </a:rPr>
                  <a:t>Apply inverse covariance,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latin typeface="+mn-lt"/>
                  </a:rPr>
                  <a:t>  transformation </a:t>
                </a:r>
              </a:p>
              <a:p>
                <a:r>
                  <a:rPr lang="en-US" dirty="0">
                    <a:latin typeface="+mn-lt"/>
                  </a:rPr>
                  <a:t>Distances between two points are now </a:t>
                </a:r>
                <a:r>
                  <a:rPr lang="en-US" dirty="0" err="1">
                    <a:latin typeface="+mn-lt"/>
                  </a:rPr>
                  <a:t>Mahalanobis</a:t>
                </a:r>
                <a:r>
                  <a:rPr lang="en-US" dirty="0">
                    <a:latin typeface="+mn-lt"/>
                  </a:rPr>
                  <a:t> distances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2400" dirty="0"/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3410E4D-0493-DFF6-FCAA-9DEA90442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98" y="1907828"/>
                <a:ext cx="5653769" cy="2814740"/>
              </a:xfrm>
              <a:prstGeom prst="rect">
                <a:avLst/>
              </a:prstGeom>
              <a:blipFill>
                <a:blip r:embed="rId5"/>
                <a:stretch>
                  <a:fillRect l="-1940" t="-3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472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Edit Distance</a:t>
                </a:r>
                <a:r>
                  <a:rPr lang="en-US" dirty="0">
                    <a:latin typeface="+mn-lt"/>
                  </a:rPr>
                  <a:t>: the number of edit operations required to </a:t>
                </a:r>
              </a:p>
              <a:p>
                <a:r>
                  <a:rPr lang="en-US" dirty="0">
                    <a:latin typeface="+mn-lt"/>
                  </a:rPr>
                  <a:t>Example: Consider two character vectors, strings:   </a:t>
                </a:r>
                <a:r>
                  <a:rPr lang="en-US" sz="2400" dirty="0">
                    <a:latin typeface="+mn-lt"/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				x = </a:t>
                </a:r>
                <a:r>
                  <a:rPr lang="en-US" dirty="0" err="1">
                    <a:latin typeface="+mn-lt"/>
                  </a:rPr>
                  <a:t>thisismy</a:t>
                </a:r>
                <a:r>
                  <a:rPr lang="en-US" dirty="0" err="1">
                    <a:solidFill>
                      <a:srgbClr val="C00000"/>
                    </a:solidFill>
                    <a:latin typeface="+mn-lt"/>
                  </a:rPr>
                  <a:t>olddog</a:t>
                </a:r>
                <a:endParaRPr lang="en-US" dirty="0">
                  <a:solidFill>
                    <a:srgbClr val="C00000"/>
                  </a:solidFill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				x’ = </a:t>
                </a:r>
                <a:r>
                  <a:rPr lang="en-US" dirty="0" err="1">
                    <a:latin typeface="+mn-lt"/>
                  </a:rPr>
                  <a:t>thisismy</a:t>
                </a:r>
                <a:r>
                  <a:rPr lang="en-US" dirty="0" err="1">
                    <a:solidFill>
                      <a:srgbClr val="C00000"/>
                    </a:solidFill>
                    <a:latin typeface="+mn-lt"/>
                  </a:rPr>
                  <a:t>cat</a:t>
                </a:r>
                <a:endParaRPr lang="en-US" dirty="0">
                  <a:solidFill>
                    <a:srgbClr val="C00000"/>
                  </a:solidFill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Changes required to have same characters in both strings:   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				3 – deletes, o, l, d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                                               3 – changes, c, a, 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+mn-lt"/>
                  </a:rPr>
                  <a:t> d, o, g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				edit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=3+3=6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Many edit distance metrics can be applied:  </a:t>
                </a:r>
              </a:p>
              <a:p>
                <a:pPr lvl="1"/>
                <a:r>
                  <a:rPr lang="en-US" dirty="0">
                    <a:latin typeface="+mn-lt"/>
                  </a:rPr>
                  <a:t>Hamming distance </a:t>
                </a:r>
              </a:p>
              <a:p>
                <a:pPr lvl="1"/>
                <a:r>
                  <a:rPr lang="en-US" dirty="0" err="1">
                    <a:latin typeface="+mn-lt"/>
                    <a:hlinkClick r:id="rId3"/>
                  </a:rPr>
                  <a:t>Levenshtein</a:t>
                </a:r>
                <a:r>
                  <a:rPr lang="en-US" dirty="0">
                    <a:latin typeface="+mn-lt"/>
                    <a:hlinkClick r:id="rId3"/>
                  </a:rPr>
                  <a:t> distance</a:t>
                </a:r>
                <a:r>
                  <a:rPr lang="en-US" dirty="0">
                    <a:latin typeface="+mn-lt"/>
                  </a:rPr>
                  <a:t>   </a:t>
                </a:r>
              </a:p>
              <a:p>
                <a:pPr lvl="1"/>
                <a:r>
                  <a:rPr lang="en-US" dirty="0">
                    <a:latin typeface="+mn-lt"/>
                  </a:rPr>
                  <a:t>Longest common sequence</a:t>
                </a:r>
              </a:p>
              <a:p>
                <a:pPr lvl="1"/>
                <a:r>
                  <a:rPr lang="en-US" dirty="0">
                    <a:latin typeface="+mn-lt"/>
                  </a:rPr>
                  <a:t>…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936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CAA5A-3FE0-F3FB-06AC-A7661F948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71D76-016C-3FB5-A8FE-9FC3410D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27BFAB-84EF-2B31-8402-AFD79DB4009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  <a:hlinkClick r:id="rId3"/>
                  </a:rPr>
                  <a:t>Hamming Distance</a:t>
                </a:r>
                <a:r>
                  <a:rPr lang="en-US" dirty="0">
                    <a:latin typeface="+mn-lt"/>
                  </a:rPr>
                  <a:t>: the number of components in which two vectors differ   </a:t>
                </a:r>
              </a:p>
              <a:p>
                <a:r>
                  <a:rPr lang="en-US" dirty="0">
                    <a:latin typeface="+mn-lt"/>
                  </a:rPr>
                  <a:t>Example: Consider two binary vectors:   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 x =  0 1 1 </a:t>
                </a:r>
                <a:r>
                  <a:rPr lang="en-US" dirty="0">
                    <a:solidFill>
                      <a:srgbClr val="C00000"/>
                    </a:solidFill>
                    <a:latin typeface="+mn-lt"/>
                  </a:rPr>
                  <a:t>0</a:t>
                </a:r>
                <a:r>
                  <a:rPr lang="en-US" dirty="0">
                    <a:latin typeface="+mn-lt"/>
                  </a:rPr>
                  <a:t> 0 0 </a:t>
                </a:r>
                <a:r>
                  <a:rPr lang="en-US" dirty="0">
                    <a:solidFill>
                      <a:srgbClr val="C00000"/>
                    </a:solidFill>
                    <a:latin typeface="+mn-lt"/>
                  </a:rPr>
                  <a:t>1</a:t>
                </a:r>
                <a:r>
                  <a:rPr lang="en-US" dirty="0">
                    <a:latin typeface="+mn-lt"/>
                  </a:rPr>
                  <a:t> 0 1 0 1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 x’ = 0 1 1 </a:t>
                </a:r>
                <a:r>
                  <a:rPr lang="en-US" dirty="0">
                    <a:solidFill>
                      <a:srgbClr val="C00000"/>
                    </a:solidFill>
                    <a:latin typeface="+mn-lt"/>
                  </a:rPr>
                  <a:t>1</a:t>
                </a:r>
                <a:r>
                  <a:rPr lang="en-US" dirty="0">
                    <a:latin typeface="+mn-lt"/>
                  </a:rPr>
                  <a:t> 0 0 </a:t>
                </a:r>
                <a:r>
                  <a:rPr lang="en-US" dirty="0">
                    <a:solidFill>
                      <a:srgbClr val="C00000"/>
                    </a:solidFill>
                    <a:latin typeface="+mn-lt"/>
                  </a:rPr>
                  <a:t>0</a:t>
                </a:r>
                <a:r>
                  <a:rPr lang="en-US" dirty="0">
                    <a:latin typeface="+mn-lt"/>
                  </a:rPr>
                  <a:t> 0 1 0 1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Hamming distance,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Example: Consider two strings:  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x = </a:t>
                </a:r>
                <a:r>
                  <a:rPr lang="en-US" dirty="0" err="1">
                    <a:latin typeface="+mn-lt"/>
                  </a:rPr>
                  <a:t>thisismy</a:t>
                </a:r>
                <a:r>
                  <a:rPr lang="en-US" dirty="0" err="1">
                    <a:solidFill>
                      <a:srgbClr val="C00000"/>
                    </a:solidFill>
                    <a:latin typeface="+mn-lt"/>
                  </a:rPr>
                  <a:t>dog</a:t>
                </a:r>
                <a:endParaRPr lang="en-US" dirty="0">
                  <a:solidFill>
                    <a:srgbClr val="C00000"/>
                  </a:solidFill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x’ = </a:t>
                </a:r>
                <a:r>
                  <a:rPr lang="en-US" dirty="0" err="1">
                    <a:latin typeface="+mn-lt"/>
                  </a:rPr>
                  <a:t>thisismy</a:t>
                </a:r>
                <a:r>
                  <a:rPr lang="en-US" dirty="0" err="1">
                    <a:solidFill>
                      <a:srgbClr val="C00000"/>
                    </a:solidFill>
                    <a:latin typeface="+mn-lt"/>
                  </a:rPr>
                  <a:t>cat</a:t>
                </a:r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Hamming distance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Hamming distance only defined for vectors of equal length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27BFAB-84EF-2B31-8402-AFD79DB40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14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Different metrics for numeric distance can be computed for numeric variables in p dimensions</a:t>
                </a:r>
              </a:p>
              <a:p>
                <a:r>
                  <a:rPr lang="en-US" dirty="0">
                    <a:latin typeface="+mn-lt"/>
                  </a:rPr>
                  <a:t>Do all p dimensions matter equally in determining dissimilarity? </a:t>
                </a:r>
              </a:p>
              <a:p>
                <a:r>
                  <a:rPr lang="en-US" dirty="0">
                    <a:latin typeface="+mn-lt"/>
                  </a:rPr>
                  <a:t>No!</a:t>
                </a:r>
              </a:p>
              <a:p>
                <a:r>
                  <a:rPr lang="en-US" dirty="0">
                    <a:latin typeface="+mn-lt"/>
                  </a:rPr>
                  <a:t>The weights, </a:t>
                </a:r>
                <a:r>
                  <a:rPr lang="en-US" i="1" dirty="0" err="1">
                    <a:latin typeface="+mn-lt"/>
                  </a:rPr>
                  <a:t>w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, can be set for the dimensions of the attributes</a:t>
                </a:r>
              </a:p>
              <a:p>
                <a:pPr lvl="1"/>
                <a:r>
                  <a:rPr lang="en-US" dirty="0">
                    <a:latin typeface="+mn-lt"/>
                  </a:rPr>
                  <a:t>Weights must add to 1.0: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=1.0</m:t>
                        </m:r>
                      </m:e>
                    </m:nary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Why use weights?</a:t>
                </a:r>
              </a:p>
              <a:p>
                <a:pPr lvl="1"/>
                <a:r>
                  <a:rPr lang="en-US" dirty="0">
                    <a:latin typeface="+mn-lt"/>
                  </a:rPr>
                  <a:t>Attributes (dimensions) may not have equal importance</a:t>
                </a:r>
              </a:p>
              <a:p>
                <a:pPr lvl="1"/>
                <a:r>
                  <a:rPr lang="en-US" dirty="0">
                    <a:latin typeface="+mn-lt"/>
                  </a:rPr>
                  <a:t>Example; do the distance I have to walk and the calories of my take-out order have the same importance in selecting where I get my food? </a:t>
                </a:r>
              </a:p>
              <a:p>
                <a:pPr lvl="1"/>
                <a:r>
                  <a:rPr lang="en-US" dirty="0">
                    <a:latin typeface="+mn-lt"/>
                  </a:rPr>
                  <a:t>Perhaps, the calories matter more to me in determining dissimilarity between restaurants?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 r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35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Different metrics for numeric distance can be computed for numeric variables in p dimensions</a:t>
                </a:r>
              </a:p>
              <a:p>
                <a:r>
                  <a:rPr lang="en-US" dirty="0">
                    <a:latin typeface="+mn-lt"/>
                  </a:rPr>
                  <a:t>Numeric variable generally standardized before performing unsupervised learning</a:t>
                </a:r>
              </a:p>
              <a:p>
                <a:r>
                  <a:rPr lang="en-US" dirty="0">
                    <a:latin typeface="+mn-lt"/>
                  </a:rPr>
                  <a:t>Like most ML algorithms, the importance of a variable should not be determined by the numeric range</a:t>
                </a:r>
              </a:p>
              <a:p>
                <a:r>
                  <a:rPr lang="en-US" dirty="0">
                    <a:latin typeface="+mn-lt"/>
                  </a:rPr>
                  <a:t>A useful default is to set the weights, </a:t>
                </a:r>
                <a:r>
                  <a:rPr lang="en-US" i="1" dirty="0" err="1">
                    <a:latin typeface="+mn-lt"/>
                  </a:rPr>
                  <a:t>w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, to standardize the variance of </a:t>
                </a:r>
                <a:r>
                  <a:rPr lang="en-US" i="1" dirty="0">
                    <a:latin typeface="+mn-lt"/>
                  </a:rPr>
                  <a:t>p </a:t>
                </a:r>
                <a:r>
                  <a:rPr lang="en-US" dirty="0">
                    <a:latin typeface="+mn-lt"/>
                  </a:rPr>
                  <a:t>variables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samples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latin typeface="+mn-lt"/>
                  </a:rPr>
                  <a:t> is an optional normalization to ensure the weights sum to 1.0 </a:t>
                </a:r>
              </a:p>
              <a:p>
                <a:r>
                  <a:rPr lang="en-US" dirty="0">
                    <a:latin typeface="+mn-lt"/>
                  </a:rPr>
                  <a:t>Or, set weights to have meaning from the problem</a:t>
                </a:r>
              </a:p>
              <a:p>
                <a:pPr lvl="1"/>
                <a:r>
                  <a:rPr lang="en-US" dirty="0">
                    <a:latin typeface="+mn-lt"/>
                  </a:rPr>
                  <a:t>Requires domain knowledge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2460" r="-476" b="-2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6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C5BD-B3A3-C99F-0887-002DA20A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6821-C427-2AF4-FA24-400A92C0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Distance Metrics with Mixed Variable Types</a:t>
            </a:r>
          </a:p>
        </p:txBody>
      </p:sp>
    </p:spTree>
    <p:extLst>
      <p:ext uri="{BB962C8B-B14F-4D97-AF65-F5344CB8AC3E}">
        <p14:creationId xmlns:p14="http://schemas.microsoft.com/office/powerpoint/2010/main" val="2837834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express dissimilarity metrics for </a:t>
                </a:r>
                <a:r>
                  <a:rPr lang="en-US" b="1" dirty="0">
                    <a:latin typeface="+mn-lt"/>
                  </a:rPr>
                  <a:t>ordinal variables</a:t>
                </a:r>
                <a:r>
                  <a:rPr lang="en-US" dirty="0">
                    <a:latin typeface="+mn-lt"/>
                  </a:rPr>
                  <a:t>? </a:t>
                </a:r>
              </a:p>
              <a:p>
                <a:pPr lvl="1"/>
                <a:r>
                  <a:rPr lang="en-US" dirty="0">
                    <a:latin typeface="+mn-lt"/>
                  </a:rPr>
                  <a:t>Star ratings, e.g. 1 to 5 stars</a:t>
                </a:r>
              </a:p>
              <a:p>
                <a:pPr lvl="1"/>
                <a:r>
                  <a:rPr lang="en-US" dirty="0">
                    <a:latin typeface="+mn-lt"/>
                  </a:rPr>
                  <a:t>Dollar range, $, $$, $$$, $$$$</a:t>
                </a:r>
              </a:p>
              <a:p>
                <a:r>
                  <a:rPr lang="en-US" dirty="0">
                    <a:latin typeface="+mn-lt"/>
                  </a:rPr>
                  <a:t>Base </a:t>
                </a:r>
                <a:r>
                  <a:rPr lang="en-US" b="1" dirty="0">
                    <a:latin typeface="+mn-lt"/>
                  </a:rPr>
                  <a:t>ordinal dissimilarity </a:t>
                </a:r>
                <a:r>
                  <a:rPr lang="en-US" dirty="0">
                    <a:latin typeface="+mn-lt"/>
                  </a:rPr>
                  <a:t>on </a:t>
                </a:r>
                <a:r>
                  <a:rPr lang="en-US" b="1" dirty="0">
                    <a:latin typeface="+mn-lt"/>
                  </a:rPr>
                  <a:t>rank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b="1" dirty="0">
                    <a:latin typeface="+mn-lt"/>
                  </a:rPr>
                  <a:t>differences</a:t>
                </a:r>
              </a:p>
              <a:p>
                <a:pPr lvl="1"/>
                <a:r>
                  <a:rPr lang="en-US" dirty="0">
                    <a:latin typeface="+mn-lt"/>
                  </a:rPr>
                  <a:t>Let 1 star = 1, 2 star = 2, 3 star = 3, 4 star = 4, and 5 star = 5</a:t>
                </a:r>
              </a:p>
              <a:p>
                <a:pPr lvl="1"/>
                <a:r>
                  <a:rPr lang="en-US" dirty="0">
                    <a:latin typeface="+mn-lt"/>
                  </a:rPr>
                  <a:t>The distance between a 2 star and 4 star restaurant is 2</a:t>
                </a:r>
              </a:p>
              <a:p>
                <a:r>
                  <a:rPr lang="en-US" dirty="0">
                    <a:latin typeface="+mn-lt"/>
                  </a:rPr>
                  <a:t>Or in normalized form with </a:t>
                </a:r>
                <a:r>
                  <a:rPr lang="en-US" i="1" dirty="0">
                    <a:latin typeface="+mn-lt"/>
                  </a:rPr>
                  <a:t>M  </a:t>
                </a:r>
                <a:r>
                  <a:rPr lang="en-US" dirty="0">
                    <a:latin typeface="+mn-lt"/>
                  </a:rPr>
                  <a:t>possible levels, and ranks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On a 5-star scale, the dissimilarity between a 3 star and 5 star restaurant: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3−5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50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express dissimilarity metrics for </a:t>
            </a:r>
            <a:r>
              <a:rPr lang="en-US" b="1" dirty="0">
                <a:latin typeface="+mn-lt"/>
              </a:rPr>
              <a:t>unordered categorical variables</a:t>
            </a:r>
            <a:r>
              <a:rPr lang="en-US" dirty="0">
                <a:latin typeface="+mn-lt"/>
              </a:rPr>
              <a:t>? </a:t>
            </a:r>
          </a:p>
          <a:p>
            <a:r>
              <a:rPr lang="en-US" dirty="0">
                <a:latin typeface="+mn-lt"/>
              </a:rPr>
              <a:t>Use a coding scheme</a:t>
            </a:r>
          </a:p>
          <a:p>
            <a:pPr lvl="1"/>
            <a:r>
              <a:rPr lang="en-US" sz="2800" dirty="0">
                <a:latin typeface="+mn-lt"/>
              </a:rPr>
              <a:t>e.g. a binary scheme, 1 if different categories, 0 if the same</a:t>
            </a:r>
          </a:p>
          <a:p>
            <a:pPr lvl="1"/>
            <a:r>
              <a:rPr lang="en-US" sz="2800" dirty="0">
                <a:latin typeface="+mn-lt"/>
              </a:rPr>
              <a:t>Optionally, normalize</a:t>
            </a:r>
          </a:p>
          <a:p>
            <a:pPr lvl="1"/>
            <a:r>
              <a:rPr lang="en-US" sz="2800" dirty="0">
                <a:latin typeface="+mn-lt"/>
              </a:rPr>
              <a:t>e.g., normalize by dividing by number of categories</a:t>
            </a:r>
          </a:p>
          <a:p>
            <a:r>
              <a:rPr lang="en-US" dirty="0">
                <a:latin typeface="+mn-lt"/>
              </a:rPr>
              <a:t>Example; restaurant type with 5 choices:</a:t>
            </a:r>
          </a:p>
          <a:p>
            <a:pPr lvl="1"/>
            <a:r>
              <a:rPr lang="en-US" sz="2800" dirty="0">
                <a:latin typeface="+mn-lt"/>
              </a:rPr>
              <a:t>Vegetarian, Thai, Mexican, Pizza, Burgers</a:t>
            </a:r>
          </a:p>
          <a:p>
            <a:pPr lvl="1"/>
            <a:r>
              <a:rPr lang="en-US" sz="2800" dirty="0">
                <a:latin typeface="+mn-lt"/>
              </a:rPr>
              <a:t>Distance Vegetarian to Burgers = 1</a:t>
            </a:r>
          </a:p>
          <a:p>
            <a:pPr lvl="1"/>
            <a:r>
              <a:rPr lang="en-US" sz="2800" dirty="0">
                <a:latin typeface="+mn-lt"/>
              </a:rPr>
              <a:t>Distance Burgers to Burgers = 0</a:t>
            </a:r>
          </a:p>
          <a:p>
            <a:pPr lvl="1"/>
            <a:r>
              <a:rPr lang="en-US" sz="2800" dirty="0">
                <a:latin typeface="+mn-lt"/>
              </a:rPr>
              <a:t>The distance between any dissimilar categories must be equal</a:t>
            </a:r>
          </a:p>
          <a:p>
            <a:r>
              <a:rPr lang="en-US" dirty="0">
                <a:latin typeface="+mn-lt"/>
              </a:rPr>
              <a:t>Can have more complex scheme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2559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we combine dissimilarities of different types of variables</a:t>
            </a:r>
          </a:p>
          <a:p>
            <a:r>
              <a:rPr lang="en-US" dirty="0">
                <a:latin typeface="+mn-lt"/>
              </a:rPr>
              <a:t>Scale numeric variables</a:t>
            </a:r>
          </a:p>
          <a:p>
            <a:pPr lvl="1"/>
            <a:r>
              <a:rPr lang="en-US" dirty="0">
                <a:latin typeface="+mn-lt"/>
              </a:rPr>
              <a:t>Scale to range 0-1 - Gowler’s distance</a:t>
            </a:r>
          </a:p>
          <a:p>
            <a:pPr lvl="1"/>
            <a:r>
              <a:rPr lang="en-US" dirty="0">
                <a:latin typeface="+mn-lt"/>
              </a:rPr>
              <a:t>Or unit variance scale – more general </a:t>
            </a:r>
          </a:p>
          <a:p>
            <a:r>
              <a:rPr lang="en-US" dirty="0">
                <a:latin typeface="+mn-lt"/>
              </a:rPr>
              <a:t>Scaling important, or some variable types dominate as a result of coding</a:t>
            </a:r>
          </a:p>
          <a:p>
            <a:pPr lvl="1"/>
            <a:r>
              <a:rPr lang="en-US" dirty="0">
                <a:latin typeface="+mn-lt"/>
              </a:rPr>
              <a:t>The numeric range of values must be similar to categorical and ordinal </a:t>
            </a:r>
          </a:p>
          <a:p>
            <a:pPr lvl="1"/>
            <a:r>
              <a:rPr lang="en-US" dirty="0">
                <a:latin typeface="+mn-lt"/>
              </a:rPr>
              <a:t>e.g. We do not want ordinal variables to dominate numeric and categorical</a:t>
            </a:r>
          </a:p>
          <a:p>
            <a:r>
              <a:rPr lang="en-US" dirty="0">
                <a:latin typeface="+mn-lt"/>
              </a:rPr>
              <a:t>Several options for similarity and distance measures   </a:t>
            </a:r>
          </a:p>
          <a:p>
            <a:pPr lvl="1"/>
            <a:r>
              <a:rPr lang="en-US" dirty="0">
                <a:latin typeface="+mn-lt"/>
              </a:rPr>
              <a:t>Cosine distance (similarity) commonly used</a:t>
            </a:r>
          </a:p>
          <a:p>
            <a:pPr lvl="1"/>
            <a:r>
              <a:rPr lang="en-US" dirty="0">
                <a:latin typeface="+mn-lt"/>
              </a:rPr>
              <a:t>Dot product similarity commonly used</a:t>
            </a:r>
          </a:p>
          <a:p>
            <a:pPr lvl="1"/>
            <a:r>
              <a:rPr lang="en-US" dirty="0">
                <a:latin typeface="+mn-lt"/>
              </a:rPr>
              <a:t>Gowler’s distance (see </a:t>
            </a:r>
            <a:r>
              <a:rPr lang="en-US" dirty="0">
                <a:latin typeface="+mn-lt"/>
                <a:hlinkClick r:id="rId3"/>
              </a:rPr>
              <a:t>Gowler 1971</a:t>
            </a:r>
            <a:r>
              <a:rPr lang="en-US" dirty="0">
                <a:latin typeface="+mn-lt"/>
              </a:rPr>
              <a:t>) is another option   </a:t>
            </a:r>
          </a:p>
          <a:p>
            <a:pPr lvl="1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694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2100" y="937010"/>
            <a:ext cx="11983041" cy="569899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An example of computing dissimilarity between restaurants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Absolute dissimilarity between R1 and R4, a Mexican and vegetarian restaurant</a:t>
            </a: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[1 + |0.8-0.3| + |0.7-0.1| + |3-1|/2 + |5-4|/4]/5 = [1 + 0.5 + 0.6 + 0.5 + 0.25]/5 = </a:t>
            </a:r>
            <a:r>
              <a:rPr lang="en-US" sz="2400" b="1" dirty="0">
                <a:latin typeface="+mn-lt"/>
              </a:rPr>
              <a:t>0.57</a:t>
            </a:r>
          </a:p>
          <a:p>
            <a:r>
              <a:rPr lang="en-US" dirty="0">
                <a:latin typeface="+mn-lt"/>
              </a:rPr>
              <a:t>Absolute dissimilarity between R2 and R3, two pizza places</a:t>
            </a: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[0 + |0.9-0.8| + |0.6-0.4| + |2-3|/2 + |4-3|/4]/5 = [0 + 0.1 + 0.2 + 0.5 + 0.25]/5 = </a:t>
            </a:r>
            <a:r>
              <a:rPr lang="en-US" sz="2400" b="1" dirty="0">
                <a:latin typeface="+mn-lt"/>
              </a:rPr>
              <a:t>0.21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4474478-5A96-4835-8FDF-520632B5D493}"/>
              </a:ext>
            </a:extLst>
          </p:cNvPr>
          <p:cNvGraphicFramePr>
            <a:graphicFrameLocks noGrp="1"/>
          </p:cNvGraphicFramePr>
          <p:nvPr/>
        </p:nvGraphicFramePr>
        <p:xfrm>
          <a:off x="584200" y="1432300"/>
          <a:ext cx="1139884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218">
                  <a:extLst>
                    <a:ext uri="{9D8B030D-6E8A-4147-A177-3AD203B41FA5}">
                      <a16:colId xmlns:a16="http://schemas.microsoft.com/office/drawing/2014/main" val="615816892"/>
                    </a:ext>
                  </a:extLst>
                </a:gridCol>
                <a:gridCol w="2128434">
                  <a:extLst>
                    <a:ext uri="{9D8B030D-6E8A-4147-A177-3AD203B41FA5}">
                      <a16:colId xmlns:a16="http://schemas.microsoft.com/office/drawing/2014/main" val="3425097927"/>
                    </a:ext>
                  </a:extLst>
                </a:gridCol>
                <a:gridCol w="1779453">
                  <a:extLst>
                    <a:ext uri="{9D8B030D-6E8A-4147-A177-3AD203B41FA5}">
                      <a16:colId xmlns:a16="http://schemas.microsoft.com/office/drawing/2014/main" val="1337615558"/>
                    </a:ext>
                  </a:extLst>
                </a:gridCol>
                <a:gridCol w="1829123">
                  <a:extLst>
                    <a:ext uri="{9D8B030D-6E8A-4147-A177-3AD203B41FA5}">
                      <a16:colId xmlns:a16="http://schemas.microsoft.com/office/drawing/2014/main" val="3418966473"/>
                    </a:ext>
                  </a:extLst>
                </a:gridCol>
                <a:gridCol w="1899807">
                  <a:extLst>
                    <a:ext uri="{9D8B030D-6E8A-4147-A177-3AD203B41FA5}">
                      <a16:colId xmlns:a16="http://schemas.microsoft.com/office/drawing/2014/main" val="3211043608"/>
                    </a:ext>
                  </a:extLst>
                </a:gridCol>
                <a:gridCol w="1899807">
                  <a:extLst>
                    <a:ext uri="{9D8B030D-6E8A-4147-A177-3AD203B41FA5}">
                      <a16:colId xmlns:a16="http://schemas.microsoft.com/office/drawing/2014/main" val="21232086"/>
                    </a:ext>
                  </a:extLst>
                </a:gridCol>
              </a:tblGrid>
              <a:tr h="45655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Restaurant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Calories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Price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699150"/>
                  </a:ext>
                </a:extLst>
              </a:tr>
              <a:tr h="4565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Mexican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495456"/>
                  </a:ext>
                </a:extLst>
              </a:tr>
              <a:tr h="4565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68364"/>
                  </a:ext>
                </a:extLst>
              </a:tr>
              <a:tr h="4565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072735"/>
                  </a:ext>
                </a:extLst>
              </a:tr>
              <a:tr h="4565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Vegetarian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174170"/>
                  </a:ext>
                </a:extLst>
              </a:tr>
              <a:tr h="4565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109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24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08958" y="896079"/>
                <a:ext cx="11983041" cy="569899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+mn-lt"/>
                  </a:rPr>
                  <a:t>Another example of computing dissimilarity between restaurants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Euclidean dissimilarity between R1 and R4, a Mexican and vegetarian restaurant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</a:rPr>
                  <a:t>[1</a:t>
                </a:r>
                <a:r>
                  <a:rPr lang="en-US" sz="2400" baseline="30000" dirty="0">
                    <a:latin typeface="+mn-lt"/>
                  </a:rPr>
                  <a:t>2</a:t>
                </a:r>
                <a:r>
                  <a:rPr lang="en-US" sz="2400" dirty="0">
                    <a:latin typeface="+mn-lt"/>
                  </a:rPr>
                  <a:t> + 0.5</a:t>
                </a:r>
                <a:r>
                  <a:rPr lang="en-US" sz="2400" baseline="30000" dirty="0">
                    <a:latin typeface="+mn-lt"/>
                  </a:rPr>
                  <a:t>2</a:t>
                </a:r>
                <a:r>
                  <a:rPr lang="en-US" sz="2400" dirty="0">
                    <a:latin typeface="+mn-lt"/>
                  </a:rPr>
                  <a:t> + 0.6</a:t>
                </a:r>
                <a:r>
                  <a:rPr lang="en-US" sz="2400" baseline="30000" dirty="0">
                    <a:latin typeface="+mn-lt"/>
                  </a:rPr>
                  <a:t>2</a:t>
                </a:r>
                <a:r>
                  <a:rPr lang="en-US" sz="2400" dirty="0">
                    <a:latin typeface="+mn-lt"/>
                  </a:rPr>
                  <a:t> + 0.5</a:t>
                </a:r>
                <a:r>
                  <a:rPr lang="en-US" sz="2400" baseline="30000" dirty="0">
                    <a:latin typeface="+mn-lt"/>
                  </a:rPr>
                  <a:t>2</a:t>
                </a:r>
                <a:r>
                  <a:rPr lang="en-US" sz="2400" dirty="0">
                    <a:latin typeface="+mn-lt"/>
                  </a:rPr>
                  <a:t> + 0.25</a:t>
                </a:r>
                <a:r>
                  <a:rPr lang="en-US" sz="2400" baseline="30000" dirty="0">
                    <a:latin typeface="+mn-lt"/>
                  </a:rPr>
                  <a:t>2</a:t>
                </a:r>
                <a:r>
                  <a:rPr lang="en-US" sz="2400" dirty="0">
                    <a:latin typeface="+mn-lt"/>
                  </a:rPr>
                  <a:t>]/5 = [1 + 0.25 + 0.36 + 0.25 + 0.125]/5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rad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𝟔𝟑</m:t>
                    </m:r>
                  </m:oMath>
                </a14:m>
                <a:endParaRPr lang="en-US" sz="2400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Euclidean dissimilarity between R2 and R3, two pizza places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</a:rPr>
                  <a:t>[0 + 0.1</a:t>
                </a:r>
                <a:r>
                  <a:rPr lang="en-US" sz="2400" baseline="30000" dirty="0">
                    <a:latin typeface="+mn-lt"/>
                  </a:rPr>
                  <a:t>2</a:t>
                </a:r>
                <a:r>
                  <a:rPr lang="en-US" sz="2400" dirty="0">
                    <a:latin typeface="+mn-lt"/>
                  </a:rPr>
                  <a:t> + 0.2</a:t>
                </a:r>
                <a:r>
                  <a:rPr lang="en-US" sz="2400" baseline="30000" dirty="0">
                    <a:latin typeface="+mn-lt"/>
                  </a:rPr>
                  <a:t>2</a:t>
                </a:r>
                <a:r>
                  <a:rPr lang="en-US" sz="2400" dirty="0">
                    <a:latin typeface="+mn-lt"/>
                  </a:rPr>
                  <a:t> + 0.5</a:t>
                </a:r>
                <a:r>
                  <a:rPr lang="en-US" sz="2400" baseline="30000" dirty="0">
                    <a:latin typeface="+mn-lt"/>
                  </a:rPr>
                  <a:t>2</a:t>
                </a:r>
                <a:r>
                  <a:rPr lang="en-US" sz="2400" dirty="0">
                    <a:latin typeface="+mn-lt"/>
                  </a:rPr>
                  <a:t> + 0.25</a:t>
                </a:r>
                <a:r>
                  <a:rPr lang="en-US" sz="2400" baseline="30000" dirty="0">
                    <a:latin typeface="+mn-lt"/>
                  </a:rPr>
                  <a:t>2</a:t>
                </a:r>
                <a:r>
                  <a:rPr lang="en-US" sz="2400" dirty="0">
                    <a:latin typeface="+mn-lt"/>
                  </a:rPr>
                  <a:t>]/5 = [0 + 0.01 + 0.04 + 0.25 + 0.125]/5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2400" b="1" i="0" dirty="0">
                            <a:latin typeface="+mn-lt"/>
                          </a:rPr>
                          <m:t>0.085</m:t>
                        </m:r>
                      </m:e>
                    </m:rad>
                  </m:oMath>
                </a14:m>
                <a:r>
                  <a:rPr lang="en-US" sz="2400" b="1" dirty="0">
                    <a:latin typeface="+mn-lt"/>
                  </a:rPr>
                  <a:t> = 0.29</a:t>
                </a: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08958" y="896079"/>
                <a:ext cx="11983041" cy="5698998"/>
              </a:xfrm>
              <a:blipFill>
                <a:blip r:embed="rId3"/>
                <a:stretch>
                  <a:fillRect l="-916" t="-1818" r="-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4474478-5A96-4835-8FDF-520632B5D493}"/>
              </a:ext>
            </a:extLst>
          </p:cNvPr>
          <p:cNvGraphicFramePr>
            <a:graphicFrameLocks noGrp="1"/>
          </p:cNvGraphicFramePr>
          <p:nvPr/>
        </p:nvGraphicFramePr>
        <p:xfrm>
          <a:off x="584200" y="1432300"/>
          <a:ext cx="1139884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218">
                  <a:extLst>
                    <a:ext uri="{9D8B030D-6E8A-4147-A177-3AD203B41FA5}">
                      <a16:colId xmlns:a16="http://schemas.microsoft.com/office/drawing/2014/main" val="615816892"/>
                    </a:ext>
                  </a:extLst>
                </a:gridCol>
                <a:gridCol w="2128434">
                  <a:extLst>
                    <a:ext uri="{9D8B030D-6E8A-4147-A177-3AD203B41FA5}">
                      <a16:colId xmlns:a16="http://schemas.microsoft.com/office/drawing/2014/main" val="3425097927"/>
                    </a:ext>
                  </a:extLst>
                </a:gridCol>
                <a:gridCol w="1779453">
                  <a:extLst>
                    <a:ext uri="{9D8B030D-6E8A-4147-A177-3AD203B41FA5}">
                      <a16:colId xmlns:a16="http://schemas.microsoft.com/office/drawing/2014/main" val="1337615558"/>
                    </a:ext>
                  </a:extLst>
                </a:gridCol>
                <a:gridCol w="1829123">
                  <a:extLst>
                    <a:ext uri="{9D8B030D-6E8A-4147-A177-3AD203B41FA5}">
                      <a16:colId xmlns:a16="http://schemas.microsoft.com/office/drawing/2014/main" val="3418966473"/>
                    </a:ext>
                  </a:extLst>
                </a:gridCol>
                <a:gridCol w="1899807">
                  <a:extLst>
                    <a:ext uri="{9D8B030D-6E8A-4147-A177-3AD203B41FA5}">
                      <a16:colId xmlns:a16="http://schemas.microsoft.com/office/drawing/2014/main" val="3211043608"/>
                    </a:ext>
                  </a:extLst>
                </a:gridCol>
                <a:gridCol w="1899807">
                  <a:extLst>
                    <a:ext uri="{9D8B030D-6E8A-4147-A177-3AD203B41FA5}">
                      <a16:colId xmlns:a16="http://schemas.microsoft.com/office/drawing/2014/main" val="21232086"/>
                    </a:ext>
                  </a:extLst>
                </a:gridCol>
              </a:tblGrid>
              <a:tr h="45655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Restaurant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Calories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Price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699150"/>
                  </a:ext>
                </a:extLst>
              </a:tr>
              <a:tr h="4565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Mexican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495456"/>
                  </a:ext>
                </a:extLst>
              </a:tr>
              <a:tr h="4565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68364"/>
                  </a:ext>
                </a:extLst>
              </a:tr>
              <a:tr h="4565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072735"/>
                  </a:ext>
                </a:extLst>
              </a:tr>
              <a:tr h="4565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Vegetarian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174170"/>
                  </a:ext>
                </a:extLst>
              </a:tr>
              <a:tr h="4565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109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062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or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much do different metrics matter?</a:t>
                </a:r>
              </a:p>
              <a:p>
                <a:r>
                  <a:rPr lang="en-US" dirty="0">
                    <a:latin typeface="+mn-lt"/>
                  </a:rPr>
                  <a:t>A lot!</a:t>
                </a:r>
              </a:p>
              <a:p>
                <a:r>
                  <a:rPr lang="en-US" dirty="0">
                    <a:latin typeface="+mn-lt"/>
                  </a:rPr>
                  <a:t>Compare dissimilarity metrics between the restaurants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Difference of Manhattan distance,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0.57−0.21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=0.36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Difference of Euclidean,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distance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0.63−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0.29 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+mn-lt"/>
                  </a:rPr>
                  <a:t>Not much difference in this case, but with larger changes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more sensitive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CB42A7F-F831-4FC9-A747-7D416F91E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990325"/>
              </p:ext>
            </p:extLst>
          </p:nvPr>
        </p:nvGraphicFramePr>
        <p:xfrm>
          <a:off x="709478" y="2588217"/>
          <a:ext cx="9638223" cy="1416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741">
                  <a:extLst>
                    <a:ext uri="{9D8B030D-6E8A-4147-A177-3AD203B41FA5}">
                      <a16:colId xmlns:a16="http://schemas.microsoft.com/office/drawing/2014/main" val="4235277372"/>
                    </a:ext>
                  </a:extLst>
                </a:gridCol>
                <a:gridCol w="3212741">
                  <a:extLst>
                    <a:ext uri="{9D8B030D-6E8A-4147-A177-3AD203B41FA5}">
                      <a16:colId xmlns:a16="http://schemas.microsoft.com/office/drawing/2014/main" val="2417895486"/>
                    </a:ext>
                  </a:extLst>
                </a:gridCol>
                <a:gridCol w="3212741">
                  <a:extLst>
                    <a:ext uri="{9D8B030D-6E8A-4147-A177-3AD203B41FA5}">
                      <a16:colId xmlns:a16="http://schemas.microsoft.com/office/drawing/2014/main" val="747759040"/>
                    </a:ext>
                  </a:extLst>
                </a:gridCol>
              </a:tblGrid>
              <a:tr h="47214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Mexican – Vegetarian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 Pizza Places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146937"/>
                  </a:ext>
                </a:extLst>
              </a:tr>
              <a:tr h="47214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Absolute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392511"/>
                  </a:ext>
                </a:extLst>
              </a:tr>
              <a:tr h="47214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Euclidean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338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45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728F5-5F65-F174-2A1A-90A413740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4B82-BDCC-AFBB-B6F0-5B82CE697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Similarity Metrics</a:t>
            </a:r>
          </a:p>
        </p:txBody>
      </p:sp>
    </p:spTree>
    <p:extLst>
      <p:ext uri="{BB962C8B-B14F-4D97-AF65-F5344CB8AC3E}">
        <p14:creationId xmlns:p14="http://schemas.microsoft.com/office/powerpoint/2010/main" val="4056472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distance and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Do we always work with dissimilarity?</a:t>
            </a:r>
          </a:p>
          <a:p>
            <a:r>
              <a:rPr lang="en-US" dirty="0">
                <a:latin typeface="+mn-lt"/>
              </a:rPr>
              <a:t>No! </a:t>
            </a:r>
          </a:p>
          <a:p>
            <a:r>
              <a:rPr lang="en-US" dirty="0">
                <a:latin typeface="+mn-lt"/>
              </a:rPr>
              <a:t>We often work with measures of </a:t>
            </a:r>
            <a:r>
              <a:rPr lang="en-US" b="1" dirty="0">
                <a:latin typeface="+mn-lt"/>
              </a:rPr>
              <a:t>similarity</a:t>
            </a:r>
          </a:p>
          <a:p>
            <a:r>
              <a:rPr lang="en-US" dirty="0">
                <a:latin typeface="+mn-lt"/>
              </a:rPr>
              <a:t>The closer points are in a space (smaller distance) the more similar they are</a:t>
            </a:r>
          </a:p>
          <a:p>
            <a:r>
              <a:rPr lang="en-US" dirty="0">
                <a:latin typeface="+mn-lt"/>
              </a:rPr>
              <a:t>In many cases, similarity measures can be transformed to dissimilarity </a:t>
            </a:r>
            <a:endParaRPr lang="en-US" b="1" dirty="0">
              <a:latin typeface="+mn-lt"/>
            </a:endParaRPr>
          </a:p>
          <a:p>
            <a:r>
              <a:rPr lang="en-US" dirty="0">
                <a:latin typeface="+mn-lt"/>
              </a:rPr>
              <a:t>For data with positive and negative coding similarity must be in the range [-1,1]</a:t>
            </a:r>
          </a:p>
          <a:p>
            <a:pPr lvl="1"/>
            <a:r>
              <a:rPr lang="en-US" dirty="0">
                <a:latin typeface="+mn-lt"/>
              </a:rPr>
              <a:t>Similarity = 1, maximum similarity, points are at the same location in the space</a:t>
            </a:r>
          </a:p>
          <a:p>
            <a:pPr lvl="1"/>
            <a:r>
              <a:rPr lang="en-US" dirty="0">
                <a:latin typeface="+mn-lt"/>
              </a:rPr>
              <a:t>Similarity = 0, points are </a:t>
            </a:r>
            <a:r>
              <a:rPr lang="en-US" b="1" dirty="0">
                <a:latin typeface="+mn-lt"/>
              </a:rPr>
              <a:t>orthogonal</a:t>
            </a:r>
            <a:r>
              <a:rPr lang="en-US" dirty="0">
                <a:latin typeface="+mn-lt"/>
              </a:rPr>
              <a:t> in the space, no similarity</a:t>
            </a:r>
          </a:p>
          <a:p>
            <a:pPr lvl="1"/>
            <a:r>
              <a:rPr lang="en-US" dirty="0">
                <a:latin typeface="+mn-lt"/>
              </a:rPr>
              <a:t>Similarity = -1, minimum similarity, points have completely opposite coding </a:t>
            </a:r>
          </a:p>
          <a:p>
            <a:r>
              <a:rPr lang="en-US" dirty="0">
                <a:latin typeface="+mn-lt"/>
              </a:rPr>
              <a:t>For non-negative data similarity in range [0,1] </a:t>
            </a:r>
          </a:p>
          <a:p>
            <a:pPr lvl="1"/>
            <a:r>
              <a:rPr lang="en-US" dirty="0">
                <a:latin typeface="+mn-lt"/>
              </a:rPr>
              <a:t>Examples, Hamming similarity, </a:t>
            </a:r>
            <a:r>
              <a:rPr lang="en-US">
                <a:latin typeface="+mn-lt"/>
              </a:rPr>
              <a:t>cosine similarity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563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159932"/>
                <a:ext cx="11525250" cy="53635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Different metrics for similarity can be computed for numeric variables in p dimensions</a:t>
                </a:r>
              </a:p>
              <a:p>
                <a:r>
                  <a:rPr lang="en-US" b="1" dirty="0">
                    <a:latin typeface="+mn-lt"/>
                  </a:rPr>
                  <a:t>Pearson correlation</a:t>
                </a:r>
                <a:r>
                  <a:rPr lang="en-US" dirty="0">
                    <a:latin typeface="+mn-lt"/>
                  </a:rPr>
                  <a:t>, for two vectors of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′−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′)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′)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Range of [-1,1]</a:t>
                </a:r>
              </a:p>
              <a:p>
                <a:r>
                  <a:rPr lang="en-US" dirty="0">
                    <a:latin typeface="+mn-lt"/>
                  </a:rPr>
                  <a:t>Other correlation measures of similarity, e.g. </a:t>
                </a:r>
                <a:r>
                  <a:rPr lang="en-US" b="1" dirty="0">
                    <a:latin typeface="+mn-lt"/>
                  </a:rPr>
                  <a:t>rank-based</a:t>
                </a:r>
                <a:r>
                  <a:rPr lang="en-US" dirty="0">
                    <a:latin typeface="+mn-lt"/>
                  </a:rPr>
                  <a:t> measures </a:t>
                </a:r>
              </a:p>
              <a:p>
                <a:pPr lvl="1"/>
                <a:r>
                  <a:rPr lang="en-US" b="1" dirty="0">
                    <a:latin typeface="+mn-lt"/>
                    <a:hlinkClick r:id="rId3"/>
                  </a:rPr>
                  <a:t>Kendal</a:t>
                </a:r>
                <a:r>
                  <a:rPr lang="en-US" dirty="0">
                    <a:latin typeface="+mn-lt"/>
                  </a:rPr>
                  <a:t>, </a:t>
                </a:r>
                <a:r>
                  <a:rPr lang="en-US" b="1" dirty="0">
                    <a:latin typeface="+mn-lt"/>
                    <a:hlinkClick r:id="rId4"/>
                  </a:rPr>
                  <a:t>Spearman</a:t>
                </a:r>
                <a:r>
                  <a:rPr lang="en-US" dirty="0">
                    <a:latin typeface="+mn-lt"/>
                  </a:rPr>
                  <a:t>, are rank correlations, more robust than Pearson</a:t>
                </a:r>
              </a:p>
              <a:p>
                <a:pPr lvl="1"/>
                <a:r>
                  <a:rPr lang="en-US" dirty="0">
                    <a:latin typeface="+mn-lt"/>
                  </a:rPr>
                  <a:t>Often better choices for data mining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159932"/>
                <a:ext cx="11525250" cy="5363577"/>
              </a:xfrm>
              <a:blipFill>
                <a:blip r:embed="rId5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124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/>
              <a:t>Measuring Similarity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Cosine Similarity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  <a:blipFill>
                <a:blip r:embed="rId3"/>
                <a:stretch>
                  <a:fillRect l="-1111" t="-6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/>
          <p:nvPr/>
        </p:nvCxnSpPr>
        <p:spPr>
          <a:xfrm>
            <a:off x="758008" y="5961921"/>
            <a:ext cx="45978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758008" y="2578125"/>
            <a:ext cx="0" cy="33837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B40F0C-6CA8-4E2B-9506-257938DB4E99}"/>
              </a:ext>
            </a:extLst>
          </p:cNvPr>
          <p:cNvSpPr txBox="1"/>
          <p:nvPr/>
        </p:nvSpPr>
        <p:spPr>
          <a:xfrm>
            <a:off x="2907106" y="5961921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3A1DA-70A2-4EC3-9CAF-5C65A92AE62B}"/>
              </a:ext>
            </a:extLst>
          </p:cNvPr>
          <p:cNvSpPr txBox="1"/>
          <p:nvPr/>
        </p:nvSpPr>
        <p:spPr>
          <a:xfrm>
            <a:off x="238462" y="3953012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2</a:t>
            </a: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B23426B5-5480-4DE4-9184-9876C2CB2517}"/>
              </a:ext>
            </a:extLst>
          </p:cNvPr>
          <p:cNvSpPr/>
          <p:nvPr/>
        </p:nvSpPr>
        <p:spPr>
          <a:xfrm>
            <a:off x="4316808" y="3390317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CD8CD439-2CC4-4431-AB63-0F32315F3BC5}"/>
              </a:ext>
            </a:extLst>
          </p:cNvPr>
          <p:cNvSpPr/>
          <p:nvPr/>
        </p:nvSpPr>
        <p:spPr>
          <a:xfrm>
            <a:off x="2498956" y="5229827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D27AE9-6F7D-46F4-B0C2-70E2F3CD488A}"/>
              </a:ext>
            </a:extLst>
          </p:cNvPr>
          <p:cNvSpPr txBox="1"/>
          <p:nvPr/>
        </p:nvSpPr>
        <p:spPr>
          <a:xfrm>
            <a:off x="2211797" y="5411221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(2,1)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00F31-6C70-4F71-B1DD-342BB67BF461}"/>
              </a:ext>
            </a:extLst>
          </p:cNvPr>
          <p:cNvSpPr txBox="1"/>
          <p:nvPr/>
        </p:nvSpPr>
        <p:spPr>
          <a:xfrm>
            <a:off x="4531787" y="3222984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(4,3)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5591892" y="2768378"/>
                <a:ext cx="6445125" cy="226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Points at (2,1) and (4,3)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is the similarity?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Cosine similarity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2∗4 +1∗3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=0.984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892" y="2768378"/>
                <a:ext cx="6445125" cy="2268121"/>
              </a:xfrm>
              <a:prstGeom prst="rect">
                <a:avLst/>
              </a:prstGeom>
              <a:blipFill>
                <a:blip r:embed="rId4"/>
                <a:stretch>
                  <a:fillRect l="-1229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58008" y="5334265"/>
            <a:ext cx="1740948" cy="62765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42126" y="3494755"/>
            <a:ext cx="3574682" cy="2467168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1850592" y="5051214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70852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/>
      <p:bldP spid="15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/>
              <a:t>Measuring Similarity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Cosine Similarity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  <a:blipFill>
                <a:blip r:embed="rId3"/>
                <a:stretch>
                  <a:fillRect l="-1111" t="-6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/>
          <p:nvPr/>
        </p:nvCxnSpPr>
        <p:spPr>
          <a:xfrm>
            <a:off x="758008" y="5961921"/>
            <a:ext cx="45978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758008" y="2578125"/>
            <a:ext cx="0" cy="33837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B40F0C-6CA8-4E2B-9506-257938DB4E99}"/>
              </a:ext>
            </a:extLst>
          </p:cNvPr>
          <p:cNvSpPr txBox="1"/>
          <p:nvPr/>
        </p:nvSpPr>
        <p:spPr>
          <a:xfrm>
            <a:off x="2907106" y="5961921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3A1DA-70A2-4EC3-9CAF-5C65A92AE62B}"/>
              </a:ext>
            </a:extLst>
          </p:cNvPr>
          <p:cNvSpPr txBox="1"/>
          <p:nvPr/>
        </p:nvSpPr>
        <p:spPr>
          <a:xfrm>
            <a:off x="238462" y="3953012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2</a:t>
            </a: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B23426B5-5480-4DE4-9184-9876C2CB2517}"/>
              </a:ext>
            </a:extLst>
          </p:cNvPr>
          <p:cNvSpPr/>
          <p:nvPr/>
        </p:nvSpPr>
        <p:spPr>
          <a:xfrm>
            <a:off x="4316808" y="3390317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CD8CD439-2CC4-4431-AB63-0F32315F3BC5}"/>
              </a:ext>
            </a:extLst>
          </p:cNvPr>
          <p:cNvSpPr/>
          <p:nvPr/>
        </p:nvSpPr>
        <p:spPr>
          <a:xfrm>
            <a:off x="2498956" y="5229827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D27AE9-6F7D-46F4-B0C2-70E2F3CD488A}"/>
              </a:ext>
            </a:extLst>
          </p:cNvPr>
          <p:cNvSpPr txBox="1"/>
          <p:nvPr/>
        </p:nvSpPr>
        <p:spPr>
          <a:xfrm>
            <a:off x="2211797" y="5411221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(2,1)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00F31-6C70-4F71-B1DD-342BB67BF461}"/>
              </a:ext>
            </a:extLst>
          </p:cNvPr>
          <p:cNvSpPr txBox="1"/>
          <p:nvPr/>
        </p:nvSpPr>
        <p:spPr>
          <a:xfrm>
            <a:off x="4531787" y="3222984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(4,3)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5591892" y="2768378"/>
                <a:ext cx="6445125" cy="2566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vectors point in same direction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vectors point in opposite direction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</m:oMath>
                  </m:oMathPara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vectors orthogonal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892" y="2768378"/>
                <a:ext cx="6445125" cy="2566600"/>
              </a:xfrm>
              <a:prstGeom prst="rect">
                <a:avLst/>
              </a:prstGeom>
              <a:blipFill>
                <a:blip r:embed="rId4"/>
                <a:stretch>
                  <a:fillRect l="-1229" t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58008" y="5334265"/>
            <a:ext cx="1740948" cy="62765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42126" y="3494755"/>
            <a:ext cx="3574682" cy="2467168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1850592" y="5051214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01578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/>
      <p:bldP spid="15" grpId="0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F10CD-2ACC-6B1E-9524-86AB2729D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51176-3A7B-4E9F-FB87-648BF47F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91FB6-AA30-982A-19DE-0E6AAD95EB9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159932"/>
                <a:ext cx="11525250" cy="53635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Different metrics for similarity can be computed for numeric variables in p dimensions</a:t>
                </a:r>
              </a:p>
              <a:p>
                <a:r>
                  <a:rPr lang="en-US" b="1" dirty="0">
                    <a:latin typeface="+mn-lt"/>
                  </a:rPr>
                  <a:t>Dot product similarity</a:t>
                </a:r>
                <a:r>
                  <a:rPr lang="en-US" dirty="0">
                    <a:latin typeface="+mn-lt"/>
                  </a:rPr>
                  <a:t>, for two vectors of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′−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Range is unbounded!</a:t>
                </a:r>
              </a:p>
              <a:p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latin typeface="+mn-lt"/>
                  </a:rPr>
                  <a:t> have unit Euclidean norm, is same as Pearson correlation</a:t>
                </a:r>
              </a:p>
              <a:p>
                <a:pPr lvl="1"/>
                <a:r>
                  <a:rPr lang="en-US" dirty="0">
                    <a:latin typeface="+mn-lt"/>
                  </a:rPr>
                  <a:t>Compute </a:t>
                </a:r>
                <a:r>
                  <a:rPr lang="en-US" b="1" dirty="0">
                    <a:latin typeface="+mn-lt"/>
                  </a:rPr>
                  <a:t>Pearson correlation </a:t>
                </a:r>
                <a:r>
                  <a:rPr lang="en-US" dirty="0">
                    <a:latin typeface="+mn-lt"/>
                  </a:rPr>
                  <a:t>by taking dot product of zero centered unit variance vectors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91FB6-AA30-982A-19DE-0E6AAD95EB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159932"/>
                <a:ext cx="11525250" cy="5363577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34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Different metrics for similarity can be computed for discretely coded or numeric variables in p dimensions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Jaccard Similarity</a:t>
                </a:r>
                <a:r>
                  <a:rPr lang="en-US" b="1" dirty="0">
                    <a:latin typeface="+mn-lt"/>
                  </a:rPr>
                  <a:t>:</a:t>
                </a:r>
                <a:r>
                  <a:rPr lang="en-US" dirty="0">
                    <a:latin typeface="+mn-lt"/>
                  </a:rPr>
                  <a:t> For discretely coded data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𝑆𝑖𝑧𝑒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𝐼𝑛𝑡𝑒𝑟𝑠𝑒𝑐𝑡𝑖𝑜𝑛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𝑆𝑖𝑧𝑒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𝑈𝑛𝑖𝑜𝑛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Jaccard similarity in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Example: consider the following character strings</a:t>
                </a:r>
                <a:r>
                  <a:rPr lang="en-US" sz="2400" dirty="0">
                    <a:latin typeface="+mn-lt"/>
                  </a:rPr>
                  <a:t>:      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				x = </a:t>
                </a:r>
                <a:r>
                  <a:rPr lang="en-US" dirty="0" err="1">
                    <a:latin typeface="+mn-lt"/>
                  </a:rPr>
                  <a:t>thisismy</a:t>
                </a:r>
                <a:r>
                  <a:rPr lang="en-US" dirty="0" err="1">
                    <a:solidFill>
                      <a:srgbClr val="C00000"/>
                    </a:solidFill>
                    <a:latin typeface="+mn-lt"/>
                  </a:rPr>
                  <a:t>olddog</a:t>
                </a:r>
                <a:endParaRPr lang="en-US" dirty="0">
                  <a:solidFill>
                    <a:srgbClr val="C00000"/>
                  </a:solidFill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				x’ = </a:t>
                </a:r>
                <a:r>
                  <a:rPr lang="en-US" dirty="0" err="1">
                    <a:latin typeface="+mn-lt"/>
                  </a:rPr>
                  <a:t>thisismy</a:t>
                </a:r>
                <a:r>
                  <a:rPr lang="en-US" dirty="0" err="1">
                    <a:solidFill>
                      <a:srgbClr val="C00000"/>
                    </a:solidFill>
                    <a:latin typeface="+mn-lt"/>
                  </a:rPr>
                  <a:t>cat</a:t>
                </a:r>
                <a:endParaRPr lang="en-US" dirty="0">
                  <a:solidFill>
                    <a:srgbClr val="C00000"/>
                  </a:solidFill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𝑡ℎ𝑖𝑠𝑚𝑦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𝑡ℎ𝑖𝑠𝑚𝑦𝑜𝑙𝑑𝑔𝑐𝑎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𝐽𝑎𝑐𝑐𝑎𝑟𝑑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𝑆𝑖𝑚𝑖𝑙𝑎𝑟𝑖𝑡𝑦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Jaccard similarity often used for data with many categories like natural languages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952" t="-1604" b="-1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23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Relationship Between Similarity and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21417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Some similarity measures can be transformed to distance metrics</a:t>
            </a:r>
          </a:p>
          <a:p>
            <a:r>
              <a:rPr lang="en-US" dirty="0">
                <a:latin typeface="+mn-lt"/>
              </a:rPr>
              <a:t>Transform is an inverse function</a:t>
            </a:r>
          </a:p>
          <a:p>
            <a:r>
              <a:rPr lang="en-US" dirty="0">
                <a:latin typeface="+mn-lt"/>
              </a:rPr>
              <a:t>Resulting distance usually has limited range (limited support)</a:t>
            </a:r>
          </a:p>
          <a:p>
            <a:r>
              <a:rPr lang="en-US" dirty="0">
                <a:latin typeface="+mn-lt"/>
              </a:rPr>
              <a:t>Examples: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34275F9A-F194-47E8-B6C7-A6ABC532CF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4684090"/>
                  </p:ext>
                </p:extLst>
              </p:nvPr>
            </p:nvGraphicFramePr>
            <p:xfrm>
              <a:off x="127000" y="3244292"/>
              <a:ext cx="11938000" cy="34214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04840">
                      <a:extLst>
                        <a:ext uri="{9D8B030D-6E8A-4147-A177-3AD203B41FA5}">
                          <a16:colId xmlns:a16="http://schemas.microsoft.com/office/drawing/2014/main" val="367994989"/>
                        </a:ext>
                      </a:extLst>
                    </a:gridCol>
                    <a:gridCol w="6233160">
                      <a:extLst>
                        <a:ext uri="{9D8B030D-6E8A-4147-A177-3AD203B41FA5}">
                          <a16:colId xmlns:a16="http://schemas.microsoft.com/office/drawing/2014/main" val="29408861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Similarity Measure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Transform to Distance Metric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1280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Pearson Correlation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1 − 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1939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Jaccard Similarity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=1 − 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81363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Hamming Similarity (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 length string)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1878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Cosine Similarity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𝑎𝑛𝑔𝑢𝑙𝑎𝑟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𝑐𝑜𝑠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𝑐𝑜𝑠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50869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34275F9A-F194-47E8-B6C7-A6ABC532CF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4684090"/>
                  </p:ext>
                </p:extLst>
              </p:nvPr>
            </p:nvGraphicFramePr>
            <p:xfrm>
              <a:off x="127000" y="3244292"/>
              <a:ext cx="11938000" cy="34214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04840">
                      <a:extLst>
                        <a:ext uri="{9D8B030D-6E8A-4147-A177-3AD203B41FA5}">
                          <a16:colId xmlns:a16="http://schemas.microsoft.com/office/drawing/2014/main" val="367994989"/>
                        </a:ext>
                      </a:extLst>
                    </a:gridCol>
                    <a:gridCol w="6233160">
                      <a:extLst>
                        <a:ext uri="{9D8B030D-6E8A-4147-A177-3AD203B41FA5}">
                          <a16:colId xmlns:a16="http://schemas.microsoft.com/office/drawing/2014/main" val="2940886102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Similarity Measure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Transform to Distance Metric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128024"/>
                      </a:ext>
                    </a:extLst>
                  </a:tr>
                  <a:tr h="89027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Pearson Correlation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1691" t="-64384" r="-391" b="-228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1939117"/>
                      </a:ext>
                    </a:extLst>
                  </a:tr>
                  <a:tr h="548069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Jaccard Similarity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1691" t="-266667" r="-391" b="-27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813639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7" t="-388235" r="-109605" b="-18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1691" t="-388235" r="-391" b="-18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1878639"/>
                      </a:ext>
                    </a:extLst>
                  </a:tr>
                  <a:tr h="946785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Cosine Similarity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1691" t="-266026" r="-39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50869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525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Relationship Between Distance and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In some cases distance measures can be transformed to similarity</a:t>
                </a:r>
              </a:p>
              <a:p>
                <a:r>
                  <a:rPr lang="en-US" dirty="0">
                    <a:latin typeface="+mn-lt"/>
                  </a:rPr>
                  <a:t>May not be a unique transformation   </a:t>
                </a:r>
              </a:p>
              <a:p>
                <a:r>
                  <a:rPr lang="en-US" dirty="0">
                    <a:latin typeface="+mn-lt"/>
                  </a:rPr>
                  <a:t>Similarity must be in proper range:  </a:t>
                </a:r>
              </a:p>
              <a:p>
                <a:pPr lvl="1"/>
                <a:r>
                  <a:rPr lang="en-US" dirty="0">
                    <a:latin typeface="+mn-lt"/>
                  </a:rPr>
                  <a:t>[-1,1]</a:t>
                </a:r>
              </a:p>
              <a:p>
                <a:pPr lvl="1"/>
                <a:r>
                  <a:rPr lang="en-US" dirty="0">
                    <a:latin typeface="+mn-lt"/>
                  </a:rPr>
                  <a:t>[0,1] </a:t>
                </a:r>
              </a:p>
              <a:p>
                <a:r>
                  <a:rPr lang="en-US" dirty="0">
                    <a:latin typeface="+mn-lt"/>
                  </a:rPr>
                  <a:t>Distance always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Examples </a:t>
                </a:r>
                <a:r>
                  <a:rPr lang="en-US">
                    <a:latin typeface="+mn-lt"/>
                  </a:rPr>
                  <a:t>of transformations for Euclidean metrics </a:t>
                </a:r>
                <a:r>
                  <a:rPr lang="en-US" dirty="0">
                    <a:latin typeface="+mn-lt"/>
                  </a:rPr>
                  <a:t>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16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DECDF-814A-B2D1-F5F0-82FF12F0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66A1-0CB3-712B-C7AA-92B375DA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Scaling Distance and Similarity Metrics</a:t>
            </a:r>
          </a:p>
        </p:txBody>
      </p:sp>
    </p:spTree>
    <p:extLst>
      <p:ext uri="{BB962C8B-B14F-4D97-AF65-F5344CB8AC3E}">
        <p14:creationId xmlns:p14="http://schemas.microsoft.com/office/powerpoint/2010/main" val="41490671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Scaling distance and similarity 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 dissimilarity matrix contains the differences between each case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 and every other case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,</a:t>
                </a:r>
                <a:r>
                  <a:rPr lang="en-US" i="1" dirty="0">
                    <a:latin typeface="+mn-lt"/>
                  </a:rPr>
                  <a:t> d(x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,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)</a:t>
                </a:r>
              </a:p>
              <a:p>
                <a:endParaRPr lang="en-US" sz="2800" i="1" baseline="-25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8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baseline="-250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</a:endParaRPr>
              </a:p>
              <a:p>
                <a:pPr lvl="1"/>
                <a:endParaRPr lang="en-US" dirty="0"/>
              </a:p>
              <a:p>
                <a:r>
                  <a:rPr lang="en-US" dirty="0">
                    <a:latin typeface="+mn-lt"/>
                  </a:rPr>
                  <a:t>Only need to store upper (or lower) triangular elements of array  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+mn-lt"/>
                  </a:rPr>
                  <a:t> unique values</a:t>
                </a:r>
              </a:p>
              <a:p>
                <a:r>
                  <a:rPr lang="en-US" dirty="0">
                    <a:latin typeface="+mn-lt"/>
                  </a:rPr>
                  <a:t>But, a dense </a:t>
                </a:r>
                <a:r>
                  <a:rPr lang="en-US" b="1" dirty="0">
                    <a:latin typeface="+mn-lt"/>
                  </a:rPr>
                  <a:t>computationally intensive </a:t>
                </a:r>
                <a:r>
                  <a:rPr lang="en-US" dirty="0">
                    <a:latin typeface="+mn-lt"/>
                  </a:rPr>
                  <a:t>and </a:t>
                </a:r>
                <a:r>
                  <a:rPr lang="en-US" b="1" dirty="0">
                    <a:latin typeface="+mn-lt"/>
                  </a:rPr>
                  <a:t>memory intensive representation: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  <a:blipFill>
                <a:blip r:embed="rId3"/>
                <a:stretch>
                  <a:fillRect l="-1111" t="-1876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946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Autofit/>
          </a:bodyPr>
          <a:lstStyle/>
          <a:p>
            <a:r>
              <a:rPr lang="en-US" sz="3600" dirty="0"/>
              <a:t>Massively scaling distance and similarity 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 dissimilarity matrix contains the differences between each case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 and every other case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,</a:t>
                </a:r>
                <a:r>
                  <a:rPr lang="en-US" i="1" dirty="0">
                    <a:latin typeface="+mn-lt"/>
                  </a:rPr>
                  <a:t> d(x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,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)</a:t>
                </a:r>
                <a:endParaRPr lang="en-US" sz="2800" i="1" baseline="-250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 dense </a:t>
                </a:r>
                <a:r>
                  <a:rPr lang="en-US" b="1" dirty="0">
                    <a:latin typeface="+mn-lt"/>
                  </a:rPr>
                  <a:t>computationally intensive </a:t>
                </a:r>
                <a:r>
                  <a:rPr lang="en-US" dirty="0">
                    <a:latin typeface="+mn-lt"/>
                  </a:rPr>
                  <a:t>and </a:t>
                </a:r>
                <a:r>
                  <a:rPr lang="en-US" b="1" dirty="0">
                    <a:latin typeface="+mn-lt"/>
                  </a:rPr>
                  <a:t>memory intensive representation: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How can we </a:t>
                </a:r>
                <a:r>
                  <a:rPr lang="en-US" b="1" dirty="0">
                    <a:latin typeface="+mn-lt"/>
                  </a:rPr>
                  <a:t>massively scale</a:t>
                </a:r>
                <a:r>
                  <a:rPr lang="en-US" dirty="0">
                    <a:latin typeface="+mn-lt"/>
                  </a:rPr>
                  <a:t>?    </a:t>
                </a:r>
              </a:p>
              <a:p>
                <a:r>
                  <a:rPr lang="en-US" b="1" dirty="0">
                    <a:latin typeface="+mn-lt"/>
                  </a:rPr>
                  <a:t>Use an approximate sparse graph representation!</a:t>
                </a:r>
              </a:p>
              <a:p>
                <a:r>
                  <a:rPr lang="en-US" dirty="0">
                    <a:latin typeface="+mn-lt"/>
                  </a:rPr>
                  <a:t>Compute distance or similarity metric along graph edges </a:t>
                </a:r>
              </a:p>
              <a:p>
                <a:pPr lvl="1"/>
                <a:r>
                  <a:rPr lang="en-US" dirty="0">
                    <a:latin typeface="+mn-lt"/>
                  </a:rPr>
                  <a:t>Only consider metric between </a:t>
                </a:r>
                <a:r>
                  <a:rPr lang="en-US" b="1" dirty="0">
                    <a:latin typeface="+mn-lt"/>
                  </a:rPr>
                  <a:t>nearest neighbors (NNs)</a:t>
                </a:r>
              </a:p>
              <a:p>
                <a:pPr lvl="1"/>
                <a:r>
                  <a:rPr lang="en-US" dirty="0">
                    <a:latin typeface="+mn-lt"/>
                  </a:rPr>
                  <a:t>Nearest neighbors are most important </a:t>
                </a:r>
              </a:p>
              <a:p>
                <a:pPr lvl="1"/>
                <a:r>
                  <a:rPr lang="en-US" dirty="0">
                    <a:latin typeface="+mn-lt"/>
                  </a:rPr>
                  <a:t>The nearest neighbor approximation 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C00000"/>
                    </a:solidFill>
                    <a:latin typeface="+mn-lt"/>
                  </a:rPr>
                  <a:t>Don’t confuse this idea with clustering models! – No cluster assignment</a:t>
                </a:r>
              </a:p>
              <a:p>
                <a:pPr marL="0" indent="0">
                  <a:buNone/>
                </a:pPr>
                <a:endParaRPr 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  <a:blipFill>
                <a:blip r:embed="rId3"/>
                <a:stretch>
                  <a:fillRect l="-1111" t="-1876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21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Autofit/>
          </a:bodyPr>
          <a:lstStyle/>
          <a:p>
            <a:r>
              <a:rPr lang="en-US" sz="3600" dirty="0"/>
              <a:t>Massively scaling distance and similarity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523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 dissimilarity matrix contains the differences between each case </a:t>
            </a:r>
            <a:r>
              <a:rPr lang="en-US" i="1" dirty="0">
                <a:latin typeface="+mn-lt"/>
              </a:rPr>
              <a:t>x</a:t>
            </a:r>
            <a:r>
              <a:rPr lang="en-US" i="1" baseline="-25000" dirty="0">
                <a:latin typeface="+mn-lt"/>
              </a:rPr>
              <a:t>i</a:t>
            </a:r>
            <a:r>
              <a:rPr lang="en-US" dirty="0">
                <a:latin typeface="+mn-lt"/>
              </a:rPr>
              <a:t> and every other case </a:t>
            </a:r>
            <a:r>
              <a:rPr lang="en-US" i="1" dirty="0" err="1">
                <a:latin typeface="+mn-lt"/>
              </a:rPr>
              <a:t>x’</a:t>
            </a:r>
            <a:r>
              <a:rPr lang="en-US" i="1" baseline="-25000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,</a:t>
            </a:r>
            <a:r>
              <a:rPr lang="en-US" i="1" dirty="0">
                <a:latin typeface="+mn-lt"/>
              </a:rPr>
              <a:t> d(x</a:t>
            </a:r>
            <a:r>
              <a:rPr lang="en-US" i="1" baseline="-25000" dirty="0">
                <a:latin typeface="+mn-lt"/>
              </a:rPr>
              <a:t>i</a:t>
            </a:r>
            <a:r>
              <a:rPr lang="en-US" i="1" dirty="0">
                <a:latin typeface="+mn-lt"/>
              </a:rPr>
              <a:t>, </a:t>
            </a:r>
            <a:r>
              <a:rPr lang="en-US" i="1" dirty="0" err="1">
                <a:latin typeface="+mn-lt"/>
              </a:rPr>
              <a:t>x’</a:t>
            </a:r>
            <a:r>
              <a:rPr lang="en-US" i="1" baseline="-25000" dirty="0" err="1">
                <a:latin typeface="+mn-lt"/>
              </a:rPr>
              <a:t>i</a:t>
            </a:r>
            <a:r>
              <a:rPr lang="en-US" i="1" dirty="0">
                <a:latin typeface="+mn-lt"/>
              </a:rPr>
              <a:t>)</a:t>
            </a:r>
            <a:endParaRPr lang="en-US" sz="2800" i="1" baseline="-25000" dirty="0">
              <a:latin typeface="+mn-lt"/>
            </a:endParaRPr>
          </a:p>
          <a:p>
            <a:r>
              <a:rPr lang="en-US" b="1" dirty="0">
                <a:latin typeface="+mn-lt"/>
              </a:rPr>
              <a:t>Sparse graph representation</a:t>
            </a:r>
            <a:r>
              <a:rPr lang="en-US" dirty="0">
                <a:latin typeface="+mn-lt"/>
              </a:rPr>
              <a:t> reduces computation and memory use    </a:t>
            </a:r>
          </a:p>
          <a:p>
            <a:r>
              <a:rPr lang="en-US" dirty="0">
                <a:latin typeface="+mn-lt"/>
              </a:rPr>
              <a:t>In many practical situations only need measure for closest neighbors   </a:t>
            </a:r>
          </a:p>
          <a:p>
            <a:pPr lvl="1"/>
            <a:r>
              <a:rPr lang="en-US" dirty="0">
                <a:latin typeface="+mn-lt"/>
              </a:rPr>
              <a:t>Construct graph of </a:t>
            </a:r>
            <a:r>
              <a:rPr lang="en-US" b="1" dirty="0">
                <a:latin typeface="+mn-lt"/>
              </a:rPr>
              <a:t>nearest neighbors     </a:t>
            </a:r>
          </a:p>
          <a:p>
            <a:pPr lvl="1"/>
            <a:r>
              <a:rPr lang="en-US" dirty="0">
                <a:latin typeface="+mn-lt"/>
              </a:rPr>
              <a:t>Neglect metric for less important distant nodes</a:t>
            </a:r>
          </a:p>
          <a:p>
            <a:r>
              <a:rPr lang="en-US" dirty="0">
                <a:latin typeface="+mn-lt"/>
              </a:rPr>
              <a:t>Ways to define nearest neighbor      </a:t>
            </a:r>
          </a:p>
          <a:p>
            <a:pPr lvl="1"/>
            <a:r>
              <a:rPr lang="en-US" dirty="0">
                <a:latin typeface="+mn-lt"/>
              </a:rPr>
              <a:t>Neighbors within radius </a:t>
            </a:r>
            <a:r>
              <a:rPr lang="en-US" b="1" dirty="0">
                <a:latin typeface="+mn-lt"/>
              </a:rPr>
              <a:t>r</a:t>
            </a:r>
          </a:p>
          <a:p>
            <a:pPr lvl="1"/>
            <a:r>
              <a:rPr lang="en-US" dirty="0">
                <a:latin typeface="+mn-lt"/>
              </a:rPr>
              <a:t>Nearest </a:t>
            </a:r>
            <a:r>
              <a:rPr lang="en-US" b="1" dirty="0">
                <a:latin typeface="+mn-lt"/>
              </a:rPr>
              <a:t>k </a:t>
            </a:r>
            <a:r>
              <a:rPr lang="en-US" dirty="0">
                <a:latin typeface="+mn-lt"/>
              </a:rPr>
              <a:t>neighbors     </a:t>
            </a:r>
            <a:endParaRPr lang="en-US" b="1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936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Scaling distance and similarity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Sparse graph representation</a:t>
            </a:r>
            <a:r>
              <a:rPr lang="en-US" dirty="0">
                <a:latin typeface="+mn-lt"/>
              </a:rPr>
              <a:t> reduces computation and memory use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48DED-98F8-A31E-5342-F683E842C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362" y="1398559"/>
            <a:ext cx="5263486" cy="53799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F104C8-939D-17AC-9595-D23F88C334CA}"/>
                  </a:ext>
                </a:extLst>
              </p:cNvPr>
              <p:cNvSpPr txBox="1"/>
              <p:nvPr/>
            </p:nvSpPr>
            <p:spPr>
              <a:xfrm>
                <a:off x="396497" y="1709893"/>
                <a:ext cx="6058732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Nearest neighbors within a fixed radius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Need to select a radius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Connectivity increases with radius   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𝑠𝑝𝑎𝑠𝑒𝑟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𝑔𝑟𝑎𝑝ℎ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𝑙𝑒𝑠𝑠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𝑐𝑜𝑚𝑝𝑢𝑡𝑎𝑡𝑖𝑜𝑛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𝑙𝑒𝑠𝑠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𝑚𝑒𝑚𝑜𝑟𝑦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𝑚𝑜𝑟𝑒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𝑎𝑝𝑝𝑟𝑜𝑥𝑖𝑚𝑎𝑡𝑒</m:t>
                    </m:r>
                  </m:oMath>
                </a14:m>
                <a:endParaRPr lang="en-US" sz="28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𝑑𝑖𝑠𝑐𝑜𝑛𝑛𝑒𝑐𝑡𝑒𝑑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𝑔𝑟𝑎𝑝ℎ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F104C8-939D-17AC-9595-D23F88C33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97" y="1709893"/>
                <a:ext cx="6058732" cy="3970318"/>
              </a:xfrm>
              <a:prstGeom prst="rect">
                <a:avLst/>
              </a:prstGeom>
              <a:blipFill>
                <a:blip r:embed="rId4"/>
                <a:stretch>
                  <a:fillRect l="-1811" t="-1380" b="-3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90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Scaling distance and similarity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Sparse graph representation</a:t>
            </a:r>
            <a:r>
              <a:rPr lang="en-US" dirty="0">
                <a:latin typeface="+mn-lt"/>
              </a:rPr>
              <a:t> reduces computation and memory use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F104C8-939D-17AC-9595-D23F88C334CA}"/>
                  </a:ext>
                </a:extLst>
              </p:cNvPr>
              <p:cNvSpPr txBox="1"/>
              <p:nvPr/>
            </p:nvSpPr>
            <p:spPr>
              <a:xfrm>
                <a:off x="396498" y="1709893"/>
                <a:ext cx="5851902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Nearest neighbors within a fixed number of neighbors, </a:t>
                </a:r>
                <a:r>
                  <a:rPr lang="en-US" sz="2800" i="1" dirty="0"/>
                  <a:t>k</a:t>
                </a:r>
                <a:r>
                  <a:rPr lang="en-US" sz="28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Need to select </a:t>
                </a:r>
                <a:r>
                  <a:rPr lang="en-US" sz="2800" i="1" dirty="0"/>
                  <a:t>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Connectivity increases with </a:t>
                </a:r>
                <a:r>
                  <a:rPr lang="en-US" sz="2800" i="1" dirty="0"/>
                  <a:t>k</a:t>
                </a:r>
                <a:r>
                  <a:rPr lang="en-US" sz="2800" dirty="0"/>
                  <a:t>   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𝑠𝑝𝑎𝑠𝑒𝑟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𝑔𝑟𝑎𝑝ℎ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𝑙𝑒𝑠𝑠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𝑐𝑜𝑚𝑝𝑢𝑡𝑎𝑡𝑖𝑜𝑛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𝑙𝑒𝑠𝑠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𝑚𝑒𝑚𝑜𝑟𝑦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𝑚𝑜𝑟𝑒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𝑎𝑝𝑝𝑟𝑜𝑥𝑖𝑚𝑎𝑡𝑒</m:t>
                    </m:r>
                  </m:oMath>
                </a14:m>
                <a:endParaRPr lang="en-US" sz="28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𝑑𝑖𝑠𝑐𝑜𝑛𝑛𝑒𝑐𝑡𝑠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𝑔𝑟𝑎𝑝ℎ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F104C8-939D-17AC-9595-D23F88C33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98" y="1709893"/>
                <a:ext cx="5851902" cy="3970318"/>
              </a:xfrm>
              <a:prstGeom prst="rect">
                <a:avLst/>
              </a:prstGeom>
              <a:blipFill>
                <a:blip r:embed="rId3"/>
                <a:stretch>
                  <a:fillRect l="-1875" t="-1380" b="-3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97319D1-4DCF-AFF0-425A-78BBDE86D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49" y="1319284"/>
            <a:ext cx="5225962" cy="547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009F9-38F8-D01E-FD1B-36661DE8F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C7FF-A030-E540-3122-5EC52D08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Autofit/>
          </a:bodyPr>
          <a:lstStyle/>
          <a:p>
            <a:r>
              <a:rPr lang="en-US" sz="3600" dirty="0"/>
              <a:t>Massively scaling distance and similarity 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4F0993-0786-0096-C5C8-4A5AB5B496D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Represent a graph by its association matrix, </a:t>
                </a:r>
                <a:r>
                  <a:rPr lang="en-US" i="1" dirty="0">
                    <a:latin typeface="+mn-lt"/>
                  </a:rPr>
                  <a:t>A</a:t>
                </a:r>
                <a:endParaRPr lang="en-US" sz="2800" i="1" baseline="-250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values in the association matrix represent the distance or similarity between nodes of the graph </a:t>
                </a:r>
              </a:p>
              <a:p>
                <a:pPr lvl="1"/>
                <a:r>
                  <a:rPr lang="en-US" dirty="0">
                    <a:latin typeface="+mn-lt"/>
                  </a:rPr>
                  <a:t>Example the distance between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+mn-lt"/>
                  </a:rPr>
                  <a:t> is represented as the matrix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 dense graph has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edges in the association matrix   </a:t>
                </a:r>
              </a:p>
              <a:p>
                <a:pPr lvl="1"/>
                <a:r>
                  <a:rPr lang="en-US" dirty="0">
                    <a:latin typeface="+mn-lt"/>
                  </a:rPr>
                  <a:t>A distance or similarity graph is symmetric,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and has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+mn-lt"/>
                  </a:rPr>
                  <a:t> unique values</a:t>
                </a:r>
              </a:p>
              <a:p>
                <a:pPr lvl="1"/>
                <a:r>
                  <a:rPr lang="en-US" dirty="0">
                    <a:latin typeface="+mn-lt"/>
                  </a:rPr>
                  <a:t>The graph can be represented by an upper or lower triangular matrix  </a:t>
                </a:r>
              </a:p>
              <a:p>
                <a:r>
                  <a:rPr lang="en-US" b="1" dirty="0">
                    <a:latin typeface="+mn-lt"/>
                  </a:rPr>
                  <a:t>Sparse nearest neighbor graph representation</a:t>
                </a:r>
                <a:r>
                  <a:rPr lang="en-US" dirty="0">
                    <a:latin typeface="+mn-lt"/>
                  </a:rPr>
                  <a:t> reduces the number of nonzero edge values     </a:t>
                </a:r>
              </a:p>
              <a:p>
                <a:pPr lvl="1"/>
                <a:r>
                  <a:rPr lang="en-US" dirty="0">
                    <a:latin typeface="+mn-lt"/>
                  </a:rPr>
                  <a:t>We do not need to store the zero values   </a:t>
                </a:r>
              </a:p>
              <a:p>
                <a:pPr lvl="1"/>
                <a:r>
                  <a:rPr lang="en-US" dirty="0">
                    <a:latin typeface="+mn-lt"/>
                  </a:rPr>
                  <a:t>Can 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pairs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and value of distance or similarity   </a:t>
                </a:r>
              </a:p>
              <a:p>
                <a:pPr lvl="1"/>
                <a:r>
                  <a:rPr lang="en-US" dirty="0">
                    <a:latin typeface="+mn-lt"/>
                  </a:rPr>
                  <a:t>The is know as the </a:t>
                </a:r>
                <a:r>
                  <a:rPr lang="en-US" b="1" dirty="0">
                    <a:latin typeface="+mn-lt"/>
                  </a:rPr>
                  <a:t>Yale representation</a:t>
                </a:r>
                <a:r>
                  <a:rPr lang="en-US" dirty="0">
                    <a:latin typeface="+mn-lt"/>
                  </a:rPr>
                  <a:t> of a sparse matrix   </a:t>
                </a:r>
                <a:r>
                  <a:rPr lang="en-US" b="1" dirty="0">
                    <a:latin typeface="+mn-lt"/>
                  </a:rPr>
                  <a:t>  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4F0993-0786-0096-C5C8-4A5AB5B496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  <a:blipFill>
                <a:blip r:embed="rId3"/>
                <a:stretch>
                  <a:fillRect l="-1111" t="-2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00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1C15D-FF73-4393-A9E9-9025B85C8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CEA4-DC27-7894-D38A-1403A36F4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6927848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Key points for this lesson</a:t>
            </a:r>
          </a:p>
          <a:p>
            <a:r>
              <a:rPr lang="en-US" b="1" dirty="0">
                <a:latin typeface="+mn-lt"/>
              </a:rPr>
              <a:t>Distance metrics </a:t>
            </a:r>
            <a:r>
              <a:rPr lang="en-US" dirty="0">
                <a:latin typeface="+mn-lt"/>
              </a:rPr>
              <a:t>and </a:t>
            </a:r>
            <a:r>
              <a:rPr lang="en-US" b="1" dirty="0">
                <a:latin typeface="+mn-lt"/>
              </a:rPr>
              <a:t>similarity metrics</a:t>
            </a:r>
            <a:r>
              <a:rPr lang="en-US" dirty="0">
                <a:latin typeface="+mn-lt"/>
              </a:rPr>
              <a:t> are foundational for unsupervised learning</a:t>
            </a:r>
          </a:p>
          <a:p>
            <a:r>
              <a:rPr lang="en-US" dirty="0">
                <a:latin typeface="+mn-lt"/>
              </a:rPr>
              <a:t>Distance and similarity metrics map 2 multivariate (vector) values to a scalar  </a:t>
            </a:r>
          </a:p>
          <a:p>
            <a:r>
              <a:rPr lang="en-US" dirty="0">
                <a:latin typeface="+mn-lt"/>
              </a:rPr>
              <a:t>Distance metric must conform to the </a:t>
            </a:r>
            <a:r>
              <a:rPr lang="en-US" b="1" dirty="0">
                <a:latin typeface="+mn-lt"/>
              </a:rPr>
              <a:t>4 axioms</a:t>
            </a:r>
            <a:r>
              <a:rPr lang="en-US" dirty="0">
                <a:latin typeface="+mn-lt"/>
              </a:rPr>
              <a:t>!  </a:t>
            </a:r>
          </a:p>
          <a:p>
            <a:r>
              <a:rPr lang="en-US" dirty="0">
                <a:latin typeface="+mn-lt"/>
              </a:rPr>
              <a:t>Different distance and similarity metrics find different relationships in data</a:t>
            </a:r>
          </a:p>
          <a:p>
            <a:pPr lvl="1"/>
            <a:r>
              <a:rPr lang="en-US" dirty="0">
                <a:latin typeface="+mn-lt"/>
              </a:rPr>
              <a:t>There is no one best metric!</a:t>
            </a:r>
          </a:p>
          <a:p>
            <a:pPr lvl="1"/>
            <a:r>
              <a:rPr lang="en-US" dirty="0">
                <a:latin typeface="+mn-lt"/>
              </a:rPr>
              <a:t>In practice, try several </a:t>
            </a:r>
          </a:p>
          <a:p>
            <a:r>
              <a:rPr lang="en-US" dirty="0">
                <a:latin typeface="+mn-lt"/>
              </a:rPr>
              <a:t>Can transform from similarity to distance </a:t>
            </a:r>
          </a:p>
          <a:p>
            <a:r>
              <a:rPr lang="en-US" sz="2800" dirty="0">
                <a:latin typeface="+mn-lt"/>
              </a:rPr>
              <a:t>Use </a:t>
            </a:r>
            <a:r>
              <a:rPr lang="en-US" dirty="0">
                <a:latin typeface="+mn-lt"/>
              </a:rPr>
              <a:t>sparse graph representation to massively improve scalability</a:t>
            </a:r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252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12753</TotalTime>
  <Words>3335</Words>
  <Application>Microsoft Office PowerPoint</Application>
  <PresentationFormat>Widescreen</PresentationFormat>
  <Paragraphs>562</Paragraphs>
  <Slides>49</Slides>
  <Notes>41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Segoe UI</vt:lpstr>
      <vt:lpstr>Segoe UI Light</vt:lpstr>
      <vt:lpstr>Symbol</vt:lpstr>
      <vt:lpstr>Office Theme</vt:lpstr>
      <vt:lpstr>CSCI E-96 Data Mining, Discovery and Exploration Distance and Similarity Measures</vt:lpstr>
      <vt:lpstr>Main topics in this course </vt:lpstr>
      <vt:lpstr>Measuring similarity and dissimilarity</vt:lpstr>
      <vt:lpstr>Measuring similarity and dissimilarity</vt:lpstr>
      <vt:lpstr>Properties of Distance Metrics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Basic Distance Metrics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Distance Metrics with Mixed Variable Types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Measuring distance or dissimilarity</vt:lpstr>
      <vt:lpstr>Similarity Metrics</vt:lpstr>
      <vt:lpstr>Measuring distance and similarity</vt:lpstr>
      <vt:lpstr>Measuring Similarity</vt:lpstr>
      <vt:lpstr>Measuring Similarity</vt:lpstr>
      <vt:lpstr>Measuring Similarity</vt:lpstr>
      <vt:lpstr>Measuring Similarity</vt:lpstr>
      <vt:lpstr>Measuring Similarity</vt:lpstr>
      <vt:lpstr>Relationship Between Similarity and Distance</vt:lpstr>
      <vt:lpstr>Relationship Between Distance and Similarity</vt:lpstr>
      <vt:lpstr>Scaling Distance and Similarity Metrics</vt:lpstr>
      <vt:lpstr>Scaling distance and similarity measures</vt:lpstr>
      <vt:lpstr>Massively scaling distance and similarity measures</vt:lpstr>
      <vt:lpstr>Massively scaling distance and similarity measures</vt:lpstr>
      <vt:lpstr>Scaling distance and similarity measures</vt:lpstr>
      <vt:lpstr>Scaling distance and similarity measures</vt:lpstr>
      <vt:lpstr>Massively scaling distance and similarity measures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E-96 Data Mining, Discovery and Exploration Similarity Measres</dc:title>
  <dc:creator>Stephe Elston</dc:creator>
  <cp:lastModifiedBy>Stephen Elston</cp:lastModifiedBy>
  <cp:revision>299</cp:revision>
  <dcterms:created xsi:type="dcterms:W3CDTF">2021-06-01T18:04:30Z</dcterms:created>
  <dcterms:modified xsi:type="dcterms:W3CDTF">2026-09-08T23:46:03Z</dcterms:modified>
</cp:coreProperties>
</file>