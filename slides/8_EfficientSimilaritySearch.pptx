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3"/>
  </p:notesMasterIdLst>
  <p:sldIdLst>
    <p:sldId id="718" r:id="rId2"/>
    <p:sldId id="853" r:id="rId3"/>
    <p:sldId id="753" r:id="rId4"/>
    <p:sldId id="851" r:id="rId5"/>
    <p:sldId id="764" r:id="rId6"/>
    <p:sldId id="835" r:id="rId7"/>
    <p:sldId id="837" r:id="rId8"/>
    <p:sldId id="795" r:id="rId9"/>
    <p:sldId id="765" r:id="rId10"/>
    <p:sldId id="756" r:id="rId11"/>
    <p:sldId id="758" r:id="rId12"/>
    <p:sldId id="767" r:id="rId13"/>
    <p:sldId id="787" r:id="rId14"/>
    <p:sldId id="789" r:id="rId15"/>
    <p:sldId id="768" r:id="rId16"/>
    <p:sldId id="782" r:id="rId17"/>
    <p:sldId id="849" r:id="rId18"/>
    <p:sldId id="781" r:id="rId19"/>
    <p:sldId id="852" r:id="rId20"/>
    <p:sldId id="786" r:id="rId21"/>
    <p:sldId id="780" r:id="rId22"/>
    <p:sldId id="769" r:id="rId23"/>
    <p:sldId id="770" r:id="rId24"/>
    <p:sldId id="778" r:id="rId25"/>
    <p:sldId id="749" r:id="rId26"/>
    <p:sldId id="688" r:id="rId27"/>
    <p:sldId id="754" r:id="rId28"/>
    <p:sldId id="735" r:id="rId29"/>
    <p:sldId id="737" r:id="rId30"/>
    <p:sldId id="736" r:id="rId31"/>
    <p:sldId id="738" r:id="rId32"/>
    <p:sldId id="739" r:id="rId33"/>
    <p:sldId id="763" r:id="rId34"/>
    <p:sldId id="750" r:id="rId35"/>
    <p:sldId id="740" r:id="rId36"/>
    <p:sldId id="741" r:id="rId37"/>
    <p:sldId id="742" r:id="rId38"/>
    <p:sldId id="744" r:id="rId39"/>
    <p:sldId id="745" r:id="rId40"/>
    <p:sldId id="746" r:id="rId41"/>
    <p:sldId id="748" r:id="rId42"/>
    <p:sldId id="766" r:id="rId43"/>
    <p:sldId id="774" r:id="rId44"/>
    <p:sldId id="792" r:id="rId45"/>
    <p:sldId id="793" r:id="rId46"/>
    <p:sldId id="775" r:id="rId47"/>
    <p:sldId id="833" r:id="rId48"/>
    <p:sldId id="834" r:id="rId49"/>
    <p:sldId id="832" r:id="rId50"/>
    <p:sldId id="840" r:id="rId51"/>
    <p:sldId id="841" r:id="rId52"/>
    <p:sldId id="772" r:id="rId53"/>
    <p:sldId id="788" r:id="rId54"/>
    <p:sldId id="836" r:id="rId55"/>
    <p:sldId id="799" r:id="rId56"/>
    <p:sldId id="819" r:id="rId57"/>
    <p:sldId id="821" r:id="rId58"/>
    <p:sldId id="790" r:id="rId59"/>
    <p:sldId id="779" r:id="rId60"/>
    <p:sldId id="794" r:id="rId61"/>
    <p:sldId id="796" r:id="rId62"/>
    <p:sldId id="814" r:id="rId63"/>
    <p:sldId id="822" r:id="rId64"/>
    <p:sldId id="831" r:id="rId65"/>
    <p:sldId id="797" r:id="rId66"/>
    <p:sldId id="839" r:id="rId67"/>
    <p:sldId id="784" r:id="rId68"/>
    <p:sldId id="785" r:id="rId69"/>
    <p:sldId id="802" r:id="rId70"/>
    <p:sldId id="804" r:id="rId71"/>
    <p:sldId id="801" r:id="rId72"/>
    <p:sldId id="809" r:id="rId73"/>
    <p:sldId id="805" r:id="rId74"/>
    <p:sldId id="800" r:id="rId75"/>
    <p:sldId id="813" r:id="rId76"/>
    <p:sldId id="806" r:id="rId77"/>
    <p:sldId id="807" r:id="rId78"/>
    <p:sldId id="808" r:id="rId79"/>
    <p:sldId id="810" r:id="rId80"/>
    <p:sldId id="812" r:id="rId81"/>
    <p:sldId id="817" r:id="rId82"/>
    <p:sldId id="827" r:id="rId83"/>
    <p:sldId id="828" r:id="rId84"/>
    <p:sldId id="829" r:id="rId85"/>
    <p:sldId id="830" r:id="rId86"/>
    <p:sldId id="823" r:id="rId87"/>
    <p:sldId id="824" r:id="rId88"/>
    <p:sldId id="838" r:id="rId89"/>
    <p:sldId id="842" r:id="rId90"/>
    <p:sldId id="845" r:id="rId91"/>
    <p:sldId id="825" r:id="rId92"/>
    <p:sldId id="826" r:id="rId93"/>
    <p:sldId id="844" r:id="rId94"/>
    <p:sldId id="846" r:id="rId95"/>
    <p:sldId id="847" r:id="rId96"/>
    <p:sldId id="843" r:id="rId97"/>
    <p:sldId id="761" r:id="rId98"/>
    <p:sldId id="729" r:id="rId99"/>
    <p:sldId id="675" r:id="rId100"/>
    <p:sldId id="723" r:id="rId101"/>
    <p:sldId id="725" r:id="rId102"/>
    <p:sldId id="706" r:id="rId103"/>
    <p:sldId id="709" r:id="rId104"/>
    <p:sldId id="710" r:id="rId105"/>
    <p:sldId id="712" r:id="rId106"/>
    <p:sldId id="713" r:id="rId107"/>
    <p:sldId id="726" r:id="rId108"/>
    <p:sldId id="728" r:id="rId109"/>
    <p:sldId id="848" r:id="rId110"/>
    <p:sldId id="731" r:id="rId111"/>
    <p:sldId id="850" r:id="rId1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2" autoAdjust="0"/>
    <p:restoredTop sz="94660"/>
  </p:normalViewPr>
  <p:slideViewPr>
    <p:cSldViewPr snapToGrid="0">
      <p:cViewPr>
        <p:scale>
          <a:sx n="84" d="100"/>
          <a:sy n="84" d="100"/>
        </p:scale>
        <p:origin x="24" y="-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534D1-5B48-49E9-A024-C5EAE54CADD0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EEBAC-B083-4D6F-9402-80E985106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25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417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C7DCB-BEFA-95AB-BD28-CB4573A7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96C50-6892-76BD-236A-5FCC14533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DBB48-60E5-C08D-24E0-02EAC022C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F2286-68E9-FCF8-E181-E20877671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98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734B-AC59-6B2C-9041-40370BEC3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64006-6B93-D0AC-BD1E-90A71723E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95AA25-60F3-E8E5-2F41-81C262FF7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29553-5BF6-BCE1-07E1-DA0436FE2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166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2810B-E9D8-0840-C306-362D66079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B4362-666B-EBFB-1F1D-3CCC9C107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FDBD7-7328-B196-3781-9A973E5D9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7E5C1-94C9-FA6F-3177-865DEAC074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090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77203-0E30-6E95-6F3A-50D18572E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4BBDF-63C6-3438-DBE2-4FBCE9C4A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C7633-9B6C-395B-D1ED-DE12F330F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CCF3A-7636-D252-C57B-FF2503E15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623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22D64-405A-9870-AAB8-C6225AE6B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3A7516-BC16-D9AB-D255-784E23BED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11175-965B-17AA-1F52-3C72CE100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D00CE-8DBA-276C-0B99-342ABD3C3C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42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4B776-13B6-B6B4-C4C0-819442A9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9E57C-06F5-46CE-1428-B435F6C5D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28338-FBED-843D-2006-E1185D74E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BAB76-0D2A-83D7-8CFA-67128F4911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68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7B176-0719-23B5-F766-5DB32C1D1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8ECC7-E776-657C-632A-672C978EF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16A4C-FA05-7FF6-6A6D-E0C7AD035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36E46-A9EE-F179-1923-78E81C301D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4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CFE69-A745-70B9-4F2A-C97ACD859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DB8D3-D5D6-842C-B9C9-E2EA999F8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59537-264C-7230-4C1B-7F09F5020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F52B4-A2A9-7D1F-CDEC-CBC7EDB704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29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8560-71DB-C205-0597-9E74D487F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508CB-7802-0DBB-737F-70F5E177F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27EB01-FD23-B86F-0762-7219B977D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D3EDC-B63D-94C8-9239-274879E294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944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475FB-2532-7444-6460-35676A6C5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B6A49-F294-7D61-59A7-47504DBA4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916BCF-9200-FCF8-BC31-C0DC31DA9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FC5D2-7526-86E9-3AF5-DD5E6539FB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52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087D-0DC7-6EEE-97E4-397D8D53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D0DAB-0CC1-C222-2E07-FB5FDB4F0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64B4D-5979-0A6D-0EC2-F12F11AC3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5FF45-43DE-E9BB-8216-D041F138D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58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9E963-936D-0686-3ED6-9544AB65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B9D47-CFE9-8335-3DAE-0DE1F9739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B18163-9C5F-0EBA-C03F-6164724F3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C91B6-9D71-7DC9-6E17-6120F8741E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62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7E578-3355-2245-627B-3F792E7BF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AA74B-9B69-677A-E49E-3005D8EE7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CFAAF-3B3B-417E-381C-F3F180CEA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53A36-ACC8-604B-BA27-8073288A5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491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E3DE6-03DC-4173-340B-26F4C6D9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B0F9F-560E-9555-9BF7-A4BC57F85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BA1A27-78D0-3CF3-2C65-B1FD8FDA5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FA4E2-593E-702B-F7D7-CEFB49FDB8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771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7C4FB-FEF6-2A1B-3021-665C8D970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2852D-E494-1DDB-7513-582559668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8D9056-35C9-E817-0A8B-7E9C64406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9ACD1-7FD9-BA95-3B94-AB326CA33E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984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96DBB-E52F-E56E-CF2F-6047CC4F1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051EC-4CA5-8837-9303-4E5B6247E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DE290A-A15C-6D99-1A21-82A4B312F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2BB76-8E70-7FD4-95A4-3F704422AD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31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EE027-18C7-30C4-2B24-820F876F4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04C3B-389F-0859-ADC1-312432C65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4AC131-DF76-7CA5-0476-925349FB5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515CF-E1ED-C5FE-115B-0BB8D3181E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606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609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5706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328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052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76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791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474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8235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71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006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576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434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182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9300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5699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701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AA010-4279-4924-A752-7FB444228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6C045-5A11-27A8-6A57-22BCECB17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5EE0BF-6F34-8CB8-4999-6BEEDF057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C6462-06DD-45A5-8819-19A8A3A3B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0490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30E80-5BA7-FE36-ECF6-4DB0463AD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2DDB68-531F-ACED-C3CC-3271FB80E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6EAE68-41A5-8121-850E-167856675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60E86-A25F-FFEB-17D4-8188F73BFD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301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8C96E-185A-6DB9-6378-314502EFB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47271-45E0-B96A-860D-B43A48405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DF76B-E3AF-9ABB-6C4C-EE01EF750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6BD5F-B83A-FF45-4C17-8188AA9DDE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56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E4643-9719-3317-9F52-668C3375C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8FFBC-9D83-5878-AE9D-E229B9B9B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067E90-59DD-37E8-12B2-9DE556250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7E1CE-F4CD-2F9C-3428-11D74CB5D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951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86A82-594E-C481-B531-3CB412116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D980B-D0EC-2DBC-CE26-85665D1E2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24353-0718-65FD-B1C4-282236038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DBE3D-E830-9965-F87E-F7E7E0AEF9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462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859B3-32FD-B5C1-A14C-AF0C6D18B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FFEC36-F4A2-7C0C-C027-0904909A1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2F8C7-4885-9C21-80F6-7EF08D192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1B0F1-48C1-960D-27B2-21395C097E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13372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1BEB4-2EAB-6814-04E8-7C55862BB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067870-402C-FC0B-48C8-CDCE6FD00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DBC5C-C9EC-346A-9A10-D0D341ADA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9E2EB-96C2-F82B-A184-F0A7D3B882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2297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C9F5-8B02-C85C-5372-77FFBB525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788797-8AA9-2924-16E9-0FDD9679D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362AF-C86A-5C73-3975-E8D1B753C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06106-4613-D25C-EB20-ECD4017D0F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356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0534C-E413-A9CB-6CD9-5B5313664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411120-8557-A8AD-ED08-E4E4C0D84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0ADC99-204E-D9CE-5FB4-39601F2CF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069FF-C894-C3DA-DB58-47C89F3A40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891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811BC-BCB1-097B-C7ED-4486CFD60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CC407-9A84-FF1D-862E-A0062605A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97CAA-F227-7BF9-1FCE-2C03B142C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C72D1-EEAD-F545-E8D2-F844E65F3E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3296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DCE59-EECD-5572-FE06-AD8603C59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FE1EA-E461-B2D0-DE92-AFCF66F7A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0DE49-E7A7-2447-2545-CBDCBEF42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9D0FF-F0B1-6BA3-E871-840261CF9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431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D6228-0A45-4BAB-199F-98E858D5E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27896D-BB01-E0AF-3566-2D3AC4E64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70D7AC-48DF-B5F1-8AAF-2D015F3DA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3E7F7-60AD-9C4F-26E0-670A48C5A3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9661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E1D35-CD5C-3D9A-9D91-B442FE2BA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889C85-9712-43D5-A2B9-2E3263E80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A3E825-6467-3A2F-5397-9EB1C920F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DE87C-20B6-F281-4B46-0492557BD3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2887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F82A1-CF08-CFDA-3372-00F065156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89A10-247E-30FF-7CBC-5C8363949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B8EF68-AA44-6309-DC2D-83A597D73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B4D84-F673-A0A8-E9A1-039E792EDF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67643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AD09B-165E-48F8-4ED5-1AF840803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CB1D3-F265-2B33-6F75-ADF3C776D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C01ED-B2D5-7E9C-0EB8-19D114805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5F882-9919-B7B8-C2DA-B5921C58BE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6828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1A760-4A06-3C16-03BF-D8E49E15F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B5260-750A-DAFC-1C21-AAA48F3D6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97D3A-943A-EF71-FE80-2FFBAF041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CD620-8216-976F-826F-546C2B3FA1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5026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F4A3A-5ED4-EA05-9CF0-98974EA46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2CA71-72CE-E550-8EF6-2A83FDF67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634E4-B4A4-1596-0933-72A453B2E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B5721-1E6A-0703-E471-F586FD11B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7193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F88C4-37E3-6269-18F5-58F58590C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C7F8C-D595-5633-105A-A677E6BA5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3CA58-BAD9-2095-241C-C486F1F27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3B20C-B7D3-7A9F-02A1-3F2BF7198C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449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42B68-F1A9-28BF-1EF2-974B7F7F8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32546-CE35-4579-181C-741E3126F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88522-E382-9F68-BCEF-62E305E1C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03E8B-F884-A529-9FB8-937B6EA05C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1409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5F8A1-B791-693A-5F3D-9DD7CADD9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51A985-C179-1AC6-400B-6E10D5C33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BDD36-7ED4-CB38-8C90-BC052C12C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06566-B257-0EDB-33A6-AA964BDCA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3320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0E624-28CF-AA28-F3A9-27D4C73A8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326103-52E0-96E7-C0CA-D09211017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7083DF-6452-4A10-95D3-993098C8F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52735-56DF-646F-D053-03A70DC195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6670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A8A3E-D58F-9A2F-F28F-8C73A4D9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E77DD-11CE-8693-C4C6-779B950DE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FC0FBB-2868-CD6F-9AE0-9427D85C7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75EDA-CF89-ED2B-8EF5-78AD2E84A5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75321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2E6A7-7551-9916-E6D7-BFD6EFF28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4D0A6-A20A-C07E-4642-B50DCC26E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4DF7E-A714-0EBA-4885-BEF512D4C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AD4D9-CDD2-2F4A-04A2-8747F877CF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1354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75C49-A18B-ACF3-A907-E610876FA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DE7F5-53A4-D9C2-5E78-3B4033444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BDFCF-B52D-FCAC-4123-33BA413FE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B62B7-265A-2B9F-705B-EC0A99C307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2439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0C0E-7F49-B200-DC89-6A2E060A8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4455A-C43F-92B2-99A0-16683FD16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2B751C-1FE3-B3AC-6B67-714B5819B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2A81B-F8A8-E6F7-2D51-36A7CBCC7A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1953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B6D3C-D1B6-DBF8-D685-72DB9E66F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A8899-F15F-4D27-BBFE-8EC43EB2B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EDC9EF-F0B6-C305-88DE-B23FEDD00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65588-131B-EDF2-06D3-AC79ADAD6F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1717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77CA9-BA17-DD61-5666-C0091F62B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B1117-6E7B-8A9E-5567-3E1258ED9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F05AC-3832-2BF7-2D11-5D638EBA1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10C38-2947-4065-4AF5-2AB95285E4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104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9A94F-C87F-DEA3-F02B-6AC166A42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10FF6-E7D6-239E-A83B-16DB3FCCD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DC883-16A2-4902-46CF-5BA295C18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0326E-EB72-117E-4078-C6C9B2B7A7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1676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CBF3E-2509-16CB-9626-F040E9C8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8CFCA-502D-5E97-C08E-860E63ECB8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B52A3-7EC4-7283-1C07-F0940394A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D6120-EDC9-A54C-BFB5-BB92DD47A4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11145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B493B-A53A-CBB4-3C20-3C1DAF7A7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6B988-62C9-ABD8-8104-116BA20A4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9186F9-D6A1-C632-3E08-4C7644778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7AB76-3F49-38B9-62CB-C5B91E856A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1008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D1405-B011-8C00-51A9-C8E59972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9DF45-896F-E3C4-B341-3C12B7669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416F3-CFB9-5EE9-6E93-5AB94B3A2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C9210-686D-D52D-6C32-7F001369E6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6191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9B6C4-068B-6CFB-1D71-1DF65E4C9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C955D-EF2D-C09A-F028-1F51D4ACE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FE28C2-0BDE-6C0A-7616-951F1BCC4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0A6EA-1EC4-E4C7-DD5A-4A3720F37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7616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84672-F5C0-D423-1A24-7CE449753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0806A-1E9E-D4C6-5B2B-4C11CF42A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A6B53-A637-007A-584D-B0302DC7D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2F510-368F-72C7-4CEC-E70340417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3793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01FCD-5B4D-C9D9-3140-534713900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F3F55-9A8D-7187-38B2-786F8A350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44B1C-5CDA-9945-C944-9DDB43CD4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6DA69-6488-85EF-3305-6FAFCEDF05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39201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7369-F2B9-D5FE-3B4C-87C909234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4C7B9-AA84-6111-2139-681DC2A6B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B9529-24CD-A967-FBAA-5589BCECE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BEEC3-B329-84B4-7AC1-DFFAE8C325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60612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BE7B6-E7B3-101B-7C6C-5B5B77519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A6CAB-D3F8-FDEE-EA28-2878063BF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73EB4-E6B0-9054-78CB-485A5FACF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EA3D2-AA0C-B2F3-B284-E36F21251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6506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870B2-0013-4753-CE98-E68F34C2E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3C1BC-C122-E90E-619E-EE3BE8581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50100-E5BF-CE5C-A2BA-4333BBB45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A75E7-91C8-301A-F418-01D51C00E5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3811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F97DF-DCF0-E8C0-5D53-3F8DB92E0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F15C4D-6B45-BF7B-0307-509A1ACE5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FF4FF-5AC1-2497-7F37-298EF7C91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7CCEB-E54B-D938-8E05-EE4CE13214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1159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B28DE-771C-AC9C-DD08-7101ED891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9AE27-2C9A-2FD3-B55B-0EF59D58A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BC89B-952E-C1E1-6CD5-423BB16F9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3F8FF-8B9A-D3A3-7BF6-9A64C0C577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9219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445FD-FD13-5E40-4EB8-374A1EA2D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1E5A99-827D-A612-107B-B6B756890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F3E0D-D625-3801-6576-9689C1B57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A7B53-DD4C-F691-736D-7F764EEEC5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5023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52BF9-5B73-7C2D-A80E-67C4AD31E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5433F-076E-B7B9-677F-841CEB837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EE368C-7A71-D498-0DD5-524C9BE88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F593A-D3B2-FFCF-587D-33046A7737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9954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61FD2-03E0-4412-F85C-A934F39F6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0102E4-3936-78A3-3E51-6F064653B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99EA1-6A9C-0DE3-9C3F-D6FF0273C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02A55-4BF5-B730-F7FE-56286C61F4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4507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4BDCF-701B-14C2-AC78-7F842F37F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234FD9-935C-9134-D70D-C84B669F4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703CD-1DCF-3047-956A-6BEEFC9EF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42EE1-14CC-9C48-4CB4-0B1486CB7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8848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30DD1-4A05-211A-C0D2-15A41F051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F1D32-CB9A-F22C-02E7-F711046AF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B321C-DC41-299F-9703-47A0305F9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64765-F594-02BA-9A73-B4EDFFF769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1737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BB93B-CEBD-C2BC-08CD-53A79AF95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25065-8CD3-E1FF-67CE-9D1087B73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BE325-D200-7A54-C404-0B2A48EF7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D367F-0FD2-F3D3-E39F-264C0C4FF1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97149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1C16A-ADAD-9D16-B160-057F5F71E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25891E-CE1A-62D0-5AE1-5FF891871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8300C-8F01-08B0-3D91-0579959E9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E1E25-D805-482B-5CE4-F390311FE8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006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20FF9-35E0-9450-59E6-247656F94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71895-933A-831C-24B4-73FC40B78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4BA1E-F60A-9AE8-56D5-B3F5E2AE6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734C0-626A-6990-31E7-99677E70C7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0763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93B67-48CD-A21C-A167-7614227BF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BA4F9A-5685-C6B3-8EFB-C21E58172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BE101-124E-BA0B-A550-9510BC267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B6900-F063-7377-174D-B1F899F42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35952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C7170-0B5D-13D8-F89F-E5161098E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0D99CE-1F31-88F8-0153-B026AA4C4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94AF5-C262-7F9F-2AF9-04DFABF5F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1F53F-0BC1-3E16-6306-650B27E962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8599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C8DD9-CFEA-1D7C-AE55-3BCBD9E38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8D4AD-1C7D-D57A-0699-3054FF210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1BCD9-507D-8906-7EA5-C1A9B5DEE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A57D4-B710-CD02-996C-837064F352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75399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F9B0F-2FE1-5CD6-8040-4A249168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3E9AF-626F-1C49-732E-7BA8D100C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44E40-CBDC-463C-A8A7-F22A3808B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C725C-8E3B-C80C-F6E5-5C210C0498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06022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02656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2339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926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4162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1937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54915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9162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61023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57565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9060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7561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837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ED2F9-E600-EA8C-91AC-7330E90A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3D397-C5B8-9F03-01EA-816228F03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C50EED-43AA-CDC6-FA10-8882D6475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414F4-C420-7AAA-A23A-194FF202D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92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3BF2D-41FA-4DC4-ACC3-8DBE09B5C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3E280-A648-496F-85AA-9A66AAFBB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F1F5B-8D44-4C83-9847-9551BDB9F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C3EC5-9432-4A66-9E64-E003554D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260A7-E873-4AE3-A514-E4BB65FC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88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7F54C-82AC-4275-8221-D46FC266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B4F01-9014-47D8-8412-C244B62E1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CB737-AC34-448C-98C8-898605FAE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AE056-A155-42C1-99FF-436668779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504B6-2335-4095-8B32-5F546DC6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12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E2810-4E61-4DB3-B18D-C9651617E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02EFD-6306-4EE5-A93E-C3B3D3977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6911E-21ED-48DB-87D1-BAEBD3DE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8AC4B-FA15-4C3B-8886-15F84DD59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126E0-E09D-46FC-99D1-733DF58D6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27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C5468-6E3C-464D-A6F9-9A5E61BD9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E0FFA-BA3D-4026-B5EE-95A00E43FC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18753-9280-4B68-B1BA-6C5B41A53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AF946-8BD2-4E05-B886-1FBA90C0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ECCFF-AF08-450A-8E24-1D3901548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57094-F2F0-4A8D-A5C3-D80BC46D6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85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D42C-20FB-433D-B2FA-15722CF5D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6BDB4-437B-4186-8704-EDB6B55F0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AE20E-37E7-4857-AB8D-67948CF37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763DCC-87D5-46CD-B027-BA49CC6B1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433A01-0D20-4787-9FA8-283275AB4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A574D2-843D-4F2D-AF16-E7E1F35B2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64638-A973-4BE2-AA0D-66B04C9B3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06A5EE-6F5E-4133-B608-A36D2C049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24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A0394-55C9-4C4A-93DB-AAA9493A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2A156-2986-4ABD-88EB-80463BB88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26ACC-44A1-415B-AB92-2445AC79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5FF18-7690-4BEF-A85B-1A8FDA430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700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F4E047-CF1F-417C-929D-18F844567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AA4F07-AD23-4E5E-9D5E-A87F2D58C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53E95-DB56-411B-BBAF-EB0EAFEE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69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955A-B592-4DB6-A7B5-B68170C51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51CCC-97B2-4BF2-8369-40860ECB3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F55B1-BF41-4C84-B04F-06D900AC3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FF8CC-17EE-455F-8D16-116AB1736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BF062-FCFC-4AB6-9E1B-1BFB8D9BF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17FCE-EFD7-4175-A763-32BF3DBC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43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326B-82FA-4368-92A0-C51E5CC7E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304CE4-5C9C-4E2A-9970-F159A60B7E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C66A65-F884-4AEB-B19D-2497ADCFC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EAC10-F420-471E-84BC-C7B24E229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7FE1D-5DF8-4727-A7F1-8BCA4ED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22EEE-ACB0-49BB-9812-5ADB795B7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662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79D8-3828-4F5E-A0BB-AE8F18A2D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49175-8BA9-4D53-9A50-714757279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669A9-F519-4FA9-87F2-1A347FB6E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8528B-FA2D-4D43-8A7A-88991C0E1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2180F-7D0D-482B-8460-366B45705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66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F92452-B6BA-4A34-9679-D34A2491E7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9B900-A9C9-4E80-B0A6-A832725EC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8F2A1-3E26-417B-A42B-3427FF814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67A0C-4E40-41D0-87DD-C9D859600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10001-2CEE-4F16-93B6-4F0DBBE73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63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985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7FB1D0-F1BF-42CA-83CA-B3568E5E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13485-E4D3-4F57-A46D-C56DED0FC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A6D78-2DED-4113-B1CF-35F318132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183D5-83EE-4A48-BB2E-1FC30CD8E44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7174D-3533-4CD4-AD63-7B08E0402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0482C-E75C-4391-BC8F-CC4721087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21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12.1099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ub.towardsai.net/advanced-rag-techniques-an-illustrated-overview-04d193d8fec6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zure.microsoft.com/en-us/products/ai-services/ai-search/?ef_id=_k_Cj0KCQjw0qTCBhCmARIsAAj8C4bWYP5bJ_q2egFsGNg1jOm-_5rCYbSmeVkqoC5BaTI--gmRA743Cb8aAqNCEALw_wcB_k_&amp;OCID=AIDcmm5edswduu_SEM__k_Cj0KCQjw0qTCBhCmARIsAAj8C4bWYP5bJ_q2egFsGNg1jOm-_5rCYbSmeVkqoC5BaTI--gmRA743Cb8aAqNCEALw_wcB_k_&amp;gad_source=1&amp;gad_campaignid=21496728177&amp;gbraid=0AAAAADcJh_tZAjLmwL75PLHE3fkQJ61Xs&amp;gclid=Cj0KCQjw0qTCBhCmARIsAAj8C4bWYP5bJ_q2egFsGNg1jOm-_5rCYbSmeVkqoC5BaTI--gmRA743Cb8aAqNCEALw_wcB" TargetMode="External"/><Relationship Id="rId3" Type="http://schemas.openxmlformats.org/officeDocument/2006/relationships/hyperlink" Target="https://www.pinecone.io/" TargetMode="External"/><Relationship Id="rId7" Type="http://schemas.openxmlformats.org/officeDocument/2006/relationships/hyperlink" Target="https://aws.amazon.com/what-is/elasticsearch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eaviate.io/" TargetMode="External"/><Relationship Id="rId5" Type="http://schemas.openxmlformats.org/officeDocument/2006/relationships/hyperlink" Target="https://www.trychroma.com/" TargetMode="External"/><Relationship Id="rId4" Type="http://schemas.openxmlformats.org/officeDocument/2006/relationships/hyperlink" Target="https://milvus.io/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acebookresearch/faiss/wiki/The-index-factory" TargetMode="External"/><Relationship Id="rId3" Type="http://schemas.openxmlformats.org/officeDocument/2006/relationships/hyperlink" Target="https://github.com/spotify/annoy" TargetMode="External"/><Relationship Id="rId7" Type="http://schemas.openxmlformats.org/officeDocument/2006/relationships/hyperlink" Target="https://opensearch.org/platform/vector-engine/?utm_source=google&amp;utm_medium=paid-search&amp;utm_campaign=opensearch-vector&amp;utm_term=opensearch-vector-db-search-os&amp;utm_content=opensearch-vector-db-search-os-rsa&amp;gad_source=1&amp;gad_campaignid=22587674346&amp;gbraid=0AAAAAD2R-lqiwK3OD-kJs-F-97uO-uEQj&amp;gclid=CjwKCAjw4K3DBhBqEiwAYtG_9HyX76OHqKTBSCDfdcZxwqAqdPMpO20YyOv6jfMzo5B1iOeimSJOIxoCzDwQAvD_Bw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vespa.ai/" TargetMode="External"/><Relationship Id="rId5" Type="http://schemas.openxmlformats.org/officeDocument/2006/relationships/hyperlink" Target="https://github.com/vearch/gamma" TargetMode="External"/><Relationship Id="rId4" Type="http://schemas.openxmlformats.org/officeDocument/2006/relationships/hyperlink" Target="https://qdrant.tech/documentation/concepts/search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6.09823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verted_index#:~:text=In%20computer%20science%2C%20an%20inverted,index%2C%20which%20maps%20from%20document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3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-d_tree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hyperlink" Target="https://arxiv.org/pdf/1511.00628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i.cmu.edu/pub_files/pub1/moore_andrew_1991_1/moore_andrew_1991_1.pdf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en.wikipedia.org/wiki/K-d_tree" TargetMode="External"/><Relationship Id="rId4" Type="http://schemas.openxmlformats.org/officeDocument/2006/relationships/hyperlink" Target="https://www.manning.com/books/advanced-algorithms-and-data-structures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0.png"/><Relationship Id="rId4" Type="http://schemas.openxmlformats.org/officeDocument/2006/relationships/image" Target="../media/image5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0.png"/><Relationship Id="rId4" Type="http://schemas.openxmlformats.org/officeDocument/2006/relationships/image" Target="../media/image5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0.png"/><Relationship Id="rId4" Type="http://schemas.openxmlformats.org/officeDocument/2006/relationships/image" Target="../media/image5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0.png"/><Relationship Id="rId4" Type="http://schemas.openxmlformats.org/officeDocument/2006/relationships/image" Target="../media/image5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0.png"/><Relationship Id="rId4" Type="http://schemas.openxmlformats.org/officeDocument/2006/relationships/image" Target="../media/image5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0.png"/><Relationship Id="rId4" Type="http://schemas.openxmlformats.org/officeDocument/2006/relationships/image" Target="../media/image5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loyd%27s_algorithm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Voronoi_diagram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0.png"/><Relationship Id="rId4" Type="http://schemas.openxmlformats.org/officeDocument/2006/relationships/hyperlink" Target="https://fbellelli.com/posts/2021-07-08-the-fascinating-world-of-voronoi-diagrams/" TargetMode="Externa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5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skoltech.ru/app/data/uploads/sites/25/2014/12/TPAMI14.pdf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ites.skoltech.ru/app/data/uploads/sites/25/2014/12/TPAMI14.pdf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ites.skoltech.ru/app/data/uploads/sites/25/2014/12/TPAMI14.pdf" TargetMode="Externa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inria.hal.science/inria-00514462/document/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stage.jst.go.jp/article/mta/6/1/6_2/_pdf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inria.hal.science/inria-00514462/document/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mccormickml.com/2017/10/13/product-quantizer-tutorial-part-1/" TargetMode="External"/><Relationship Id="rId4" Type="http://schemas.openxmlformats.org/officeDocument/2006/relationships/image" Target="../media/image2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inria.hal.science/inria-00514462/document/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inria.hal.science/inria-00514462/document/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509.05195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mccormickml.com/2017/10/22/product-quantizer-tutorial-part-2/" TargetMode="External"/><Relationship Id="rId4" Type="http://schemas.openxmlformats.org/officeDocument/2006/relationships/image" Target="../media/image2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mccormickml.com/2017/10/22/product-quantizer-tutorial-part-2/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research/wp-content/uploads/2013/11/pami13opq.pdf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0.png"/><Relationship Id="rId4" Type="http://schemas.openxmlformats.org/officeDocument/2006/relationships/hyperlink" Target="https://en.wikipedia.org/wiki/Orthogonal_Procrustes_problem" TargetMode="Externa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603.09320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zilliz.com/learn/pg-based-anns" TargetMode="Externa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6.png"/><Relationship Id="rId4" Type="http://schemas.openxmlformats.org/officeDocument/2006/relationships/image" Target="../media/image6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mall-world_network" TargetMode="Externa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0306437913001300" TargetMode="Externa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603.09320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15721.courses.cs.cmu.edu/spring2018/papers/08-oltpindexes1/pugh-skiplists-cacm1990.pdf" TargetMode="Externa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1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pinecone.io/learn/series/faiss/hnsw/" TargetMode="Externa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pinecone.io/learn/series/faiss/hnsw/" TargetMode="Externa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pinecone.io/learn/series/faiss/hnsw/" TargetMode="Externa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102.3828" TargetMode="External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eries/faiss/composite-indexes/" TargetMode="External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eries/faiss/composite-indexes/" TargetMode="Externa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5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faiss/wiki/The-index-factory" TargetMode="External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7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pinecone.io/learn/series/faiss/composite-indexes/" TargetMode="Externa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eries/faiss/composite-indexes/" TargetMode="External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faiss/wiki/Guidelines-to-choose-an-index" TargetMode="Externa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pinecone.io/learn/series/faiss/composite-indexes/" TargetMode="External"/><Relationship Id="rId4" Type="http://schemas.openxmlformats.org/officeDocument/2006/relationships/image" Target="../media/image73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0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4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faiss/wiki/Faiss-indexes" TargetMode="External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github.com/facebookresearch/faiss/wiki/MetricType-and-distances" TargetMode="External"/><Relationship Id="rId4" Type="http://schemas.openxmlformats.org/officeDocument/2006/relationships/hyperlink" Target="https://scikit-learn.org/stable/modules/generated/sklearn.metrics.pairwise.distance_metrics.html#sklearn.metrics.pairwise.distance_metrics" TargetMode="Externa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636650"/>
            <a:ext cx="96012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Discovery and Exploration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Efficient Similarity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5222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158" y="479126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F2317F-F47E-4078-8A9E-272A9AB83B75}"/>
              </a:ext>
            </a:extLst>
          </p:cNvPr>
          <p:cNvSpPr txBox="1"/>
          <p:nvPr/>
        </p:nvSpPr>
        <p:spPr>
          <a:xfrm>
            <a:off x="3348567" y="6421967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2021, 2022, 2023, 2024, 2025, Stephen F Elston. All rights reserved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6398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Need an efficient method for high-dimensional </a:t>
            </a:r>
            <a:r>
              <a:rPr lang="en-US" b="1" dirty="0">
                <a:latin typeface="+mn-lt"/>
              </a:rPr>
              <a:t>similarity joins</a:t>
            </a:r>
            <a:r>
              <a:rPr lang="en-US" dirty="0">
                <a:latin typeface="+mn-lt"/>
              </a:rPr>
              <a:t> at massive scale</a:t>
            </a:r>
          </a:p>
          <a:p>
            <a:r>
              <a:rPr lang="en-US" dirty="0">
                <a:latin typeface="+mn-lt"/>
              </a:rPr>
              <a:t>Constructing nearest-neighbor graphs </a:t>
            </a:r>
          </a:p>
          <a:p>
            <a:pPr lvl="1"/>
            <a:r>
              <a:rPr lang="en-US" dirty="0">
                <a:latin typeface="+mn-lt"/>
              </a:rPr>
              <a:t>Cluster models  </a:t>
            </a:r>
          </a:p>
          <a:p>
            <a:pPr lvl="1"/>
            <a:r>
              <a:rPr lang="en-US" dirty="0">
                <a:latin typeface="+mn-lt"/>
              </a:rPr>
              <a:t>Dimensionality reduction </a:t>
            </a:r>
          </a:p>
          <a:p>
            <a:pPr lvl="1"/>
            <a:r>
              <a:rPr lang="en-US" dirty="0">
                <a:latin typeface="+mn-lt"/>
              </a:rPr>
              <a:t>Network analysis</a:t>
            </a:r>
          </a:p>
          <a:p>
            <a:r>
              <a:rPr lang="en-US" dirty="0">
                <a:latin typeface="+mn-lt"/>
              </a:rPr>
              <a:t>Find similar products and for recommendation </a:t>
            </a:r>
          </a:p>
          <a:p>
            <a:r>
              <a:rPr lang="en-US" dirty="0">
                <a:latin typeface="+mn-lt"/>
              </a:rPr>
              <a:t>Information </a:t>
            </a:r>
            <a:r>
              <a:rPr lang="en-US" dirty="0" err="1">
                <a:latin typeface="+mn-lt"/>
              </a:rPr>
              <a:t>retrival</a:t>
            </a:r>
            <a:r>
              <a:rPr lang="en-US" dirty="0">
                <a:latin typeface="+mn-lt"/>
              </a:rPr>
              <a:t> and document search   </a:t>
            </a:r>
          </a:p>
          <a:p>
            <a:pPr lvl="1"/>
            <a:r>
              <a:rPr lang="en-US" dirty="0">
                <a:latin typeface="+mn-lt"/>
              </a:rPr>
              <a:t>Web search</a:t>
            </a:r>
          </a:p>
          <a:p>
            <a:pPr lvl="1"/>
            <a:r>
              <a:rPr lang="en-US" dirty="0">
                <a:latin typeface="+mn-lt"/>
              </a:rPr>
              <a:t>Document search </a:t>
            </a:r>
          </a:p>
          <a:p>
            <a:pPr lvl="1"/>
            <a:r>
              <a:rPr lang="en-US" dirty="0">
                <a:latin typeface="+mn-lt"/>
              </a:rPr>
              <a:t>Deduplication </a:t>
            </a:r>
          </a:p>
          <a:p>
            <a:pPr lvl="1"/>
            <a:r>
              <a:rPr lang="en-US" dirty="0">
                <a:latin typeface="+mn-lt"/>
              </a:rPr>
              <a:t>Plagiarism detection </a:t>
            </a:r>
          </a:p>
          <a:p>
            <a:pPr lvl="1"/>
            <a:r>
              <a:rPr lang="en-US" dirty="0">
                <a:latin typeface="+mn-lt"/>
              </a:rPr>
              <a:t>…</a:t>
            </a:r>
          </a:p>
          <a:p>
            <a:r>
              <a:rPr lang="en-US" dirty="0">
                <a:latin typeface="+mn-lt"/>
              </a:rPr>
              <a:t>Search for similar images</a:t>
            </a:r>
          </a:p>
          <a:p>
            <a:r>
              <a:rPr lang="en-US" b="1" dirty="0">
                <a:latin typeface="+mn-lt"/>
              </a:rPr>
              <a:t>Retrieval Augmented Generation (RAG) </a:t>
            </a:r>
            <a:r>
              <a:rPr lang="en-US" dirty="0">
                <a:latin typeface="+mn-lt"/>
              </a:rPr>
              <a:t>models for generative AI</a:t>
            </a:r>
          </a:p>
          <a:p>
            <a:pPr lvl="1"/>
            <a:r>
              <a:rPr lang="en-US" dirty="0">
                <a:latin typeface="+mn-lt"/>
              </a:rPr>
              <a:t>For a review of RAG including the similarity search problem see </a:t>
            </a:r>
            <a:r>
              <a:rPr lang="en-US" dirty="0">
                <a:latin typeface="+mn-lt"/>
                <a:hlinkClick r:id="rId3"/>
              </a:rPr>
              <a:t>Gao, et. al., 2024</a:t>
            </a:r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247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7FB2A-64A6-1996-D082-0A7461828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50422A-BFD6-1F83-87B0-FA8DCF825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7" y="1369527"/>
            <a:ext cx="9207048" cy="52664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7E1CE8-024E-F8AB-025A-2A93B1849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B1098-7ECB-25F9-05F0-758C2AE550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80"/>
            <a:ext cx="11668778" cy="6202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massive similarity search for </a:t>
            </a:r>
            <a:r>
              <a:rPr lang="en-US" b="1" dirty="0">
                <a:latin typeface="+mn-lt"/>
              </a:rPr>
              <a:t>retrieval augmented generation (RAG)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1019CA2-BA1A-E2E1-78A3-C2582ADB5F0B}"/>
              </a:ext>
            </a:extLst>
          </p:cNvPr>
          <p:cNvSpPr/>
          <p:nvPr/>
        </p:nvSpPr>
        <p:spPr>
          <a:xfrm>
            <a:off x="3531503" y="1888392"/>
            <a:ext cx="3135085" cy="3668051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F4CDADA-0FAC-F1B1-4950-E6DC225A4ACA}"/>
              </a:ext>
            </a:extLst>
          </p:cNvPr>
          <p:cNvSpPr txBox="1">
            <a:spLocks/>
          </p:cNvSpPr>
          <p:nvPr/>
        </p:nvSpPr>
        <p:spPr>
          <a:xfrm>
            <a:off x="8283137" y="2752138"/>
            <a:ext cx="3565003" cy="132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We are focused on </a:t>
            </a:r>
            <a:r>
              <a:rPr lang="en-US" b="1" dirty="0">
                <a:latin typeface="+mn-lt"/>
              </a:rPr>
              <a:t>massive index and search problem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EBAA9B-4E4D-D25B-CBA7-6F47DDDC573F}"/>
              </a:ext>
            </a:extLst>
          </p:cNvPr>
          <p:cNvCxnSpPr>
            <a:cxnSpLocks/>
          </p:cNvCxnSpPr>
          <p:nvPr/>
        </p:nvCxnSpPr>
        <p:spPr>
          <a:xfrm flipH="1">
            <a:off x="6625481" y="3429000"/>
            <a:ext cx="1609344" cy="4572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5F3D503-1852-6FCF-407B-522B5813B88D}"/>
              </a:ext>
            </a:extLst>
          </p:cNvPr>
          <p:cNvSpPr txBox="1">
            <a:spLocks/>
          </p:cNvSpPr>
          <p:nvPr/>
        </p:nvSpPr>
        <p:spPr>
          <a:xfrm>
            <a:off x="8394729" y="4664597"/>
            <a:ext cx="3565003" cy="414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+mn-lt"/>
                <a:hlinkClick r:id="rId4"/>
              </a:rPr>
              <a:t>Diagram from blog post by Ivan Ilin</a:t>
            </a:r>
            <a:endParaRPr lang="en-US" sz="1800" dirty="0">
              <a:latin typeface="+mn-lt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498C50B-93D9-94E9-22EF-24643195F3FA}"/>
              </a:ext>
            </a:extLst>
          </p:cNvPr>
          <p:cNvCxnSpPr>
            <a:cxnSpLocks/>
          </p:cNvCxnSpPr>
          <p:nvPr/>
        </p:nvCxnSpPr>
        <p:spPr>
          <a:xfrm flipH="1" flipV="1">
            <a:off x="7703146" y="2583519"/>
            <a:ext cx="579991" cy="305985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AE1E6D14-F439-9555-30FF-0C95C823CED9}"/>
              </a:ext>
            </a:extLst>
          </p:cNvPr>
          <p:cNvSpPr txBox="1">
            <a:spLocks/>
          </p:cNvSpPr>
          <p:nvPr/>
        </p:nvSpPr>
        <p:spPr>
          <a:xfrm>
            <a:off x="8234825" y="1487066"/>
            <a:ext cx="3565003" cy="874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Ranking typically uses </a:t>
            </a:r>
            <a:r>
              <a:rPr lang="en-US" b="1" dirty="0">
                <a:latin typeface="+mn-lt"/>
              </a:rPr>
              <a:t>cosine similarity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2D35FC-4127-F048-6D07-C303389A7B02}"/>
              </a:ext>
            </a:extLst>
          </p:cNvPr>
          <p:cNvCxnSpPr>
            <a:cxnSpLocks/>
          </p:cNvCxnSpPr>
          <p:nvPr/>
        </p:nvCxnSpPr>
        <p:spPr>
          <a:xfrm flipH="1">
            <a:off x="7654834" y="1888392"/>
            <a:ext cx="579991" cy="363645"/>
          </a:xfrm>
          <a:prstGeom prst="straightConnector1">
            <a:avLst/>
          </a:prstGeom>
          <a:ln w="349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12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DAC63-4AD3-1CDC-AFE6-96CFE3255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F3FCD-07BF-BB18-1DDE-43533B37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D758AF-A024-1F9E-00E7-C454BD95FF2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Need an efficient method for high-dimensional </a:t>
                </a:r>
                <a:r>
                  <a:rPr lang="en-US" b="1" dirty="0">
                    <a:latin typeface="+mn-lt"/>
                  </a:rPr>
                  <a:t>similarity joins</a:t>
                </a:r>
                <a:r>
                  <a:rPr lang="en-US" dirty="0">
                    <a:latin typeface="+mn-lt"/>
                  </a:rPr>
                  <a:t> at massive scale</a:t>
                </a:r>
              </a:p>
              <a:p>
                <a:r>
                  <a:rPr lang="en-US" dirty="0">
                    <a:latin typeface="+mn-lt"/>
                  </a:rPr>
                  <a:t>Simple pairwise similarity is computationally </a:t>
                </a:r>
                <a:r>
                  <a:rPr lang="en-US" b="1" dirty="0">
                    <a:latin typeface="+mn-lt"/>
                  </a:rPr>
                  <a:t>infeasible</a:t>
                </a:r>
                <a:r>
                  <a:rPr lang="en-US" dirty="0">
                    <a:latin typeface="+mn-lt"/>
                  </a:rPr>
                  <a:t> for large scale problems!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Complexity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1" dirty="0"/>
                  <a:t>!</a:t>
                </a:r>
              </a:p>
              <a:p>
                <a:r>
                  <a:rPr lang="en-US" dirty="0">
                    <a:latin typeface="+mn-lt"/>
                  </a:rPr>
                  <a:t>Simple linear similarity search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latin typeface="+mn-lt"/>
                  </a:rPr>
                  <a:t> dimensional, observation vectors is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process in both computation and memory </a:t>
                </a:r>
              </a:p>
              <a:p>
                <a:r>
                  <a:rPr lang="en-US" dirty="0">
                    <a:latin typeface="+mn-lt"/>
                  </a:rPr>
                  <a:t>Use an </a:t>
                </a:r>
                <a:r>
                  <a:rPr lang="en-US" b="1" dirty="0">
                    <a:latin typeface="+mn-lt"/>
                  </a:rPr>
                  <a:t>approximate nearest neighbor search (ANNS)! </a:t>
                </a:r>
              </a:p>
              <a:p>
                <a:pPr lvl="1"/>
                <a:r>
                  <a:rPr lang="en-US" dirty="0">
                    <a:latin typeface="+mn-lt"/>
                  </a:rPr>
                  <a:t>Build a graph of the k nearest neighbors</a:t>
                </a:r>
              </a:p>
              <a:p>
                <a:pPr lvl="1"/>
                <a:r>
                  <a:rPr lang="en-US" dirty="0">
                    <a:latin typeface="+mn-lt"/>
                  </a:rPr>
                  <a:t>Nearest neighbors are most important in terms of finding similar cases </a:t>
                </a:r>
              </a:p>
              <a:p>
                <a:pPr lvl="1"/>
                <a:r>
                  <a:rPr lang="en-US" dirty="0">
                    <a:latin typeface="+mn-lt"/>
                  </a:rPr>
                  <a:t>Apply to different distance metrics in high-dimensional spaces       </a:t>
                </a:r>
              </a:p>
              <a:p>
                <a:endParaRPr lang="en-US" sz="33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D758AF-A024-1F9E-00E7-C454BD95FF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598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ECF4D-6E81-926A-7B32-C1390ACA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E36F4-C323-EB5B-18DF-F2B396A28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707D7-7889-4DD8-B948-04F54A91D2E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Massive scale similarity search is at the core of many analytics and AI platforms </a:t>
            </a:r>
          </a:p>
          <a:p>
            <a:r>
              <a:rPr lang="en-US" dirty="0">
                <a:latin typeface="+mn-lt"/>
              </a:rPr>
              <a:t>There is wide landscape of technologies available for the similarity search problem</a:t>
            </a:r>
          </a:p>
          <a:p>
            <a:r>
              <a:rPr lang="en-US" dirty="0">
                <a:latin typeface="+mn-lt"/>
              </a:rPr>
              <a:t>Vector databases incorporate massive scale similarity search, </a:t>
            </a:r>
          </a:p>
          <a:p>
            <a:pPr lvl="1"/>
            <a:r>
              <a:rPr lang="en-US" dirty="0">
                <a:latin typeface="+mn-lt"/>
                <a:hlinkClick r:id="rId3"/>
              </a:rPr>
              <a:t>Pinecone</a:t>
            </a:r>
            <a:r>
              <a:rPr lang="en-US" dirty="0">
                <a:latin typeface="+mn-lt"/>
              </a:rPr>
              <a:t> includes FAISS</a:t>
            </a:r>
          </a:p>
          <a:p>
            <a:pPr lvl="1"/>
            <a:r>
              <a:rPr lang="en-US" dirty="0">
                <a:latin typeface="+mn-lt"/>
                <a:hlinkClick r:id="rId4"/>
              </a:rPr>
              <a:t>Milvus</a:t>
            </a:r>
            <a:r>
              <a:rPr lang="en-US" dirty="0">
                <a:latin typeface="+mn-lt"/>
              </a:rPr>
              <a:t> from Zilli</a:t>
            </a:r>
          </a:p>
          <a:p>
            <a:pPr lvl="1"/>
            <a:r>
              <a:rPr lang="en-US" dirty="0">
                <a:latin typeface="+mn-lt"/>
                <a:hlinkClick r:id="rId5"/>
              </a:rPr>
              <a:t>Chroma</a:t>
            </a:r>
            <a:endParaRPr lang="en-US" dirty="0">
              <a:latin typeface="+mn-lt"/>
            </a:endParaRPr>
          </a:p>
          <a:p>
            <a:pPr lvl="1"/>
            <a:r>
              <a:rPr lang="en-US" dirty="0" err="1">
                <a:latin typeface="+mn-lt"/>
                <a:hlinkClick r:id="rId6"/>
              </a:rPr>
              <a:t>Weaviate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And many more…</a:t>
            </a:r>
          </a:p>
          <a:p>
            <a:r>
              <a:rPr lang="en-US" dirty="0">
                <a:latin typeface="+mn-lt"/>
              </a:rPr>
              <a:t>Cloud platforms often include massive scale document similarity search,</a:t>
            </a:r>
          </a:p>
          <a:p>
            <a:pPr lvl="1"/>
            <a:r>
              <a:rPr lang="en-US" dirty="0">
                <a:latin typeface="+mn-lt"/>
                <a:hlinkClick r:id="rId7"/>
              </a:rPr>
              <a:t>AWS </a:t>
            </a:r>
            <a:r>
              <a:rPr lang="en-US" dirty="0" err="1">
                <a:latin typeface="+mn-lt"/>
                <a:hlinkClick r:id="rId7"/>
              </a:rPr>
              <a:t>ElasticSearch</a:t>
            </a:r>
            <a:r>
              <a:rPr lang="en-US" dirty="0">
                <a:latin typeface="+mn-lt"/>
              </a:rPr>
              <a:t> </a:t>
            </a:r>
          </a:p>
          <a:p>
            <a:pPr lvl="1"/>
            <a:r>
              <a:rPr lang="en-US" dirty="0">
                <a:latin typeface="+mn-lt"/>
                <a:hlinkClick r:id="rId8"/>
              </a:rPr>
              <a:t>Azure AI Search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And others….</a:t>
            </a: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8880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D8DA7-E7C7-7E10-22A4-37B7DE26B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1775-E2D7-FF22-19A8-E3E47BAB3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42E26-F656-9FB4-B8AF-B8B04723AEA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Massive scale similarity search is at the core of many analytics and AI platforms </a:t>
            </a:r>
          </a:p>
          <a:p>
            <a:r>
              <a:rPr lang="en-US" dirty="0">
                <a:latin typeface="+mn-lt"/>
              </a:rPr>
              <a:t>There are several vector similarity search platforms for recommender systems, document search and web search, </a:t>
            </a:r>
          </a:p>
          <a:p>
            <a:pPr lvl="1"/>
            <a:r>
              <a:rPr lang="en-US" dirty="0">
                <a:latin typeface="+mn-lt"/>
                <a:hlinkClick r:id="rId3"/>
              </a:rPr>
              <a:t>Approximate Nearest Neighbor Search Oh Yeah (Annoy)</a:t>
            </a:r>
            <a:r>
              <a:rPr lang="en-US" dirty="0">
                <a:latin typeface="+mn-lt"/>
              </a:rPr>
              <a:t> from Spotify </a:t>
            </a:r>
          </a:p>
          <a:p>
            <a:pPr lvl="1"/>
            <a:r>
              <a:rPr lang="en-US" dirty="0" err="1">
                <a:latin typeface="+mn-lt"/>
                <a:hlinkClick r:id="rId4"/>
              </a:rPr>
              <a:t>Qdrant</a:t>
            </a:r>
            <a:endParaRPr lang="en-US" dirty="0">
              <a:latin typeface="+mn-lt"/>
            </a:endParaRPr>
          </a:p>
          <a:p>
            <a:pPr lvl="1"/>
            <a:r>
              <a:rPr lang="en-US" dirty="0" err="1">
                <a:latin typeface="+mn-lt"/>
                <a:hlinkClick r:id="rId5"/>
              </a:rPr>
              <a:t>Vearch</a:t>
            </a:r>
            <a:r>
              <a:rPr lang="en-US" dirty="0">
                <a:latin typeface="+mn-lt"/>
                <a:hlinkClick r:id="rId5"/>
              </a:rPr>
              <a:t>-Gamma</a:t>
            </a:r>
            <a:r>
              <a:rPr lang="en-US" dirty="0">
                <a:latin typeface="+mn-lt"/>
              </a:rPr>
              <a:t> </a:t>
            </a:r>
          </a:p>
          <a:p>
            <a:pPr lvl="1"/>
            <a:r>
              <a:rPr lang="en-US" dirty="0">
                <a:latin typeface="+mn-lt"/>
                <a:hlinkClick r:id="rId6"/>
              </a:rPr>
              <a:t>Vespa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  <a:hlinkClick r:id="rId7"/>
              </a:rPr>
              <a:t>OpenSearch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And others…</a:t>
            </a:r>
          </a:p>
          <a:p>
            <a:r>
              <a:rPr lang="en-US" dirty="0">
                <a:latin typeface="+mn-lt"/>
              </a:rPr>
              <a:t>We will focus on </a:t>
            </a:r>
            <a:r>
              <a:rPr lang="en-US" b="1" dirty="0">
                <a:latin typeface="+mn-lt"/>
                <a:hlinkClick r:id="rId8"/>
              </a:rPr>
              <a:t>Facebook AI Similarity Search (FAISS)</a:t>
            </a:r>
            <a:endParaRPr lang="en-US" b="1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FAISS is widely used as a basis for many similarity search platforms</a:t>
            </a:r>
          </a:p>
          <a:p>
            <a:r>
              <a:rPr lang="en-US" dirty="0">
                <a:latin typeface="+mn-lt"/>
              </a:rPr>
              <a:t>We will explore specific solutions using these algorithms in subsequent lessons</a:t>
            </a: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317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02E59-A553-2DC8-32BD-807DE956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2E9E3-02EE-276B-33A8-25A72E781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E82E5-A4BA-EE20-7F83-4CB56BB6BE0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We need an efficient way to (approximately) perform similarity joins at massive scale   </a:t>
            </a:r>
          </a:p>
          <a:p>
            <a:r>
              <a:rPr lang="en-US" dirty="0">
                <a:latin typeface="+mn-lt"/>
              </a:rPr>
              <a:t>Need an efficient method for large-scale and high-dimensional </a:t>
            </a:r>
            <a:r>
              <a:rPr lang="en-US" b="1" dirty="0">
                <a:latin typeface="+mn-lt"/>
              </a:rPr>
              <a:t>similarity joins</a:t>
            </a:r>
            <a:r>
              <a:rPr lang="en-US" dirty="0">
                <a:latin typeface="+mn-lt"/>
              </a:rPr>
              <a:t>! </a:t>
            </a:r>
          </a:p>
          <a:p>
            <a:r>
              <a:rPr lang="en-US" dirty="0">
                <a:latin typeface="+mn-lt"/>
              </a:rPr>
              <a:t>Broadly, there are four classes of ANNS algorithms    </a:t>
            </a:r>
          </a:p>
          <a:p>
            <a:pPr lvl="1"/>
            <a:r>
              <a:rPr lang="en-US" sz="2800" b="1" dirty="0">
                <a:latin typeface="+mn-lt"/>
              </a:rPr>
              <a:t>Tree</a:t>
            </a:r>
            <a:r>
              <a:rPr lang="en-US" sz="2800" dirty="0">
                <a:latin typeface="+mn-lt"/>
              </a:rPr>
              <a:t> search</a:t>
            </a:r>
          </a:p>
          <a:p>
            <a:pPr lvl="1"/>
            <a:r>
              <a:rPr lang="en-US" sz="2800" b="1" dirty="0">
                <a:latin typeface="+mn-lt"/>
              </a:rPr>
              <a:t>Hash</a:t>
            </a:r>
            <a:r>
              <a:rPr lang="en-US" sz="2800" dirty="0">
                <a:latin typeface="+mn-lt"/>
              </a:rPr>
              <a:t>-based search</a:t>
            </a:r>
            <a:endParaRPr lang="en-US" sz="2800" b="1" dirty="0">
              <a:latin typeface="+mn-lt"/>
            </a:endParaRPr>
          </a:p>
          <a:p>
            <a:pPr lvl="1"/>
            <a:r>
              <a:rPr lang="en-US" sz="2800" b="1" dirty="0">
                <a:latin typeface="+mn-lt"/>
              </a:rPr>
              <a:t>Quantization</a:t>
            </a:r>
            <a:r>
              <a:rPr lang="en-US" sz="2800" dirty="0">
                <a:latin typeface="+mn-lt"/>
              </a:rPr>
              <a:t>-based search</a:t>
            </a:r>
          </a:p>
          <a:p>
            <a:pPr lvl="1"/>
            <a:r>
              <a:rPr lang="en-US" sz="2800" b="1" dirty="0">
                <a:latin typeface="+mn-lt"/>
              </a:rPr>
              <a:t>Graph</a:t>
            </a:r>
            <a:r>
              <a:rPr lang="en-US" sz="2800" dirty="0">
                <a:latin typeface="+mn-lt"/>
              </a:rPr>
              <a:t> search</a:t>
            </a:r>
          </a:p>
          <a:p>
            <a:r>
              <a:rPr lang="en-US" dirty="0">
                <a:latin typeface="+mn-lt"/>
              </a:rPr>
              <a:t>Apply appropriate </a:t>
            </a:r>
            <a:r>
              <a:rPr lang="en-US" b="1" dirty="0">
                <a:latin typeface="+mn-lt"/>
              </a:rPr>
              <a:t>distance metrics </a:t>
            </a:r>
            <a:r>
              <a:rPr lang="en-US" dirty="0">
                <a:latin typeface="+mn-lt"/>
              </a:rPr>
              <a:t>in high-dimensional spaces       </a:t>
            </a:r>
          </a:p>
          <a:p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1981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32BCB-E35F-71F4-ACCB-5980CA61F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9039-7502-1DF6-8301-AA0C98980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593CB-C8CB-2922-EED4-EE11BED7755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20655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Pipeline for </a:t>
            </a:r>
            <a:r>
              <a:rPr lang="en-US" b="1" dirty="0">
                <a:latin typeface="+mn-lt"/>
              </a:rPr>
              <a:t>similarity joins</a:t>
            </a:r>
            <a:r>
              <a:rPr lang="en-US" dirty="0">
                <a:latin typeface="+mn-lt"/>
              </a:rPr>
              <a:t> at massive scale</a:t>
            </a:r>
          </a:p>
          <a:p>
            <a:r>
              <a:rPr lang="en-US" sz="2400" dirty="0">
                <a:latin typeface="+mn-lt"/>
              </a:rPr>
              <a:t>Our goal is to rapidly find approximate nearest neighbors with </a:t>
            </a:r>
            <a:r>
              <a:rPr lang="en-US" sz="2400" b="1" dirty="0">
                <a:latin typeface="+mn-lt"/>
              </a:rPr>
              <a:t>high recall </a:t>
            </a:r>
          </a:p>
          <a:p>
            <a:r>
              <a:rPr lang="en-US" sz="2400" dirty="0">
                <a:latin typeface="+mn-lt"/>
              </a:rPr>
              <a:t>No one method can achieve this goal </a:t>
            </a:r>
          </a:p>
          <a:p>
            <a:r>
              <a:rPr lang="en-US" sz="2400" dirty="0">
                <a:latin typeface="+mn-lt"/>
              </a:rPr>
              <a:t>In practice use a pipeline concatenating several methods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25C636-61DA-807E-BA01-B210757D5C93}"/>
              </a:ext>
            </a:extLst>
          </p:cNvPr>
          <p:cNvSpPr/>
          <p:nvPr/>
        </p:nvSpPr>
        <p:spPr>
          <a:xfrm>
            <a:off x="239764" y="3946372"/>
            <a:ext cx="2643414" cy="2689636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Dimensionality Reduction (Embedding)</a:t>
            </a:r>
          </a:p>
          <a:p>
            <a:r>
              <a:rPr lang="en-US" b="1" dirty="0">
                <a:solidFill>
                  <a:schemeClr val="tx1"/>
                </a:solidFill>
              </a:rPr>
              <a:t>Create D dimensional numeric embedding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Neural Embedding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Etc.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FAD268-0773-52CB-6348-0A468FE42675}"/>
              </a:ext>
            </a:extLst>
          </p:cNvPr>
          <p:cNvSpPr/>
          <p:nvPr/>
        </p:nvSpPr>
        <p:spPr>
          <a:xfrm>
            <a:off x="3370244" y="3946644"/>
            <a:ext cx="3094509" cy="2689634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Coarse Quantization</a:t>
            </a:r>
          </a:p>
          <a:p>
            <a:r>
              <a:rPr lang="en-US" b="1" dirty="0">
                <a:solidFill>
                  <a:schemeClr val="tx1"/>
                </a:solidFill>
              </a:rPr>
              <a:t>Reduce scope for ANN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Inverted file - IVF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IVF Product quantization (IVF-PQ)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Inverted Multi-Index (IMI)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1C1917"/>
                </a:solidFill>
                <a:effectLst/>
                <a:latin typeface="__gtPlanar_9a6492"/>
              </a:rPr>
              <a:t>IVF Hierarchical Navigable Small Worlds (HNSW)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Etc</a:t>
            </a:r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57B868-2907-489F-A7AA-7E43FB3CC1A3}"/>
              </a:ext>
            </a:extLst>
          </p:cNvPr>
          <p:cNvSpPr/>
          <p:nvPr/>
        </p:nvSpPr>
        <p:spPr>
          <a:xfrm>
            <a:off x="6951819" y="3975983"/>
            <a:ext cx="2486610" cy="2689635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Fine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Quantizaton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Further reduce search scope and improve recall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Exhaustive search – Flat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Residual PQ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Locally Sensitive Hashing (LSH)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ABDB3C-F527-7DBC-BD3D-C6B4B99A27F3}"/>
              </a:ext>
            </a:extLst>
          </p:cNvPr>
          <p:cNvSpPr/>
          <p:nvPr/>
        </p:nvSpPr>
        <p:spPr>
          <a:xfrm>
            <a:off x="9859061" y="3946370"/>
            <a:ext cx="2260379" cy="2689637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Search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Refinemnet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Increase recall for NN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  <a:effectLst/>
                <a:latin typeface="__gtPlanar_9a6492"/>
              </a:rPr>
              <a:t>Re</a:t>
            </a:r>
            <a:r>
              <a:rPr lang="en-US" dirty="0">
                <a:solidFill>
                  <a:schemeClr val="tx1"/>
                </a:solidFill>
                <a:latin typeface="__gtPlanar_9a6492"/>
              </a:rPr>
              <a:t>sidual PQ</a:t>
            </a:r>
            <a:r>
              <a:rPr lang="en-US" i="0" dirty="0">
                <a:solidFill>
                  <a:schemeClr val="tx1"/>
                </a:solidFill>
                <a:effectLst/>
                <a:latin typeface="__gtPlanar_9a6492"/>
              </a:rPr>
              <a:t> </a:t>
            </a:r>
            <a:r>
              <a:rPr lang="en-US" dirty="0">
                <a:solidFill>
                  <a:schemeClr val="tx1"/>
                </a:solidFill>
                <a:latin typeface="__gtPlanar_9a6492"/>
              </a:rPr>
              <a:t>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  <a:effectLst/>
                <a:latin typeface="__gtPlanar_9a6492"/>
              </a:rPr>
              <a:t>Neural reranking </a:t>
            </a:r>
            <a:endParaRPr lang="en-US" i="0" dirty="0">
              <a:solidFill>
                <a:srgbClr val="1C1917"/>
              </a:solidFill>
              <a:effectLst/>
              <a:latin typeface="__gtPlanar_9a6492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558B08C-D0B3-CF5E-3160-DA35D5363FBE}"/>
              </a:ext>
            </a:extLst>
          </p:cNvPr>
          <p:cNvSpPr/>
          <p:nvPr/>
        </p:nvSpPr>
        <p:spPr>
          <a:xfrm>
            <a:off x="6532466" y="5144876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84C926F-6491-E28D-1427-C3F12A5B2060}"/>
              </a:ext>
            </a:extLst>
          </p:cNvPr>
          <p:cNvSpPr/>
          <p:nvPr/>
        </p:nvSpPr>
        <p:spPr>
          <a:xfrm>
            <a:off x="2920166" y="5130861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9F50681-ADDF-1475-FEA8-6BB31A5C0EC6}"/>
              </a:ext>
            </a:extLst>
          </p:cNvPr>
          <p:cNvSpPr/>
          <p:nvPr/>
        </p:nvSpPr>
        <p:spPr>
          <a:xfrm>
            <a:off x="9437150" y="5071145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657A6B-0325-6EF4-0EC8-99214EB0655C}"/>
              </a:ext>
            </a:extLst>
          </p:cNvPr>
          <p:cNvSpPr/>
          <p:nvPr/>
        </p:nvSpPr>
        <p:spPr>
          <a:xfrm>
            <a:off x="4381499" y="3051258"/>
            <a:ext cx="4258847" cy="506463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Distance (Similarity) Metric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8907C35-5E52-5241-0F60-431DF9DD65B0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917499" y="3597729"/>
            <a:ext cx="0" cy="3489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4F4BB66-795D-D06A-34FA-D4554624CC3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195123" y="3557721"/>
            <a:ext cx="1" cy="4182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A2171E6-67D9-E231-505C-A89B66B705E4}"/>
              </a:ext>
            </a:extLst>
          </p:cNvPr>
          <p:cNvCxnSpPr>
            <a:cxnSpLocks/>
          </p:cNvCxnSpPr>
          <p:nvPr/>
        </p:nvCxnSpPr>
        <p:spPr>
          <a:xfrm>
            <a:off x="1472171" y="3303814"/>
            <a:ext cx="0" cy="6425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E3C582-AC30-BCBE-84CD-2B35DC110CAA}"/>
              </a:ext>
            </a:extLst>
          </p:cNvPr>
          <p:cNvCxnSpPr>
            <a:cxnSpLocks/>
          </p:cNvCxnSpPr>
          <p:nvPr/>
        </p:nvCxnSpPr>
        <p:spPr>
          <a:xfrm>
            <a:off x="11008057" y="3303814"/>
            <a:ext cx="0" cy="6028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F1D3CE3-1216-32C5-279E-4605BBFD31FA}"/>
              </a:ext>
            </a:extLst>
          </p:cNvPr>
          <p:cNvCxnSpPr>
            <a:stCxn id="7" idx="3"/>
          </p:cNvCxnSpPr>
          <p:nvPr/>
        </p:nvCxnSpPr>
        <p:spPr>
          <a:xfrm flipV="1">
            <a:off x="8640346" y="3303814"/>
            <a:ext cx="2386883" cy="6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3FBC1F-87D0-30E3-E2E5-27CA1D47988E}"/>
              </a:ext>
            </a:extLst>
          </p:cNvPr>
          <p:cNvCxnSpPr>
            <a:cxnSpLocks/>
          </p:cNvCxnSpPr>
          <p:nvPr/>
        </p:nvCxnSpPr>
        <p:spPr>
          <a:xfrm flipV="1">
            <a:off x="1472171" y="3303814"/>
            <a:ext cx="2890157" cy="67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310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  <p:bldP spid="13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E17D7-21DC-66AE-C2EF-027E39131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8980-3914-1E64-27D6-1F2D5C1F8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602C7-4FC9-9193-085A-D535901ABF2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Dimensionality reduction </a:t>
            </a:r>
            <a:r>
              <a:rPr lang="en-US" dirty="0">
                <a:latin typeface="+mn-lt"/>
              </a:rPr>
              <a:t>often applied to similarity </a:t>
            </a:r>
            <a:r>
              <a:rPr lang="en-US" dirty="0" err="1">
                <a:latin typeface="+mn-lt"/>
              </a:rPr>
              <a:t>serarch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It is easier to search in a lower-dimensional space</a:t>
            </a:r>
          </a:p>
          <a:p>
            <a:r>
              <a:rPr lang="en-US" dirty="0">
                <a:latin typeface="+mn-lt"/>
              </a:rPr>
              <a:t>Many possible transformations to lower-dimensional embedding space</a:t>
            </a:r>
          </a:p>
          <a:p>
            <a:pPr lvl="1"/>
            <a:r>
              <a:rPr lang="en-US" dirty="0">
                <a:latin typeface="+mn-lt"/>
              </a:rPr>
              <a:t>Some algorithms start with a nearest neighbor similarity search!  </a:t>
            </a:r>
          </a:p>
          <a:p>
            <a:pPr lvl="1"/>
            <a:r>
              <a:rPr lang="en-US" dirty="0">
                <a:latin typeface="+mn-lt"/>
              </a:rPr>
              <a:t>Can use a neural network to find an embedding space, but computationally expensive</a:t>
            </a:r>
          </a:p>
          <a:p>
            <a:r>
              <a:rPr lang="en-US" dirty="0">
                <a:latin typeface="+mn-lt"/>
              </a:rPr>
              <a:t>Ideally want an </a:t>
            </a:r>
            <a:r>
              <a:rPr lang="en-US" b="1" dirty="0">
                <a:latin typeface="+mn-lt"/>
              </a:rPr>
              <a:t>orthogonal embedding space</a:t>
            </a:r>
          </a:p>
          <a:p>
            <a:r>
              <a:rPr lang="en-US" dirty="0">
                <a:latin typeface="+mn-lt"/>
              </a:rPr>
              <a:t>More on embedding and dimensionality reduction in next lesson</a:t>
            </a: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661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68E5C-26FC-0635-F972-C05CE8066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Flat Similarity Search</a:t>
            </a:r>
          </a:p>
        </p:txBody>
      </p:sp>
    </p:spTree>
    <p:extLst>
      <p:ext uri="{BB962C8B-B14F-4D97-AF65-F5344CB8AC3E}">
        <p14:creationId xmlns:p14="http://schemas.microsoft.com/office/powerpoint/2010/main" val="275563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8C6B3-08C0-7742-AB1F-8E4D168C1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150A9-E2F1-00D7-C164-1FD356563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Flat similarity search finds exact solution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352624-8568-61DF-C50F-2278B397F55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87145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Flat similarity search </a:t>
                </a:r>
                <a:r>
                  <a:rPr lang="en-US" dirty="0">
                    <a:latin typeface="+mn-lt"/>
                  </a:rPr>
                  <a:t>finds an </a:t>
                </a:r>
                <a:r>
                  <a:rPr lang="en-US" b="1" dirty="0">
                    <a:latin typeface="+mn-lt"/>
                  </a:rPr>
                  <a:t>exact solution </a:t>
                </a:r>
                <a:r>
                  <a:rPr lang="en-US" dirty="0">
                    <a:latin typeface="+mn-lt"/>
                  </a:rPr>
                  <a:t>to the nearest neighbor problem </a:t>
                </a:r>
              </a:p>
              <a:p>
                <a:r>
                  <a:rPr lang="en-US" dirty="0">
                    <a:latin typeface="+mn-lt"/>
                  </a:rPr>
                  <a:t>Flat similarity search computes exact similarity to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latin typeface="+mn-lt"/>
                  </a:rPr>
                  <a:t> length </a:t>
                </a:r>
                <a:r>
                  <a:rPr lang="en-US" b="1" dirty="0">
                    <a:latin typeface="+mn-lt"/>
                  </a:rPr>
                  <a:t>query vector,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pPr>
                  <a:spcAft>
                    <a:spcPts val="1800"/>
                  </a:spcAft>
                </a:pPr>
                <a:r>
                  <a:rPr lang="en-US" dirty="0">
                    <a:latin typeface="+mn-lt"/>
                  </a:rPr>
                  <a:t>Goal is to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vectors, , that are closest to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dirty="0">
                    <a:latin typeface="+mn-lt"/>
                  </a:rPr>
                  <a:t> from the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dirty="0">
                    <a:latin typeface="+mn-lt"/>
                  </a:rPr>
                  <a:t>-length vector-valued observations,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Where,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+mn-lt"/>
                  </a:rPr>
                  <a:t> is a </a:t>
                </a:r>
                <a:r>
                  <a:rPr lang="en-US" b="1" dirty="0">
                    <a:latin typeface="+mn-lt"/>
                  </a:rPr>
                  <a:t>distance metric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Note that alternatively we can </a:t>
                </a:r>
                <a:r>
                  <a:rPr lang="en-US" b="1" dirty="0">
                    <a:latin typeface="+mn-lt"/>
                  </a:rPr>
                  <a:t>use max of a similarity metric </a:t>
                </a:r>
                <a:r>
                  <a:rPr lang="en-US" dirty="0">
                    <a:latin typeface="+mn-lt"/>
                  </a:rPr>
                  <a:t>for the search</a:t>
                </a:r>
              </a:p>
              <a:p>
                <a:r>
                  <a:rPr lang="en-US" dirty="0">
                    <a:latin typeface="+mn-lt"/>
                  </a:rPr>
                  <a:t>We can perform a flat similarity search for any distance metric we choose</a:t>
                </a:r>
              </a:p>
              <a:p>
                <a:pPr lvl="1"/>
                <a:r>
                  <a:rPr lang="en-US" dirty="0">
                    <a:latin typeface="+mn-lt"/>
                  </a:rPr>
                  <a:t>Euclidean</a:t>
                </a:r>
              </a:p>
              <a:p>
                <a:pPr lvl="1"/>
                <a:r>
                  <a:rPr lang="en-US" dirty="0">
                    <a:latin typeface="+mn-lt"/>
                  </a:rPr>
                  <a:t>L1 or Manhattan</a:t>
                </a:r>
              </a:p>
              <a:p>
                <a:pPr lvl="1"/>
                <a:r>
                  <a:rPr lang="en-US" dirty="0">
                    <a:latin typeface="+mn-lt"/>
                  </a:rPr>
                  <a:t>Cosine</a:t>
                </a:r>
              </a:p>
              <a:p>
                <a:pPr lvl="1"/>
                <a:r>
                  <a:rPr lang="en-US" dirty="0">
                    <a:latin typeface="+mn-lt"/>
                  </a:rPr>
                  <a:t>Hamming, for binary strings</a:t>
                </a:r>
              </a:p>
              <a:p>
                <a:pPr lvl="1"/>
                <a:r>
                  <a:rPr lang="en-US" dirty="0">
                    <a:latin typeface="+mn-lt"/>
                  </a:rPr>
                  <a:t>Jaccard, for categorical variables</a:t>
                </a:r>
              </a:p>
              <a:p>
                <a:pPr lvl="1"/>
                <a:r>
                  <a:rPr lang="en-US" dirty="0">
                    <a:latin typeface="+mn-lt"/>
                  </a:rPr>
                  <a:t>Etc.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352624-8568-61DF-C50F-2278B397F5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871459"/>
              </a:xfrm>
              <a:blipFill>
                <a:blip r:embed="rId3"/>
                <a:stretch>
                  <a:fillRect l="-952" t="-2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366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2861F-67E5-BC09-2478-9BD242375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FC993-6B7E-56F0-8B75-71E8DFFEF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Flat similarity search finds exact solution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AF27E0-74CC-A7F3-AE99-253AB4ACB571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Flat similarity search </a:t>
                </a:r>
                <a:r>
                  <a:rPr lang="en-US" dirty="0">
                    <a:latin typeface="+mn-lt"/>
                  </a:rPr>
                  <a:t>finds an </a:t>
                </a:r>
                <a:r>
                  <a:rPr lang="en-US" b="1" dirty="0">
                    <a:latin typeface="+mn-lt"/>
                  </a:rPr>
                  <a:t>exact solution </a:t>
                </a:r>
                <a:r>
                  <a:rPr lang="en-US" dirty="0">
                    <a:latin typeface="+mn-lt"/>
                  </a:rPr>
                  <a:t>to the nearest neighbor problem </a:t>
                </a:r>
              </a:p>
              <a:p>
                <a:r>
                  <a:rPr lang="en-US" dirty="0">
                    <a:latin typeface="+mn-lt"/>
                  </a:rPr>
                  <a:t>Flat similarity search computes exact similarity to 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latin typeface="+mn-lt"/>
                  </a:rPr>
                  <a:t> length </a:t>
                </a:r>
                <a:r>
                  <a:rPr lang="en-US" b="1" dirty="0">
                    <a:latin typeface="+mn-lt"/>
                  </a:rPr>
                  <a:t>query vector,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Flat similarity search requires linear scan of distance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latin typeface="+mn-lt"/>
                  </a:rPr>
                  <a:t>-length vector-valued observations and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latin typeface="+mn-lt"/>
                  </a:rPr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𝑐𝑜𝑚𝑝𝑙𝑒𝑥𝑖𝑡𝑦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𝑑𝑛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Flat similarity search finds exact nearest neighbors at a cost</a:t>
                </a:r>
              </a:p>
              <a:p>
                <a:pPr lvl="1"/>
                <a:r>
                  <a:rPr lang="en-US" dirty="0">
                    <a:latin typeface="+mn-lt"/>
                  </a:rPr>
                  <a:t>High computational complexity</a:t>
                </a:r>
              </a:p>
              <a:p>
                <a:pPr lvl="1"/>
                <a:r>
                  <a:rPr lang="en-US" dirty="0">
                    <a:latin typeface="+mn-lt"/>
                  </a:rPr>
                  <a:t>High memory requirement, with no compression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𝑑𝑛</m:t>
                    </m:r>
                  </m:oMath>
                </a14:m>
                <a:r>
                  <a:rPr lang="en-US" dirty="0">
                    <a:latin typeface="+mn-lt"/>
                  </a:rPr>
                  <a:t> for floating point vectors           </a:t>
                </a:r>
              </a:p>
              <a:p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AF27E0-74CC-A7F3-AE99-253AB4ACB5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839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9B707-9D15-391C-2F27-4BA74C271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BC35C-F2A7-F0AE-815E-446C36A73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Flat similarity search finds exact 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CAEA6-A2B8-ECF4-7D09-E007621CAB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But, is any similarity search truly exact?  </a:t>
            </a:r>
          </a:p>
          <a:p>
            <a:r>
              <a:rPr lang="en-US" b="1" dirty="0">
                <a:solidFill>
                  <a:srgbClr val="FF0000"/>
                </a:solidFill>
                <a:latin typeface="+mn-lt"/>
              </a:rPr>
              <a:t>Unlikely!   </a:t>
            </a:r>
          </a:p>
          <a:p>
            <a:pPr lvl="1"/>
            <a:r>
              <a:rPr lang="en-US" dirty="0">
                <a:latin typeface="+mn-lt"/>
              </a:rPr>
              <a:t>Distance is dependent on the distance metric used</a:t>
            </a:r>
          </a:p>
          <a:p>
            <a:pPr lvl="1"/>
            <a:r>
              <a:rPr lang="en-US" dirty="0">
                <a:latin typeface="+mn-lt"/>
              </a:rPr>
              <a:t>Dimensionality reduction (embedding) provides only an approximate representation of original vector   </a:t>
            </a:r>
          </a:p>
          <a:p>
            <a:pPr lvl="1"/>
            <a:r>
              <a:rPr lang="en-US" dirty="0">
                <a:latin typeface="+mn-lt"/>
              </a:rPr>
              <a:t>Vector valued observations are subject to noise   </a:t>
            </a:r>
          </a:p>
          <a:p>
            <a:r>
              <a:rPr lang="en-US" dirty="0">
                <a:latin typeface="+mn-lt"/>
              </a:rPr>
              <a:t>In reality we only need an NN similarity search good enough for our task</a:t>
            </a:r>
          </a:p>
          <a:p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448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EEB62-0204-F0B9-249D-FADDE5CB7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273ED-5BF7-A8D8-1651-CB5186D7D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Evaluation of ANNS</a:t>
            </a:r>
          </a:p>
        </p:txBody>
      </p:sp>
    </p:spTree>
    <p:extLst>
      <p:ext uri="{BB962C8B-B14F-4D97-AF65-F5344CB8AC3E}">
        <p14:creationId xmlns:p14="http://schemas.microsoft.com/office/powerpoint/2010/main" val="2825997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D48E-7DDD-6156-0A05-4EB20339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1A44-874E-8831-E915-8CFF2A4F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CBF9-87CC-11AC-AD83-94CE226B28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7187198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ANNS algorithms </a:t>
            </a:r>
          </a:p>
          <a:p>
            <a:r>
              <a:rPr lang="en-US" dirty="0">
                <a:latin typeface="+mn-lt"/>
              </a:rPr>
              <a:t>There are three dimensions of performance </a:t>
            </a:r>
          </a:p>
          <a:p>
            <a:r>
              <a:rPr lang="en-US" b="1" dirty="0">
                <a:latin typeface="+mn-lt"/>
              </a:rPr>
              <a:t>Recall</a:t>
            </a:r>
            <a:r>
              <a:rPr lang="en-US" dirty="0">
                <a:latin typeface="+mn-lt"/>
              </a:rPr>
              <a:t> measures the fraction of true NNs found by the algorithm </a:t>
            </a:r>
          </a:p>
          <a:p>
            <a:r>
              <a:rPr lang="en-US" b="1" dirty="0">
                <a:latin typeface="+mn-lt"/>
              </a:rPr>
              <a:t>Memory use </a:t>
            </a:r>
            <a:r>
              <a:rPr lang="en-US" dirty="0">
                <a:latin typeface="+mn-lt"/>
              </a:rPr>
              <a:t>can be the biggest constraint for massive data sets</a:t>
            </a:r>
          </a:p>
          <a:p>
            <a:r>
              <a:rPr lang="en-US" b="1" dirty="0">
                <a:latin typeface="+mn-lt"/>
              </a:rPr>
              <a:t>Speed</a:t>
            </a:r>
            <a:r>
              <a:rPr lang="en-US" dirty="0">
                <a:latin typeface="+mn-lt"/>
              </a:rPr>
              <a:t> can be important for many applications  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725A6CF-0B0D-044D-B5B6-DE9B7965339A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A804-9933-F229-12BD-74D194299BD8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A55F2-3C05-63F7-9CF9-01D795678EB1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E1CDF-2012-FB77-C632-1BA165B1028C}"/>
              </a:ext>
            </a:extLst>
          </p:cNvPr>
          <p:cNvSpPr txBox="1"/>
          <p:nvPr/>
        </p:nvSpPr>
        <p:spPr>
          <a:xfrm>
            <a:off x="10510157" y="5577562"/>
            <a:ext cx="1681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Recall -Accuracy</a:t>
            </a:r>
          </a:p>
        </p:txBody>
      </p:sp>
    </p:spTree>
    <p:extLst>
      <p:ext uri="{BB962C8B-B14F-4D97-AF65-F5344CB8AC3E}">
        <p14:creationId xmlns:p14="http://schemas.microsoft.com/office/powerpoint/2010/main" val="304773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B1801-A420-7D34-9781-7990F919E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AF489-E4B3-1986-392A-25542915A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2D5FC-205E-5A89-5706-68BC4E39B76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7187198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ANNS algorithms </a:t>
            </a:r>
          </a:p>
          <a:p>
            <a:r>
              <a:rPr lang="en-US" dirty="0">
                <a:latin typeface="+mn-lt"/>
              </a:rPr>
              <a:t>Is an invariable trade off between these three dimensions  </a:t>
            </a:r>
          </a:p>
          <a:p>
            <a:pPr lvl="1"/>
            <a:r>
              <a:rPr lang="en-US" dirty="0">
                <a:latin typeface="+mn-lt"/>
              </a:rPr>
              <a:t>Example, we can have high recall if we have sufficient memory and computational capacity  </a:t>
            </a:r>
          </a:p>
          <a:p>
            <a:pPr lvl="1"/>
            <a:r>
              <a:rPr lang="en-US" dirty="0">
                <a:latin typeface="+mn-lt"/>
              </a:rPr>
              <a:t>Generally, we must pick two of three dimensions and accept the value of the third       </a:t>
            </a:r>
          </a:p>
          <a:p>
            <a:pPr marL="457200" lvl="1" indent="0">
              <a:buNone/>
            </a:pP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  <a:p>
            <a:pPr marL="457200" lvl="1" indent="0">
              <a:buNone/>
            </a:pPr>
            <a:r>
              <a:rPr lang="en-US" sz="2000" dirty="0">
                <a:solidFill>
                  <a:schemeClr val="accent1"/>
                </a:solidFill>
                <a:latin typeface="+mn-lt"/>
              </a:rPr>
              <a:t>For a theoretical analysis of this tradeoff, including bounds on performance, can be found in </a:t>
            </a:r>
            <a:r>
              <a:rPr lang="en-US" sz="2000" dirty="0">
                <a:solidFill>
                  <a:srgbClr val="0563C1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Andoni, et.al, 201</a:t>
            </a:r>
            <a:r>
              <a:rPr lang="en-US" sz="2000" dirty="0">
                <a:solidFill>
                  <a:schemeClr val="accent1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r>
              <a:rPr lang="en-US" sz="2000" dirty="0">
                <a:solidFill>
                  <a:schemeClr val="accent1"/>
                </a:solidFill>
                <a:latin typeface="+mn-lt"/>
              </a:rPr>
              <a:t>    </a:t>
            </a:r>
          </a:p>
          <a:p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8AC2FB9-5C6F-936C-4FDF-52FF949ED9E7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8D34BB-961B-02DD-373F-53C0C6F84EBB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85F2D0-8FC7-1E9B-46E6-0FF54C9259AB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7C82CA-795E-187C-38F7-68DAA448D4F3}"/>
              </a:ext>
            </a:extLst>
          </p:cNvPr>
          <p:cNvSpPr txBox="1"/>
          <p:nvPr/>
        </p:nvSpPr>
        <p:spPr>
          <a:xfrm>
            <a:off x="10510157" y="5577562"/>
            <a:ext cx="1681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Recall -Accuracy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706889-8829-F622-CEE2-36074D6DDD62}"/>
              </a:ext>
            </a:extLst>
          </p:cNvPr>
          <p:cNvSpPr txBox="1"/>
          <p:nvPr/>
        </p:nvSpPr>
        <p:spPr>
          <a:xfrm>
            <a:off x="9611665" y="4004882"/>
            <a:ext cx="702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A31EDF-5689-7E1F-3B36-4018A17E8439}"/>
              </a:ext>
            </a:extLst>
          </p:cNvPr>
          <p:cNvCxnSpPr>
            <a:cxnSpLocks/>
          </p:cNvCxnSpPr>
          <p:nvPr/>
        </p:nvCxnSpPr>
        <p:spPr>
          <a:xfrm flipH="1">
            <a:off x="8577943" y="4631871"/>
            <a:ext cx="1213757" cy="7674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B8EA798-5BA4-8B26-F5B7-4FE89C0BF3A4}"/>
              </a:ext>
            </a:extLst>
          </p:cNvPr>
          <p:cNvCxnSpPr>
            <a:cxnSpLocks/>
          </p:cNvCxnSpPr>
          <p:nvPr/>
        </p:nvCxnSpPr>
        <p:spPr>
          <a:xfrm>
            <a:off x="10123714" y="4631871"/>
            <a:ext cx="1284515" cy="7674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AB05AC-7C1E-B96E-4B94-DE90DEECE3E0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9962729" y="2987069"/>
            <a:ext cx="0" cy="101781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021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1948C-7DBF-C081-3265-E985D07BD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EB385-DFA3-AAE5-8083-405D5BD4D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09729F-8538-46AB-6453-153A5816362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46930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ANNS algorithms </a:t>
                </a:r>
              </a:p>
              <a:p>
                <a:r>
                  <a:rPr lang="en-US" b="1" dirty="0">
                    <a:latin typeface="+mn-lt"/>
                  </a:rPr>
                  <a:t>Recall</a:t>
                </a:r>
                <a:r>
                  <a:rPr lang="en-US" dirty="0">
                    <a:latin typeface="+mn-lt"/>
                  </a:rPr>
                  <a:t> is defined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Ground truth obtained from flat (exact) similarity search</a:t>
                </a:r>
              </a:p>
              <a:p>
                <a:pPr lvl="1"/>
                <a:r>
                  <a:rPr lang="en-US" dirty="0">
                    <a:latin typeface="+mn-lt"/>
                  </a:rPr>
                  <a:t>Ground truth (exact search) contains all True Positives – or so we assume </a:t>
                </a:r>
              </a:p>
              <a:p>
                <a:pPr lvl="1"/>
                <a:r>
                  <a:rPr lang="en-US" dirty="0">
                    <a:latin typeface="+mn-lt"/>
                  </a:rPr>
                  <a:t>Negatives retrieved by ANNS are considered False Positives  </a:t>
                </a: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09729F-8538-46AB-6453-153A581636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4693009"/>
              </a:xfrm>
              <a:blipFill>
                <a:blip r:embed="rId3"/>
                <a:stretch>
                  <a:fillRect l="-1111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14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5F8B9-8ED5-B142-C5C3-15EB0DE66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D59B4-AB14-18C9-3A57-CC7218F7E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9E321E-2126-63CE-3691-6CAF927FA243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46930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ANNS algorithms </a:t>
                </a:r>
              </a:p>
              <a:p>
                <a:r>
                  <a:rPr lang="en-US" b="1" dirty="0">
                    <a:latin typeface="+mn-lt"/>
                  </a:rPr>
                  <a:t>Precision</a:t>
                </a:r>
                <a:r>
                  <a:rPr lang="en-US" dirty="0">
                    <a:latin typeface="+mn-lt"/>
                  </a:rPr>
                  <a:t> is defined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𝑁𝑒𝑔𝑎𝑡𝑖𝑣𝑒𝑠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Ground truth obtained from flat (exact) similarity search</a:t>
                </a:r>
              </a:p>
              <a:p>
                <a:pPr lvl="1"/>
                <a:r>
                  <a:rPr lang="en-US" dirty="0">
                    <a:latin typeface="+mn-lt"/>
                  </a:rPr>
                  <a:t>Ground truth (exact search) contains all True Positives </a:t>
                </a:r>
              </a:p>
              <a:p>
                <a:pPr lvl="1"/>
                <a:r>
                  <a:rPr lang="en-US" dirty="0">
                    <a:latin typeface="+mn-lt"/>
                  </a:rPr>
                  <a:t>True Positives missed by ANNS are considered False Negatives  </a:t>
                </a: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9E321E-2126-63CE-3691-6CAF927FA2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4693009"/>
              </a:xfrm>
              <a:blipFill>
                <a:blip r:embed="rId3"/>
                <a:stretch>
                  <a:fillRect l="-1111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690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8C823-2684-B73C-0FFB-2E8357E19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059D0-2CC7-CABB-3F4C-1827332B8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40D3A-2D79-B4B7-8CA3-8042F7DE986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7932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ANNS algorithms </a:t>
                </a:r>
              </a:p>
              <a:p>
                <a:r>
                  <a:rPr lang="en-US" dirty="0">
                    <a:latin typeface="+mn-lt"/>
                  </a:rPr>
                  <a:t>For ANNS one usually computes recall for different numbers of nearest neighbors,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Know as recall@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Example: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For more repeatable evaluation we often compute the </a:t>
                </a:r>
                <a:r>
                  <a:rPr lang="en-US" b="1" dirty="0">
                    <a:latin typeface="+mn-lt"/>
                  </a:rPr>
                  <a:t>average mean recall for some sample of query vectors </a:t>
                </a:r>
                <a:endParaRPr lang="en-US" sz="2400" b="1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40D3A-2D79-B4B7-8CA3-8042F7DE98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793223"/>
              </a:xfrm>
              <a:blipFill>
                <a:blip r:embed="rId3"/>
                <a:stretch>
                  <a:fillRect l="-1111" t="-1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595BB26-ADA2-8A05-D8D3-9D592FF63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583" y="1931487"/>
            <a:ext cx="1041536" cy="20830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81E29A-2EF9-8EE8-DD98-940B9CA721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785" y="4492388"/>
            <a:ext cx="1509999" cy="208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29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C7911-9740-8FD8-4DFC-AD418B3D1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C4EEF-51A1-DA8A-B0D5-276B04152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Inverted File Systems</a:t>
            </a:r>
          </a:p>
        </p:txBody>
      </p:sp>
    </p:spTree>
    <p:extLst>
      <p:ext uri="{BB962C8B-B14F-4D97-AF65-F5344CB8AC3E}">
        <p14:creationId xmlns:p14="http://schemas.microsoft.com/office/powerpoint/2010/main" val="2134310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70292-F430-0B6A-28F2-B1EFA9B2C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234D-2F29-0026-CCA8-34240FC36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Inverted file systems enable look-up by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BBBB20-5D87-7167-ACC6-D7292658FF5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6464754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Simple file systems or databases map file references to content</a:t>
                </a:r>
              </a:p>
              <a:p>
                <a:r>
                  <a:rPr lang="en-US" dirty="0">
                    <a:latin typeface="+mn-lt"/>
                  </a:rPr>
                  <a:t>Example, a database of files (or web pages) describing simple wood working projects. </a:t>
                </a:r>
              </a:p>
              <a:p>
                <a:r>
                  <a:rPr lang="en-US" dirty="0">
                    <a:latin typeface="+mn-lt"/>
                  </a:rPr>
                  <a:t>With forward indexing all files must scanned to find the files containing projects using </a:t>
                </a:r>
                <a:r>
                  <a:rPr lang="en-US" b="1" dirty="0">
                    <a:latin typeface="+mn-lt"/>
                  </a:rPr>
                  <a:t>oak</a:t>
                </a:r>
              </a:p>
              <a:p>
                <a:r>
                  <a:rPr lang="en-US" dirty="0">
                    <a:latin typeface="+mn-lt"/>
                  </a:rPr>
                  <a:t>A linear search is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operation  </a:t>
                </a:r>
              </a:p>
              <a:p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BBBB20-5D87-7167-ACC6-D7292658F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6464754" cy="5698998"/>
              </a:xfrm>
              <a:blipFill>
                <a:blip r:embed="rId3"/>
                <a:stretch>
                  <a:fillRect l="-198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502027-A6A7-01D7-964F-31A054A0B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161249"/>
              </p:ext>
            </p:extLst>
          </p:nvPr>
        </p:nvGraphicFramePr>
        <p:xfrm>
          <a:off x="7541491" y="827621"/>
          <a:ext cx="1425117" cy="593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117">
                  <a:extLst>
                    <a:ext uri="{9D8B030D-6E8A-4147-A177-3AD203B41FA5}">
                      <a16:colId xmlns:a16="http://schemas.microsoft.com/office/drawing/2014/main" val="4175659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File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259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982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190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752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81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199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81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11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79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36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471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02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06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948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233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00751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9B56B3-4AB6-19DA-923A-EE925F475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977618"/>
              </p:ext>
            </p:extLst>
          </p:nvPr>
        </p:nvGraphicFramePr>
        <p:xfrm>
          <a:off x="9993466" y="832701"/>
          <a:ext cx="1486511" cy="592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511">
                  <a:extLst>
                    <a:ext uri="{9D8B030D-6E8A-4147-A177-3AD203B41FA5}">
                      <a16:colId xmlns:a16="http://schemas.microsoft.com/office/drawing/2014/main" val="4175659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Wood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259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982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190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752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81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199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81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11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79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36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471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02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06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948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233717"/>
                  </a:ext>
                </a:extLst>
              </a:tr>
              <a:tr h="27952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007516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B57D91-4A69-3E19-2637-AA222CE26F42}"/>
              </a:ext>
            </a:extLst>
          </p:cNvPr>
          <p:cNvCxnSpPr/>
          <p:nvPr/>
        </p:nvCxnSpPr>
        <p:spPr>
          <a:xfrm>
            <a:off x="8982635" y="1364265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F0EDB56-661F-9496-895E-B95D38EA05BB}"/>
              </a:ext>
            </a:extLst>
          </p:cNvPr>
          <p:cNvCxnSpPr/>
          <p:nvPr/>
        </p:nvCxnSpPr>
        <p:spPr>
          <a:xfrm>
            <a:off x="8982634" y="1767037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9F4C70-91B8-8CAB-0DDD-5596A3587D7E}"/>
              </a:ext>
            </a:extLst>
          </p:cNvPr>
          <p:cNvCxnSpPr/>
          <p:nvPr/>
        </p:nvCxnSpPr>
        <p:spPr>
          <a:xfrm>
            <a:off x="8982631" y="2142594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A91B32-04A4-8F8D-2B51-792125849A3B}"/>
              </a:ext>
            </a:extLst>
          </p:cNvPr>
          <p:cNvCxnSpPr/>
          <p:nvPr/>
        </p:nvCxnSpPr>
        <p:spPr>
          <a:xfrm>
            <a:off x="8966608" y="2512710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C8B04F4-0E62-3E83-6162-D2BC012CBE2D}"/>
              </a:ext>
            </a:extLst>
          </p:cNvPr>
          <p:cNvCxnSpPr/>
          <p:nvPr/>
        </p:nvCxnSpPr>
        <p:spPr>
          <a:xfrm>
            <a:off x="8966607" y="2871939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A9E700-08F0-EB65-43DD-5CE50D4EC173}"/>
              </a:ext>
            </a:extLst>
          </p:cNvPr>
          <p:cNvCxnSpPr/>
          <p:nvPr/>
        </p:nvCxnSpPr>
        <p:spPr>
          <a:xfrm>
            <a:off x="8966599" y="3263825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19863A-422B-03B5-2014-ADD0460E015E}"/>
              </a:ext>
            </a:extLst>
          </p:cNvPr>
          <p:cNvCxnSpPr/>
          <p:nvPr/>
        </p:nvCxnSpPr>
        <p:spPr>
          <a:xfrm>
            <a:off x="8966599" y="3639382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E61842-0C0D-A583-D24B-7A16D4730CD9}"/>
              </a:ext>
            </a:extLst>
          </p:cNvPr>
          <p:cNvCxnSpPr/>
          <p:nvPr/>
        </p:nvCxnSpPr>
        <p:spPr>
          <a:xfrm>
            <a:off x="8966606" y="4020382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01863E-D932-E547-F19B-0AF2FE170EB3}"/>
              </a:ext>
            </a:extLst>
          </p:cNvPr>
          <p:cNvCxnSpPr/>
          <p:nvPr/>
        </p:nvCxnSpPr>
        <p:spPr>
          <a:xfrm>
            <a:off x="8966605" y="4352397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DD42E9F-1812-8923-477E-AFDD49E49D27}"/>
              </a:ext>
            </a:extLst>
          </p:cNvPr>
          <p:cNvCxnSpPr/>
          <p:nvPr/>
        </p:nvCxnSpPr>
        <p:spPr>
          <a:xfrm>
            <a:off x="8966604" y="4684412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A7A2D8-2BA2-592D-0308-A0E90D3DEE90}"/>
              </a:ext>
            </a:extLst>
          </p:cNvPr>
          <p:cNvCxnSpPr/>
          <p:nvPr/>
        </p:nvCxnSpPr>
        <p:spPr>
          <a:xfrm>
            <a:off x="8966603" y="5070855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9DB6E6A-8CC3-0F44-E09A-211DD3DB0C4A}"/>
              </a:ext>
            </a:extLst>
          </p:cNvPr>
          <p:cNvCxnSpPr/>
          <p:nvPr/>
        </p:nvCxnSpPr>
        <p:spPr>
          <a:xfrm>
            <a:off x="8966602" y="5457298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9472065-5966-D93F-4F0E-FD79E825749F}"/>
              </a:ext>
            </a:extLst>
          </p:cNvPr>
          <p:cNvCxnSpPr/>
          <p:nvPr/>
        </p:nvCxnSpPr>
        <p:spPr>
          <a:xfrm>
            <a:off x="8966601" y="5843741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D174D56-98BC-89DC-8DF8-292D75390053}"/>
              </a:ext>
            </a:extLst>
          </p:cNvPr>
          <p:cNvCxnSpPr/>
          <p:nvPr/>
        </p:nvCxnSpPr>
        <p:spPr>
          <a:xfrm>
            <a:off x="8966600" y="6230184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0EA11A7-5A92-A76E-026B-73F5605793E9}"/>
              </a:ext>
            </a:extLst>
          </p:cNvPr>
          <p:cNvCxnSpPr/>
          <p:nvPr/>
        </p:nvCxnSpPr>
        <p:spPr>
          <a:xfrm>
            <a:off x="8966599" y="6616627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63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AB907-400D-8116-79FC-E3AF6599E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3EAD2-7095-C4C7-9DEB-65F1B9A1C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Inverted file systems enable look-up by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4CE376-8EEE-5630-9178-A18BF563C31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6434163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  <a:hlinkClick r:id="rId3"/>
                  </a:rPr>
                  <a:t>Inverted file index </a:t>
                </a:r>
                <a:r>
                  <a:rPr lang="en-US" dirty="0">
                    <a:latin typeface="+mn-lt"/>
                  </a:rPr>
                  <a:t>maps content to location </a:t>
                </a:r>
                <a:endParaRPr lang="en-US" i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Example, a database of files (or web pages) describing simple wood working projects. </a:t>
                </a:r>
              </a:p>
              <a:p>
                <a:r>
                  <a:rPr lang="en-US" dirty="0">
                    <a:latin typeface="+mn-lt"/>
                  </a:rPr>
                  <a:t>Inverted index maps wood types to files with projects containing that wood type</a:t>
                </a:r>
              </a:p>
              <a:p>
                <a:r>
                  <a:rPr lang="en-US" dirty="0">
                    <a:latin typeface="+mn-lt"/>
                  </a:rPr>
                  <a:t>Example: we only need to look in the hash bucket for oak </a:t>
                </a:r>
              </a:p>
              <a:p>
                <a:r>
                  <a:rPr lang="en-US" dirty="0">
                    <a:latin typeface="+mn-lt"/>
                  </a:rPr>
                  <a:t>Notice the </a:t>
                </a:r>
                <a:r>
                  <a:rPr lang="en-US" b="1" dirty="0">
                    <a:latin typeface="+mn-lt"/>
                  </a:rPr>
                  <a:t>memory compression</a:t>
                </a:r>
              </a:p>
              <a:p>
                <a:r>
                  <a:rPr lang="en-US" dirty="0">
                    <a:latin typeface="+mn-lt"/>
                  </a:rPr>
                  <a:t>Search has </a:t>
                </a:r>
                <a:r>
                  <a:rPr lang="en-US" b="1" dirty="0">
                    <a:latin typeface="+mn-lt"/>
                  </a:rPr>
                  <a:t>sublinear complexity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𝐷𝑁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4CE376-8EEE-5630-9178-A18BF563C3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6434163" cy="5698998"/>
              </a:xfrm>
              <a:blipFill>
                <a:blip r:embed="rId4"/>
                <a:stretch>
                  <a:fillRect l="-199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0FB14D-03DD-CB07-C4FF-F9A668E50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167185"/>
              </p:ext>
            </p:extLst>
          </p:nvPr>
        </p:nvGraphicFramePr>
        <p:xfrm>
          <a:off x="6925129" y="2363408"/>
          <a:ext cx="157117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171">
                  <a:extLst>
                    <a:ext uri="{9D8B030D-6E8A-4147-A177-3AD203B41FA5}">
                      <a16:colId xmlns:a16="http://schemas.microsoft.com/office/drawing/2014/main" val="23090955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Wood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083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260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806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4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06097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D6DD76D-E28C-239C-6D22-D7BD65D0E2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0258290"/>
                  </p:ext>
                </p:extLst>
              </p:nvPr>
            </p:nvGraphicFramePr>
            <p:xfrm>
              <a:off x="9236529" y="2363408"/>
              <a:ext cx="2895600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95600">
                      <a:extLst>
                        <a:ext uri="{9D8B030D-6E8A-4147-A177-3AD203B41FA5}">
                          <a16:colId xmlns:a16="http://schemas.microsoft.com/office/drawing/2014/main" val="23090955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File IDs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10839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101,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103, 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108, 114, 115 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52604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10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2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,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 112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8806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10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5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, 107, 110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34064"/>
                      </a:ext>
                    </a:extLst>
                  </a:tr>
                  <a:tr h="289803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104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 106, 109, 111, 113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0609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D6DD76D-E28C-239C-6D22-D7BD65D0E2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0258290"/>
                  </p:ext>
                </p:extLst>
              </p:nvPr>
            </p:nvGraphicFramePr>
            <p:xfrm>
              <a:off x="9236529" y="2363408"/>
              <a:ext cx="2895600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95600">
                      <a:extLst>
                        <a:ext uri="{9D8B030D-6E8A-4147-A177-3AD203B41FA5}">
                          <a16:colId xmlns:a16="http://schemas.microsoft.com/office/drawing/2014/main" val="23090955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File IDs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10839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10" t="-108197" r="-840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52604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10" t="-204839" r="-840" b="-1983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8806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10" t="-309836" r="-840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3406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10" t="-416667" r="-84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406097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AA26CDA-83BE-56D1-5B90-8CC8A7D86E97}"/>
              </a:ext>
            </a:extLst>
          </p:cNvPr>
          <p:cNvCxnSpPr>
            <a:cxnSpLocks/>
          </p:cNvCxnSpPr>
          <p:nvPr/>
        </p:nvCxnSpPr>
        <p:spPr>
          <a:xfrm>
            <a:off x="8496300" y="2906486"/>
            <a:ext cx="74022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2C40270-F74B-BA5E-D99D-36CDA6FEBAB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8496300" y="3287968"/>
            <a:ext cx="740229" cy="25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CAF5C8-9377-3288-D102-5276A11BD4C6}"/>
              </a:ext>
            </a:extLst>
          </p:cNvPr>
          <p:cNvCxnSpPr>
            <a:cxnSpLocks/>
          </p:cNvCxnSpPr>
          <p:nvPr/>
        </p:nvCxnSpPr>
        <p:spPr>
          <a:xfrm flipV="1">
            <a:off x="8496300" y="3669450"/>
            <a:ext cx="740229" cy="25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B751B3-F498-DCF2-9BE9-CDAA64B42EFC}"/>
              </a:ext>
            </a:extLst>
          </p:cNvPr>
          <p:cNvCxnSpPr>
            <a:cxnSpLocks/>
          </p:cNvCxnSpPr>
          <p:nvPr/>
        </p:nvCxnSpPr>
        <p:spPr>
          <a:xfrm flipV="1">
            <a:off x="8496300" y="4050932"/>
            <a:ext cx="740229" cy="25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3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35853-3F71-2F6B-5E06-87812B26D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A469B-973B-CC90-9785-C2ABFBC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Building KD-Trees</a:t>
            </a:r>
          </a:p>
        </p:txBody>
      </p:sp>
    </p:spTree>
    <p:extLst>
      <p:ext uri="{BB962C8B-B14F-4D97-AF65-F5344CB8AC3E}">
        <p14:creationId xmlns:p14="http://schemas.microsoft.com/office/powerpoint/2010/main" val="3928595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  <a:hlinkClick r:id="rId3"/>
                  </a:rPr>
                  <a:t>KD-trees</a:t>
                </a:r>
                <a:r>
                  <a:rPr lang="en-US" dirty="0">
                    <a:latin typeface="+mn-lt"/>
                  </a:rPr>
                  <a:t> perform </a:t>
                </a:r>
                <a:r>
                  <a:rPr lang="en-US" b="1" dirty="0">
                    <a:latin typeface="+mn-lt"/>
                  </a:rPr>
                  <a:t>exact NN searches </a:t>
                </a:r>
                <a:r>
                  <a:rPr lang="en-US" dirty="0">
                    <a:latin typeface="+mn-lt"/>
                  </a:rPr>
                  <a:t>by partitioning lower dimensional spaces </a:t>
                </a:r>
              </a:p>
              <a:p>
                <a:r>
                  <a:rPr lang="en-US" dirty="0">
                    <a:latin typeface="+mn-lt"/>
                  </a:rPr>
                  <a:t>KD-tree is constructed by binary partitions of low-dimensional data   </a:t>
                </a:r>
              </a:p>
              <a:p>
                <a:r>
                  <a:rPr lang="en-US" dirty="0">
                    <a:latin typeface="+mn-lt"/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latin typeface="+mn-lt"/>
                  </a:rPr>
                  <a:t> dimensional data of size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, KD-tree algorithm has computational complexity: 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Construction</a:t>
                </a:r>
                <a:r>
                  <a:rPr lang="en-US" dirty="0">
                    <a:latin typeface="+mn-lt"/>
                  </a:rPr>
                  <a:t> has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b="1" dirty="0">
                    <a:latin typeface="+mn-lt"/>
                  </a:rPr>
                  <a:t>Query </a:t>
                </a:r>
                <a:r>
                  <a:rPr lang="en-US" dirty="0">
                    <a:latin typeface="+mn-lt"/>
                  </a:rPr>
                  <a:t>has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Insert</a:t>
                </a:r>
                <a:r>
                  <a:rPr lang="en-US" dirty="0">
                    <a:latin typeface="+mn-lt"/>
                  </a:rPr>
                  <a:t> has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Delete</a:t>
                </a:r>
                <a:r>
                  <a:rPr lang="en-US" dirty="0">
                    <a:latin typeface="+mn-lt"/>
                  </a:rPr>
                  <a:t> has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KD-tree algorithm suitable for lower dimensional small to medium sized datasets</a:t>
                </a:r>
              </a:p>
              <a:p>
                <a:pPr lvl="1"/>
                <a:r>
                  <a:rPr lang="en-US" dirty="0">
                    <a:latin typeface="+mn-lt"/>
                  </a:rPr>
                  <a:t>KD-tree is generally considered an efficient algorithm if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&lt;20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Related </a:t>
                </a:r>
                <a:r>
                  <a:rPr lang="en-US" b="1" dirty="0">
                    <a:latin typeface="+mn-lt"/>
                    <a:hlinkClick r:id="rId4"/>
                  </a:rPr>
                  <a:t>ball-tree algorithms </a:t>
                </a:r>
                <a:r>
                  <a:rPr lang="en-US" dirty="0">
                    <a:latin typeface="+mn-lt"/>
                  </a:rPr>
                  <a:t>are generally considered better for higher dimensions</a:t>
                </a:r>
              </a:p>
              <a:p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5"/>
                <a:stretch>
                  <a:fillRect l="-1111" t="-1818" r="-1111" b="-2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6382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A KD-tree is constructed by binary partitions through these steps  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Start with the set of observations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Determine distance metric for nearest neighbor search    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Default is Euclidean distance, but can use other metrics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Number of observations per leaf is defined – a hyperparameter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Splits are along the axes of the data space    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Axes are sampled round-robin or randomly 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On each axis split point is determined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Split is at observation closest to median, mean or other measure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Split hyperplane perpendicular to the axis selected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Observations in region split are partitioned left and right of hyperplane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Repeat steps 4-7 until leaf has less than required number of observations 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The termination condition       </a:t>
            </a:r>
            <a:r>
              <a:rPr lang="en-US" dirty="0">
                <a:latin typeface="+mn-lt"/>
              </a:rPr>
              <a:t>  </a:t>
            </a:r>
          </a:p>
          <a:p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9469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Many sources discussing details of KD-tree algorithms, their limitations and the pitfalls, with a few suggestions  </a:t>
            </a:r>
          </a:p>
          <a:p>
            <a:r>
              <a:rPr lang="en-US" dirty="0">
                <a:latin typeface="+mn-lt"/>
                <a:hlinkClick r:id="rId3"/>
              </a:rPr>
              <a:t>Chapter from Andrew Moore’s PhD dissertation, 1991   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  <a:hlinkClick r:id="rId4"/>
              </a:rPr>
              <a:t>Chapters 8, 9, 10, 11 of Advanced Algorithms and Data Structures, Marcello La Rocca, Manning, 2021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  <a:hlinkClick r:id="rId5"/>
              </a:rPr>
              <a:t>Wikipedia article  </a:t>
            </a:r>
            <a:endParaRPr lang="en-US" dirty="0">
              <a:latin typeface="+mn-lt"/>
            </a:endParaRPr>
          </a:p>
          <a:p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60915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265529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KD-trees are constructed by </a:t>
                </a:r>
                <a:r>
                  <a:rPr lang="en-US" b="1" dirty="0">
                    <a:latin typeface="+mn-lt"/>
                  </a:rPr>
                  <a:t>binary partitioning </a:t>
                </a:r>
                <a:endParaRPr lang="en-US" sz="2400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Start with some data points in a 2-dimensional space,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Set number of nodes in leaves,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Root of the tree is NULL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2655294"/>
              </a:xfrm>
              <a:blipFill>
                <a:blip r:embed="rId3"/>
                <a:stretch>
                  <a:fillRect l="-1111" t="-3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378277" y="38987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40849" y="414557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0871755" y="486538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84F5AC8-FDC3-1F36-8D4E-04D4092A9B00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96484E-218F-847E-A252-F46E5B34D2F8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748887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/>
      <p:bldP spid="15" grpId="0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5" grpId="0" animBg="1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148648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KD-trees are constructed by binary partitioning </a:t>
                </a:r>
                <a:endParaRPr lang="en-US" sz="2400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Partition</a:t>
                </a:r>
                <a:r>
                  <a:rPr lang="en-US" dirty="0">
                    <a:latin typeface="+mn-lt"/>
                  </a:rPr>
                  <a:t> the data by the value closest to the </a:t>
                </a:r>
                <a:r>
                  <a:rPr lang="en-US" b="1" dirty="0">
                    <a:latin typeface="+mn-lt"/>
                  </a:rPr>
                  <a:t>median</a:t>
                </a:r>
                <a:r>
                  <a:rPr lang="en-US" dirty="0">
                    <a:latin typeface="+mn-lt"/>
                  </a:rPr>
                  <a:t> of along the first axis,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The first partition becomes the root of the tree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1486485"/>
              </a:xfrm>
              <a:blipFill>
                <a:blip r:embed="rId3"/>
                <a:stretch>
                  <a:fillRect l="-952" t="-8197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378277" y="38987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40849" y="414557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0871755" y="486538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2766609" y="258189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068BDB-0051-C2B5-23CF-8435E84E8E3D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A12B18-06D0-60D9-4841-B68E67A4FC03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48639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1486485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KD-trees are constructed by binary partitioning </a:t>
                </a:r>
                <a:endParaRPr lang="en-US" sz="240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There are nearly </a:t>
                </a:r>
                <a:r>
                  <a:rPr lang="en-US" b="1" dirty="0">
                    <a:latin typeface="+mn-lt"/>
                  </a:rPr>
                  <a:t>balanced</a:t>
                </a:r>
                <a:r>
                  <a:rPr lang="en-US" dirty="0">
                    <a:latin typeface="+mn-lt"/>
                  </a:rPr>
                  <a:t> numbers of observations on each side of the partition</a:t>
                </a:r>
              </a:p>
              <a:p>
                <a:r>
                  <a:rPr lang="en-US" dirty="0">
                    <a:latin typeface="+mn-lt"/>
                  </a:rPr>
                  <a:t>Next,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partition the left and right partitions by the values nearest the medians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1486485"/>
              </a:xfrm>
              <a:blipFill>
                <a:blip r:embed="rId3"/>
                <a:stretch>
                  <a:fillRect l="-847" t="-7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0871755" y="486538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2766609" y="258189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3713984" y="3150197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862206"/>
            <a:ext cx="607748" cy="3396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263953" y="2862206"/>
            <a:ext cx="535362" cy="3360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20780351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148648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KD-trees are constructed by binary partitioning </a:t>
                </a:r>
                <a:endParaRPr lang="en-US" sz="240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Continue to partition, round robin back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  </a:t>
                </a:r>
              </a:p>
              <a:p>
                <a:r>
                  <a:rPr lang="en-US" dirty="0">
                    <a:latin typeface="+mn-lt"/>
                  </a:rPr>
                  <a:t>Single node is a leaf of the tree  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1486485"/>
              </a:xfrm>
              <a:blipFill>
                <a:blip r:embed="rId3"/>
                <a:stretch>
                  <a:fillRect l="-1111" t="-9426" b="-11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0871755" y="486538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2766609" y="258189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3713984" y="3150197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862206"/>
            <a:ext cx="607748" cy="3396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263953" y="2862206"/>
            <a:ext cx="535362" cy="3360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4226498" y="380984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A9BFA00-8F8A-EFCC-877D-FFA57C9D6AF0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D5B92AF-F028-8587-40F2-21F749066028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0065C14-9537-91C2-B011-4A131A2A942D}"/>
              </a:ext>
            </a:extLst>
          </p:cNvPr>
          <p:cNvCxnSpPr>
            <a:cxnSpLocks/>
            <a:stCxn id="43" idx="3"/>
            <a:endCxn id="55" idx="0"/>
          </p:cNvCxnSpPr>
          <p:nvPr/>
        </p:nvCxnSpPr>
        <p:spPr>
          <a:xfrm flipH="1">
            <a:off x="3531365" y="3430504"/>
            <a:ext cx="267950" cy="378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6E973BD-6A1F-A166-BA2F-81B0A28A84E0}"/>
              </a:ext>
            </a:extLst>
          </p:cNvPr>
          <p:cNvCxnSpPr>
            <a:cxnSpLocks/>
            <a:stCxn id="43" idx="5"/>
            <a:endCxn id="54" idx="0"/>
          </p:cNvCxnSpPr>
          <p:nvPr/>
        </p:nvCxnSpPr>
        <p:spPr>
          <a:xfrm>
            <a:off x="4211328" y="3430504"/>
            <a:ext cx="306508" cy="3793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2708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14864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KD-trees are constructed by binary partitioning </a:t>
            </a:r>
            <a:endParaRPr lang="en-US" sz="2400" dirty="0">
              <a:latin typeface="+mn-lt"/>
            </a:endParaRPr>
          </a:p>
          <a:p>
            <a:r>
              <a:rPr lang="en-US" dirty="0">
                <a:latin typeface="+mn-lt"/>
              </a:rPr>
              <a:t>Now there are only leaves to add to the tree</a:t>
            </a:r>
          </a:p>
          <a:p>
            <a:r>
              <a:rPr lang="en-US" dirty="0">
                <a:latin typeface="+mn-lt"/>
              </a:rPr>
              <a:t>Reached the </a:t>
            </a:r>
            <a:r>
              <a:rPr lang="en-US" b="1" dirty="0">
                <a:latin typeface="+mn-lt"/>
              </a:rPr>
              <a:t>stopping condition</a:t>
            </a:r>
            <a:r>
              <a:rPr lang="en-US" dirty="0"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0871755" y="486538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86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16C6A-B07C-2982-F6C2-66C2EA5C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DE842-B0E0-554D-5260-21395A244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Similarity Queries on KD-Trees</a:t>
            </a:r>
          </a:p>
        </p:txBody>
      </p:sp>
    </p:spTree>
    <p:extLst>
      <p:ext uri="{BB962C8B-B14F-4D97-AF65-F5344CB8AC3E}">
        <p14:creationId xmlns:p14="http://schemas.microsoft.com/office/powerpoint/2010/main" val="35218112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Query KD-tree </a:t>
                </a:r>
                <a:r>
                  <a:rPr lang="en-US" dirty="0">
                    <a:latin typeface="+mn-lt"/>
                  </a:rPr>
                  <a:t>to determine nearest neighbors  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Start at the root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Head left or right from node based on split value and sample value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Repeat step 2 until leaves encountered </a:t>
                </a:r>
              </a:p>
              <a:p>
                <a:pPr lvl="1"/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Determine distance for nearest neighbor search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>
                    <a:latin typeface="+mn-lt"/>
                    <a:cs typeface="Courier New" panose="02070309020205020404" pitchFamily="49" charset="0"/>
                  </a:rPr>
                  <a:t>Backtrack</a:t>
                </a: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to other branches to determine if NN missed </a:t>
                </a:r>
              </a:p>
              <a:p>
                <a:pPr lvl="1"/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Prune branches if distances are not NNs</a:t>
                </a:r>
              </a:p>
              <a:p>
                <a:pPr lvl="1"/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Pruning gives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d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computational complexity</a:t>
                </a:r>
              </a:p>
              <a:p>
                <a:pPr lvl="1"/>
                <a:r>
                  <a:rPr lang="en-US" dirty="0">
                    <a:latin typeface="+mn-lt"/>
                  </a:rPr>
                  <a:t>Reaching root node is </a:t>
                </a:r>
                <a:r>
                  <a:rPr lang="en-US" b="1" dirty="0">
                    <a:latin typeface="+mn-lt"/>
                  </a:rPr>
                  <a:t>stopping condition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1907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13069" y="896078"/>
            <a:ext cx="11345556" cy="1486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Can rapidly perform 3-nearest neighbor query a KD-Tree by following the node splits  </a:t>
            </a:r>
            <a:endParaRPr lang="en-US" sz="2400" dirty="0">
              <a:latin typeface="+mn-lt"/>
            </a:endParaRPr>
          </a:p>
          <a:p>
            <a:r>
              <a:rPr lang="en-US" dirty="0">
                <a:latin typeface="+mn-lt"/>
              </a:rPr>
              <a:t>Query at location </a:t>
            </a:r>
            <a:r>
              <a:rPr lang="en-US" i="1" dirty="0">
                <a:latin typeface="+mn-lt"/>
              </a:rPr>
              <a:t>Z</a:t>
            </a:r>
            <a:r>
              <a:rPr lang="en-US" dirty="0"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2617977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27979" y="896078"/>
                <a:ext cx="11330645" cy="148648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Can rapidly 3-nearest neighbor query a KD-Tree by following the node splits  </a:t>
                </a:r>
                <a:endParaRPr lang="en-US" sz="240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for </a:t>
                </a:r>
                <a:r>
                  <a:rPr lang="en-US" i="1" dirty="0">
                    <a:latin typeface="+mn-lt"/>
                  </a:rPr>
                  <a:t>Z</a:t>
                </a:r>
                <a:r>
                  <a:rPr lang="en-US" dirty="0">
                    <a:latin typeface="+mn-lt"/>
                  </a:rPr>
                  <a:t> is greater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of </a:t>
                </a:r>
                <a:r>
                  <a:rPr lang="en-US" i="1" dirty="0">
                    <a:latin typeface="+mn-lt"/>
                  </a:rPr>
                  <a:t>E</a:t>
                </a:r>
              </a:p>
              <a:p>
                <a:r>
                  <a:rPr lang="en-US" dirty="0">
                    <a:latin typeface="+mn-lt"/>
                  </a:rPr>
                  <a:t>So branch right to </a:t>
                </a:r>
                <a:r>
                  <a:rPr lang="en-US" i="1" dirty="0">
                    <a:latin typeface="+mn-lt"/>
                  </a:rPr>
                  <a:t>G, </a:t>
                </a:r>
                <a:r>
                  <a:rPr lang="en-US" dirty="0">
                    <a:latin typeface="+mn-lt"/>
                  </a:rPr>
                  <a:t>find distance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27979" y="896078"/>
                <a:ext cx="11330645" cy="1486485"/>
              </a:xfrm>
              <a:blipFill>
                <a:blip r:embed="rId3"/>
                <a:stretch>
                  <a:fillRect l="-1130" t="-9426" r="-108" b="-11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2E945C-7EBC-B523-EC72-1560AB6072CE}"/>
              </a:ext>
            </a:extLst>
          </p:cNvPr>
          <p:cNvCxnSpPr/>
          <p:nvPr/>
        </p:nvCxnSpPr>
        <p:spPr>
          <a:xfrm>
            <a:off x="3909060" y="2621629"/>
            <a:ext cx="944198" cy="528568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2BDBA73-0EDA-A63F-883F-E3FC5B31196B}"/>
              </a:ext>
            </a:extLst>
          </p:cNvPr>
          <p:cNvCxnSpPr/>
          <p:nvPr/>
        </p:nvCxnSpPr>
        <p:spPr>
          <a:xfrm>
            <a:off x="10829359" y="4351700"/>
            <a:ext cx="141996" cy="53844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2915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83249" y="896078"/>
                <a:ext cx="11375376" cy="148648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Can rapidly 3-nearest neighbor query a KD-Tree by following the node splits  </a:t>
                </a:r>
                <a:endParaRPr lang="en-US" sz="240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for </a:t>
                </a:r>
                <a:r>
                  <a:rPr lang="en-US" i="1" dirty="0">
                    <a:latin typeface="+mn-lt"/>
                  </a:rPr>
                  <a:t>Z</a:t>
                </a:r>
                <a:r>
                  <a:rPr lang="en-US" dirty="0">
                    <a:latin typeface="+mn-lt"/>
                  </a:rPr>
                  <a:t> is less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of </a:t>
                </a:r>
                <a:r>
                  <a:rPr lang="en-US" i="1" dirty="0">
                    <a:latin typeface="+mn-lt"/>
                  </a:rPr>
                  <a:t>G</a:t>
                </a:r>
              </a:p>
              <a:p>
                <a:r>
                  <a:rPr lang="en-US" dirty="0">
                    <a:latin typeface="+mn-lt"/>
                  </a:rPr>
                  <a:t>So branch right to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, find distance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83249" y="896078"/>
                <a:ext cx="11375376" cy="1486485"/>
              </a:xfrm>
              <a:blipFill>
                <a:blip r:embed="rId3"/>
                <a:stretch>
                  <a:fillRect l="-1072" t="-9426" b="-11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2E945C-7EBC-B523-EC72-1560AB6072CE}"/>
              </a:ext>
            </a:extLst>
          </p:cNvPr>
          <p:cNvCxnSpPr/>
          <p:nvPr/>
        </p:nvCxnSpPr>
        <p:spPr>
          <a:xfrm>
            <a:off x="3909060" y="2621629"/>
            <a:ext cx="944198" cy="528568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3F10AC4-E888-1F7C-3160-56A0F07D23B4}"/>
              </a:ext>
            </a:extLst>
          </p:cNvPr>
          <p:cNvCxnSpPr>
            <a:cxnSpLocks/>
          </p:cNvCxnSpPr>
          <p:nvPr/>
        </p:nvCxnSpPr>
        <p:spPr>
          <a:xfrm>
            <a:off x="5028045" y="3208251"/>
            <a:ext cx="984299" cy="48809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7397452-56DD-B179-2F6C-277725B4A95F}"/>
              </a:ext>
            </a:extLst>
          </p:cNvPr>
          <p:cNvCxnSpPr/>
          <p:nvPr/>
        </p:nvCxnSpPr>
        <p:spPr>
          <a:xfrm>
            <a:off x="10829359" y="4362586"/>
            <a:ext cx="141996" cy="53844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0A2AD60-03EE-314C-6D2A-73EDA48D967C}"/>
              </a:ext>
            </a:extLst>
          </p:cNvPr>
          <p:cNvCxnSpPr>
            <a:cxnSpLocks/>
          </p:cNvCxnSpPr>
          <p:nvPr/>
        </p:nvCxnSpPr>
        <p:spPr>
          <a:xfrm flipV="1">
            <a:off x="10493379" y="4931196"/>
            <a:ext cx="412959" cy="54708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7525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10455" y="896078"/>
            <a:ext cx="11348170" cy="14864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Can rapidly 3-nearest neighbor query a KD-Tree by following the node splits  </a:t>
            </a:r>
            <a:endParaRPr lang="en-US" sz="2400" dirty="0">
              <a:latin typeface="+mn-lt"/>
            </a:endParaRPr>
          </a:p>
          <a:p>
            <a:r>
              <a:rPr lang="en-US" i="1" dirty="0">
                <a:latin typeface="+mn-lt"/>
              </a:rPr>
              <a:t>Z</a:t>
            </a:r>
            <a:r>
              <a:rPr lang="en-US" dirty="0">
                <a:latin typeface="+mn-lt"/>
              </a:rPr>
              <a:t> has nearest neighbors on graph </a:t>
            </a:r>
            <a:r>
              <a:rPr lang="en-US" i="1" dirty="0">
                <a:latin typeface="+mn-lt"/>
              </a:rPr>
              <a:t>I</a:t>
            </a:r>
            <a:r>
              <a:rPr lang="en-US" dirty="0">
                <a:latin typeface="+mn-lt"/>
              </a:rPr>
              <a:t>, </a:t>
            </a:r>
            <a:r>
              <a:rPr lang="en-US" i="1" dirty="0">
                <a:latin typeface="+mn-lt"/>
              </a:rPr>
              <a:t>G</a:t>
            </a:r>
            <a:r>
              <a:rPr lang="en-US" dirty="0">
                <a:latin typeface="+mn-lt"/>
              </a:rPr>
              <a:t>, </a:t>
            </a:r>
            <a:r>
              <a:rPr lang="en-US" i="1" dirty="0">
                <a:latin typeface="+mn-lt"/>
              </a:rPr>
              <a:t>K</a:t>
            </a:r>
          </a:p>
          <a:p>
            <a:r>
              <a:rPr lang="en-US" dirty="0">
                <a:latin typeface="+mn-lt"/>
              </a:rPr>
              <a:t>But is there a nearer neighbor on the graph?</a:t>
            </a:r>
            <a:endParaRPr lang="en-US" i="1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2E945C-7EBC-B523-EC72-1560AB6072CE}"/>
              </a:ext>
            </a:extLst>
          </p:cNvPr>
          <p:cNvCxnSpPr/>
          <p:nvPr/>
        </p:nvCxnSpPr>
        <p:spPr>
          <a:xfrm>
            <a:off x="3909060" y="2621629"/>
            <a:ext cx="944198" cy="528568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3F10AC4-E888-1F7C-3160-56A0F07D23B4}"/>
              </a:ext>
            </a:extLst>
          </p:cNvPr>
          <p:cNvCxnSpPr>
            <a:cxnSpLocks/>
          </p:cNvCxnSpPr>
          <p:nvPr/>
        </p:nvCxnSpPr>
        <p:spPr>
          <a:xfrm>
            <a:off x="5028045" y="3208251"/>
            <a:ext cx="984299" cy="48809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B3455BB-B609-9C43-083A-B4550BD2BF13}"/>
              </a:ext>
            </a:extLst>
          </p:cNvPr>
          <p:cNvCxnSpPr>
            <a:stCxn id="18" idx="5"/>
            <a:endCxn id="8" idx="0"/>
          </p:cNvCxnSpPr>
          <p:nvPr/>
        </p:nvCxnSpPr>
        <p:spPr>
          <a:xfrm>
            <a:off x="10829359" y="4351700"/>
            <a:ext cx="141996" cy="53844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3907D44-728E-A9BC-0B25-B71E4188AE15}"/>
              </a:ext>
            </a:extLst>
          </p:cNvPr>
          <p:cNvCxnSpPr>
            <a:cxnSpLocks/>
            <a:stCxn id="21" idx="2"/>
            <a:endCxn id="8" idx="6"/>
          </p:cNvCxnSpPr>
          <p:nvPr/>
        </p:nvCxnSpPr>
        <p:spPr>
          <a:xfrm flipH="1" flipV="1">
            <a:off x="11008626" y="4931196"/>
            <a:ext cx="189460" cy="118855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E465657-CC77-B43D-3816-86818C6DEAFC}"/>
              </a:ext>
            </a:extLst>
          </p:cNvPr>
          <p:cNvCxnSpPr>
            <a:cxnSpLocks/>
            <a:endCxn id="12" idx="3"/>
          </p:cNvCxnSpPr>
          <p:nvPr/>
        </p:nvCxnSpPr>
        <p:spPr>
          <a:xfrm flipV="1">
            <a:off x="10493379" y="4931196"/>
            <a:ext cx="412959" cy="54708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1F34FE9-1D4C-5FC8-2E8E-5F116B6DB115}"/>
              </a:ext>
            </a:extLst>
          </p:cNvPr>
          <p:cNvCxnSpPr>
            <a:cxnSpLocks/>
          </p:cNvCxnSpPr>
          <p:nvPr/>
        </p:nvCxnSpPr>
        <p:spPr>
          <a:xfrm>
            <a:off x="6179658" y="3787416"/>
            <a:ext cx="751295" cy="688022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0770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04511" y="896078"/>
            <a:ext cx="11354113" cy="148648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Can rapidly 3-nearest neighbor query a KD-Tree by following the node splits  </a:t>
            </a:r>
            <a:endParaRPr lang="en-US" sz="2400" dirty="0">
              <a:latin typeface="+mn-lt"/>
            </a:endParaRPr>
          </a:p>
          <a:p>
            <a:r>
              <a:rPr lang="en-US" dirty="0">
                <a:latin typeface="+mn-lt"/>
              </a:rPr>
              <a:t>We need to </a:t>
            </a:r>
            <a:r>
              <a:rPr lang="en-US" b="1" dirty="0">
                <a:latin typeface="+mn-lt"/>
              </a:rPr>
              <a:t>backtrack</a:t>
            </a:r>
            <a:r>
              <a:rPr lang="en-US" dirty="0">
                <a:latin typeface="+mn-lt"/>
              </a:rPr>
              <a:t> to determine if there is a nearer neighbor on another branch</a:t>
            </a:r>
          </a:p>
          <a:p>
            <a:r>
              <a:rPr lang="en-US" dirty="0">
                <a:latin typeface="+mn-lt"/>
              </a:rPr>
              <a:t>Backtracking to K then to branch with F, finding a nearer neighbor than K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3F10AC4-E888-1F7C-3160-56A0F07D23B4}"/>
              </a:ext>
            </a:extLst>
          </p:cNvPr>
          <p:cNvCxnSpPr>
            <a:cxnSpLocks/>
          </p:cNvCxnSpPr>
          <p:nvPr/>
        </p:nvCxnSpPr>
        <p:spPr>
          <a:xfrm flipH="1">
            <a:off x="4853258" y="3881007"/>
            <a:ext cx="627427" cy="655978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B3455BB-B609-9C43-083A-B4550BD2BF13}"/>
              </a:ext>
            </a:extLst>
          </p:cNvPr>
          <p:cNvCxnSpPr>
            <a:stCxn id="18" idx="5"/>
            <a:endCxn id="8" idx="0"/>
          </p:cNvCxnSpPr>
          <p:nvPr/>
        </p:nvCxnSpPr>
        <p:spPr>
          <a:xfrm>
            <a:off x="10829359" y="4351700"/>
            <a:ext cx="141996" cy="53844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3907D44-728E-A9BC-0B25-B71E4188AE15}"/>
              </a:ext>
            </a:extLst>
          </p:cNvPr>
          <p:cNvCxnSpPr>
            <a:cxnSpLocks/>
            <a:stCxn id="21" idx="2"/>
            <a:endCxn id="8" idx="6"/>
          </p:cNvCxnSpPr>
          <p:nvPr/>
        </p:nvCxnSpPr>
        <p:spPr>
          <a:xfrm flipH="1" flipV="1">
            <a:off x="11008626" y="4931196"/>
            <a:ext cx="189460" cy="118855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E465657-CC77-B43D-3816-86818C6DEAFC}"/>
              </a:ext>
            </a:extLst>
          </p:cNvPr>
          <p:cNvCxnSpPr>
            <a:cxnSpLocks/>
            <a:endCxn id="12" idx="3"/>
          </p:cNvCxnSpPr>
          <p:nvPr/>
        </p:nvCxnSpPr>
        <p:spPr>
          <a:xfrm>
            <a:off x="10339527" y="4843007"/>
            <a:ext cx="566811" cy="88189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1F34FE9-1D4C-5FC8-2E8E-5F116B6DB115}"/>
              </a:ext>
            </a:extLst>
          </p:cNvPr>
          <p:cNvCxnSpPr>
            <a:cxnSpLocks/>
          </p:cNvCxnSpPr>
          <p:nvPr/>
        </p:nvCxnSpPr>
        <p:spPr>
          <a:xfrm flipH="1" flipV="1">
            <a:off x="6140415" y="3760003"/>
            <a:ext cx="860460" cy="725197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6995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73380" y="898164"/>
            <a:ext cx="10952281" cy="14864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Can rapidly 3-nearest neighbor query a KD-Tree by following the node splits  </a:t>
            </a:r>
            <a:endParaRPr lang="en-US" sz="2400" dirty="0">
              <a:latin typeface="+mn-lt"/>
            </a:endParaRPr>
          </a:p>
          <a:p>
            <a:r>
              <a:rPr lang="en-US" dirty="0">
                <a:latin typeface="+mn-lt"/>
              </a:rPr>
              <a:t>Continue </a:t>
            </a:r>
            <a:r>
              <a:rPr lang="en-US" b="1" dirty="0">
                <a:latin typeface="+mn-lt"/>
              </a:rPr>
              <a:t>backtracking</a:t>
            </a:r>
            <a:r>
              <a:rPr lang="en-US" dirty="0">
                <a:latin typeface="+mn-lt"/>
              </a:rPr>
              <a:t> to </a:t>
            </a:r>
            <a:r>
              <a:rPr lang="en-US" i="1" dirty="0">
                <a:latin typeface="+mn-lt"/>
              </a:rPr>
              <a:t>K</a:t>
            </a:r>
            <a:r>
              <a:rPr lang="en-US" dirty="0">
                <a:latin typeface="+mn-lt"/>
              </a:rPr>
              <a:t> then to branch to </a:t>
            </a:r>
            <a:r>
              <a:rPr lang="en-US" i="1" dirty="0">
                <a:latin typeface="+mn-lt"/>
              </a:rPr>
              <a:t>C</a:t>
            </a:r>
            <a:r>
              <a:rPr lang="en-US" dirty="0">
                <a:latin typeface="+mn-lt"/>
              </a:rPr>
              <a:t> and </a:t>
            </a:r>
            <a:r>
              <a:rPr lang="en-US" i="1" dirty="0">
                <a:latin typeface="+mn-lt"/>
              </a:rPr>
              <a:t>J</a:t>
            </a:r>
            <a:r>
              <a:rPr lang="en-US" dirty="0">
                <a:latin typeface="+mn-lt"/>
              </a:rPr>
              <a:t>, but no nearer neighbor</a:t>
            </a:r>
          </a:p>
          <a:p>
            <a:r>
              <a:rPr lang="en-US" dirty="0">
                <a:latin typeface="+mn-lt"/>
              </a:rPr>
              <a:t>We can </a:t>
            </a:r>
            <a:r>
              <a:rPr lang="en-US" b="1" dirty="0">
                <a:latin typeface="+mn-lt"/>
              </a:rPr>
              <a:t>prune</a:t>
            </a:r>
            <a:r>
              <a:rPr lang="en-US" dirty="0">
                <a:latin typeface="+mn-lt"/>
              </a:rPr>
              <a:t> the branch with </a:t>
            </a:r>
            <a:r>
              <a:rPr lang="en-US" i="1" dirty="0">
                <a:latin typeface="+mn-lt"/>
              </a:rPr>
              <a:t>C</a:t>
            </a:r>
            <a:r>
              <a:rPr lang="en-US" dirty="0">
                <a:latin typeface="+mn-lt"/>
              </a:rPr>
              <a:t> and </a:t>
            </a:r>
            <a:r>
              <a:rPr lang="en-US" i="1" dirty="0">
                <a:latin typeface="+mn-lt"/>
              </a:rPr>
              <a:t>J</a:t>
            </a:r>
            <a:r>
              <a:rPr lang="en-US" dirty="0">
                <a:latin typeface="+mn-lt"/>
              </a:rPr>
              <a:t> from the search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3F10AC4-E888-1F7C-3160-56A0F07D23B4}"/>
              </a:ext>
            </a:extLst>
          </p:cNvPr>
          <p:cNvCxnSpPr>
            <a:cxnSpLocks/>
          </p:cNvCxnSpPr>
          <p:nvPr/>
        </p:nvCxnSpPr>
        <p:spPr>
          <a:xfrm flipH="1" flipV="1">
            <a:off x="5002998" y="3150197"/>
            <a:ext cx="987224" cy="48185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B3455BB-B609-9C43-083A-B4550BD2BF13}"/>
              </a:ext>
            </a:extLst>
          </p:cNvPr>
          <p:cNvCxnSpPr>
            <a:stCxn id="18" idx="5"/>
            <a:endCxn id="8" idx="0"/>
          </p:cNvCxnSpPr>
          <p:nvPr/>
        </p:nvCxnSpPr>
        <p:spPr>
          <a:xfrm>
            <a:off x="10829359" y="4351700"/>
            <a:ext cx="141996" cy="53844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3907D44-728E-A9BC-0B25-B71E4188AE15}"/>
              </a:ext>
            </a:extLst>
          </p:cNvPr>
          <p:cNvCxnSpPr>
            <a:cxnSpLocks/>
            <a:stCxn id="21" idx="2"/>
            <a:endCxn id="8" idx="6"/>
          </p:cNvCxnSpPr>
          <p:nvPr/>
        </p:nvCxnSpPr>
        <p:spPr>
          <a:xfrm flipH="1" flipV="1">
            <a:off x="11008626" y="4931196"/>
            <a:ext cx="189460" cy="118855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E465657-CC77-B43D-3816-86818C6DEAFC}"/>
              </a:ext>
            </a:extLst>
          </p:cNvPr>
          <p:cNvCxnSpPr>
            <a:cxnSpLocks/>
            <a:endCxn id="12" idx="3"/>
          </p:cNvCxnSpPr>
          <p:nvPr/>
        </p:nvCxnSpPr>
        <p:spPr>
          <a:xfrm>
            <a:off x="10339527" y="4843007"/>
            <a:ext cx="566811" cy="88189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1F34FE9-1D4C-5FC8-2E8E-5F116B6DB115}"/>
              </a:ext>
            </a:extLst>
          </p:cNvPr>
          <p:cNvCxnSpPr>
            <a:cxnSpLocks/>
          </p:cNvCxnSpPr>
          <p:nvPr/>
        </p:nvCxnSpPr>
        <p:spPr>
          <a:xfrm flipH="1" flipV="1">
            <a:off x="6140415" y="3760003"/>
            <a:ext cx="860460" cy="725197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0433E6B-7946-0343-7146-C3B4EC235F62}"/>
              </a:ext>
            </a:extLst>
          </p:cNvPr>
          <p:cNvCxnSpPr>
            <a:cxnSpLocks/>
          </p:cNvCxnSpPr>
          <p:nvPr/>
        </p:nvCxnSpPr>
        <p:spPr>
          <a:xfrm flipH="1">
            <a:off x="3344349" y="3287114"/>
            <a:ext cx="951497" cy="43709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0913AB7-DB2C-075A-9D79-0ADAECD6ECD3}"/>
              </a:ext>
            </a:extLst>
          </p:cNvPr>
          <p:cNvCxnSpPr>
            <a:cxnSpLocks/>
          </p:cNvCxnSpPr>
          <p:nvPr/>
        </p:nvCxnSpPr>
        <p:spPr>
          <a:xfrm>
            <a:off x="3130181" y="4103723"/>
            <a:ext cx="612293" cy="73928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5139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6400" y="898164"/>
            <a:ext cx="11119261" cy="1486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Can rapidly query a KD-Tree by following the video splits  </a:t>
            </a:r>
            <a:endParaRPr lang="en-US" sz="2400" dirty="0">
              <a:latin typeface="+mn-lt"/>
            </a:endParaRPr>
          </a:p>
          <a:p>
            <a:r>
              <a:rPr lang="en-US" dirty="0">
                <a:latin typeface="+mn-lt"/>
              </a:rPr>
              <a:t>The backtrack arrives at the root, the </a:t>
            </a:r>
            <a:r>
              <a:rPr lang="en-US" b="1" dirty="0">
                <a:latin typeface="+mn-lt"/>
              </a:rPr>
              <a:t>stopping condition</a:t>
            </a:r>
            <a:endParaRPr lang="en-US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3F10AC4-E888-1F7C-3160-56A0F07D23B4}"/>
              </a:ext>
            </a:extLst>
          </p:cNvPr>
          <p:cNvCxnSpPr>
            <a:cxnSpLocks/>
          </p:cNvCxnSpPr>
          <p:nvPr/>
        </p:nvCxnSpPr>
        <p:spPr>
          <a:xfrm flipH="1" flipV="1">
            <a:off x="5002998" y="3150197"/>
            <a:ext cx="987224" cy="48185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B3455BB-B609-9C43-083A-B4550BD2BF13}"/>
              </a:ext>
            </a:extLst>
          </p:cNvPr>
          <p:cNvCxnSpPr>
            <a:stCxn id="18" idx="5"/>
            <a:endCxn id="8" idx="0"/>
          </p:cNvCxnSpPr>
          <p:nvPr/>
        </p:nvCxnSpPr>
        <p:spPr>
          <a:xfrm>
            <a:off x="10829359" y="4351700"/>
            <a:ext cx="141996" cy="53844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3907D44-728E-A9BC-0B25-B71E4188AE15}"/>
              </a:ext>
            </a:extLst>
          </p:cNvPr>
          <p:cNvCxnSpPr>
            <a:cxnSpLocks/>
            <a:stCxn id="21" idx="2"/>
            <a:endCxn id="8" idx="6"/>
          </p:cNvCxnSpPr>
          <p:nvPr/>
        </p:nvCxnSpPr>
        <p:spPr>
          <a:xfrm flipH="1" flipV="1">
            <a:off x="11008626" y="4931196"/>
            <a:ext cx="189460" cy="118855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E465657-CC77-B43D-3816-86818C6DEAFC}"/>
              </a:ext>
            </a:extLst>
          </p:cNvPr>
          <p:cNvCxnSpPr>
            <a:cxnSpLocks/>
            <a:endCxn id="12" idx="3"/>
          </p:cNvCxnSpPr>
          <p:nvPr/>
        </p:nvCxnSpPr>
        <p:spPr>
          <a:xfrm>
            <a:off x="10339527" y="4843007"/>
            <a:ext cx="566811" cy="88189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1F34FE9-1D4C-5FC8-2E8E-5F116B6DB115}"/>
              </a:ext>
            </a:extLst>
          </p:cNvPr>
          <p:cNvCxnSpPr>
            <a:cxnSpLocks/>
          </p:cNvCxnSpPr>
          <p:nvPr/>
        </p:nvCxnSpPr>
        <p:spPr>
          <a:xfrm flipH="1" flipV="1">
            <a:off x="6140415" y="3760003"/>
            <a:ext cx="860460" cy="725197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0433E6B-7946-0343-7146-C3B4EC235F62}"/>
              </a:ext>
            </a:extLst>
          </p:cNvPr>
          <p:cNvCxnSpPr>
            <a:cxnSpLocks/>
          </p:cNvCxnSpPr>
          <p:nvPr/>
        </p:nvCxnSpPr>
        <p:spPr>
          <a:xfrm flipH="1" flipV="1">
            <a:off x="3866866" y="2621629"/>
            <a:ext cx="986392" cy="528568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7348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4A2A4-799D-406D-1F58-94812A5B9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D71AB-5E80-DC5F-6C7B-09206EE1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Coarse Quantization</a:t>
            </a:r>
          </a:p>
        </p:txBody>
      </p:sp>
    </p:spTree>
    <p:extLst>
      <p:ext uri="{BB962C8B-B14F-4D97-AF65-F5344CB8AC3E}">
        <p14:creationId xmlns:p14="http://schemas.microsoft.com/office/powerpoint/2010/main" val="26853172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9AD7A-A75D-084D-1061-F38EA98B1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DEAC8-D2CA-1AA4-031F-42C92D7EF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6C044-6234-CBCC-60DE-5F4C0471F7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270796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Coarse quantization </a:t>
            </a:r>
            <a:r>
              <a:rPr lang="en-US" dirty="0">
                <a:latin typeface="+mn-lt"/>
              </a:rPr>
              <a:t>speeds NN search by reducing scope    </a:t>
            </a:r>
          </a:p>
          <a:p>
            <a:r>
              <a:rPr lang="en-US" dirty="0">
                <a:latin typeface="+mn-lt"/>
              </a:rPr>
              <a:t>To speed NN search by orders of magnitude limit scope of search    </a:t>
            </a:r>
          </a:p>
          <a:p>
            <a:r>
              <a:rPr lang="en-US" dirty="0">
                <a:latin typeface="+mn-lt"/>
              </a:rPr>
              <a:t>Coarse coding divides the search scope into small cells  </a:t>
            </a:r>
          </a:p>
          <a:p>
            <a:r>
              <a:rPr lang="en-US" dirty="0">
                <a:latin typeface="+mn-lt"/>
              </a:rPr>
              <a:t>Similar vectors are within the cells</a:t>
            </a:r>
          </a:p>
          <a:p>
            <a:r>
              <a:rPr lang="en-US" dirty="0">
                <a:latin typeface="+mn-lt"/>
              </a:rPr>
              <a:t>Can use the cell IDs in an </a:t>
            </a:r>
            <a:r>
              <a:rPr lang="en-US" b="1" dirty="0">
                <a:latin typeface="+mn-lt"/>
              </a:rPr>
              <a:t>inverted index </a:t>
            </a:r>
            <a:r>
              <a:rPr lang="en-US" dirty="0">
                <a:latin typeface="+mn-lt"/>
              </a:rPr>
              <a:t>for fast lookup of similar vectors</a:t>
            </a:r>
          </a:p>
          <a:p>
            <a:pPr lvl="1"/>
            <a:r>
              <a:rPr lang="en-US" dirty="0">
                <a:latin typeface="+mn-lt"/>
              </a:rPr>
              <a:t>A type of </a:t>
            </a:r>
            <a:r>
              <a:rPr lang="en-US" b="1" dirty="0">
                <a:latin typeface="+mn-lt"/>
              </a:rPr>
              <a:t>hash table 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9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5C84A-5EC1-FA5C-21F1-68305B40A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E4704-9CB5-D839-DAC6-7AFF597CB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A3461F-7A1E-D92B-EAF2-FAD5B232BA2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270796" cy="55389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Coarse quantization </a:t>
                </a:r>
                <a:r>
                  <a:rPr lang="en-US" dirty="0">
                    <a:latin typeface="+mn-lt"/>
                  </a:rPr>
                  <a:t>speeds NN search by reducing scope    </a:t>
                </a:r>
              </a:p>
              <a:p>
                <a:r>
                  <a:rPr lang="en-US" b="1" dirty="0">
                    <a:latin typeface="+mn-lt"/>
                  </a:rPr>
                  <a:t>Flat sparse coding </a:t>
                </a:r>
                <a:r>
                  <a:rPr lang="en-US" dirty="0">
                    <a:latin typeface="+mn-lt"/>
                  </a:rPr>
                  <a:t>assigns each vector to one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codes in a </a:t>
                </a:r>
                <a:r>
                  <a:rPr lang="en-US" b="1" dirty="0">
                    <a:latin typeface="+mn-lt"/>
                  </a:rPr>
                  <a:t>code book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For Euclidian distances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+mn-lt"/>
                  </a:rPr>
                  <a:t> observations the codes are found by a minimizing distance over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codes in the book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How can we solve this nonlinear minimization problem?   </a:t>
                </a:r>
              </a:p>
              <a:p>
                <a:pPr lvl="1"/>
                <a:r>
                  <a:rPr lang="en-US" dirty="0">
                    <a:latin typeface="+mn-lt"/>
                  </a:rPr>
                  <a:t>Several possible algorithms</a:t>
                </a:r>
              </a:p>
              <a:p>
                <a:pPr lvl="1"/>
                <a:r>
                  <a:rPr lang="en-US" dirty="0">
                    <a:latin typeface="+mn-lt"/>
                    <a:hlinkClick r:id="rId3"/>
                  </a:rPr>
                  <a:t>Lloyd’s algorithm </a:t>
                </a:r>
                <a:r>
                  <a:rPr lang="en-US" dirty="0">
                    <a:latin typeface="+mn-lt"/>
                  </a:rPr>
                  <a:t>is one possibility – we will examine in lesson on k-means clustering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A3461F-7A1E-D92B-EAF2-FAD5B232BA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270796" cy="5538950"/>
              </a:xfrm>
              <a:blipFill>
                <a:blip r:embed="rId4"/>
                <a:stretch>
                  <a:fillRect l="-1136" t="-1870" r="-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2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109E-962C-2F27-ABCB-969BB5885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5F11D-1DA7-3664-55EA-0241B70D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8BA23-C623-E843-5C71-1A3C0E22FF2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270796" cy="55389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Coarse quantization </a:t>
                </a:r>
                <a:r>
                  <a:rPr lang="en-US" dirty="0">
                    <a:latin typeface="+mn-lt"/>
                  </a:rPr>
                  <a:t>speeds NN search by reducing scope    </a:t>
                </a:r>
              </a:p>
              <a:p>
                <a:r>
                  <a:rPr lang="en-US" b="1" dirty="0">
                    <a:latin typeface="+mn-lt"/>
                  </a:rPr>
                  <a:t>Flat sparse coding </a:t>
                </a:r>
                <a:r>
                  <a:rPr lang="en-US" dirty="0">
                    <a:latin typeface="+mn-lt"/>
                  </a:rPr>
                  <a:t>assigns each vector to one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codes in a </a:t>
                </a:r>
                <a:r>
                  <a:rPr lang="en-US" b="1" dirty="0">
                    <a:latin typeface="+mn-lt"/>
                  </a:rPr>
                  <a:t>code book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For a Euclidean norm the resulting search space is divided into </a:t>
                </a:r>
                <a:r>
                  <a:rPr lang="en-US" b="1" dirty="0">
                    <a:latin typeface="+mn-lt"/>
                    <a:hlinkClick r:id="rId3"/>
                  </a:rPr>
                  <a:t>Voronoi cells</a:t>
                </a:r>
                <a:endParaRPr lang="en-US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For Euclidean distance, Voronoi cells are convex polygons</a:t>
                </a:r>
              </a:p>
              <a:p>
                <a:pPr lvl="1"/>
                <a:r>
                  <a:rPr lang="en-US" dirty="0">
                    <a:latin typeface="+mn-lt"/>
                  </a:rPr>
                  <a:t>Distance vectors between points in a Voronoi cell are contained within the cell </a:t>
                </a:r>
              </a:p>
              <a:p>
                <a:r>
                  <a:rPr lang="en-US" dirty="0">
                    <a:latin typeface="+mn-lt"/>
                  </a:rPr>
                  <a:t>For L1 distance, Voronoi cells are non-convex  </a:t>
                </a:r>
              </a:p>
              <a:p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+mn-lt"/>
                  </a:rPr>
                  <a:t>For an interesting and entertaining in-depth discussion of Voronoi cells see the </a:t>
                </a:r>
                <a:r>
                  <a:rPr lang="en-US" dirty="0">
                    <a:solidFill>
                      <a:srgbClr val="0563C1"/>
                    </a:solidFill>
                    <a:latin typeface="+mn-lt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blog post by Francesco </a:t>
                </a:r>
                <a:r>
                  <a:rPr lang="en-US" dirty="0" err="1">
                    <a:solidFill>
                      <a:schemeClr val="accent1">
                        <a:lumMod val="75000"/>
                      </a:schemeClr>
                    </a:solidFill>
                    <a:latin typeface="+mn-lt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Bellelli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+mn-lt"/>
                  </a:rPr>
                  <a:t> and the references therein </a:t>
                </a: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8BA23-C623-E843-5C71-1A3C0E22FF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270796" cy="5538950"/>
              </a:xfrm>
              <a:blipFill>
                <a:blip r:embed="rId5"/>
                <a:stretch>
                  <a:fillRect l="-1136" t="-1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764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A8C63-2A7A-DF3F-5952-2F96777D2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4CC8E-3C13-63A5-1C42-32F5FC84C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67ABF0-5CA2-9740-4437-10D90C34291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6021131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Coarse quantization divides a search space into smaller regions </a:t>
                </a:r>
              </a:p>
              <a:p>
                <a:r>
                  <a:rPr lang="en-US" dirty="0">
                    <a:latin typeface="+mn-lt"/>
                  </a:rPr>
                  <a:t>Example: For Euclidean norm, search space divided into Voronoi cells </a:t>
                </a:r>
              </a:p>
              <a:p>
                <a:r>
                  <a:rPr lang="en-US" dirty="0">
                    <a:latin typeface="+mn-lt"/>
                  </a:rPr>
                  <a:t>The cell centroids are the coarse codes  representing the vectors within each cell,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Using centroids results in coarse coding gives squared </a:t>
                </a:r>
                <a:r>
                  <a:rPr lang="en-US" b="1" dirty="0">
                    <a:latin typeface="+mn-lt"/>
                  </a:rPr>
                  <a:t>quantization error</a:t>
                </a:r>
                <a:r>
                  <a:rPr lang="en-US" dirty="0">
                    <a:latin typeface="+mn-lt"/>
                  </a:rPr>
                  <a:t> for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𝑒𝑟𝑟𝑜𝑟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67ABF0-5CA2-9740-4437-10D90C3429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6021131" cy="5698998"/>
              </a:xfrm>
              <a:blipFill>
                <a:blip r:embed="rId3"/>
                <a:stretch>
                  <a:fillRect l="-2128" t="-1818" r="-4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903C3B-86E6-F07C-1EDA-861D263DECD7}"/>
              </a:ext>
            </a:extLst>
          </p:cNvPr>
          <p:cNvCxnSpPr>
            <a:cxnSpLocks/>
          </p:cNvCxnSpPr>
          <p:nvPr/>
        </p:nvCxnSpPr>
        <p:spPr>
          <a:xfrm flipV="1">
            <a:off x="6845742" y="2881291"/>
            <a:ext cx="930733" cy="75556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972EE4-3CB7-5B8B-DC9E-1A52FD23AA5D}"/>
              </a:ext>
            </a:extLst>
          </p:cNvPr>
          <p:cNvCxnSpPr>
            <a:cxnSpLocks/>
          </p:cNvCxnSpPr>
          <p:nvPr/>
        </p:nvCxnSpPr>
        <p:spPr>
          <a:xfrm flipH="1" flipV="1">
            <a:off x="7776475" y="2850805"/>
            <a:ext cx="601450" cy="502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550063-C9CA-0CFE-7A25-4B08AB1A5417}"/>
              </a:ext>
            </a:extLst>
          </p:cNvPr>
          <p:cNvCxnSpPr>
            <a:cxnSpLocks/>
          </p:cNvCxnSpPr>
          <p:nvPr/>
        </p:nvCxnSpPr>
        <p:spPr>
          <a:xfrm flipH="1" flipV="1">
            <a:off x="8316685" y="2901020"/>
            <a:ext cx="283029" cy="87632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713369-0E8D-100B-0161-3AC7F11F1ECB}"/>
              </a:ext>
            </a:extLst>
          </p:cNvPr>
          <p:cNvCxnSpPr>
            <a:cxnSpLocks/>
          </p:cNvCxnSpPr>
          <p:nvPr/>
        </p:nvCxnSpPr>
        <p:spPr>
          <a:xfrm flipH="1">
            <a:off x="7920715" y="3777343"/>
            <a:ext cx="646351" cy="85752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25DDCB6-257A-CD1F-99BC-108810DD98E1}"/>
              </a:ext>
            </a:extLst>
          </p:cNvPr>
          <p:cNvCxnSpPr>
            <a:cxnSpLocks/>
          </p:cNvCxnSpPr>
          <p:nvPr/>
        </p:nvCxnSpPr>
        <p:spPr>
          <a:xfrm flipH="1">
            <a:off x="7097485" y="4631293"/>
            <a:ext cx="835470" cy="1146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B2B27CA-27E3-D3BB-F09C-59395FF90E8D}"/>
              </a:ext>
            </a:extLst>
          </p:cNvPr>
          <p:cNvCxnSpPr>
            <a:cxnSpLocks/>
          </p:cNvCxnSpPr>
          <p:nvPr/>
        </p:nvCxnSpPr>
        <p:spPr>
          <a:xfrm flipH="1" flipV="1">
            <a:off x="6845742" y="3668856"/>
            <a:ext cx="283046" cy="93044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AD55B9-EC8A-296E-7907-597C60FD7F25}"/>
              </a:ext>
            </a:extLst>
          </p:cNvPr>
          <p:cNvCxnSpPr>
            <a:cxnSpLocks/>
          </p:cNvCxnSpPr>
          <p:nvPr/>
        </p:nvCxnSpPr>
        <p:spPr>
          <a:xfrm flipH="1">
            <a:off x="8335739" y="2442227"/>
            <a:ext cx="658576" cy="46676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9B1A155-D4A7-0DED-E19C-C6DBC951D694}"/>
              </a:ext>
            </a:extLst>
          </p:cNvPr>
          <p:cNvCxnSpPr>
            <a:cxnSpLocks/>
          </p:cNvCxnSpPr>
          <p:nvPr/>
        </p:nvCxnSpPr>
        <p:spPr>
          <a:xfrm flipH="1" flipV="1">
            <a:off x="8599714" y="3777343"/>
            <a:ext cx="557209" cy="27082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2364603-F771-3EBE-DB78-4F09E1A2CBA5}"/>
              </a:ext>
            </a:extLst>
          </p:cNvPr>
          <p:cNvCxnSpPr>
            <a:cxnSpLocks/>
          </p:cNvCxnSpPr>
          <p:nvPr/>
        </p:nvCxnSpPr>
        <p:spPr>
          <a:xfrm flipV="1">
            <a:off x="10142758" y="3557569"/>
            <a:ext cx="766084" cy="44926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19FA045-363F-FFBF-9295-3360FDEE834B}"/>
              </a:ext>
            </a:extLst>
          </p:cNvPr>
          <p:cNvCxnSpPr>
            <a:cxnSpLocks/>
          </p:cNvCxnSpPr>
          <p:nvPr/>
        </p:nvCxnSpPr>
        <p:spPr>
          <a:xfrm flipH="1" flipV="1">
            <a:off x="9013369" y="2442227"/>
            <a:ext cx="778335" cy="34426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7898EBB-ADF4-08FE-D191-CF13934592D2}"/>
              </a:ext>
            </a:extLst>
          </p:cNvPr>
          <p:cNvCxnSpPr>
            <a:cxnSpLocks/>
          </p:cNvCxnSpPr>
          <p:nvPr/>
        </p:nvCxnSpPr>
        <p:spPr>
          <a:xfrm flipH="1" flipV="1">
            <a:off x="9802585" y="2755681"/>
            <a:ext cx="263965" cy="125115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0EF1198-3BB0-FFA0-6D7C-2815DB6D47A9}"/>
              </a:ext>
            </a:extLst>
          </p:cNvPr>
          <p:cNvCxnSpPr>
            <a:cxnSpLocks/>
          </p:cNvCxnSpPr>
          <p:nvPr/>
        </p:nvCxnSpPr>
        <p:spPr>
          <a:xfrm flipH="1" flipV="1">
            <a:off x="7897579" y="4615544"/>
            <a:ext cx="244930" cy="112266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DBABBA5-FCB1-3E64-6873-118893A4E79A}"/>
              </a:ext>
            </a:extLst>
          </p:cNvPr>
          <p:cNvCxnSpPr>
            <a:cxnSpLocks/>
          </p:cNvCxnSpPr>
          <p:nvPr/>
        </p:nvCxnSpPr>
        <p:spPr>
          <a:xfrm>
            <a:off x="9145360" y="4066330"/>
            <a:ext cx="548367" cy="118098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F2726D9-DA32-E30C-CEB3-D7E1A73283E5}"/>
              </a:ext>
            </a:extLst>
          </p:cNvPr>
          <p:cNvCxnSpPr>
            <a:cxnSpLocks/>
          </p:cNvCxnSpPr>
          <p:nvPr/>
        </p:nvCxnSpPr>
        <p:spPr>
          <a:xfrm flipV="1">
            <a:off x="9285520" y="5176875"/>
            <a:ext cx="408207" cy="81026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B46970E-E19F-E6A1-C0B1-847D56526C4F}"/>
              </a:ext>
            </a:extLst>
          </p:cNvPr>
          <p:cNvCxnSpPr>
            <a:cxnSpLocks/>
          </p:cNvCxnSpPr>
          <p:nvPr/>
        </p:nvCxnSpPr>
        <p:spPr>
          <a:xfrm>
            <a:off x="8107129" y="5738206"/>
            <a:ext cx="1172942" cy="24893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35F955E-5FF6-FFB8-CB0D-EC4ACFE9A07C}"/>
              </a:ext>
            </a:extLst>
          </p:cNvPr>
          <p:cNvCxnSpPr>
            <a:cxnSpLocks/>
          </p:cNvCxnSpPr>
          <p:nvPr/>
        </p:nvCxnSpPr>
        <p:spPr>
          <a:xfrm flipH="1" flipV="1">
            <a:off x="7394945" y="2358510"/>
            <a:ext cx="395964" cy="50854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64A16FF-3EA1-3A8E-B4CA-BE1AAD444687}"/>
              </a:ext>
            </a:extLst>
          </p:cNvPr>
          <p:cNvCxnSpPr>
            <a:cxnSpLocks/>
          </p:cNvCxnSpPr>
          <p:nvPr/>
        </p:nvCxnSpPr>
        <p:spPr>
          <a:xfrm flipH="1" flipV="1">
            <a:off x="8961659" y="1575534"/>
            <a:ext cx="51710" cy="87513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FAB1080-95E7-1E01-01C5-C89DBD7BFB9A}"/>
              </a:ext>
            </a:extLst>
          </p:cNvPr>
          <p:cNvCxnSpPr>
            <a:cxnSpLocks/>
          </p:cNvCxnSpPr>
          <p:nvPr/>
        </p:nvCxnSpPr>
        <p:spPr>
          <a:xfrm flipV="1">
            <a:off x="7375061" y="1887236"/>
            <a:ext cx="0" cy="42454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397CD0C-858B-6D4A-95D9-556D5DBA1DD3}"/>
              </a:ext>
            </a:extLst>
          </p:cNvPr>
          <p:cNvCxnSpPr>
            <a:cxnSpLocks/>
          </p:cNvCxnSpPr>
          <p:nvPr/>
        </p:nvCxnSpPr>
        <p:spPr>
          <a:xfrm flipH="1">
            <a:off x="7375061" y="1415023"/>
            <a:ext cx="631379" cy="47221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87B484A-F898-EB2C-86B7-56E6A8ADE884}"/>
              </a:ext>
            </a:extLst>
          </p:cNvPr>
          <p:cNvCxnSpPr>
            <a:cxnSpLocks/>
          </p:cNvCxnSpPr>
          <p:nvPr/>
        </p:nvCxnSpPr>
        <p:spPr>
          <a:xfrm flipH="1" flipV="1">
            <a:off x="8009155" y="1415023"/>
            <a:ext cx="944344" cy="19140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C0EFAB1-502F-6A3D-3D31-87AEB447B353}"/>
              </a:ext>
            </a:extLst>
          </p:cNvPr>
          <p:cNvCxnSpPr>
            <a:cxnSpLocks/>
          </p:cNvCxnSpPr>
          <p:nvPr/>
        </p:nvCxnSpPr>
        <p:spPr>
          <a:xfrm flipH="1">
            <a:off x="8929004" y="1393371"/>
            <a:ext cx="889915" cy="23174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02D516A-ADBD-DE5D-C39C-8B0F8E63F3EB}"/>
              </a:ext>
            </a:extLst>
          </p:cNvPr>
          <p:cNvCxnSpPr>
            <a:cxnSpLocks/>
          </p:cNvCxnSpPr>
          <p:nvPr/>
        </p:nvCxnSpPr>
        <p:spPr>
          <a:xfrm flipH="1">
            <a:off x="9857014" y="2412534"/>
            <a:ext cx="530667" cy="3431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4B817ED-1673-A4EA-2F48-9B1C69B7C61F}"/>
              </a:ext>
            </a:extLst>
          </p:cNvPr>
          <p:cNvCxnSpPr>
            <a:cxnSpLocks/>
          </p:cNvCxnSpPr>
          <p:nvPr/>
        </p:nvCxnSpPr>
        <p:spPr>
          <a:xfrm flipV="1">
            <a:off x="10406735" y="1960206"/>
            <a:ext cx="108856" cy="4463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6D51AAC-0B18-99CA-2BC8-7EB01C8C9BE2}"/>
              </a:ext>
            </a:extLst>
          </p:cNvPr>
          <p:cNvCxnSpPr>
            <a:cxnSpLocks/>
          </p:cNvCxnSpPr>
          <p:nvPr/>
        </p:nvCxnSpPr>
        <p:spPr>
          <a:xfrm flipH="1" flipV="1">
            <a:off x="9799869" y="1404405"/>
            <a:ext cx="683067" cy="55276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0480DEBC-1691-A465-389E-DA8647830958}"/>
              </a:ext>
            </a:extLst>
          </p:cNvPr>
          <p:cNvCxnSpPr>
            <a:cxnSpLocks/>
          </p:cNvCxnSpPr>
          <p:nvPr/>
        </p:nvCxnSpPr>
        <p:spPr>
          <a:xfrm flipH="1" flipV="1">
            <a:off x="10096502" y="4028019"/>
            <a:ext cx="642253" cy="60685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803D4B-9128-92F9-D472-F5519298BE8A}"/>
              </a:ext>
            </a:extLst>
          </p:cNvPr>
          <p:cNvCxnSpPr>
            <a:cxnSpLocks/>
          </p:cNvCxnSpPr>
          <p:nvPr/>
        </p:nvCxnSpPr>
        <p:spPr>
          <a:xfrm flipH="1">
            <a:off x="9737269" y="5083628"/>
            <a:ext cx="1001487" cy="932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C686873-EB6C-0122-1CA1-B91285A1545C}"/>
              </a:ext>
            </a:extLst>
          </p:cNvPr>
          <p:cNvCxnSpPr>
            <a:cxnSpLocks/>
          </p:cNvCxnSpPr>
          <p:nvPr/>
        </p:nvCxnSpPr>
        <p:spPr>
          <a:xfrm>
            <a:off x="10714262" y="4599297"/>
            <a:ext cx="48987" cy="53095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4CC46DD-6014-26E1-6D1D-8F01E2078AE5}"/>
              </a:ext>
            </a:extLst>
          </p:cNvPr>
          <p:cNvCxnSpPr>
            <a:cxnSpLocks/>
          </p:cNvCxnSpPr>
          <p:nvPr/>
        </p:nvCxnSpPr>
        <p:spPr>
          <a:xfrm>
            <a:off x="10888429" y="3579261"/>
            <a:ext cx="713007" cy="31099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72D4212-D1A4-D8A4-787D-3F9B705C158D}"/>
              </a:ext>
            </a:extLst>
          </p:cNvPr>
          <p:cNvCxnSpPr>
            <a:cxnSpLocks/>
          </p:cNvCxnSpPr>
          <p:nvPr/>
        </p:nvCxnSpPr>
        <p:spPr>
          <a:xfrm flipH="1">
            <a:off x="10714262" y="4521379"/>
            <a:ext cx="700762" cy="12138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B4B3C36-68C3-D9A6-7E99-5E30645CBA20}"/>
              </a:ext>
            </a:extLst>
          </p:cNvPr>
          <p:cNvCxnSpPr>
            <a:cxnSpLocks/>
          </p:cNvCxnSpPr>
          <p:nvPr/>
        </p:nvCxnSpPr>
        <p:spPr>
          <a:xfrm flipH="1">
            <a:off x="11408213" y="3890832"/>
            <a:ext cx="193223" cy="6305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Oval 245">
            <a:extLst>
              <a:ext uri="{FF2B5EF4-FFF2-40B4-BE49-F238E27FC236}">
                <a16:creationId xmlns:a16="http://schemas.microsoft.com/office/drawing/2014/main" id="{D9524958-8EAB-C682-7D89-6E9E44142254}"/>
              </a:ext>
            </a:extLst>
          </p:cNvPr>
          <p:cNvSpPr/>
          <p:nvPr/>
        </p:nvSpPr>
        <p:spPr>
          <a:xfrm>
            <a:off x="8059842" y="1960074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7A3DCD3F-9964-8343-1D15-7EDA69CEE844}"/>
              </a:ext>
            </a:extLst>
          </p:cNvPr>
          <p:cNvSpPr/>
          <p:nvPr/>
        </p:nvSpPr>
        <p:spPr>
          <a:xfrm>
            <a:off x="9746113" y="3557569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4FB60A72-FD90-89C0-DE00-47CDE9577258}"/>
                  </a:ext>
                </a:extLst>
              </p:cNvPr>
              <p:cNvSpPr txBox="1"/>
              <p:nvPr/>
            </p:nvSpPr>
            <p:spPr>
              <a:xfrm>
                <a:off x="9145360" y="3229167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4FB60A72-FD90-89C0-DE00-47CDE9577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360" y="3229167"/>
                <a:ext cx="34834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218245D3-419A-0721-3FC4-11DE6C94F3FC}"/>
                  </a:ext>
                </a:extLst>
              </p:cNvPr>
              <p:cNvSpPr txBox="1"/>
              <p:nvPr/>
            </p:nvSpPr>
            <p:spPr>
              <a:xfrm>
                <a:off x="8074460" y="206973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218245D3-419A-0721-3FC4-11DE6C94F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4460" y="2069739"/>
                <a:ext cx="34834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55">
            <a:extLst>
              <a:ext uri="{FF2B5EF4-FFF2-40B4-BE49-F238E27FC236}">
                <a16:creationId xmlns:a16="http://schemas.microsoft.com/office/drawing/2014/main" id="{EEEEEA74-B493-7BBD-FA4D-AD974AB539EB}"/>
              </a:ext>
            </a:extLst>
          </p:cNvPr>
          <p:cNvSpPr/>
          <p:nvPr/>
        </p:nvSpPr>
        <p:spPr>
          <a:xfrm>
            <a:off x="8558890" y="1817957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6506DACC-FDE8-CA5F-E016-C652AF769924}"/>
                  </a:ext>
                </a:extLst>
              </p:cNvPr>
              <p:cNvSpPr txBox="1"/>
              <p:nvPr/>
            </p:nvSpPr>
            <p:spPr>
              <a:xfrm>
                <a:off x="9606631" y="201596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6506DACC-FDE8-CA5F-E016-C652AF769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6631" y="2015969"/>
                <a:ext cx="34834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8" name="Oval 257">
            <a:extLst>
              <a:ext uri="{FF2B5EF4-FFF2-40B4-BE49-F238E27FC236}">
                <a16:creationId xmlns:a16="http://schemas.microsoft.com/office/drawing/2014/main" id="{2DA8F1AD-2267-B6ED-F84E-F05C3358B00C}"/>
              </a:ext>
            </a:extLst>
          </p:cNvPr>
          <p:cNvSpPr/>
          <p:nvPr/>
        </p:nvSpPr>
        <p:spPr>
          <a:xfrm>
            <a:off x="10980216" y="299704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AB43E630-96DA-5D44-21F9-6E9D10C69638}"/>
                  </a:ext>
                </a:extLst>
              </p:cNvPr>
              <p:cNvSpPr txBox="1"/>
              <p:nvPr/>
            </p:nvSpPr>
            <p:spPr>
              <a:xfrm>
                <a:off x="10440071" y="3059668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AB43E630-96DA-5D44-21F9-6E9D10C69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0071" y="3059668"/>
                <a:ext cx="3483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0" name="Oval 269">
            <a:extLst>
              <a:ext uri="{FF2B5EF4-FFF2-40B4-BE49-F238E27FC236}">
                <a16:creationId xmlns:a16="http://schemas.microsoft.com/office/drawing/2014/main" id="{E1C7BD68-7143-99CD-54F5-982494C05F2A}"/>
              </a:ext>
            </a:extLst>
          </p:cNvPr>
          <p:cNvSpPr/>
          <p:nvPr/>
        </p:nvSpPr>
        <p:spPr>
          <a:xfrm>
            <a:off x="10381551" y="4841783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7B4D530E-469C-0A30-B63E-A0D24F94EEA2}"/>
                  </a:ext>
                </a:extLst>
              </p:cNvPr>
              <p:cNvSpPr txBox="1"/>
              <p:nvPr/>
            </p:nvSpPr>
            <p:spPr>
              <a:xfrm>
                <a:off x="9824353" y="4565461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7B4D530E-469C-0A30-B63E-A0D24F94E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4353" y="4565461"/>
                <a:ext cx="34834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4" name="Oval 273">
            <a:extLst>
              <a:ext uri="{FF2B5EF4-FFF2-40B4-BE49-F238E27FC236}">
                <a16:creationId xmlns:a16="http://schemas.microsoft.com/office/drawing/2014/main" id="{3899495E-437B-2942-8DE0-72FDC882AC9E}"/>
              </a:ext>
            </a:extLst>
          </p:cNvPr>
          <p:cNvSpPr/>
          <p:nvPr/>
        </p:nvSpPr>
        <p:spPr>
          <a:xfrm>
            <a:off x="9134473" y="562716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547B005C-AFDB-90F3-0FDD-C9F5A7691675}"/>
                  </a:ext>
                </a:extLst>
              </p:cNvPr>
              <p:cNvSpPr txBox="1"/>
              <p:nvPr/>
            </p:nvSpPr>
            <p:spPr>
              <a:xfrm>
                <a:off x="8633745" y="495272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547B005C-AFDB-90F3-0FDD-C9F5A7691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745" y="4952729"/>
                <a:ext cx="34834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" name="Oval 275">
            <a:extLst>
              <a:ext uri="{FF2B5EF4-FFF2-40B4-BE49-F238E27FC236}">
                <a16:creationId xmlns:a16="http://schemas.microsoft.com/office/drawing/2014/main" id="{68621461-1216-6FF2-24F6-433B4F34F9FA}"/>
              </a:ext>
            </a:extLst>
          </p:cNvPr>
          <p:cNvSpPr/>
          <p:nvPr/>
        </p:nvSpPr>
        <p:spPr>
          <a:xfrm>
            <a:off x="7400921" y="4295143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C24F11A8-6631-4A35-9F55-B8EB8B64FBAF}"/>
                  </a:ext>
                </a:extLst>
              </p:cNvPr>
              <p:cNvSpPr txBox="1"/>
              <p:nvPr/>
            </p:nvSpPr>
            <p:spPr>
              <a:xfrm>
                <a:off x="7588709" y="378129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C24F11A8-6631-4A35-9F55-B8EB8B64F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709" y="3781299"/>
                <a:ext cx="34834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111A679-48BA-39C0-A393-4B734783409F}"/>
              </a:ext>
            </a:extLst>
          </p:cNvPr>
          <p:cNvCxnSpPr>
            <a:cxnSpLocks/>
          </p:cNvCxnSpPr>
          <p:nvPr/>
        </p:nvCxnSpPr>
        <p:spPr>
          <a:xfrm flipV="1">
            <a:off x="9146720" y="4007413"/>
            <a:ext cx="1019171" cy="607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72FBD17-83D0-8AA3-F2B7-319006DCDD4A}"/>
              </a:ext>
            </a:extLst>
          </p:cNvPr>
          <p:cNvCxnSpPr>
            <a:cxnSpLocks/>
          </p:cNvCxnSpPr>
          <p:nvPr/>
        </p:nvCxnSpPr>
        <p:spPr>
          <a:xfrm flipV="1">
            <a:off x="10888429" y="3306380"/>
            <a:ext cx="329302" cy="30262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47F3AFF-A48D-1647-3C73-32755764418B}"/>
              </a:ext>
            </a:extLst>
          </p:cNvPr>
          <p:cNvCxnSpPr>
            <a:cxnSpLocks/>
          </p:cNvCxnSpPr>
          <p:nvPr/>
        </p:nvCxnSpPr>
        <p:spPr>
          <a:xfrm flipH="1" flipV="1">
            <a:off x="10406735" y="2384212"/>
            <a:ext cx="810996" cy="37146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AED48F3-19FD-66D1-3EEB-0611A1FB1352}"/>
              </a:ext>
            </a:extLst>
          </p:cNvPr>
          <p:cNvCxnSpPr>
            <a:cxnSpLocks/>
          </p:cNvCxnSpPr>
          <p:nvPr/>
        </p:nvCxnSpPr>
        <p:spPr>
          <a:xfrm flipV="1">
            <a:off x="11217731" y="2721627"/>
            <a:ext cx="0" cy="56588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047A0ACE-7F67-8B18-44AF-B79F5CC32643}"/>
              </a:ext>
            </a:extLst>
          </p:cNvPr>
          <p:cNvSpPr/>
          <p:nvPr/>
        </p:nvSpPr>
        <p:spPr>
          <a:xfrm>
            <a:off x="11348340" y="4078029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658E1E0-DF35-687D-39CC-144C5082F1E4}"/>
                  </a:ext>
                </a:extLst>
              </p:cNvPr>
              <p:cNvSpPr txBox="1"/>
              <p:nvPr/>
            </p:nvSpPr>
            <p:spPr>
              <a:xfrm>
                <a:off x="10810178" y="4082712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658E1E0-DF35-687D-39CC-144C5082F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178" y="4082712"/>
                <a:ext cx="34834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Oval 107">
            <a:extLst>
              <a:ext uri="{FF2B5EF4-FFF2-40B4-BE49-F238E27FC236}">
                <a16:creationId xmlns:a16="http://schemas.microsoft.com/office/drawing/2014/main" id="{8CB7F18B-2EFC-B65C-6844-9381F3E378FB}"/>
              </a:ext>
            </a:extLst>
          </p:cNvPr>
          <p:cNvSpPr/>
          <p:nvPr/>
        </p:nvSpPr>
        <p:spPr>
          <a:xfrm>
            <a:off x="9588941" y="1924725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82863F8C-1B22-F974-2265-2948A30904C7}"/>
              </a:ext>
            </a:extLst>
          </p:cNvPr>
          <p:cNvSpPr/>
          <p:nvPr/>
        </p:nvSpPr>
        <p:spPr>
          <a:xfrm>
            <a:off x="10368971" y="2999122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28A83083-86D5-CE3E-E794-598FC9A0E9F4}"/>
              </a:ext>
            </a:extLst>
          </p:cNvPr>
          <p:cNvSpPr/>
          <p:nvPr/>
        </p:nvSpPr>
        <p:spPr>
          <a:xfrm>
            <a:off x="9103519" y="3132539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C7226EF7-14C4-5059-702A-AC297DEB0078}"/>
              </a:ext>
            </a:extLst>
          </p:cNvPr>
          <p:cNvSpPr/>
          <p:nvPr/>
        </p:nvSpPr>
        <p:spPr>
          <a:xfrm>
            <a:off x="7575762" y="3641436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8E40E0E2-9AD2-EF18-D2CE-0DA9E2424BE3}"/>
              </a:ext>
            </a:extLst>
          </p:cNvPr>
          <p:cNvSpPr/>
          <p:nvPr/>
        </p:nvSpPr>
        <p:spPr>
          <a:xfrm>
            <a:off x="8655485" y="4825772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FE1DA7A0-5ECE-CE52-EC3C-AF364C6CC389}"/>
              </a:ext>
            </a:extLst>
          </p:cNvPr>
          <p:cNvSpPr/>
          <p:nvPr/>
        </p:nvSpPr>
        <p:spPr>
          <a:xfrm>
            <a:off x="9799869" y="4445370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B8C07B68-DDF5-E319-6A0F-69444127AAE7}"/>
              </a:ext>
            </a:extLst>
          </p:cNvPr>
          <p:cNvSpPr/>
          <p:nvPr/>
        </p:nvSpPr>
        <p:spPr>
          <a:xfrm>
            <a:off x="10886317" y="3972531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2472A34-A1A3-C9FB-6A48-A26882A79BD2}"/>
              </a:ext>
            </a:extLst>
          </p:cNvPr>
          <p:cNvSpPr/>
          <p:nvPr/>
        </p:nvSpPr>
        <p:spPr>
          <a:xfrm>
            <a:off x="7569278" y="208923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567708-0D1C-D3ED-DF5A-593E2C9EFAF9}"/>
              </a:ext>
            </a:extLst>
          </p:cNvPr>
          <p:cNvSpPr/>
          <p:nvPr/>
        </p:nvSpPr>
        <p:spPr>
          <a:xfrm>
            <a:off x="7920715" y="2572336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6FC79E-FF92-2F74-CEF6-A16476B34D44}"/>
              </a:ext>
            </a:extLst>
          </p:cNvPr>
          <p:cNvSpPr/>
          <p:nvPr/>
        </p:nvSpPr>
        <p:spPr>
          <a:xfrm>
            <a:off x="8571471" y="239424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AC8A78-BFB3-A0E8-BA6F-CC6C38C5CF5D}"/>
              </a:ext>
            </a:extLst>
          </p:cNvPr>
          <p:cNvSpPr/>
          <p:nvPr/>
        </p:nvSpPr>
        <p:spPr>
          <a:xfrm>
            <a:off x="9222227" y="2216148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B6A4C3C-1C06-4A60-118C-4CF5C3AF73FF}"/>
              </a:ext>
            </a:extLst>
          </p:cNvPr>
          <p:cNvSpPr/>
          <p:nvPr/>
        </p:nvSpPr>
        <p:spPr>
          <a:xfrm>
            <a:off x="9872983" y="203805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A1F538-8276-C0C9-2964-732425F5CEA8}"/>
              </a:ext>
            </a:extLst>
          </p:cNvPr>
          <p:cNvSpPr/>
          <p:nvPr/>
        </p:nvSpPr>
        <p:spPr>
          <a:xfrm>
            <a:off x="8074460" y="153382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49E5E6-11CC-65F2-1C02-D48BD33EAD42}"/>
              </a:ext>
            </a:extLst>
          </p:cNvPr>
          <p:cNvSpPr/>
          <p:nvPr/>
        </p:nvSpPr>
        <p:spPr>
          <a:xfrm>
            <a:off x="9402536" y="171280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CF36FEC-837D-907F-5F93-DAF1C746994D}"/>
              </a:ext>
            </a:extLst>
          </p:cNvPr>
          <p:cNvSpPr/>
          <p:nvPr/>
        </p:nvSpPr>
        <p:spPr>
          <a:xfrm>
            <a:off x="9805303" y="245144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BE08061-E1C3-60DD-BC47-486E0D86C580}"/>
              </a:ext>
            </a:extLst>
          </p:cNvPr>
          <p:cNvSpPr/>
          <p:nvPr/>
        </p:nvSpPr>
        <p:spPr>
          <a:xfrm>
            <a:off x="10208070" y="3190080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AAC897B-3B8C-FC07-8D18-B5E986F779F5}"/>
              </a:ext>
            </a:extLst>
          </p:cNvPr>
          <p:cNvSpPr/>
          <p:nvPr/>
        </p:nvSpPr>
        <p:spPr>
          <a:xfrm>
            <a:off x="10452991" y="27517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B5F07AC-D67A-7581-DF57-D0DBD1A78574}"/>
              </a:ext>
            </a:extLst>
          </p:cNvPr>
          <p:cNvSpPr/>
          <p:nvPr/>
        </p:nvSpPr>
        <p:spPr>
          <a:xfrm>
            <a:off x="10605391" y="29041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CFC65E4-8B8E-D5E4-93AE-9EA6C8F1FD4E}"/>
              </a:ext>
            </a:extLst>
          </p:cNvPr>
          <p:cNvSpPr/>
          <p:nvPr/>
        </p:nvSpPr>
        <p:spPr>
          <a:xfrm>
            <a:off x="10236911" y="364811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45539E0-A299-555A-DB32-430E701A5FC3}"/>
              </a:ext>
            </a:extLst>
          </p:cNvPr>
          <p:cNvSpPr/>
          <p:nvPr/>
        </p:nvSpPr>
        <p:spPr>
          <a:xfrm>
            <a:off x="9313274" y="384327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F75BAC2-E563-49BD-509F-6A49EA2CBA52}"/>
              </a:ext>
            </a:extLst>
          </p:cNvPr>
          <p:cNvSpPr/>
          <p:nvPr/>
        </p:nvSpPr>
        <p:spPr>
          <a:xfrm>
            <a:off x="8849362" y="337219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D550D30-1DF5-6883-1F6C-BA0E2A8ABCF6}"/>
              </a:ext>
            </a:extLst>
          </p:cNvPr>
          <p:cNvSpPr/>
          <p:nvPr/>
        </p:nvSpPr>
        <p:spPr>
          <a:xfrm>
            <a:off x="8675632" y="295697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E135B16-B6E7-A58E-86CC-6674FBBA01EB}"/>
              </a:ext>
            </a:extLst>
          </p:cNvPr>
          <p:cNvSpPr/>
          <p:nvPr/>
        </p:nvSpPr>
        <p:spPr>
          <a:xfrm>
            <a:off x="8776819" y="213989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96B7E8F-AC56-9462-05C6-C00923AA2AC6}"/>
              </a:ext>
            </a:extLst>
          </p:cNvPr>
          <p:cNvSpPr/>
          <p:nvPr/>
        </p:nvSpPr>
        <p:spPr>
          <a:xfrm>
            <a:off x="9328242" y="303781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DF9EA5B-551C-EE69-A214-1043C287DC86}"/>
              </a:ext>
            </a:extLst>
          </p:cNvPr>
          <p:cNvSpPr/>
          <p:nvPr/>
        </p:nvSpPr>
        <p:spPr>
          <a:xfrm>
            <a:off x="9635229" y="320675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6E10F62-2F5F-CD73-7B74-959372359DAA}"/>
              </a:ext>
            </a:extLst>
          </p:cNvPr>
          <p:cNvSpPr/>
          <p:nvPr/>
        </p:nvSpPr>
        <p:spPr>
          <a:xfrm>
            <a:off x="9026987" y="37631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1F5B079-7FD3-C519-5183-F3128C5DFA67}"/>
              </a:ext>
            </a:extLst>
          </p:cNvPr>
          <p:cNvSpPr/>
          <p:nvPr/>
        </p:nvSpPr>
        <p:spPr>
          <a:xfrm>
            <a:off x="8189853" y="313253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71F5598-2BDC-0403-B24F-1576AE2119AF}"/>
              </a:ext>
            </a:extLst>
          </p:cNvPr>
          <p:cNvSpPr/>
          <p:nvPr/>
        </p:nvSpPr>
        <p:spPr>
          <a:xfrm>
            <a:off x="9840680" y="168810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8348C85-6462-DC64-CA09-3FBDEB8F4BA1}"/>
              </a:ext>
            </a:extLst>
          </p:cNvPr>
          <p:cNvSpPr/>
          <p:nvPr/>
        </p:nvSpPr>
        <p:spPr>
          <a:xfrm>
            <a:off x="8169713" y="353301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64F95E3-4C54-194C-E74A-87FC81F7EB39}"/>
              </a:ext>
            </a:extLst>
          </p:cNvPr>
          <p:cNvSpPr/>
          <p:nvPr/>
        </p:nvSpPr>
        <p:spPr>
          <a:xfrm>
            <a:off x="7599214" y="325586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19F52E9-A8E2-7388-2072-71F9894BF4D4}"/>
              </a:ext>
            </a:extLst>
          </p:cNvPr>
          <p:cNvSpPr/>
          <p:nvPr/>
        </p:nvSpPr>
        <p:spPr>
          <a:xfrm>
            <a:off x="7071957" y="375141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A3E9085-D860-5960-70D3-3DBF61EBF15B}"/>
              </a:ext>
            </a:extLst>
          </p:cNvPr>
          <p:cNvSpPr/>
          <p:nvPr/>
        </p:nvSpPr>
        <p:spPr>
          <a:xfrm>
            <a:off x="7224357" y="390381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E7C2A66-6782-AB5A-B8A1-DA6D86B04D4D}"/>
              </a:ext>
            </a:extLst>
          </p:cNvPr>
          <p:cNvSpPr/>
          <p:nvPr/>
        </p:nvSpPr>
        <p:spPr>
          <a:xfrm>
            <a:off x="8066628" y="40236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8D9A92B-5DF1-F53A-11AC-49ED7532E79A}"/>
              </a:ext>
            </a:extLst>
          </p:cNvPr>
          <p:cNvSpPr/>
          <p:nvPr/>
        </p:nvSpPr>
        <p:spPr>
          <a:xfrm>
            <a:off x="8696866" y="404817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22564-8CEC-D643-C488-FFC7034CECDD}"/>
              </a:ext>
            </a:extLst>
          </p:cNvPr>
          <p:cNvSpPr/>
          <p:nvPr/>
        </p:nvSpPr>
        <p:spPr>
          <a:xfrm>
            <a:off x="9743533" y="492325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D6F9CA9-91D7-76E2-ED54-C992BABA5E43}"/>
              </a:ext>
            </a:extLst>
          </p:cNvPr>
          <p:cNvSpPr/>
          <p:nvPr/>
        </p:nvSpPr>
        <p:spPr>
          <a:xfrm>
            <a:off x="8939907" y="437991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B2098F4-EDBB-5043-BCA0-A9DF4D87F59F}"/>
              </a:ext>
            </a:extLst>
          </p:cNvPr>
          <p:cNvSpPr/>
          <p:nvPr/>
        </p:nvSpPr>
        <p:spPr>
          <a:xfrm>
            <a:off x="8552710" y="468709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FAB29DF-CE84-A141-5F84-CD755B00C472}"/>
              </a:ext>
            </a:extLst>
          </p:cNvPr>
          <p:cNvSpPr/>
          <p:nvPr/>
        </p:nvSpPr>
        <p:spPr>
          <a:xfrm>
            <a:off x="8184962" y="46841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008519A-1C33-2AEA-B461-98904744D998}"/>
              </a:ext>
            </a:extLst>
          </p:cNvPr>
          <p:cNvSpPr/>
          <p:nvPr/>
        </p:nvSpPr>
        <p:spPr>
          <a:xfrm>
            <a:off x="8305775" y="50882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C6D78C9-5EAE-4E45-2A72-DD22E397D8CC}"/>
              </a:ext>
            </a:extLst>
          </p:cNvPr>
          <p:cNvSpPr/>
          <p:nvPr/>
        </p:nvSpPr>
        <p:spPr>
          <a:xfrm>
            <a:off x="8426588" y="549246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553BC0F-4ADD-5045-2EF3-8B8C7B76C4A4}"/>
              </a:ext>
            </a:extLst>
          </p:cNvPr>
          <p:cNvSpPr/>
          <p:nvPr/>
        </p:nvSpPr>
        <p:spPr>
          <a:xfrm>
            <a:off x="8513171" y="557805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DCFF39A-1890-2E02-1EEE-F4652EC23ADF}"/>
              </a:ext>
            </a:extLst>
          </p:cNvPr>
          <p:cNvSpPr/>
          <p:nvPr/>
        </p:nvSpPr>
        <p:spPr>
          <a:xfrm>
            <a:off x="9229303" y="514691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6A8A7EC-704B-2795-7E93-EB4245DAEAA9}"/>
              </a:ext>
            </a:extLst>
          </p:cNvPr>
          <p:cNvSpPr/>
          <p:nvPr/>
        </p:nvSpPr>
        <p:spPr>
          <a:xfrm>
            <a:off x="9096642" y="474630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D5DD6F7-E539-6623-BA3D-23949B573E5F}"/>
              </a:ext>
            </a:extLst>
          </p:cNvPr>
          <p:cNvSpPr/>
          <p:nvPr/>
        </p:nvSpPr>
        <p:spPr>
          <a:xfrm>
            <a:off x="9483785" y="430094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BE9889E-F029-92BF-7B1C-637F755FBAB6}"/>
              </a:ext>
            </a:extLst>
          </p:cNvPr>
          <p:cNvSpPr/>
          <p:nvPr/>
        </p:nvSpPr>
        <p:spPr>
          <a:xfrm>
            <a:off x="9870928" y="38555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82F2D67-B88D-01C2-5F32-459B29B7A181}"/>
              </a:ext>
            </a:extLst>
          </p:cNvPr>
          <p:cNvSpPr/>
          <p:nvPr/>
        </p:nvSpPr>
        <p:spPr>
          <a:xfrm>
            <a:off x="10222224" y="460674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815F25A-362E-B857-DCAE-251C77CD16DE}"/>
              </a:ext>
            </a:extLst>
          </p:cNvPr>
          <p:cNvSpPr/>
          <p:nvPr/>
        </p:nvSpPr>
        <p:spPr>
          <a:xfrm>
            <a:off x="10700915" y="429023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D15C92F-CF4A-2979-B053-DBDB0D821B43}"/>
              </a:ext>
            </a:extLst>
          </p:cNvPr>
          <p:cNvSpPr/>
          <p:nvPr/>
        </p:nvSpPr>
        <p:spPr>
          <a:xfrm>
            <a:off x="11179606" y="397371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AC8057C-F040-E0D7-993D-A3B60E095BF4}"/>
              </a:ext>
            </a:extLst>
          </p:cNvPr>
          <p:cNvSpPr/>
          <p:nvPr/>
        </p:nvSpPr>
        <p:spPr>
          <a:xfrm>
            <a:off x="9952808" y="285517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2F423A5-46FD-E582-2F0A-2423883B0388}"/>
              </a:ext>
            </a:extLst>
          </p:cNvPr>
          <p:cNvSpPr/>
          <p:nvPr/>
        </p:nvSpPr>
        <p:spPr>
          <a:xfrm>
            <a:off x="9856993" y="426815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8798CF8-CF03-1DD7-2D5E-BBC2BAB8AB43}"/>
              </a:ext>
            </a:extLst>
          </p:cNvPr>
          <p:cNvSpPr/>
          <p:nvPr/>
        </p:nvSpPr>
        <p:spPr>
          <a:xfrm>
            <a:off x="10009393" y="442055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2DD374A-4062-FBF5-5307-0B49E6C29553}"/>
              </a:ext>
            </a:extLst>
          </p:cNvPr>
          <p:cNvSpPr/>
          <p:nvPr/>
        </p:nvSpPr>
        <p:spPr>
          <a:xfrm>
            <a:off x="10087556" y="435854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37493E6-B135-065C-2D60-08B5BDD1FB48}"/>
              </a:ext>
            </a:extLst>
          </p:cNvPr>
          <p:cNvSpPr/>
          <p:nvPr/>
        </p:nvSpPr>
        <p:spPr>
          <a:xfrm>
            <a:off x="10541443" y="400927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B83687A-4A98-46F3-4296-7D83E9D97D9D}"/>
              </a:ext>
            </a:extLst>
          </p:cNvPr>
          <p:cNvSpPr/>
          <p:nvPr/>
        </p:nvSpPr>
        <p:spPr>
          <a:xfrm>
            <a:off x="10843317" y="379658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14F1121-1AEA-D2F0-3C88-A3B9C22DFC91}"/>
              </a:ext>
            </a:extLst>
          </p:cNvPr>
          <p:cNvSpPr/>
          <p:nvPr/>
        </p:nvSpPr>
        <p:spPr>
          <a:xfrm>
            <a:off x="11199213" y="433144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97B5C08-ADFA-7242-C7D8-959A0A98CEE5}"/>
              </a:ext>
            </a:extLst>
          </p:cNvPr>
          <p:cNvSpPr/>
          <p:nvPr/>
        </p:nvSpPr>
        <p:spPr>
          <a:xfrm>
            <a:off x="8644198" y="322638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B405133-B162-15B6-EB00-C3B9AF062E24}"/>
              </a:ext>
            </a:extLst>
          </p:cNvPr>
          <p:cNvSpPr/>
          <p:nvPr/>
        </p:nvSpPr>
        <p:spPr>
          <a:xfrm>
            <a:off x="7819883" y="231680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5F15AA9-83C9-A53E-482A-FE2F2C721740}"/>
              </a:ext>
            </a:extLst>
          </p:cNvPr>
          <p:cNvSpPr/>
          <p:nvPr/>
        </p:nvSpPr>
        <p:spPr>
          <a:xfrm>
            <a:off x="10180194" y="2081333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D7CB4F9-2EC5-218F-2CD2-03F57804ACF8}"/>
              </a:ext>
            </a:extLst>
          </p:cNvPr>
          <p:cNvSpPr/>
          <p:nvPr/>
        </p:nvSpPr>
        <p:spPr>
          <a:xfrm>
            <a:off x="9543222" y="293996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EB332B9-F6A7-7968-A4E5-FE68D6A2C2B6}"/>
              </a:ext>
            </a:extLst>
          </p:cNvPr>
          <p:cNvSpPr/>
          <p:nvPr/>
        </p:nvSpPr>
        <p:spPr>
          <a:xfrm>
            <a:off x="7876484" y="331275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FDE32A3-DFD9-8BC8-8D02-172B95DF4FC8}"/>
              </a:ext>
            </a:extLst>
          </p:cNvPr>
          <p:cNvSpPr/>
          <p:nvPr/>
        </p:nvSpPr>
        <p:spPr>
          <a:xfrm>
            <a:off x="8600943" y="433121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E274D09-C88D-5765-521B-7CFA9DFE79E5}"/>
              </a:ext>
            </a:extLst>
          </p:cNvPr>
          <p:cNvSpPr/>
          <p:nvPr/>
        </p:nvSpPr>
        <p:spPr>
          <a:xfrm>
            <a:off x="8929004" y="5448183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D883D65-D8DF-293E-215B-FD5AE4B17AFD}"/>
              </a:ext>
            </a:extLst>
          </p:cNvPr>
          <p:cNvSpPr/>
          <p:nvPr/>
        </p:nvSpPr>
        <p:spPr>
          <a:xfrm>
            <a:off x="10465689" y="34816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8FAA074-90AF-9CA2-5FF9-B97433FDF106}"/>
              </a:ext>
            </a:extLst>
          </p:cNvPr>
          <p:cNvSpPr/>
          <p:nvPr/>
        </p:nvSpPr>
        <p:spPr>
          <a:xfrm>
            <a:off x="9212037" y="196686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75C6CF8-0706-0E32-2ACD-195CF8B20048}"/>
              </a:ext>
            </a:extLst>
          </p:cNvPr>
          <p:cNvSpPr/>
          <p:nvPr/>
        </p:nvSpPr>
        <p:spPr>
          <a:xfrm>
            <a:off x="7851860" y="18319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CF48D85-F3E1-5A0C-06C1-9BF46CA42579}"/>
              </a:ext>
            </a:extLst>
          </p:cNvPr>
          <p:cNvSpPr/>
          <p:nvPr/>
        </p:nvSpPr>
        <p:spPr>
          <a:xfrm>
            <a:off x="7925276" y="365085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6BDBBDD-1364-A63C-4651-E7ED2C7F6209}"/>
              </a:ext>
            </a:extLst>
          </p:cNvPr>
          <p:cNvSpPr/>
          <p:nvPr/>
        </p:nvSpPr>
        <p:spPr>
          <a:xfrm>
            <a:off x="8819811" y="366337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3E5428E-6F8A-DFAE-B136-C7DB083F978C}"/>
              </a:ext>
            </a:extLst>
          </p:cNvPr>
          <p:cNvSpPr/>
          <p:nvPr/>
        </p:nvSpPr>
        <p:spPr>
          <a:xfrm>
            <a:off x="9613457" y="459365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5BDE5F6-124F-8345-B441-BE03835F900F}"/>
              </a:ext>
            </a:extLst>
          </p:cNvPr>
          <p:cNvSpPr/>
          <p:nvPr/>
        </p:nvSpPr>
        <p:spPr>
          <a:xfrm>
            <a:off x="8504931" y="216050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17864716-AD43-6C9B-1DEA-BD7BB639384F}"/>
              </a:ext>
            </a:extLst>
          </p:cNvPr>
          <p:cNvSpPr/>
          <p:nvPr/>
        </p:nvSpPr>
        <p:spPr>
          <a:xfrm>
            <a:off x="8260877" y="256907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D63DFF01-FE81-1BFB-0D80-BACB84DBEF73}"/>
              </a:ext>
            </a:extLst>
          </p:cNvPr>
          <p:cNvSpPr/>
          <p:nvPr/>
        </p:nvSpPr>
        <p:spPr>
          <a:xfrm>
            <a:off x="8259529" y="186769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7880483-626E-912E-80A9-150F394202B1}"/>
              </a:ext>
            </a:extLst>
          </p:cNvPr>
          <p:cNvSpPr/>
          <p:nvPr/>
        </p:nvSpPr>
        <p:spPr>
          <a:xfrm>
            <a:off x="7471687" y="3593870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D4294F6-D1C3-6B4D-9F83-6856472B93FB}"/>
              </a:ext>
            </a:extLst>
          </p:cNvPr>
          <p:cNvSpPr/>
          <p:nvPr/>
        </p:nvSpPr>
        <p:spPr>
          <a:xfrm>
            <a:off x="9073582" y="3077017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627B184C-BD9E-CBDD-83C5-5AD694E4E52E}"/>
              </a:ext>
            </a:extLst>
          </p:cNvPr>
          <p:cNvSpPr/>
          <p:nvPr/>
        </p:nvSpPr>
        <p:spPr>
          <a:xfrm>
            <a:off x="9467025" y="364093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0F31478-539A-1332-F91E-8B1AF80892E4}"/>
              </a:ext>
            </a:extLst>
          </p:cNvPr>
          <p:cNvSpPr/>
          <p:nvPr/>
        </p:nvSpPr>
        <p:spPr>
          <a:xfrm>
            <a:off x="10801375" y="415520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5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" grpId="0" animBg="1"/>
      <p:bldP spid="247" grpId="0" animBg="1"/>
      <p:bldP spid="248" grpId="0"/>
      <p:bldP spid="249" grpId="0"/>
      <p:bldP spid="256" grpId="0" animBg="1"/>
      <p:bldP spid="257" grpId="0"/>
      <p:bldP spid="258" grpId="0" animBg="1"/>
      <p:bldP spid="259" grpId="0"/>
      <p:bldP spid="270" grpId="0" animBg="1"/>
      <p:bldP spid="271" grpId="0"/>
      <p:bldP spid="274" grpId="0" animBg="1"/>
      <p:bldP spid="275" grpId="0"/>
      <p:bldP spid="276" grpId="0" animBg="1"/>
      <p:bldP spid="277" grpId="0"/>
      <p:bldP spid="91" grpId="0" animBg="1"/>
      <p:bldP spid="92" grpId="0"/>
      <p:bldP spid="108" grpId="0" animBg="1"/>
      <p:bldP spid="109" grpId="0" animBg="1"/>
      <p:bldP spid="111" grpId="0" animBg="1"/>
      <p:bldP spid="112" grpId="0" animBg="1"/>
      <p:bldP spid="114" grpId="0" animBg="1"/>
      <p:bldP spid="115" grpId="0" animBg="1"/>
      <p:bldP spid="116" grpId="0" animBg="1"/>
      <p:bldP spid="4" grpId="0" animBg="1"/>
      <p:bldP spid="5" grpId="0" animBg="1"/>
      <p:bldP spid="6" grpId="0" animBg="1"/>
      <p:bldP spid="7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4" grpId="0" animBg="1"/>
      <p:bldP spid="45" grpId="0" animBg="1"/>
      <p:bldP spid="48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68" grpId="0" animBg="1"/>
      <p:bldP spid="70" grpId="0" animBg="1"/>
      <p:bldP spid="72" grpId="0" animBg="1"/>
      <p:bldP spid="73" grpId="0" animBg="1"/>
      <p:bldP spid="74" grpId="0" animBg="1"/>
      <p:bldP spid="76" grpId="0" animBg="1"/>
      <p:bldP spid="77" grpId="0" animBg="1"/>
      <p:bldP spid="78" grpId="0" animBg="1"/>
      <p:bldP spid="80" grpId="0" animBg="1"/>
      <p:bldP spid="81" grpId="0" animBg="1"/>
      <p:bldP spid="82" grpId="0" animBg="1"/>
      <p:bldP spid="83" grpId="0" animBg="1"/>
      <p:bldP spid="85" grpId="0" animBg="1"/>
      <p:bldP spid="86" grpId="0" animBg="1"/>
      <p:bldP spid="88" grpId="0" animBg="1"/>
      <p:bldP spid="89" grpId="0" animBg="1"/>
      <p:bldP spid="93" grpId="0" animBg="1"/>
      <p:bldP spid="95" grpId="0" animBg="1"/>
      <p:bldP spid="96" grpId="0" animBg="1"/>
      <p:bldP spid="97" grpId="0" animBg="1"/>
      <p:bldP spid="99" grpId="0" animBg="1"/>
      <p:bldP spid="100" grpId="0" animBg="1"/>
      <p:bldP spid="102" grpId="0" animBg="1"/>
      <p:bldP spid="10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B23BB-D866-33E9-A2D0-7D8429690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53D12-33DF-F1CA-A80A-0DDBBDD74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BD3CBD-806A-7EA3-8C83-26E643FE453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6021131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Coarse quantization divides a search space into smaller regions </a:t>
                </a:r>
              </a:p>
              <a:p>
                <a:r>
                  <a:rPr lang="en-US" dirty="0">
                    <a:latin typeface="+mn-lt"/>
                  </a:rPr>
                  <a:t>Search on centroids is only;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)≪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Once cell is found a fine search is performed for nearest neighbors  </a:t>
                </a:r>
              </a:p>
              <a:p>
                <a:pPr lvl="1"/>
                <a:r>
                  <a:rPr lang="en-US" dirty="0">
                    <a:latin typeface="+mn-lt"/>
                  </a:rPr>
                  <a:t>Only need to search observations in the cell  </a:t>
                </a:r>
              </a:p>
              <a:p>
                <a:pPr lvl="1"/>
                <a:r>
                  <a:rPr lang="en-US" dirty="0">
                    <a:latin typeface="+mn-lt"/>
                  </a:rPr>
                  <a:t>Many fine search methods can be used, such as using a flat index  </a:t>
                </a:r>
              </a:p>
              <a:p>
                <a:pPr lvl="1"/>
                <a:r>
                  <a:rPr lang="en-US" dirty="0">
                    <a:latin typeface="+mn-lt"/>
                  </a:rPr>
                  <a:t>Complexity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BD3CBD-806A-7EA3-8C83-26E643FE45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6021131" cy="5698998"/>
              </a:xfrm>
              <a:blipFill>
                <a:blip r:embed="rId3"/>
                <a:stretch>
                  <a:fillRect l="-2128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3CFA46-F4C3-BD5D-A4C1-3B34B1056C42}"/>
              </a:ext>
            </a:extLst>
          </p:cNvPr>
          <p:cNvCxnSpPr>
            <a:cxnSpLocks/>
          </p:cNvCxnSpPr>
          <p:nvPr/>
        </p:nvCxnSpPr>
        <p:spPr>
          <a:xfrm flipV="1">
            <a:off x="6845742" y="2881291"/>
            <a:ext cx="930733" cy="75556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FAD5C6D-0985-C4DC-0A12-893A965A6586}"/>
              </a:ext>
            </a:extLst>
          </p:cNvPr>
          <p:cNvCxnSpPr>
            <a:cxnSpLocks/>
          </p:cNvCxnSpPr>
          <p:nvPr/>
        </p:nvCxnSpPr>
        <p:spPr>
          <a:xfrm flipH="1" flipV="1">
            <a:off x="7776475" y="2850805"/>
            <a:ext cx="601450" cy="502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541CB1-047C-4806-A107-04CBA1FE4E45}"/>
              </a:ext>
            </a:extLst>
          </p:cNvPr>
          <p:cNvCxnSpPr>
            <a:cxnSpLocks/>
          </p:cNvCxnSpPr>
          <p:nvPr/>
        </p:nvCxnSpPr>
        <p:spPr>
          <a:xfrm flipH="1" flipV="1">
            <a:off x="8316685" y="2901020"/>
            <a:ext cx="283029" cy="87632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4689A5-59EA-9F12-2970-F926DEA2E902}"/>
              </a:ext>
            </a:extLst>
          </p:cNvPr>
          <p:cNvCxnSpPr>
            <a:cxnSpLocks/>
          </p:cNvCxnSpPr>
          <p:nvPr/>
        </p:nvCxnSpPr>
        <p:spPr>
          <a:xfrm flipH="1">
            <a:off x="7920715" y="3777343"/>
            <a:ext cx="646351" cy="85752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2FFE11E-5CC9-4AAB-A7D1-8700A5626439}"/>
              </a:ext>
            </a:extLst>
          </p:cNvPr>
          <p:cNvCxnSpPr>
            <a:cxnSpLocks/>
          </p:cNvCxnSpPr>
          <p:nvPr/>
        </p:nvCxnSpPr>
        <p:spPr>
          <a:xfrm flipH="1">
            <a:off x="7097485" y="4631293"/>
            <a:ext cx="835470" cy="1146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855ADCC-F8F0-A8D4-4BD3-4984BF069EAA}"/>
              </a:ext>
            </a:extLst>
          </p:cNvPr>
          <p:cNvCxnSpPr>
            <a:cxnSpLocks/>
          </p:cNvCxnSpPr>
          <p:nvPr/>
        </p:nvCxnSpPr>
        <p:spPr>
          <a:xfrm flipH="1" flipV="1">
            <a:off x="6845742" y="3668856"/>
            <a:ext cx="283046" cy="93044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AC5E896-C994-1747-9F0C-6528F859BAEB}"/>
              </a:ext>
            </a:extLst>
          </p:cNvPr>
          <p:cNvCxnSpPr>
            <a:cxnSpLocks/>
          </p:cNvCxnSpPr>
          <p:nvPr/>
        </p:nvCxnSpPr>
        <p:spPr>
          <a:xfrm flipH="1">
            <a:off x="8335739" y="2442227"/>
            <a:ext cx="658576" cy="46676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07F0EF4-604D-10A4-4E6F-200E769F627B}"/>
              </a:ext>
            </a:extLst>
          </p:cNvPr>
          <p:cNvCxnSpPr>
            <a:cxnSpLocks/>
          </p:cNvCxnSpPr>
          <p:nvPr/>
        </p:nvCxnSpPr>
        <p:spPr>
          <a:xfrm flipH="1" flipV="1">
            <a:off x="8599714" y="3777343"/>
            <a:ext cx="557209" cy="27082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6FE5309-90F7-92E4-5F9B-181CA59204C0}"/>
              </a:ext>
            </a:extLst>
          </p:cNvPr>
          <p:cNvCxnSpPr>
            <a:cxnSpLocks/>
          </p:cNvCxnSpPr>
          <p:nvPr/>
        </p:nvCxnSpPr>
        <p:spPr>
          <a:xfrm flipV="1">
            <a:off x="10142758" y="3557569"/>
            <a:ext cx="766084" cy="44926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DE7E719-5C57-855C-52D2-FC84B6EC4AE7}"/>
              </a:ext>
            </a:extLst>
          </p:cNvPr>
          <p:cNvCxnSpPr>
            <a:cxnSpLocks/>
          </p:cNvCxnSpPr>
          <p:nvPr/>
        </p:nvCxnSpPr>
        <p:spPr>
          <a:xfrm flipH="1" flipV="1">
            <a:off x="9013369" y="2442227"/>
            <a:ext cx="778335" cy="34426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7114915-E531-0023-4B74-C1B2C473ED1B}"/>
              </a:ext>
            </a:extLst>
          </p:cNvPr>
          <p:cNvCxnSpPr>
            <a:cxnSpLocks/>
          </p:cNvCxnSpPr>
          <p:nvPr/>
        </p:nvCxnSpPr>
        <p:spPr>
          <a:xfrm flipH="1" flipV="1">
            <a:off x="9802585" y="2755681"/>
            <a:ext cx="263965" cy="125115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714DE8-91FA-B913-A118-88E3DD3A5F7A}"/>
              </a:ext>
            </a:extLst>
          </p:cNvPr>
          <p:cNvCxnSpPr>
            <a:cxnSpLocks/>
          </p:cNvCxnSpPr>
          <p:nvPr/>
        </p:nvCxnSpPr>
        <p:spPr>
          <a:xfrm flipH="1" flipV="1">
            <a:off x="7897579" y="4615544"/>
            <a:ext cx="244930" cy="112266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FE01902-72D8-0DF8-BBFE-30B02BF0D93B}"/>
              </a:ext>
            </a:extLst>
          </p:cNvPr>
          <p:cNvCxnSpPr>
            <a:cxnSpLocks/>
          </p:cNvCxnSpPr>
          <p:nvPr/>
        </p:nvCxnSpPr>
        <p:spPr>
          <a:xfrm>
            <a:off x="9145360" y="4066330"/>
            <a:ext cx="548367" cy="118098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52CBEA5-0EE4-7DC3-3F56-E73AB87C97CC}"/>
              </a:ext>
            </a:extLst>
          </p:cNvPr>
          <p:cNvCxnSpPr>
            <a:cxnSpLocks/>
          </p:cNvCxnSpPr>
          <p:nvPr/>
        </p:nvCxnSpPr>
        <p:spPr>
          <a:xfrm flipV="1">
            <a:off x="9285520" y="5176875"/>
            <a:ext cx="408207" cy="81026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CD37D65-0503-15B1-98FA-05D72A7C99CD}"/>
              </a:ext>
            </a:extLst>
          </p:cNvPr>
          <p:cNvCxnSpPr>
            <a:cxnSpLocks/>
          </p:cNvCxnSpPr>
          <p:nvPr/>
        </p:nvCxnSpPr>
        <p:spPr>
          <a:xfrm>
            <a:off x="8107129" y="5738206"/>
            <a:ext cx="1172942" cy="24893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B2189D9-37EB-18F3-E8A1-C4E57CF319EB}"/>
              </a:ext>
            </a:extLst>
          </p:cNvPr>
          <p:cNvCxnSpPr>
            <a:cxnSpLocks/>
          </p:cNvCxnSpPr>
          <p:nvPr/>
        </p:nvCxnSpPr>
        <p:spPr>
          <a:xfrm flipH="1" flipV="1">
            <a:off x="7394945" y="2358510"/>
            <a:ext cx="395964" cy="50854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1D11E9F-5ADB-0162-653B-173E3AC5F9BB}"/>
              </a:ext>
            </a:extLst>
          </p:cNvPr>
          <p:cNvCxnSpPr>
            <a:cxnSpLocks/>
          </p:cNvCxnSpPr>
          <p:nvPr/>
        </p:nvCxnSpPr>
        <p:spPr>
          <a:xfrm flipH="1" flipV="1">
            <a:off x="8961659" y="1575534"/>
            <a:ext cx="51710" cy="87513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35E5DE2-BFE9-2629-D6C1-C15DCA63B16A}"/>
              </a:ext>
            </a:extLst>
          </p:cNvPr>
          <p:cNvCxnSpPr>
            <a:cxnSpLocks/>
          </p:cNvCxnSpPr>
          <p:nvPr/>
        </p:nvCxnSpPr>
        <p:spPr>
          <a:xfrm flipV="1">
            <a:off x="7375061" y="1887236"/>
            <a:ext cx="0" cy="42454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33EBFE3-933D-5C52-D751-C3C1987BB357}"/>
              </a:ext>
            </a:extLst>
          </p:cNvPr>
          <p:cNvCxnSpPr>
            <a:cxnSpLocks/>
          </p:cNvCxnSpPr>
          <p:nvPr/>
        </p:nvCxnSpPr>
        <p:spPr>
          <a:xfrm flipH="1">
            <a:off x="7375061" y="1415023"/>
            <a:ext cx="631379" cy="47221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076E85A5-8500-4474-CEA2-F2EA8184E70D}"/>
              </a:ext>
            </a:extLst>
          </p:cNvPr>
          <p:cNvCxnSpPr>
            <a:cxnSpLocks/>
          </p:cNvCxnSpPr>
          <p:nvPr/>
        </p:nvCxnSpPr>
        <p:spPr>
          <a:xfrm flipH="1" flipV="1">
            <a:off x="8009155" y="1415023"/>
            <a:ext cx="944344" cy="19140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2C9B571-898B-8A2C-1E84-8140D09B333D}"/>
              </a:ext>
            </a:extLst>
          </p:cNvPr>
          <p:cNvCxnSpPr>
            <a:cxnSpLocks/>
          </p:cNvCxnSpPr>
          <p:nvPr/>
        </p:nvCxnSpPr>
        <p:spPr>
          <a:xfrm flipH="1">
            <a:off x="8929004" y="1393371"/>
            <a:ext cx="889915" cy="23174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6692851-ECB1-F0EC-26D8-331769133334}"/>
              </a:ext>
            </a:extLst>
          </p:cNvPr>
          <p:cNvCxnSpPr>
            <a:cxnSpLocks/>
          </p:cNvCxnSpPr>
          <p:nvPr/>
        </p:nvCxnSpPr>
        <p:spPr>
          <a:xfrm flipH="1">
            <a:off x="9857014" y="2412534"/>
            <a:ext cx="530667" cy="3431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577C1A4-BA34-9C9A-469A-DAD2FD80A772}"/>
              </a:ext>
            </a:extLst>
          </p:cNvPr>
          <p:cNvCxnSpPr>
            <a:cxnSpLocks/>
          </p:cNvCxnSpPr>
          <p:nvPr/>
        </p:nvCxnSpPr>
        <p:spPr>
          <a:xfrm flipV="1">
            <a:off x="10406735" y="1960206"/>
            <a:ext cx="108856" cy="4463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2565BB8F-BDEF-77A8-F20C-BAE3828CBF19}"/>
              </a:ext>
            </a:extLst>
          </p:cNvPr>
          <p:cNvCxnSpPr>
            <a:cxnSpLocks/>
          </p:cNvCxnSpPr>
          <p:nvPr/>
        </p:nvCxnSpPr>
        <p:spPr>
          <a:xfrm flipH="1" flipV="1">
            <a:off x="9799869" y="1404405"/>
            <a:ext cx="683067" cy="55276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E0DD3C2-CA8F-327B-B2DB-3C461D8912C3}"/>
              </a:ext>
            </a:extLst>
          </p:cNvPr>
          <p:cNvCxnSpPr>
            <a:cxnSpLocks/>
          </p:cNvCxnSpPr>
          <p:nvPr/>
        </p:nvCxnSpPr>
        <p:spPr>
          <a:xfrm flipH="1" flipV="1">
            <a:off x="10096502" y="4028019"/>
            <a:ext cx="642253" cy="60685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44F7488-AF01-B5B9-D47D-38A76F4598C5}"/>
              </a:ext>
            </a:extLst>
          </p:cNvPr>
          <p:cNvCxnSpPr>
            <a:cxnSpLocks/>
          </p:cNvCxnSpPr>
          <p:nvPr/>
        </p:nvCxnSpPr>
        <p:spPr>
          <a:xfrm flipH="1">
            <a:off x="9737269" y="5083628"/>
            <a:ext cx="1001487" cy="932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70FC1A7-5FF9-6DE3-7B9C-60FC5F7B83B8}"/>
              </a:ext>
            </a:extLst>
          </p:cNvPr>
          <p:cNvCxnSpPr>
            <a:cxnSpLocks/>
          </p:cNvCxnSpPr>
          <p:nvPr/>
        </p:nvCxnSpPr>
        <p:spPr>
          <a:xfrm>
            <a:off x="10714262" y="4599297"/>
            <a:ext cx="48987" cy="53095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3E61BDC-D981-6BDF-D84D-682F1C4FEF95}"/>
              </a:ext>
            </a:extLst>
          </p:cNvPr>
          <p:cNvCxnSpPr>
            <a:cxnSpLocks/>
          </p:cNvCxnSpPr>
          <p:nvPr/>
        </p:nvCxnSpPr>
        <p:spPr>
          <a:xfrm>
            <a:off x="10888429" y="3579261"/>
            <a:ext cx="713007" cy="31099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03BC2A0-E675-CFF9-288C-E41FEEA38713}"/>
              </a:ext>
            </a:extLst>
          </p:cNvPr>
          <p:cNvCxnSpPr>
            <a:cxnSpLocks/>
          </p:cNvCxnSpPr>
          <p:nvPr/>
        </p:nvCxnSpPr>
        <p:spPr>
          <a:xfrm flipH="1">
            <a:off x="10714262" y="4521379"/>
            <a:ext cx="700762" cy="12138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C3095277-0BCB-B193-2AF4-9326127DC79B}"/>
              </a:ext>
            </a:extLst>
          </p:cNvPr>
          <p:cNvCxnSpPr>
            <a:cxnSpLocks/>
          </p:cNvCxnSpPr>
          <p:nvPr/>
        </p:nvCxnSpPr>
        <p:spPr>
          <a:xfrm flipH="1">
            <a:off x="11408213" y="3890832"/>
            <a:ext cx="193223" cy="6305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Oval 245">
            <a:extLst>
              <a:ext uri="{FF2B5EF4-FFF2-40B4-BE49-F238E27FC236}">
                <a16:creationId xmlns:a16="http://schemas.microsoft.com/office/drawing/2014/main" id="{589D180E-B814-EAC2-8F96-A2B8720D2389}"/>
              </a:ext>
            </a:extLst>
          </p:cNvPr>
          <p:cNvSpPr/>
          <p:nvPr/>
        </p:nvSpPr>
        <p:spPr>
          <a:xfrm>
            <a:off x="8059842" y="1960074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8A889929-5C12-5365-2485-DAD17DB55C74}"/>
              </a:ext>
            </a:extLst>
          </p:cNvPr>
          <p:cNvSpPr/>
          <p:nvPr/>
        </p:nvSpPr>
        <p:spPr>
          <a:xfrm>
            <a:off x="9746113" y="3557569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3A5FF7D6-90F5-C10F-D2E3-29F772CFAE1F}"/>
                  </a:ext>
                </a:extLst>
              </p:cNvPr>
              <p:cNvSpPr txBox="1"/>
              <p:nvPr/>
            </p:nvSpPr>
            <p:spPr>
              <a:xfrm>
                <a:off x="9145360" y="3229167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3A5FF7D6-90F5-C10F-D2E3-29F772CFA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360" y="3229167"/>
                <a:ext cx="34834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C3D10703-CC52-E151-C04B-5393D039D8AF}"/>
                  </a:ext>
                </a:extLst>
              </p:cNvPr>
              <p:cNvSpPr txBox="1"/>
              <p:nvPr/>
            </p:nvSpPr>
            <p:spPr>
              <a:xfrm>
                <a:off x="8074460" y="206973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C3D10703-CC52-E151-C04B-5393D039D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4460" y="2069739"/>
                <a:ext cx="34834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55">
            <a:extLst>
              <a:ext uri="{FF2B5EF4-FFF2-40B4-BE49-F238E27FC236}">
                <a16:creationId xmlns:a16="http://schemas.microsoft.com/office/drawing/2014/main" id="{2FA0B614-019F-298B-4F5E-88D1F14150DF}"/>
              </a:ext>
            </a:extLst>
          </p:cNvPr>
          <p:cNvSpPr/>
          <p:nvPr/>
        </p:nvSpPr>
        <p:spPr>
          <a:xfrm>
            <a:off x="8558890" y="1817957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8658904C-3EDC-1448-F589-5D45B72BA8F9}"/>
                  </a:ext>
                </a:extLst>
              </p:cNvPr>
              <p:cNvSpPr txBox="1"/>
              <p:nvPr/>
            </p:nvSpPr>
            <p:spPr>
              <a:xfrm>
                <a:off x="9606631" y="201596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8658904C-3EDC-1448-F589-5D45B72BA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6631" y="2015969"/>
                <a:ext cx="34834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8" name="Oval 257">
            <a:extLst>
              <a:ext uri="{FF2B5EF4-FFF2-40B4-BE49-F238E27FC236}">
                <a16:creationId xmlns:a16="http://schemas.microsoft.com/office/drawing/2014/main" id="{CF5C24B3-8B28-F672-D24D-F2A52072CE76}"/>
              </a:ext>
            </a:extLst>
          </p:cNvPr>
          <p:cNvSpPr/>
          <p:nvPr/>
        </p:nvSpPr>
        <p:spPr>
          <a:xfrm>
            <a:off x="10980216" y="299704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F157012B-4D88-BD27-3D6D-A0AF78E64AFC}"/>
                  </a:ext>
                </a:extLst>
              </p:cNvPr>
              <p:cNvSpPr txBox="1"/>
              <p:nvPr/>
            </p:nvSpPr>
            <p:spPr>
              <a:xfrm>
                <a:off x="10440071" y="3059668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F157012B-4D88-BD27-3D6D-A0AF78E64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0071" y="3059668"/>
                <a:ext cx="3483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0" name="Oval 269">
            <a:extLst>
              <a:ext uri="{FF2B5EF4-FFF2-40B4-BE49-F238E27FC236}">
                <a16:creationId xmlns:a16="http://schemas.microsoft.com/office/drawing/2014/main" id="{1BA8BDB5-6504-94EC-4A2C-6F2B76CEA91D}"/>
              </a:ext>
            </a:extLst>
          </p:cNvPr>
          <p:cNvSpPr/>
          <p:nvPr/>
        </p:nvSpPr>
        <p:spPr>
          <a:xfrm>
            <a:off x="10381551" y="4841783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5A41537E-1628-FE4D-7D94-964A168AC72C}"/>
                  </a:ext>
                </a:extLst>
              </p:cNvPr>
              <p:cNvSpPr txBox="1"/>
              <p:nvPr/>
            </p:nvSpPr>
            <p:spPr>
              <a:xfrm>
                <a:off x="9824353" y="4565461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5A41537E-1628-FE4D-7D94-964A168AC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4353" y="4565461"/>
                <a:ext cx="34834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4" name="Oval 273">
            <a:extLst>
              <a:ext uri="{FF2B5EF4-FFF2-40B4-BE49-F238E27FC236}">
                <a16:creationId xmlns:a16="http://schemas.microsoft.com/office/drawing/2014/main" id="{9F0C91E1-50E1-9C60-EABA-E30586F0044C}"/>
              </a:ext>
            </a:extLst>
          </p:cNvPr>
          <p:cNvSpPr/>
          <p:nvPr/>
        </p:nvSpPr>
        <p:spPr>
          <a:xfrm>
            <a:off x="9134473" y="562716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DBF580C2-2C9C-17AD-9865-BBCADEBDC320}"/>
                  </a:ext>
                </a:extLst>
              </p:cNvPr>
              <p:cNvSpPr txBox="1"/>
              <p:nvPr/>
            </p:nvSpPr>
            <p:spPr>
              <a:xfrm>
                <a:off x="8633745" y="495272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DBF580C2-2C9C-17AD-9865-BBCADEBDC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745" y="4952729"/>
                <a:ext cx="34834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" name="Oval 275">
            <a:extLst>
              <a:ext uri="{FF2B5EF4-FFF2-40B4-BE49-F238E27FC236}">
                <a16:creationId xmlns:a16="http://schemas.microsoft.com/office/drawing/2014/main" id="{9B2787FE-E535-A11B-8735-2E053A5C0DF9}"/>
              </a:ext>
            </a:extLst>
          </p:cNvPr>
          <p:cNvSpPr/>
          <p:nvPr/>
        </p:nvSpPr>
        <p:spPr>
          <a:xfrm>
            <a:off x="7400921" y="4295143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1863584D-C9F5-AC0C-1852-92082920D563}"/>
                  </a:ext>
                </a:extLst>
              </p:cNvPr>
              <p:cNvSpPr txBox="1"/>
              <p:nvPr/>
            </p:nvSpPr>
            <p:spPr>
              <a:xfrm>
                <a:off x="7588709" y="378129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1863584D-C9F5-AC0C-1852-92082920D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709" y="3781299"/>
                <a:ext cx="34834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540E7BF-0C79-0FFA-D1DC-0A6DE04C86E7}"/>
              </a:ext>
            </a:extLst>
          </p:cNvPr>
          <p:cNvCxnSpPr>
            <a:cxnSpLocks/>
          </p:cNvCxnSpPr>
          <p:nvPr/>
        </p:nvCxnSpPr>
        <p:spPr>
          <a:xfrm flipV="1">
            <a:off x="9146720" y="4007413"/>
            <a:ext cx="1019171" cy="607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C580EC7-04CA-02B6-3052-C6CC73A544DD}"/>
              </a:ext>
            </a:extLst>
          </p:cNvPr>
          <p:cNvCxnSpPr>
            <a:cxnSpLocks/>
          </p:cNvCxnSpPr>
          <p:nvPr/>
        </p:nvCxnSpPr>
        <p:spPr>
          <a:xfrm flipV="1">
            <a:off x="10888429" y="3306380"/>
            <a:ext cx="329302" cy="30262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319A560-9CD2-E687-A292-DD73211C0528}"/>
              </a:ext>
            </a:extLst>
          </p:cNvPr>
          <p:cNvCxnSpPr>
            <a:cxnSpLocks/>
          </p:cNvCxnSpPr>
          <p:nvPr/>
        </p:nvCxnSpPr>
        <p:spPr>
          <a:xfrm flipH="1" flipV="1">
            <a:off x="10406735" y="2384212"/>
            <a:ext cx="810996" cy="37146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CE946DD-A6CE-EEEF-42A8-DA5DA346473D}"/>
              </a:ext>
            </a:extLst>
          </p:cNvPr>
          <p:cNvCxnSpPr>
            <a:cxnSpLocks/>
          </p:cNvCxnSpPr>
          <p:nvPr/>
        </p:nvCxnSpPr>
        <p:spPr>
          <a:xfrm flipV="1">
            <a:off x="11217731" y="2721627"/>
            <a:ext cx="0" cy="56588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E1C55C05-EF26-F048-9ED5-74F0029B4496}"/>
              </a:ext>
            </a:extLst>
          </p:cNvPr>
          <p:cNvSpPr/>
          <p:nvPr/>
        </p:nvSpPr>
        <p:spPr>
          <a:xfrm>
            <a:off x="11348340" y="4078029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2B4874E-0185-5B0E-3501-AEDD8CF46ECA}"/>
                  </a:ext>
                </a:extLst>
              </p:cNvPr>
              <p:cNvSpPr txBox="1"/>
              <p:nvPr/>
            </p:nvSpPr>
            <p:spPr>
              <a:xfrm>
                <a:off x="10810178" y="4082712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2B4874E-0185-5B0E-3501-AEDD8CF46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178" y="4082712"/>
                <a:ext cx="34834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Oval 107">
            <a:extLst>
              <a:ext uri="{FF2B5EF4-FFF2-40B4-BE49-F238E27FC236}">
                <a16:creationId xmlns:a16="http://schemas.microsoft.com/office/drawing/2014/main" id="{5F6AAA8C-1583-F8F6-E749-B6A7B6A278F4}"/>
              </a:ext>
            </a:extLst>
          </p:cNvPr>
          <p:cNvSpPr/>
          <p:nvPr/>
        </p:nvSpPr>
        <p:spPr>
          <a:xfrm>
            <a:off x="9588941" y="1924725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3A85918C-2394-A63D-3E9E-8FECEC326B4F}"/>
              </a:ext>
            </a:extLst>
          </p:cNvPr>
          <p:cNvSpPr/>
          <p:nvPr/>
        </p:nvSpPr>
        <p:spPr>
          <a:xfrm>
            <a:off x="10368971" y="2999122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A57E5B20-2874-BC5A-BF97-F4B2B7FE581E}"/>
              </a:ext>
            </a:extLst>
          </p:cNvPr>
          <p:cNvSpPr/>
          <p:nvPr/>
        </p:nvSpPr>
        <p:spPr>
          <a:xfrm>
            <a:off x="9103519" y="3132539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A8ED6189-7CB5-9152-D8F2-66963C26462D}"/>
              </a:ext>
            </a:extLst>
          </p:cNvPr>
          <p:cNvSpPr/>
          <p:nvPr/>
        </p:nvSpPr>
        <p:spPr>
          <a:xfrm>
            <a:off x="7575762" y="3641436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3BC1238E-D4C3-721D-B9CB-FB8E6BA439D7}"/>
              </a:ext>
            </a:extLst>
          </p:cNvPr>
          <p:cNvSpPr/>
          <p:nvPr/>
        </p:nvSpPr>
        <p:spPr>
          <a:xfrm>
            <a:off x="8655485" y="4825772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2A79D2DF-3312-6F06-BEA4-CB5366AE4372}"/>
              </a:ext>
            </a:extLst>
          </p:cNvPr>
          <p:cNvSpPr/>
          <p:nvPr/>
        </p:nvSpPr>
        <p:spPr>
          <a:xfrm>
            <a:off x="9799869" y="4445370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9F485908-D8BE-4C26-F8DD-2BDBB0CE74E9}"/>
              </a:ext>
            </a:extLst>
          </p:cNvPr>
          <p:cNvSpPr/>
          <p:nvPr/>
        </p:nvSpPr>
        <p:spPr>
          <a:xfrm>
            <a:off x="10886317" y="3972531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0A9A38-8BA4-6ED4-25FA-B6B00B02F2EE}"/>
              </a:ext>
            </a:extLst>
          </p:cNvPr>
          <p:cNvSpPr/>
          <p:nvPr/>
        </p:nvSpPr>
        <p:spPr>
          <a:xfrm>
            <a:off x="7569278" y="208923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7D01110-6128-8B23-A4CB-D88C411D6426}"/>
              </a:ext>
            </a:extLst>
          </p:cNvPr>
          <p:cNvSpPr/>
          <p:nvPr/>
        </p:nvSpPr>
        <p:spPr>
          <a:xfrm>
            <a:off x="7920715" y="2572336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E1E1B8-18AC-7301-C6D6-8F31158381F4}"/>
              </a:ext>
            </a:extLst>
          </p:cNvPr>
          <p:cNvSpPr/>
          <p:nvPr/>
        </p:nvSpPr>
        <p:spPr>
          <a:xfrm>
            <a:off x="8571471" y="239424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750862-B4EF-4353-F418-1C6ABE693A10}"/>
              </a:ext>
            </a:extLst>
          </p:cNvPr>
          <p:cNvSpPr/>
          <p:nvPr/>
        </p:nvSpPr>
        <p:spPr>
          <a:xfrm>
            <a:off x="9222227" y="2216148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D9D31A-5145-7573-E0A4-326F674BBEBB}"/>
              </a:ext>
            </a:extLst>
          </p:cNvPr>
          <p:cNvSpPr/>
          <p:nvPr/>
        </p:nvSpPr>
        <p:spPr>
          <a:xfrm>
            <a:off x="9872983" y="203805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85ED74-7663-5EC3-8FA3-817AD108269D}"/>
              </a:ext>
            </a:extLst>
          </p:cNvPr>
          <p:cNvSpPr/>
          <p:nvPr/>
        </p:nvSpPr>
        <p:spPr>
          <a:xfrm>
            <a:off x="8074460" y="153382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920198E-2F63-9DFC-7B35-BDFB84196C27}"/>
              </a:ext>
            </a:extLst>
          </p:cNvPr>
          <p:cNvSpPr/>
          <p:nvPr/>
        </p:nvSpPr>
        <p:spPr>
          <a:xfrm>
            <a:off x="9402536" y="171280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1D5FDF-37CE-5D50-4FD6-52FCAC82E0C8}"/>
              </a:ext>
            </a:extLst>
          </p:cNvPr>
          <p:cNvSpPr/>
          <p:nvPr/>
        </p:nvSpPr>
        <p:spPr>
          <a:xfrm>
            <a:off x="9805303" y="245144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B8D384F-08EB-14DA-8248-75541A8DE93D}"/>
              </a:ext>
            </a:extLst>
          </p:cNvPr>
          <p:cNvSpPr/>
          <p:nvPr/>
        </p:nvSpPr>
        <p:spPr>
          <a:xfrm>
            <a:off x="10208070" y="3190080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68C4AE2-5598-8323-A5B9-932127F2E3F2}"/>
              </a:ext>
            </a:extLst>
          </p:cNvPr>
          <p:cNvSpPr/>
          <p:nvPr/>
        </p:nvSpPr>
        <p:spPr>
          <a:xfrm>
            <a:off x="10452991" y="27517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7F60DE1-04CE-FFF6-D11D-BBCA69403C29}"/>
              </a:ext>
            </a:extLst>
          </p:cNvPr>
          <p:cNvSpPr/>
          <p:nvPr/>
        </p:nvSpPr>
        <p:spPr>
          <a:xfrm>
            <a:off x="10605391" y="29041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AE3A418-5946-D25F-ED70-1C8B718F5B75}"/>
              </a:ext>
            </a:extLst>
          </p:cNvPr>
          <p:cNvSpPr/>
          <p:nvPr/>
        </p:nvSpPr>
        <p:spPr>
          <a:xfrm>
            <a:off x="10236911" y="364811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DCB089D-DED7-28E7-109E-348A883D2209}"/>
              </a:ext>
            </a:extLst>
          </p:cNvPr>
          <p:cNvSpPr/>
          <p:nvPr/>
        </p:nvSpPr>
        <p:spPr>
          <a:xfrm>
            <a:off x="9313274" y="384327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5A8F521-202F-98D4-6C2B-11293F364254}"/>
              </a:ext>
            </a:extLst>
          </p:cNvPr>
          <p:cNvSpPr/>
          <p:nvPr/>
        </p:nvSpPr>
        <p:spPr>
          <a:xfrm>
            <a:off x="8849362" y="337219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4552394-74EA-86E3-3C8F-92D67524BD28}"/>
              </a:ext>
            </a:extLst>
          </p:cNvPr>
          <p:cNvSpPr/>
          <p:nvPr/>
        </p:nvSpPr>
        <p:spPr>
          <a:xfrm>
            <a:off x="8675632" y="295697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3211382-C519-8FF9-0B91-9C4E335C6250}"/>
              </a:ext>
            </a:extLst>
          </p:cNvPr>
          <p:cNvSpPr/>
          <p:nvPr/>
        </p:nvSpPr>
        <p:spPr>
          <a:xfrm>
            <a:off x="8776819" y="213989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74E2460-B41E-778B-84DB-0508C7EC1DFB}"/>
              </a:ext>
            </a:extLst>
          </p:cNvPr>
          <p:cNvSpPr/>
          <p:nvPr/>
        </p:nvSpPr>
        <p:spPr>
          <a:xfrm>
            <a:off x="9328242" y="303781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794BDD2-95B3-F9DA-11F8-56360C9EC8C5}"/>
              </a:ext>
            </a:extLst>
          </p:cNvPr>
          <p:cNvSpPr/>
          <p:nvPr/>
        </p:nvSpPr>
        <p:spPr>
          <a:xfrm>
            <a:off x="9635229" y="320675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958DC2C-5A25-FF58-0761-BD84183170D5}"/>
              </a:ext>
            </a:extLst>
          </p:cNvPr>
          <p:cNvSpPr/>
          <p:nvPr/>
        </p:nvSpPr>
        <p:spPr>
          <a:xfrm>
            <a:off x="9026987" y="37631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819572F-717E-B895-F3AE-50343FE9C5D6}"/>
              </a:ext>
            </a:extLst>
          </p:cNvPr>
          <p:cNvSpPr/>
          <p:nvPr/>
        </p:nvSpPr>
        <p:spPr>
          <a:xfrm>
            <a:off x="8189853" y="313253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452A662-F675-0759-5FD6-1D16AF426453}"/>
              </a:ext>
            </a:extLst>
          </p:cNvPr>
          <p:cNvSpPr/>
          <p:nvPr/>
        </p:nvSpPr>
        <p:spPr>
          <a:xfrm>
            <a:off x="9840680" y="168810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54D26AF-D530-40D2-62DA-F4D6A7D26438}"/>
              </a:ext>
            </a:extLst>
          </p:cNvPr>
          <p:cNvSpPr/>
          <p:nvPr/>
        </p:nvSpPr>
        <p:spPr>
          <a:xfrm>
            <a:off x="8169713" y="353301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270AEBE-004F-6F2F-C7DC-FB523B79B9E1}"/>
              </a:ext>
            </a:extLst>
          </p:cNvPr>
          <p:cNvSpPr/>
          <p:nvPr/>
        </p:nvSpPr>
        <p:spPr>
          <a:xfrm>
            <a:off x="7599214" y="325586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EF7006E-E05C-4BEB-C0C9-F148063B1D07}"/>
              </a:ext>
            </a:extLst>
          </p:cNvPr>
          <p:cNvSpPr/>
          <p:nvPr/>
        </p:nvSpPr>
        <p:spPr>
          <a:xfrm>
            <a:off x="7071957" y="375141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4AE7750-02DD-9B10-AACF-34191F44AEBD}"/>
              </a:ext>
            </a:extLst>
          </p:cNvPr>
          <p:cNvSpPr/>
          <p:nvPr/>
        </p:nvSpPr>
        <p:spPr>
          <a:xfrm>
            <a:off x="7224357" y="390381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D5E83BB-1DBE-7EAF-79C8-CAD95C6B5353}"/>
              </a:ext>
            </a:extLst>
          </p:cNvPr>
          <p:cNvSpPr/>
          <p:nvPr/>
        </p:nvSpPr>
        <p:spPr>
          <a:xfrm>
            <a:off x="8066628" y="40236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1506762-4F46-E504-3876-F261F0C59FFF}"/>
              </a:ext>
            </a:extLst>
          </p:cNvPr>
          <p:cNvSpPr/>
          <p:nvPr/>
        </p:nvSpPr>
        <p:spPr>
          <a:xfrm>
            <a:off x="8696866" y="404817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6A37FF1-095C-7E3B-E106-9D32FF250AB1}"/>
              </a:ext>
            </a:extLst>
          </p:cNvPr>
          <p:cNvSpPr/>
          <p:nvPr/>
        </p:nvSpPr>
        <p:spPr>
          <a:xfrm>
            <a:off x="9743533" y="492325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BAA1492-AFCD-D905-3BE8-193F78F0E2A2}"/>
              </a:ext>
            </a:extLst>
          </p:cNvPr>
          <p:cNvSpPr/>
          <p:nvPr/>
        </p:nvSpPr>
        <p:spPr>
          <a:xfrm>
            <a:off x="8939907" y="437991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3A361E3-49D3-6D96-5F6F-02A40E535393}"/>
              </a:ext>
            </a:extLst>
          </p:cNvPr>
          <p:cNvSpPr/>
          <p:nvPr/>
        </p:nvSpPr>
        <p:spPr>
          <a:xfrm>
            <a:off x="8552710" y="468709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5C976FE-C853-A358-F231-2B85E08BB650}"/>
              </a:ext>
            </a:extLst>
          </p:cNvPr>
          <p:cNvSpPr/>
          <p:nvPr/>
        </p:nvSpPr>
        <p:spPr>
          <a:xfrm>
            <a:off x="8184962" y="46841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F2579E7-34CB-E4F4-CF97-948CB7AD7EAF}"/>
              </a:ext>
            </a:extLst>
          </p:cNvPr>
          <p:cNvSpPr/>
          <p:nvPr/>
        </p:nvSpPr>
        <p:spPr>
          <a:xfrm>
            <a:off x="8305775" y="50882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73C8C70-A047-7B4A-D4C4-062BA0970D53}"/>
              </a:ext>
            </a:extLst>
          </p:cNvPr>
          <p:cNvSpPr/>
          <p:nvPr/>
        </p:nvSpPr>
        <p:spPr>
          <a:xfrm>
            <a:off x="8426588" y="549246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95D04AC-658D-8855-494B-77583C0758F9}"/>
              </a:ext>
            </a:extLst>
          </p:cNvPr>
          <p:cNvSpPr/>
          <p:nvPr/>
        </p:nvSpPr>
        <p:spPr>
          <a:xfrm>
            <a:off x="8513171" y="557805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C9B1912-6FF1-F056-773E-2A48BAEE9694}"/>
              </a:ext>
            </a:extLst>
          </p:cNvPr>
          <p:cNvSpPr/>
          <p:nvPr/>
        </p:nvSpPr>
        <p:spPr>
          <a:xfrm>
            <a:off x="9229303" y="514691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E849255-493A-4127-6726-0AF18ECBA0B9}"/>
              </a:ext>
            </a:extLst>
          </p:cNvPr>
          <p:cNvSpPr/>
          <p:nvPr/>
        </p:nvSpPr>
        <p:spPr>
          <a:xfrm>
            <a:off x="9096642" y="474630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29900F4-44E3-F9E4-0B5F-4F74DA7B046E}"/>
              </a:ext>
            </a:extLst>
          </p:cNvPr>
          <p:cNvSpPr/>
          <p:nvPr/>
        </p:nvSpPr>
        <p:spPr>
          <a:xfrm>
            <a:off x="9483785" y="430094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850FD5E-A586-3918-3FA9-0EFFA21D6134}"/>
              </a:ext>
            </a:extLst>
          </p:cNvPr>
          <p:cNvSpPr/>
          <p:nvPr/>
        </p:nvSpPr>
        <p:spPr>
          <a:xfrm>
            <a:off x="9870928" y="38555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62E581B-8100-E1EF-FDDC-482AFECD8478}"/>
              </a:ext>
            </a:extLst>
          </p:cNvPr>
          <p:cNvSpPr/>
          <p:nvPr/>
        </p:nvSpPr>
        <p:spPr>
          <a:xfrm>
            <a:off x="10222224" y="460674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80C22E3-E434-081C-DDE2-2CCC1F188207}"/>
              </a:ext>
            </a:extLst>
          </p:cNvPr>
          <p:cNvSpPr/>
          <p:nvPr/>
        </p:nvSpPr>
        <p:spPr>
          <a:xfrm>
            <a:off x="10700915" y="429023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48F545E-F709-3CB8-96CB-CD8C96717C70}"/>
              </a:ext>
            </a:extLst>
          </p:cNvPr>
          <p:cNvSpPr/>
          <p:nvPr/>
        </p:nvSpPr>
        <p:spPr>
          <a:xfrm>
            <a:off x="11179606" y="397371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C84447C-5AD1-E4B5-D98E-E835EA83E79C}"/>
              </a:ext>
            </a:extLst>
          </p:cNvPr>
          <p:cNvSpPr/>
          <p:nvPr/>
        </p:nvSpPr>
        <p:spPr>
          <a:xfrm>
            <a:off x="9952808" y="285517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F8F7F46-D209-1CB9-ED9C-AE53F6D4AFD7}"/>
              </a:ext>
            </a:extLst>
          </p:cNvPr>
          <p:cNvSpPr/>
          <p:nvPr/>
        </p:nvSpPr>
        <p:spPr>
          <a:xfrm>
            <a:off x="9856993" y="426815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B1DCC71-2F80-B836-A243-74BCEFAAB854}"/>
              </a:ext>
            </a:extLst>
          </p:cNvPr>
          <p:cNvSpPr/>
          <p:nvPr/>
        </p:nvSpPr>
        <p:spPr>
          <a:xfrm>
            <a:off x="10009393" y="442055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7BF48C8-9363-3F35-4DF2-165E61F5ABD9}"/>
              </a:ext>
            </a:extLst>
          </p:cNvPr>
          <p:cNvSpPr/>
          <p:nvPr/>
        </p:nvSpPr>
        <p:spPr>
          <a:xfrm>
            <a:off x="10087556" y="435854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6C5E49DC-7A42-64F2-211F-BA0AC0CF21AC}"/>
              </a:ext>
            </a:extLst>
          </p:cNvPr>
          <p:cNvSpPr/>
          <p:nvPr/>
        </p:nvSpPr>
        <p:spPr>
          <a:xfrm>
            <a:off x="10541443" y="400927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D8E8CC3-3A68-6859-4008-BB3E5DF4D366}"/>
              </a:ext>
            </a:extLst>
          </p:cNvPr>
          <p:cNvSpPr/>
          <p:nvPr/>
        </p:nvSpPr>
        <p:spPr>
          <a:xfrm>
            <a:off x="10843317" y="379658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2DFC506A-9995-B045-C179-BDFF5790F10D}"/>
              </a:ext>
            </a:extLst>
          </p:cNvPr>
          <p:cNvSpPr/>
          <p:nvPr/>
        </p:nvSpPr>
        <p:spPr>
          <a:xfrm>
            <a:off x="11199213" y="433144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B630DF3-6D5D-D8A7-1BDF-AF55B28A2000}"/>
              </a:ext>
            </a:extLst>
          </p:cNvPr>
          <p:cNvSpPr/>
          <p:nvPr/>
        </p:nvSpPr>
        <p:spPr>
          <a:xfrm>
            <a:off x="8644198" y="322638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7A52EB0-F717-2FCF-79A7-BE000727CE95}"/>
              </a:ext>
            </a:extLst>
          </p:cNvPr>
          <p:cNvSpPr/>
          <p:nvPr/>
        </p:nvSpPr>
        <p:spPr>
          <a:xfrm>
            <a:off x="7819883" y="231680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9E2E708-E017-D990-8921-2B82F3040441}"/>
              </a:ext>
            </a:extLst>
          </p:cNvPr>
          <p:cNvSpPr/>
          <p:nvPr/>
        </p:nvSpPr>
        <p:spPr>
          <a:xfrm>
            <a:off x="10180194" y="2081333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8291A95-E43F-0F62-3FE0-515329AD1FF1}"/>
              </a:ext>
            </a:extLst>
          </p:cNvPr>
          <p:cNvSpPr/>
          <p:nvPr/>
        </p:nvSpPr>
        <p:spPr>
          <a:xfrm>
            <a:off x="9543222" y="293996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BDA08257-064F-0B29-DFFE-E63FBC7E2A6F}"/>
              </a:ext>
            </a:extLst>
          </p:cNvPr>
          <p:cNvSpPr/>
          <p:nvPr/>
        </p:nvSpPr>
        <p:spPr>
          <a:xfrm>
            <a:off x="7876484" y="331275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C491908D-65F0-488C-B461-DA4702EE3E2E}"/>
              </a:ext>
            </a:extLst>
          </p:cNvPr>
          <p:cNvSpPr/>
          <p:nvPr/>
        </p:nvSpPr>
        <p:spPr>
          <a:xfrm>
            <a:off x="8600943" y="433121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2DA7851-4874-1AC3-B238-497BC820CA71}"/>
              </a:ext>
            </a:extLst>
          </p:cNvPr>
          <p:cNvSpPr/>
          <p:nvPr/>
        </p:nvSpPr>
        <p:spPr>
          <a:xfrm>
            <a:off x="8929004" y="5448183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9143552-FE2E-E479-45FF-99705CAF4FFD}"/>
              </a:ext>
            </a:extLst>
          </p:cNvPr>
          <p:cNvSpPr/>
          <p:nvPr/>
        </p:nvSpPr>
        <p:spPr>
          <a:xfrm>
            <a:off x="10465689" y="34816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65F77B03-36A5-1DF4-EBB5-C119ECDA0534}"/>
              </a:ext>
            </a:extLst>
          </p:cNvPr>
          <p:cNvSpPr/>
          <p:nvPr/>
        </p:nvSpPr>
        <p:spPr>
          <a:xfrm>
            <a:off x="9212037" y="196686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A7C386E0-9F27-8650-373A-0694395F675D}"/>
              </a:ext>
            </a:extLst>
          </p:cNvPr>
          <p:cNvSpPr/>
          <p:nvPr/>
        </p:nvSpPr>
        <p:spPr>
          <a:xfrm>
            <a:off x="7851860" y="18319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50C1347-E467-8BA8-0DD8-3B97AE16D2A3}"/>
              </a:ext>
            </a:extLst>
          </p:cNvPr>
          <p:cNvSpPr/>
          <p:nvPr/>
        </p:nvSpPr>
        <p:spPr>
          <a:xfrm>
            <a:off x="7925276" y="365085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AFC8DE2-8ECB-6231-32C6-CD4781A7573E}"/>
              </a:ext>
            </a:extLst>
          </p:cNvPr>
          <p:cNvSpPr/>
          <p:nvPr/>
        </p:nvSpPr>
        <p:spPr>
          <a:xfrm>
            <a:off x="8819811" y="366337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E7DDDA8-6996-740F-0F1F-C572DAB9710D}"/>
              </a:ext>
            </a:extLst>
          </p:cNvPr>
          <p:cNvSpPr/>
          <p:nvPr/>
        </p:nvSpPr>
        <p:spPr>
          <a:xfrm>
            <a:off x="9613457" y="459365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541225DA-8887-A288-5B1E-FDEDF481CD37}"/>
              </a:ext>
            </a:extLst>
          </p:cNvPr>
          <p:cNvSpPr/>
          <p:nvPr/>
        </p:nvSpPr>
        <p:spPr>
          <a:xfrm>
            <a:off x="8504931" y="216050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68731662-75A4-4252-7F44-092C6C26ACDB}"/>
              </a:ext>
            </a:extLst>
          </p:cNvPr>
          <p:cNvSpPr/>
          <p:nvPr/>
        </p:nvSpPr>
        <p:spPr>
          <a:xfrm>
            <a:off x="8260877" y="256907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FCD9DCD-FF53-DBC4-51CD-EC3C6389AA43}"/>
              </a:ext>
            </a:extLst>
          </p:cNvPr>
          <p:cNvSpPr/>
          <p:nvPr/>
        </p:nvSpPr>
        <p:spPr>
          <a:xfrm>
            <a:off x="8259529" y="186769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A3238F0-FD72-C197-08D0-BD1C021D1A77}"/>
              </a:ext>
            </a:extLst>
          </p:cNvPr>
          <p:cNvSpPr/>
          <p:nvPr/>
        </p:nvSpPr>
        <p:spPr>
          <a:xfrm>
            <a:off x="7471687" y="3593870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B5AD3F8-A92B-F22F-6F8D-BDA73AFFCDE3}"/>
              </a:ext>
            </a:extLst>
          </p:cNvPr>
          <p:cNvSpPr/>
          <p:nvPr/>
        </p:nvSpPr>
        <p:spPr>
          <a:xfrm>
            <a:off x="9073582" y="3077017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049A3915-0D03-8999-3A4F-89503090DBB6}"/>
              </a:ext>
            </a:extLst>
          </p:cNvPr>
          <p:cNvSpPr/>
          <p:nvPr/>
        </p:nvSpPr>
        <p:spPr>
          <a:xfrm>
            <a:off x="9467025" y="364093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1C201A2-4E55-5ABF-4A34-0C578DD08AD8}"/>
              </a:ext>
            </a:extLst>
          </p:cNvPr>
          <p:cNvSpPr/>
          <p:nvPr/>
        </p:nvSpPr>
        <p:spPr>
          <a:xfrm>
            <a:off x="10801375" y="415520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02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312E9-322E-0636-ACD9-892023D2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1BC8C-5A5D-94BE-622C-7AB6A191C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6B6B9-F92A-0833-C0A8-64822175E062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6296323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Coarse quantization divides a search space into smaller regions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n-lt"/>
                  </a:rPr>
                  <a:t>If the query vector is close to the cell boundary, the NNs can be in other cells</a:t>
                </a:r>
              </a:p>
              <a:p>
                <a:r>
                  <a:rPr lang="en-US" dirty="0">
                    <a:latin typeface="+mn-lt"/>
                  </a:rPr>
                  <a:t>Solution is to probe surrounding cells to expand range of search  </a:t>
                </a:r>
              </a:p>
              <a:p>
                <a:pPr lvl="1"/>
                <a:r>
                  <a:rPr lang="en-US" dirty="0">
                    <a:latin typeface="+mn-lt"/>
                  </a:rPr>
                  <a:t>The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nprobe</a:t>
                </a:r>
                <a:r>
                  <a:rPr lang="en-US" dirty="0">
                    <a:latin typeface="+mn-lt"/>
                  </a:rPr>
                  <a:t> attribute in FAISS sets the number of cells to prob</a:t>
                </a:r>
              </a:p>
              <a:p>
                <a:pPr lvl="1"/>
                <a:r>
                  <a:rPr lang="en-US" dirty="0">
                    <a:latin typeface="+mn-lt"/>
                  </a:rPr>
                  <a:t>The larger </a:t>
                </a:r>
                <a:r>
                  <a:rPr lang="en-US" dirty="0" err="1">
                    <a:latin typeface="+mn-lt"/>
                  </a:rPr>
                  <a:t>nprobe</a:t>
                </a:r>
                <a:r>
                  <a:rPr lang="en-US" dirty="0">
                    <a:latin typeface="+mn-lt"/>
                  </a:rPr>
                  <a:t> the slower the query</a:t>
                </a:r>
              </a:p>
              <a:p>
                <a:pPr lvl="1"/>
                <a:r>
                  <a:rPr lang="en-US" dirty="0">
                    <a:latin typeface="+mn-lt"/>
                  </a:rPr>
                  <a:t>Complexity,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𝑝𝑟𝑜𝑏𝑒𝑠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6B6B9-F92A-0833-C0A8-64822175E0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6296323" cy="5698998"/>
              </a:xfrm>
              <a:blipFill>
                <a:blip r:embed="rId3"/>
                <a:stretch>
                  <a:fillRect l="-2033" t="-1818" r="-1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4A95E3-CA47-A402-C5BA-E44317C65C39}"/>
              </a:ext>
            </a:extLst>
          </p:cNvPr>
          <p:cNvCxnSpPr>
            <a:cxnSpLocks/>
          </p:cNvCxnSpPr>
          <p:nvPr/>
        </p:nvCxnSpPr>
        <p:spPr>
          <a:xfrm flipV="1">
            <a:off x="6845742" y="2881291"/>
            <a:ext cx="930733" cy="75556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3EC86D-DAE2-9074-42F1-2CD4F954DACD}"/>
              </a:ext>
            </a:extLst>
          </p:cNvPr>
          <p:cNvCxnSpPr>
            <a:cxnSpLocks/>
          </p:cNvCxnSpPr>
          <p:nvPr/>
        </p:nvCxnSpPr>
        <p:spPr>
          <a:xfrm flipH="1" flipV="1">
            <a:off x="7776475" y="2850805"/>
            <a:ext cx="601450" cy="502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67A649A-1279-A0F9-6FF0-C6134D49320E}"/>
              </a:ext>
            </a:extLst>
          </p:cNvPr>
          <p:cNvCxnSpPr>
            <a:cxnSpLocks/>
          </p:cNvCxnSpPr>
          <p:nvPr/>
        </p:nvCxnSpPr>
        <p:spPr>
          <a:xfrm flipH="1" flipV="1">
            <a:off x="8316685" y="2901020"/>
            <a:ext cx="283029" cy="87632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8B1B36D-F28B-C09F-5445-8B1B1DDF467D}"/>
              </a:ext>
            </a:extLst>
          </p:cNvPr>
          <p:cNvCxnSpPr>
            <a:cxnSpLocks/>
          </p:cNvCxnSpPr>
          <p:nvPr/>
        </p:nvCxnSpPr>
        <p:spPr>
          <a:xfrm flipH="1">
            <a:off x="7920715" y="3777343"/>
            <a:ext cx="646351" cy="85752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4E3EA4-8118-12D9-A580-9D3D3BA5199F}"/>
              </a:ext>
            </a:extLst>
          </p:cNvPr>
          <p:cNvCxnSpPr>
            <a:cxnSpLocks/>
          </p:cNvCxnSpPr>
          <p:nvPr/>
        </p:nvCxnSpPr>
        <p:spPr>
          <a:xfrm flipH="1">
            <a:off x="7097485" y="4631293"/>
            <a:ext cx="835470" cy="1146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C88B78F-652C-3B82-FF00-80A24D1B4883}"/>
              </a:ext>
            </a:extLst>
          </p:cNvPr>
          <p:cNvCxnSpPr>
            <a:cxnSpLocks/>
          </p:cNvCxnSpPr>
          <p:nvPr/>
        </p:nvCxnSpPr>
        <p:spPr>
          <a:xfrm flipH="1" flipV="1">
            <a:off x="6845742" y="3668856"/>
            <a:ext cx="283046" cy="93044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F622D6-08AC-68F2-9B9F-36C92B8574F1}"/>
              </a:ext>
            </a:extLst>
          </p:cNvPr>
          <p:cNvCxnSpPr>
            <a:cxnSpLocks/>
          </p:cNvCxnSpPr>
          <p:nvPr/>
        </p:nvCxnSpPr>
        <p:spPr>
          <a:xfrm flipH="1">
            <a:off x="8335739" y="2442227"/>
            <a:ext cx="658576" cy="46676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2B98996-4A74-5788-F44D-C66231E8AF62}"/>
              </a:ext>
            </a:extLst>
          </p:cNvPr>
          <p:cNvCxnSpPr>
            <a:cxnSpLocks/>
          </p:cNvCxnSpPr>
          <p:nvPr/>
        </p:nvCxnSpPr>
        <p:spPr>
          <a:xfrm flipH="1" flipV="1">
            <a:off x="8599714" y="3777343"/>
            <a:ext cx="557209" cy="27082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303E734-59DB-6EFF-F42A-5208DF749D8B}"/>
              </a:ext>
            </a:extLst>
          </p:cNvPr>
          <p:cNvCxnSpPr>
            <a:cxnSpLocks/>
          </p:cNvCxnSpPr>
          <p:nvPr/>
        </p:nvCxnSpPr>
        <p:spPr>
          <a:xfrm flipV="1">
            <a:off x="10142758" y="3557569"/>
            <a:ext cx="766084" cy="44926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61E4CC-B0E5-4292-AF24-640FE10D5221}"/>
              </a:ext>
            </a:extLst>
          </p:cNvPr>
          <p:cNvCxnSpPr>
            <a:cxnSpLocks/>
          </p:cNvCxnSpPr>
          <p:nvPr/>
        </p:nvCxnSpPr>
        <p:spPr>
          <a:xfrm flipH="1" flipV="1">
            <a:off x="9013369" y="2442227"/>
            <a:ext cx="778335" cy="34426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C67249F-175C-432A-4095-ECE7ACDFCFFD}"/>
              </a:ext>
            </a:extLst>
          </p:cNvPr>
          <p:cNvCxnSpPr>
            <a:cxnSpLocks/>
          </p:cNvCxnSpPr>
          <p:nvPr/>
        </p:nvCxnSpPr>
        <p:spPr>
          <a:xfrm flipH="1" flipV="1">
            <a:off x="9802585" y="2755681"/>
            <a:ext cx="263965" cy="125115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0CB650D-62EE-AA91-C1FB-8347A682610C}"/>
              </a:ext>
            </a:extLst>
          </p:cNvPr>
          <p:cNvCxnSpPr>
            <a:cxnSpLocks/>
          </p:cNvCxnSpPr>
          <p:nvPr/>
        </p:nvCxnSpPr>
        <p:spPr>
          <a:xfrm flipH="1" flipV="1">
            <a:off x="7897579" y="4615544"/>
            <a:ext cx="244930" cy="112266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18F4ECF-B494-EB99-B577-B86AC798C2B6}"/>
              </a:ext>
            </a:extLst>
          </p:cNvPr>
          <p:cNvCxnSpPr>
            <a:cxnSpLocks/>
          </p:cNvCxnSpPr>
          <p:nvPr/>
        </p:nvCxnSpPr>
        <p:spPr>
          <a:xfrm>
            <a:off x="9145360" y="4066330"/>
            <a:ext cx="548367" cy="118098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3991F61-51CD-8B25-4121-5999CD03594D}"/>
              </a:ext>
            </a:extLst>
          </p:cNvPr>
          <p:cNvCxnSpPr>
            <a:cxnSpLocks/>
          </p:cNvCxnSpPr>
          <p:nvPr/>
        </p:nvCxnSpPr>
        <p:spPr>
          <a:xfrm flipV="1">
            <a:off x="9285520" y="5176875"/>
            <a:ext cx="408207" cy="81026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E45FB23-7390-2311-6A33-ECFB43F8C122}"/>
              </a:ext>
            </a:extLst>
          </p:cNvPr>
          <p:cNvCxnSpPr>
            <a:cxnSpLocks/>
          </p:cNvCxnSpPr>
          <p:nvPr/>
        </p:nvCxnSpPr>
        <p:spPr>
          <a:xfrm>
            <a:off x="8107129" y="5738206"/>
            <a:ext cx="1172942" cy="24893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AEC4EC7-768C-ADE4-09D1-FCB65E22066D}"/>
              </a:ext>
            </a:extLst>
          </p:cNvPr>
          <p:cNvCxnSpPr>
            <a:cxnSpLocks/>
          </p:cNvCxnSpPr>
          <p:nvPr/>
        </p:nvCxnSpPr>
        <p:spPr>
          <a:xfrm flipH="1" flipV="1">
            <a:off x="7394945" y="2358510"/>
            <a:ext cx="395964" cy="50854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B681842-BA13-AD87-7BD2-791B71CE29D9}"/>
              </a:ext>
            </a:extLst>
          </p:cNvPr>
          <p:cNvCxnSpPr>
            <a:cxnSpLocks/>
          </p:cNvCxnSpPr>
          <p:nvPr/>
        </p:nvCxnSpPr>
        <p:spPr>
          <a:xfrm flipH="1" flipV="1">
            <a:off x="8961659" y="1575534"/>
            <a:ext cx="51710" cy="87513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6F9BF6C-89FF-5C50-9A9D-414E0BFAE12C}"/>
              </a:ext>
            </a:extLst>
          </p:cNvPr>
          <p:cNvCxnSpPr>
            <a:cxnSpLocks/>
          </p:cNvCxnSpPr>
          <p:nvPr/>
        </p:nvCxnSpPr>
        <p:spPr>
          <a:xfrm flipV="1">
            <a:off x="7375061" y="1887236"/>
            <a:ext cx="0" cy="42454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037D89AD-EA65-7800-EEFD-5EB3E71B7CFF}"/>
              </a:ext>
            </a:extLst>
          </p:cNvPr>
          <p:cNvCxnSpPr>
            <a:cxnSpLocks/>
          </p:cNvCxnSpPr>
          <p:nvPr/>
        </p:nvCxnSpPr>
        <p:spPr>
          <a:xfrm flipH="1">
            <a:off x="7375061" y="1415023"/>
            <a:ext cx="631379" cy="47221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4B13BF1-A9F5-7629-6D39-191A12BF6919}"/>
              </a:ext>
            </a:extLst>
          </p:cNvPr>
          <p:cNvCxnSpPr>
            <a:cxnSpLocks/>
          </p:cNvCxnSpPr>
          <p:nvPr/>
        </p:nvCxnSpPr>
        <p:spPr>
          <a:xfrm flipH="1" flipV="1">
            <a:off x="8009155" y="1415023"/>
            <a:ext cx="944344" cy="19140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EBD817E-8F14-B2ED-63E6-F1427A0561A9}"/>
              </a:ext>
            </a:extLst>
          </p:cNvPr>
          <p:cNvCxnSpPr>
            <a:cxnSpLocks/>
          </p:cNvCxnSpPr>
          <p:nvPr/>
        </p:nvCxnSpPr>
        <p:spPr>
          <a:xfrm flipH="1">
            <a:off x="8929004" y="1393371"/>
            <a:ext cx="889915" cy="23174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5670CCF-9421-34BB-D565-8978199354D1}"/>
              </a:ext>
            </a:extLst>
          </p:cNvPr>
          <p:cNvCxnSpPr>
            <a:cxnSpLocks/>
          </p:cNvCxnSpPr>
          <p:nvPr/>
        </p:nvCxnSpPr>
        <p:spPr>
          <a:xfrm flipH="1">
            <a:off x="9857014" y="2412534"/>
            <a:ext cx="530667" cy="3431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41B4EFAF-94C2-AF38-D662-C95378E80C43}"/>
              </a:ext>
            </a:extLst>
          </p:cNvPr>
          <p:cNvCxnSpPr>
            <a:cxnSpLocks/>
          </p:cNvCxnSpPr>
          <p:nvPr/>
        </p:nvCxnSpPr>
        <p:spPr>
          <a:xfrm flipV="1">
            <a:off x="10406735" y="1960206"/>
            <a:ext cx="108856" cy="4463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931AB9C-C34B-3728-EB1E-D3040DCF05C2}"/>
              </a:ext>
            </a:extLst>
          </p:cNvPr>
          <p:cNvCxnSpPr>
            <a:cxnSpLocks/>
          </p:cNvCxnSpPr>
          <p:nvPr/>
        </p:nvCxnSpPr>
        <p:spPr>
          <a:xfrm flipH="1" flipV="1">
            <a:off x="9799869" y="1404405"/>
            <a:ext cx="683067" cy="55276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BBF4292-8058-5E89-C10E-52BBF4FD96D5}"/>
              </a:ext>
            </a:extLst>
          </p:cNvPr>
          <p:cNvCxnSpPr>
            <a:cxnSpLocks/>
          </p:cNvCxnSpPr>
          <p:nvPr/>
        </p:nvCxnSpPr>
        <p:spPr>
          <a:xfrm flipH="1" flipV="1">
            <a:off x="10096502" y="4028019"/>
            <a:ext cx="642253" cy="60685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3EA57D5A-542D-58D0-8029-C9EF255ADAAE}"/>
              </a:ext>
            </a:extLst>
          </p:cNvPr>
          <p:cNvCxnSpPr>
            <a:cxnSpLocks/>
          </p:cNvCxnSpPr>
          <p:nvPr/>
        </p:nvCxnSpPr>
        <p:spPr>
          <a:xfrm flipH="1">
            <a:off x="9737269" y="5083628"/>
            <a:ext cx="1001487" cy="932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F49C646-5FED-2158-4421-FAC6B13EA761}"/>
              </a:ext>
            </a:extLst>
          </p:cNvPr>
          <p:cNvCxnSpPr>
            <a:cxnSpLocks/>
          </p:cNvCxnSpPr>
          <p:nvPr/>
        </p:nvCxnSpPr>
        <p:spPr>
          <a:xfrm>
            <a:off x="10714262" y="4599297"/>
            <a:ext cx="48987" cy="53095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D5D4A8A3-0C1C-C695-187C-F0B26C62BBFF}"/>
              </a:ext>
            </a:extLst>
          </p:cNvPr>
          <p:cNvCxnSpPr>
            <a:cxnSpLocks/>
          </p:cNvCxnSpPr>
          <p:nvPr/>
        </p:nvCxnSpPr>
        <p:spPr>
          <a:xfrm>
            <a:off x="10888429" y="3579261"/>
            <a:ext cx="713007" cy="31099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D63DF3A-C6AB-F5ED-87D1-B04ADD42C5A3}"/>
              </a:ext>
            </a:extLst>
          </p:cNvPr>
          <p:cNvCxnSpPr>
            <a:cxnSpLocks/>
          </p:cNvCxnSpPr>
          <p:nvPr/>
        </p:nvCxnSpPr>
        <p:spPr>
          <a:xfrm flipH="1">
            <a:off x="10714262" y="4521379"/>
            <a:ext cx="700762" cy="12138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CA526C1-86C7-DE23-9EDB-450ED6C282D5}"/>
              </a:ext>
            </a:extLst>
          </p:cNvPr>
          <p:cNvCxnSpPr>
            <a:cxnSpLocks/>
          </p:cNvCxnSpPr>
          <p:nvPr/>
        </p:nvCxnSpPr>
        <p:spPr>
          <a:xfrm flipH="1">
            <a:off x="11408213" y="3890832"/>
            <a:ext cx="193223" cy="6305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Oval 245">
            <a:extLst>
              <a:ext uri="{FF2B5EF4-FFF2-40B4-BE49-F238E27FC236}">
                <a16:creationId xmlns:a16="http://schemas.microsoft.com/office/drawing/2014/main" id="{E17BE318-38E5-BCA2-03AA-2AA924DCFEE2}"/>
              </a:ext>
            </a:extLst>
          </p:cNvPr>
          <p:cNvSpPr/>
          <p:nvPr/>
        </p:nvSpPr>
        <p:spPr>
          <a:xfrm>
            <a:off x="8059842" y="1960074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4B42E92C-82D1-7485-9D00-3DD49A53950A}"/>
              </a:ext>
            </a:extLst>
          </p:cNvPr>
          <p:cNvSpPr/>
          <p:nvPr/>
        </p:nvSpPr>
        <p:spPr>
          <a:xfrm>
            <a:off x="9746113" y="3557569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790E9147-77E5-881D-6069-68A0CF990513}"/>
                  </a:ext>
                </a:extLst>
              </p:cNvPr>
              <p:cNvSpPr txBox="1"/>
              <p:nvPr/>
            </p:nvSpPr>
            <p:spPr>
              <a:xfrm>
                <a:off x="9145360" y="3229167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790E9147-77E5-881D-6069-68A0CF990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360" y="3229167"/>
                <a:ext cx="34834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23023C58-47A1-EFD7-732B-E71B68D3DC81}"/>
                  </a:ext>
                </a:extLst>
              </p:cNvPr>
              <p:cNvSpPr txBox="1"/>
              <p:nvPr/>
            </p:nvSpPr>
            <p:spPr>
              <a:xfrm>
                <a:off x="8074460" y="206973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23023C58-47A1-EFD7-732B-E71B68D3D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4460" y="2069739"/>
                <a:ext cx="34834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55">
            <a:extLst>
              <a:ext uri="{FF2B5EF4-FFF2-40B4-BE49-F238E27FC236}">
                <a16:creationId xmlns:a16="http://schemas.microsoft.com/office/drawing/2014/main" id="{835AF347-10C1-E141-12E7-66B9280C0652}"/>
              </a:ext>
            </a:extLst>
          </p:cNvPr>
          <p:cNvSpPr/>
          <p:nvPr/>
        </p:nvSpPr>
        <p:spPr>
          <a:xfrm>
            <a:off x="8558890" y="1817957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8D3B1A23-F770-14F5-6489-7A41EF488261}"/>
                  </a:ext>
                </a:extLst>
              </p:cNvPr>
              <p:cNvSpPr txBox="1"/>
              <p:nvPr/>
            </p:nvSpPr>
            <p:spPr>
              <a:xfrm>
                <a:off x="9606631" y="201596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8D3B1A23-F770-14F5-6489-7A41EF48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6631" y="2015969"/>
                <a:ext cx="34834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8" name="Oval 257">
            <a:extLst>
              <a:ext uri="{FF2B5EF4-FFF2-40B4-BE49-F238E27FC236}">
                <a16:creationId xmlns:a16="http://schemas.microsoft.com/office/drawing/2014/main" id="{B4B25439-97F7-AD7C-68FF-3C0218986664}"/>
              </a:ext>
            </a:extLst>
          </p:cNvPr>
          <p:cNvSpPr/>
          <p:nvPr/>
        </p:nvSpPr>
        <p:spPr>
          <a:xfrm>
            <a:off x="10980216" y="299704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2C71B500-13AC-50C3-7894-DACCD6274D17}"/>
                  </a:ext>
                </a:extLst>
              </p:cNvPr>
              <p:cNvSpPr txBox="1"/>
              <p:nvPr/>
            </p:nvSpPr>
            <p:spPr>
              <a:xfrm>
                <a:off x="10440071" y="3059668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2C71B500-13AC-50C3-7894-DACCD6274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0071" y="3059668"/>
                <a:ext cx="3483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0" name="Oval 269">
            <a:extLst>
              <a:ext uri="{FF2B5EF4-FFF2-40B4-BE49-F238E27FC236}">
                <a16:creationId xmlns:a16="http://schemas.microsoft.com/office/drawing/2014/main" id="{FD59AA8E-8BA9-E200-F2CA-CD872FF5E85C}"/>
              </a:ext>
            </a:extLst>
          </p:cNvPr>
          <p:cNvSpPr/>
          <p:nvPr/>
        </p:nvSpPr>
        <p:spPr>
          <a:xfrm>
            <a:off x="10381551" y="4841783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70F521FA-206D-716D-87C7-0BB372B53BE2}"/>
                  </a:ext>
                </a:extLst>
              </p:cNvPr>
              <p:cNvSpPr txBox="1"/>
              <p:nvPr/>
            </p:nvSpPr>
            <p:spPr>
              <a:xfrm>
                <a:off x="9824353" y="4565461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70F521FA-206D-716D-87C7-0BB372B53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4353" y="4565461"/>
                <a:ext cx="34834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4" name="Oval 273">
            <a:extLst>
              <a:ext uri="{FF2B5EF4-FFF2-40B4-BE49-F238E27FC236}">
                <a16:creationId xmlns:a16="http://schemas.microsoft.com/office/drawing/2014/main" id="{8B169603-A4B6-4719-7954-EBF31787B11A}"/>
              </a:ext>
            </a:extLst>
          </p:cNvPr>
          <p:cNvSpPr/>
          <p:nvPr/>
        </p:nvSpPr>
        <p:spPr>
          <a:xfrm>
            <a:off x="9134473" y="562716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1A07AA40-5C36-0340-E0F5-5197107B5CDE}"/>
                  </a:ext>
                </a:extLst>
              </p:cNvPr>
              <p:cNvSpPr txBox="1"/>
              <p:nvPr/>
            </p:nvSpPr>
            <p:spPr>
              <a:xfrm>
                <a:off x="8633745" y="495272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1A07AA40-5C36-0340-E0F5-5197107B5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745" y="4952729"/>
                <a:ext cx="34834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" name="Oval 275">
            <a:extLst>
              <a:ext uri="{FF2B5EF4-FFF2-40B4-BE49-F238E27FC236}">
                <a16:creationId xmlns:a16="http://schemas.microsoft.com/office/drawing/2014/main" id="{AC6AA222-D022-19B3-1BD0-6CCDC85DA617}"/>
              </a:ext>
            </a:extLst>
          </p:cNvPr>
          <p:cNvSpPr/>
          <p:nvPr/>
        </p:nvSpPr>
        <p:spPr>
          <a:xfrm>
            <a:off x="7400921" y="4295143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523A90E8-8ECC-BB64-4416-E2E838124EBE}"/>
                  </a:ext>
                </a:extLst>
              </p:cNvPr>
              <p:cNvSpPr txBox="1"/>
              <p:nvPr/>
            </p:nvSpPr>
            <p:spPr>
              <a:xfrm>
                <a:off x="7588709" y="378129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523A90E8-8ECC-BB64-4416-E2E838124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709" y="3781299"/>
                <a:ext cx="34834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9B01525-E009-8C81-55CF-FD8678A045C9}"/>
              </a:ext>
            </a:extLst>
          </p:cNvPr>
          <p:cNvCxnSpPr>
            <a:cxnSpLocks/>
          </p:cNvCxnSpPr>
          <p:nvPr/>
        </p:nvCxnSpPr>
        <p:spPr>
          <a:xfrm flipV="1">
            <a:off x="9146720" y="4007413"/>
            <a:ext cx="1019171" cy="607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B630A5C-EE8A-87F3-92DA-4FB43FDE9284}"/>
              </a:ext>
            </a:extLst>
          </p:cNvPr>
          <p:cNvCxnSpPr>
            <a:cxnSpLocks/>
          </p:cNvCxnSpPr>
          <p:nvPr/>
        </p:nvCxnSpPr>
        <p:spPr>
          <a:xfrm flipV="1">
            <a:off x="10888429" y="3306380"/>
            <a:ext cx="329302" cy="30262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1A11568-1243-C663-1367-F61C6DE9EFD3}"/>
              </a:ext>
            </a:extLst>
          </p:cNvPr>
          <p:cNvCxnSpPr>
            <a:cxnSpLocks/>
          </p:cNvCxnSpPr>
          <p:nvPr/>
        </p:nvCxnSpPr>
        <p:spPr>
          <a:xfrm flipH="1" flipV="1">
            <a:off x="10406735" y="2384212"/>
            <a:ext cx="810996" cy="37146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990D6D3-938F-A12D-CAA0-FB68712697E7}"/>
              </a:ext>
            </a:extLst>
          </p:cNvPr>
          <p:cNvCxnSpPr>
            <a:cxnSpLocks/>
          </p:cNvCxnSpPr>
          <p:nvPr/>
        </p:nvCxnSpPr>
        <p:spPr>
          <a:xfrm flipV="1">
            <a:off x="11217731" y="2721627"/>
            <a:ext cx="0" cy="56588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D41CFD50-68EE-8ECD-D0C9-1D70C06DFF44}"/>
              </a:ext>
            </a:extLst>
          </p:cNvPr>
          <p:cNvSpPr/>
          <p:nvPr/>
        </p:nvSpPr>
        <p:spPr>
          <a:xfrm>
            <a:off x="11348340" y="4078029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A1D6C9F-266A-9808-C197-BA6DC529D573}"/>
                  </a:ext>
                </a:extLst>
              </p:cNvPr>
              <p:cNvSpPr txBox="1"/>
              <p:nvPr/>
            </p:nvSpPr>
            <p:spPr>
              <a:xfrm>
                <a:off x="10810178" y="4082712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A1D6C9F-266A-9808-C197-BA6DC529D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178" y="4082712"/>
                <a:ext cx="34834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Oval 107">
            <a:extLst>
              <a:ext uri="{FF2B5EF4-FFF2-40B4-BE49-F238E27FC236}">
                <a16:creationId xmlns:a16="http://schemas.microsoft.com/office/drawing/2014/main" id="{E4ED75D4-81C3-766E-45D0-E28809FE295F}"/>
              </a:ext>
            </a:extLst>
          </p:cNvPr>
          <p:cNvSpPr/>
          <p:nvPr/>
        </p:nvSpPr>
        <p:spPr>
          <a:xfrm>
            <a:off x="9588941" y="1924725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7B12A02-FEA5-0BEE-73A8-B77E245A134A}"/>
              </a:ext>
            </a:extLst>
          </p:cNvPr>
          <p:cNvSpPr/>
          <p:nvPr/>
        </p:nvSpPr>
        <p:spPr>
          <a:xfrm>
            <a:off x="10368971" y="2999122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E3AFD479-2EAD-47EF-C433-352091DAC657}"/>
              </a:ext>
            </a:extLst>
          </p:cNvPr>
          <p:cNvSpPr/>
          <p:nvPr/>
        </p:nvSpPr>
        <p:spPr>
          <a:xfrm>
            <a:off x="9103519" y="3132539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867E72B7-DCF4-7A20-062B-E78845B477E8}"/>
              </a:ext>
            </a:extLst>
          </p:cNvPr>
          <p:cNvSpPr/>
          <p:nvPr/>
        </p:nvSpPr>
        <p:spPr>
          <a:xfrm>
            <a:off x="7575762" y="3641436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4FC4D4A1-F389-95F7-E8D0-1675580731E6}"/>
              </a:ext>
            </a:extLst>
          </p:cNvPr>
          <p:cNvSpPr/>
          <p:nvPr/>
        </p:nvSpPr>
        <p:spPr>
          <a:xfrm>
            <a:off x="8655485" y="4825772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13CD0DBF-58DC-DD05-0901-36447BE14B82}"/>
              </a:ext>
            </a:extLst>
          </p:cNvPr>
          <p:cNvSpPr/>
          <p:nvPr/>
        </p:nvSpPr>
        <p:spPr>
          <a:xfrm>
            <a:off x="9799869" y="4445370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3A9AD3D6-7FE8-7716-474D-2BB74056957D}"/>
              </a:ext>
            </a:extLst>
          </p:cNvPr>
          <p:cNvSpPr/>
          <p:nvPr/>
        </p:nvSpPr>
        <p:spPr>
          <a:xfrm>
            <a:off x="10886317" y="3972531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FC4CC8C-978E-2BA2-8BC3-186E82AB38EC}"/>
              </a:ext>
            </a:extLst>
          </p:cNvPr>
          <p:cNvSpPr/>
          <p:nvPr/>
        </p:nvSpPr>
        <p:spPr>
          <a:xfrm>
            <a:off x="7569278" y="208923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A9DDF74-CE63-FAB8-04FB-F231E417A068}"/>
              </a:ext>
            </a:extLst>
          </p:cNvPr>
          <p:cNvSpPr/>
          <p:nvPr/>
        </p:nvSpPr>
        <p:spPr>
          <a:xfrm>
            <a:off x="7920715" y="2572336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E4D47BF-7B8C-3852-8F6B-798C2E2CB16B}"/>
              </a:ext>
            </a:extLst>
          </p:cNvPr>
          <p:cNvSpPr/>
          <p:nvPr/>
        </p:nvSpPr>
        <p:spPr>
          <a:xfrm>
            <a:off x="8571471" y="239424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02E7E0-6C37-DEF6-FD10-7ADF53799E12}"/>
              </a:ext>
            </a:extLst>
          </p:cNvPr>
          <p:cNvSpPr/>
          <p:nvPr/>
        </p:nvSpPr>
        <p:spPr>
          <a:xfrm>
            <a:off x="9222227" y="2216148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9FAC79-FCEA-DC87-447B-12D79696ECFB}"/>
              </a:ext>
            </a:extLst>
          </p:cNvPr>
          <p:cNvSpPr/>
          <p:nvPr/>
        </p:nvSpPr>
        <p:spPr>
          <a:xfrm>
            <a:off x="9872983" y="203805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B834A2-D1A8-339D-A764-E40CC0B31E71}"/>
              </a:ext>
            </a:extLst>
          </p:cNvPr>
          <p:cNvSpPr/>
          <p:nvPr/>
        </p:nvSpPr>
        <p:spPr>
          <a:xfrm>
            <a:off x="8074460" y="153382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9F7B57-6080-8347-D4DE-34D3FC7011F8}"/>
              </a:ext>
            </a:extLst>
          </p:cNvPr>
          <p:cNvSpPr/>
          <p:nvPr/>
        </p:nvSpPr>
        <p:spPr>
          <a:xfrm>
            <a:off x="9402536" y="171280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293DC73-4F55-DDAA-19E8-F8DDC06DBA88}"/>
              </a:ext>
            </a:extLst>
          </p:cNvPr>
          <p:cNvSpPr/>
          <p:nvPr/>
        </p:nvSpPr>
        <p:spPr>
          <a:xfrm>
            <a:off x="9805303" y="245144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4EBD0A-6135-5EDD-E79B-A6CAF0A4EAB2}"/>
              </a:ext>
            </a:extLst>
          </p:cNvPr>
          <p:cNvSpPr/>
          <p:nvPr/>
        </p:nvSpPr>
        <p:spPr>
          <a:xfrm>
            <a:off x="10208070" y="3190080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F57D73D-9AC0-41DF-67B2-95F5CF368894}"/>
              </a:ext>
            </a:extLst>
          </p:cNvPr>
          <p:cNvSpPr/>
          <p:nvPr/>
        </p:nvSpPr>
        <p:spPr>
          <a:xfrm>
            <a:off x="10452991" y="27517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648A11B-A31F-C55E-FC9B-FA41484BDE5E}"/>
              </a:ext>
            </a:extLst>
          </p:cNvPr>
          <p:cNvSpPr/>
          <p:nvPr/>
        </p:nvSpPr>
        <p:spPr>
          <a:xfrm>
            <a:off x="10605391" y="29041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F0A0D20-F634-9152-CE12-7A1AEE3AAF4E}"/>
              </a:ext>
            </a:extLst>
          </p:cNvPr>
          <p:cNvSpPr/>
          <p:nvPr/>
        </p:nvSpPr>
        <p:spPr>
          <a:xfrm>
            <a:off x="10236911" y="364811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B299AE0-C416-6160-789C-109D9F9CEAE4}"/>
              </a:ext>
            </a:extLst>
          </p:cNvPr>
          <p:cNvSpPr/>
          <p:nvPr/>
        </p:nvSpPr>
        <p:spPr>
          <a:xfrm>
            <a:off x="9313274" y="384327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6C9F30D-8C85-A146-EB06-128AFD38117A}"/>
              </a:ext>
            </a:extLst>
          </p:cNvPr>
          <p:cNvSpPr/>
          <p:nvPr/>
        </p:nvSpPr>
        <p:spPr>
          <a:xfrm>
            <a:off x="8849362" y="337219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77DE3EA-7887-84CE-04F4-8D2784D9B8F4}"/>
              </a:ext>
            </a:extLst>
          </p:cNvPr>
          <p:cNvSpPr/>
          <p:nvPr/>
        </p:nvSpPr>
        <p:spPr>
          <a:xfrm>
            <a:off x="8675632" y="295697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505036F-68E1-34E2-1637-07B5F2BC0154}"/>
              </a:ext>
            </a:extLst>
          </p:cNvPr>
          <p:cNvSpPr/>
          <p:nvPr/>
        </p:nvSpPr>
        <p:spPr>
          <a:xfrm>
            <a:off x="8776819" y="213989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432D4B-79D0-AB8E-862C-BD0E72666BB0}"/>
              </a:ext>
            </a:extLst>
          </p:cNvPr>
          <p:cNvSpPr/>
          <p:nvPr/>
        </p:nvSpPr>
        <p:spPr>
          <a:xfrm>
            <a:off x="9328242" y="303781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91E3CB5-572F-00C9-48D7-069E7260177C}"/>
              </a:ext>
            </a:extLst>
          </p:cNvPr>
          <p:cNvSpPr/>
          <p:nvPr/>
        </p:nvSpPr>
        <p:spPr>
          <a:xfrm>
            <a:off x="9635229" y="320675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E5F0EEA-EAF4-086F-39E8-134885F03D9A}"/>
              </a:ext>
            </a:extLst>
          </p:cNvPr>
          <p:cNvSpPr/>
          <p:nvPr/>
        </p:nvSpPr>
        <p:spPr>
          <a:xfrm>
            <a:off x="9026987" y="37631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A7999F-D1E4-E2CF-E28E-5832FC599721}"/>
              </a:ext>
            </a:extLst>
          </p:cNvPr>
          <p:cNvSpPr/>
          <p:nvPr/>
        </p:nvSpPr>
        <p:spPr>
          <a:xfrm>
            <a:off x="8189853" y="313253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A151EFB-1155-927F-92F9-B50960D6C81B}"/>
              </a:ext>
            </a:extLst>
          </p:cNvPr>
          <p:cNvSpPr/>
          <p:nvPr/>
        </p:nvSpPr>
        <p:spPr>
          <a:xfrm>
            <a:off x="9840680" y="168810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D84B570-E665-4561-D37C-524B52FCF439}"/>
              </a:ext>
            </a:extLst>
          </p:cNvPr>
          <p:cNvSpPr/>
          <p:nvPr/>
        </p:nvSpPr>
        <p:spPr>
          <a:xfrm>
            <a:off x="8169713" y="353301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76A5A17-E2B7-1A2F-BE98-5B9EBCAFA092}"/>
              </a:ext>
            </a:extLst>
          </p:cNvPr>
          <p:cNvSpPr/>
          <p:nvPr/>
        </p:nvSpPr>
        <p:spPr>
          <a:xfrm>
            <a:off x="7599214" y="325586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009DFFF-9DBC-0860-AA68-92A01388A285}"/>
              </a:ext>
            </a:extLst>
          </p:cNvPr>
          <p:cNvSpPr/>
          <p:nvPr/>
        </p:nvSpPr>
        <p:spPr>
          <a:xfrm>
            <a:off x="7071957" y="375141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A9D91E1-57E6-3710-9937-3EEFBA7DC276}"/>
              </a:ext>
            </a:extLst>
          </p:cNvPr>
          <p:cNvSpPr/>
          <p:nvPr/>
        </p:nvSpPr>
        <p:spPr>
          <a:xfrm>
            <a:off x="7224357" y="390381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74AB408-9EAE-7266-4868-850D792AF508}"/>
              </a:ext>
            </a:extLst>
          </p:cNvPr>
          <p:cNvSpPr/>
          <p:nvPr/>
        </p:nvSpPr>
        <p:spPr>
          <a:xfrm>
            <a:off x="8066628" y="40236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73D5DB3-FAB4-0D1B-FB6A-CA2CF2D72CF4}"/>
              </a:ext>
            </a:extLst>
          </p:cNvPr>
          <p:cNvSpPr/>
          <p:nvPr/>
        </p:nvSpPr>
        <p:spPr>
          <a:xfrm>
            <a:off x="8696866" y="404817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48CD6D5-D024-830C-C072-A9FA8BCF61B3}"/>
              </a:ext>
            </a:extLst>
          </p:cNvPr>
          <p:cNvSpPr/>
          <p:nvPr/>
        </p:nvSpPr>
        <p:spPr>
          <a:xfrm>
            <a:off x="9743533" y="492325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8CCD652-8E79-69E7-36A3-539CF9C2D3E5}"/>
              </a:ext>
            </a:extLst>
          </p:cNvPr>
          <p:cNvSpPr/>
          <p:nvPr/>
        </p:nvSpPr>
        <p:spPr>
          <a:xfrm>
            <a:off x="8939907" y="437991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0C07758-1CF4-4DAC-681C-A99B28092A91}"/>
              </a:ext>
            </a:extLst>
          </p:cNvPr>
          <p:cNvSpPr/>
          <p:nvPr/>
        </p:nvSpPr>
        <p:spPr>
          <a:xfrm>
            <a:off x="8552710" y="468709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35C4149-04DD-CE38-EF5D-137583F5615B}"/>
              </a:ext>
            </a:extLst>
          </p:cNvPr>
          <p:cNvSpPr/>
          <p:nvPr/>
        </p:nvSpPr>
        <p:spPr>
          <a:xfrm>
            <a:off x="8184962" y="46841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147B796-27C2-27CF-ACCD-5A589BF94FB0}"/>
              </a:ext>
            </a:extLst>
          </p:cNvPr>
          <p:cNvSpPr/>
          <p:nvPr/>
        </p:nvSpPr>
        <p:spPr>
          <a:xfrm>
            <a:off x="8305775" y="50882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7180D0-CECF-F068-23F3-F5034DD27AD3}"/>
              </a:ext>
            </a:extLst>
          </p:cNvPr>
          <p:cNvSpPr/>
          <p:nvPr/>
        </p:nvSpPr>
        <p:spPr>
          <a:xfrm>
            <a:off x="8426588" y="549246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99081FC-A3E7-A9C0-E9CA-29E75226A717}"/>
              </a:ext>
            </a:extLst>
          </p:cNvPr>
          <p:cNvSpPr/>
          <p:nvPr/>
        </p:nvSpPr>
        <p:spPr>
          <a:xfrm>
            <a:off x="8513171" y="557805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7BFE876-F7EC-E0D9-7B32-E255C5713507}"/>
              </a:ext>
            </a:extLst>
          </p:cNvPr>
          <p:cNvSpPr/>
          <p:nvPr/>
        </p:nvSpPr>
        <p:spPr>
          <a:xfrm>
            <a:off x="9229303" y="514691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57F8DD7-B890-F504-CE01-863E090D3EBA}"/>
              </a:ext>
            </a:extLst>
          </p:cNvPr>
          <p:cNvSpPr/>
          <p:nvPr/>
        </p:nvSpPr>
        <p:spPr>
          <a:xfrm>
            <a:off x="9096642" y="474630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E72C402-7A5C-FE93-D00B-1B0B988A28D5}"/>
              </a:ext>
            </a:extLst>
          </p:cNvPr>
          <p:cNvSpPr/>
          <p:nvPr/>
        </p:nvSpPr>
        <p:spPr>
          <a:xfrm>
            <a:off x="9483785" y="430094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AF76B04-9523-73BB-F238-5133A09B9537}"/>
              </a:ext>
            </a:extLst>
          </p:cNvPr>
          <p:cNvSpPr/>
          <p:nvPr/>
        </p:nvSpPr>
        <p:spPr>
          <a:xfrm>
            <a:off x="9870928" y="38555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98CB864-001D-B06D-969E-A11CC416B331}"/>
              </a:ext>
            </a:extLst>
          </p:cNvPr>
          <p:cNvSpPr/>
          <p:nvPr/>
        </p:nvSpPr>
        <p:spPr>
          <a:xfrm>
            <a:off x="10222224" y="460674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EDBF28E-176A-6F94-1D06-EA00BB22C4D4}"/>
              </a:ext>
            </a:extLst>
          </p:cNvPr>
          <p:cNvSpPr/>
          <p:nvPr/>
        </p:nvSpPr>
        <p:spPr>
          <a:xfrm>
            <a:off x="10700915" y="429023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07837BF-0A31-5F2E-B06D-BE0A629EAEAB}"/>
              </a:ext>
            </a:extLst>
          </p:cNvPr>
          <p:cNvSpPr/>
          <p:nvPr/>
        </p:nvSpPr>
        <p:spPr>
          <a:xfrm>
            <a:off x="11179606" y="397371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AC5D35E-8A3A-3127-FF7F-AAE7A539934D}"/>
              </a:ext>
            </a:extLst>
          </p:cNvPr>
          <p:cNvSpPr/>
          <p:nvPr/>
        </p:nvSpPr>
        <p:spPr>
          <a:xfrm>
            <a:off x="9952808" y="285517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F8C4704-4A12-847E-E980-2ECA9A35B547}"/>
              </a:ext>
            </a:extLst>
          </p:cNvPr>
          <p:cNvSpPr/>
          <p:nvPr/>
        </p:nvSpPr>
        <p:spPr>
          <a:xfrm>
            <a:off x="9856993" y="426815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6C868A2-20EE-A85C-0750-E22188DE59B4}"/>
              </a:ext>
            </a:extLst>
          </p:cNvPr>
          <p:cNvSpPr/>
          <p:nvPr/>
        </p:nvSpPr>
        <p:spPr>
          <a:xfrm>
            <a:off x="10009393" y="442055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B8CB319-357C-411F-0ECC-894CCC3B301C}"/>
              </a:ext>
            </a:extLst>
          </p:cNvPr>
          <p:cNvSpPr/>
          <p:nvPr/>
        </p:nvSpPr>
        <p:spPr>
          <a:xfrm>
            <a:off x="10087556" y="435854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B6C8D29-CA39-2433-32B8-4F44DD96F167}"/>
              </a:ext>
            </a:extLst>
          </p:cNvPr>
          <p:cNvSpPr/>
          <p:nvPr/>
        </p:nvSpPr>
        <p:spPr>
          <a:xfrm>
            <a:off x="10541443" y="400927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BC74A88-D4A2-994E-E92A-B64F39978515}"/>
              </a:ext>
            </a:extLst>
          </p:cNvPr>
          <p:cNvSpPr/>
          <p:nvPr/>
        </p:nvSpPr>
        <p:spPr>
          <a:xfrm>
            <a:off x="10843317" y="379658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1D01118-D437-FB7A-3D8D-467302BB7B17}"/>
              </a:ext>
            </a:extLst>
          </p:cNvPr>
          <p:cNvSpPr/>
          <p:nvPr/>
        </p:nvSpPr>
        <p:spPr>
          <a:xfrm>
            <a:off x="11199213" y="433144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03B1AF2-DE15-6CA3-0382-2B2DEC73CC78}"/>
              </a:ext>
            </a:extLst>
          </p:cNvPr>
          <p:cNvSpPr/>
          <p:nvPr/>
        </p:nvSpPr>
        <p:spPr>
          <a:xfrm>
            <a:off x="8644198" y="322638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69A3B893-C3BE-07D0-05A1-6BCE223530B3}"/>
              </a:ext>
            </a:extLst>
          </p:cNvPr>
          <p:cNvSpPr/>
          <p:nvPr/>
        </p:nvSpPr>
        <p:spPr>
          <a:xfrm>
            <a:off x="7819883" y="231680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D5368B9-E209-5886-44FB-448E6C29C614}"/>
              </a:ext>
            </a:extLst>
          </p:cNvPr>
          <p:cNvSpPr/>
          <p:nvPr/>
        </p:nvSpPr>
        <p:spPr>
          <a:xfrm>
            <a:off x="10180194" y="2081333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6C95B71-AB87-5AC7-931F-A2DF3581D6BD}"/>
              </a:ext>
            </a:extLst>
          </p:cNvPr>
          <p:cNvSpPr/>
          <p:nvPr/>
        </p:nvSpPr>
        <p:spPr>
          <a:xfrm>
            <a:off x="9543222" y="293996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ABCB9CB3-99EA-9A02-952A-B8A22347283F}"/>
              </a:ext>
            </a:extLst>
          </p:cNvPr>
          <p:cNvSpPr/>
          <p:nvPr/>
        </p:nvSpPr>
        <p:spPr>
          <a:xfrm>
            <a:off x="7876484" y="331275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9EFD2BE-2297-BDAB-C53F-7920BF555F5D}"/>
              </a:ext>
            </a:extLst>
          </p:cNvPr>
          <p:cNvSpPr/>
          <p:nvPr/>
        </p:nvSpPr>
        <p:spPr>
          <a:xfrm>
            <a:off x="8600943" y="433121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56A2E49-1632-76B6-12FA-6CC0E445079F}"/>
              </a:ext>
            </a:extLst>
          </p:cNvPr>
          <p:cNvSpPr/>
          <p:nvPr/>
        </p:nvSpPr>
        <p:spPr>
          <a:xfrm>
            <a:off x="8929004" y="5448183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E5AE1163-609A-BB12-14C3-3D2BBF7C7516}"/>
              </a:ext>
            </a:extLst>
          </p:cNvPr>
          <p:cNvSpPr/>
          <p:nvPr/>
        </p:nvSpPr>
        <p:spPr>
          <a:xfrm>
            <a:off x="10465689" y="34816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81F0FB0C-040D-EC3E-A7C3-D896CD7C35E6}"/>
              </a:ext>
            </a:extLst>
          </p:cNvPr>
          <p:cNvSpPr/>
          <p:nvPr/>
        </p:nvSpPr>
        <p:spPr>
          <a:xfrm>
            <a:off x="9212037" y="196686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845A4E0-9923-EEAA-94E1-23E6BDDD0038}"/>
              </a:ext>
            </a:extLst>
          </p:cNvPr>
          <p:cNvSpPr/>
          <p:nvPr/>
        </p:nvSpPr>
        <p:spPr>
          <a:xfrm>
            <a:off x="7851860" y="18319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ADBAE0D7-9593-2706-9441-938CA5065866}"/>
              </a:ext>
            </a:extLst>
          </p:cNvPr>
          <p:cNvSpPr/>
          <p:nvPr/>
        </p:nvSpPr>
        <p:spPr>
          <a:xfrm>
            <a:off x="7925276" y="365085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A8022D5-DBE7-5B3A-9909-7886BD2FBE4F}"/>
              </a:ext>
            </a:extLst>
          </p:cNvPr>
          <p:cNvSpPr/>
          <p:nvPr/>
        </p:nvSpPr>
        <p:spPr>
          <a:xfrm>
            <a:off x="8819811" y="366337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B949B30-3DEC-0081-E3FA-4D103CE67E0D}"/>
              </a:ext>
            </a:extLst>
          </p:cNvPr>
          <p:cNvSpPr/>
          <p:nvPr/>
        </p:nvSpPr>
        <p:spPr>
          <a:xfrm>
            <a:off x="9613457" y="459365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905C815-152F-873D-0F08-9F707A75847F}"/>
              </a:ext>
            </a:extLst>
          </p:cNvPr>
          <p:cNvSpPr/>
          <p:nvPr/>
        </p:nvSpPr>
        <p:spPr>
          <a:xfrm>
            <a:off x="8504931" y="216050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8B9A5CEE-861E-0A63-2348-B73D93F6E0B9}"/>
              </a:ext>
            </a:extLst>
          </p:cNvPr>
          <p:cNvSpPr/>
          <p:nvPr/>
        </p:nvSpPr>
        <p:spPr>
          <a:xfrm>
            <a:off x="8260877" y="256907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45989367-342F-196F-41AC-C21EA6C2C802}"/>
              </a:ext>
            </a:extLst>
          </p:cNvPr>
          <p:cNvSpPr/>
          <p:nvPr/>
        </p:nvSpPr>
        <p:spPr>
          <a:xfrm>
            <a:off x="8259529" y="186769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EC7A756-5AC0-28F7-A81A-BE931613BBCF}"/>
              </a:ext>
            </a:extLst>
          </p:cNvPr>
          <p:cNvSpPr/>
          <p:nvPr/>
        </p:nvSpPr>
        <p:spPr>
          <a:xfrm>
            <a:off x="7471687" y="3593870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F63ABBF-1FF5-CAC6-44FD-B5137926CA7E}"/>
              </a:ext>
            </a:extLst>
          </p:cNvPr>
          <p:cNvSpPr/>
          <p:nvPr/>
        </p:nvSpPr>
        <p:spPr>
          <a:xfrm>
            <a:off x="9073582" y="3077017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E7511F17-EB4F-9DDA-5851-28EA7DB9B67B}"/>
              </a:ext>
            </a:extLst>
          </p:cNvPr>
          <p:cNvSpPr/>
          <p:nvPr/>
        </p:nvSpPr>
        <p:spPr>
          <a:xfrm>
            <a:off x="9467025" y="364093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D0F9065-DC92-69DE-BF1A-531C600817CF}"/>
              </a:ext>
            </a:extLst>
          </p:cNvPr>
          <p:cNvSpPr/>
          <p:nvPr/>
        </p:nvSpPr>
        <p:spPr>
          <a:xfrm>
            <a:off x="10801375" y="415520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84B902BA-DFAB-7710-2A9F-1E732A35D61F}"/>
              </a:ext>
            </a:extLst>
          </p:cNvPr>
          <p:cNvSpPr/>
          <p:nvPr/>
        </p:nvSpPr>
        <p:spPr>
          <a:xfrm>
            <a:off x="8982602" y="2614277"/>
            <a:ext cx="174414" cy="211708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CCE809-B48D-3B4B-97CC-3AF02710356C}"/>
              </a:ext>
            </a:extLst>
          </p:cNvPr>
          <p:cNvSpPr txBox="1"/>
          <p:nvPr/>
        </p:nvSpPr>
        <p:spPr>
          <a:xfrm>
            <a:off x="8666728" y="2724013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1070192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754C0-D3EA-6714-26F5-DC98EAA71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B15A1-A950-DA3E-8AE0-1B89E6FA6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94990-A112-0BCA-24F8-E1876AAB2DA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328892" cy="208489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Voronoi cells are not the only way to perform coarse quantization </a:t>
            </a:r>
          </a:p>
          <a:p>
            <a:r>
              <a:rPr lang="en-US" dirty="0">
                <a:latin typeface="+mn-lt"/>
                <a:hlinkClick r:id="rId3"/>
              </a:rPr>
              <a:t>Babenko, et. al., 2012</a:t>
            </a:r>
            <a:r>
              <a:rPr lang="en-US" dirty="0">
                <a:latin typeface="+mn-lt"/>
              </a:rPr>
              <a:t>, proposed using a multi-dimensional inverted multi-index</a:t>
            </a:r>
          </a:p>
          <a:p>
            <a:r>
              <a:rPr lang="en-US" dirty="0">
                <a:latin typeface="+mn-lt"/>
              </a:rPr>
              <a:t>The multi-index is quantized along the axes of a grid rather than Voronoi cells</a:t>
            </a:r>
          </a:p>
          <a:p>
            <a:r>
              <a:rPr lang="en-US" dirty="0">
                <a:latin typeface="+mn-lt"/>
              </a:rPr>
              <a:t>Result is a better constrained search region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0E1BC0-72B5-367E-DB28-A1C413007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241" y="2980973"/>
            <a:ext cx="7598811" cy="387091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C30B9A4-4A71-D827-F58C-1A7C833ADBF6}"/>
              </a:ext>
            </a:extLst>
          </p:cNvPr>
          <p:cNvCxnSpPr>
            <a:cxnSpLocks/>
          </p:cNvCxnSpPr>
          <p:nvPr/>
        </p:nvCxnSpPr>
        <p:spPr>
          <a:xfrm>
            <a:off x="6263884" y="2885005"/>
            <a:ext cx="1755453" cy="170166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B7E3016-A8C9-EE5C-BB54-A6B55FD19A6C}"/>
              </a:ext>
            </a:extLst>
          </p:cNvPr>
          <p:cNvCxnSpPr>
            <a:cxnSpLocks/>
          </p:cNvCxnSpPr>
          <p:nvPr/>
        </p:nvCxnSpPr>
        <p:spPr>
          <a:xfrm flipH="1">
            <a:off x="4796933" y="2885005"/>
            <a:ext cx="870391" cy="160875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53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871D-2200-338F-4873-09D8AE8D4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45ADFA-3C77-51BE-AFB8-7C1EE8DF9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258" y="2618630"/>
            <a:ext cx="7496474" cy="27846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602503-1D0F-D956-4030-1ED2FF479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32624-5844-DE51-1DD9-F6D1923B58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328892" cy="15794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  <a:hlinkClick r:id="rId4"/>
              </a:rPr>
              <a:t>Babenko, et. al., 2012</a:t>
            </a:r>
            <a:r>
              <a:rPr lang="en-US" dirty="0">
                <a:latin typeface="+mn-lt"/>
              </a:rPr>
              <a:t>, proposed using a multi-dimensional inverted multi-index</a:t>
            </a:r>
          </a:p>
          <a:p>
            <a:r>
              <a:rPr lang="en-US" dirty="0">
                <a:latin typeface="+mn-lt"/>
              </a:rPr>
              <a:t>Grid is quantized along axes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C4D1749-9FF8-BA60-3A42-DA8D91407527}"/>
              </a:ext>
            </a:extLst>
          </p:cNvPr>
          <p:cNvCxnSpPr>
            <a:cxnSpLocks/>
          </p:cNvCxnSpPr>
          <p:nvPr/>
        </p:nvCxnSpPr>
        <p:spPr>
          <a:xfrm flipH="1" flipV="1">
            <a:off x="6430139" y="5271247"/>
            <a:ext cx="386297" cy="78970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39736A-852B-7A8C-0CD7-80AAC1DBD7CD}"/>
              </a:ext>
            </a:extLst>
          </p:cNvPr>
          <p:cNvCxnSpPr>
            <a:cxnSpLocks/>
          </p:cNvCxnSpPr>
          <p:nvPr/>
        </p:nvCxnSpPr>
        <p:spPr>
          <a:xfrm>
            <a:off x="4298169" y="2268886"/>
            <a:ext cx="39119" cy="65523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7F57694-45A7-CB59-CA42-4B9728DFA45F}"/>
              </a:ext>
            </a:extLst>
          </p:cNvPr>
          <p:cNvSpPr txBox="1">
            <a:spLocks/>
          </p:cNvSpPr>
          <p:nvPr/>
        </p:nvSpPr>
        <p:spPr>
          <a:xfrm>
            <a:off x="520004" y="5961920"/>
            <a:ext cx="11328892" cy="789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n-lt"/>
              </a:rPr>
              <a:t>Distances from the query vector are measured along the axes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C7668A-12D2-5151-310A-B6331B0B2C02}"/>
              </a:ext>
            </a:extLst>
          </p:cNvPr>
          <p:cNvCxnSpPr>
            <a:cxnSpLocks/>
          </p:cNvCxnSpPr>
          <p:nvPr/>
        </p:nvCxnSpPr>
        <p:spPr>
          <a:xfrm flipV="1">
            <a:off x="6816436" y="5271247"/>
            <a:ext cx="1403384" cy="74814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FBA93C-E87E-1210-0F3D-5EB6136C4B21}"/>
              </a:ext>
            </a:extLst>
          </p:cNvPr>
          <p:cNvCxnSpPr>
            <a:cxnSpLocks/>
          </p:cNvCxnSpPr>
          <p:nvPr/>
        </p:nvCxnSpPr>
        <p:spPr>
          <a:xfrm>
            <a:off x="1261579" y="2268886"/>
            <a:ext cx="635679" cy="284588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60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54DED-22B7-2921-35BF-CB2679BB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7489D4-B3C7-ED6E-B694-62C9323F4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46" y="2145248"/>
            <a:ext cx="8115503" cy="38166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E8C4CC-FC3C-474A-4857-B9168AEF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0C7F5-FB84-BF42-81A0-DFA8856B3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328892" cy="8244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  <a:hlinkClick r:id="rId4"/>
              </a:rPr>
              <a:t>Babenko, et. al., 2012</a:t>
            </a:r>
            <a:r>
              <a:rPr lang="en-US" dirty="0">
                <a:latin typeface="+mn-lt"/>
              </a:rPr>
              <a:t>, proposed using a multi-dimensional inverted multi-index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0D44C97-37D0-6D99-BC28-D00913E84DF5}"/>
              </a:ext>
            </a:extLst>
          </p:cNvPr>
          <p:cNvCxnSpPr>
            <a:cxnSpLocks/>
          </p:cNvCxnSpPr>
          <p:nvPr/>
        </p:nvCxnSpPr>
        <p:spPr>
          <a:xfrm flipH="1" flipV="1">
            <a:off x="1701664" y="5911816"/>
            <a:ext cx="4684466" cy="47479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251F83-4EF6-DCC6-D18E-20261E944017}"/>
              </a:ext>
            </a:extLst>
          </p:cNvPr>
          <p:cNvCxnSpPr>
            <a:cxnSpLocks/>
          </p:cNvCxnSpPr>
          <p:nvPr/>
        </p:nvCxnSpPr>
        <p:spPr>
          <a:xfrm flipH="1">
            <a:off x="8322507" y="2046212"/>
            <a:ext cx="581891" cy="65523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991F0C-BAB0-75FD-018D-72FF516039E9}"/>
              </a:ext>
            </a:extLst>
          </p:cNvPr>
          <p:cNvSpPr txBox="1">
            <a:spLocks/>
          </p:cNvSpPr>
          <p:nvPr/>
        </p:nvSpPr>
        <p:spPr>
          <a:xfrm>
            <a:off x="6188142" y="1355539"/>
            <a:ext cx="5136726" cy="7897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n-lt"/>
              </a:rPr>
              <a:t>Total distances are the sum of distances along the axes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03FDC01-BA0B-7003-EF25-096DE37898BF}"/>
              </a:ext>
            </a:extLst>
          </p:cNvPr>
          <p:cNvSpPr txBox="1">
            <a:spLocks/>
          </p:cNvSpPr>
          <p:nvPr/>
        </p:nvSpPr>
        <p:spPr>
          <a:xfrm>
            <a:off x="6525541" y="6036507"/>
            <a:ext cx="5136726" cy="7897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n-lt"/>
              </a:rPr>
              <a:t>The query proceeds stepwise until required NNs found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613CA2-F22C-6503-B05E-61BF594D3283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7559692" y="4982747"/>
            <a:ext cx="1534212" cy="105376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20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48E92-8F9D-961A-0F21-7B8F86276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D66C7-B16A-BB10-1CAE-8CD7E193D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Product Quantization</a:t>
            </a:r>
          </a:p>
        </p:txBody>
      </p:sp>
    </p:spTree>
    <p:extLst>
      <p:ext uri="{BB962C8B-B14F-4D97-AF65-F5344CB8AC3E}">
        <p14:creationId xmlns:p14="http://schemas.microsoft.com/office/powerpoint/2010/main" val="13769565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C114D-C2B0-93AC-FDA8-5552D4B80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6CF1-B60D-5F3C-294D-0557D71D3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A33EC-5BB0-2188-D54B-4E2AD61AA99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270796" cy="981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Product Quantization (PQ) </a:t>
            </a:r>
            <a:r>
              <a:rPr lang="en-US" dirty="0">
                <a:latin typeface="+mn-lt"/>
              </a:rPr>
              <a:t>for ANNS was first proposed by </a:t>
            </a:r>
            <a:r>
              <a:rPr lang="en-US" dirty="0">
                <a:latin typeface="+mn-lt"/>
                <a:hlinkClick r:id="rId3"/>
              </a:rPr>
              <a:t>Jégou, </a:t>
            </a:r>
            <a:r>
              <a:rPr lang="en-US" dirty="0" err="1">
                <a:latin typeface="+mn-lt"/>
                <a:hlinkClick r:id="rId3"/>
              </a:rPr>
              <a:t>Douze</a:t>
            </a:r>
            <a:r>
              <a:rPr lang="en-US" dirty="0">
                <a:latin typeface="+mn-lt"/>
                <a:hlinkClick r:id="rId3"/>
              </a:rPr>
              <a:t>, and Schmid, 2011</a:t>
            </a: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78E3E0-75CD-988C-275B-EC274834E376}"/>
              </a:ext>
            </a:extLst>
          </p:cNvPr>
          <p:cNvSpPr/>
          <p:nvPr/>
        </p:nvSpPr>
        <p:spPr>
          <a:xfrm>
            <a:off x="517072" y="1950946"/>
            <a:ext cx="3575958" cy="90351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Factor observation vectors into </a:t>
            </a:r>
            <a:r>
              <a:rPr lang="en-US" sz="2000" dirty="0" err="1">
                <a:solidFill>
                  <a:schemeClr val="tx1"/>
                </a:solidFill>
              </a:rPr>
              <a:t>subvectors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47FEF1-51C1-DF87-4FB4-D45AD7B3575D}"/>
              </a:ext>
            </a:extLst>
          </p:cNvPr>
          <p:cNvSpPr/>
          <p:nvPr/>
        </p:nvSpPr>
        <p:spPr>
          <a:xfrm>
            <a:off x="517072" y="3108280"/>
            <a:ext cx="3575958" cy="90351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Learn codes (centroids) by K-means clustering </a:t>
            </a:r>
            <a:r>
              <a:rPr lang="en-US" sz="2000" dirty="0" err="1">
                <a:solidFill>
                  <a:schemeClr val="tx1"/>
                </a:solidFill>
              </a:rPr>
              <a:t>subvectors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232EA0-C3F1-34E3-C9B1-CCFE4E5D18AB}"/>
              </a:ext>
            </a:extLst>
          </p:cNvPr>
          <p:cNvSpPr/>
          <p:nvPr/>
        </p:nvSpPr>
        <p:spPr>
          <a:xfrm>
            <a:off x="517072" y="4323291"/>
            <a:ext cx="3575958" cy="90351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Encode observation </a:t>
            </a:r>
            <a:r>
              <a:rPr lang="en-US" sz="2000" dirty="0" err="1">
                <a:solidFill>
                  <a:schemeClr val="tx1"/>
                </a:solidFill>
              </a:rPr>
              <a:t>subvectors</a:t>
            </a:r>
            <a:r>
              <a:rPr lang="en-US" sz="2000" dirty="0">
                <a:solidFill>
                  <a:schemeClr val="tx1"/>
                </a:solidFill>
              </a:rPr>
              <a:t> by cluster centroids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232F01-CE06-8F9D-12CA-B3396EDAA9C4}"/>
              </a:ext>
            </a:extLst>
          </p:cNvPr>
          <p:cNvSpPr/>
          <p:nvPr/>
        </p:nvSpPr>
        <p:spPr>
          <a:xfrm>
            <a:off x="7236278" y="1950946"/>
            <a:ext cx="3575958" cy="90351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Factor query vectors into </a:t>
            </a:r>
            <a:r>
              <a:rPr lang="en-US" sz="2000" dirty="0" err="1">
                <a:solidFill>
                  <a:schemeClr val="tx1"/>
                </a:solidFill>
              </a:rPr>
              <a:t>subvectors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072DA-069E-4D5F-0373-4331A1C987A8}"/>
              </a:ext>
            </a:extLst>
          </p:cNvPr>
          <p:cNvSpPr/>
          <p:nvPr/>
        </p:nvSpPr>
        <p:spPr>
          <a:xfrm>
            <a:off x="7219949" y="3142422"/>
            <a:ext cx="3575958" cy="119543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Build asymmetric distance tables between </a:t>
            </a:r>
            <a:r>
              <a:rPr lang="en-US" sz="2000" dirty="0" err="1">
                <a:solidFill>
                  <a:schemeClr val="tx1"/>
                </a:solidFill>
              </a:rPr>
              <a:t>subvector</a:t>
            </a:r>
            <a:r>
              <a:rPr lang="en-US" sz="2000" dirty="0">
                <a:solidFill>
                  <a:schemeClr val="tx1"/>
                </a:solidFill>
              </a:rPr>
              <a:t> centroids and  query </a:t>
            </a:r>
            <a:r>
              <a:rPr lang="en-US" sz="2000" dirty="0" err="1">
                <a:solidFill>
                  <a:schemeClr val="tx1"/>
                </a:solidFill>
              </a:rPr>
              <a:t>subvectors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1AF84D-FF68-6E9A-2728-06B43B920BA3}"/>
              </a:ext>
            </a:extLst>
          </p:cNvPr>
          <p:cNvSpPr/>
          <p:nvPr/>
        </p:nvSpPr>
        <p:spPr>
          <a:xfrm>
            <a:off x="7219949" y="4665446"/>
            <a:ext cx="3575958" cy="146014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Use distance table for NN search for query </a:t>
            </a:r>
            <a:r>
              <a:rPr lang="en-US" sz="2000" dirty="0" err="1">
                <a:solidFill>
                  <a:schemeClr val="tx1"/>
                </a:solidFill>
              </a:rPr>
              <a:t>subvectors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compute distances by summing </a:t>
            </a:r>
            <a:r>
              <a:rPr lang="en-US" sz="2000" dirty="0" err="1">
                <a:solidFill>
                  <a:schemeClr val="tx1"/>
                </a:solidFill>
              </a:rPr>
              <a:t>subvector</a:t>
            </a:r>
            <a:r>
              <a:rPr lang="en-US" sz="2000" dirty="0">
                <a:solidFill>
                  <a:schemeClr val="tx1"/>
                </a:solidFill>
              </a:rPr>
              <a:t> distances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9B07FA-2364-2F3C-88E7-410C9675F392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2305051" y="2854460"/>
            <a:ext cx="0" cy="253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5EEC86-9209-760A-4C3A-4B4E3B8B6489}"/>
              </a:ext>
            </a:extLst>
          </p:cNvPr>
          <p:cNvCxnSpPr/>
          <p:nvPr/>
        </p:nvCxnSpPr>
        <p:spPr>
          <a:xfrm>
            <a:off x="2291444" y="4012977"/>
            <a:ext cx="0" cy="253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F7AEAF-F904-F14B-FFE4-2A65EBCEBA48}"/>
              </a:ext>
            </a:extLst>
          </p:cNvPr>
          <p:cNvCxnSpPr/>
          <p:nvPr/>
        </p:nvCxnSpPr>
        <p:spPr>
          <a:xfrm>
            <a:off x="9024257" y="2888602"/>
            <a:ext cx="0" cy="253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8F34C14-3B0B-21DC-9F95-02C5DD8438F5}"/>
              </a:ext>
            </a:extLst>
          </p:cNvPr>
          <p:cNvCxnSpPr/>
          <p:nvPr/>
        </p:nvCxnSpPr>
        <p:spPr>
          <a:xfrm>
            <a:off x="9024257" y="4394350"/>
            <a:ext cx="0" cy="253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0BBECEE-11A1-4209-A166-76A4F83759D7}"/>
              </a:ext>
            </a:extLst>
          </p:cNvPr>
          <p:cNvSpPr txBox="1"/>
          <p:nvPr/>
        </p:nvSpPr>
        <p:spPr>
          <a:xfrm>
            <a:off x="510268" y="5226805"/>
            <a:ext cx="35623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Database construction </a:t>
            </a:r>
          </a:p>
          <a:p>
            <a:pPr algn="ctr"/>
            <a:r>
              <a:rPr lang="en-US" sz="2400" b="1" dirty="0"/>
              <a:t>a.k.a. model training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0E1B29-2BBF-6F8E-47AB-57DAFB77494C}"/>
              </a:ext>
            </a:extLst>
          </p:cNvPr>
          <p:cNvSpPr txBox="1"/>
          <p:nvPr/>
        </p:nvSpPr>
        <p:spPr>
          <a:xfrm>
            <a:off x="7219949" y="6174343"/>
            <a:ext cx="3562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NN search for query</a:t>
            </a:r>
          </a:p>
        </p:txBody>
      </p:sp>
    </p:spTree>
    <p:extLst>
      <p:ext uri="{BB962C8B-B14F-4D97-AF65-F5344CB8AC3E}">
        <p14:creationId xmlns:p14="http://schemas.microsoft.com/office/powerpoint/2010/main" val="207241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0" grpId="0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6975A-78D5-E137-8DF5-B04447CD5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33675-BD8B-FFDC-9293-676AC404B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641C8-B5C3-0090-D944-93C3ACC43C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270796" cy="124742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review paper by </a:t>
            </a:r>
            <a:r>
              <a:rPr lang="en-US" dirty="0">
                <a:latin typeface="+mn-lt"/>
                <a:hlinkClick r:id="rId3"/>
              </a:rPr>
              <a:t>Matsui, et. al., 2018</a:t>
            </a:r>
            <a:r>
              <a:rPr lang="en-US" dirty="0">
                <a:latin typeface="+mn-lt"/>
              </a:rPr>
              <a:t>, includes a diagram showing the evolution of PQ algorithms </a:t>
            </a:r>
          </a:p>
          <a:p>
            <a:r>
              <a:rPr lang="en-US" dirty="0">
                <a:latin typeface="+mn-lt"/>
              </a:rPr>
              <a:t>We will only </a:t>
            </a:r>
            <a:r>
              <a:rPr lang="en-US">
                <a:latin typeface="+mn-lt"/>
              </a:rPr>
              <a:t>discuss a few </a:t>
            </a:r>
            <a:r>
              <a:rPr lang="en-US" dirty="0">
                <a:latin typeface="+mn-lt"/>
              </a:rPr>
              <a:t>of these many algorithms and applications in our lesson</a:t>
            </a:r>
          </a:p>
          <a:p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D86C4-04EA-085F-6AE7-D8613B1C5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1706" y="2143502"/>
            <a:ext cx="8470831" cy="464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8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B12CF-3FB5-8CE3-EC1C-2CC4BD6C2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73C6B-7371-8C25-DFAA-F85A9E021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468B9-98FE-DD6A-7B9E-2C5BA282052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Product Quantization (PQ) </a:t>
                </a:r>
                <a:r>
                  <a:rPr lang="en-US" dirty="0">
                    <a:latin typeface="+mn-lt"/>
                  </a:rPr>
                  <a:t>quantizes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of the observations </a:t>
                </a:r>
              </a:p>
              <a:p>
                <a:r>
                  <a:rPr lang="en-US" dirty="0">
                    <a:latin typeface="+mn-lt"/>
                  </a:rPr>
                  <a:t> In contrast to coarse quantization, the PQ algorithm quantizes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latin typeface="+mn-lt"/>
                  </a:rPr>
                  <a:t> dimensional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,..,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,..,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     </a:t>
                </a: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Each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has an independent code book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 quantization levels </a:t>
                </a:r>
                <a:r>
                  <a:rPr lang="en-US" sz="2400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Where code for </a:t>
                </a:r>
                <a:r>
                  <a:rPr lang="en-US" dirty="0" err="1">
                    <a:latin typeface="+mn-lt"/>
                  </a:rPr>
                  <a:t>subvector</a:t>
                </a:r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minimizes distance or quantization error to the </a:t>
                </a:r>
                <a:r>
                  <a:rPr lang="en-US" dirty="0" err="1">
                    <a:latin typeface="+mn-lt"/>
                  </a:rPr>
                  <a:t>subvector</a:t>
                </a:r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468B9-98FE-DD6A-7B9E-2C5BA28205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  <a:blipFill>
                <a:blip r:embed="rId3"/>
                <a:stretch>
                  <a:fillRect l="-1136" t="-2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EC5FDDFA-B2F1-86AD-B8EF-33B20A94C9D5}"/>
              </a:ext>
            </a:extLst>
          </p:cNvPr>
          <p:cNvSpPr/>
          <p:nvPr/>
        </p:nvSpPr>
        <p:spPr>
          <a:xfrm rot="5400000">
            <a:off x="4803696" y="2279527"/>
            <a:ext cx="273458" cy="1560034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FCB90-D9DE-6468-585F-3539C7767BEB}"/>
              </a:ext>
            </a:extLst>
          </p:cNvPr>
          <p:cNvSpPr txBox="1"/>
          <p:nvPr/>
        </p:nvSpPr>
        <p:spPr>
          <a:xfrm>
            <a:off x="4110389" y="3157749"/>
            <a:ext cx="1660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Subvector</a:t>
            </a:r>
            <a:r>
              <a:rPr lang="en-US" sz="2400" dirty="0"/>
              <a:t> 1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7E040563-CE45-5A12-70D3-452BF1F185D1}"/>
              </a:ext>
            </a:extLst>
          </p:cNvPr>
          <p:cNvSpPr/>
          <p:nvPr/>
        </p:nvSpPr>
        <p:spPr>
          <a:xfrm rot="5400000">
            <a:off x="7251903" y="2100991"/>
            <a:ext cx="273458" cy="1917106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C5362-AD24-F620-86AA-2FC3AB101154}"/>
              </a:ext>
            </a:extLst>
          </p:cNvPr>
          <p:cNvSpPr txBox="1"/>
          <p:nvPr/>
        </p:nvSpPr>
        <p:spPr>
          <a:xfrm>
            <a:off x="6380060" y="3157749"/>
            <a:ext cx="204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Subvector</a:t>
            </a:r>
            <a:r>
              <a:rPr lang="en-US" sz="2400" dirty="0"/>
              <a:t> m</a:t>
            </a:r>
          </a:p>
        </p:txBody>
      </p:sp>
    </p:spTree>
    <p:extLst>
      <p:ext uri="{BB962C8B-B14F-4D97-AF65-F5344CB8AC3E}">
        <p14:creationId xmlns:p14="http://schemas.microsoft.com/office/powerpoint/2010/main" val="3054084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FC157-5490-922D-4724-B3671E717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00918-6088-6E3B-09C7-71C9BEE40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4F5EEE-EE0E-EBE4-335D-D661407C791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Product Quantization (PQ) </a:t>
                </a:r>
                <a:r>
                  <a:rPr lang="en-US" dirty="0">
                    <a:latin typeface="+mn-lt"/>
                  </a:rPr>
                  <a:t>for ANNS was first proposed by </a:t>
                </a:r>
                <a:r>
                  <a:rPr lang="en-US" dirty="0">
                    <a:latin typeface="+mn-lt"/>
                    <a:hlinkClick r:id="rId3"/>
                  </a:rPr>
                  <a:t>Jégou, </a:t>
                </a:r>
                <a:r>
                  <a:rPr lang="en-US" dirty="0" err="1">
                    <a:latin typeface="+mn-lt"/>
                    <a:hlinkClick r:id="rId3"/>
                  </a:rPr>
                  <a:t>Douze</a:t>
                </a:r>
                <a:r>
                  <a:rPr lang="en-US" dirty="0">
                    <a:latin typeface="+mn-lt"/>
                    <a:hlinkClick r:id="rId3"/>
                  </a:rPr>
                  <a:t>, and Schmid, 2011</a:t>
                </a:r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code or centroid for </a:t>
                </a:r>
                <a:r>
                  <a:rPr lang="en-US" dirty="0" err="1">
                    <a:latin typeface="+mn-lt"/>
                  </a:rPr>
                  <a:t>subvector</a:t>
                </a:r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minimizes distance or quantization error to the </a:t>
                </a:r>
                <a:r>
                  <a:rPr lang="en-US" dirty="0" err="1">
                    <a:latin typeface="+mn-lt"/>
                  </a:rPr>
                  <a:t>subvector</a:t>
                </a:r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As we already noted, there is no feasible exact algorithm for this minimization </a:t>
                </a:r>
              </a:p>
              <a:p>
                <a:pPr lvl="1"/>
                <a:r>
                  <a:rPr lang="en-US" dirty="0">
                    <a:latin typeface="+mn-lt"/>
                  </a:rPr>
                  <a:t>For Euclidean metric we typically use Lloyd’s algorithm – a.k.a. k-means clustering</a:t>
                </a:r>
              </a:p>
              <a:p>
                <a:r>
                  <a:rPr lang="en-US" dirty="0">
                    <a:latin typeface="+mn-lt"/>
                  </a:rPr>
                  <a:t>A code book is constructed for each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subvectors</a:t>
                </a: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4F5EEE-EE0E-EBE4-335D-D661407C79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  <a:blipFill>
                <a:blip r:embed="rId4"/>
                <a:stretch>
                  <a:fillRect l="-1136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164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62926-5215-50E8-2BC9-B359F181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00241-FC43-4169-B109-FAA2BCAD7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2DE0A0-12DD-8D14-046C-5CB5205712A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Product Quantization (PQ) </a:t>
                </a:r>
                <a:r>
                  <a:rPr lang="en-US" dirty="0">
                    <a:latin typeface="+mn-lt"/>
                  </a:rPr>
                  <a:t>quantizes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of the observations </a:t>
                </a:r>
              </a:p>
              <a:p>
                <a:r>
                  <a:rPr lang="en-US" dirty="0">
                    <a:latin typeface="+mn-lt"/>
                  </a:rPr>
                  <a:t>Each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have an independent code book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 quantization levels </a:t>
                </a:r>
                <a:r>
                  <a:rPr lang="en-US" sz="2000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2DE0A0-12DD-8D14-046C-5CB5205712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  <a:blipFill>
                <a:blip r:embed="rId3"/>
                <a:stretch>
                  <a:fillRect l="-1136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29F28B8-8215-96D7-E437-3C179FFC9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5733" y="2980651"/>
            <a:ext cx="8388481" cy="2981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BA1A08-F8C5-3BEB-E840-41B47BC8A9C9}"/>
              </a:ext>
            </a:extLst>
          </p:cNvPr>
          <p:cNvSpPr txBox="1"/>
          <p:nvPr/>
        </p:nvSpPr>
        <p:spPr>
          <a:xfrm>
            <a:off x="1721224" y="6174343"/>
            <a:ext cx="858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Example from </a:t>
            </a:r>
            <a:r>
              <a:rPr lang="en-US" sz="2400" dirty="0">
                <a:hlinkClick r:id="rId5"/>
              </a:rPr>
              <a:t>Chris McCormick’s blog post </a:t>
            </a:r>
            <a:r>
              <a:rPr lang="en-US" sz="2400" dirty="0"/>
              <a:t>on the PQ algorithm </a:t>
            </a:r>
          </a:p>
        </p:txBody>
      </p:sp>
    </p:spTree>
    <p:extLst>
      <p:ext uri="{BB962C8B-B14F-4D97-AF65-F5344CB8AC3E}">
        <p14:creationId xmlns:p14="http://schemas.microsoft.com/office/powerpoint/2010/main" val="11780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C070-6470-FFD3-022F-6F4D94D21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5148-167D-A26A-2A51-4F8CE4020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100C9F-0A37-12C7-D3B9-39DA186315F8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Product Quantization (PQ) </a:t>
                </a:r>
                <a:r>
                  <a:rPr lang="en-US" dirty="0">
                    <a:latin typeface="+mn-lt"/>
                  </a:rPr>
                  <a:t>for ANNS was first proposed by </a:t>
                </a:r>
                <a:r>
                  <a:rPr lang="en-US" dirty="0">
                    <a:latin typeface="+mn-lt"/>
                    <a:hlinkClick r:id="rId3"/>
                  </a:rPr>
                  <a:t>Jégou, </a:t>
                </a:r>
                <a:r>
                  <a:rPr lang="en-US" dirty="0" err="1">
                    <a:latin typeface="+mn-lt"/>
                    <a:hlinkClick r:id="rId3"/>
                  </a:rPr>
                  <a:t>Douze</a:t>
                </a:r>
                <a:r>
                  <a:rPr lang="en-US" dirty="0">
                    <a:latin typeface="+mn-lt"/>
                    <a:hlinkClick r:id="rId3"/>
                  </a:rPr>
                  <a:t>, and Schmid, 2011</a:t>
                </a:r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Each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have an independent code book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 quantization levels</a:t>
                </a:r>
                <a:endParaRPr lang="en-US" sz="20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full vector is encoded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codes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</a:t>
                </a:r>
                <a:r>
                  <a:rPr lang="en-US" b="0" dirty="0">
                    <a:latin typeface="+mn-lt"/>
                  </a:rPr>
                  <a:t>ach </a:t>
                </a:r>
                <a:r>
                  <a:rPr lang="en-US" b="0" dirty="0" err="1">
                    <a:latin typeface="+mn-lt"/>
                  </a:rPr>
                  <a:t>subvector</a:t>
                </a:r>
                <a:r>
                  <a:rPr lang="en-US" b="0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is</a:t>
                </a:r>
                <a:r>
                  <a:rPr lang="en-US" b="0" dirty="0">
                    <a:latin typeface="+mn-lt"/>
                  </a:rPr>
                  <a:t> coded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b="0" dirty="0">
                    <a:latin typeface="+mn-lt"/>
                  </a:rPr>
                  <a:t> levels,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b="0" dirty="0">
                    <a:latin typeface="+mn-lt"/>
                  </a:rPr>
                  <a:t> bits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b="0" dirty="0">
                    <a:latin typeface="+mn-lt"/>
                  </a:rPr>
                  <a:t>Example, using a one byte (8 bit) code</a:t>
                </a:r>
                <a:r>
                  <a:rPr lang="en-US" dirty="0">
                    <a:latin typeface="+mn-lt"/>
                  </a:rPr>
                  <a:t> the centroid code has discrete values: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=256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𝑙𝑒𝑣𝑒𝑙𝑠</m:t>
                      </m:r>
                    </m:oMath>
                  </m:oMathPara>
                </a14:m>
                <a:endParaRPr lang="en-US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100C9F-0A37-12C7-D3B9-39DA186315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  <a:blipFill>
                <a:blip r:embed="rId4"/>
                <a:stretch>
                  <a:fillRect l="-1136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673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F2A23-D05E-D3AB-7698-34AE81790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21922-CE6B-976C-1929-339971511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EF5DD-938D-0AC5-AA20-42CE2867338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270796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Product Quantization (PQ) </a:t>
                </a:r>
                <a:r>
                  <a:rPr lang="en-US" dirty="0">
                    <a:latin typeface="+mn-lt"/>
                  </a:rPr>
                  <a:t>for ANNS was first proposed by </a:t>
                </a:r>
                <a:r>
                  <a:rPr lang="en-US" dirty="0">
                    <a:latin typeface="+mn-lt"/>
                    <a:hlinkClick r:id="rId3"/>
                  </a:rPr>
                  <a:t>Jégou, </a:t>
                </a:r>
                <a:r>
                  <a:rPr lang="en-US" dirty="0" err="1">
                    <a:latin typeface="+mn-lt"/>
                    <a:hlinkClick r:id="rId3"/>
                  </a:rPr>
                  <a:t>Douze</a:t>
                </a:r>
                <a:r>
                  <a:rPr lang="en-US" dirty="0">
                    <a:latin typeface="+mn-lt"/>
                    <a:hlinkClick r:id="rId3"/>
                  </a:rPr>
                  <a:t>, and Schmid, 2011</a:t>
                </a:r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full vector is encoded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codes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Simple PQ coding is invertible,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, so we can approximately reconstruct the original vector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acc>
                        <m:accPr>
                          <m:chr m:val="̃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PQ coded </a:t>
                </a:r>
                <a:r>
                  <a:rPr lang="en-US" b="1" dirty="0">
                    <a:latin typeface="+mn-lt"/>
                  </a:rPr>
                  <a:t>distance is invertible and symmetric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EF5DD-938D-0AC5-AA20-42CE286733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270796" cy="5698998"/>
              </a:xfrm>
              <a:blipFill>
                <a:blip r:embed="rId4"/>
                <a:stretch>
                  <a:fillRect l="-1136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44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093EA-CC99-48B2-0481-DA4142558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F3B76-7E86-9319-2830-22745F97B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312019-C3B3-67BF-FA81-D84BEEE3EC6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4" y="896078"/>
                <a:ext cx="7318920" cy="58030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Product Quantization (PQ) </a:t>
                </a:r>
                <a:r>
                  <a:rPr lang="en-US" dirty="0">
                    <a:latin typeface="+mn-lt"/>
                  </a:rPr>
                  <a:t>is memory efficient  </a:t>
                </a:r>
              </a:p>
              <a:p>
                <a:pPr marL="285750" indent="-285750"/>
                <a:r>
                  <a:rPr lang="en-US" dirty="0">
                    <a:latin typeface="+mn-lt"/>
                  </a:rPr>
                  <a:t>The complete code book for each </a:t>
                </a:r>
                <a:r>
                  <a:rPr lang="en-US" dirty="0" err="1">
                    <a:latin typeface="+mn-lt"/>
                  </a:rPr>
                  <a:t>subvector</a:t>
                </a:r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+mn-lt"/>
                  </a:rPr>
                  <a:t>, is represented by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i="1" dirty="0">
                    <a:latin typeface="+mn-lt"/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array</a:t>
                </a:r>
              </a:p>
              <a:p>
                <a:pPr marL="742950" lvl="1" indent="-285750"/>
                <a:r>
                  <a:rPr lang="en-US" sz="2200" dirty="0">
                    <a:latin typeface="+mn-lt"/>
                  </a:rPr>
                  <a:t>Example,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lang="en-US" sz="2200" dirty="0">
                    <a:latin typeface="+mn-lt"/>
                  </a:rPr>
                  <a:t> the full code book is 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lang="en-US" sz="2200" dirty="0">
                    <a:latin typeface="+mn-lt"/>
                  </a:rPr>
                  <a:t> array </a:t>
                </a:r>
              </a:p>
              <a:p>
                <a:r>
                  <a:rPr lang="en-US" dirty="0">
                    <a:latin typeface="+mn-lt"/>
                  </a:rPr>
                  <a:t>Example of compression</a:t>
                </a:r>
              </a:p>
              <a:p>
                <a:pPr lvl="1"/>
                <a:r>
                  <a:rPr lang="en-US" sz="2200" dirty="0">
                    <a:latin typeface="+mn-lt"/>
                  </a:rPr>
                  <a:t>Vector length,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=1024</m:t>
                    </m:r>
                  </m:oMath>
                </a14:m>
                <a:r>
                  <a:rPr lang="en-US" sz="2200" dirty="0">
                    <a:latin typeface="+mn-lt"/>
                  </a:rPr>
                  <a:t>, memory for float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×8×1024=32768</m:t>
                    </m:r>
                  </m:oMath>
                </a14:m>
                <a:r>
                  <a:rPr lang="en-US" sz="2200" dirty="0">
                    <a:latin typeface="+mn-lt"/>
                  </a:rPr>
                  <a:t> bits</a:t>
                </a:r>
              </a:p>
              <a:p>
                <a:pPr lvl="1"/>
                <a:r>
                  <a:rPr lang="en-US" sz="2200" dirty="0">
                    <a:latin typeface="+mn-lt"/>
                  </a:rPr>
                  <a:t>Number of </a:t>
                </a:r>
                <a:r>
                  <a:rPr lang="en-US" sz="2200" dirty="0" err="1">
                    <a:latin typeface="+mn-lt"/>
                  </a:rPr>
                  <a:t>subvectors</a:t>
                </a:r>
                <a:r>
                  <a:rPr lang="en-US" sz="22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US" sz="2200" b="0" dirty="0">
                  <a:latin typeface="+mn-lt"/>
                </a:endParaRPr>
              </a:p>
              <a:p>
                <a:pPr lvl="1"/>
                <a:r>
                  <a:rPr lang="en-US" sz="2200" dirty="0">
                    <a:latin typeface="+mn-lt"/>
                  </a:rPr>
                  <a:t>Number of code levels,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200" dirty="0">
                    <a:latin typeface="+mn-lt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dirty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=8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⟶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=256</m:t>
                    </m:r>
                  </m:oMath>
                </a14:m>
                <a:r>
                  <a:rPr lang="en-US" sz="2200" dirty="0">
                    <a:latin typeface="+mn-lt"/>
                  </a:rPr>
                  <a:t> levels</a:t>
                </a:r>
              </a:p>
              <a:p>
                <a:pPr lvl="1"/>
                <a:r>
                  <a:rPr lang="en-US" sz="2200" dirty="0">
                    <a:latin typeface="+mn-lt"/>
                  </a:rPr>
                  <a:t>Total codes per vector,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US" sz="2200" dirty="0">
                    <a:latin typeface="+mn-lt"/>
                  </a:rPr>
                  <a:t> bits </a:t>
                </a:r>
              </a:p>
              <a:p>
                <a:pPr lvl="1"/>
                <a:r>
                  <a:rPr lang="en-US" sz="2200" b="1" dirty="0">
                    <a:latin typeface="+mn-lt"/>
                  </a:rPr>
                  <a:t>Compression factor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32768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×8</m:t>
                        </m:r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=512</m:t>
                    </m:r>
                  </m:oMath>
                </a14:m>
                <a:endParaRPr lang="en-US" sz="2200" b="0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312019-C3B3-67BF-FA81-D84BEEE3EC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4" y="896078"/>
                <a:ext cx="7318920" cy="5803001"/>
              </a:xfrm>
              <a:blipFill>
                <a:blip r:embed="rId3"/>
                <a:stretch>
                  <a:fillRect l="-1750" t="-1786" r="-1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B65D19C0-B598-6051-6E61-7911D8196E6C}"/>
              </a:ext>
            </a:extLst>
          </p:cNvPr>
          <p:cNvGrpSpPr/>
          <p:nvPr/>
        </p:nvGrpSpPr>
        <p:grpSpPr>
          <a:xfrm>
            <a:off x="8933452" y="2808302"/>
            <a:ext cx="2579045" cy="2298539"/>
            <a:chOff x="4425904" y="2425838"/>
            <a:chExt cx="3738150" cy="3093306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23CB0AD-4740-2E72-8A4E-F8AB593C7B55}"/>
                </a:ext>
              </a:extLst>
            </p:cNvPr>
            <p:cNvSpPr/>
            <p:nvPr/>
          </p:nvSpPr>
          <p:spPr>
            <a:xfrm>
              <a:off x="4425904" y="2502788"/>
              <a:ext cx="3738147" cy="301635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D34D306-9B78-5A5E-6C51-8307B5DF35D0}"/>
                </a:ext>
              </a:extLst>
            </p:cNvPr>
            <p:cNvSpPr/>
            <p:nvPr/>
          </p:nvSpPr>
          <p:spPr>
            <a:xfrm>
              <a:off x="7142584" y="2502788"/>
              <a:ext cx="1021467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0 ,-1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85C0E14-13F8-AB9B-9CD3-2EDD703F0F86}"/>
                </a:ext>
              </a:extLst>
            </p:cNvPr>
            <p:cNvSpPr/>
            <p:nvPr/>
          </p:nvSpPr>
          <p:spPr>
            <a:xfrm>
              <a:off x="7142584" y="2865634"/>
              <a:ext cx="1021468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1 ,m-1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223266A-3588-22A4-F2E9-5D90E76B043E}"/>
                </a:ext>
              </a:extLst>
            </p:cNvPr>
            <p:cNvSpPr/>
            <p:nvPr/>
          </p:nvSpPr>
          <p:spPr>
            <a:xfrm>
              <a:off x="7142584" y="3214810"/>
              <a:ext cx="1021468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2 ,m-1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5501206-0930-B406-36CC-AD6ACF771486}"/>
                </a:ext>
              </a:extLst>
            </p:cNvPr>
            <p:cNvSpPr/>
            <p:nvPr/>
          </p:nvSpPr>
          <p:spPr>
            <a:xfrm>
              <a:off x="7142582" y="3577656"/>
              <a:ext cx="1021470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3 ,m-1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A534B37-E621-1EC3-A1A9-5297E95624C3}"/>
                </a:ext>
              </a:extLst>
            </p:cNvPr>
            <p:cNvSpPr/>
            <p:nvPr/>
          </p:nvSpPr>
          <p:spPr>
            <a:xfrm>
              <a:off x="7142581" y="4793452"/>
              <a:ext cx="1021473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k-2 ,m-1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2B117E0-934F-1055-C82D-A3A5F4008709}"/>
                </a:ext>
              </a:extLst>
            </p:cNvPr>
            <p:cNvSpPr/>
            <p:nvPr/>
          </p:nvSpPr>
          <p:spPr>
            <a:xfrm>
              <a:off x="7142579" y="5156298"/>
              <a:ext cx="1021473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k-1,k-1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18B12C4-8618-F5FD-65E9-CE967C566D62}"/>
                </a:ext>
              </a:extLst>
            </p:cNvPr>
            <p:cNvSpPr txBox="1"/>
            <p:nvPr/>
          </p:nvSpPr>
          <p:spPr>
            <a:xfrm>
              <a:off x="7361476" y="3870122"/>
              <a:ext cx="45719" cy="884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.</a:t>
              </a:r>
            </a:p>
            <a:p>
              <a:r>
                <a:rPr lang="en-US" sz="1200" b="1" dirty="0"/>
                <a:t>.</a:t>
              </a:r>
            </a:p>
            <a:p>
              <a:r>
                <a:rPr lang="en-US" sz="1200" b="1" dirty="0"/>
                <a:t>.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B7A796D-500E-6A89-B5FE-182987176EE4}"/>
                </a:ext>
              </a:extLst>
            </p:cNvPr>
            <p:cNvSpPr/>
            <p:nvPr/>
          </p:nvSpPr>
          <p:spPr>
            <a:xfrm>
              <a:off x="4425909" y="2502788"/>
              <a:ext cx="1021467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0 ,0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0B8CC90-AB0C-EB76-8106-D93D32789134}"/>
                </a:ext>
              </a:extLst>
            </p:cNvPr>
            <p:cNvSpPr/>
            <p:nvPr/>
          </p:nvSpPr>
          <p:spPr>
            <a:xfrm>
              <a:off x="4425909" y="2865634"/>
              <a:ext cx="1021468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1 ,0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3575AEF-E16F-401F-AB1F-DAE065325DE9}"/>
                </a:ext>
              </a:extLst>
            </p:cNvPr>
            <p:cNvSpPr/>
            <p:nvPr/>
          </p:nvSpPr>
          <p:spPr>
            <a:xfrm>
              <a:off x="4425909" y="3214810"/>
              <a:ext cx="1021468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2 ,0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A46976A-8446-337F-0642-9DAFB8027DC8}"/>
                </a:ext>
              </a:extLst>
            </p:cNvPr>
            <p:cNvSpPr/>
            <p:nvPr/>
          </p:nvSpPr>
          <p:spPr>
            <a:xfrm>
              <a:off x="4425907" y="3577656"/>
              <a:ext cx="1021470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3 ,0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BAC01E7-2601-019D-1DE6-88AD234FD030}"/>
                </a:ext>
              </a:extLst>
            </p:cNvPr>
            <p:cNvSpPr/>
            <p:nvPr/>
          </p:nvSpPr>
          <p:spPr>
            <a:xfrm>
              <a:off x="4425906" y="4793452"/>
              <a:ext cx="1021473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k-2 ,0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CA9BDBB-BC21-8764-50DC-847F5BD36CF5}"/>
                </a:ext>
              </a:extLst>
            </p:cNvPr>
            <p:cNvSpPr/>
            <p:nvPr/>
          </p:nvSpPr>
          <p:spPr>
            <a:xfrm>
              <a:off x="4425904" y="5156298"/>
              <a:ext cx="1021473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k-1,0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F2F29D9-0395-6C2C-0982-3103A6E8389B}"/>
                </a:ext>
              </a:extLst>
            </p:cNvPr>
            <p:cNvSpPr txBox="1"/>
            <p:nvPr/>
          </p:nvSpPr>
          <p:spPr>
            <a:xfrm>
              <a:off x="4644802" y="3870122"/>
              <a:ext cx="45719" cy="884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.</a:t>
              </a:r>
            </a:p>
            <a:p>
              <a:r>
                <a:rPr lang="en-US" sz="1200" b="1" dirty="0"/>
                <a:t>.</a:t>
              </a:r>
            </a:p>
            <a:p>
              <a:r>
                <a:rPr lang="en-US" sz="1200" b="1" dirty="0"/>
                <a:t>.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DE06383-B287-C229-46C7-B68B1498315E}"/>
                </a:ext>
              </a:extLst>
            </p:cNvPr>
            <p:cNvSpPr/>
            <p:nvPr/>
          </p:nvSpPr>
          <p:spPr>
            <a:xfrm>
              <a:off x="5447376" y="2502788"/>
              <a:ext cx="1021467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0 ,1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AD979AB-E718-A0C2-6B37-0A3FF41A079E}"/>
                </a:ext>
              </a:extLst>
            </p:cNvPr>
            <p:cNvSpPr/>
            <p:nvPr/>
          </p:nvSpPr>
          <p:spPr>
            <a:xfrm>
              <a:off x="5447376" y="2865634"/>
              <a:ext cx="1021468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1 ,1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47E97D2-DB6A-1C50-4F24-4FE24C43FBCA}"/>
                </a:ext>
              </a:extLst>
            </p:cNvPr>
            <p:cNvSpPr/>
            <p:nvPr/>
          </p:nvSpPr>
          <p:spPr>
            <a:xfrm>
              <a:off x="5447376" y="3214810"/>
              <a:ext cx="1021468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2 ,1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B59611A-FED7-EA11-8F30-9E334CCDB49A}"/>
                </a:ext>
              </a:extLst>
            </p:cNvPr>
            <p:cNvSpPr/>
            <p:nvPr/>
          </p:nvSpPr>
          <p:spPr>
            <a:xfrm>
              <a:off x="5447374" y="3577656"/>
              <a:ext cx="1021470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3 ,1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0374324-4244-F6F7-DE9D-6C193A2D9690}"/>
                </a:ext>
              </a:extLst>
            </p:cNvPr>
            <p:cNvSpPr/>
            <p:nvPr/>
          </p:nvSpPr>
          <p:spPr>
            <a:xfrm>
              <a:off x="5447373" y="4793452"/>
              <a:ext cx="1021473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N-2 ,1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5AB5769-9516-4722-6565-AB6A98A77E5B}"/>
                </a:ext>
              </a:extLst>
            </p:cNvPr>
            <p:cNvSpPr/>
            <p:nvPr/>
          </p:nvSpPr>
          <p:spPr>
            <a:xfrm>
              <a:off x="5447371" y="5156298"/>
              <a:ext cx="1021473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N-1,1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2F0DA0E-0C8F-5F21-B589-50E28864FCEE}"/>
                </a:ext>
              </a:extLst>
            </p:cNvPr>
            <p:cNvSpPr txBox="1"/>
            <p:nvPr/>
          </p:nvSpPr>
          <p:spPr>
            <a:xfrm>
              <a:off x="5666268" y="3870122"/>
              <a:ext cx="45719" cy="884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.</a:t>
              </a:r>
            </a:p>
            <a:p>
              <a:r>
                <a:rPr lang="en-US" sz="1200" b="1" dirty="0"/>
                <a:t>.</a:t>
              </a:r>
            </a:p>
            <a:p>
              <a:r>
                <a:rPr lang="en-US" sz="1200" b="1" dirty="0"/>
                <a:t>.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326E8D4-3604-D280-1B9A-D6B3B377D8B4}"/>
                </a:ext>
              </a:extLst>
            </p:cNvPr>
            <p:cNvSpPr txBox="1"/>
            <p:nvPr/>
          </p:nvSpPr>
          <p:spPr>
            <a:xfrm>
              <a:off x="6468843" y="2425838"/>
              <a:ext cx="660128" cy="37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. . .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5B79DFE-DDFA-B019-A89A-5E31AD8984C6}"/>
                </a:ext>
              </a:extLst>
            </p:cNvPr>
            <p:cNvSpPr txBox="1"/>
            <p:nvPr/>
          </p:nvSpPr>
          <p:spPr>
            <a:xfrm>
              <a:off x="6430005" y="2810246"/>
              <a:ext cx="660128" cy="37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. . .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16CFE6F-C6F1-5D16-CF82-922BEB38FBAE}"/>
                </a:ext>
              </a:extLst>
            </p:cNvPr>
            <p:cNvSpPr txBox="1"/>
            <p:nvPr/>
          </p:nvSpPr>
          <p:spPr>
            <a:xfrm>
              <a:off x="6430005" y="3176335"/>
              <a:ext cx="660128" cy="37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. . .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20D81A1-0FF3-6FE8-6BCE-55EC0A5138E6}"/>
                </a:ext>
              </a:extLst>
            </p:cNvPr>
            <p:cNvSpPr txBox="1"/>
            <p:nvPr/>
          </p:nvSpPr>
          <p:spPr>
            <a:xfrm>
              <a:off x="6377559" y="3548715"/>
              <a:ext cx="660128" cy="37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. . .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19FB8DB-FC72-9411-E92B-EB23D3CC66C0}"/>
                </a:ext>
              </a:extLst>
            </p:cNvPr>
            <p:cNvSpPr txBox="1"/>
            <p:nvPr/>
          </p:nvSpPr>
          <p:spPr>
            <a:xfrm>
              <a:off x="6404455" y="4732872"/>
              <a:ext cx="660128" cy="37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. . .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BE7C7EE-51FB-E47A-61B1-B64B97CAA158}"/>
                </a:ext>
              </a:extLst>
            </p:cNvPr>
            <p:cNvSpPr txBox="1"/>
            <p:nvPr/>
          </p:nvSpPr>
          <p:spPr>
            <a:xfrm>
              <a:off x="6377559" y="5098960"/>
              <a:ext cx="660128" cy="37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. . .</a:t>
              </a:r>
            </a:p>
          </p:txBody>
        </p:sp>
      </p:grp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49CEBAF-54FE-A612-3274-2E1CCB0F05ED}"/>
              </a:ext>
            </a:extLst>
          </p:cNvPr>
          <p:cNvCxnSpPr>
            <a:cxnSpLocks/>
          </p:cNvCxnSpPr>
          <p:nvPr/>
        </p:nvCxnSpPr>
        <p:spPr>
          <a:xfrm>
            <a:off x="8933453" y="2727694"/>
            <a:ext cx="2579042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04AF0C5-18F4-DD39-E8A9-75A74E6D4941}"/>
              </a:ext>
            </a:extLst>
          </p:cNvPr>
          <p:cNvCxnSpPr>
            <a:cxnSpLocks/>
          </p:cNvCxnSpPr>
          <p:nvPr/>
        </p:nvCxnSpPr>
        <p:spPr>
          <a:xfrm flipV="1">
            <a:off x="8785635" y="2885252"/>
            <a:ext cx="0" cy="2221612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8408B30-D12C-FC9C-7DA1-B61F119DC2D0}"/>
                  </a:ext>
                </a:extLst>
              </p:cNvPr>
              <p:cNvSpPr txBox="1"/>
              <p:nvPr/>
            </p:nvSpPr>
            <p:spPr>
              <a:xfrm>
                <a:off x="8415085" y="3643943"/>
                <a:ext cx="4071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8408B30-D12C-FC9C-7DA1-B61F119DC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5085" y="3643943"/>
                <a:ext cx="407167" cy="461665"/>
              </a:xfrm>
              <a:prstGeom prst="rect">
                <a:avLst/>
              </a:prstGeom>
              <a:blipFill>
                <a:blip r:embed="rId4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6C4EF4-E1BF-D322-FF8C-2C9C70D91D2F}"/>
                  </a:ext>
                </a:extLst>
              </p:cNvPr>
              <p:cNvSpPr txBox="1"/>
              <p:nvPr/>
            </p:nvSpPr>
            <p:spPr>
              <a:xfrm>
                <a:off x="9992721" y="2185422"/>
                <a:ext cx="4605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6C4EF4-E1BF-D322-FF8C-2C9C70D91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2721" y="2185422"/>
                <a:ext cx="46050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610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0DEAD-D601-8B9F-C073-20964A6F4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D8072-659E-4A7F-25D9-4299DAFDA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EAA21-64F7-6F0C-85FC-E1635924EFE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4" y="896078"/>
                <a:ext cx="11412312" cy="58030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Product Quantization (PQ) queries use </a:t>
                </a:r>
                <a:r>
                  <a:rPr lang="en-US" b="1" dirty="0">
                    <a:latin typeface="+mn-lt"/>
                  </a:rPr>
                  <a:t>asymmetric distance (ASD) calculations</a:t>
                </a:r>
              </a:p>
              <a:p>
                <a:pPr marL="285750" indent="-285750"/>
                <a:r>
                  <a:rPr lang="en-US" dirty="0">
                    <a:latin typeface="+mn-lt"/>
                  </a:rPr>
                  <a:t>A naïve (symmetric) algorithm for PQ ANNS</a:t>
                </a:r>
              </a:p>
              <a:p>
                <a:pPr marL="742950" lvl="1" indent="-285750"/>
                <a:r>
                  <a:rPr lang="en-US" dirty="0">
                    <a:latin typeface="+mn-lt"/>
                  </a:rPr>
                  <a:t>Invert PQ index to search for nearest neighbor of uncompressed query vector</a:t>
                </a:r>
              </a:p>
              <a:p>
                <a:pPr marL="742950" lvl="1" indent="-285750"/>
                <a:r>
                  <a:rPr lang="en-US" dirty="0">
                    <a:latin typeface="+mn-lt"/>
                  </a:rPr>
                  <a:t>This process is </a:t>
                </a:r>
                <a:r>
                  <a:rPr lang="en-US" b="1" dirty="0">
                    <a:latin typeface="+mn-lt"/>
                  </a:rPr>
                  <a:t>invertible</a:t>
                </a:r>
                <a:r>
                  <a:rPr lang="en-US" dirty="0">
                    <a:latin typeface="+mn-lt"/>
                  </a:rPr>
                  <a:t> and therefore </a:t>
                </a:r>
                <a:r>
                  <a:rPr lang="en-US" b="1" dirty="0">
                    <a:latin typeface="+mn-lt"/>
                  </a:rPr>
                  <a:t>symmetric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pPr marL="285750" indent="-285750"/>
                <a:r>
                  <a:rPr lang="en-US" dirty="0">
                    <a:latin typeface="+mn-lt"/>
                  </a:rPr>
                  <a:t>ASD provides an efficient look-up method for ANNS</a:t>
                </a:r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by compressing the query vector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subvectors</a:t>
                </a:r>
                <a:r>
                  <a:rPr lang="en-US" dirty="0"/>
                  <a:t> </a:t>
                </a:r>
                <a:endParaRPr lang="en-US" dirty="0">
                  <a:latin typeface="+mn-lt"/>
                </a:endParaRPr>
              </a:p>
              <a:p>
                <a:pPr marL="285750" indent="-285750"/>
                <a:r>
                  <a:rPr lang="en-US" dirty="0">
                    <a:latin typeface="+mn-lt"/>
                  </a:rPr>
                  <a:t>For the ASD algorithm computes distances between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of the query,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latin typeface="+mn-lt"/>
                  </a:rPr>
                  <a:t>, and the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 centroids,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marL="742950" lvl="1" indent="-285750"/>
                <a:r>
                  <a:rPr lang="en-US" dirty="0">
                    <a:latin typeface="+mn-lt"/>
                  </a:rPr>
                  <a:t>This process is </a:t>
                </a:r>
                <a:r>
                  <a:rPr lang="en-US" b="1" dirty="0">
                    <a:latin typeface="+mn-lt"/>
                  </a:rPr>
                  <a:t>not </a:t>
                </a:r>
                <a:r>
                  <a:rPr lang="en-US" b="1" dirty="0" err="1">
                    <a:latin typeface="+mn-lt"/>
                  </a:rPr>
                  <a:t>invertable</a:t>
                </a:r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and therefore </a:t>
                </a:r>
                <a:r>
                  <a:rPr lang="en-US" b="1" dirty="0">
                    <a:latin typeface="+mn-lt"/>
                  </a:rPr>
                  <a:t>asymmetric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pPr marL="742950" lvl="1" indent="-285750"/>
                <a:r>
                  <a:rPr lang="en-US" dirty="0">
                    <a:latin typeface="+mn-lt"/>
                  </a:rPr>
                  <a:t>NN search on the lookup table is fast </a:t>
                </a:r>
              </a:p>
              <a:p>
                <a:pPr marL="285750" indent="-285750"/>
                <a:endParaRPr lang="en-US" b="0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EAA21-64F7-6F0C-85FC-E1635924EF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4" y="896078"/>
                <a:ext cx="11412312" cy="5803001"/>
              </a:xfrm>
              <a:blipFill>
                <a:blip r:embed="rId3"/>
                <a:stretch>
                  <a:fillRect l="-1122" t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774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506CD-0236-2A11-9221-8F6C9CB1B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1491F-5739-AC02-C972-5E56F253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Performance of the PQ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52F4D9-EBD8-ED39-54A5-4010F515122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6061982" cy="569899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PQ algorithm has two key hyperparameters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: increasing the number of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decreases the quantization error </a:t>
                </a:r>
              </a:p>
              <a:p>
                <a:pPr lvl="1"/>
                <a:r>
                  <a:rPr lang="en-US" dirty="0">
                    <a:latin typeface="+mn-lt"/>
                  </a:rPr>
                  <a:t>As the number of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increases the size of the code book increases</a:t>
                </a:r>
              </a:p>
              <a:p>
                <a:pPr lvl="1"/>
                <a:r>
                  <a:rPr lang="en-US" dirty="0">
                    <a:latin typeface="+mn-lt"/>
                  </a:rPr>
                  <a:t>As the number of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increases the computational complexity increases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, increasing the number of quantization levels decreases the quantization error </a:t>
                </a:r>
              </a:p>
              <a:p>
                <a:pPr lvl="1"/>
                <a:r>
                  <a:rPr lang="en-US" dirty="0">
                    <a:latin typeface="+mn-lt"/>
                  </a:rPr>
                  <a:t> As the number of quantization levels increases the size of the code book increases</a:t>
                </a:r>
              </a:p>
              <a:p>
                <a:pPr lvl="1"/>
                <a:r>
                  <a:rPr lang="en-US" dirty="0">
                    <a:latin typeface="+mn-lt"/>
                  </a:rPr>
                  <a:t>As the number of quantization levels increases the computational complexity increases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52F4D9-EBD8-ED39-54A5-4010F5151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6061982" cy="5698998"/>
              </a:xfrm>
              <a:blipFill>
                <a:blip r:embed="rId3"/>
                <a:stretch>
                  <a:fillRect l="-1811" t="-1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8B7046C-E9A4-E742-9205-31341161BB00}"/>
              </a:ext>
            </a:extLst>
          </p:cNvPr>
          <p:cNvSpPr/>
          <p:nvPr/>
        </p:nvSpPr>
        <p:spPr>
          <a:xfrm>
            <a:off x="6787242" y="1689789"/>
            <a:ext cx="5023757" cy="3887773"/>
          </a:xfrm>
          <a:prstGeom prst="triangle">
            <a:avLst>
              <a:gd name="adj" fmla="val 50228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B467C-80D3-20B1-1DDD-6EFBB6367E78}"/>
              </a:ext>
            </a:extLst>
          </p:cNvPr>
          <p:cNvSpPr txBox="1"/>
          <p:nvPr/>
        </p:nvSpPr>
        <p:spPr>
          <a:xfrm>
            <a:off x="8360227" y="76157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FB24D1-90C9-42BB-5815-E896814A4D2F}"/>
              </a:ext>
            </a:extLst>
          </p:cNvPr>
          <p:cNvSpPr txBox="1"/>
          <p:nvPr/>
        </p:nvSpPr>
        <p:spPr>
          <a:xfrm>
            <a:off x="6293304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52D803-B59A-85F4-95E7-803A65C2F600}"/>
              </a:ext>
            </a:extLst>
          </p:cNvPr>
          <p:cNvSpPr txBox="1"/>
          <p:nvPr/>
        </p:nvSpPr>
        <p:spPr>
          <a:xfrm>
            <a:off x="10619014" y="5577562"/>
            <a:ext cx="15729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Recall -Accuracy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E63A3A-3F72-26D7-476B-6DA571184C32}"/>
              </a:ext>
            </a:extLst>
          </p:cNvPr>
          <p:cNvCxnSpPr>
            <a:cxnSpLocks/>
          </p:cNvCxnSpPr>
          <p:nvPr/>
        </p:nvCxnSpPr>
        <p:spPr>
          <a:xfrm>
            <a:off x="10107386" y="5327947"/>
            <a:ext cx="115932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C982E1-D3B6-ECE9-02CF-BC55B17D31F5}"/>
              </a:ext>
            </a:extLst>
          </p:cNvPr>
          <p:cNvCxnSpPr>
            <a:cxnSpLocks/>
          </p:cNvCxnSpPr>
          <p:nvPr/>
        </p:nvCxnSpPr>
        <p:spPr>
          <a:xfrm>
            <a:off x="10816771" y="4511896"/>
            <a:ext cx="566058" cy="7674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9F261D4-CE43-0703-5E15-56BBEC2C394C}"/>
              </a:ext>
            </a:extLst>
          </p:cNvPr>
          <p:cNvSpPr txBox="1"/>
          <p:nvPr/>
        </p:nvSpPr>
        <p:spPr>
          <a:xfrm>
            <a:off x="9214753" y="3665953"/>
            <a:ext cx="1562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Increasing p and 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58639E-9FA7-BAC9-A7A4-AFAA76A7225A}"/>
              </a:ext>
            </a:extLst>
          </p:cNvPr>
          <p:cNvCxnSpPr>
            <a:cxnSpLocks/>
          </p:cNvCxnSpPr>
          <p:nvPr/>
        </p:nvCxnSpPr>
        <p:spPr>
          <a:xfrm>
            <a:off x="9378043" y="2294150"/>
            <a:ext cx="859970" cy="1357963"/>
          </a:xfrm>
          <a:prstGeom prst="straightConnector1">
            <a:avLst/>
          </a:prstGeom>
          <a:ln w="508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01FF80A-06D3-5C6C-556C-3538BC50D558}"/>
              </a:ext>
            </a:extLst>
          </p:cNvPr>
          <p:cNvSpPr txBox="1"/>
          <p:nvPr/>
        </p:nvSpPr>
        <p:spPr>
          <a:xfrm>
            <a:off x="8675912" y="4746565"/>
            <a:ext cx="1562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Increasing p and m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29DD9A9-BBFC-64FE-1355-7FFE740C29B4}"/>
              </a:ext>
            </a:extLst>
          </p:cNvPr>
          <p:cNvCxnSpPr>
            <a:cxnSpLocks/>
          </p:cNvCxnSpPr>
          <p:nvPr/>
        </p:nvCxnSpPr>
        <p:spPr>
          <a:xfrm>
            <a:off x="7407729" y="5360597"/>
            <a:ext cx="1298115" cy="0"/>
          </a:xfrm>
          <a:prstGeom prst="straightConnector1">
            <a:avLst/>
          </a:prstGeom>
          <a:ln w="508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92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16" grpId="0"/>
      <p:bldP spid="1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47C8E-F652-0FC9-87A6-9BE1BA9D8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7F0CF-9E55-11B4-D7B0-DA3980292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Improving Basic Quantization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46E0C-D27B-E430-69AC-D6C9E997D96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4" y="896079"/>
            <a:ext cx="11177308" cy="25329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Quantization algorithms can be formulated in terms residuals, RPQ</a:t>
            </a:r>
          </a:p>
          <a:p>
            <a:pPr marL="285750" indent="-285750"/>
            <a:r>
              <a:rPr lang="en-US" dirty="0">
                <a:latin typeface="+mn-lt"/>
              </a:rPr>
              <a:t>We can perform similarity search using differences or residuals with respect to the centroid  </a:t>
            </a:r>
          </a:p>
          <a:p>
            <a:pPr marL="285750" indent="-285750"/>
            <a:r>
              <a:rPr lang="en-US" dirty="0">
                <a:latin typeface="+mn-lt"/>
              </a:rPr>
              <a:t>Idea proposed by </a:t>
            </a:r>
            <a:r>
              <a:rPr lang="en-US" dirty="0" err="1">
                <a:latin typeface="+mn-lt"/>
                <a:hlinkClick r:id="rId3"/>
              </a:rPr>
              <a:t>Schicong</a:t>
            </a:r>
            <a:r>
              <a:rPr lang="en-US" dirty="0">
                <a:latin typeface="+mn-lt"/>
                <a:hlinkClick r:id="rId3"/>
              </a:rPr>
              <a:t>, et.al., 2015</a:t>
            </a:r>
            <a:r>
              <a:rPr lang="en-US" dirty="0">
                <a:latin typeface="+mn-lt"/>
              </a:rPr>
              <a:t>, and others </a:t>
            </a:r>
          </a:p>
          <a:p>
            <a:endParaRPr lang="en-US" dirty="0">
              <a:latin typeface="+mn-lt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5AF8181-47B6-998A-019C-4B0126E2B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072" y="3291884"/>
            <a:ext cx="6102519" cy="304856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FAA3658-1F64-1D23-9B6C-FC88E56D58B0}"/>
              </a:ext>
            </a:extLst>
          </p:cNvPr>
          <p:cNvSpPr txBox="1"/>
          <p:nvPr/>
        </p:nvSpPr>
        <p:spPr>
          <a:xfrm>
            <a:off x="1740784" y="6340450"/>
            <a:ext cx="858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Example from </a:t>
            </a:r>
            <a:r>
              <a:rPr lang="en-US" sz="2400" dirty="0">
                <a:hlinkClick r:id="rId5"/>
              </a:rPr>
              <a:t>Chris McCormick’s blog post </a:t>
            </a:r>
            <a:r>
              <a:rPr lang="en-US" sz="2400" dirty="0"/>
              <a:t>on the PQ algorithm </a:t>
            </a:r>
          </a:p>
        </p:txBody>
      </p:sp>
    </p:spTree>
    <p:extLst>
      <p:ext uri="{BB962C8B-B14F-4D97-AF65-F5344CB8AC3E}">
        <p14:creationId xmlns:p14="http://schemas.microsoft.com/office/powerpoint/2010/main" val="401392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8F1F0-DCC4-F7A7-6AC6-D7FC7E2A1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64BF8-7C21-B747-587A-B3D0DF1D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Improving Basic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79A4C7-1397-3ABF-BAD9-5F1AE19A70C8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4" y="896079"/>
                <a:ext cx="11177308" cy="565141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Quantization algorithms can be formulated in terms residuals, RPQ</a:t>
                </a:r>
              </a:p>
              <a:p>
                <a:pPr marL="285750" indent="-285750"/>
                <a:r>
                  <a:rPr lang="en-US" dirty="0">
                    <a:latin typeface="+mn-lt"/>
                  </a:rPr>
                  <a:t>We can perform similarity search using differences or residuals with respect to the centroid  </a:t>
                </a:r>
              </a:p>
              <a:p>
                <a:pPr marL="285750" indent="-285750"/>
                <a:r>
                  <a:rPr lang="en-US" dirty="0">
                    <a:latin typeface="+mn-lt"/>
                  </a:rPr>
                  <a:t>Consider the Euclidean distance calculation between a query vector,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latin typeface="+mn-lt"/>
                  </a:rPr>
                  <a:t>, and another vector,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+mn-lt"/>
                  </a:rPr>
                  <a:t>, with centroid,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latin typeface="+mn-lt"/>
                  </a:rPr>
                  <a:t>, with dimension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latin typeface="+mn-lt"/>
                  </a:rPr>
                  <a:t>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Computing distances with residuals gives the same result, so why bother?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79A4C7-1397-3ABF-BAD9-5F1AE19A70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4" y="896079"/>
                <a:ext cx="11177308" cy="5651416"/>
              </a:xfrm>
              <a:blipFill>
                <a:blip r:embed="rId3"/>
                <a:stretch>
                  <a:fillRect l="-1146" t="-1834" r="-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661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227E0-D77C-90A1-7241-C5F5E916C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7BA3E-CD64-9542-D25B-A3308B783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Improvements Basic Product Quantization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D4120-705E-91BA-FBAA-9CF62ADDF3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13352" y="825228"/>
            <a:ext cx="5231264" cy="5507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Quantization algorithms can be formulated in terms residuals</a:t>
            </a:r>
          </a:p>
          <a:p>
            <a:pPr marL="285750" indent="-285750"/>
            <a:r>
              <a:rPr lang="en-US" dirty="0">
                <a:latin typeface="+mn-lt"/>
              </a:rPr>
              <a:t>What is the advantage of using residuals, since we get the same result either way?     </a:t>
            </a:r>
          </a:p>
          <a:p>
            <a:pPr marL="285750" indent="-285750"/>
            <a:r>
              <a:rPr lang="en-US" dirty="0">
                <a:latin typeface="+mn-lt"/>
              </a:rPr>
              <a:t>The variance of the residuals, and therefore the error of distance estimates is reduced!</a:t>
            </a:r>
          </a:p>
          <a:p>
            <a:pPr marL="285750" indent="-285750"/>
            <a:r>
              <a:rPr lang="en-US" dirty="0">
                <a:latin typeface="+mn-lt"/>
              </a:rPr>
              <a:t>Using residuals, distance estimates are zero-centered, analogous to zero-centering variables for machine learning</a:t>
            </a:r>
          </a:p>
          <a:p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27823-B0BD-9795-6B2A-ECC90CF588F1}"/>
              </a:ext>
            </a:extLst>
          </p:cNvPr>
          <p:cNvSpPr txBox="1"/>
          <p:nvPr/>
        </p:nvSpPr>
        <p:spPr>
          <a:xfrm>
            <a:off x="-75000" y="5589733"/>
            <a:ext cx="628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Example from </a:t>
            </a:r>
            <a:r>
              <a:rPr lang="en-US" dirty="0">
                <a:hlinkClick r:id="rId3"/>
              </a:rPr>
              <a:t>Chris McCormick’s blog post </a:t>
            </a:r>
            <a:r>
              <a:rPr lang="en-US" dirty="0"/>
              <a:t>on the PQ algorithm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48D54C-9A9D-D3D5-B957-1C2692EF0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23" y="1612407"/>
            <a:ext cx="5512998" cy="397732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DE722D-0212-6B8E-0371-20704CF25399}"/>
              </a:ext>
            </a:extLst>
          </p:cNvPr>
          <p:cNvCxnSpPr>
            <a:cxnSpLocks/>
          </p:cNvCxnSpPr>
          <p:nvPr/>
        </p:nvCxnSpPr>
        <p:spPr>
          <a:xfrm flipH="1" flipV="1">
            <a:off x="4728475" y="3584252"/>
            <a:ext cx="1721223" cy="16625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73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6FE15-016E-F9B5-3E61-3FA64EBC9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F865E-91F8-6D77-7B5D-6EBFF335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Improvements Basic 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34A55B-F78D-829C-72ED-E64A9C2F55A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84200" y="825228"/>
                <a:ext cx="10960416" cy="58107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Optimized product quantization (OPQ) </a:t>
                </a:r>
                <a:r>
                  <a:rPr lang="en-US" dirty="0">
                    <a:latin typeface="+mn-lt"/>
                  </a:rPr>
                  <a:t>was proposed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hlinkClick r:id="rId3"/>
                      </a:rPr>
                      <m:t>𝐺𝑒</m:t>
                    </m:r>
                    <m:r>
                      <a:rPr lang="en-US" i="1" dirty="0" smtClean="0">
                        <a:latin typeface="Cambria Math" panose="02040503050406030204" pitchFamily="18" charset="0"/>
                        <a:hlinkClick r:id="rId3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  <a:hlinkClick r:id="rId3"/>
                      </a:rPr>
                      <m:t>𝑒𝑡</m:t>
                    </m:r>
                    <m:r>
                      <a:rPr lang="en-US" i="1" dirty="0" smtClean="0">
                        <a:latin typeface="Cambria Math" panose="02040503050406030204" pitchFamily="18" charset="0"/>
                        <a:hlinkClick r:id="rId3"/>
                      </a:rPr>
                      <m:t>. </m:t>
                    </m:r>
                    <m:r>
                      <a:rPr lang="en-US" i="1" dirty="0" smtClean="0">
                        <a:latin typeface="Cambria Math" panose="02040503050406030204" pitchFamily="18" charset="0"/>
                        <a:hlinkClick r:id="rId3"/>
                      </a:rPr>
                      <m:t>𝑎𝑙</m:t>
                    </m:r>
                    <m:r>
                      <a:rPr lang="en-US" i="1" dirty="0" smtClean="0">
                        <a:latin typeface="Cambria Math" panose="02040503050406030204" pitchFamily="18" charset="0"/>
                        <a:hlinkClick r:id="rId3"/>
                      </a:rPr>
                      <m:t>., 2013 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PQ algorithm assumes the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are uncorrelated or </a:t>
                </a:r>
                <a:r>
                  <a:rPr lang="en-US" b="1" dirty="0">
                    <a:latin typeface="+mn-lt"/>
                  </a:rPr>
                  <a:t>orthogonal</a:t>
                </a:r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OPQ adds an orthogonalization step before PQ is applied   </a:t>
                </a:r>
              </a:p>
              <a:p>
                <a:r>
                  <a:rPr lang="en-US" dirty="0">
                    <a:latin typeface="+mn-lt"/>
                  </a:rPr>
                  <a:t>Apply the </a:t>
                </a:r>
                <a:r>
                  <a:rPr lang="en-US" b="1" dirty="0">
                    <a:latin typeface="+mn-lt"/>
                    <a:hlinkClick r:id="rId4"/>
                  </a:rPr>
                  <a:t>orthogonal Procrustes problem </a:t>
                </a:r>
                <a:r>
                  <a:rPr lang="en-US" dirty="0">
                    <a:latin typeface="+mn-lt"/>
                  </a:rPr>
                  <a:t>to transform the data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+mn-lt"/>
                  </a:rPr>
                  <a:t> to an orthogonal matrix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endParaRPr lang="en-US" dirty="0">
                  <a:latin typeface="+mn-lt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 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is the </a:t>
                </a:r>
                <a:r>
                  <a:rPr lang="en-US" dirty="0" err="1">
                    <a:latin typeface="+mn-lt"/>
                  </a:rPr>
                  <a:t>Forbenious</a:t>
                </a:r>
                <a:r>
                  <a:rPr lang="en-US" dirty="0">
                    <a:latin typeface="+mn-lt"/>
                  </a:rPr>
                  <a:t> (Euclidean matrix) norm</a:t>
                </a:r>
              </a:p>
              <a:p>
                <a:r>
                  <a:rPr lang="en-US" dirty="0">
                    <a:latin typeface="+mn-lt"/>
                  </a:rPr>
                  <a:t>Orthogonalization is applied iteratively at each step of the PQ algorithm </a:t>
                </a:r>
              </a:p>
              <a:p>
                <a:r>
                  <a:rPr lang="en-US" dirty="0">
                    <a:latin typeface="+mn-lt"/>
                  </a:rPr>
                  <a:t>OPQ often improves recall at minimal computational cost</a:t>
                </a:r>
                <a:r>
                  <a:rPr lang="en-US" dirty="0"/>
                  <a:t>   </a:t>
                </a:r>
              </a:p>
              <a:p>
                <a:r>
                  <a:rPr lang="en-US" dirty="0">
                    <a:latin typeface="+mn-lt"/>
                  </a:rPr>
                  <a:t>OPQ can reduce dimensionality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34A55B-F78D-829C-72ED-E64A9C2F55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84200" y="825228"/>
                <a:ext cx="10960416" cy="5810780"/>
              </a:xfrm>
              <a:blipFill>
                <a:blip r:embed="rId5"/>
                <a:stretch>
                  <a:fillRect l="-1168" t="-1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8226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24568-39A5-70E1-4544-45419DAAA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2F637-F5DF-F24F-A9CD-46CDCAAF2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Hierarchical Navigable Small World (HNSW) Graphs</a:t>
            </a:r>
          </a:p>
        </p:txBody>
      </p:sp>
    </p:spTree>
    <p:extLst>
      <p:ext uri="{BB962C8B-B14F-4D97-AF65-F5344CB8AC3E}">
        <p14:creationId xmlns:p14="http://schemas.microsoft.com/office/powerpoint/2010/main" val="18582328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DCDAC-0A38-7230-033A-E25B85783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EBCF-8DE5-616E-F58F-252F47805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BB0E3-A65F-7673-5CFA-87CE6AF63C9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270796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Hierarchical Navigable small world (HNSW)</a:t>
            </a:r>
            <a:r>
              <a:rPr lang="en-US" dirty="0">
                <a:latin typeface="+mn-lt"/>
              </a:rPr>
              <a:t> graphs for ANNS where first proposed for ANNS by </a:t>
            </a:r>
            <a:r>
              <a:rPr lang="en-US" dirty="0">
                <a:latin typeface="+mn-lt"/>
                <a:hlinkClick r:id="rId3"/>
              </a:rPr>
              <a:t>Malkov and </a:t>
            </a:r>
            <a:r>
              <a:rPr lang="en-US" dirty="0" err="1">
                <a:latin typeface="+mn-lt"/>
                <a:hlinkClick r:id="rId3"/>
              </a:rPr>
              <a:t>Yashunin</a:t>
            </a:r>
            <a:r>
              <a:rPr lang="en-US" dirty="0">
                <a:latin typeface="+mn-lt"/>
                <a:hlinkClick r:id="rId3"/>
              </a:rPr>
              <a:t>, 2016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 A HNSW graph performs an ANNS on a hierarchy of graphs in two greedy search steps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+mn-lt"/>
              </a:rPr>
              <a:t>Search through hierarchy from top to bottom with increasing detail, ‘zooming in’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+mn-lt"/>
              </a:rPr>
              <a:t>Search at most detailed level, ‘zooming out’ </a:t>
            </a:r>
          </a:p>
          <a:p>
            <a:r>
              <a:rPr lang="en-US" dirty="0">
                <a:latin typeface="+mn-lt"/>
              </a:rPr>
              <a:t>HNSW graphs incorporate several concepts  </a:t>
            </a:r>
          </a:p>
          <a:p>
            <a:pPr lvl="1"/>
            <a:r>
              <a:rPr lang="en-US" dirty="0">
                <a:latin typeface="+mn-lt"/>
              </a:rPr>
              <a:t>Proximity graphs</a:t>
            </a:r>
          </a:p>
          <a:p>
            <a:pPr lvl="1"/>
            <a:r>
              <a:rPr lang="en-US" dirty="0">
                <a:latin typeface="+mn-lt"/>
              </a:rPr>
              <a:t>Probabilistic hierarchical search </a:t>
            </a:r>
          </a:p>
          <a:p>
            <a:pPr lvl="1"/>
            <a:r>
              <a:rPr lang="en-US" dirty="0">
                <a:latin typeface="+mn-lt"/>
              </a:rPr>
              <a:t>Navigable small world graphs</a:t>
            </a:r>
          </a:p>
          <a:p>
            <a:pPr marL="914400" lvl="2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9848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9F0AF-A879-F713-1578-44E320282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A4813-6491-D138-6F5D-DE263ECBE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Proximity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43678-3860-F091-74F5-EDFA1D4D731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11500036" cy="331440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Nearest neighbor (NN) graphs</a:t>
                </a:r>
                <a:r>
                  <a:rPr lang="en-US" dirty="0">
                    <a:latin typeface="+mn-lt"/>
                  </a:rPr>
                  <a:t> are an example of </a:t>
                </a:r>
                <a:r>
                  <a:rPr lang="en-US" b="1" dirty="0">
                    <a:latin typeface="+mn-lt"/>
                  </a:rPr>
                  <a:t>proximity graphs </a:t>
                </a:r>
              </a:p>
              <a:p>
                <a:r>
                  <a:rPr lang="en-US" dirty="0">
                    <a:latin typeface="+mn-lt"/>
                  </a:rPr>
                  <a:t>Presentence of edges in a proximity graph (index) determined by distance or similarity between nearest neighbors</a:t>
                </a:r>
              </a:p>
              <a:p>
                <a:r>
                  <a:rPr lang="en-US" dirty="0">
                    <a:latin typeface="+mn-lt"/>
                  </a:rPr>
                  <a:t>Searches on a proximity graph finds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nearest neighbors </a:t>
                </a:r>
              </a:p>
              <a:p>
                <a:r>
                  <a:rPr lang="en-US" dirty="0">
                    <a:latin typeface="+mn-lt"/>
                  </a:rPr>
                  <a:t>Notice that nodes must have number of edges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for search to succeed </a:t>
                </a:r>
              </a:p>
              <a:p>
                <a:r>
                  <a:rPr lang="en-US" dirty="0">
                    <a:latin typeface="+mn-lt"/>
                  </a:rPr>
                  <a:t>You can find more detail on proximity graphs in a number of sources, including </a:t>
                </a:r>
                <a:r>
                  <a:rPr lang="en-US" dirty="0" err="1">
                    <a:latin typeface="+mn-lt"/>
                    <a:hlinkClick r:id="rId3"/>
                  </a:rPr>
                  <a:t>Mengzhao</a:t>
                </a:r>
                <a:r>
                  <a:rPr lang="en-US" dirty="0">
                    <a:latin typeface="+mn-lt"/>
                    <a:hlinkClick r:id="rId3"/>
                  </a:rPr>
                  <a:t> Wang’s blog post</a:t>
                </a:r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43678-3860-F091-74F5-EDFA1D4D73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11500036" cy="3314409"/>
              </a:xfrm>
              <a:blipFill>
                <a:blip r:embed="rId4"/>
                <a:stretch>
                  <a:fillRect l="-1113" t="-4044" r="-1007" b="-1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5F8A663-A640-8001-5F73-C40BD3ED44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0961" y="4440272"/>
            <a:ext cx="8747924" cy="19104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E64C52-F7F1-9763-C2BE-791977550571}"/>
              </a:ext>
            </a:extLst>
          </p:cNvPr>
          <p:cNvSpPr txBox="1"/>
          <p:nvPr/>
        </p:nvSpPr>
        <p:spPr>
          <a:xfrm>
            <a:off x="3816637" y="6350680"/>
            <a:ext cx="4136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Diagram credit, </a:t>
            </a:r>
            <a:r>
              <a:rPr lang="en-US" dirty="0" err="1">
                <a:hlinkClick r:id="rId3"/>
              </a:rPr>
              <a:t>Mengzhao</a:t>
            </a:r>
            <a:r>
              <a:rPr lang="en-US" dirty="0">
                <a:hlinkClick r:id="rId3"/>
              </a:rPr>
              <a:t> Wang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23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3AC91-3FEF-F012-50F2-DB556E8F2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DCCCA-05B6-399F-C06C-7C9D86492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Navigable Small World Graphs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28743B-9C26-92E1-FD2A-BD8565DD9DB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5588220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Navigable small world (NSW)</a:t>
                </a:r>
                <a:r>
                  <a:rPr lang="en-US" dirty="0">
                    <a:latin typeface="+mn-lt"/>
                  </a:rPr>
                  <a:t> graphs are defined as having high clustering coefficients and distance growing by a </a:t>
                </a:r>
                <a:r>
                  <a:rPr lang="en-US" b="1" dirty="0">
                    <a:latin typeface="+mn-lt"/>
                  </a:rPr>
                  <a:t>power law</a:t>
                </a:r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  <a:hlinkClick r:id="rId3"/>
                  </a:rPr>
                  <a:t>small world graph </a:t>
                </a:r>
                <a:r>
                  <a:rPr lang="en-US" dirty="0">
                    <a:latin typeface="+mn-lt"/>
                  </a:rPr>
                  <a:t>exhibits </a:t>
                </a:r>
                <a:r>
                  <a:rPr lang="en-US" b="1" dirty="0">
                    <a:latin typeface="+mn-lt"/>
                  </a:rPr>
                  <a:t>high association</a:t>
                </a:r>
                <a:r>
                  <a:rPr lang="en-US" dirty="0">
                    <a:latin typeface="+mn-lt"/>
                  </a:rPr>
                  <a:t> between nodes resulting from high clustering</a:t>
                </a:r>
              </a:p>
              <a:p>
                <a:r>
                  <a:rPr lang="en-US" dirty="0">
                    <a:latin typeface="+mn-lt"/>
                  </a:rPr>
                  <a:t>NSW graphs have both short-range connections between near neighbors and long-range connections</a:t>
                </a: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28743B-9C26-92E1-FD2A-BD8565DD9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5588220" cy="5520629"/>
              </a:xfrm>
              <a:blipFill>
                <a:blip r:embed="rId4"/>
                <a:stretch>
                  <a:fillRect l="-2293" t="-1766" r="-2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3C30C89-85FC-CDEB-E3C8-531A64627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703" y="1110147"/>
            <a:ext cx="5537657" cy="561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90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30E7E01-AB46-C253-3183-F0ADCB036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A50E9-0250-8580-209A-C003F96D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Navigable Small World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ABA22A-30C7-BF83-1A25-22909B78BCC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Navigable small world (NSW)</a:t>
                </a:r>
                <a:r>
                  <a:rPr lang="en-US" dirty="0">
                    <a:latin typeface="+mn-lt"/>
                  </a:rPr>
                  <a:t> graphs are a form of proximity graph </a:t>
                </a:r>
              </a:p>
              <a:p>
                <a:r>
                  <a:rPr lang="en-US" dirty="0">
                    <a:latin typeface="+mn-lt"/>
                  </a:rPr>
                  <a:t>Connectivity determined by number of edges per node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latin typeface="+mn-lt"/>
                  </a:rPr>
                  <a:t> in FAISS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 in </a:t>
                </a:r>
                <a:r>
                  <a:rPr lang="en-US" dirty="0" err="1">
                    <a:latin typeface="+mn-lt"/>
                  </a:rPr>
                  <a:t>NetworkX</a:t>
                </a:r>
                <a:r>
                  <a:rPr lang="en-US" dirty="0">
                    <a:latin typeface="+mn-lt"/>
                  </a:rPr>
                  <a:t>)</a:t>
                </a:r>
              </a:p>
              <a:p>
                <a:r>
                  <a:rPr lang="en-US" dirty="0">
                    <a:latin typeface="+mn-lt"/>
                  </a:rPr>
                  <a:t>As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+mn-lt"/>
                  </a:rPr>
                  <a:t> the proximity graph becomes fully connected </a:t>
                </a:r>
              </a:p>
              <a:p>
                <a:r>
                  <a:rPr lang="en-US" dirty="0">
                    <a:latin typeface="+mn-lt"/>
                  </a:rPr>
                  <a:t>Clustering coefficient increases and average distance decreases as average number of connections per node increase  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ABA22A-30C7-BF83-1A25-22909B78BC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  <a:blipFill>
                <a:blip r:embed="rId3"/>
                <a:stretch>
                  <a:fillRect l="-2308" t="-1766" r="-3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958F768-876D-3F0F-4F3F-8D5515AF2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414" y="898071"/>
            <a:ext cx="5492710" cy="588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2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95C1975-86BE-6471-DDF7-FB1A61D1C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06148-25E3-635A-6ECF-D41366958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Navigable Small World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4CFC3C-30A0-220C-3F5B-01208B783401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Navigable small world (NSW)</a:t>
                </a:r>
                <a:r>
                  <a:rPr lang="en-US" dirty="0">
                    <a:latin typeface="+mn-lt"/>
                  </a:rPr>
                  <a:t> graphs are defined as having high clustering coefficients and distance growing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Clustering coefficient increases and average distance decreases as average number of long-range connections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latin typeface="+mn-lt"/>
                  </a:rPr>
                  <a:t> in </a:t>
                </a:r>
                <a:r>
                  <a:rPr lang="en-US" dirty="0" err="1">
                    <a:latin typeface="+mn-lt"/>
                  </a:rPr>
                  <a:t>NetworkX</a:t>
                </a:r>
                <a:r>
                  <a:rPr lang="en-US" dirty="0">
                    <a:latin typeface="+mn-lt"/>
                  </a:rPr>
                  <a:t>) per node increase   </a:t>
                </a:r>
              </a:p>
              <a:p>
                <a:r>
                  <a:rPr lang="en-US" dirty="0">
                    <a:latin typeface="+mn-lt"/>
                  </a:rPr>
                  <a:t>NSW graphs have relatively few </a:t>
                </a:r>
                <a:r>
                  <a:rPr lang="en-US" b="1" dirty="0">
                    <a:latin typeface="+mn-lt"/>
                  </a:rPr>
                  <a:t>hub nodes </a:t>
                </a:r>
                <a:r>
                  <a:rPr lang="en-US" dirty="0">
                    <a:latin typeface="+mn-lt"/>
                  </a:rPr>
                  <a:t>with high degree compared to other nodes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4CFC3C-30A0-220C-3F5B-01208B7834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  <a:blipFill>
                <a:blip r:embed="rId3"/>
                <a:stretch>
                  <a:fillRect l="-2308" t="-1766" r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BBA406F-C0EC-86D7-D4C4-782600EC8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276" y="938229"/>
            <a:ext cx="5492744" cy="586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1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89253-3C87-DABA-1C3D-8A283451C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1944-2E01-CD22-81C9-1C26C0787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76DF4-DAB1-D0B5-6EB0-2CFD24FC689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5"/>
            <a:ext cx="11270795" cy="5520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Hierarchical Navigable small world (HNSW)</a:t>
            </a:r>
            <a:r>
              <a:rPr lang="en-US" dirty="0">
                <a:latin typeface="+mn-lt"/>
              </a:rPr>
              <a:t> graphs enable efficient and scalable ANNS </a:t>
            </a:r>
          </a:p>
          <a:p>
            <a:r>
              <a:rPr lang="en-US" dirty="0">
                <a:latin typeface="+mn-lt"/>
                <a:hlinkClick r:id="rId3"/>
              </a:rPr>
              <a:t>Malkov, et. al., 2014</a:t>
            </a:r>
            <a:r>
              <a:rPr lang="en-US" dirty="0">
                <a:latin typeface="+mn-lt"/>
              </a:rPr>
              <a:t> applied NSW graphs to the ANNS problem </a:t>
            </a:r>
          </a:p>
          <a:p>
            <a:pPr lvl="1"/>
            <a:r>
              <a:rPr lang="en-US" dirty="0">
                <a:latin typeface="+mn-lt"/>
              </a:rPr>
              <a:t>In some cases, a greedy search on a NSW effectively finds the NNs </a:t>
            </a:r>
          </a:p>
          <a:p>
            <a:pPr lvl="1"/>
            <a:r>
              <a:rPr lang="en-US" dirty="0">
                <a:latin typeface="+mn-lt"/>
              </a:rPr>
              <a:t>If the graph exhibits considerable clustering only a sub-optimal local solution will be found </a:t>
            </a:r>
          </a:p>
          <a:p>
            <a:pPr lvl="1"/>
            <a:r>
              <a:rPr lang="en-US" dirty="0">
                <a:latin typeface="+mn-lt"/>
              </a:rPr>
              <a:t>In other cases, the search path can be excessively long     </a:t>
            </a:r>
          </a:p>
          <a:p>
            <a:r>
              <a:rPr lang="en-US" dirty="0">
                <a:latin typeface="+mn-lt"/>
              </a:rPr>
              <a:t>Using a hierarchy of NSW graphs is more robust and helps to overcome these problems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145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86A7F-33F3-9EED-FDE1-2A0E0FAE5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29FB-DC52-A09C-8ED9-597B4861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28218-D661-DCFD-AC6F-6EDDA7F363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270796" cy="976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Hierarchical navigable small world (HNSW)</a:t>
            </a:r>
            <a:r>
              <a:rPr lang="en-US" dirty="0">
                <a:latin typeface="+mn-lt"/>
              </a:rPr>
              <a:t> graphs for ANNS where first proposed for ANNS by </a:t>
            </a:r>
            <a:r>
              <a:rPr lang="en-US" dirty="0">
                <a:latin typeface="+mn-lt"/>
                <a:hlinkClick r:id="rId3"/>
              </a:rPr>
              <a:t>Malkov and </a:t>
            </a:r>
            <a:r>
              <a:rPr lang="en-US" dirty="0" err="1">
                <a:latin typeface="+mn-lt"/>
                <a:hlinkClick r:id="rId3"/>
              </a:rPr>
              <a:t>Yashunin</a:t>
            </a:r>
            <a:r>
              <a:rPr lang="en-US" dirty="0">
                <a:latin typeface="+mn-lt"/>
                <a:hlinkClick r:id="rId3"/>
              </a:rPr>
              <a:t>, 2016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CCBFA5-7DA0-EA9A-E218-4BBFD083A1C5}"/>
              </a:ext>
            </a:extLst>
          </p:cNvPr>
          <p:cNvSpPr/>
          <p:nvPr/>
        </p:nvSpPr>
        <p:spPr>
          <a:xfrm>
            <a:off x="3766458" y="1928837"/>
            <a:ext cx="6253842" cy="4602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Select entry point node in top layer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72DBD5-346B-251A-EB65-F95907D9355C}"/>
              </a:ext>
            </a:extLst>
          </p:cNvPr>
          <p:cNvSpPr/>
          <p:nvPr/>
        </p:nvSpPr>
        <p:spPr>
          <a:xfrm>
            <a:off x="3766460" y="2609369"/>
            <a:ext cx="6253840" cy="4602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Greedy search for nearest neighbor to the query vector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38F40AB-3908-3928-35A1-7476C743E9F7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893379" y="2389077"/>
            <a:ext cx="1" cy="220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004456-0D36-51A1-807E-A7A5291F4ACB}"/>
              </a:ext>
            </a:extLst>
          </p:cNvPr>
          <p:cNvSpPr txBox="1"/>
          <p:nvPr/>
        </p:nvSpPr>
        <p:spPr>
          <a:xfrm>
            <a:off x="3766455" y="6002615"/>
            <a:ext cx="6037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Nearest neighbor search on </a:t>
            </a:r>
            <a:r>
              <a:rPr lang="en-US" sz="2400" b="1"/>
              <a:t>HNSW graph</a:t>
            </a:r>
            <a:endParaRPr lang="en-US" sz="24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C5EA2C-24E2-20E3-D695-E3F153474478}"/>
              </a:ext>
            </a:extLst>
          </p:cNvPr>
          <p:cNvSpPr/>
          <p:nvPr/>
        </p:nvSpPr>
        <p:spPr>
          <a:xfrm>
            <a:off x="3766456" y="3277192"/>
            <a:ext cx="6253840" cy="4602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Use nearest neighbor from previous layer as entry point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6BFA8A9-BFB1-8DB8-8F7E-99543D54BCBC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6893375" y="3056900"/>
            <a:ext cx="1" cy="220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5F6EE63-77C3-F190-E979-04061EBA0E0F}"/>
              </a:ext>
            </a:extLst>
          </p:cNvPr>
          <p:cNvSpPr/>
          <p:nvPr/>
        </p:nvSpPr>
        <p:spPr>
          <a:xfrm>
            <a:off x="3766455" y="3957724"/>
            <a:ext cx="6253840" cy="4602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Greedy search next layer for nearest neighbor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0075465-DAF4-1D66-FDFC-DB17F0777524}"/>
              </a:ext>
            </a:extLst>
          </p:cNvPr>
          <p:cNvCxnSpPr>
            <a:cxnSpLocks/>
          </p:cNvCxnSpPr>
          <p:nvPr/>
        </p:nvCxnSpPr>
        <p:spPr>
          <a:xfrm>
            <a:off x="6860030" y="3766145"/>
            <a:ext cx="1" cy="220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52A40D9-BC9A-B5AF-D471-7985612DFF52}"/>
              </a:ext>
            </a:extLst>
          </p:cNvPr>
          <p:cNvSpPr/>
          <p:nvPr/>
        </p:nvSpPr>
        <p:spPr>
          <a:xfrm>
            <a:off x="3766455" y="5332540"/>
            <a:ext cx="625384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Search bottom layer for nearest neighbor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D94E0A4-AF13-18BA-6001-D53BC1676041}"/>
              </a:ext>
            </a:extLst>
          </p:cNvPr>
          <p:cNvCxnSpPr>
            <a:cxnSpLocks/>
          </p:cNvCxnSpPr>
          <p:nvPr/>
        </p:nvCxnSpPr>
        <p:spPr>
          <a:xfrm>
            <a:off x="6862756" y="4446677"/>
            <a:ext cx="1" cy="220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7F085C3-8948-CD20-19B4-1844093301E6}"/>
              </a:ext>
            </a:extLst>
          </p:cNvPr>
          <p:cNvSpPr/>
          <p:nvPr/>
        </p:nvSpPr>
        <p:spPr>
          <a:xfrm>
            <a:off x="3766455" y="4666969"/>
            <a:ext cx="6253840" cy="4602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Use nearest neighbor from previous layer as entry point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D68C34-A6E4-6BA7-1536-F1A062FF0026}"/>
              </a:ext>
            </a:extLst>
          </p:cNvPr>
          <p:cNvCxnSpPr>
            <a:cxnSpLocks/>
          </p:cNvCxnSpPr>
          <p:nvPr/>
        </p:nvCxnSpPr>
        <p:spPr>
          <a:xfrm>
            <a:off x="6893374" y="5127209"/>
            <a:ext cx="1" cy="220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794C8B-5B10-0553-9F2E-E7A1781F74CA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10020296" y="3507312"/>
            <a:ext cx="5660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C6F5AF6-21A3-3D4D-8F42-49CD39D4583F}"/>
              </a:ext>
            </a:extLst>
          </p:cNvPr>
          <p:cNvCxnSpPr>
            <a:cxnSpLocks/>
          </p:cNvCxnSpPr>
          <p:nvPr/>
        </p:nvCxnSpPr>
        <p:spPr>
          <a:xfrm flipH="1">
            <a:off x="10001931" y="4175599"/>
            <a:ext cx="566061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D29ED31-EA1D-7730-767A-B08701988BF9}"/>
              </a:ext>
            </a:extLst>
          </p:cNvPr>
          <p:cNvCxnSpPr>
            <a:cxnSpLocks/>
          </p:cNvCxnSpPr>
          <p:nvPr/>
        </p:nvCxnSpPr>
        <p:spPr>
          <a:xfrm>
            <a:off x="10567992" y="3507312"/>
            <a:ext cx="0" cy="667823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ight Brace 43">
            <a:extLst>
              <a:ext uri="{FF2B5EF4-FFF2-40B4-BE49-F238E27FC236}">
                <a16:creationId xmlns:a16="http://schemas.microsoft.com/office/drawing/2014/main" id="{B42A9146-BCF4-4759-A16B-925461BE3678}"/>
              </a:ext>
            </a:extLst>
          </p:cNvPr>
          <p:cNvSpPr/>
          <p:nvPr/>
        </p:nvSpPr>
        <p:spPr>
          <a:xfrm rot="10800000">
            <a:off x="3322923" y="1928837"/>
            <a:ext cx="263919" cy="2458716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4DC06B-93FB-4CD7-FB69-EA7D7982962B}"/>
              </a:ext>
            </a:extLst>
          </p:cNvPr>
          <p:cNvSpPr txBox="1"/>
          <p:nvPr/>
        </p:nvSpPr>
        <p:spPr>
          <a:xfrm rot="5400000">
            <a:off x="2225543" y="2936213"/>
            <a:ext cx="1733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Zoom In</a:t>
            </a: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573494D8-AC9B-3620-48B6-5291A85534D8}"/>
              </a:ext>
            </a:extLst>
          </p:cNvPr>
          <p:cNvSpPr/>
          <p:nvPr/>
        </p:nvSpPr>
        <p:spPr>
          <a:xfrm rot="10800000">
            <a:off x="3304556" y="4666969"/>
            <a:ext cx="263915" cy="1119212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50E28C-FC2C-6A67-284E-561EE0B95AB3}"/>
              </a:ext>
            </a:extLst>
          </p:cNvPr>
          <p:cNvSpPr txBox="1"/>
          <p:nvPr/>
        </p:nvSpPr>
        <p:spPr>
          <a:xfrm rot="5400000">
            <a:off x="2207175" y="4896376"/>
            <a:ext cx="1733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Zoom Out</a:t>
            </a:r>
          </a:p>
        </p:txBody>
      </p:sp>
    </p:spTree>
    <p:extLst>
      <p:ext uri="{BB962C8B-B14F-4D97-AF65-F5344CB8AC3E}">
        <p14:creationId xmlns:p14="http://schemas.microsoft.com/office/powerpoint/2010/main" val="244488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/>
      <p:bldP spid="23" grpId="0" animBg="1"/>
      <p:bldP spid="25" grpId="0" animBg="1"/>
      <p:bldP spid="27" grpId="0" animBg="1"/>
      <p:bldP spid="30" grpId="0" animBg="1"/>
      <p:bldP spid="44" grpId="0" animBg="1"/>
      <p:bldP spid="45" grpId="0"/>
      <p:bldP spid="46" grpId="0" animBg="1"/>
      <p:bldP spid="47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7238F-77C3-A259-BE0F-F9989CD4B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EDDE3-D070-E60F-6C3C-353EE773E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E1F5E-70F0-2502-571D-6F67E53500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936171"/>
            <a:ext cx="11493953" cy="290104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Hierarchical Navigable small world (HNSW)</a:t>
            </a:r>
            <a:r>
              <a:rPr lang="en-US" dirty="0">
                <a:latin typeface="+mn-lt"/>
              </a:rPr>
              <a:t> graphs enable efficient and scalable ANNS </a:t>
            </a:r>
          </a:p>
          <a:p>
            <a:r>
              <a:rPr lang="en-US" dirty="0">
                <a:latin typeface="+mn-lt"/>
              </a:rPr>
              <a:t>The hierarchy of NSW graphs creates a skip list </a:t>
            </a:r>
          </a:p>
          <a:p>
            <a:r>
              <a:rPr lang="en-US" dirty="0">
                <a:latin typeface="+mn-lt"/>
              </a:rPr>
              <a:t>Skip-list search was introduced by </a:t>
            </a:r>
            <a:r>
              <a:rPr lang="en-US" dirty="0">
                <a:latin typeface="+mn-lt"/>
                <a:hlinkClick r:id="rId3"/>
              </a:rPr>
              <a:t>Pugh, 1990</a:t>
            </a:r>
            <a:r>
              <a:rPr lang="en-US" dirty="0">
                <a:latin typeface="+mn-lt"/>
              </a:rPr>
              <a:t>, as a fast search algorithm</a:t>
            </a:r>
          </a:p>
          <a:p>
            <a:r>
              <a:rPr lang="en-US" dirty="0">
                <a:latin typeface="+mn-lt"/>
              </a:rPr>
              <a:t>A skip-list is a form of linked list using a hierarchy of long-range and short-range links </a:t>
            </a:r>
          </a:p>
          <a:p>
            <a:r>
              <a:rPr lang="en-US" dirty="0">
                <a:latin typeface="+mn-lt"/>
              </a:rPr>
              <a:t>Links connecting observations are sampled probabilistically  </a:t>
            </a: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8CD350-8BD3-2DB4-9078-132B807F1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620" y="3696579"/>
            <a:ext cx="7321852" cy="31248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9D9B59-C887-3854-7D70-9EEEF1326E73}"/>
              </a:ext>
            </a:extLst>
          </p:cNvPr>
          <p:cNvSpPr txBox="1"/>
          <p:nvPr/>
        </p:nvSpPr>
        <p:spPr>
          <a:xfrm>
            <a:off x="8224170" y="5437905"/>
            <a:ext cx="300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Diagram credit, Pugh, 1990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02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FB3DD-6AF3-7F01-243B-9935A70BD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7806806E-0258-60E1-04C4-1AF989B596EB}"/>
              </a:ext>
            </a:extLst>
          </p:cNvPr>
          <p:cNvCxnSpPr>
            <a:cxnSpLocks/>
          </p:cNvCxnSpPr>
          <p:nvPr/>
        </p:nvCxnSpPr>
        <p:spPr>
          <a:xfrm>
            <a:off x="8706412" y="5768665"/>
            <a:ext cx="2063983" cy="30709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0816B93-6C8E-9CD9-6CFA-14841B6ED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38646-8F4A-2043-16A2-7D88AF9A353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5"/>
            <a:ext cx="5549101" cy="5520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Hierarchical Navigable small world (HNSW)</a:t>
            </a:r>
            <a:r>
              <a:rPr lang="en-US" dirty="0">
                <a:latin typeface="+mn-lt"/>
              </a:rPr>
              <a:t> graph has layers comprised of NSW graphs of increasing resolution</a:t>
            </a:r>
          </a:p>
          <a:p>
            <a:r>
              <a:rPr lang="en-US" dirty="0">
                <a:latin typeface="+mn-lt"/>
              </a:rPr>
              <a:t>The highest level of the hierarchy has the longest-range edges</a:t>
            </a:r>
          </a:p>
          <a:p>
            <a:r>
              <a:rPr lang="en-US" dirty="0">
                <a:latin typeface="+mn-lt"/>
              </a:rPr>
              <a:t>The search proceeds to increasingly finer detail levels </a:t>
            </a:r>
          </a:p>
          <a:p>
            <a:r>
              <a:rPr lang="en-US" dirty="0">
                <a:latin typeface="+mn-lt"/>
              </a:rPr>
              <a:t>The lowest level contains all nodes and the most detail  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323875B6-AEFA-AE79-FEBC-717CFCB7C411}"/>
              </a:ext>
            </a:extLst>
          </p:cNvPr>
          <p:cNvSpPr/>
          <p:nvPr/>
        </p:nvSpPr>
        <p:spPr>
          <a:xfrm>
            <a:off x="6309525" y="4822372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AD3E2A3-2827-4742-46C7-2622C18A26A6}"/>
              </a:ext>
            </a:extLst>
          </p:cNvPr>
          <p:cNvSpPr/>
          <p:nvPr/>
        </p:nvSpPr>
        <p:spPr>
          <a:xfrm>
            <a:off x="7021287" y="509451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4452172-E6CD-EABD-387D-126D4321CB19}"/>
              </a:ext>
            </a:extLst>
          </p:cNvPr>
          <p:cNvSpPr/>
          <p:nvPr/>
        </p:nvSpPr>
        <p:spPr>
          <a:xfrm>
            <a:off x="7149194" y="569688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A9A72ED-B5B0-FD36-81F2-D1FD00A701DA}"/>
              </a:ext>
            </a:extLst>
          </p:cNvPr>
          <p:cNvSpPr/>
          <p:nvPr/>
        </p:nvSpPr>
        <p:spPr>
          <a:xfrm>
            <a:off x="7832272" y="591824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53577B1-1666-1215-B074-F3C171C45E0D}"/>
              </a:ext>
            </a:extLst>
          </p:cNvPr>
          <p:cNvSpPr/>
          <p:nvPr/>
        </p:nvSpPr>
        <p:spPr>
          <a:xfrm>
            <a:off x="8502539" y="5625739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D3CB37-8E9D-8ECC-988D-8AC29CCD33AC}"/>
              </a:ext>
            </a:extLst>
          </p:cNvPr>
          <p:cNvSpPr/>
          <p:nvPr/>
        </p:nvSpPr>
        <p:spPr>
          <a:xfrm>
            <a:off x="8753875" y="492978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AAE11E2-492F-7F6C-5067-0894E930202F}"/>
              </a:ext>
            </a:extLst>
          </p:cNvPr>
          <p:cNvSpPr/>
          <p:nvPr/>
        </p:nvSpPr>
        <p:spPr>
          <a:xfrm>
            <a:off x="9482589" y="554137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C1D3A10-DF33-AC65-9109-A8A13BF8030B}"/>
              </a:ext>
            </a:extLst>
          </p:cNvPr>
          <p:cNvSpPr/>
          <p:nvPr/>
        </p:nvSpPr>
        <p:spPr>
          <a:xfrm>
            <a:off x="10756909" y="600261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AE21BB0-4E5A-B4D6-3FD3-89E025811612}"/>
              </a:ext>
            </a:extLst>
          </p:cNvPr>
          <p:cNvSpPr/>
          <p:nvPr/>
        </p:nvSpPr>
        <p:spPr>
          <a:xfrm>
            <a:off x="11012723" y="5434761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F4E550A-B1E2-15E2-4D36-054B1C29E0C3}"/>
              </a:ext>
            </a:extLst>
          </p:cNvPr>
          <p:cNvSpPr/>
          <p:nvPr/>
        </p:nvSpPr>
        <p:spPr>
          <a:xfrm>
            <a:off x="10501095" y="494848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00303A0-4485-C2DB-BA01-6465AEB83FD4}"/>
              </a:ext>
            </a:extLst>
          </p:cNvPr>
          <p:cNvSpPr/>
          <p:nvPr/>
        </p:nvSpPr>
        <p:spPr>
          <a:xfrm>
            <a:off x="9781141" y="5178878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39C0BDFA-7B86-E1F9-FA37-C27614AEC000}"/>
              </a:ext>
            </a:extLst>
          </p:cNvPr>
          <p:cNvSpPr/>
          <p:nvPr/>
        </p:nvSpPr>
        <p:spPr>
          <a:xfrm>
            <a:off x="6429268" y="2861977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39E5BD3-933D-0567-A4E7-2BDFAC8C4339}"/>
              </a:ext>
            </a:extLst>
          </p:cNvPr>
          <p:cNvSpPr/>
          <p:nvPr/>
        </p:nvSpPr>
        <p:spPr>
          <a:xfrm>
            <a:off x="7141030" y="3134119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78EFF97-01CC-6A2E-2BFB-D7136BF02DE1}"/>
              </a:ext>
            </a:extLst>
          </p:cNvPr>
          <p:cNvSpPr/>
          <p:nvPr/>
        </p:nvSpPr>
        <p:spPr>
          <a:xfrm>
            <a:off x="8374632" y="367407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B8CADBF-110A-D1AE-4167-68D67DA97ECD}"/>
              </a:ext>
            </a:extLst>
          </p:cNvPr>
          <p:cNvSpPr/>
          <p:nvPr/>
        </p:nvSpPr>
        <p:spPr>
          <a:xfrm>
            <a:off x="8828261" y="297996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A10C70-5F55-4DAA-757B-68C2740752E0}"/>
              </a:ext>
            </a:extLst>
          </p:cNvPr>
          <p:cNvSpPr/>
          <p:nvPr/>
        </p:nvSpPr>
        <p:spPr>
          <a:xfrm>
            <a:off x="10993228" y="3999855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4838ACE-2476-4292-3A7C-2791861EACA8}"/>
              </a:ext>
            </a:extLst>
          </p:cNvPr>
          <p:cNvSpPr/>
          <p:nvPr/>
        </p:nvSpPr>
        <p:spPr>
          <a:xfrm>
            <a:off x="10620838" y="2988091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435106DA-76D9-F18F-1AE6-196A3B9EFD26}"/>
              </a:ext>
            </a:extLst>
          </p:cNvPr>
          <p:cNvSpPr/>
          <p:nvPr/>
        </p:nvSpPr>
        <p:spPr>
          <a:xfrm>
            <a:off x="6509603" y="863656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8D46603-DB25-89E4-D701-278AEA2B7692}"/>
              </a:ext>
            </a:extLst>
          </p:cNvPr>
          <p:cNvSpPr/>
          <p:nvPr/>
        </p:nvSpPr>
        <p:spPr>
          <a:xfrm>
            <a:off x="7221365" y="1135798"/>
            <a:ext cx="255814" cy="16872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B64BE22-1966-FA1B-FC04-99B49F0B0DAC}"/>
              </a:ext>
            </a:extLst>
          </p:cNvPr>
          <p:cNvSpPr/>
          <p:nvPr/>
        </p:nvSpPr>
        <p:spPr>
          <a:xfrm>
            <a:off x="10956987" y="204389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A9C6398-CCCE-2A1F-2108-A5E6ACA3B7D4}"/>
              </a:ext>
            </a:extLst>
          </p:cNvPr>
          <p:cNvSpPr/>
          <p:nvPr/>
        </p:nvSpPr>
        <p:spPr>
          <a:xfrm>
            <a:off x="10701173" y="98977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ross 35">
            <a:extLst>
              <a:ext uri="{FF2B5EF4-FFF2-40B4-BE49-F238E27FC236}">
                <a16:creationId xmlns:a16="http://schemas.microsoft.com/office/drawing/2014/main" id="{F9CDA4EF-7EFA-2BCA-3791-F9D88C314FD3}"/>
              </a:ext>
            </a:extLst>
          </p:cNvPr>
          <p:cNvSpPr/>
          <p:nvPr/>
        </p:nvSpPr>
        <p:spPr>
          <a:xfrm>
            <a:off x="9391174" y="5942742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7972C5-7DC8-6024-D6A0-708B0C397143}"/>
              </a:ext>
            </a:extLst>
          </p:cNvPr>
          <p:cNvSpPr txBox="1"/>
          <p:nvPr/>
        </p:nvSpPr>
        <p:spPr>
          <a:xfrm>
            <a:off x="9113356" y="6067867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38" name="Cross 37">
            <a:extLst>
              <a:ext uri="{FF2B5EF4-FFF2-40B4-BE49-F238E27FC236}">
                <a16:creationId xmlns:a16="http://schemas.microsoft.com/office/drawing/2014/main" id="{FDAAEC98-F31C-F445-EAFF-83863437D3DA}"/>
              </a:ext>
            </a:extLst>
          </p:cNvPr>
          <p:cNvSpPr/>
          <p:nvPr/>
        </p:nvSpPr>
        <p:spPr>
          <a:xfrm>
            <a:off x="9315913" y="3973537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C70E6E-6E5D-1C15-631E-32BB754003DD}"/>
              </a:ext>
            </a:extLst>
          </p:cNvPr>
          <p:cNvSpPr txBox="1"/>
          <p:nvPr/>
        </p:nvSpPr>
        <p:spPr>
          <a:xfrm>
            <a:off x="9042408" y="4098662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0" name="Cross 39">
            <a:extLst>
              <a:ext uri="{FF2B5EF4-FFF2-40B4-BE49-F238E27FC236}">
                <a16:creationId xmlns:a16="http://schemas.microsoft.com/office/drawing/2014/main" id="{31631918-C3C9-9A66-B66A-0FB81DD6F976}"/>
              </a:ext>
            </a:extLst>
          </p:cNvPr>
          <p:cNvSpPr/>
          <p:nvPr/>
        </p:nvSpPr>
        <p:spPr>
          <a:xfrm>
            <a:off x="9308212" y="1996465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78A98B-F55B-92EA-020A-6D950891D45E}"/>
              </a:ext>
            </a:extLst>
          </p:cNvPr>
          <p:cNvSpPr txBox="1"/>
          <p:nvPr/>
        </p:nvSpPr>
        <p:spPr>
          <a:xfrm>
            <a:off x="9034707" y="2121590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318DBA-2C65-5F15-6553-B137400F6BC8}"/>
              </a:ext>
            </a:extLst>
          </p:cNvPr>
          <p:cNvSpPr txBox="1"/>
          <p:nvPr/>
        </p:nvSpPr>
        <p:spPr>
          <a:xfrm>
            <a:off x="8182371" y="6424373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2969D5-7B01-3D98-7ADA-0EE92AA11C7A}"/>
              </a:ext>
            </a:extLst>
          </p:cNvPr>
          <p:cNvSpPr txBox="1"/>
          <p:nvPr/>
        </p:nvSpPr>
        <p:spPr>
          <a:xfrm>
            <a:off x="8258772" y="4460188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5DB427-1A7D-AEE8-99FA-4B4F610871B0}"/>
              </a:ext>
            </a:extLst>
          </p:cNvPr>
          <p:cNvSpPr txBox="1"/>
          <p:nvPr/>
        </p:nvSpPr>
        <p:spPr>
          <a:xfrm>
            <a:off x="8335173" y="2496003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2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B442A88-90AD-8B87-DF5C-9E4B16A1B2B9}"/>
              </a:ext>
            </a:extLst>
          </p:cNvPr>
          <p:cNvCxnSpPr>
            <a:stCxn id="31" idx="5"/>
            <a:endCxn id="34" idx="2"/>
          </p:cNvCxnSpPr>
          <p:nvPr/>
        </p:nvCxnSpPr>
        <p:spPr>
          <a:xfrm>
            <a:off x="7439716" y="1279817"/>
            <a:ext cx="3517271" cy="84844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A0A68A8-6B26-2528-479F-2CD83E313284}"/>
              </a:ext>
            </a:extLst>
          </p:cNvPr>
          <p:cNvCxnSpPr>
            <a:cxnSpLocks/>
            <a:stCxn id="31" idx="7"/>
            <a:endCxn id="35" idx="2"/>
          </p:cNvCxnSpPr>
          <p:nvPr/>
        </p:nvCxnSpPr>
        <p:spPr>
          <a:xfrm flipV="1">
            <a:off x="7439716" y="1074135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F12D3B6-6858-C8FE-ECFA-587824B1A928}"/>
              </a:ext>
            </a:extLst>
          </p:cNvPr>
          <p:cNvCxnSpPr>
            <a:cxnSpLocks/>
            <a:stCxn id="35" idx="4"/>
            <a:endCxn id="34" idx="0"/>
          </p:cNvCxnSpPr>
          <p:nvPr/>
        </p:nvCxnSpPr>
        <p:spPr>
          <a:xfrm>
            <a:off x="10829080" y="1158499"/>
            <a:ext cx="255814" cy="88539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66059B6-FED1-127B-6819-CDCCBEFEA66E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7374174" y="3249855"/>
            <a:ext cx="3619054" cy="83436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63617D7-A4BD-0BB0-68BD-325A765E96D7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10748745" y="3156820"/>
            <a:ext cx="281946" cy="86774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FA096B3-ADB1-583F-AD36-1292790CD0EB}"/>
              </a:ext>
            </a:extLst>
          </p:cNvPr>
          <p:cNvCxnSpPr>
            <a:cxnSpLocks/>
          </p:cNvCxnSpPr>
          <p:nvPr/>
        </p:nvCxnSpPr>
        <p:spPr>
          <a:xfrm flipV="1">
            <a:off x="7378961" y="3105502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09CF094-15B0-11F4-DA4A-68C8177E1146}"/>
              </a:ext>
            </a:extLst>
          </p:cNvPr>
          <p:cNvCxnSpPr/>
          <p:nvPr/>
        </p:nvCxnSpPr>
        <p:spPr>
          <a:xfrm>
            <a:off x="7239638" y="5201518"/>
            <a:ext cx="3517271" cy="84844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2A575E1-A151-729D-67E9-1BAF71013D47}"/>
              </a:ext>
            </a:extLst>
          </p:cNvPr>
          <p:cNvCxnSpPr>
            <a:cxnSpLocks/>
          </p:cNvCxnSpPr>
          <p:nvPr/>
        </p:nvCxnSpPr>
        <p:spPr>
          <a:xfrm flipV="1">
            <a:off x="7277101" y="5058976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01B0FE9-9172-282C-00A5-892E7000361E}"/>
              </a:ext>
            </a:extLst>
          </p:cNvPr>
          <p:cNvCxnSpPr>
            <a:cxnSpLocks/>
          </p:cNvCxnSpPr>
          <p:nvPr/>
        </p:nvCxnSpPr>
        <p:spPr>
          <a:xfrm>
            <a:off x="10605025" y="5117215"/>
            <a:ext cx="255814" cy="88539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99AC36D-A25E-874B-3A03-4A8AF3180D88}"/>
              </a:ext>
            </a:extLst>
          </p:cNvPr>
          <p:cNvCxnSpPr>
            <a:cxnSpLocks/>
            <a:stCxn id="20" idx="7"/>
            <a:endCxn id="24" idx="2"/>
          </p:cNvCxnSpPr>
          <p:nvPr/>
        </p:nvCxnSpPr>
        <p:spPr>
          <a:xfrm flipV="1">
            <a:off x="7359381" y="3064325"/>
            <a:ext cx="1468880" cy="9450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3A18491-4D13-A3E2-DAAE-052BDB93BF91}"/>
              </a:ext>
            </a:extLst>
          </p:cNvPr>
          <p:cNvCxnSpPr>
            <a:cxnSpLocks/>
            <a:endCxn id="28" idx="2"/>
          </p:cNvCxnSpPr>
          <p:nvPr/>
        </p:nvCxnSpPr>
        <p:spPr>
          <a:xfrm>
            <a:off x="9070444" y="3057869"/>
            <a:ext cx="1550394" cy="145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BE47819-EE46-7764-69F3-C46194333103}"/>
              </a:ext>
            </a:extLst>
          </p:cNvPr>
          <p:cNvCxnSpPr>
            <a:cxnSpLocks/>
            <a:stCxn id="20" idx="4"/>
            <a:endCxn id="22" idx="1"/>
          </p:cNvCxnSpPr>
          <p:nvPr/>
        </p:nvCxnSpPr>
        <p:spPr>
          <a:xfrm>
            <a:off x="7268937" y="3302848"/>
            <a:ext cx="1143158" cy="39593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B731B24-330A-4ABF-B5C7-A995D7562208}"/>
              </a:ext>
            </a:extLst>
          </p:cNvPr>
          <p:cNvCxnSpPr>
            <a:cxnSpLocks/>
            <a:stCxn id="22" idx="0"/>
            <a:endCxn id="24" idx="4"/>
          </p:cNvCxnSpPr>
          <p:nvPr/>
        </p:nvCxnSpPr>
        <p:spPr>
          <a:xfrm flipV="1">
            <a:off x="8502539" y="3148689"/>
            <a:ext cx="453629" cy="5253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94AD7A9-0D87-6E46-5A61-A75DDA153E79}"/>
              </a:ext>
            </a:extLst>
          </p:cNvPr>
          <p:cNvCxnSpPr>
            <a:cxnSpLocks/>
            <a:stCxn id="22" idx="6"/>
            <a:endCxn id="26" idx="2"/>
          </p:cNvCxnSpPr>
          <p:nvPr/>
        </p:nvCxnSpPr>
        <p:spPr>
          <a:xfrm>
            <a:off x="8630446" y="3758441"/>
            <a:ext cx="2362782" cy="32577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DE693E4-3C0C-4A73-DF13-D0875B2A7F95}"/>
              </a:ext>
            </a:extLst>
          </p:cNvPr>
          <p:cNvCxnSpPr>
            <a:cxnSpLocks/>
          </p:cNvCxnSpPr>
          <p:nvPr/>
        </p:nvCxnSpPr>
        <p:spPr>
          <a:xfrm flipV="1">
            <a:off x="7255101" y="4991299"/>
            <a:ext cx="1468880" cy="9450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AA0AAD8-7286-3255-F216-71823C7524FA}"/>
              </a:ext>
            </a:extLst>
          </p:cNvPr>
          <p:cNvCxnSpPr>
            <a:cxnSpLocks/>
          </p:cNvCxnSpPr>
          <p:nvPr/>
        </p:nvCxnSpPr>
        <p:spPr>
          <a:xfrm>
            <a:off x="8982176" y="4989494"/>
            <a:ext cx="1550394" cy="145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6961EBB-F5CC-CB17-CCFE-92F400331C9D}"/>
              </a:ext>
            </a:extLst>
          </p:cNvPr>
          <p:cNvCxnSpPr>
            <a:cxnSpLocks/>
            <a:stCxn id="8" idx="5"/>
            <a:endCxn id="11" idx="1"/>
          </p:cNvCxnSpPr>
          <p:nvPr/>
        </p:nvCxnSpPr>
        <p:spPr>
          <a:xfrm>
            <a:off x="7239638" y="5238533"/>
            <a:ext cx="1300364" cy="41191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DBA80A6-E4BF-6666-CB34-6E92689222C2}"/>
              </a:ext>
            </a:extLst>
          </p:cNvPr>
          <p:cNvCxnSpPr>
            <a:cxnSpLocks/>
            <a:stCxn id="17" idx="2"/>
            <a:endCxn id="12" idx="5"/>
          </p:cNvCxnSpPr>
          <p:nvPr/>
        </p:nvCxnSpPr>
        <p:spPr>
          <a:xfrm flipH="1" flipV="1">
            <a:off x="8972226" y="5073799"/>
            <a:ext cx="808915" cy="18944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A25BEDE-E1FB-9268-3EE4-3CBC4492522F}"/>
              </a:ext>
            </a:extLst>
          </p:cNvPr>
          <p:cNvCxnSpPr>
            <a:cxnSpLocks/>
            <a:stCxn id="17" idx="6"/>
            <a:endCxn id="16" idx="3"/>
          </p:cNvCxnSpPr>
          <p:nvPr/>
        </p:nvCxnSpPr>
        <p:spPr>
          <a:xfrm flipV="1">
            <a:off x="10036955" y="5092505"/>
            <a:ext cx="501603" cy="17073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61187C3-38B3-8C25-F047-EE1793DA9D97}"/>
              </a:ext>
            </a:extLst>
          </p:cNvPr>
          <p:cNvCxnSpPr>
            <a:cxnSpLocks/>
            <a:stCxn id="16" idx="5"/>
            <a:endCxn id="15" idx="1"/>
          </p:cNvCxnSpPr>
          <p:nvPr/>
        </p:nvCxnSpPr>
        <p:spPr>
          <a:xfrm>
            <a:off x="10719446" y="5092505"/>
            <a:ext cx="330740" cy="36696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1F6DA59-876B-CF54-0F10-637D85D4BE3B}"/>
              </a:ext>
            </a:extLst>
          </p:cNvPr>
          <p:cNvCxnSpPr>
            <a:cxnSpLocks/>
            <a:stCxn id="14" idx="7"/>
            <a:endCxn id="15" idx="3"/>
          </p:cNvCxnSpPr>
          <p:nvPr/>
        </p:nvCxnSpPr>
        <p:spPr>
          <a:xfrm flipV="1">
            <a:off x="10975260" y="5578780"/>
            <a:ext cx="74926" cy="44854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4E4A2C5-78A8-8DF8-A644-6D277A48D26D}"/>
              </a:ext>
            </a:extLst>
          </p:cNvPr>
          <p:cNvCxnSpPr>
            <a:cxnSpLocks/>
            <a:stCxn id="13" idx="0"/>
            <a:endCxn id="17" idx="3"/>
          </p:cNvCxnSpPr>
          <p:nvPr/>
        </p:nvCxnSpPr>
        <p:spPr>
          <a:xfrm flipV="1">
            <a:off x="9610496" y="5322897"/>
            <a:ext cx="208108" cy="21847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93299CB6-3F14-3684-A49B-B5D0811AA73C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 flipV="1">
            <a:off x="8758353" y="5625739"/>
            <a:ext cx="724236" cy="8436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7E7A2BC-56DA-C614-E8F2-FB7EC5016BD7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8050623" y="5769758"/>
            <a:ext cx="489379" cy="17319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B9381C6-78A1-D03F-E3AC-53667E27C983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H="1" flipV="1">
            <a:off x="7149194" y="5263243"/>
            <a:ext cx="127907" cy="43363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F6BF875-AE41-98A5-2211-FA4642DBC0D6}"/>
              </a:ext>
            </a:extLst>
          </p:cNvPr>
          <p:cNvCxnSpPr>
            <a:cxnSpLocks/>
            <a:stCxn id="10" idx="2"/>
            <a:endCxn id="9" idx="5"/>
          </p:cNvCxnSpPr>
          <p:nvPr/>
        </p:nvCxnSpPr>
        <p:spPr>
          <a:xfrm flipH="1" flipV="1">
            <a:off x="7367545" y="5840899"/>
            <a:ext cx="464727" cy="16171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A86E7CFC-387F-7C17-E1C0-130B1D4EDA6C}"/>
              </a:ext>
            </a:extLst>
          </p:cNvPr>
          <p:cNvCxnSpPr>
            <a:cxnSpLocks/>
            <a:stCxn id="14" idx="2"/>
            <a:endCxn id="13" idx="6"/>
          </p:cNvCxnSpPr>
          <p:nvPr/>
        </p:nvCxnSpPr>
        <p:spPr>
          <a:xfrm flipH="1" flipV="1">
            <a:off x="9738403" y="5625739"/>
            <a:ext cx="1018506" cy="46123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545F15A-FE67-FA69-002A-3DCFB5654BB5}"/>
              </a:ext>
            </a:extLst>
          </p:cNvPr>
          <p:cNvCxnSpPr>
            <a:cxnSpLocks/>
            <a:stCxn id="13" idx="4"/>
            <a:endCxn id="36" idx="0"/>
          </p:cNvCxnSpPr>
          <p:nvPr/>
        </p:nvCxnSpPr>
        <p:spPr>
          <a:xfrm flipH="1">
            <a:off x="9543574" y="5710103"/>
            <a:ext cx="66922" cy="23263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2289887-E021-4B42-CCC4-17DF94EA212F}"/>
              </a:ext>
            </a:extLst>
          </p:cNvPr>
          <p:cNvCxnSpPr>
            <a:cxnSpLocks/>
            <a:stCxn id="34" idx="4"/>
            <a:endCxn id="26" idx="0"/>
          </p:cNvCxnSpPr>
          <p:nvPr/>
        </p:nvCxnSpPr>
        <p:spPr>
          <a:xfrm>
            <a:off x="11084894" y="2212623"/>
            <a:ext cx="36241" cy="1787232"/>
          </a:xfrm>
          <a:prstGeom prst="straightConnector1">
            <a:avLst/>
          </a:prstGeom>
          <a:ln w="25400">
            <a:solidFill>
              <a:srgbClr val="C00000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A176B36-021A-4FD4-9EB7-638CA9BF5006}"/>
              </a:ext>
            </a:extLst>
          </p:cNvPr>
          <p:cNvCxnSpPr>
            <a:cxnSpLocks/>
          </p:cNvCxnSpPr>
          <p:nvPr/>
        </p:nvCxnSpPr>
        <p:spPr>
          <a:xfrm>
            <a:off x="8543768" y="3837530"/>
            <a:ext cx="37463" cy="1807644"/>
          </a:xfrm>
          <a:prstGeom prst="straightConnector1">
            <a:avLst/>
          </a:prstGeom>
          <a:ln w="25400">
            <a:solidFill>
              <a:srgbClr val="C00000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38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1" grpId="0" animBg="1"/>
      <p:bldP spid="34" grpId="0" animBg="1"/>
      <p:bldP spid="35" grpId="0" animBg="1"/>
      <p:bldP spid="36" grpId="0" animBg="1"/>
      <p:bldP spid="37" grpId="0"/>
      <p:bldP spid="38" grpId="0" animBg="1"/>
      <p:bldP spid="39" grpId="0"/>
      <p:bldP spid="40" grpId="0" animBg="1"/>
      <p:bldP spid="41" grpId="0"/>
      <p:bldP spid="43" grpId="0"/>
      <p:bldP spid="4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5DC7B-A4D4-6FF8-8C5E-B9545B714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7AB3D-5A02-E995-D121-81FD784E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F43F2C-CAFA-379B-05D9-C764A1F04AE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Hierarchical Navigable small world (HNSW)</a:t>
                </a:r>
                <a:r>
                  <a:rPr lang="en-US" dirty="0">
                    <a:latin typeface="+mn-lt"/>
                  </a:rPr>
                  <a:t> graph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layers comprised of NSW graphs of increasing resolution</a:t>
                </a:r>
              </a:p>
              <a:p>
                <a:r>
                  <a:rPr lang="en-US" dirty="0">
                    <a:latin typeface="+mn-lt"/>
                  </a:rPr>
                  <a:t>The search at the highest level begins at a chosen </a:t>
                </a:r>
                <a:r>
                  <a:rPr lang="en-US" b="1" dirty="0">
                    <a:latin typeface="+mn-lt"/>
                  </a:rPr>
                  <a:t>entry point node</a:t>
                </a:r>
              </a:p>
              <a:p>
                <a:r>
                  <a:rPr lang="en-US" dirty="0">
                    <a:latin typeface="+mn-lt"/>
                  </a:rPr>
                  <a:t>The graph is traversed in a greedy manner until the node closest to the query is found</a:t>
                </a:r>
              </a:p>
              <a:p>
                <a:r>
                  <a:rPr lang="en-US" dirty="0">
                    <a:latin typeface="+mn-lt"/>
                  </a:rPr>
                  <a:t>Searches at subsequent levels are the ‘zoom in’ phase of the search </a:t>
                </a: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F43F2C-CAFA-379B-05D9-C764A1F04A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  <a:blipFill>
                <a:blip r:embed="rId3"/>
                <a:stretch>
                  <a:fillRect l="-2308" t="-1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Parallelogram 29">
            <a:extLst>
              <a:ext uri="{FF2B5EF4-FFF2-40B4-BE49-F238E27FC236}">
                <a16:creationId xmlns:a16="http://schemas.microsoft.com/office/drawing/2014/main" id="{0BB0C581-776F-2E88-CBA9-BA3F88E36658}"/>
              </a:ext>
            </a:extLst>
          </p:cNvPr>
          <p:cNvSpPr/>
          <p:nvPr/>
        </p:nvSpPr>
        <p:spPr>
          <a:xfrm>
            <a:off x="6509603" y="863656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976BF2A-68FD-FB57-7BA0-2F0AA999173B}"/>
              </a:ext>
            </a:extLst>
          </p:cNvPr>
          <p:cNvSpPr/>
          <p:nvPr/>
        </p:nvSpPr>
        <p:spPr>
          <a:xfrm>
            <a:off x="7221365" y="1135798"/>
            <a:ext cx="255814" cy="16872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0579B8B-A679-0DE9-4E21-1B0AACB8A1E2}"/>
              </a:ext>
            </a:extLst>
          </p:cNvPr>
          <p:cNvSpPr/>
          <p:nvPr/>
        </p:nvSpPr>
        <p:spPr>
          <a:xfrm>
            <a:off x="10956987" y="204389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AF407EB-15C3-959F-6BC3-D8820A58B15C}"/>
              </a:ext>
            </a:extLst>
          </p:cNvPr>
          <p:cNvSpPr/>
          <p:nvPr/>
        </p:nvSpPr>
        <p:spPr>
          <a:xfrm>
            <a:off x="10701173" y="98977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Cross 39">
            <a:extLst>
              <a:ext uri="{FF2B5EF4-FFF2-40B4-BE49-F238E27FC236}">
                <a16:creationId xmlns:a16="http://schemas.microsoft.com/office/drawing/2014/main" id="{51CF7BF0-D7F0-8F82-76A8-D3FC4B5E9285}"/>
              </a:ext>
            </a:extLst>
          </p:cNvPr>
          <p:cNvSpPr/>
          <p:nvPr/>
        </p:nvSpPr>
        <p:spPr>
          <a:xfrm>
            <a:off x="9308212" y="1996465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712875-F79C-FBC1-A052-1DCD90528AA1}"/>
              </a:ext>
            </a:extLst>
          </p:cNvPr>
          <p:cNvSpPr txBox="1"/>
          <p:nvPr/>
        </p:nvSpPr>
        <p:spPr>
          <a:xfrm>
            <a:off x="9034707" y="2121590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7297A0-4F7D-CDD2-20AF-8634433810D6}"/>
              </a:ext>
            </a:extLst>
          </p:cNvPr>
          <p:cNvSpPr txBox="1"/>
          <p:nvPr/>
        </p:nvSpPr>
        <p:spPr>
          <a:xfrm>
            <a:off x="8335173" y="2496003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2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371F219-3A61-3B44-3A6E-03ECE416E833}"/>
              </a:ext>
            </a:extLst>
          </p:cNvPr>
          <p:cNvCxnSpPr>
            <a:stCxn id="31" idx="5"/>
            <a:endCxn id="34" idx="2"/>
          </p:cNvCxnSpPr>
          <p:nvPr/>
        </p:nvCxnSpPr>
        <p:spPr>
          <a:xfrm>
            <a:off x="7439716" y="1279817"/>
            <a:ext cx="3517271" cy="84844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1F79376-94F2-E148-D1F8-EC5C0E8FE315}"/>
              </a:ext>
            </a:extLst>
          </p:cNvPr>
          <p:cNvCxnSpPr>
            <a:cxnSpLocks/>
            <a:stCxn id="31" idx="7"/>
            <a:endCxn id="35" idx="2"/>
          </p:cNvCxnSpPr>
          <p:nvPr/>
        </p:nvCxnSpPr>
        <p:spPr>
          <a:xfrm flipV="1">
            <a:off x="7439716" y="1074135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D0E2108-2563-178B-A23E-315F58A8ECD7}"/>
              </a:ext>
            </a:extLst>
          </p:cNvPr>
          <p:cNvCxnSpPr>
            <a:cxnSpLocks/>
            <a:stCxn id="35" idx="4"/>
            <a:endCxn id="34" idx="0"/>
          </p:cNvCxnSpPr>
          <p:nvPr/>
        </p:nvCxnSpPr>
        <p:spPr>
          <a:xfrm>
            <a:off x="10829080" y="1158499"/>
            <a:ext cx="255814" cy="88539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A1B79B-3136-EB2F-6AA1-9F7DE03455CB}"/>
              </a:ext>
            </a:extLst>
          </p:cNvPr>
          <p:cNvCxnSpPr>
            <a:cxnSpLocks/>
          </p:cNvCxnSpPr>
          <p:nvPr/>
        </p:nvCxnSpPr>
        <p:spPr>
          <a:xfrm flipV="1">
            <a:off x="5063163" y="1304527"/>
            <a:ext cx="2158202" cy="2055240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9CB789-4D24-55A3-5F2C-EAAEB48CCDC8}"/>
              </a:ext>
            </a:extLst>
          </p:cNvPr>
          <p:cNvCxnSpPr>
            <a:cxnSpLocks/>
          </p:cNvCxnSpPr>
          <p:nvPr/>
        </p:nvCxnSpPr>
        <p:spPr>
          <a:xfrm flipV="1">
            <a:off x="5475950" y="2283387"/>
            <a:ext cx="5608944" cy="2121408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161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66884-BB68-805E-7D24-CE50436B2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D83C3-2230-0E0E-0B56-46086490B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E5F9B0-A576-A2F7-FEF5-9E9417D3E62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Hierarchical Navigable small world (HNSW)</a:t>
                </a:r>
                <a:r>
                  <a:rPr lang="en-US" dirty="0">
                    <a:latin typeface="+mn-lt"/>
                  </a:rPr>
                  <a:t> graph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layers comprised of NSW graphs of increasing resolution</a:t>
                </a:r>
              </a:p>
              <a:p>
                <a:r>
                  <a:rPr lang="en-US" dirty="0">
                    <a:latin typeface="+mn-lt"/>
                  </a:rPr>
                  <a:t>The NN node at the previous level is used as the </a:t>
                </a:r>
                <a:r>
                  <a:rPr lang="en-US" b="1" dirty="0">
                    <a:latin typeface="+mn-lt"/>
                  </a:rPr>
                  <a:t>entry point node </a:t>
                </a:r>
                <a:r>
                  <a:rPr lang="en-US" dirty="0">
                    <a:latin typeface="+mn-lt"/>
                  </a:rPr>
                  <a:t>for a greedy search at the next level of the hierarchy</a:t>
                </a:r>
              </a:p>
              <a:p>
                <a:r>
                  <a:rPr lang="en-US" dirty="0">
                    <a:latin typeface="+mn-lt"/>
                  </a:rPr>
                  <a:t>Greedy search at next level of detail finds next NN node</a:t>
                </a:r>
              </a:p>
              <a:p>
                <a:r>
                  <a:rPr lang="en-US" dirty="0">
                    <a:latin typeface="+mn-lt"/>
                  </a:rPr>
                  <a:t>The foregoing steps are repeated until bottom level is reached</a:t>
                </a: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E5F9B0-A576-A2F7-FEF5-9E9417D3E6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  <a:blipFill>
                <a:blip r:embed="rId3"/>
                <a:stretch>
                  <a:fillRect l="-2308" t="-1766" r="-1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Parallelogram 18">
            <a:extLst>
              <a:ext uri="{FF2B5EF4-FFF2-40B4-BE49-F238E27FC236}">
                <a16:creationId xmlns:a16="http://schemas.microsoft.com/office/drawing/2014/main" id="{6BF8EAA6-95EE-9728-06BB-6D446DFFA5D3}"/>
              </a:ext>
            </a:extLst>
          </p:cNvPr>
          <p:cNvSpPr/>
          <p:nvPr/>
        </p:nvSpPr>
        <p:spPr>
          <a:xfrm>
            <a:off x="6429268" y="2861977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854C500-9F85-C538-1105-0605C8FFD56B}"/>
              </a:ext>
            </a:extLst>
          </p:cNvPr>
          <p:cNvSpPr/>
          <p:nvPr/>
        </p:nvSpPr>
        <p:spPr>
          <a:xfrm>
            <a:off x="7141030" y="3134119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B6607B4-765E-73D5-49DD-EF4C16209808}"/>
              </a:ext>
            </a:extLst>
          </p:cNvPr>
          <p:cNvSpPr/>
          <p:nvPr/>
        </p:nvSpPr>
        <p:spPr>
          <a:xfrm>
            <a:off x="8374632" y="367407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470F5AD-7E6A-29F4-F04F-5AF4A8382190}"/>
              </a:ext>
            </a:extLst>
          </p:cNvPr>
          <p:cNvSpPr/>
          <p:nvPr/>
        </p:nvSpPr>
        <p:spPr>
          <a:xfrm>
            <a:off x="8828261" y="297996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4E5183E-4505-96B3-AEFE-9E6F989922A1}"/>
              </a:ext>
            </a:extLst>
          </p:cNvPr>
          <p:cNvSpPr/>
          <p:nvPr/>
        </p:nvSpPr>
        <p:spPr>
          <a:xfrm>
            <a:off x="10993228" y="3999855"/>
            <a:ext cx="255814" cy="16872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A0893C1-D598-68A6-4848-3D4CE8C2144C}"/>
              </a:ext>
            </a:extLst>
          </p:cNvPr>
          <p:cNvSpPr/>
          <p:nvPr/>
        </p:nvSpPr>
        <p:spPr>
          <a:xfrm>
            <a:off x="10620838" y="2988091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13F73852-377B-0AAC-2A5F-BB3E9FF8F945}"/>
              </a:ext>
            </a:extLst>
          </p:cNvPr>
          <p:cNvSpPr/>
          <p:nvPr/>
        </p:nvSpPr>
        <p:spPr>
          <a:xfrm>
            <a:off x="6509603" y="863656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EC5398B-D3E8-EA3E-A31D-C148D4B3B524}"/>
              </a:ext>
            </a:extLst>
          </p:cNvPr>
          <p:cNvSpPr/>
          <p:nvPr/>
        </p:nvSpPr>
        <p:spPr>
          <a:xfrm>
            <a:off x="7221365" y="1135798"/>
            <a:ext cx="255814" cy="16872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20120EA-21A8-3E71-40E6-554D4AE60B6B}"/>
              </a:ext>
            </a:extLst>
          </p:cNvPr>
          <p:cNvSpPr/>
          <p:nvPr/>
        </p:nvSpPr>
        <p:spPr>
          <a:xfrm>
            <a:off x="10956987" y="204389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33253C8-F58A-F8D5-F477-7E0F4A3DA465}"/>
              </a:ext>
            </a:extLst>
          </p:cNvPr>
          <p:cNvSpPr/>
          <p:nvPr/>
        </p:nvSpPr>
        <p:spPr>
          <a:xfrm>
            <a:off x="10701173" y="98977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ross 37">
            <a:extLst>
              <a:ext uri="{FF2B5EF4-FFF2-40B4-BE49-F238E27FC236}">
                <a16:creationId xmlns:a16="http://schemas.microsoft.com/office/drawing/2014/main" id="{2D35ACAE-B65C-C4B4-2A2F-3275FFA4593A}"/>
              </a:ext>
            </a:extLst>
          </p:cNvPr>
          <p:cNvSpPr/>
          <p:nvPr/>
        </p:nvSpPr>
        <p:spPr>
          <a:xfrm>
            <a:off x="9315913" y="3973537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588C43-B542-AD83-5F2F-8091A7AE19A5}"/>
              </a:ext>
            </a:extLst>
          </p:cNvPr>
          <p:cNvSpPr txBox="1"/>
          <p:nvPr/>
        </p:nvSpPr>
        <p:spPr>
          <a:xfrm>
            <a:off x="9042408" y="4098662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0" name="Cross 39">
            <a:extLst>
              <a:ext uri="{FF2B5EF4-FFF2-40B4-BE49-F238E27FC236}">
                <a16:creationId xmlns:a16="http://schemas.microsoft.com/office/drawing/2014/main" id="{CAFAC627-5FEA-4C07-6217-1023846128FD}"/>
              </a:ext>
            </a:extLst>
          </p:cNvPr>
          <p:cNvSpPr/>
          <p:nvPr/>
        </p:nvSpPr>
        <p:spPr>
          <a:xfrm>
            <a:off x="9308212" y="1996465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317728-BD7F-51DA-FE5F-F3EE54419422}"/>
              </a:ext>
            </a:extLst>
          </p:cNvPr>
          <p:cNvSpPr txBox="1"/>
          <p:nvPr/>
        </p:nvSpPr>
        <p:spPr>
          <a:xfrm>
            <a:off x="9034707" y="2121590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FA2758-9F85-B9DA-EE07-C20F62BA93C4}"/>
              </a:ext>
            </a:extLst>
          </p:cNvPr>
          <p:cNvSpPr txBox="1"/>
          <p:nvPr/>
        </p:nvSpPr>
        <p:spPr>
          <a:xfrm>
            <a:off x="8258772" y="4460188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87FA1D-79AE-D313-2928-ED9437836147}"/>
              </a:ext>
            </a:extLst>
          </p:cNvPr>
          <p:cNvSpPr txBox="1"/>
          <p:nvPr/>
        </p:nvSpPr>
        <p:spPr>
          <a:xfrm>
            <a:off x="8335173" y="2496003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2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45B5BBE-8D28-F807-14A9-C502E59663C1}"/>
              </a:ext>
            </a:extLst>
          </p:cNvPr>
          <p:cNvCxnSpPr>
            <a:stCxn id="31" idx="5"/>
            <a:endCxn id="34" idx="2"/>
          </p:cNvCxnSpPr>
          <p:nvPr/>
        </p:nvCxnSpPr>
        <p:spPr>
          <a:xfrm>
            <a:off x="7439716" y="1279817"/>
            <a:ext cx="3517271" cy="84844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D3DB25A-E0C0-A0A4-A41A-1D0BBDFBC4E6}"/>
              </a:ext>
            </a:extLst>
          </p:cNvPr>
          <p:cNvCxnSpPr>
            <a:cxnSpLocks/>
            <a:stCxn id="31" idx="7"/>
            <a:endCxn id="35" idx="2"/>
          </p:cNvCxnSpPr>
          <p:nvPr/>
        </p:nvCxnSpPr>
        <p:spPr>
          <a:xfrm flipV="1">
            <a:off x="7439716" y="1074135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EAE9E0-988D-9A03-D268-E1872AD0C5EA}"/>
              </a:ext>
            </a:extLst>
          </p:cNvPr>
          <p:cNvCxnSpPr>
            <a:cxnSpLocks/>
            <a:stCxn id="35" idx="4"/>
            <a:endCxn id="34" idx="0"/>
          </p:cNvCxnSpPr>
          <p:nvPr/>
        </p:nvCxnSpPr>
        <p:spPr>
          <a:xfrm>
            <a:off x="10829080" y="1158499"/>
            <a:ext cx="255814" cy="88539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43B38C8-CFEC-E19C-1DBA-6B3AA5022D10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7374174" y="3249855"/>
            <a:ext cx="3619054" cy="83436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D771A15-35E1-6E6E-6ACD-142E7E885CE4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10748745" y="3156820"/>
            <a:ext cx="281946" cy="86774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C3DCFE9-E0FC-13D6-865A-D143DC1AB284}"/>
              </a:ext>
            </a:extLst>
          </p:cNvPr>
          <p:cNvCxnSpPr>
            <a:cxnSpLocks/>
          </p:cNvCxnSpPr>
          <p:nvPr/>
        </p:nvCxnSpPr>
        <p:spPr>
          <a:xfrm flipV="1">
            <a:off x="7378961" y="3105502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61172D2-471F-4418-2178-18E4572CBC79}"/>
              </a:ext>
            </a:extLst>
          </p:cNvPr>
          <p:cNvCxnSpPr>
            <a:cxnSpLocks/>
            <a:stCxn id="20" idx="7"/>
            <a:endCxn id="24" idx="2"/>
          </p:cNvCxnSpPr>
          <p:nvPr/>
        </p:nvCxnSpPr>
        <p:spPr>
          <a:xfrm flipV="1">
            <a:off x="7359381" y="3064325"/>
            <a:ext cx="1468880" cy="9450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DAA0B16-B7E8-F263-EC6A-C839EE416575}"/>
              </a:ext>
            </a:extLst>
          </p:cNvPr>
          <p:cNvCxnSpPr>
            <a:cxnSpLocks/>
            <a:endCxn id="28" idx="2"/>
          </p:cNvCxnSpPr>
          <p:nvPr/>
        </p:nvCxnSpPr>
        <p:spPr>
          <a:xfrm>
            <a:off x="9070444" y="3057869"/>
            <a:ext cx="1550394" cy="145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A2D9C5C-A89A-E348-319D-129650B518C3}"/>
              </a:ext>
            </a:extLst>
          </p:cNvPr>
          <p:cNvCxnSpPr>
            <a:cxnSpLocks/>
            <a:stCxn id="20" idx="4"/>
            <a:endCxn id="22" idx="1"/>
          </p:cNvCxnSpPr>
          <p:nvPr/>
        </p:nvCxnSpPr>
        <p:spPr>
          <a:xfrm>
            <a:off x="7268937" y="3302848"/>
            <a:ext cx="1143158" cy="39593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7C4BD6D-5E54-A435-C2C9-886D2DF7D5F6}"/>
              </a:ext>
            </a:extLst>
          </p:cNvPr>
          <p:cNvCxnSpPr>
            <a:cxnSpLocks/>
            <a:stCxn id="22" idx="0"/>
            <a:endCxn id="24" idx="4"/>
          </p:cNvCxnSpPr>
          <p:nvPr/>
        </p:nvCxnSpPr>
        <p:spPr>
          <a:xfrm flipV="1">
            <a:off x="8502539" y="3148689"/>
            <a:ext cx="453629" cy="5253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3A583C7-6054-0A80-560F-182DD6EA57D3}"/>
              </a:ext>
            </a:extLst>
          </p:cNvPr>
          <p:cNvCxnSpPr>
            <a:cxnSpLocks/>
            <a:stCxn id="22" idx="6"/>
            <a:endCxn id="26" idx="2"/>
          </p:cNvCxnSpPr>
          <p:nvPr/>
        </p:nvCxnSpPr>
        <p:spPr>
          <a:xfrm>
            <a:off x="8630446" y="3758441"/>
            <a:ext cx="2362782" cy="32577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6F2F854-68D8-84B5-9C49-814B13A00DE9}"/>
              </a:ext>
            </a:extLst>
          </p:cNvPr>
          <p:cNvCxnSpPr>
            <a:cxnSpLocks/>
            <a:stCxn id="34" idx="4"/>
            <a:endCxn id="26" idx="0"/>
          </p:cNvCxnSpPr>
          <p:nvPr/>
        </p:nvCxnSpPr>
        <p:spPr>
          <a:xfrm>
            <a:off x="11084894" y="2212623"/>
            <a:ext cx="36241" cy="1787232"/>
          </a:xfrm>
          <a:prstGeom prst="straightConnector1">
            <a:avLst/>
          </a:prstGeom>
          <a:ln w="25400">
            <a:solidFill>
              <a:srgbClr val="C00000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4DC39AF-8509-9880-ECB0-0E66B3268AE3}"/>
              </a:ext>
            </a:extLst>
          </p:cNvPr>
          <p:cNvCxnSpPr>
            <a:cxnSpLocks/>
            <a:endCxn id="34" idx="3"/>
          </p:cNvCxnSpPr>
          <p:nvPr/>
        </p:nvCxnSpPr>
        <p:spPr>
          <a:xfrm flipV="1">
            <a:off x="5627914" y="2187913"/>
            <a:ext cx="5366536" cy="800178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2C4F403-B671-C83D-716A-A87012B72A83}"/>
              </a:ext>
            </a:extLst>
          </p:cNvPr>
          <p:cNvCxnSpPr>
            <a:cxnSpLocks/>
            <a:endCxn id="22" idx="3"/>
          </p:cNvCxnSpPr>
          <p:nvPr/>
        </p:nvCxnSpPr>
        <p:spPr>
          <a:xfrm flipV="1">
            <a:off x="4971327" y="3818095"/>
            <a:ext cx="3440768" cy="921738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3FDBC3D-2967-B4C2-61E3-068551DCE09E}"/>
              </a:ext>
            </a:extLst>
          </p:cNvPr>
          <p:cNvCxnSpPr>
            <a:cxnSpLocks/>
          </p:cNvCxnSpPr>
          <p:nvPr/>
        </p:nvCxnSpPr>
        <p:spPr>
          <a:xfrm>
            <a:off x="5762733" y="3039905"/>
            <a:ext cx="5113919" cy="933632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76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8" grpId="0" animBg="1"/>
      <p:bldP spid="39" grpId="0"/>
      <p:bldP spid="43" grpId="0"/>
      <p:bldP spid="44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18E51-F755-B036-43B1-A18050911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DFFC6-371B-BD80-3FDB-82B89C942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1AA1F2-6BA3-B516-51CB-7F9DF621658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Hierarchical Navigable small world (HNSW)</a:t>
                </a:r>
                <a:r>
                  <a:rPr lang="en-US" dirty="0">
                    <a:latin typeface="+mn-lt"/>
                  </a:rPr>
                  <a:t> graph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layers comprised of NSW graphs of increasing resolution</a:t>
                </a:r>
              </a:p>
              <a:p>
                <a:r>
                  <a:rPr lang="en-US" dirty="0">
                    <a:latin typeface="+mn-lt"/>
                  </a:rPr>
                  <a:t>The NN node at the previous level is used as the </a:t>
                </a:r>
                <a:r>
                  <a:rPr lang="en-US" b="1" dirty="0">
                    <a:latin typeface="+mn-lt"/>
                  </a:rPr>
                  <a:t>entry point node </a:t>
                </a:r>
                <a:r>
                  <a:rPr lang="en-US" dirty="0">
                    <a:latin typeface="+mn-lt"/>
                  </a:rPr>
                  <a:t>for a greedy search at the lowest level of the hierarchy</a:t>
                </a:r>
              </a:p>
              <a:p>
                <a:r>
                  <a:rPr lang="en-US" dirty="0">
                    <a:latin typeface="+mn-lt"/>
                  </a:rPr>
                  <a:t>Greedy search at the lowest level is has full detail, finding NN nodes</a:t>
                </a:r>
              </a:p>
              <a:p>
                <a:r>
                  <a:rPr lang="en-US" dirty="0">
                    <a:latin typeface="+mn-lt"/>
                  </a:rPr>
                  <a:t>The lowest level search is the ‘zoom out’ phase</a:t>
                </a: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1AA1F2-6BA3-B516-51CB-7F9DF62165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  <a:blipFill>
                <a:blip r:embed="rId3"/>
                <a:stretch>
                  <a:fillRect l="-2308" t="-1766" r="-2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8027448-B9FA-7DA4-9074-9B3E2E888256}"/>
              </a:ext>
            </a:extLst>
          </p:cNvPr>
          <p:cNvCxnSpPr>
            <a:cxnSpLocks/>
          </p:cNvCxnSpPr>
          <p:nvPr/>
        </p:nvCxnSpPr>
        <p:spPr>
          <a:xfrm>
            <a:off x="8706412" y="5768665"/>
            <a:ext cx="2063983" cy="30709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rallelogram 4">
            <a:extLst>
              <a:ext uri="{FF2B5EF4-FFF2-40B4-BE49-F238E27FC236}">
                <a16:creationId xmlns:a16="http://schemas.microsoft.com/office/drawing/2014/main" id="{92883C2E-FA76-2AE6-2A02-222F933E036D}"/>
              </a:ext>
            </a:extLst>
          </p:cNvPr>
          <p:cNvSpPr/>
          <p:nvPr/>
        </p:nvSpPr>
        <p:spPr>
          <a:xfrm>
            <a:off x="6309525" y="4822372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A5F5FA4-FCC2-F527-1BE4-69A1A5DD11B5}"/>
              </a:ext>
            </a:extLst>
          </p:cNvPr>
          <p:cNvSpPr/>
          <p:nvPr/>
        </p:nvSpPr>
        <p:spPr>
          <a:xfrm>
            <a:off x="7021287" y="509451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71E69C2-4F62-AE40-077B-9D4A54A0BD48}"/>
              </a:ext>
            </a:extLst>
          </p:cNvPr>
          <p:cNvSpPr/>
          <p:nvPr/>
        </p:nvSpPr>
        <p:spPr>
          <a:xfrm>
            <a:off x="7149194" y="569688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07EA71-436E-24FC-C85C-1F0DCC0B9134}"/>
              </a:ext>
            </a:extLst>
          </p:cNvPr>
          <p:cNvSpPr/>
          <p:nvPr/>
        </p:nvSpPr>
        <p:spPr>
          <a:xfrm>
            <a:off x="7832272" y="591824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628CF7-1F20-2AB1-1820-68117B4A708D}"/>
              </a:ext>
            </a:extLst>
          </p:cNvPr>
          <p:cNvSpPr/>
          <p:nvPr/>
        </p:nvSpPr>
        <p:spPr>
          <a:xfrm>
            <a:off x="8502539" y="5625739"/>
            <a:ext cx="255814" cy="16872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930A90-3F87-DF00-CA0C-26320C7361D2}"/>
              </a:ext>
            </a:extLst>
          </p:cNvPr>
          <p:cNvSpPr/>
          <p:nvPr/>
        </p:nvSpPr>
        <p:spPr>
          <a:xfrm>
            <a:off x="8753875" y="492978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BCD2286-98B3-40AA-D552-CB3B1316E0B6}"/>
              </a:ext>
            </a:extLst>
          </p:cNvPr>
          <p:cNvSpPr/>
          <p:nvPr/>
        </p:nvSpPr>
        <p:spPr>
          <a:xfrm>
            <a:off x="9482589" y="554137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27F7754-6051-D376-52B6-D0F1C513AE44}"/>
              </a:ext>
            </a:extLst>
          </p:cNvPr>
          <p:cNvSpPr/>
          <p:nvPr/>
        </p:nvSpPr>
        <p:spPr>
          <a:xfrm>
            <a:off x="10756909" y="600261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1B24A3A-D5E1-849D-A317-35BE5CCC3E47}"/>
              </a:ext>
            </a:extLst>
          </p:cNvPr>
          <p:cNvSpPr/>
          <p:nvPr/>
        </p:nvSpPr>
        <p:spPr>
          <a:xfrm>
            <a:off x="11012723" y="5434761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4D86DD-8070-4315-FEA8-606F25DD942E}"/>
              </a:ext>
            </a:extLst>
          </p:cNvPr>
          <p:cNvSpPr/>
          <p:nvPr/>
        </p:nvSpPr>
        <p:spPr>
          <a:xfrm>
            <a:off x="10501095" y="494848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A1E2A6E-A133-B22A-02DC-160EC79E7320}"/>
              </a:ext>
            </a:extLst>
          </p:cNvPr>
          <p:cNvSpPr/>
          <p:nvPr/>
        </p:nvSpPr>
        <p:spPr>
          <a:xfrm>
            <a:off x="9781141" y="5178878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AD97C2EB-E080-8A9E-919C-313424D190BF}"/>
              </a:ext>
            </a:extLst>
          </p:cNvPr>
          <p:cNvSpPr/>
          <p:nvPr/>
        </p:nvSpPr>
        <p:spPr>
          <a:xfrm>
            <a:off x="6429268" y="2861977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EC8BACB-3BAC-4692-41D0-B3B3F7A2C5F5}"/>
              </a:ext>
            </a:extLst>
          </p:cNvPr>
          <p:cNvSpPr/>
          <p:nvPr/>
        </p:nvSpPr>
        <p:spPr>
          <a:xfrm>
            <a:off x="7141030" y="3134119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F2D925A-5B22-47FB-E975-88FBBCFFCAE4}"/>
              </a:ext>
            </a:extLst>
          </p:cNvPr>
          <p:cNvSpPr/>
          <p:nvPr/>
        </p:nvSpPr>
        <p:spPr>
          <a:xfrm>
            <a:off x="8374632" y="367407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4CB69D8-DA67-715D-105F-289488C9B4F3}"/>
              </a:ext>
            </a:extLst>
          </p:cNvPr>
          <p:cNvSpPr/>
          <p:nvPr/>
        </p:nvSpPr>
        <p:spPr>
          <a:xfrm>
            <a:off x="8828261" y="297996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BD1E808-E891-85AB-FB03-216DDF940445}"/>
              </a:ext>
            </a:extLst>
          </p:cNvPr>
          <p:cNvSpPr/>
          <p:nvPr/>
        </p:nvSpPr>
        <p:spPr>
          <a:xfrm>
            <a:off x="10993228" y="3999855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66E3A68-6DEC-0DF3-97B7-469C593E8498}"/>
              </a:ext>
            </a:extLst>
          </p:cNvPr>
          <p:cNvSpPr/>
          <p:nvPr/>
        </p:nvSpPr>
        <p:spPr>
          <a:xfrm>
            <a:off x="10620838" y="2988091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arallelogram 28">
            <a:extLst>
              <a:ext uri="{FF2B5EF4-FFF2-40B4-BE49-F238E27FC236}">
                <a16:creationId xmlns:a16="http://schemas.microsoft.com/office/drawing/2014/main" id="{4E91FED9-8AFB-C7B7-BD55-9BA2227790C6}"/>
              </a:ext>
            </a:extLst>
          </p:cNvPr>
          <p:cNvSpPr/>
          <p:nvPr/>
        </p:nvSpPr>
        <p:spPr>
          <a:xfrm>
            <a:off x="6509603" y="863656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1E5C078-89C4-EC7A-4486-306F3558203D}"/>
              </a:ext>
            </a:extLst>
          </p:cNvPr>
          <p:cNvSpPr/>
          <p:nvPr/>
        </p:nvSpPr>
        <p:spPr>
          <a:xfrm>
            <a:off x="7221365" y="1135798"/>
            <a:ext cx="255814" cy="16872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CB8DD2D-45D4-1E5E-1F59-A39AB9C74A49}"/>
              </a:ext>
            </a:extLst>
          </p:cNvPr>
          <p:cNvSpPr/>
          <p:nvPr/>
        </p:nvSpPr>
        <p:spPr>
          <a:xfrm>
            <a:off x="10956987" y="204389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EE0CC93-31C0-6F5A-DF3F-AC941457BDDB}"/>
              </a:ext>
            </a:extLst>
          </p:cNvPr>
          <p:cNvSpPr/>
          <p:nvPr/>
        </p:nvSpPr>
        <p:spPr>
          <a:xfrm>
            <a:off x="10701173" y="98977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ross 36">
            <a:extLst>
              <a:ext uri="{FF2B5EF4-FFF2-40B4-BE49-F238E27FC236}">
                <a16:creationId xmlns:a16="http://schemas.microsoft.com/office/drawing/2014/main" id="{E5C075B8-F30A-300A-68CE-1937EC4C8972}"/>
              </a:ext>
            </a:extLst>
          </p:cNvPr>
          <p:cNvSpPr/>
          <p:nvPr/>
        </p:nvSpPr>
        <p:spPr>
          <a:xfrm>
            <a:off x="9391174" y="5942742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52EAFF-2F3A-D2A6-1F12-00E1444838EF}"/>
              </a:ext>
            </a:extLst>
          </p:cNvPr>
          <p:cNvSpPr txBox="1"/>
          <p:nvPr/>
        </p:nvSpPr>
        <p:spPr>
          <a:xfrm>
            <a:off x="9113356" y="6067867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5" name="Cross 44">
            <a:extLst>
              <a:ext uri="{FF2B5EF4-FFF2-40B4-BE49-F238E27FC236}">
                <a16:creationId xmlns:a16="http://schemas.microsoft.com/office/drawing/2014/main" id="{99E94EE4-4A5B-7242-4ADD-8E96858DC7EA}"/>
              </a:ext>
            </a:extLst>
          </p:cNvPr>
          <p:cNvSpPr/>
          <p:nvPr/>
        </p:nvSpPr>
        <p:spPr>
          <a:xfrm>
            <a:off x="9315913" y="3973537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D93ED0-B658-27B7-CDD8-8B0539884555}"/>
              </a:ext>
            </a:extLst>
          </p:cNvPr>
          <p:cNvSpPr txBox="1"/>
          <p:nvPr/>
        </p:nvSpPr>
        <p:spPr>
          <a:xfrm>
            <a:off x="9042408" y="4098662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66CA212E-4321-33F0-9408-0439FA557AA4}"/>
              </a:ext>
            </a:extLst>
          </p:cNvPr>
          <p:cNvSpPr/>
          <p:nvPr/>
        </p:nvSpPr>
        <p:spPr>
          <a:xfrm>
            <a:off x="9308212" y="1996465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122E55C-94FE-5FA0-F01E-80801F6E5963}"/>
              </a:ext>
            </a:extLst>
          </p:cNvPr>
          <p:cNvSpPr txBox="1"/>
          <p:nvPr/>
        </p:nvSpPr>
        <p:spPr>
          <a:xfrm>
            <a:off x="9034707" y="2121590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7F5F1F-65EA-D750-8F8C-EA7FF53CCF37}"/>
              </a:ext>
            </a:extLst>
          </p:cNvPr>
          <p:cNvSpPr txBox="1"/>
          <p:nvPr/>
        </p:nvSpPr>
        <p:spPr>
          <a:xfrm>
            <a:off x="8258772" y="4460188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AB58DB-7C67-5BA3-D31E-4C182B701301}"/>
              </a:ext>
            </a:extLst>
          </p:cNvPr>
          <p:cNvSpPr txBox="1"/>
          <p:nvPr/>
        </p:nvSpPr>
        <p:spPr>
          <a:xfrm>
            <a:off x="8335173" y="2496003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2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016697A-01DD-62B7-338E-21F505C7DBAE}"/>
              </a:ext>
            </a:extLst>
          </p:cNvPr>
          <p:cNvCxnSpPr>
            <a:stCxn id="32" idx="5"/>
            <a:endCxn id="33" idx="2"/>
          </p:cNvCxnSpPr>
          <p:nvPr/>
        </p:nvCxnSpPr>
        <p:spPr>
          <a:xfrm>
            <a:off x="7439716" y="1279817"/>
            <a:ext cx="3517271" cy="84844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88F8B5B-0868-FC04-B7E5-06E3C4124212}"/>
              </a:ext>
            </a:extLst>
          </p:cNvPr>
          <p:cNvCxnSpPr>
            <a:cxnSpLocks/>
            <a:stCxn id="32" idx="7"/>
            <a:endCxn id="36" idx="2"/>
          </p:cNvCxnSpPr>
          <p:nvPr/>
        </p:nvCxnSpPr>
        <p:spPr>
          <a:xfrm flipV="1">
            <a:off x="7439716" y="1074135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0B6BC89-84B5-7D93-CCC8-D28F817BAF90}"/>
              </a:ext>
            </a:extLst>
          </p:cNvPr>
          <p:cNvCxnSpPr>
            <a:cxnSpLocks/>
            <a:stCxn id="36" idx="4"/>
            <a:endCxn id="33" idx="0"/>
          </p:cNvCxnSpPr>
          <p:nvPr/>
        </p:nvCxnSpPr>
        <p:spPr>
          <a:xfrm>
            <a:off x="10829080" y="1158499"/>
            <a:ext cx="255814" cy="88539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CF39472-278E-C500-9EBC-1AB8613DBFDA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7374174" y="3249855"/>
            <a:ext cx="3619054" cy="83436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C9EE60E-DC28-2780-87BB-8F8343E75493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10748745" y="3156820"/>
            <a:ext cx="281946" cy="86774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3801710-10C5-9F21-A10C-A99358A65FB8}"/>
              </a:ext>
            </a:extLst>
          </p:cNvPr>
          <p:cNvCxnSpPr>
            <a:cxnSpLocks/>
          </p:cNvCxnSpPr>
          <p:nvPr/>
        </p:nvCxnSpPr>
        <p:spPr>
          <a:xfrm flipV="1">
            <a:off x="7378961" y="3105502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70A87F5-348C-6482-1EB6-0FE803DA2D9B}"/>
              </a:ext>
            </a:extLst>
          </p:cNvPr>
          <p:cNvCxnSpPr/>
          <p:nvPr/>
        </p:nvCxnSpPr>
        <p:spPr>
          <a:xfrm>
            <a:off x="7239638" y="5201518"/>
            <a:ext cx="3517271" cy="84844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2048F83-06FA-871A-40C3-BFF217379CB3}"/>
              </a:ext>
            </a:extLst>
          </p:cNvPr>
          <p:cNvCxnSpPr>
            <a:cxnSpLocks/>
          </p:cNvCxnSpPr>
          <p:nvPr/>
        </p:nvCxnSpPr>
        <p:spPr>
          <a:xfrm flipV="1">
            <a:off x="7277101" y="5058976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7A49A0C-7913-7E3A-5D1D-C39442C84AB1}"/>
              </a:ext>
            </a:extLst>
          </p:cNvPr>
          <p:cNvCxnSpPr>
            <a:cxnSpLocks/>
          </p:cNvCxnSpPr>
          <p:nvPr/>
        </p:nvCxnSpPr>
        <p:spPr>
          <a:xfrm>
            <a:off x="10605025" y="5117215"/>
            <a:ext cx="255814" cy="88539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84D62B2-8619-D09A-28A4-38486652585D}"/>
              </a:ext>
            </a:extLst>
          </p:cNvPr>
          <p:cNvCxnSpPr>
            <a:cxnSpLocks/>
            <a:stCxn id="17" idx="7"/>
            <a:endCxn id="21" idx="2"/>
          </p:cNvCxnSpPr>
          <p:nvPr/>
        </p:nvCxnSpPr>
        <p:spPr>
          <a:xfrm flipV="1">
            <a:off x="7359381" y="3064325"/>
            <a:ext cx="1468880" cy="9450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AF3CF4E-917C-D809-7750-D952E1254D4D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9070444" y="3057869"/>
            <a:ext cx="1550394" cy="145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1CC2891-B1C7-BACC-D44C-C337CDD72F9C}"/>
              </a:ext>
            </a:extLst>
          </p:cNvPr>
          <p:cNvCxnSpPr>
            <a:cxnSpLocks/>
            <a:stCxn id="17" idx="4"/>
            <a:endCxn id="18" idx="1"/>
          </p:cNvCxnSpPr>
          <p:nvPr/>
        </p:nvCxnSpPr>
        <p:spPr>
          <a:xfrm>
            <a:off x="7268937" y="3302848"/>
            <a:ext cx="1143158" cy="39593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B997537-24F7-4C93-6549-1830BC3A3EFC}"/>
              </a:ext>
            </a:extLst>
          </p:cNvPr>
          <p:cNvCxnSpPr>
            <a:cxnSpLocks/>
            <a:stCxn id="18" idx="0"/>
            <a:endCxn id="21" idx="4"/>
          </p:cNvCxnSpPr>
          <p:nvPr/>
        </p:nvCxnSpPr>
        <p:spPr>
          <a:xfrm flipV="1">
            <a:off x="8502539" y="3148689"/>
            <a:ext cx="453629" cy="5253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6676EC4-4D1C-ECCA-9B20-A8BE753E8574}"/>
              </a:ext>
            </a:extLst>
          </p:cNvPr>
          <p:cNvCxnSpPr>
            <a:cxnSpLocks/>
            <a:stCxn id="18" idx="6"/>
            <a:endCxn id="25" idx="2"/>
          </p:cNvCxnSpPr>
          <p:nvPr/>
        </p:nvCxnSpPr>
        <p:spPr>
          <a:xfrm>
            <a:off x="8630446" y="3758441"/>
            <a:ext cx="2362782" cy="32577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98C55D9-DD32-8E9F-4322-1F65C9BA8572}"/>
              </a:ext>
            </a:extLst>
          </p:cNvPr>
          <p:cNvCxnSpPr>
            <a:cxnSpLocks/>
          </p:cNvCxnSpPr>
          <p:nvPr/>
        </p:nvCxnSpPr>
        <p:spPr>
          <a:xfrm flipV="1">
            <a:off x="7255101" y="4991299"/>
            <a:ext cx="1468880" cy="9450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B688C4D-7648-A1F7-67AF-294116BB5497}"/>
              </a:ext>
            </a:extLst>
          </p:cNvPr>
          <p:cNvCxnSpPr>
            <a:cxnSpLocks/>
          </p:cNvCxnSpPr>
          <p:nvPr/>
        </p:nvCxnSpPr>
        <p:spPr>
          <a:xfrm>
            <a:off x="8982176" y="4989494"/>
            <a:ext cx="1550394" cy="145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502A9D5-218B-56B7-1088-F43DBD63A2A3}"/>
              </a:ext>
            </a:extLst>
          </p:cNvPr>
          <p:cNvCxnSpPr>
            <a:cxnSpLocks/>
            <a:stCxn id="6" idx="5"/>
            <a:endCxn id="9" idx="1"/>
          </p:cNvCxnSpPr>
          <p:nvPr/>
        </p:nvCxnSpPr>
        <p:spPr>
          <a:xfrm>
            <a:off x="7239638" y="5238533"/>
            <a:ext cx="1300364" cy="41191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B81B198-83EC-354A-82DE-7D97353FAA1F}"/>
              </a:ext>
            </a:extLst>
          </p:cNvPr>
          <p:cNvCxnSpPr>
            <a:cxnSpLocks/>
            <a:stCxn id="15" idx="2"/>
            <a:endCxn id="10" idx="5"/>
          </p:cNvCxnSpPr>
          <p:nvPr/>
        </p:nvCxnSpPr>
        <p:spPr>
          <a:xfrm flipH="1" flipV="1">
            <a:off x="8972226" y="5073799"/>
            <a:ext cx="808915" cy="18944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A1CA436-DBA8-B3A6-6F0E-8032223CC55F}"/>
              </a:ext>
            </a:extLst>
          </p:cNvPr>
          <p:cNvCxnSpPr>
            <a:cxnSpLocks/>
            <a:stCxn id="15" idx="6"/>
            <a:endCxn id="14" idx="3"/>
          </p:cNvCxnSpPr>
          <p:nvPr/>
        </p:nvCxnSpPr>
        <p:spPr>
          <a:xfrm flipV="1">
            <a:off x="10036955" y="5092505"/>
            <a:ext cx="501603" cy="17073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B6E10EC-E00C-D733-3C3B-1B4D455993BE}"/>
              </a:ext>
            </a:extLst>
          </p:cNvPr>
          <p:cNvCxnSpPr>
            <a:cxnSpLocks/>
            <a:stCxn id="14" idx="5"/>
            <a:endCxn id="13" idx="1"/>
          </p:cNvCxnSpPr>
          <p:nvPr/>
        </p:nvCxnSpPr>
        <p:spPr>
          <a:xfrm>
            <a:off x="10719446" y="5092505"/>
            <a:ext cx="330740" cy="36696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38C4BA0-C000-4079-AB35-CEE100C7B0DE}"/>
              </a:ext>
            </a:extLst>
          </p:cNvPr>
          <p:cNvCxnSpPr>
            <a:cxnSpLocks/>
            <a:stCxn id="12" idx="7"/>
            <a:endCxn id="13" idx="3"/>
          </p:cNvCxnSpPr>
          <p:nvPr/>
        </p:nvCxnSpPr>
        <p:spPr>
          <a:xfrm flipV="1">
            <a:off x="10975260" y="5578780"/>
            <a:ext cx="74926" cy="44854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24B0DA7-CC4E-91DD-AD68-009C85B461BA}"/>
              </a:ext>
            </a:extLst>
          </p:cNvPr>
          <p:cNvCxnSpPr>
            <a:cxnSpLocks/>
            <a:stCxn id="11" idx="0"/>
            <a:endCxn id="15" idx="3"/>
          </p:cNvCxnSpPr>
          <p:nvPr/>
        </p:nvCxnSpPr>
        <p:spPr>
          <a:xfrm flipV="1">
            <a:off x="9610496" y="5322897"/>
            <a:ext cx="208108" cy="21847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5F8D473-BD95-0B46-1676-1A12A61494A4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 flipV="1">
            <a:off x="8758353" y="5625739"/>
            <a:ext cx="724236" cy="8436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4B11C67-8C8B-A59B-972F-B5E411DA6FD0}"/>
              </a:ext>
            </a:extLst>
          </p:cNvPr>
          <p:cNvCxnSpPr>
            <a:cxnSpLocks/>
            <a:stCxn id="8" idx="7"/>
            <a:endCxn id="9" idx="3"/>
          </p:cNvCxnSpPr>
          <p:nvPr/>
        </p:nvCxnSpPr>
        <p:spPr>
          <a:xfrm flipV="1">
            <a:off x="8050623" y="5769758"/>
            <a:ext cx="489379" cy="17319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FB9558C-7663-4AAD-462E-544A2F6EACEB}"/>
              </a:ext>
            </a:extLst>
          </p:cNvPr>
          <p:cNvCxnSpPr>
            <a:cxnSpLocks/>
            <a:stCxn id="7" idx="0"/>
            <a:endCxn id="6" idx="4"/>
          </p:cNvCxnSpPr>
          <p:nvPr/>
        </p:nvCxnSpPr>
        <p:spPr>
          <a:xfrm flipH="1" flipV="1">
            <a:off x="7149194" y="5263243"/>
            <a:ext cx="127907" cy="43363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8721833-4FC8-AFAA-F987-C2F23B87E774}"/>
              </a:ext>
            </a:extLst>
          </p:cNvPr>
          <p:cNvCxnSpPr>
            <a:cxnSpLocks/>
            <a:stCxn id="8" idx="2"/>
            <a:endCxn id="7" idx="5"/>
          </p:cNvCxnSpPr>
          <p:nvPr/>
        </p:nvCxnSpPr>
        <p:spPr>
          <a:xfrm flipH="1" flipV="1">
            <a:off x="7367545" y="5840899"/>
            <a:ext cx="464727" cy="16171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72BEFD2-E527-DE6A-6B7C-921D1FCF4F59}"/>
              </a:ext>
            </a:extLst>
          </p:cNvPr>
          <p:cNvCxnSpPr>
            <a:cxnSpLocks/>
            <a:stCxn id="12" idx="2"/>
            <a:endCxn id="11" idx="6"/>
          </p:cNvCxnSpPr>
          <p:nvPr/>
        </p:nvCxnSpPr>
        <p:spPr>
          <a:xfrm flipH="1" flipV="1">
            <a:off x="9738403" y="5625739"/>
            <a:ext cx="1018506" cy="46123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EC3E50C-00BD-5A79-5E69-EDCF25BCBCBE}"/>
              </a:ext>
            </a:extLst>
          </p:cNvPr>
          <p:cNvCxnSpPr>
            <a:cxnSpLocks/>
            <a:stCxn id="11" idx="4"/>
            <a:endCxn id="37" idx="0"/>
          </p:cNvCxnSpPr>
          <p:nvPr/>
        </p:nvCxnSpPr>
        <p:spPr>
          <a:xfrm flipH="1">
            <a:off x="9543574" y="5710103"/>
            <a:ext cx="66922" cy="23263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CCB2368-DE69-6B87-15BB-4704797241DC}"/>
              </a:ext>
            </a:extLst>
          </p:cNvPr>
          <p:cNvCxnSpPr>
            <a:cxnSpLocks/>
            <a:stCxn id="33" idx="4"/>
            <a:endCxn id="25" idx="0"/>
          </p:cNvCxnSpPr>
          <p:nvPr/>
        </p:nvCxnSpPr>
        <p:spPr>
          <a:xfrm>
            <a:off x="11084894" y="2212623"/>
            <a:ext cx="36241" cy="1787232"/>
          </a:xfrm>
          <a:prstGeom prst="straightConnector1">
            <a:avLst/>
          </a:prstGeom>
          <a:ln w="25400">
            <a:solidFill>
              <a:srgbClr val="C00000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9130859-DFC7-0E5D-935A-8BCD49000759}"/>
              </a:ext>
            </a:extLst>
          </p:cNvPr>
          <p:cNvCxnSpPr>
            <a:cxnSpLocks/>
          </p:cNvCxnSpPr>
          <p:nvPr/>
        </p:nvCxnSpPr>
        <p:spPr>
          <a:xfrm>
            <a:off x="8543768" y="3837530"/>
            <a:ext cx="37463" cy="1807644"/>
          </a:xfrm>
          <a:prstGeom prst="straightConnector1">
            <a:avLst/>
          </a:prstGeom>
          <a:ln w="25400">
            <a:solidFill>
              <a:srgbClr val="C00000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F425CA-1912-3F27-18DE-808B2EACD83D}"/>
              </a:ext>
            </a:extLst>
          </p:cNvPr>
          <p:cNvCxnSpPr>
            <a:cxnSpLocks/>
          </p:cNvCxnSpPr>
          <p:nvPr/>
        </p:nvCxnSpPr>
        <p:spPr>
          <a:xfrm>
            <a:off x="5762733" y="3429000"/>
            <a:ext cx="2496039" cy="329441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83898F9-DF8F-9F73-593B-5D8968930A8A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399590" y="5178878"/>
            <a:ext cx="4120462" cy="387206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FCBBCF6-7603-9D5E-8BC1-2F1531BBA188}"/>
              </a:ext>
            </a:extLst>
          </p:cNvPr>
          <p:cNvCxnSpPr>
            <a:cxnSpLocks/>
          </p:cNvCxnSpPr>
          <p:nvPr/>
        </p:nvCxnSpPr>
        <p:spPr>
          <a:xfrm>
            <a:off x="5762733" y="3429000"/>
            <a:ext cx="2690024" cy="2174490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19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37" grpId="0" animBg="1"/>
      <p:bldP spid="42" grpId="0"/>
      <p:bldP spid="5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1239A-D4D9-9AB3-98B6-9DB76ECBF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B02B-B5B0-78F1-F61F-D54104FE3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Constructing NSW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C6846D-9DC9-669E-19D4-8814817100B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11270795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construction process for HNSW graphs is similar to the query process </a:t>
                </a:r>
              </a:p>
              <a:p>
                <a:r>
                  <a:rPr lang="en-US" dirty="0">
                    <a:latin typeface="+mn-lt"/>
                  </a:rPr>
                  <a:t>A hierarchical NN search is used to find the location of the new element on the HNSW graph  </a:t>
                </a:r>
              </a:p>
              <a:p>
                <a:r>
                  <a:rPr lang="en-US" dirty="0">
                    <a:latin typeface="+mn-lt"/>
                  </a:rPr>
                  <a:t>The level of the new element is determined by probabilistically sampling from an exponential decay distribution over levels,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1,…,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𝑢𝑛𝑖𝑓𝑜𝑟𝑚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𝑢𝑛𝑖𝑓𝑜𝑟𝑚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𝑢𝑛𝑖𝑓𝑜𝑟𝑚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…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else,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latin typeface="+mn-lt"/>
                  </a:rPr>
                  <a:t>, for the top (terminal) level</a:t>
                </a:r>
              </a:p>
              <a:p>
                <a:r>
                  <a:rPr lang="en-US" dirty="0">
                    <a:latin typeface="+mn-lt"/>
                  </a:rPr>
                  <a:t>Notice the rapid decay of this distribution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latin typeface="+mn-lt"/>
                  </a:rPr>
                  <a:t>Detail increases rapidly with depth in the hierarchy, improving search speed </a:t>
                </a:r>
              </a:p>
              <a:p>
                <a:endParaRPr lang="en-US" dirty="0"/>
              </a:p>
              <a:p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C6846D-9DC9-669E-19D4-8814817100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11270795" cy="5520629"/>
              </a:xfrm>
              <a:blipFill>
                <a:blip r:embed="rId3"/>
                <a:stretch>
                  <a:fillRect l="-1136" t="-1766" r="-1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788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DA3FC-7FC3-9B63-FC63-1392BC110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7433D-454E-1BEB-0204-D67D6D50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Optimizing HNSW graph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BDE89-6B48-60AA-479A-BA34C321DBF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5"/>
            <a:ext cx="11270795" cy="5520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HNSW ANNS has several hyperparameters that affect performance    </a:t>
            </a:r>
          </a:p>
          <a:p>
            <a:r>
              <a:rPr lang="en-US" b="1" i="1" dirty="0">
                <a:latin typeface="+mn-lt"/>
              </a:rPr>
              <a:t>M</a:t>
            </a:r>
            <a:r>
              <a:rPr lang="en-US" i="1" dirty="0">
                <a:latin typeface="+mn-lt"/>
              </a:rPr>
              <a:t>, the number of levels,</a:t>
            </a:r>
            <a:r>
              <a:rPr lang="en-US" dirty="0">
                <a:latin typeface="+mn-lt"/>
              </a:rPr>
              <a:t> determines the number of edges each node in the graph has. </a:t>
            </a:r>
          </a:p>
          <a:p>
            <a:pPr lvl="1"/>
            <a:r>
              <a:rPr lang="en-US" dirty="0">
                <a:latin typeface="+mn-lt"/>
              </a:rPr>
              <a:t>Limits are set by </a:t>
            </a:r>
            <a:r>
              <a:rPr lang="en-US" dirty="0" err="1">
                <a:latin typeface="+mn-lt"/>
              </a:rPr>
              <a:t>M_max</a:t>
            </a:r>
            <a:r>
              <a:rPr lang="en-US" dirty="0">
                <a:latin typeface="+mn-lt"/>
              </a:rPr>
              <a:t> and M_max0 limit the number of edges in the layers and in the bottom layer, 0, with defaults </a:t>
            </a:r>
            <a:r>
              <a:rPr lang="en-US" dirty="0" err="1">
                <a:latin typeface="+mn-lt"/>
              </a:rPr>
              <a:t>M_max</a:t>
            </a:r>
            <a:r>
              <a:rPr lang="en-US" dirty="0">
                <a:latin typeface="+mn-lt"/>
              </a:rPr>
              <a:t> = M and M_max0 = 2*M   </a:t>
            </a:r>
          </a:p>
          <a:p>
            <a:r>
              <a:rPr lang="en-US" b="1" i="1" dirty="0" err="1">
                <a:latin typeface="+mn-lt"/>
              </a:rPr>
              <a:t>efConstruction</a:t>
            </a:r>
            <a:r>
              <a:rPr lang="en-US" b="1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sets the number of entry point nodes used when building the index  </a:t>
            </a:r>
          </a:p>
          <a:p>
            <a:r>
              <a:rPr lang="en-US" b="1" i="1" dirty="0" err="1">
                <a:latin typeface="+mn-lt"/>
              </a:rPr>
              <a:t>efSearch</a:t>
            </a:r>
            <a:r>
              <a:rPr lang="en-US" dirty="0">
                <a:latin typeface="+mn-lt"/>
              </a:rPr>
              <a:t> sets the number of entry point nodes used for the NN search  </a:t>
            </a:r>
            <a:endParaRPr lang="en-US" dirty="0"/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775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CC47-DBDA-2D10-0D6C-363AE3AD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98740-4FFF-348A-3B45-9DEF6021B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Optimizing HNSW ANNS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24936-58BF-5659-47A1-D8EA845945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7" y="1056205"/>
            <a:ext cx="6072864" cy="55206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HNSW ANNS has several hyperparameters that affect performance    </a:t>
            </a:r>
          </a:p>
          <a:p>
            <a:r>
              <a:rPr lang="en-US" dirty="0">
                <a:latin typeface="+mn-lt"/>
              </a:rPr>
              <a:t>M determines the number of edges each node in the graph has. </a:t>
            </a:r>
          </a:p>
          <a:p>
            <a:pPr lvl="1"/>
            <a:r>
              <a:rPr lang="en-US" dirty="0">
                <a:latin typeface="+mn-lt"/>
              </a:rPr>
              <a:t>Limits are set by </a:t>
            </a:r>
            <a:r>
              <a:rPr lang="en-US" dirty="0" err="1">
                <a:latin typeface="+mn-lt"/>
              </a:rPr>
              <a:t>M_max</a:t>
            </a:r>
            <a:r>
              <a:rPr lang="en-US" dirty="0">
                <a:latin typeface="+mn-lt"/>
              </a:rPr>
              <a:t> and M_max0 limit the number of edges in the layers and in the bottom layer, 0, with defaults </a:t>
            </a:r>
            <a:r>
              <a:rPr lang="en-US" dirty="0" err="1">
                <a:latin typeface="+mn-lt"/>
              </a:rPr>
              <a:t>M_max</a:t>
            </a:r>
            <a:r>
              <a:rPr lang="en-US" dirty="0">
                <a:latin typeface="+mn-lt"/>
              </a:rPr>
              <a:t> = M and M_max0 = 2*M   </a:t>
            </a:r>
          </a:p>
          <a:p>
            <a:r>
              <a:rPr lang="en-US" dirty="0" err="1">
                <a:latin typeface="+mn-lt"/>
              </a:rPr>
              <a:t>efConstruction</a:t>
            </a:r>
            <a:r>
              <a:rPr lang="en-US" dirty="0">
                <a:latin typeface="+mn-lt"/>
              </a:rPr>
              <a:t> sets the number of entry points used when building the index  </a:t>
            </a:r>
          </a:p>
          <a:p>
            <a:r>
              <a:rPr lang="en-US" dirty="0" err="1">
                <a:latin typeface="+mn-lt"/>
              </a:rPr>
              <a:t>efSearch</a:t>
            </a:r>
            <a:r>
              <a:rPr lang="en-US" dirty="0">
                <a:latin typeface="+mn-lt"/>
              </a:rPr>
              <a:t> sets the number of entry points used for the NN search  </a:t>
            </a:r>
          </a:p>
          <a:p>
            <a:pPr lvl="1"/>
            <a:endParaRPr lang="en-US" dirty="0"/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2DB2557-C470-D5B5-F045-C02F3A9D4641}"/>
              </a:ext>
            </a:extLst>
          </p:cNvPr>
          <p:cNvSpPr/>
          <p:nvPr/>
        </p:nvSpPr>
        <p:spPr>
          <a:xfrm>
            <a:off x="6787242" y="1689789"/>
            <a:ext cx="5023757" cy="3887773"/>
          </a:xfrm>
          <a:prstGeom prst="triangle">
            <a:avLst>
              <a:gd name="adj" fmla="val 50228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41721-55C3-069A-7762-BC92E87DC10E}"/>
              </a:ext>
            </a:extLst>
          </p:cNvPr>
          <p:cNvSpPr txBox="1"/>
          <p:nvPr/>
        </p:nvSpPr>
        <p:spPr>
          <a:xfrm>
            <a:off x="6293304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D8BE73-4186-0CE1-6F53-2C689D18C948}"/>
              </a:ext>
            </a:extLst>
          </p:cNvPr>
          <p:cNvSpPr txBox="1"/>
          <p:nvPr/>
        </p:nvSpPr>
        <p:spPr>
          <a:xfrm>
            <a:off x="10619014" y="5577562"/>
            <a:ext cx="15729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Recall -Accuracy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7D0539-9658-17AA-1DEB-2716CB420833}"/>
              </a:ext>
            </a:extLst>
          </p:cNvPr>
          <p:cNvCxnSpPr>
            <a:cxnSpLocks/>
          </p:cNvCxnSpPr>
          <p:nvPr/>
        </p:nvCxnSpPr>
        <p:spPr>
          <a:xfrm>
            <a:off x="10107386" y="5327947"/>
            <a:ext cx="115932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E38DD2-767E-A033-F4DC-187B874E2FE8}"/>
              </a:ext>
            </a:extLst>
          </p:cNvPr>
          <p:cNvCxnSpPr>
            <a:cxnSpLocks/>
          </p:cNvCxnSpPr>
          <p:nvPr/>
        </p:nvCxnSpPr>
        <p:spPr>
          <a:xfrm>
            <a:off x="10816771" y="4511896"/>
            <a:ext cx="566058" cy="7674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0B2CFBF-EC79-367F-2D30-FAF28D448D5C}"/>
              </a:ext>
            </a:extLst>
          </p:cNvPr>
          <p:cNvSpPr txBox="1"/>
          <p:nvPr/>
        </p:nvSpPr>
        <p:spPr>
          <a:xfrm>
            <a:off x="9214753" y="3665953"/>
            <a:ext cx="1562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Increasing 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190346-2DDA-FEDA-69C0-631485EDA444}"/>
              </a:ext>
            </a:extLst>
          </p:cNvPr>
          <p:cNvCxnSpPr>
            <a:cxnSpLocks/>
          </p:cNvCxnSpPr>
          <p:nvPr/>
        </p:nvCxnSpPr>
        <p:spPr>
          <a:xfrm>
            <a:off x="9378043" y="2294150"/>
            <a:ext cx="859970" cy="1357963"/>
          </a:xfrm>
          <a:prstGeom prst="straightConnector1">
            <a:avLst/>
          </a:prstGeom>
          <a:ln w="508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01448EA-026C-FC57-3ED1-FE3D31E912EE}"/>
              </a:ext>
            </a:extLst>
          </p:cNvPr>
          <p:cNvSpPr txBox="1"/>
          <p:nvPr/>
        </p:nvSpPr>
        <p:spPr>
          <a:xfrm>
            <a:off x="8675912" y="4746565"/>
            <a:ext cx="1562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Increasing M and </a:t>
            </a:r>
            <a:r>
              <a:rPr lang="en-US" sz="2400" dirty="0" err="1"/>
              <a:t>ef’s</a:t>
            </a: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EA1C346-4979-A935-445B-B2818A0D950E}"/>
              </a:ext>
            </a:extLst>
          </p:cNvPr>
          <p:cNvCxnSpPr>
            <a:cxnSpLocks/>
          </p:cNvCxnSpPr>
          <p:nvPr/>
        </p:nvCxnSpPr>
        <p:spPr>
          <a:xfrm>
            <a:off x="7407729" y="5360597"/>
            <a:ext cx="1298115" cy="0"/>
          </a:xfrm>
          <a:prstGeom prst="straightConnector1">
            <a:avLst/>
          </a:prstGeom>
          <a:ln w="508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B5D5C49-9ED1-7056-819E-A50B90257FF5}"/>
              </a:ext>
            </a:extLst>
          </p:cNvPr>
          <p:cNvSpPr txBox="1"/>
          <p:nvPr/>
        </p:nvSpPr>
        <p:spPr>
          <a:xfrm>
            <a:off x="8360227" y="76157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</p:spTree>
    <p:extLst>
      <p:ext uri="{BB962C8B-B14F-4D97-AF65-F5344CB8AC3E}">
        <p14:creationId xmlns:p14="http://schemas.microsoft.com/office/powerpoint/2010/main" val="381544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9" grpId="0"/>
      <p:bldP spid="11" grpId="0"/>
      <p:bldP spid="13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51251-2F49-A329-41C3-21AAEC93C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4DE4-E179-9319-358C-B8DD88A98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Optimizing HNSW graph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1754E-B08D-385D-3B5A-BF334FFC7A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11270795" cy="13976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HNSW ANNS has several hyperparameters that affect performance    </a:t>
            </a:r>
          </a:p>
          <a:p>
            <a:r>
              <a:rPr lang="en-US" dirty="0">
                <a:latin typeface="+mn-lt"/>
              </a:rPr>
              <a:t>ANNS with HNSW can achieve high recall but at a price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A3CBD8-EBB6-E17E-958D-B1266C91A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250" y="2242693"/>
            <a:ext cx="7943739" cy="40468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99D0AE-57C6-2481-F515-974C4C7BE74C}"/>
              </a:ext>
            </a:extLst>
          </p:cNvPr>
          <p:cNvSpPr txBox="1"/>
          <p:nvPr/>
        </p:nvSpPr>
        <p:spPr>
          <a:xfrm>
            <a:off x="3049742" y="6451342"/>
            <a:ext cx="60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Illustration from FAISS the Missing Manual, Pinecone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61794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97B6D-F8CA-47DD-3170-9620B93DD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BBC98-4EC6-0EA4-E36B-991658337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Optimizing HNSW graph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F97A8-ACD4-7BC2-2E72-7382388FA9F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11270795" cy="13976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HNSW ANNS has several hyperparameters that affect performance </a:t>
            </a:r>
          </a:p>
          <a:p>
            <a:r>
              <a:rPr lang="en-US" dirty="0">
                <a:latin typeface="+mn-lt"/>
              </a:rPr>
              <a:t>Achieving higher recall with HNSW ANNS increases search time significantly   </a:t>
            </a:r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E8BFD6-6B4C-F0DE-CF8B-DCF204328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511" y="2287257"/>
            <a:ext cx="8136977" cy="41176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F8FCF5-36EB-CCCA-3819-83D836AAA34E}"/>
              </a:ext>
            </a:extLst>
          </p:cNvPr>
          <p:cNvSpPr txBox="1"/>
          <p:nvPr/>
        </p:nvSpPr>
        <p:spPr>
          <a:xfrm>
            <a:off x="3489633" y="6451342"/>
            <a:ext cx="60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Illustration from FAISS the Missing Manual, Pinecone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05822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10BD7-AEE4-82D9-DF8A-FA1ED0AD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B636B-4A94-F551-81F6-C4032DE9C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Optimizing HNSW graph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5AC48-3C88-983D-FFC1-AD8291A025F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11270795" cy="13976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HNSW ANNS has several hyperparameters that affect performance </a:t>
            </a:r>
          </a:p>
          <a:p>
            <a:r>
              <a:rPr lang="en-US" dirty="0">
                <a:latin typeface="+mn-lt"/>
              </a:rPr>
              <a:t>Achieving higher recall by increasing M in HNSW ANNS increases memory consumption linearly   </a:t>
            </a:r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318244-2F1F-D154-2100-3DEE97139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872" y="2277755"/>
            <a:ext cx="5754378" cy="40743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32C4EA-9C2B-5B38-26DA-4C0CEE513D64}"/>
              </a:ext>
            </a:extLst>
          </p:cNvPr>
          <p:cNvSpPr txBox="1"/>
          <p:nvPr/>
        </p:nvSpPr>
        <p:spPr>
          <a:xfrm>
            <a:off x="3259727" y="6352065"/>
            <a:ext cx="60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Illustration from FAISS the Missing Manual, Pinecone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67834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4B27D-58BA-A7B6-56E2-87C803A8E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E4688-D0EA-C4BD-AF1E-AD3837EE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Composite Indices</a:t>
            </a:r>
          </a:p>
        </p:txBody>
      </p:sp>
    </p:spTree>
    <p:extLst>
      <p:ext uri="{BB962C8B-B14F-4D97-AF65-F5344CB8AC3E}">
        <p14:creationId xmlns:p14="http://schemas.microsoft.com/office/powerpoint/2010/main" val="6097657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46A1D-D75D-6AF1-5F18-06A35BBAE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2E3CB-3BB6-9990-50A4-BA16F97B9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62FDE-3723-A450-1CAA-409804445BF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11270795" cy="22150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For optimal ANNS performance a composite is created from multiple indices</a:t>
            </a:r>
          </a:p>
          <a:p>
            <a:r>
              <a:rPr lang="en-US" dirty="0">
                <a:latin typeface="+mn-lt"/>
              </a:rPr>
              <a:t>While single indices can achieve good recall, it is unreasonable to expect optimal performance on all three dimensions </a:t>
            </a:r>
          </a:p>
          <a:p>
            <a:r>
              <a:rPr lang="en-US" dirty="0">
                <a:latin typeface="+mn-lt"/>
              </a:rPr>
              <a:t>Optimal performance is obtained with composite indices    </a:t>
            </a:r>
            <a:endParaRPr lang="en-US" dirty="0"/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D94FEA-80C5-D576-3392-7F283BD6883B}"/>
              </a:ext>
            </a:extLst>
          </p:cNvPr>
          <p:cNvSpPr/>
          <p:nvPr/>
        </p:nvSpPr>
        <p:spPr>
          <a:xfrm>
            <a:off x="239764" y="3946372"/>
            <a:ext cx="2643414" cy="2689636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Dimensionality Reduction (Embedding)</a:t>
            </a:r>
          </a:p>
          <a:p>
            <a:r>
              <a:rPr lang="en-US" b="1" dirty="0">
                <a:solidFill>
                  <a:schemeClr val="tx1"/>
                </a:solidFill>
              </a:rPr>
              <a:t>Create D dimensional numeric embedding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Neural Embedding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Etc.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90AA4-37BF-3CD7-F433-F94EB01532D4}"/>
              </a:ext>
            </a:extLst>
          </p:cNvPr>
          <p:cNvSpPr/>
          <p:nvPr/>
        </p:nvSpPr>
        <p:spPr>
          <a:xfrm>
            <a:off x="3370244" y="3946644"/>
            <a:ext cx="3094509" cy="2689634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Coarse Quantization</a:t>
            </a:r>
          </a:p>
          <a:p>
            <a:r>
              <a:rPr lang="en-US" b="1" dirty="0">
                <a:solidFill>
                  <a:schemeClr val="tx1"/>
                </a:solidFill>
              </a:rPr>
              <a:t>Reduce scope for ANN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Inverted file - IVF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IVF Product quantization (IVF-PQ)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Inverted Multi-Index (IMI)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1C1917"/>
                </a:solidFill>
                <a:effectLst/>
                <a:latin typeface="__gtPlanar_9a6492"/>
              </a:rPr>
              <a:t>IVF Hierarchical Navigable Small Worlds (HNSW)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Etc</a:t>
            </a:r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9065CD-0D84-5E3C-8E02-C8E8518F66C5}"/>
              </a:ext>
            </a:extLst>
          </p:cNvPr>
          <p:cNvSpPr/>
          <p:nvPr/>
        </p:nvSpPr>
        <p:spPr>
          <a:xfrm>
            <a:off x="6951819" y="3975983"/>
            <a:ext cx="2486610" cy="2689635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Fine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Quantizaton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Further reduce search scope and improve recall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Exhaustive search – Flat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Residual PQ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Locally Sensitive Hashing (LSH)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552B62-12C8-4E6F-D6F5-81F30003D6BC}"/>
              </a:ext>
            </a:extLst>
          </p:cNvPr>
          <p:cNvSpPr/>
          <p:nvPr/>
        </p:nvSpPr>
        <p:spPr>
          <a:xfrm>
            <a:off x="9859061" y="3946370"/>
            <a:ext cx="2260379" cy="2689637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Search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Refinemnet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Increase recall for NN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  <a:effectLst/>
                <a:latin typeface="__gtPlanar_9a6492"/>
              </a:rPr>
              <a:t>Re</a:t>
            </a:r>
            <a:r>
              <a:rPr lang="en-US" dirty="0">
                <a:solidFill>
                  <a:schemeClr val="tx1"/>
                </a:solidFill>
                <a:latin typeface="__gtPlanar_9a6492"/>
              </a:rPr>
              <a:t>sidual PQ</a:t>
            </a:r>
            <a:r>
              <a:rPr lang="en-US" i="0" dirty="0">
                <a:solidFill>
                  <a:schemeClr val="tx1"/>
                </a:solidFill>
                <a:effectLst/>
                <a:latin typeface="__gtPlanar_9a6492"/>
              </a:rPr>
              <a:t> </a:t>
            </a:r>
            <a:r>
              <a:rPr lang="en-US" dirty="0">
                <a:solidFill>
                  <a:schemeClr val="tx1"/>
                </a:solidFill>
                <a:latin typeface="__gtPlanar_9a6492"/>
              </a:rPr>
              <a:t>algorithm</a:t>
            </a:r>
            <a:endParaRPr lang="en-US" i="0" dirty="0">
              <a:solidFill>
                <a:srgbClr val="1C1917"/>
              </a:solidFill>
              <a:effectLst/>
              <a:latin typeface="__gtPlanar_9a6492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019389D-C518-79C4-4EE4-61104597438A}"/>
              </a:ext>
            </a:extLst>
          </p:cNvPr>
          <p:cNvSpPr/>
          <p:nvPr/>
        </p:nvSpPr>
        <p:spPr>
          <a:xfrm>
            <a:off x="6532466" y="5144876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4CB7E47-5AD6-6D66-3B36-996745959818}"/>
              </a:ext>
            </a:extLst>
          </p:cNvPr>
          <p:cNvSpPr/>
          <p:nvPr/>
        </p:nvSpPr>
        <p:spPr>
          <a:xfrm>
            <a:off x="2920166" y="5130861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4A62243-B5B8-4EB2-22EE-93B5EB25A8B1}"/>
              </a:ext>
            </a:extLst>
          </p:cNvPr>
          <p:cNvSpPr/>
          <p:nvPr/>
        </p:nvSpPr>
        <p:spPr>
          <a:xfrm>
            <a:off x="9437150" y="5071145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2C7A05-2341-BDB8-8A8F-04A4EA186BA3}"/>
              </a:ext>
            </a:extLst>
          </p:cNvPr>
          <p:cNvSpPr/>
          <p:nvPr/>
        </p:nvSpPr>
        <p:spPr>
          <a:xfrm>
            <a:off x="4381499" y="3051258"/>
            <a:ext cx="4258847" cy="506463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Distance (Similarity) Metric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90B9EB8-39F6-D107-FB7F-5AB4A784561A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917499" y="3597729"/>
            <a:ext cx="0" cy="3489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EC4277-D8F0-8308-86FC-DB597C298F2E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195123" y="3557721"/>
            <a:ext cx="1" cy="4182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4442A2-F406-561E-A5A3-DA6BE682FE70}"/>
              </a:ext>
            </a:extLst>
          </p:cNvPr>
          <p:cNvCxnSpPr>
            <a:cxnSpLocks/>
          </p:cNvCxnSpPr>
          <p:nvPr/>
        </p:nvCxnSpPr>
        <p:spPr>
          <a:xfrm>
            <a:off x="1472171" y="3303814"/>
            <a:ext cx="0" cy="6425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DBE2B3-F015-0568-2E05-908FE796BB9E}"/>
              </a:ext>
            </a:extLst>
          </p:cNvPr>
          <p:cNvCxnSpPr>
            <a:cxnSpLocks/>
          </p:cNvCxnSpPr>
          <p:nvPr/>
        </p:nvCxnSpPr>
        <p:spPr>
          <a:xfrm>
            <a:off x="11008057" y="3303814"/>
            <a:ext cx="0" cy="6028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84BC1C1-FB3D-E81A-F219-B181F5BCD6C9}"/>
              </a:ext>
            </a:extLst>
          </p:cNvPr>
          <p:cNvCxnSpPr>
            <a:stCxn id="11" idx="3"/>
          </p:cNvCxnSpPr>
          <p:nvPr/>
        </p:nvCxnSpPr>
        <p:spPr>
          <a:xfrm flipV="1">
            <a:off x="8640346" y="3303814"/>
            <a:ext cx="2386883" cy="6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CB626B-C262-B1E9-7C78-8B7AB6FBB909}"/>
              </a:ext>
            </a:extLst>
          </p:cNvPr>
          <p:cNvCxnSpPr>
            <a:cxnSpLocks/>
          </p:cNvCxnSpPr>
          <p:nvPr/>
        </p:nvCxnSpPr>
        <p:spPr>
          <a:xfrm flipV="1">
            <a:off x="1472171" y="3303814"/>
            <a:ext cx="2890157" cy="67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99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F9831-596B-35E4-F220-A85BE3AFF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31146-2AB5-93E5-C5F4-1177D172A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as a Refinement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8058E-ED96-3E46-6DB1-0DDE903D22D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13352" y="825228"/>
            <a:ext cx="5231264" cy="58107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PQ algorithm can be used to refine searches following coarse quantization</a:t>
            </a:r>
          </a:p>
          <a:p>
            <a:pPr marL="285750" indent="-285750"/>
            <a:r>
              <a:rPr lang="en-US" dirty="0">
                <a:latin typeface="+mn-lt"/>
              </a:rPr>
              <a:t>Idea introduced by </a:t>
            </a:r>
            <a:r>
              <a:rPr lang="en-US" dirty="0">
                <a:latin typeface="+mn-lt"/>
                <a:hlinkClick r:id="rId3"/>
              </a:rPr>
              <a:t>Jegou, et. al., 2011</a:t>
            </a:r>
            <a:endParaRPr lang="en-US" dirty="0">
              <a:latin typeface="+mn-lt"/>
            </a:endParaRPr>
          </a:p>
          <a:p>
            <a:pPr marL="285750" indent="-285750"/>
            <a:r>
              <a:rPr lang="en-US" dirty="0">
                <a:latin typeface="+mn-lt"/>
              </a:rPr>
              <a:t>Coarse quantization is efficient in memory and computation</a:t>
            </a:r>
          </a:p>
          <a:p>
            <a:pPr marL="285750" indent="-285750"/>
            <a:r>
              <a:rPr lang="en-US" dirty="0">
                <a:latin typeface="+mn-lt"/>
              </a:rPr>
              <a:t>PQ compresses the observation vectors</a:t>
            </a:r>
          </a:p>
          <a:p>
            <a:pPr marL="285750" indent="-285750"/>
            <a:r>
              <a:rPr lang="en-US" dirty="0">
                <a:latin typeface="+mn-lt"/>
              </a:rPr>
              <a:t>PQ is applied only to cells being probed  </a:t>
            </a:r>
          </a:p>
          <a:p>
            <a:pPr marL="285750" indent="-285750"/>
            <a:r>
              <a:rPr lang="en-US" dirty="0">
                <a:latin typeface="+mn-lt"/>
              </a:rPr>
              <a:t>Concatenating these algorithms provides improved recall with low memory use and computational complexity  </a:t>
            </a:r>
          </a:p>
          <a:p>
            <a:pPr marL="285750" indent="-285750"/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1842BD-EAF2-8AA6-A1B5-53D15A0D8B61}"/>
              </a:ext>
            </a:extLst>
          </p:cNvPr>
          <p:cNvSpPr txBox="1"/>
          <p:nvPr/>
        </p:nvSpPr>
        <p:spPr>
          <a:xfrm>
            <a:off x="355266" y="6386777"/>
            <a:ext cx="542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from </a:t>
            </a:r>
            <a:r>
              <a:rPr lang="en-US" dirty="0">
                <a:hlinkClick r:id="rId3"/>
              </a:rPr>
              <a:t>Jegou, et. al., 2011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36615D-1FFF-A09E-8634-E561018D3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01" y="985078"/>
            <a:ext cx="5705034" cy="529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98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42B45-CD3B-0E09-FF30-BDCA055C6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1FC86-EAB8-B1ED-8AC4-2C1BEB6B6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80596-4F1D-7894-800F-39C884BAF6D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5252711" cy="55798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For optimal ANNS performance multiple indices are concatenated    </a:t>
            </a:r>
          </a:p>
          <a:p>
            <a:r>
              <a:rPr lang="en-US" dirty="0">
                <a:latin typeface="+mn-lt"/>
              </a:rPr>
              <a:t>Example: concatenate IVF and PQ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+mn-lt"/>
              </a:rPr>
              <a:t>IVF quantizes into Voronoi cells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+mn-lt"/>
              </a:rPr>
              <a:t>Vector-valued observations partitioned into </a:t>
            </a:r>
            <a:r>
              <a:rPr lang="en-US" dirty="0" err="1">
                <a:latin typeface="+mn-lt"/>
              </a:rPr>
              <a:t>subvectors</a:t>
            </a: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dirty="0" err="1">
                <a:latin typeface="+mn-lt"/>
              </a:rPr>
              <a:t>Subvectors</a:t>
            </a:r>
            <a:r>
              <a:rPr lang="en-US" dirty="0">
                <a:latin typeface="+mn-lt"/>
              </a:rPr>
              <a:t> are quantized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+mn-lt"/>
              </a:rPr>
              <a:t>Quantized </a:t>
            </a:r>
            <a:r>
              <a:rPr lang="en-US" dirty="0" err="1">
                <a:latin typeface="+mn-lt"/>
              </a:rPr>
              <a:t>subvectors</a:t>
            </a:r>
            <a:r>
              <a:rPr lang="en-US" dirty="0">
                <a:latin typeface="+mn-lt"/>
              </a:rPr>
              <a:t> are used within Voronoi cells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8DD533-53BD-1285-83D4-C83294B43BA4}"/>
              </a:ext>
            </a:extLst>
          </p:cNvPr>
          <p:cNvSpPr txBox="1"/>
          <p:nvPr/>
        </p:nvSpPr>
        <p:spPr>
          <a:xfrm>
            <a:off x="5534180" y="5988529"/>
            <a:ext cx="6645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Illustration From Part 6 of </a:t>
            </a:r>
            <a:r>
              <a:rPr lang="en-US" sz="2400" dirty="0">
                <a:hlinkClick r:id="rId3"/>
              </a:rPr>
              <a:t>FAISS the Missing Manual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333D15-58A6-ABA4-564B-EB521FC82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087" y="1921706"/>
            <a:ext cx="6541479" cy="388008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DAAC912-39DC-2E7A-364B-D5B6AFAA8DC0}"/>
              </a:ext>
            </a:extLst>
          </p:cNvPr>
          <p:cNvCxnSpPr>
            <a:cxnSpLocks/>
          </p:cNvCxnSpPr>
          <p:nvPr/>
        </p:nvCxnSpPr>
        <p:spPr>
          <a:xfrm>
            <a:off x="4986278" y="3190921"/>
            <a:ext cx="855722" cy="10268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8FAC23-CD44-F3B0-5717-E9B5B4177951}"/>
              </a:ext>
            </a:extLst>
          </p:cNvPr>
          <p:cNvCxnSpPr>
            <a:cxnSpLocks/>
          </p:cNvCxnSpPr>
          <p:nvPr/>
        </p:nvCxnSpPr>
        <p:spPr>
          <a:xfrm>
            <a:off x="5214693" y="4209793"/>
            <a:ext cx="4543664" cy="5838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20B624E-1AEE-203D-3C2A-58EC7F01E5F5}"/>
              </a:ext>
            </a:extLst>
          </p:cNvPr>
          <p:cNvCxnSpPr>
            <a:cxnSpLocks/>
          </p:cNvCxnSpPr>
          <p:nvPr/>
        </p:nvCxnSpPr>
        <p:spPr>
          <a:xfrm>
            <a:off x="4608576" y="3743337"/>
            <a:ext cx="2299063" cy="93839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762B20-AC0B-5730-A434-734A5CC5F9E8}"/>
              </a:ext>
            </a:extLst>
          </p:cNvPr>
          <p:cNvCxnSpPr>
            <a:cxnSpLocks/>
          </p:cNvCxnSpPr>
          <p:nvPr/>
        </p:nvCxnSpPr>
        <p:spPr>
          <a:xfrm>
            <a:off x="5214693" y="2624010"/>
            <a:ext cx="1948978" cy="41702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8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9DFCC-56C0-7CD3-2B96-ABE5B580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E2257-21DE-594E-3785-7E9FF14D2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BC457-4F8C-FDBA-5415-BD1596E3828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5252711" cy="55798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For optimal ANNS performance multiple indices are concatenated    </a:t>
            </a:r>
          </a:p>
          <a:p>
            <a:r>
              <a:rPr lang="en-US" dirty="0">
                <a:latin typeface="+mn-lt"/>
              </a:rPr>
              <a:t>Example: query IVF and PQ</a:t>
            </a:r>
          </a:p>
          <a:p>
            <a:pPr marL="914400" lvl="1" indent="-457200">
              <a:buFont typeface="+mj-lt"/>
              <a:buAutoNum type="arabicPeriod" startAt="5"/>
            </a:pPr>
            <a:r>
              <a:rPr lang="en-US" dirty="0">
                <a:latin typeface="+mn-lt"/>
              </a:rPr>
              <a:t>Each </a:t>
            </a:r>
            <a:r>
              <a:rPr lang="en-US" dirty="0" err="1">
                <a:latin typeface="+mn-lt"/>
              </a:rPr>
              <a:t>subvector</a:t>
            </a:r>
            <a:r>
              <a:rPr lang="en-US" dirty="0">
                <a:latin typeface="+mn-lt"/>
              </a:rPr>
              <a:t> is coded per the code book</a:t>
            </a:r>
          </a:p>
          <a:p>
            <a:pPr marL="914400" lvl="1" indent="-457200">
              <a:buFont typeface="+mj-lt"/>
              <a:buAutoNum type="arabicPeriod" startAt="5"/>
            </a:pPr>
            <a:r>
              <a:rPr lang="en-US" dirty="0">
                <a:latin typeface="+mn-lt"/>
              </a:rPr>
              <a:t>PQ ASD code book compresses the </a:t>
            </a:r>
            <a:r>
              <a:rPr lang="en-US" dirty="0" err="1">
                <a:latin typeface="+mn-lt"/>
              </a:rPr>
              <a:t>subvectors</a:t>
            </a: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 startAt="5"/>
            </a:pPr>
            <a:r>
              <a:rPr lang="en-US" dirty="0" err="1">
                <a:latin typeface="+mn-lt"/>
              </a:rPr>
              <a:t>Subvector</a:t>
            </a:r>
            <a:r>
              <a:rPr lang="en-US" dirty="0">
                <a:latin typeface="+mn-lt"/>
              </a:rPr>
              <a:t> is assigned to the Voronoi region per the code</a:t>
            </a:r>
          </a:p>
          <a:p>
            <a:pPr marL="914400" lvl="1" indent="-457200">
              <a:buFont typeface="+mj-lt"/>
              <a:buAutoNum type="arabicPeriod" startAt="5"/>
            </a:pPr>
            <a:endParaRPr lang="en-US" dirty="0"/>
          </a:p>
          <a:p>
            <a:pPr marL="914400" lvl="1" indent="-457200">
              <a:buFont typeface="+mj-lt"/>
              <a:buAutoNum type="arabicPeriod" startAt="5"/>
            </a:pPr>
            <a:endParaRPr lang="en-US" dirty="0"/>
          </a:p>
          <a:p>
            <a:pPr marL="914400" lvl="1" indent="-457200">
              <a:buFont typeface="+mj-lt"/>
              <a:buAutoNum type="arabicPeriod" startAt="5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 startAt="5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 startAt="5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1F27EE-56C2-E6D1-5A52-DAC38416FC33}"/>
              </a:ext>
            </a:extLst>
          </p:cNvPr>
          <p:cNvSpPr txBox="1"/>
          <p:nvPr/>
        </p:nvSpPr>
        <p:spPr>
          <a:xfrm>
            <a:off x="5534180" y="5988529"/>
            <a:ext cx="6645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Illustration From Part 6 of </a:t>
            </a:r>
            <a:r>
              <a:rPr lang="en-US" sz="2400" dirty="0">
                <a:hlinkClick r:id="rId3"/>
              </a:rPr>
              <a:t>FAISS the Missing Manual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7AE58C-C163-5672-2C9C-586F64FAA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036" y="2229767"/>
            <a:ext cx="6184064" cy="327370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C6686D-DE2B-BF63-3191-7D74ED214085}"/>
              </a:ext>
            </a:extLst>
          </p:cNvPr>
          <p:cNvCxnSpPr>
            <a:cxnSpLocks/>
          </p:cNvCxnSpPr>
          <p:nvPr/>
        </p:nvCxnSpPr>
        <p:spPr>
          <a:xfrm>
            <a:off x="4885509" y="2957431"/>
            <a:ext cx="2644844" cy="31876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98F41B-425C-6721-30EC-00C7AD8F6CF7}"/>
              </a:ext>
            </a:extLst>
          </p:cNvPr>
          <p:cNvCxnSpPr>
            <a:cxnSpLocks/>
          </p:cNvCxnSpPr>
          <p:nvPr/>
        </p:nvCxnSpPr>
        <p:spPr>
          <a:xfrm>
            <a:off x="4885509" y="3647150"/>
            <a:ext cx="2569051" cy="1251225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F82858-49B0-3B38-6FF6-F322F3FCA74B}"/>
              </a:ext>
            </a:extLst>
          </p:cNvPr>
          <p:cNvCxnSpPr>
            <a:cxnSpLocks/>
          </p:cNvCxnSpPr>
          <p:nvPr/>
        </p:nvCxnSpPr>
        <p:spPr>
          <a:xfrm flipV="1">
            <a:off x="4885509" y="3890147"/>
            <a:ext cx="6327648" cy="435785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A4D2E04-EC71-9A55-3046-A9807277430B}"/>
              </a:ext>
            </a:extLst>
          </p:cNvPr>
          <p:cNvCxnSpPr>
            <a:cxnSpLocks/>
          </p:cNvCxnSpPr>
          <p:nvPr/>
        </p:nvCxnSpPr>
        <p:spPr>
          <a:xfrm flipV="1">
            <a:off x="4885509" y="2798083"/>
            <a:ext cx="4425696" cy="15934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57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8D3CB-7254-11E0-C1C0-3AE189017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75ABB-05FC-1135-45E2-E9F7EAC1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201B3-28C1-A671-0D7E-3010A940267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7" y="1056206"/>
            <a:ext cx="5691214" cy="53494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For optimal ANNS performance multiple indices are concatenated    </a:t>
            </a:r>
          </a:p>
          <a:p>
            <a:r>
              <a:rPr lang="en-US" dirty="0">
                <a:latin typeface="+mn-lt"/>
              </a:rPr>
              <a:t>The </a:t>
            </a:r>
            <a:r>
              <a:rPr lang="en-US" dirty="0">
                <a:latin typeface="+mn-lt"/>
                <a:hlinkClick r:id="rId3"/>
              </a:rPr>
              <a:t>FAISS index factory </a:t>
            </a:r>
            <a:r>
              <a:rPr lang="en-US" dirty="0">
                <a:latin typeface="+mn-lt"/>
              </a:rPr>
              <a:t>simplifies creation of Composite indices  </a:t>
            </a:r>
          </a:p>
          <a:p>
            <a:r>
              <a:rPr lang="en-US" dirty="0">
                <a:latin typeface="+mn-lt"/>
              </a:rPr>
              <a:t>FAISS allows a complex set of choices for Composite indices</a:t>
            </a:r>
            <a:endParaRPr lang="en-US" dirty="0"/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FD507C-11FC-8E0F-DBE1-E9196620B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998" y="221992"/>
            <a:ext cx="5779659" cy="654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1753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4D6EF-F065-3B19-BB5F-A15BBBCE6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F9785-A66B-6C3C-5999-C1EACAFA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6476F-53FC-31F4-8617-114DBAB21D5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7"/>
            <a:ext cx="11270795" cy="2474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construct effective Composite indices?    </a:t>
            </a:r>
          </a:p>
          <a:p>
            <a:r>
              <a:rPr lang="en-US" b="1" dirty="0">
                <a:solidFill>
                  <a:srgbClr val="C00000"/>
                </a:solidFill>
                <a:latin typeface="+mn-lt"/>
              </a:rPr>
              <a:t>Be careful! Order maters for Composite </a:t>
            </a:r>
            <a:r>
              <a:rPr lang="en-US" b="1" dirty="0" err="1">
                <a:solidFill>
                  <a:srgbClr val="C00000"/>
                </a:solidFill>
                <a:latin typeface="+mn-lt"/>
              </a:rPr>
              <a:t>indicies</a:t>
            </a:r>
            <a:r>
              <a:rPr lang="en-US" b="1" dirty="0">
                <a:solidFill>
                  <a:srgbClr val="C00000"/>
                </a:solidFill>
                <a:latin typeface="+mn-lt"/>
              </a:rPr>
              <a:t>!</a:t>
            </a:r>
          </a:p>
          <a:p>
            <a:pPr lvl="1"/>
            <a:r>
              <a:rPr lang="en-US" dirty="0">
                <a:latin typeface="+mn-lt"/>
              </a:rPr>
              <a:t>Many orderings do not make sense, actually reducing performance </a:t>
            </a:r>
          </a:p>
          <a:p>
            <a:pPr lvl="1"/>
            <a:r>
              <a:rPr lang="en-US" dirty="0">
                <a:latin typeface="+mn-lt"/>
              </a:rPr>
              <a:t>Concatenated indices must work from coarse to fine    </a:t>
            </a:r>
          </a:p>
          <a:p>
            <a:r>
              <a:rPr lang="en-US" dirty="0">
                <a:latin typeface="+mn-lt"/>
              </a:rPr>
              <a:t>Example of using FAISS index factory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2EC363-AD43-1DAC-A28F-965E782CC1CB}"/>
              </a:ext>
            </a:extLst>
          </p:cNvPr>
          <p:cNvSpPr txBox="1"/>
          <p:nvPr/>
        </p:nvSpPr>
        <p:spPr>
          <a:xfrm>
            <a:off x="1087699" y="3552767"/>
            <a:ext cx="358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Dimension of input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4BB4197-E1C4-CB19-D913-0A7E7F303266}"/>
                  </a:ext>
                </a:extLst>
              </p:cNvPr>
              <p:cNvSpPr txBox="1"/>
              <p:nvPr/>
            </p:nvSpPr>
            <p:spPr>
              <a:xfrm>
                <a:off x="1260515" y="4373908"/>
                <a:ext cx="10111612" cy="2314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index = </a:t>
                </a:r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index_factory</a:t>
                </a:r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(128,"OPQ16_64,IMI2x8, PQ32x8")</a:t>
                </a:r>
              </a:p>
              <a:p>
                <a:r>
                  <a:rPr lang="en-US" sz="2400" dirty="0">
                    <a:cs typeface="Courier New" panose="02070309020205020404" pitchFamily="49" charset="0"/>
                  </a:rPr>
                  <a:t>Where:</a:t>
                </a:r>
              </a:p>
              <a:p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OPQ16_64</a:t>
                </a:r>
                <a:r>
                  <a:rPr lang="en-US" sz="2400" dirty="0">
                    <a:cs typeface="Courier New" panose="02070309020205020404" pitchFamily="49" charset="0"/>
                  </a:rPr>
                  <a:t>: optimized PQ coarse quantizer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=16</m:t>
                    </m:r>
                  </m:oMath>
                </a14:m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sz="2400" dirty="0">
                    <a:cs typeface="Courier New" panose="02070309020205020404" pitchFamily="49" charset="0"/>
                  </a:rPr>
                  <a:t>and output dimension 64</a:t>
                </a:r>
              </a:p>
              <a:p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IMI2x8</a:t>
                </a:r>
                <a:r>
                  <a:rPr lang="en-US" sz="2400" dirty="0">
                    <a:cs typeface="Courier New" panose="02070309020205020404" pitchFamily="49" charset="0"/>
                  </a:rPr>
                  <a:t>: inverted multi-index with 2 dimensions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𝑏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8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=256</m:t>
                    </m:r>
                  </m:oMath>
                </a14:m>
                <a:r>
                  <a:rPr lang="en-US" sz="2400" dirty="0">
                    <a:cs typeface="Courier New" panose="02070309020205020404" pitchFamily="49" charset="0"/>
                  </a:rPr>
                  <a:t> levels</a:t>
                </a:r>
              </a:p>
              <a:p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PQ32x8</a:t>
                </a:r>
                <a:r>
                  <a:rPr lang="en-US" sz="2400" dirty="0">
                    <a:cs typeface="Courier New" panose="02070309020205020404" pitchFamily="49" charset="0"/>
                  </a:rPr>
                  <a:t>: PQ fine quantizer with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=32</m:t>
                    </m:r>
                  </m:oMath>
                </a14:m>
                <a:r>
                  <a:rPr lang="en-US" sz="2400" dirty="0">
                    <a:cs typeface="Courier New" panose="02070309020205020404" pitchFamily="49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𝑏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8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=256</m:t>
                    </m:r>
                  </m:oMath>
                </a14:m>
                <a:r>
                  <a:rPr lang="en-US" sz="2400" dirty="0">
                    <a:cs typeface="Courier New" panose="02070309020205020404" pitchFamily="49" charset="0"/>
                  </a:rPr>
                  <a:t> levels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4BB4197-E1C4-CB19-D913-0A7E7F303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515" y="4373908"/>
                <a:ext cx="10111612" cy="2314864"/>
              </a:xfrm>
              <a:prstGeom prst="rect">
                <a:avLst/>
              </a:prstGeom>
              <a:blipFill>
                <a:blip r:embed="rId3"/>
                <a:stretch>
                  <a:fillRect l="-964" t="-1847" b="-5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823031D-F7DD-8006-E9A9-8CB1767E0873}"/>
              </a:ext>
            </a:extLst>
          </p:cNvPr>
          <p:cNvSpPr txBox="1"/>
          <p:nvPr/>
        </p:nvSpPr>
        <p:spPr>
          <a:xfrm>
            <a:off x="6160442" y="3524724"/>
            <a:ext cx="5263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String specifying concatenated indexes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F3AFFD6-5B90-738B-9215-BE2CE57C59BD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2881775" y="4014432"/>
            <a:ext cx="2604625" cy="4616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E1F661F-A3E5-9AB0-C485-246C65C9EF34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7160562" y="3986389"/>
            <a:ext cx="1631611" cy="3819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F8BC2E-4ACF-01CA-F7C1-60EC3902AD92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8673737" y="3986389"/>
            <a:ext cx="118436" cy="3819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8A7E41B-0FF6-30B2-29DA-3A861565BC22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8792173" y="3986389"/>
            <a:ext cx="1000120" cy="3819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12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E41E8-5EF8-3BDE-5E44-DF5C7EAAD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1256B-79B3-5F29-C38B-D4104CC0E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3072E-FE87-6978-A219-3707CB8B39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11270795" cy="25867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Different quantization sequences result in different recall, search time and memory use</a:t>
            </a:r>
          </a:p>
          <a:p>
            <a:r>
              <a:rPr lang="en-US" dirty="0">
                <a:latin typeface="+mn-lt"/>
              </a:rPr>
              <a:t>Example: The three quantization sequences all use nearly identical recall and memory use</a:t>
            </a:r>
          </a:p>
          <a:p>
            <a:r>
              <a:rPr lang="en-US" dirty="0">
                <a:latin typeface="+mn-lt"/>
              </a:rPr>
              <a:t>Notice how orthogonalization (rotation) preprocessing reduces query time at no penalty in memory or recall</a:t>
            </a:r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EAACC5D-57FF-3DEF-5006-5FD1C2AF8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253" y="4006734"/>
            <a:ext cx="7700067" cy="217628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3E28BFC-BC30-DD52-F976-0D82879CB68B}"/>
              </a:ext>
            </a:extLst>
          </p:cNvPr>
          <p:cNvSpPr txBox="1"/>
          <p:nvPr/>
        </p:nvSpPr>
        <p:spPr>
          <a:xfrm>
            <a:off x="1755453" y="6233021"/>
            <a:ext cx="858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Table From Part 6 of </a:t>
            </a:r>
            <a:r>
              <a:rPr lang="en-US" sz="2400" dirty="0">
                <a:hlinkClick r:id="rId4"/>
              </a:rPr>
              <a:t>FAISS the Missing Manual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7489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3E1DE-AA2C-BDAA-1EC3-0BCE7CBEB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621D-9168-5BB4-F6B7-34FDC9AB0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F8BA9-BC26-CCDE-66DC-39693C0BDBA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11270795" cy="2586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Example: Hyperparameter choice affect recalls, search time and memory use</a:t>
            </a:r>
          </a:p>
          <a:p>
            <a:r>
              <a:rPr lang="en-US" dirty="0">
                <a:latin typeface="+mn-lt"/>
              </a:rPr>
              <a:t>Increasing </a:t>
            </a:r>
            <a:r>
              <a:rPr lang="en-US" dirty="0" err="1">
                <a:latin typeface="+mn-lt"/>
              </a:rPr>
              <a:t>nprobe</a:t>
            </a:r>
            <a:r>
              <a:rPr lang="en-US" dirty="0">
                <a:latin typeface="+mn-lt"/>
              </a:rPr>
              <a:t> gives higher recall, but slower queries, at no change in memory   </a:t>
            </a:r>
          </a:p>
          <a:p>
            <a:r>
              <a:rPr lang="en-US" dirty="0">
                <a:latin typeface="+mn-lt"/>
              </a:rPr>
              <a:t>Increasing PQ </a:t>
            </a:r>
            <a:r>
              <a:rPr lang="en-US" dirty="0" err="1">
                <a:latin typeface="+mn-lt"/>
              </a:rPr>
              <a:t>subvectors</a:t>
            </a:r>
            <a:r>
              <a:rPr lang="en-US" dirty="0">
                <a:latin typeface="+mn-lt"/>
              </a:rPr>
              <a:t> increases memory use but greatly boosts recall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40E269-95E2-994E-31C9-23F8C75D9294}"/>
              </a:ext>
            </a:extLst>
          </p:cNvPr>
          <p:cNvSpPr txBox="1"/>
          <p:nvPr/>
        </p:nvSpPr>
        <p:spPr>
          <a:xfrm>
            <a:off x="1755453" y="6233021"/>
            <a:ext cx="858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Table From Part 6 of </a:t>
            </a:r>
            <a:r>
              <a:rPr lang="en-US" sz="2400" dirty="0">
                <a:hlinkClick r:id="rId3"/>
              </a:rPr>
              <a:t>FAISS the Missing Manual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CA68EB-AF02-7DFC-00A9-2C18EDA27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1174" y="3679993"/>
            <a:ext cx="7067233" cy="251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78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6E138-4E27-1610-44C7-43DEBBEF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6FC2B-450F-D429-B0F6-04AD982F6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E216E7-69BF-B508-6E0D-041EE9C4A56E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6"/>
                <a:ext cx="11270795" cy="54619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HNSW graph algorithm can be used as a course quantizer</a:t>
                </a:r>
              </a:p>
              <a:p>
                <a:r>
                  <a:rPr lang="en-US" dirty="0">
                    <a:latin typeface="+mn-lt"/>
                  </a:rPr>
                  <a:t>Recall we have explored using IVF and IMI as coarse quantizers </a:t>
                </a:r>
              </a:p>
              <a:p>
                <a:r>
                  <a:rPr lang="en-US" dirty="0">
                    <a:latin typeface="+mn-lt"/>
                  </a:rPr>
                  <a:t>Combining ideas from IVF and HNSW graph algorithms is another option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Find centroids of Voronoi cells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Train the HNSW graph on the vectors in the Voronoi cells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Traverse the HNSW graph to perform queries on the Voronoi cells  </a:t>
                </a:r>
              </a:p>
              <a:p>
                <a:r>
                  <a:rPr lang="en-US" dirty="0">
                    <a:latin typeface="+mn-lt"/>
                  </a:rPr>
                  <a:t>Algorithm requires a large number of the cells</a:t>
                </a:r>
              </a:p>
              <a:p>
                <a:pPr lvl="1"/>
                <a:r>
                  <a:rPr lang="en-US" dirty="0">
                    <a:latin typeface="+mn-lt"/>
                  </a:rPr>
                  <a:t>The </a:t>
                </a:r>
                <a:r>
                  <a:rPr lang="en-US" dirty="0">
                    <a:latin typeface="+mn-lt"/>
                    <a:hlinkClick r:id="rId3"/>
                  </a:rPr>
                  <a:t>FAISS Wiki </a:t>
                </a:r>
                <a:r>
                  <a:rPr lang="en-US" dirty="0">
                    <a:latin typeface="+mn-lt"/>
                  </a:rPr>
                  <a:t>recommends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𝑛𝑙𝑖𝑠𝑡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65536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But, wait! We need about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30×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𝑛𝑙𝑖𝑠𝑡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samples</a:t>
                </a:r>
              </a:p>
              <a:p>
                <a:pPr lvl="1"/>
                <a:r>
                  <a:rPr lang="en-US" dirty="0">
                    <a:latin typeface="+mn-lt"/>
                  </a:rPr>
                  <a:t>Typically, must choose a smaller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𝑛𝑙𝑖𝑠𝑡</m:t>
                    </m:r>
                  </m:oMath>
                </a14:m>
                <a:r>
                  <a:rPr lang="en-US" dirty="0">
                    <a:latin typeface="+mn-lt"/>
                  </a:rPr>
                  <a:t> given limits on dataset size 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E216E7-69BF-B508-6E0D-041EE9C4A5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6"/>
                <a:ext cx="11270795" cy="5461949"/>
              </a:xfrm>
              <a:blipFill>
                <a:blip r:embed="rId4"/>
                <a:stretch>
                  <a:fillRect l="-1136" t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4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CB1A4-B348-0A5B-1651-3510818D4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203FE-C262-448B-2992-1497218DA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26655-6F4E-1F3B-466E-CDDECCFDFC1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11270795" cy="255738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Example: Composite IVF HNSW graph coarse quantizer can be a useful choice</a:t>
                </a:r>
              </a:p>
              <a:p>
                <a:r>
                  <a:rPr lang="en-US" dirty="0">
                    <a:latin typeface="+mn-lt"/>
                  </a:rPr>
                  <a:t>Using IVF coarse quantization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𝑛𝑙𝑖𝑠𝑡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=4096</m:t>
                    </m:r>
                  </m:oMath>
                </a14:m>
                <a:r>
                  <a:rPr lang="en-US" dirty="0">
                    <a:latin typeface="+mn-lt"/>
                  </a:rPr>
                  <a:t> requires large memory</a:t>
                </a:r>
              </a:p>
              <a:p>
                <a:r>
                  <a:rPr lang="en-US" dirty="0">
                    <a:latin typeface="+mn-lt"/>
                  </a:rPr>
                  <a:t>Using HNSW coarse quantization reduces memory use by more than an order of magnitude! </a:t>
                </a:r>
              </a:p>
              <a:p>
                <a:r>
                  <a:rPr lang="en-US" dirty="0">
                    <a:latin typeface="+mn-lt"/>
                  </a:rPr>
                  <a:t>Using OPQ as a preprocessor improves recall and search time with no memory penalty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26655-6F4E-1F3B-466E-CDDECCFDFC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11270795" cy="2557385"/>
              </a:xfrm>
              <a:blipFill>
                <a:blip r:embed="rId3"/>
                <a:stretch>
                  <a:fillRect l="-973" t="-4762" r="-216" b="-5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A327FC2-5E42-92DD-3386-D311D6C8A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681" y="3796959"/>
            <a:ext cx="8295311" cy="23968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DAB9AD-E724-7A64-3101-56833F6B91D9}"/>
              </a:ext>
            </a:extLst>
          </p:cNvPr>
          <p:cNvSpPr txBox="1"/>
          <p:nvPr/>
        </p:nvSpPr>
        <p:spPr>
          <a:xfrm>
            <a:off x="1755453" y="6233021"/>
            <a:ext cx="858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Table From Part 6 of </a:t>
            </a:r>
            <a:r>
              <a:rPr lang="en-US" sz="2400" dirty="0">
                <a:hlinkClick r:id="rId5"/>
              </a:rPr>
              <a:t>FAISS the Missing Manual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1306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34FEE-F730-20D7-BB7C-47B6DCCF3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85589-00E9-A33E-686B-906EA3FAA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LSH for Cosine Distance</a:t>
            </a:r>
          </a:p>
        </p:txBody>
      </p:sp>
    </p:spTree>
    <p:extLst>
      <p:ext uri="{BB962C8B-B14F-4D97-AF65-F5344CB8AC3E}">
        <p14:creationId xmlns:p14="http://schemas.microsoft.com/office/powerpoint/2010/main" val="11021371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Mini-Hashing Numeric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270000"/>
            <a:ext cx="11010128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LSH be applied to numeric variables? </a:t>
            </a:r>
          </a:p>
          <a:p>
            <a:r>
              <a:rPr lang="en-US" dirty="0">
                <a:latin typeface="+mn-lt"/>
              </a:rPr>
              <a:t>Can create hashes to </a:t>
            </a:r>
            <a:r>
              <a:rPr lang="en-US" b="1" dirty="0">
                <a:latin typeface="+mn-lt"/>
              </a:rPr>
              <a:t>estimate cosine distance </a:t>
            </a:r>
          </a:p>
          <a:p>
            <a:r>
              <a:rPr lang="en-US" dirty="0">
                <a:latin typeface="+mn-lt"/>
              </a:rPr>
              <a:t>Cosine distances computed with </a:t>
            </a:r>
            <a:r>
              <a:rPr lang="en-US" b="1" dirty="0">
                <a:latin typeface="+mn-lt"/>
              </a:rPr>
              <a:t>numeric (real) variables     </a:t>
            </a:r>
          </a:p>
          <a:p>
            <a:r>
              <a:rPr lang="en-US" dirty="0">
                <a:latin typeface="+mn-lt"/>
              </a:rPr>
              <a:t>Uses computationally efficient dot products as hashes  </a:t>
            </a:r>
          </a:p>
          <a:p>
            <a:r>
              <a:rPr lang="en-US" dirty="0">
                <a:latin typeface="+mn-lt"/>
              </a:rPr>
              <a:t>Apply LSH to find cosine distance estimates     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8058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Mini-Hashing Numeric Variables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16393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Review Cosine Similarity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1639303"/>
              </a:xfrm>
              <a:blipFill>
                <a:blip r:embed="rId3"/>
                <a:stretch>
                  <a:fillRect l="-1111" t="-6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C2410D-2843-43D4-8696-1D08665D8734}"/>
              </a:ext>
            </a:extLst>
          </p:cNvPr>
          <p:cNvCxnSpPr/>
          <p:nvPr/>
        </p:nvCxnSpPr>
        <p:spPr>
          <a:xfrm>
            <a:off x="758008" y="5961921"/>
            <a:ext cx="459783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210B04-140B-48C3-AB42-D61C9037800A}"/>
              </a:ext>
            </a:extLst>
          </p:cNvPr>
          <p:cNvCxnSpPr>
            <a:cxnSpLocks/>
          </p:cNvCxnSpPr>
          <p:nvPr/>
        </p:nvCxnSpPr>
        <p:spPr>
          <a:xfrm flipV="1">
            <a:off x="758008" y="2578125"/>
            <a:ext cx="0" cy="33837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2B40F0C-6CA8-4E2B-9506-257938DB4E99}"/>
              </a:ext>
            </a:extLst>
          </p:cNvPr>
          <p:cNvSpPr txBox="1"/>
          <p:nvPr/>
        </p:nvSpPr>
        <p:spPr>
          <a:xfrm>
            <a:off x="2907106" y="5961921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r>
              <a:rPr lang="en-US" sz="2800" b="1" baseline="-250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93A1DA-70A2-4EC3-9CAF-5C65A92AE62B}"/>
              </a:ext>
            </a:extLst>
          </p:cNvPr>
          <p:cNvSpPr txBox="1"/>
          <p:nvPr/>
        </p:nvSpPr>
        <p:spPr>
          <a:xfrm>
            <a:off x="238462" y="3953012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r>
              <a:rPr lang="en-US" sz="2800" b="1" baseline="-25000" dirty="0"/>
              <a:t>2</a:t>
            </a:r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B23426B5-5480-4DE4-9184-9876C2CB2517}"/>
              </a:ext>
            </a:extLst>
          </p:cNvPr>
          <p:cNvSpPr/>
          <p:nvPr/>
        </p:nvSpPr>
        <p:spPr>
          <a:xfrm>
            <a:off x="4316808" y="3390317"/>
            <a:ext cx="200890" cy="208875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CD8CD439-2CC4-4431-AB63-0F32315F3BC5}"/>
              </a:ext>
            </a:extLst>
          </p:cNvPr>
          <p:cNvSpPr/>
          <p:nvPr/>
        </p:nvSpPr>
        <p:spPr>
          <a:xfrm>
            <a:off x="2498956" y="5229827"/>
            <a:ext cx="200890" cy="208875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D27AE9-6F7D-46F4-B0C2-70E2F3CD488A}"/>
              </a:ext>
            </a:extLst>
          </p:cNvPr>
          <p:cNvSpPr txBox="1"/>
          <p:nvPr/>
        </p:nvSpPr>
        <p:spPr>
          <a:xfrm>
            <a:off x="2211797" y="5411221"/>
            <a:ext cx="84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(2,1)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800F31-6C70-4F71-B1DD-342BB67BF461}"/>
              </a:ext>
            </a:extLst>
          </p:cNvPr>
          <p:cNvSpPr txBox="1"/>
          <p:nvPr/>
        </p:nvSpPr>
        <p:spPr>
          <a:xfrm>
            <a:off x="4531787" y="3222984"/>
            <a:ext cx="84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(4,3)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/>
              <p:nvPr/>
            </p:nvSpPr>
            <p:spPr>
              <a:xfrm>
                <a:off x="5591892" y="2768378"/>
                <a:ext cx="6445125" cy="2268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Points at (2,1) and (4,3)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is the distance between them?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Cosine distance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𝑑𝑐𝑜𝑠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2∗4 +1∗3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</m:den>
                          </m:f>
                        </m:e>
                      </m:box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=0.984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892" y="2768378"/>
                <a:ext cx="6445125" cy="2268121"/>
              </a:xfrm>
              <a:prstGeom prst="rect">
                <a:avLst/>
              </a:prstGeom>
              <a:blipFill>
                <a:blip r:embed="rId4"/>
                <a:stretch>
                  <a:fillRect l="-1229" t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C19033-E180-48CB-8A3F-5E01D0B45E8B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758008" y="5334265"/>
            <a:ext cx="1740948" cy="627656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4470BD-1B84-4863-B51E-E05B61323441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742126" y="3494755"/>
            <a:ext cx="3574682" cy="2467168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C4F1A39-7311-4D97-9D1E-707E33AC61BC}"/>
              </a:ext>
            </a:extLst>
          </p:cNvPr>
          <p:cNvSpPr txBox="1"/>
          <p:nvPr/>
        </p:nvSpPr>
        <p:spPr>
          <a:xfrm>
            <a:off x="1850592" y="5051214"/>
            <a:ext cx="38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ymbol" panose="05050102010706020507" pitchFamily="18" charset="2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152682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 animBg="1"/>
      <p:bldP spid="14" grpId="0"/>
      <p:bldP spid="15" grpId="0"/>
      <p:bldP spid="21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Mini-Hashing Numeric Variables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640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Create hashes with random hyperplanes  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C2410D-2843-43D4-8696-1D08665D8734}"/>
              </a:ext>
            </a:extLst>
          </p:cNvPr>
          <p:cNvCxnSpPr>
            <a:cxnSpLocks/>
          </p:cNvCxnSpPr>
          <p:nvPr/>
        </p:nvCxnSpPr>
        <p:spPr>
          <a:xfrm flipV="1">
            <a:off x="2445406" y="4920792"/>
            <a:ext cx="3220103" cy="1434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210B04-140B-48C3-AB42-D61C9037800A}"/>
              </a:ext>
            </a:extLst>
          </p:cNvPr>
          <p:cNvCxnSpPr>
            <a:cxnSpLocks/>
          </p:cNvCxnSpPr>
          <p:nvPr/>
        </p:nvCxnSpPr>
        <p:spPr>
          <a:xfrm flipV="1">
            <a:off x="2445406" y="2286000"/>
            <a:ext cx="0" cy="27782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/>
              <p:nvPr/>
            </p:nvSpPr>
            <p:spPr>
              <a:xfrm>
                <a:off x="6400536" y="1355916"/>
                <a:ext cx="5311709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Start with two vectors, </a:t>
                </a:r>
                <a:r>
                  <a:rPr lang="en-US" sz="2400" dirty="0" err="1"/>
                  <a:t>x,y</a:t>
                </a:r>
                <a:r>
                  <a:rPr lang="en-US" sz="2400" dirty="0"/>
                  <a:t>     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Choose a hyperplane H at random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Hyperplane defined by a perpendicular vector, v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Dot products of v with x and y have opposite signs: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⇒+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⇒−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a typeface="Cambria Math" panose="02040503050406030204" pitchFamily="18" charset="0"/>
                  </a:rPr>
                  <a:t>Or if v has opposite sign: </a:t>
                </a: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⇒−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⇒+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536" y="1355916"/>
                <a:ext cx="5311709" cy="4524315"/>
              </a:xfrm>
              <a:prstGeom prst="rect">
                <a:avLst/>
              </a:prstGeom>
              <a:blipFill>
                <a:blip r:embed="rId3"/>
                <a:stretch>
                  <a:fillRect l="-1607" t="-1077" r="-2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C19033-E180-48CB-8A3F-5E01D0B45E8B}"/>
              </a:ext>
            </a:extLst>
          </p:cNvPr>
          <p:cNvCxnSpPr>
            <a:cxnSpLocks/>
          </p:cNvCxnSpPr>
          <p:nvPr/>
        </p:nvCxnSpPr>
        <p:spPr>
          <a:xfrm flipV="1">
            <a:off x="2429523" y="4457290"/>
            <a:ext cx="2593221" cy="605376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4470BD-1B84-4863-B51E-E05B61323441}"/>
              </a:ext>
            </a:extLst>
          </p:cNvPr>
          <p:cNvCxnSpPr>
            <a:cxnSpLocks/>
          </p:cNvCxnSpPr>
          <p:nvPr/>
        </p:nvCxnSpPr>
        <p:spPr>
          <a:xfrm flipV="1">
            <a:off x="2429524" y="2724347"/>
            <a:ext cx="1204509" cy="233991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C4F1A39-7311-4D97-9D1E-707E33AC61BC}"/>
              </a:ext>
            </a:extLst>
          </p:cNvPr>
          <p:cNvSpPr txBox="1"/>
          <p:nvPr/>
        </p:nvSpPr>
        <p:spPr>
          <a:xfrm>
            <a:off x="3537990" y="4153548"/>
            <a:ext cx="38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ymbol" panose="05050102010706020507" pitchFamily="18" charset="2"/>
              </a:rPr>
              <a:t>q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DA1524-375C-EDF7-3BC0-3101B734DD5D}"/>
              </a:ext>
            </a:extLst>
          </p:cNvPr>
          <p:cNvSpPr txBox="1"/>
          <p:nvPr/>
        </p:nvSpPr>
        <p:spPr>
          <a:xfrm>
            <a:off x="5047904" y="4228046"/>
            <a:ext cx="30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34270C-B65E-331E-35A7-1C894F3C5FB8}"/>
              </a:ext>
            </a:extLst>
          </p:cNvPr>
          <p:cNvSpPr txBox="1"/>
          <p:nvPr/>
        </p:nvSpPr>
        <p:spPr>
          <a:xfrm>
            <a:off x="3657503" y="2434781"/>
            <a:ext cx="30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60D0D0-F2DA-A5EA-9DE0-A646FCD5F066}"/>
              </a:ext>
            </a:extLst>
          </p:cNvPr>
          <p:cNvCxnSpPr>
            <a:cxnSpLocks/>
          </p:cNvCxnSpPr>
          <p:nvPr/>
        </p:nvCxnSpPr>
        <p:spPr>
          <a:xfrm>
            <a:off x="981949" y="3555602"/>
            <a:ext cx="2706076" cy="2796368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36865B7-C98D-6FF3-C51B-A76849593668}"/>
              </a:ext>
            </a:extLst>
          </p:cNvPr>
          <p:cNvCxnSpPr>
            <a:cxnSpLocks/>
          </p:cNvCxnSpPr>
          <p:nvPr/>
        </p:nvCxnSpPr>
        <p:spPr>
          <a:xfrm flipV="1">
            <a:off x="2429523" y="4214462"/>
            <a:ext cx="1027142" cy="848204"/>
          </a:xfrm>
          <a:prstGeom prst="straightConnector1">
            <a:avLst/>
          </a:prstGeom>
          <a:ln w="444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14B2945-1BB7-3D29-E27F-5C9D35B3F829}"/>
              </a:ext>
            </a:extLst>
          </p:cNvPr>
          <p:cNvSpPr txBox="1"/>
          <p:nvPr/>
        </p:nvSpPr>
        <p:spPr>
          <a:xfrm>
            <a:off x="3329869" y="3802740"/>
            <a:ext cx="30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322443-AAE1-AA8F-33BA-78577A6F86A7}"/>
              </a:ext>
            </a:extLst>
          </p:cNvPr>
          <p:cNvSpPr txBox="1"/>
          <p:nvPr/>
        </p:nvSpPr>
        <p:spPr>
          <a:xfrm>
            <a:off x="2588344" y="5474388"/>
            <a:ext cx="357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95685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31" grpId="0"/>
      <p:bldP spid="32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Mini-Hashing Numeric Variables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640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Create hashes with random hyperplanes  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C2410D-2843-43D4-8696-1D08665D8734}"/>
              </a:ext>
            </a:extLst>
          </p:cNvPr>
          <p:cNvCxnSpPr>
            <a:cxnSpLocks/>
          </p:cNvCxnSpPr>
          <p:nvPr/>
        </p:nvCxnSpPr>
        <p:spPr>
          <a:xfrm flipV="1">
            <a:off x="2445406" y="4920792"/>
            <a:ext cx="3220103" cy="1434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210B04-140B-48C3-AB42-D61C9037800A}"/>
              </a:ext>
            </a:extLst>
          </p:cNvPr>
          <p:cNvCxnSpPr>
            <a:cxnSpLocks/>
          </p:cNvCxnSpPr>
          <p:nvPr/>
        </p:nvCxnSpPr>
        <p:spPr>
          <a:xfrm flipV="1">
            <a:off x="2445406" y="2286000"/>
            <a:ext cx="0" cy="27782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/>
              <p:nvPr/>
            </p:nvSpPr>
            <p:spPr>
              <a:xfrm>
                <a:off x="6400536" y="1474727"/>
                <a:ext cx="5311709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Choose another hyperplane H at random with orthogonal vector v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Dot products of v with </a:t>
                </a:r>
                <a:r>
                  <a:rPr lang="en-US" sz="2400" dirty="0" err="1"/>
                  <a:t>x,y</a:t>
                </a:r>
                <a:r>
                  <a:rPr lang="en-US" sz="2400" dirty="0"/>
                  <a:t> have same signs: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⇒+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⇒+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a typeface="Cambria Math" panose="02040503050406030204" pitchFamily="18" charset="0"/>
                  </a:rPr>
                  <a:t>Or if v has same sign: </a:t>
                </a: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⇒−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⇒−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a typeface="Cambria Math" panose="02040503050406030204" pitchFamily="18" charset="0"/>
                  </a:rPr>
                  <a:t>Therefore, expected probability that dot product with orthogonal vector have opposite signs: 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+,−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536" y="1474727"/>
                <a:ext cx="5311709" cy="4893647"/>
              </a:xfrm>
              <a:prstGeom prst="rect">
                <a:avLst/>
              </a:prstGeom>
              <a:blipFill>
                <a:blip r:embed="rId3"/>
                <a:stretch>
                  <a:fillRect l="-1607" t="-996" b="-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C19033-E180-48CB-8A3F-5E01D0B45E8B}"/>
              </a:ext>
            </a:extLst>
          </p:cNvPr>
          <p:cNvCxnSpPr>
            <a:cxnSpLocks/>
          </p:cNvCxnSpPr>
          <p:nvPr/>
        </p:nvCxnSpPr>
        <p:spPr>
          <a:xfrm flipV="1">
            <a:off x="2429523" y="4457290"/>
            <a:ext cx="2593221" cy="605376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4470BD-1B84-4863-B51E-E05B61323441}"/>
              </a:ext>
            </a:extLst>
          </p:cNvPr>
          <p:cNvCxnSpPr>
            <a:cxnSpLocks/>
          </p:cNvCxnSpPr>
          <p:nvPr/>
        </p:nvCxnSpPr>
        <p:spPr>
          <a:xfrm flipV="1">
            <a:off x="2429524" y="2724347"/>
            <a:ext cx="1204509" cy="233991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C4F1A39-7311-4D97-9D1E-707E33AC61BC}"/>
              </a:ext>
            </a:extLst>
          </p:cNvPr>
          <p:cNvSpPr txBox="1"/>
          <p:nvPr/>
        </p:nvSpPr>
        <p:spPr>
          <a:xfrm>
            <a:off x="3537990" y="4153548"/>
            <a:ext cx="38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ymbol" panose="05050102010706020507" pitchFamily="18" charset="2"/>
              </a:rPr>
              <a:t>q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DA1524-375C-EDF7-3BC0-3101B734DD5D}"/>
              </a:ext>
            </a:extLst>
          </p:cNvPr>
          <p:cNvSpPr txBox="1"/>
          <p:nvPr/>
        </p:nvSpPr>
        <p:spPr>
          <a:xfrm>
            <a:off x="5047904" y="4228046"/>
            <a:ext cx="30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34270C-B65E-331E-35A7-1C894F3C5FB8}"/>
              </a:ext>
            </a:extLst>
          </p:cNvPr>
          <p:cNvSpPr txBox="1"/>
          <p:nvPr/>
        </p:nvSpPr>
        <p:spPr>
          <a:xfrm>
            <a:off x="3657503" y="2434781"/>
            <a:ext cx="30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60D0D0-F2DA-A5EA-9DE0-A646FCD5F066}"/>
              </a:ext>
            </a:extLst>
          </p:cNvPr>
          <p:cNvCxnSpPr>
            <a:cxnSpLocks/>
          </p:cNvCxnSpPr>
          <p:nvPr/>
        </p:nvCxnSpPr>
        <p:spPr>
          <a:xfrm>
            <a:off x="584200" y="4992523"/>
            <a:ext cx="4341305" cy="192219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36865B7-C98D-6FF3-C51B-A76849593668}"/>
              </a:ext>
            </a:extLst>
          </p:cNvPr>
          <p:cNvCxnSpPr>
            <a:cxnSpLocks/>
          </p:cNvCxnSpPr>
          <p:nvPr/>
        </p:nvCxnSpPr>
        <p:spPr>
          <a:xfrm flipV="1">
            <a:off x="2439268" y="3921551"/>
            <a:ext cx="138963" cy="1141115"/>
          </a:xfrm>
          <a:prstGeom prst="straightConnector1">
            <a:avLst/>
          </a:prstGeom>
          <a:ln w="444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14B2945-1BB7-3D29-E27F-5C9D35B3F829}"/>
              </a:ext>
            </a:extLst>
          </p:cNvPr>
          <p:cNvSpPr txBox="1"/>
          <p:nvPr/>
        </p:nvSpPr>
        <p:spPr>
          <a:xfrm>
            <a:off x="2508749" y="3464220"/>
            <a:ext cx="30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322443-AAE1-AA8F-33BA-78577A6F86A7}"/>
              </a:ext>
            </a:extLst>
          </p:cNvPr>
          <p:cNvSpPr txBox="1"/>
          <p:nvPr/>
        </p:nvSpPr>
        <p:spPr>
          <a:xfrm>
            <a:off x="4343470" y="5132406"/>
            <a:ext cx="357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72217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Locally Sensitive 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228299"/>
                <a:ext cx="11525250" cy="55281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Probability of error from mini-hashing</a:t>
                </a:r>
              </a:p>
              <a:p>
                <a:r>
                  <a:rPr lang="en-US" dirty="0">
                    <a:latin typeface="+mn-lt"/>
                  </a:rPr>
                  <a:t>Consider a similarity measure between two vectors: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𝑠𝑖𝑚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The probability that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latin typeface="+mn-lt"/>
                  </a:rPr>
                  <a:t> mini-hashes agree is: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probability that at least 1 of the mini-hashes disagrees: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228299"/>
                <a:ext cx="11525250" cy="5528101"/>
              </a:xfrm>
              <a:blipFill>
                <a:blip r:embed="rId3"/>
                <a:stretch>
                  <a:fillRect l="-1111" t="-17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965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Locally Sensitive 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270000"/>
            <a:ext cx="6331585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Probability of error from mini-hashing</a:t>
            </a:r>
          </a:p>
          <a:p>
            <a:r>
              <a:rPr lang="en-US" dirty="0">
                <a:latin typeface="+mn-lt"/>
              </a:rPr>
              <a:t>Single mini-hash yields low sensitivity to positive cases</a:t>
            </a:r>
          </a:p>
          <a:p>
            <a:r>
              <a:rPr lang="en-US" dirty="0">
                <a:latin typeface="+mn-lt"/>
              </a:rPr>
              <a:t>How can we improve on </a:t>
            </a:r>
            <a:r>
              <a:rPr lang="en-US" b="1" dirty="0">
                <a:latin typeface="+mn-lt"/>
              </a:rPr>
              <a:t>local sensitivity?</a:t>
            </a:r>
          </a:p>
          <a:p>
            <a:r>
              <a:rPr lang="en-US" dirty="0">
                <a:latin typeface="+mn-lt"/>
              </a:rPr>
              <a:t>We employ </a:t>
            </a:r>
            <a:r>
              <a:rPr lang="en-US" b="1" dirty="0">
                <a:latin typeface="+mn-lt"/>
              </a:rPr>
              <a:t>b bands of r mini-hashes</a:t>
            </a:r>
            <a:r>
              <a:rPr lang="en-US" dirty="0">
                <a:latin typeface="+mn-lt"/>
              </a:rPr>
              <a:t> per band</a:t>
            </a:r>
            <a:endParaRPr lang="en-US" b="1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F473CA-D09B-4BDA-97FE-949D0E7E67F5}"/>
              </a:ext>
            </a:extLst>
          </p:cNvPr>
          <p:cNvSpPr/>
          <p:nvPr/>
        </p:nvSpPr>
        <p:spPr>
          <a:xfrm>
            <a:off x="8292775" y="1152735"/>
            <a:ext cx="1598809" cy="123080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421A98-1BAA-4ECE-BDA1-5E38BA12BFDD}"/>
              </a:ext>
            </a:extLst>
          </p:cNvPr>
          <p:cNvSpPr/>
          <p:nvPr/>
        </p:nvSpPr>
        <p:spPr>
          <a:xfrm>
            <a:off x="8292775" y="1152743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E470E0-3C32-4879-A663-5CACF1F6B52B}"/>
              </a:ext>
            </a:extLst>
          </p:cNvPr>
          <p:cNvSpPr/>
          <p:nvPr/>
        </p:nvSpPr>
        <p:spPr>
          <a:xfrm>
            <a:off x="8292775" y="1465389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8AFD31-D172-419D-AFA0-BFAD413C28B7}"/>
              </a:ext>
            </a:extLst>
          </p:cNvPr>
          <p:cNvSpPr/>
          <p:nvPr/>
        </p:nvSpPr>
        <p:spPr>
          <a:xfrm>
            <a:off x="8292775" y="2080790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84D261-FA4B-4DC9-B14C-2D23523BC7E7}"/>
              </a:ext>
            </a:extLst>
          </p:cNvPr>
          <p:cNvSpPr/>
          <p:nvPr/>
        </p:nvSpPr>
        <p:spPr>
          <a:xfrm>
            <a:off x="8292775" y="1778037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7DAD05-DAF6-4261-A7CB-BD57638829DF}"/>
              </a:ext>
            </a:extLst>
          </p:cNvPr>
          <p:cNvSpPr/>
          <p:nvPr/>
        </p:nvSpPr>
        <p:spPr>
          <a:xfrm>
            <a:off x="8292775" y="3614337"/>
            <a:ext cx="1598809" cy="1230809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A14463-A07F-42A1-A51B-ADF868166DF1}"/>
              </a:ext>
            </a:extLst>
          </p:cNvPr>
          <p:cNvSpPr txBox="1"/>
          <p:nvPr/>
        </p:nvSpPr>
        <p:spPr>
          <a:xfrm>
            <a:off x="7183802" y="1561607"/>
            <a:ext cx="120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Band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3C4FAA-F577-4D27-A1E4-4DABB5B2CEF1}"/>
              </a:ext>
            </a:extLst>
          </p:cNvPr>
          <p:cNvSpPr txBox="1"/>
          <p:nvPr/>
        </p:nvSpPr>
        <p:spPr>
          <a:xfrm>
            <a:off x="7183802" y="2675836"/>
            <a:ext cx="120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Band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3C727D-D847-4660-8DAB-7FDC7AE443D4}"/>
              </a:ext>
            </a:extLst>
          </p:cNvPr>
          <p:cNvSpPr txBox="1"/>
          <p:nvPr/>
        </p:nvSpPr>
        <p:spPr>
          <a:xfrm>
            <a:off x="7183802" y="5243592"/>
            <a:ext cx="120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Band 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99ED6E-37A5-451E-B67B-6FFDDD4A0935}"/>
              </a:ext>
            </a:extLst>
          </p:cNvPr>
          <p:cNvSpPr/>
          <p:nvPr/>
        </p:nvSpPr>
        <p:spPr>
          <a:xfrm>
            <a:off x="8292775" y="2393429"/>
            <a:ext cx="1598809" cy="1230809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A74B55-C89F-4060-A95F-FD34C1BF7F93}"/>
              </a:ext>
            </a:extLst>
          </p:cNvPr>
          <p:cNvSpPr/>
          <p:nvPr/>
        </p:nvSpPr>
        <p:spPr>
          <a:xfrm>
            <a:off x="8292775" y="2393437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AD5DE2-C40D-4351-A6C2-7C3B66705A64}"/>
              </a:ext>
            </a:extLst>
          </p:cNvPr>
          <p:cNvSpPr/>
          <p:nvPr/>
        </p:nvSpPr>
        <p:spPr>
          <a:xfrm>
            <a:off x="8292775" y="2706083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7FE512-038E-4233-8509-DF4DA2667A6A}"/>
              </a:ext>
            </a:extLst>
          </p:cNvPr>
          <p:cNvSpPr/>
          <p:nvPr/>
        </p:nvSpPr>
        <p:spPr>
          <a:xfrm>
            <a:off x="8292775" y="3321484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8035A-4F1D-4D13-BA0C-065ADAE13C0F}"/>
              </a:ext>
            </a:extLst>
          </p:cNvPr>
          <p:cNvSpPr/>
          <p:nvPr/>
        </p:nvSpPr>
        <p:spPr>
          <a:xfrm>
            <a:off x="8292775" y="3018731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67C58B-1764-4809-8951-8040ACBE5597}"/>
              </a:ext>
            </a:extLst>
          </p:cNvPr>
          <p:cNvSpPr/>
          <p:nvPr/>
        </p:nvSpPr>
        <p:spPr>
          <a:xfrm>
            <a:off x="8217712" y="4889717"/>
            <a:ext cx="1598809" cy="123080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57542E-402E-4F02-A93E-2C228BA76619}"/>
              </a:ext>
            </a:extLst>
          </p:cNvPr>
          <p:cNvSpPr/>
          <p:nvPr/>
        </p:nvSpPr>
        <p:spPr>
          <a:xfrm>
            <a:off x="8217712" y="4889725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DAE0EB-7E2A-4E90-84C1-DEA478FC12D1}"/>
              </a:ext>
            </a:extLst>
          </p:cNvPr>
          <p:cNvSpPr/>
          <p:nvPr/>
        </p:nvSpPr>
        <p:spPr>
          <a:xfrm>
            <a:off x="8217712" y="5202371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E16C37-4E54-43A0-A897-0BF29F425253}"/>
              </a:ext>
            </a:extLst>
          </p:cNvPr>
          <p:cNvSpPr/>
          <p:nvPr/>
        </p:nvSpPr>
        <p:spPr>
          <a:xfrm>
            <a:off x="8217712" y="5817772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643539-9CF6-4E9D-A50E-F7DF7F792F43}"/>
              </a:ext>
            </a:extLst>
          </p:cNvPr>
          <p:cNvSpPr/>
          <p:nvPr/>
        </p:nvSpPr>
        <p:spPr>
          <a:xfrm>
            <a:off x="8217712" y="5515019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351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2" grpId="0" animBg="1"/>
      <p:bldP spid="13" grpId="0" animBg="1"/>
      <p:bldP spid="15" grpId="0"/>
      <p:bldP spid="17" grpId="0"/>
      <p:bldP spid="18" grpId="0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Locally Sensitive 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323833"/>
                <a:ext cx="11525250" cy="54325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Probability of error from mini-hashing</a:t>
                </a:r>
              </a:p>
              <a:p>
                <a:r>
                  <a:rPr lang="en-US" dirty="0">
                    <a:latin typeface="+mn-lt"/>
                  </a:rPr>
                  <a:t>With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latin typeface="+mn-lt"/>
                  </a:rPr>
                  <a:t>bands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b="1" dirty="0">
                    <a:latin typeface="+mn-lt"/>
                  </a:rPr>
                  <a:t> mini-hashes </a:t>
                </a:r>
                <a:r>
                  <a:rPr lang="en-US" dirty="0">
                    <a:latin typeface="+mn-lt"/>
                  </a:rPr>
                  <a:t>we can find the sensitivity of positives between two vectors</a:t>
                </a:r>
              </a:p>
              <a:p>
                <a:r>
                  <a:rPr lang="en-US" dirty="0">
                    <a:latin typeface="+mn-lt"/>
                  </a:rPr>
                  <a:t>The probability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latin typeface="+mn-lt"/>
                  </a:rPr>
                  <a:t> bands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latin typeface="+mn-lt"/>
                  </a:rPr>
                  <a:t> mini-hashes agreeing is: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probability that at least 1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latin typeface="+mn-lt"/>
                  </a:rPr>
                  <a:t> mini-hashes in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latin typeface="+mn-lt"/>
                  </a:rPr>
                  <a:t> bands disagree: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323833"/>
                <a:ext cx="11525250" cy="5432567"/>
              </a:xfrm>
              <a:blipFill>
                <a:blip r:embed="rId3"/>
                <a:stretch>
                  <a:fillRect l="-1111" t="-1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02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707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Locally Sensitive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56782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Model for understanding locally sensitive hashing  </a:t>
                </a:r>
              </a:p>
              <a:p>
                <a:r>
                  <a:rPr lang="en-US" dirty="0">
                    <a:latin typeface="+mn-lt"/>
                  </a:rPr>
                  <a:t>Set </a:t>
                </a:r>
                <a:r>
                  <a:rPr lang="en-US" b="1" dirty="0">
                    <a:latin typeface="+mn-lt"/>
                  </a:rPr>
                  <a:t>thresholds</a:t>
                </a:r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to define a </a:t>
                </a:r>
                <a:r>
                  <a:rPr lang="en-US" b="1" dirty="0">
                    <a:latin typeface="+mn-lt"/>
                  </a:rPr>
                  <a:t>decision rule</a:t>
                </a:r>
              </a:p>
              <a:p>
                <a:r>
                  <a:rPr lang="en-US" dirty="0">
                    <a:latin typeface="+mn-lt"/>
                  </a:rPr>
                  <a:t>Consider distance measures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generated from a family of functions,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>
                    <a:latin typeface="+mn-lt"/>
                  </a:rPr>
                  <a:t> with decision rule:</a:t>
                </a:r>
              </a:p>
              <a:p>
                <a:pPr lvl="1"/>
                <a:r>
                  <a:rPr lang="en-US" dirty="0">
                    <a:latin typeface="+mn-lt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𝑚𝑎𝑡𝑐h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>
                  <a:latin typeface="+mn-lt"/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𝑓𝑎𝑙𝑠𝑒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𝑚𝑎𝑡𝑐h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</a:p>
              <a:p>
                <a:pPr lvl="1"/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We say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 </a:t>
                </a:r>
                <a:r>
                  <a:rPr lang="en-US" b="1" dirty="0">
                    <a:latin typeface="+mn-lt"/>
                    <a:ea typeface="Cambria Math" panose="02040503050406030204" pitchFamily="18" charset="0"/>
                  </a:rPr>
                  <a:t>sensitive</a:t>
                </a:r>
              </a:p>
              <a:p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Intuitively, the </a:t>
                </a:r>
                <a:r>
                  <a:rPr lang="en-US" b="1" dirty="0">
                    <a:latin typeface="+mn-lt"/>
                    <a:ea typeface="Cambria Math" panose="02040503050406030204" pitchFamily="18" charset="0"/>
                  </a:rPr>
                  <a:t>more sensitive the hash function the more sensitive the decision rule</a:t>
                </a:r>
                <a:endParaRPr lang="en-US" dirty="0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5678227"/>
              </a:xfrm>
              <a:blipFill>
                <a:blip r:embed="rId3"/>
                <a:stretch>
                  <a:fillRect l="-1111" t="-1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870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Locally Sensitive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199742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Model to understand locally sensitive hashing  </a:t>
                </a:r>
              </a:p>
              <a:p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Can visualize relationship between hash function and sensitivity of the decision rule </a:t>
                </a:r>
              </a:p>
              <a:p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Higher sensitivity, 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 and 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, increases probability of correct decision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1997425"/>
              </a:xfrm>
              <a:blipFill>
                <a:blip r:embed="rId3"/>
                <a:stretch>
                  <a:fillRect l="-952" t="-7951" b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FF35517-4F73-4034-8FDD-6EB5CD007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6002" y="2902336"/>
            <a:ext cx="5403998" cy="36249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468D23-BF29-497D-A119-A80232340E6A}"/>
              </a:ext>
            </a:extLst>
          </p:cNvPr>
          <p:cNvSpPr txBox="1"/>
          <p:nvPr/>
        </p:nvSpPr>
        <p:spPr>
          <a:xfrm>
            <a:off x="3241040" y="6527264"/>
            <a:ext cx="4942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Credit; </a:t>
            </a:r>
            <a:r>
              <a:rPr lang="en-US" dirty="0" err="1"/>
              <a:t>Leskovec</a:t>
            </a:r>
            <a:r>
              <a:rPr lang="en-US" dirty="0"/>
              <a:t> et.al. 2020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D5231F-CF4C-88FC-DE8E-FF7D0CAA88A2}"/>
              </a:ext>
            </a:extLst>
          </p:cNvPr>
          <p:cNvSpPr txBox="1"/>
          <p:nvPr/>
        </p:nvSpPr>
        <p:spPr>
          <a:xfrm>
            <a:off x="6824421" y="5014144"/>
            <a:ext cx="1007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False Positive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6B24DD-E961-A0FF-562A-F974593993CF}"/>
              </a:ext>
            </a:extLst>
          </p:cNvPr>
          <p:cNvSpPr txBox="1"/>
          <p:nvPr/>
        </p:nvSpPr>
        <p:spPr>
          <a:xfrm>
            <a:off x="3985645" y="2782669"/>
            <a:ext cx="1097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False Negative</a:t>
            </a:r>
          </a:p>
        </p:txBody>
      </p:sp>
    </p:spTree>
    <p:extLst>
      <p:ext uri="{BB962C8B-B14F-4D97-AF65-F5344CB8AC3E}">
        <p14:creationId xmlns:p14="http://schemas.microsoft.com/office/powerpoint/2010/main" val="13168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  <p:bldP spid="7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LSH for Cosine 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270000"/>
                <a:ext cx="11010128" cy="5486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family for cosine distance hashes 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Using cosine hashes,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iif</a:t>
                </a:r>
                <a:r>
                  <a:rPr lang="en-US" dirty="0">
                    <a:latin typeface="+mn-lt"/>
                  </a:rPr>
                  <a:t> the dot products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latin typeface="+mn-lt"/>
                  </a:rPr>
                  <a:t> have the same sign, then: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𝑠𝑒𝑛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270000"/>
                <a:ext cx="11010128" cy="5486400"/>
              </a:xfrm>
              <a:blipFill>
                <a:blip r:embed="rId3"/>
                <a:stretch>
                  <a:fillRect l="-1163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2843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LSH for Numeric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270000"/>
                <a:ext cx="11010128" cy="5486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Use sketches to simplify cosine distance LSH  </a:t>
                </a:r>
              </a:p>
              <a:p>
                <a:r>
                  <a:rPr lang="en-US" dirty="0">
                    <a:latin typeface="+mn-lt"/>
                  </a:rPr>
                  <a:t>Need to compute a number of hashes to accurately estimate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>
                  <a:latin typeface="Symbol" panose="05050102010706020507" pitchFamily="18" charset="2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Must average out error of each hash (estimate)   </a:t>
                </a:r>
              </a:p>
              <a:p>
                <a:r>
                  <a:rPr lang="en-US" dirty="0">
                    <a:latin typeface="+mn-lt"/>
                  </a:rPr>
                  <a:t>Sketches can speed this calculation  </a:t>
                </a:r>
              </a:p>
              <a:p>
                <a:r>
                  <a:rPr lang="en-US" dirty="0">
                    <a:latin typeface="+mn-lt"/>
                  </a:rPr>
                  <a:t>Use </a:t>
                </a:r>
                <a:r>
                  <a:rPr lang="en-US" b="1" dirty="0">
                    <a:latin typeface="+mn-lt"/>
                  </a:rPr>
                  <a:t>random vectors (random projections) with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latin typeface="+mn-lt"/>
                  </a:rPr>
                  <a:t> values</a:t>
                </a:r>
                <a:r>
                  <a:rPr lang="en-US" dirty="0">
                    <a:latin typeface="+mn-lt"/>
                  </a:rPr>
                  <a:t>, </a:t>
                </a:r>
              </a:p>
              <a:p>
                <a:pPr lvl="1"/>
                <a:r>
                  <a:rPr lang="en-US" dirty="0">
                    <a:latin typeface="+mn-lt"/>
                  </a:rPr>
                  <a:t>Example,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+1,−1,−1,+1,…,−1</m:t>
                        </m:r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Hash family,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>
                    <a:latin typeface="+mn-lt"/>
                  </a:rPr>
                  <a:t>, is </a:t>
                </a:r>
                <a:r>
                  <a:rPr lang="en-US" b="1" dirty="0">
                    <a:latin typeface="+mn-lt"/>
                  </a:rPr>
                  <a:t>sign of dot products </a:t>
                </a:r>
                <a:r>
                  <a:rPr lang="en-US" dirty="0">
                    <a:latin typeface="+mn-lt"/>
                  </a:rPr>
                  <a:t>of variables with random vectors </a:t>
                </a:r>
              </a:p>
              <a:p>
                <a:r>
                  <a:rPr lang="en-US" dirty="0">
                    <a:latin typeface="+mn-lt"/>
                  </a:rPr>
                  <a:t>For d dimensional data, limited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possible hashes</a:t>
                </a:r>
              </a:p>
              <a:p>
                <a:pPr lvl="1"/>
                <a:r>
                  <a:rPr lang="en-US" dirty="0">
                    <a:latin typeface="+mn-lt"/>
                  </a:rPr>
                  <a:t>Most useful for very high-dimensional variables  </a:t>
                </a:r>
              </a:p>
              <a:p>
                <a:r>
                  <a:rPr lang="en-US" dirty="0">
                    <a:latin typeface="+mn-lt"/>
                  </a:rPr>
                  <a:t>See the MMDS book for similar method for Euclidean spaces </a:t>
                </a: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270000"/>
                <a:ext cx="11010128" cy="5486400"/>
              </a:xfrm>
              <a:blipFill>
                <a:blip r:embed="rId3"/>
                <a:stretch>
                  <a:fillRect l="-1163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131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918EC-026C-7594-F28D-F78931F33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7A8FF-540B-108A-CABA-DEF508180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86995889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6050" y="977769"/>
            <a:ext cx="11010128" cy="5309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Summary of algorithms discussed: See also </a:t>
            </a:r>
            <a:r>
              <a:rPr lang="en-US" dirty="0">
                <a:latin typeface="+mn-lt"/>
                <a:hlinkClick r:id="rId3"/>
              </a:rPr>
              <a:t>this page</a:t>
            </a:r>
            <a:r>
              <a:rPr lang="en-US" dirty="0">
                <a:latin typeface="+mn-lt"/>
              </a:rPr>
              <a:t> in the FAISS Wiki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534B26-0E2D-BC96-2A6E-5DC1EF478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613747"/>
              </p:ext>
            </p:extLst>
          </p:nvPr>
        </p:nvGraphicFramePr>
        <p:xfrm>
          <a:off x="505238" y="1508723"/>
          <a:ext cx="11071751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011">
                  <a:extLst>
                    <a:ext uri="{9D8B030D-6E8A-4147-A177-3AD203B41FA5}">
                      <a16:colId xmlns:a16="http://schemas.microsoft.com/office/drawing/2014/main" val="1280803350"/>
                    </a:ext>
                  </a:extLst>
                </a:gridCol>
                <a:gridCol w="3413108">
                  <a:extLst>
                    <a:ext uri="{9D8B030D-6E8A-4147-A177-3AD203B41FA5}">
                      <a16:colId xmlns:a16="http://schemas.microsoft.com/office/drawing/2014/main" val="3815494307"/>
                    </a:ext>
                  </a:extLst>
                </a:gridCol>
                <a:gridCol w="1378935">
                  <a:extLst>
                    <a:ext uri="{9D8B030D-6E8A-4147-A177-3AD203B41FA5}">
                      <a16:colId xmlns:a16="http://schemas.microsoft.com/office/drawing/2014/main" val="4123305998"/>
                    </a:ext>
                  </a:extLst>
                </a:gridCol>
                <a:gridCol w="1457172">
                  <a:extLst>
                    <a:ext uri="{9D8B030D-6E8A-4147-A177-3AD203B41FA5}">
                      <a16:colId xmlns:a16="http://schemas.microsoft.com/office/drawing/2014/main" val="2666986122"/>
                    </a:ext>
                  </a:extLst>
                </a:gridCol>
                <a:gridCol w="1462062">
                  <a:extLst>
                    <a:ext uri="{9D8B030D-6E8A-4147-A177-3AD203B41FA5}">
                      <a16:colId xmlns:a16="http://schemas.microsoft.com/office/drawing/2014/main" val="2417303005"/>
                    </a:ext>
                  </a:extLst>
                </a:gridCol>
                <a:gridCol w="2012463">
                  <a:extLst>
                    <a:ext uri="{9D8B030D-6E8A-4147-A177-3AD203B41FA5}">
                      <a16:colId xmlns:a16="http://schemas.microsoft.com/office/drawing/2014/main" val="1594176011"/>
                    </a:ext>
                  </a:extLst>
                </a:gridCol>
              </a:tblGrid>
              <a:tr h="38853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Dataset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Query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Metrics  Typically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185920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KD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Small to medium, low-dimensional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Minkowski, also see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hlinkClick r:id="rId4"/>
                        </a:rPr>
                        <a:t>Sklean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4"/>
                        </a:rPr>
                        <a:t> docs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680754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Small stand-alone – typically combined with other 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84657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IVF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255330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 - higher than IVF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 - higher than IVF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903523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 size and very high 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Jaccard, Hamming, Cosine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175591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PQ, RPQ, OPQ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 to Massive if  combined with IVF-IMI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 – high compression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 to 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699454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HNSW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 to large if combined with IVF-IMI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 to 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195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680611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42FD8-CE3C-CC63-5E1E-58B986E5E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B7985-700F-9631-4B45-04BEA788B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2E5C6-0509-2B6A-52A7-7E037E2F34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6050" y="977769"/>
            <a:ext cx="11010128" cy="5486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Key points for this lesson</a:t>
            </a:r>
          </a:p>
          <a:p>
            <a:r>
              <a:rPr lang="en-US" dirty="0">
                <a:latin typeface="+mn-lt"/>
              </a:rPr>
              <a:t>Exact nearest neighbor search is not scalable to massive dataset</a:t>
            </a:r>
          </a:p>
          <a:p>
            <a:r>
              <a:rPr lang="en-US" dirty="0">
                <a:latin typeface="+mn-lt"/>
              </a:rPr>
              <a:t>Broadly, there are four classes of ANNS algorithms    </a:t>
            </a:r>
          </a:p>
          <a:p>
            <a:pPr lvl="1"/>
            <a:r>
              <a:rPr lang="en-US" b="1" dirty="0">
                <a:latin typeface="+mn-lt"/>
              </a:rPr>
              <a:t>Tree</a:t>
            </a:r>
            <a:r>
              <a:rPr lang="en-US" dirty="0">
                <a:latin typeface="+mn-lt"/>
              </a:rPr>
              <a:t> search</a:t>
            </a:r>
          </a:p>
          <a:p>
            <a:pPr lvl="1"/>
            <a:r>
              <a:rPr lang="en-US" b="1" dirty="0">
                <a:latin typeface="+mn-lt"/>
              </a:rPr>
              <a:t>Hash</a:t>
            </a:r>
            <a:r>
              <a:rPr lang="en-US" dirty="0">
                <a:latin typeface="+mn-lt"/>
              </a:rPr>
              <a:t>-based search</a:t>
            </a:r>
            <a:endParaRPr lang="en-US" b="1" dirty="0">
              <a:latin typeface="+mn-lt"/>
            </a:endParaRPr>
          </a:p>
          <a:p>
            <a:pPr lvl="1"/>
            <a:r>
              <a:rPr lang="en-US" b="1" dirty="0">
                <a:latin typeface="+mn-lt"/>
              </a:rPr>
              <a:t>Quantization</a:t>
            </a:r>
            <a:r>
              <a:rPr lang="en-US" dirty="0">
                <a:latin typeface="+mn-lt"/>
              </a:rPr>
              <a:t>-based search</a:t>
            </a:r>
          </a:p>
          <a:p>
            <a:pPr lvl="1"/>
            <a:r>
              <a:rPr lang="en-US" b="1" dirty="0">
                <a:latin typeface="+mn-lt"/>
              </a:rPr>
              <a:t>Graph</a:t>
            </a:r>
            <a:r>
              <a:rPr lang="en-US" dirty="0">
                <a:latin typeface="+mn-lt"/>
              </a:rPr>
              <a:t> search</a:t>
            </a:r>
          </a:p>
          <a:p>
            <a:r>
              <a:rPr lang="en-US" dirty="0">
                <a:latin typeface="+mn-lt"/>
              </a:rPr>
              <a:t>ANNS on massive datasets requires trade-offs between performance characteristics      </a:t>
            </a:r>
          </a:p>
          <a:p>
            <a:pPr lvl="1"/>
            <a:r>
              <a:rPr lang="en-US" b="1" dirty="0">
                <a:latin typeface="+mn-lt"/>
              </a:rPr>
              <a:t>Recall</a:t>
            </a:r>
          </a:p>
          <a:p>
            <a:pPr lvl="1"/>
            <a:r>
              <a:rPr lang="en-US" b="1" dirty="0">
                <a:latin typeface="+mn-lt"/>
              </a:rPr>
              <a:t>Memory</a:t>
            </a:r>
          </a:p>
          <a:p>
            <a:pPr lvl="1"/>
            <a:r>
              <a:rPr lang="en-US" b="1" dirty="0">
                <a:latin typeface="+mn-lt"/>
              </a:rPr>
              <a:t>Query speed</a:t>
            </a:r>
          </a:p>
          <a:p>
            <a:r>
              <a:rPr lang="en-US" dirty="0">
                <a:latin typeface="+mn-lt"/>
              </a:rPr>
              <a:t>Can apply different distance metrics to ANNS </a:t>
            </a:r>
          </a:p>
          <a:p>
            <a:r>
              <a:rPr lang="en-US" dirty="0">
                <a:latin typeface="+mn-lt"/>
              </a:rPr>
              <a:t>Composite index can achieve greater performance  </a:t>
            </a: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8380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29982</TotalTime>
  <Words>7170</Words>
  <Application>Microsoft Office PowerPoint</Application>
  <PresentationFormat>Widescreen</PresentationFormat>
  <Paragraphs>1437</Paragraphs>
  <Slides>111</Slides>
  <Notes>98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21" baseType="lpstr">
      <vt:lpstr>__gtPlanar_9a6492</vt:lpstr>
      <vt:lpstr>Arial</vt:lpstr>
      <vt:lpstr>Calibri</vt:lpstr>
      <vt:lpstr>Calibri Light</vt:lpstr>
      <vt:lpstr>Cambria Math</vt:lpstr>
      <vt:lpstr>Courier New</vt:lpstr>
      <vt:lpstr>Segoe UI</vt:lpstr>
      <vt:lpstr>Segoe UI Light</vt:lpstr>
      <vt:lpstr>Symbol</vt:lpstr>
      <vt:lpstr>Office Theme</vt:lpstr>
      <vt:lpstr>CSCI E-96 Data Mining, Discovery and Exploration Efficient Similarity Search</vt:lpstr>
      <vt:lpstr>Main topics in this course </vt:lpstr>
      <vt:lpstr>Similarity Search at Scale</vt:lpstr>
      <vt:lpstr>Similarity Search at Scale</vt:lpstr>
      <vt:lpstr>Similarity Search at Scale</vt:lpstr>
      <vt:lpstr>Similarity Search at Scale</vt:lpstr>
      <vt:lpstr>Similarity Search at Scale</vt:lpstr>
      <vt:lpstr>Similarity Search at Scale</vt:lpstr>
      <vt:lpstr>Similarity Search at Scale</vt:lpstr>
      <vt:lpstr>Similarity Search at Scale</vt:lpstr>
      <vt:lpstr>Flat Similarity Search</vt:lpstr>
      <vt:lpstr>Flat similarity search finds exact solution </vt:lpstr>
      <vt:lpstr>Flat similarity search finds exact solution </vt:lpstr>
      <vt:lpstr>Flat similarity search finds exact solution </vt:lpstr>
      <vt:lpstr>Evaluation of ANNS</vt:lpstr>
      <vt:lpstr>Evaluation of ANNS</vt:lpstr>
      <vt:lpstr>Evaluation of ANNS</vt:lpstr>
      <vt:lpstr>Evaluation of ANNS</vt:lpstr>
      <vt:lpstr>Evaluation of ANNS</vt:lpstr>
      <vt:lpstr>Evaluation of ANNS</vt:lpstr>
      <vt:lpstr>Inverted File Systems</vt:lpstr>
      <vt:lpstr>Inverted file systems enable look-up by value</vt:lpstr>
      <vt:lpstr>Inverted file systems enable look-up by value</vt:lpstr>
      <vt:lpstr>Building KD-Trees</vt:lpstr>
      <vt:lpstr>KD-Trees</vt:lpstr>
      <vt:lpstr>KD-Trees</vt:lpstr>
      <vt:lpstr>KD-Trees</vt:lpstr>
      <vt:lpstr>KD-Trees</vt:lpstr>
      <vt:lpstr>KD-Trees</vt:lpstr>
      <vt:lpstr>KD-Trees</vt:lpstr>
      <vt:lpstr>KD-Trees</vt:lpstr>
      <vt:lpstr>KD-Trees</vt:lpstr>
      <vt:lpstr>Similarity Queries on KD-Trees</vt:lpstr>
      <vt:lpstr>KD-Trees</vt:lpstr>
      <vt:lpstr>KD-Trees</vt:lpstr>
      <vt:lpstr>KD-Trees</vt:lpstr>
      <vt:lpstr>KD-Trees</vt:lpstr>
      <vt:lpstr>KD-Trees</vt:lpstr>
      <vt:lpstr>KD-Trees</vt:lpstr>
      <vt:lpstr>KD-Trees</vt:lpstr>
      <vt:lpstr>KD-Trees</vt:lpstr>
      <vt:lpstr>Coarse Quantization</vt:lpstr>
      <vt:lpstr>Coarse quantization divides the search region</vt:lpstr>
      <vt:lpstr>Coarse quantization divides the search region</vt:lpstr>
      <vt:lpstr>Coarse quantization divides the search region</vt:lpstr>
      <vt:lpstr>Coarse quantization divides the search region</vt:lpstr>
      <vt:lpstr>Coarse quantization divides the search region</vt:lpstr>
      <vt:lpstr>Coarse quantization divides the search region</vt:lpstr>
      <vt:lpstr>Coarse quantization divides the search region</vt:lpstr>
      <vt:lpstr>Coarse quantization divides the search region</vt:lpstr>
      <vt:lpstr>Coarse quantization divides the search region</vt:lpstr>
      <vt:lpstr>Product Quantization</vt:lpstr>
      <vt:lpstr>Product Quantization </vt:lpstr>
      <vt:lpstr>Product Quantization </vt:lpstr>
      <vt:lpstr>Product Quantization </vt:lpstr>
      <vt:lpstr>Product Quantization </vt:lpstr>
      <vt:lpstr>Product Quantization </vt:lpstr>
      <vt:lpstr>Product Quantization </vt:lpstr>
      <vt:lpstr>Product Quantization </vt:lpstr>
      <vt:lpstr>Product Quantization </vt:lpstr>
      <vt:lpstr>Product Quantization </vt:lpstr>
      <vt:lpstr>Performance of the PQ algorithm </vt:lpstr>
      <vt:lpstr>Improving Basic Quantization </vt:lpstr>
      <vt:lpstr>Improving Basic Quantization </vt:lpstr>
      <vt:lpstr>Improvements Basic Product Quantization </vt:lpstr>
      <vt:lpstr>Improvements Basic Product Quantization </vt:lpstr>
      <vt:lpstr>Hierarchical Navigable Small World (HNSW) Graphs</vt:lpstr>
      <vt:lpstr>Hierarchical Navigable Small World Graphs</vt:lpstr>
      <vt:lpstr>Proximity Graphs</vt:lpstr>
      <vt:lpstr>Navigable Small World Graphs</vt:lpstr>
      <vt:lpstr>Navigable Small World Graphs</vt:lpstr>
      <vt:lpstr>Navigable Small World Graphs</vt:lpstr>
      <vt:lpstr>Hierarchical Navigable Small World Graphs</vt:lpstr>
      <vt:lpstr>Hierarchical Navigable Small World Graphs</vt:lpstr>
      <vt:lpstr>Hierarchical Navigable Small World Graphs</vt:lpstr>
      <vt:lpstr>Hierarchical Navigable Small World Graphs</vt:lpstr>
      <vt:lpstr>Hierarchical Navigable Small World Graphs</vt:lpstr>
      <vt:lpstr>Hierarchical Navigable Small World Graphs</vt:lpstr>
      <vt:lpstr>Hierarchical Navigable Small World Graphs</vt:lpstr>
      <vt:lpstr>Constructing NSW Graphs</vt:lpstr>
      <vt:lpstr>Optimizing HNSW graph   </vt:lpstr>
      <vt:lpstr>Optimizing HNSW ANNS  </vt:lpstr>
      <vt:lpstr>Optimizing HNSW graph   </vt:lpstr>
      <vt:lpstr>Optimizing HNSW graph   </vt:lpstr>
      <vt:lpstr>Optimizing HNSW graph   </vt:lpstr>
      <vt:lpstr>Composite Indices</vt:lpstr>
      <vt:lpstr>Composite Indices </vt:lpstr>
      <vt:lpstr>Product Quantization as a Refinement</vt:lpstr>
      <vt:lpstr>Composite Indices </vt:lpstr>
      <vt:lpstr>Composite Indices </vt:lpstr>
      <vt:lpstr>Composite Indices </vt:lpstr>
      <vt:lpstr>Composite Indices </vt:lpstr>
      <vt:lpstr>Composite Indices </vt:lpstr>
      <vt:lpstr>Composite Indices </vt:lpstr>
      <vt:lpstr>Composite Indices </vt:lpstr>
      <vt:lpstr>Composite Indices </vt:lpstr>
      <vt:lpstr>LSH for Cosine Distance</vt:lpstr>
      <vt:lpstr>Mini-Hashing Numeric Variables</vt:lpstr>
      <vt:lpstr>Mini-Hashing Numeric Variables  </vt:lpstr>
      <vt:lpstr>Mini-Hashing Numeric Variables  </vt:lpstr>
      <vt:lpstr>Mini-Hashing Numeric Variables  </vt:lpstr>
      <vt:lpstr>Locally Sensitive Hashing</vt:lpstr>
      <vt:lpstr>Locally Sensitive Hashing</vt:lpstr>
      <vt:lpstr>Locally Sensitive Hashing</vt:lpstr>
      <vt:lpstr>Locally Sensitive Functions</vt:lpstr>
      <vt:lpstr>Locally Sensitive Functions</vt:lpstr>
      <vt:lpstr>LSH for Cosine Similarity</vt:lpstr>
      <vt:lpstr>LSH for Numeric Variables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E-96 Data Mining, Discovery and Exploration Similarity Measres</dc:title>
  <dc:creator>Stephe Elston</dc:creator>
  <cp:lastModifiedBy>Stephen Elston</cp:lastModifiedBy>
  <cp:revision>910</cp:revision>
  <dcterms:created xsi:type="dcterms:W3CDTF">2021-06-01T18:04:30Z</dcterms:created>
  <dcterms:modified xsi:type="dcterms:W3CDTF">2026-07-15T01:47:47Z</dcterms:modified>
</cp:coreProperties>
</file>