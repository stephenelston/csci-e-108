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718" r:id="rId2"/>
    <p:sldId id="267" r:id="rId3"/>
    <p:sldId id="298" r:id="rId4"/>
    <p:sldId id="379" r:id="rId5"/>
    <p:sldId id="299" r:id="rId6"/>
    <p:sldId id="30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5" autoAdjust="0"/>
    <p:restoredTop sz="94660"/>
  </p:normalViewPr>
  <p:slideViewPr>
    <p:cSldViewPr snapToGrid="0">
      <p:cViewPr varScale="1">
        <p:scale>
          <a:sx n="73" d="100"/>
          <a:sy n="73" d="100"/>
        </p:scale>
        <p:origin x="662" y="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D1703-2F05-8D05-EE0F-0F4A7AD90B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8F7495-3B6E-31EC-EABF-D0C387FF92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6C03C3-EACF-3982-2959-B5B6DDFB0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3794B-52CC-5C05-FFBE-3F52A1592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F4678C-1DD8-9132-2D53-DEE232233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829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B2472-36BB-A2A1-1408-C1124BFA4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0D0A13-FC23-BFB0-EFDA-A40B86650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EE59B-834A-E5A8-E01C-A0486A860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5B3293-ED6D-7888-3CF0-01FA69C4E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7509AC-CF65-8E78-7892-7C00C4489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3306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4BC77-4649-816E-2065-F5FC3A61B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7557E1-65E2-42B8-A529-7577B49C91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B5647-3439-3753-3AAC-939BF6CBB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F8E67-FADE-8990-D574-FA6D73F23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61468D-FFF6-C0F9-3E79-A5AC533C8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791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C29A5-82BF-ED19-EA16-6B44EC9A5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D76BA0-789A-3A64-73A4-B1F24E39B2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7E0882-7179-4609-96AA-F0520A855C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FBAA30-1700-41B1-DB74-C63ED833D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C81454-C0BC-2F48-D7D3-F551BE6EA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B8C721-A93A-B61C-2977-29816AC76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326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EF49C-6C67-7E84-C5E3-7D8E7C5D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B5957E-52F7-5F89-09D1-1B56C0081C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D4DF31-25A7-0C20-CC62-F6AE4ECCBF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89DF33-8BED-2D87-1350-5F5A1181BC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8B75FE-6A39-B9F6-7745-DC4186B11E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9FD8D6-2F3C-67E8-9FEE-14739246A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B07B15-F01A-BF9A-4CBB-7BF0D6332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1796A3-9CB2-FE2F-033E-A2280735D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124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FB4D4-849B-7233-02A5-221AF0212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959BBE-01DB-2687-3F0D-AF73FCF12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7B5B35-8DFC-6933-ADAD-BCF46CF84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8B4793-6566-9360-BC77-24C0DA515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261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29C36D-949F-1BAC-1983-EE03C0667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DA893A-1C24-ADD9-C9EE-FCBAE314E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F5AA86-C376-3677-C488-948EFB0DD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829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01406-EFBD-7E8A-0456-EC074D173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2B1EF-D3C4-AB99-B9A3-C57188E189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090042-282C-249B-FB70-63A8BD26A8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0D6428-1AEE-0767-C9A6-8BDCD335B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5C7A7-D733-085B-CD6F-673CE22B3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1934C0-B918-19C7-B8F8-32B83698E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76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AEF1F-9E20-6141-52A9-20455ADFE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E6B255-5689-7727-0FE7-80CFD3FDBE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DDA255-5EBF-0690-00E6-592D3B0FF9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D090DE-B259-8ABB-0494-B901F5EF2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C03FEB-F31E-748B-51EC-A3FFFBE8B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E5311A-3EEB-C866-1A0D-EB8A58DC7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255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31242-B962-8C24-D64C-106FC0F23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1F0A53-2425-9069-EBC2-0C341176F8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747C09-DB82-D270-7A47-4178F843F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DBABE6-DECF-6567-01FF-6F3478A29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0FA6F-1B0A-5C45-7CB9-8160DFAAF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0082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5490F0-3873-7881-B50B-241B608791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B53F49-32CA-C786-866A-15A0934C9D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B81F46-ED60-CC42-BE07-CA4965FF8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9270F6-C24C-5A53-BD8C-9A677D793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3E9C5-14BE-996D-F500-6CAED9B5D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03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3CAB18-4865-1378-4E12-1D639702F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BD419-71FD-BADA-43DF-C32F12C54C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0D0FF9-A733-578A-91F0-531DD1C9A6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EA29B2-5B60-4524-9406-F439795E8972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C3541B-E87A-621F-4E0B-450BC62529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7E82A-B26C-EF1A-772E-16D3884F42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1BB037-B5BA-474B-8297-8E3252CFE1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1150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636650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Graduate Independent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522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F2317F-F47E-4078-8A9E-272A9AB83B75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2026,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6398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7A298-CF0B-4DBD-AA56-ED741A667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Graduate Independent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7A62E-6F15-4A4E-83F9-507340DBC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8632"/>
            <a:ext cx="10515600" cy="536424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Required if you are enrolled for Graduate Credit</a:t>
            </a:r>
          </a:p>
          <a:p>
            <a:r>
              <a:rPr lang="en-US" dirty="0"/>
              <a:t>Project proposal and final report comprise </a:t>
            </a:r>
            <a:r>
              <a:rPr lang="en-US" b="1" dirty="0"/>
              <a:t>25% of overall grade</a:t>
            </a:r>
            <a:r>
              <a:rPr lang="en-US" dirty="0"/>
              <a:t>! </a:t>
            </a:r>
          </a:p>
          <a:p>
            <a:r>
              <a:rPr lang="en-US" dirty="0"/>
              <a:t>Your chance to pull the concepts of the course together and show what you can do</a:t>
            </a:r>
          </a:p>
          <a:p>
            <a:pPr lvl="1"/>
            <a:r>
              <a:rPr lang="en-US" dirty="0"/>
              <a:t>Good addition to your data science portfolio</a:t>
            </a:r>
          </a:p>
          <a:p>
            <a:r>
              <a:rPr lang="en-US" dirty="0"/>
              <a:t>Working independently, you will: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Select a data set and </a:t>
            </a:r>
            <a:r>
              <a:rPr lang="en-US" b="1" dirty="0"/>
              <a:t>problem of interest to you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Explore and understand the data set in depth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Submit a project proposal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Use data mining methods within the scope of the course to extract information and discover relationships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Write and submit a professional quality report</a:t>
            </a:r>
          </a:p>
          <a:p>
            <a:r>
              <a:rPr lang="en-US" dirty="0"/>
              <a:t>Please see Assignments tab in Canvas for specific grading criteria </a:t>
            </a:r>
          </a:p>
          <a:p>
            <a:r>
              <a:rPr lang="en-US" dirty="0"/>
              <a:t>Example proposals an reports under the </a:t>
            </a:r>
            <a:r>
              <a:rPr lang="en-US" dirty="0" err="1"/>
              <a:t>Moduels</a:t>
            </a:r>
            <a:r>
              <a:rPr lang="en-US" dirty="0"/>
              <a:t> tab in Canvas</a:t>
            </a:r>
          </a:p>
        </p:txBody>
      </p:sp>
    </p:spTree>
    <p:extLst>
      <p:ext uri="{BB962C8B-B14F-4D97-AF65-F5344CB8AC3E}">
        <p14:creationId xmlns:p14="http://schemas.microsoft.com/office/powerpoint/2010/main" val="4216978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7A298-CF0B-4DBD-AA56-ED741A667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823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Graduate Independent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7A62E-6F15-4A4E-83F9-507340DBC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9082"/>
            <a:ext cx="10515600" cy="55177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What constitutes a suitable project? </a:t>
            </a:r>
          </a:p>
          <a:p>
            <a:r>
              <a:rPr lang="en-US" dirty="0"/>
              <a:t>Must be focused on data mining methods and algorithms </a:t>
            </a:r>
          </a:p>
          <a:p>
            <a:pPr lvl="1"/>
            <a:r>
              <a:rPr lang="en-US" dirty="0"/>
              <a:t>Methods and algorithms within the scope of the course</a:t>
            </a:r>
          </a:p>
          <a:p>
            <a:pPr lvl="1"/>
            <a:r>
              <a:rPr lang="en-US" dirty="0"/>
              <a:t>Primary </a:t>
            </a:r>
            <a:r>
              <a:rPr lang="en-US" b="1" dirty="0"/>
              <a:t>focus on graph, online, similarity search, and unsupervised learning methods</a:t>
            </a:r>
          </a:p>
          <a:p>
            <a:pPr lvl="1"/>
            <a:r>
              <a:rPr lang="en-US" dirty="0"/>
              <a:t>This in not a supervised learning course: </a:t>
            </a:r>
            <a:r>
              <a:rPr lang="en-US" b="1" dirty="0">
                <a:solidFill>
                  <a:srgbClr val="C00000"/>
                </a:solidFill>
              </a:rPr>
              <a:t>supervised machine learning is not appropriate!</a:t>
            </a:r>
            <a:r>
              <a:rPr lang="en-US" dirty="0"/>
              <a:t>: e.g. no regression or classifiers!</a:t>
            </a:r>
            <a:endParaRPr lang="en-US" b="1" dirty="0">
              <a:solidFill>
                <a:srgbClr val="C00000"/>
              </a:solidFill>
            </a:endParaRPr>
          </a:p>
          <a:p>
            <a:pPr lvl="1"/>
            <a:r>
              <a:rPr lang="en-US" dirty="0"/>
              <a:t>Use </a:t>
            </a:r>
            <a:r>
              <a:rPr lang="en-US" b="1" dirty="0">
                <a:solidFill>
                  <a:srgbClr val="C00000"/>
                </a:solidFill>
              </a:rPr>
              <a:t>multiple algorithms and/or hyperparameters</a:t>
            </a:r>
            <a:r>
              <a:rPr lang="en-US" dirty="0"/>
              <a:t>, e.g. clustering project must go beyond k-means and </a:t>
            </a:r>
            <a:r>
              <a:rPr lang="en-US" b="1" dirty="0">
                <a:solidFill>
                  <a:srgbClr val="FF0000"/>
                </a:solidFill>
              </a:rPr>
              <a:t>apply several modern methods!</a:t>
            </a:r>
          </a:p>
          <a:p>
            <a:r>
              <a:rPr lang="en-US" dirty="0"/>
              <a:t>Sufficient publicly available data – ask instructor for exceptions</a:t>
            </a:r>
          </a:p>
          <a:p>
            <a:r>
              <a:rPr lang="en-US" dirty="0"/>
              <a:t>Appropriate scope </a:t>
            </a:r>
          </a:p>
          <a:p>
            <a:pPr lvl="1"/>
            <a:r>
              <a:rPr lang="en-US" dirty="0"/>
              <a:t>If you have sufficient background (e.g. course prerequisites) expect to </a:t>
            </a:r>
            <a:r>
              <a:rPr lang="en-US" b="1" dirty="0"/>
              <a:t>spend about 80 hours on your project</a:t>
            </a:r>
          </a:p>
          <a:p>
            <a:pPr lvl="1"/>
            <a:r>
              <a:rPr lang="en-US" dirty="0"/>
              <a:t>If you are building key skills (e.g. programming, statistics) additional effort will be required</a:t>
            </a:r>
          </a:p>
        </p:txBody>
      </p:sp>
    </p:spTree>
    <p:extLst>
      <p:ext uri="{BB962C8B-B14F-4D97-AF65-F5344CB8AC3E}">
        <p14:creationId xmlns:p14="http://schemas.microsoft.com/office/powerpoint/2010/main" val="3719467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7A298-CF0B-4DBD-AA56-ED741A667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823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Graduate Independent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7A62E-6F15-4A4E-83F9-507340DBC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88829"/>
            <a:ext cx="10515600" cy="580537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Suitable projects – only ideas, pick a project that interests you:</a:t>
            </a:r>
          </a:p>
          <a:p>
            <a:r>
              <a:rPr lang="en-US" dirty="0"/>
              <a:t>Suitable methods include, but not limited to:   </a:t>
            </a:r>
          </a:p>
          <a:p>
            <a:pPr lvl="1"/>
            <a:r>
              <a:rPr lang="en-US" dirty="0"/>
              <a:t>Unsupervised learning – many possible models</a:t>
            </a:r>
          </a:p>
          <a:p>
            <a:pPr lvl="1"/>
            <a:r>
              <a:rPr lang="en-US" dirty="0"/>
              <a:t>Large scale similarity searches </a:t>
            </a:r>
          </a:p>
          <a:p>
            <a:pPr lvl="1"/>
            <a:r>
              <a:rPr lang="en-US" dirty="0"/>
              <a:t>Online algorithms</a:t>
            </a:r>
          </a:p>
          <a:p>
            <a:pPr lvl="1"/>
            <a:r>
              <a:rPr lang="en-US" dirty="0"/>
              <a:t>Recommenders – can be supervised </a:t>
            </a:r>
          </a:p>
          <a:p>
            <a:pPr lvl="1"/>
            <a:r>
              <a:rPr lang="en-US" dirty="0"/>
              <a:t>Graph models 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No supervised machine learning</a:t>
            </a:r>
            <a:r>
              <a:rPr lang="en-US" b="1" dirty="0"/>
              <a:t>, e.g. no predictive models such as regression or classification!</a:t>
            </a:r>
          </a:p>
          <a:p>
            <a:r>
              <a:rPr lang="en-US" dirty="0"/>
              <a:t>Suitable datasets and problems include, but not limited to:  </a:t>
            </a:r>
          </a:p>
          <a:p>
            <a:pPr lvl="1"/>
            <a:r>
              <a:rPr lang="en-US" dirty="0"/>
              <a:t>Genetic data and gene expression</a:t>
            </a:r>
          </a:p>
          <a:p>
            <a:pPr lvl="1"/>
            <a:r>
              <a:rPr lang="en-US" dirty="0"/>
              <a:t>Text, image and audio data, information retrieval, similarity search, etc.</a:t>
            </a:r>
          </a:p>
          <a:p>
            <a:pPr lvl="1"/>
            <a:r>
              <a:rPr lang="en-US" dirty="0"/>
              <a:t>Streaming and large-scale time series data, event processing   </a:t>
            </a:r>
          </a:p>
          <a:p>
            <a:pPr lvl="1"/>
            <a:r>
              <a:rPr lang="en-US" dirty="0"/>
              <a:t>Product recommendation data </a:t>
            </a:r>
          </a:p>
          <a:p>
            <a:pPr lvl="1"/>
            <a:r>
              <a:rPr lang="en-US" dirty="0"/>
              <a:t>Graph data, social networks, etc. </a:t>
            </a:r>
          </a:p>
          <a:p>
            <a:pPr lvl="1"/>
            <a:r>
              <a:rPr lang="en-US" dirty="0"/>
              <a:t>Etc.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5102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7A298-CF0B-4DBD-AA56-ED741A667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823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Graduate Independent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7A62E-6F15-4A4E-83F9-507340DBC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46375"/>
            <a:ext cx="10515600" cy="566550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Project proposal helps ensure your project have: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Clear and reasonable data mining objective</a:t>
            </a:r>
          </a:p>
          <a:p>
            <a:pPr lvl="1"/>
            <a:r>
              <a:rPr lang="en-US" dirty="0"/>
              <a:t>Must be understandable to non-technical audience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Appropriate scope</a:t>
            </a:r>
          </a:p>
          <a:p>
            <a:pPr lvl="1"/>
            <a:r>
              <a:rPr lang="en-US" dirty="0"/>
              <a:t>Sufficient of analysis and modeling</a:t>
            </a:r>
          </a:p>
          <a:p>
            <a:pPr lvl="1"/>
            <a:r>
              <a:rPr lang="en-US" dirty="0"/>
              <a:t>Not too ambitious!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Required data are available</a:t>
            </a:r>
          </a:p>
          <a:p>
            <a:pPr lvl="1"/>
            <a:r>
              <a:rPr lang="en-US" dirty="0"/>
              <a:t>Complete enough to execute project</a:t>
            </a:r>
          </a:p>
          <a:p>
            <a:pPr lvl="1"/>
            <a:r>
              <a:rPr lang="en-US" dirty="0"/>
              <a:t>Sufficient volume and complexity </a:t>
            </a:r>
          </a:p>
          <a:p>
            <a:pPr lvl="1"/>
            <a:r>
              <a:rPr lang="en-US" dirty="0"/>
              <a:t>But not too massive!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You must show an initial exploration of the dataset!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Outline data preparation steps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Discuss appropriate data mining algorithms</a:t>
            </a:r>
          </a:p>
          <a:p>
            <a:pPr lvl="1"/>
            <a:r>
              <a:rPr lang="en-US" dirty="0"/>
              <a:t>Correctly selected for proposed objective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In scope of course</a:t>
            </a:r>
            <a:r>
              <a:rPr lang="en-US" dirty="0"/>
              <a:t> – see syllabus </a:t>
            </a:r>
            <a:endParaRPr lang="en-US" b="1" dirty="0">
              <a:solidFill>
                <a:srgbClr val="C00000"/>
              </a:solidFill>
            </a:endParaRP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485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7A298-CF0B-4DBD-AA56-ED741A667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823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Graduate Independent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7A62E-6F15-4A4E-83F9-507340DBC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9082"/>
            <a:ext cx="10515600" cy="561051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You will submit a professional quality project report in </a:t>
            </a:r>
            <a:r>
              <a:rPr lang="en-US" b="1" dirty="0">
                <a:solidFill>
                  <a:srgbClr val="C00000"/>
                </a:solidFill>
              </a:rPr>
              <a:t>one Jupyter notebook</a:t>
            </a:r>
            <a:r>
              <a:rPr lang="en-US" b="1" dirty="0"/>
              <a:t>, </a:t>
            </a:r>
            <a:r>
              <a:rPr lang="en-US" dirty="0"/>
              <a:t>including: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Have introduction (summary) stating objectives and conclusions, understandable to the intended non-technical audience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Support conclusions based on evidence gathered in the data mining process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Demonstrate that data has been prepared correctly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Discuss the data exploration and knowledge discovery process</a:t>
            </a:r>
          </a:p>
          <a:p>
            <a:pPr lvl="1"/>
            <a:r>
              <a:rPr lang="en-US" dirty="0"/>
              <a:t>Requires technical depth in discussion 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Must include both explanatory text and graphics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Use appropriate methods and algorithms</a:t>
            </a:r>
          </a:p>
          <a:p>
            <a:pPr lvl="1"/>
            <a:r>
              <a:rPr lang="en-US" b="1" dirty="0"/>
              <a:t>In depth analysis</a:t>
            </a:r>
          </a:p>
          <a:p>
            <a:pPr lvl="1"/>
            <a:r>
              <a:rPr lang="en-US" dirty="0"/>
              <a:t>Improve initial results by </a:t>
            </a:r>
            <a:r>
              <a:rPr lang="en-US" b="1" dirty="0"/>
              <a:t>enhancing methods or using other algorithms</a:t>
            </a:r>
          </a:p>
          <a:p>
            <a:pPr lvl="1"/>
            <a:r>
              <a:rPr lang="en-US" dirty="0"/>
              <a:t>Properly apply up to date algorithms</a:t>
            </a:r>
            <a:r>
              <a:rPr lang="en-US" b="1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Show professional levels of code organization (e.g. use of function, commenting, good variable names,..) in an appendix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1969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613</Words>
  <Application>Microsoft Office PowerPoint</Application>
  <PresentationFormat>Widescreen</PresentationFormat>
  <Paragraphs>74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CSCI E-108 Data Mining, Discovery and Exploration Graduate Independent Project</vt:lpstr>
      <vt:lpstr>Graduate Independent project</vt:lpstr>
      <vt:lpstr>Graduate Independent project</vt:lpstr>
      <vt:lpstr>Graduate Independent project</vt:lpstr>
      <vt:lpstr>Graduate Independent project</vt:lpstr>
      <vt:lpstr>Graduate Independent project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Elston</dc:creator>
  <cp:lastModifiedBy>Stephen Elston</cp:lastModifiedBy>
  <cp:revision>16</cp:revision>
  <dcterms:created xsi:type="dcterms:W3CDTF">2025-07-08T22:11:02Z</dcterms:created>
  <dcterms:modified xsi:type="dcterms:W3CDTF">2026-09-28T22:53:03Z</dcterms:modified>
</cp:coreProperties>
</file>