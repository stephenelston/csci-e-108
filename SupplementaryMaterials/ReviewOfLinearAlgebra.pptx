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8" r:id="rId2"/>
  </p:sldMasterIdLst>
  <p:notesMasterIdLst>
    <p:notesMasterId r:id="rId66"/>
  </p:notesMasterIdLst>
  <p:sldIdLst>
    <p:sldId id="275" r:id="rId3"/>
    <p:sldId id="603" r:id="rId4"/>
    <p:sldId id="769" r:id="rId5"/>
    <p:sldId id="691" r:id="rId6"/>
    <p:sldId id="722" r:id="rId7"/>
    <p:sldId id="724" r:id="rId8"/>
    <p:sldId id="723" r:id="rId9"/>
    <p:sldId id="725" r:id="rId10"/>
    <p:sldId id="726" r:id="rId11"/>
    <p:sldId id="727" r:id="rId12"/>
    <p:sldId id="728" r:id="rId13"/>
    <p:sldId id="729" r:id="rId14"/>
    <p:sldId id="730" r:id="rId15"/>
    <p:sldId id="731" r:id="rId16"/>
    <p:sldId id="732" r:id="rId17"/>
    <p:sldId id="733" r:id="rId18"/>
    <p:sldId id="734" r:id="rId19"/>
    <p:sldId id="735" r:id="rId20"/>
    <p:sldId id="736" r:id="rId21"/>
    <p:sldId id="738" r:id="rId22"/>
    <p:sldId id="768" r:id="rId23"/>
    <p:sldId id="770" r:id="rId24"/>
    <p:sldId id="742" r:id="rId25"/>
    <p:sldId id="739" r:id="rId26"/>
    <p:sldId id="740" r:id="rId27"/>
    <p:sldId id="741" r:id="rId28"/>
    <p:sldId id="743" r:id="rId29"/>
    <p:sldId id="744" r:id="rId30"/>
    <p:sldId id="745" r:id="rId31"/>
    <p:sldId id="746" r:id="rId32"/>
    <p:sldId id="747" r:id="rId33"/>
    <p:sldId id="762" r:id="rId34"/>
    <p:sldId id="763" r:id="rId35"/>
    <p:sldId id="764" r:id="rId36"/>
    <p:sldId id="765" r:id="rId37"/>
    <p:sldId id="766" r:id="rId38"/>
    <p:sldId id="767" r:id="rId39"/>
    <p:sldId id="748" r:id="rId40"/>
    <p:sldId id="749" r:id="rId41"/>
    <p:sldId id="750" r:id="rId42"/>
    <p:sldId id="751" r:id="rId43"/>
    <p:sldId id="752" r:id="rId44"/>
    <p:sldId id="753" r:id="rId45"/>
    <p:sldId id="721" r:id="rId46"/>
    <p:sldId id="698" r:id="rId47"/>
    <p:sldId id="695" r:id="rId48"/>
    <p:sldId id="754" r:id="rId49"/>
    <p:sldId id="699" r:id="rId50"/>
    <p:sldId id="756" r:id="rId51"/>
    <p:sldId id="760" r:id="rId52"/>
    <p:sldId id="755" r:id="rId53"/>
    <p:sldId id="707" r:id="rId54"/>
    <p:sldId id="712" r:id="rId55"/>
    <p:sldId id="713" r:id="rId56"/>
    <p:sldId id="714" r:id="rId57"/>
    <p:sldId id="715" r:id="rId58"/>
    <p:sldId id="720" r:id="rId59"/>
    <p:sldId id="702" r:id="rId60"/>
    <p:sldId id="700" r:id="rId61"/>
    <p:sldId id="758" r:id="rId62"/>
    <p:sldId id="761" r:id="rId63"/>
    <p:sldId id="701" r:id="rId64"/>
    <p:sldId id="716" r:id="rId6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58" autoAdjust="0"/>
  </p:normalViewPr>
  <p:slideViewPr>
    <p:cSldViewPr snapToGrid="0">
      <p:cViewPr varScale="1">
        <p:scale>
          <a:sx n="73" d="100"/>
          <a:sy n="73" d="100"/>
        </p:scale>
        <p:origin x="67" y="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60DB7-3564-4028-881B-4A225B453265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153DAB-225E-4C94-B4AB-0DAFDAA76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604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153DAB-225E-4C94-B4AB-0DAFDAA76FD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1194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20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7B5B4-67E8-4143-C22E-87B6817EB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1CB938-E69D-65A0-8446-6B35462F8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222C15-F970-EA62-6FE6-E299B04A1C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DFAB42-3070-C9C6-1A18-DD01BFB1C2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210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726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684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287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58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7687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709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862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5154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9153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3138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1917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0459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367C1-E42D-F8F5-2498-E61496CEE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5C0468-FBE3-5037-9276-60255BA6F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75738B-35C8-993A-8826-67BC10521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73063-BBA5-DF2A-2ADE-79D0EEEA21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6776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32918-C2DA-0C79-7240-AD1B3E10D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8D6CF4-54D9-AE96-74F6-D81281ADF3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A9A943-1F28-B98F-3AB1-435E6C198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E1A63B-EC35-BADD-5495-BB3F5FB6AB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4855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459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9466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41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670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1486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0915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5018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327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8855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2483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2542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8666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9608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617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02077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92670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17214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93493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5812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38808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608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C5912-CAA7-4FB7-965B-638681FFC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C3D0E1-4B2E-4D02-B716-46C6957C2E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131D9-15AB-48BB-8030-6175A546A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FABB9-0CC8-4432-925B-39F4593F5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BD0F9-4858-496F-BEF5-699809086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812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866E9-C3C0-48BB-817F-E7E1E3366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9DF04-827A-4ED9-A7C9-CED392FA0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5C4C6-E792-4319-9E04-4F71ED953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5B080-AB8A-421E-8F0D-69D84EC87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587AB-3A54-4CD4-89FA-0FBC0F96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720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61D9C-3FFC-41D3-A198-B22DC5C58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99C15-240F-4D3C-AD19-127FB016E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B87E9-2100-4242-B4CB-E46FEBE6E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67874-A9A3-4444-AEA5-B0C2FA92E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D42EC-871E-4097-966D-9E0CA0E2A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78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FC38C-5C11-4496-8021-D48C6F3BA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EF58E-F443-4946-9A4B-A464F3D480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CA899-E094-48B9-9B76-B701C9261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14799-DB41-4C22-9EA1-F073A4C3C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33724-A031-46F9-80C9-7DDBA9910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D850D-AB31-4191-AF92-22470AD9E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655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5B26F-CE03-4F26-ACA2-1ED1EA5C4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CCA1B-F800-4A2F-AAE3-CEE1ABBB7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8DE177-5235-4882-AA01-3ECE06D5E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E47571-62F7-4D47-8D88-F2ACF4DDF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81A0C0-4AE7-4352-B7C3-413D810291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9137CF-787D-421F-9BCF-BE694F2C8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1DC48C-602E-4939-8349-51D56B3DB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7E9656-0087-4E23-BC8F-950C952D1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78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DC3D7-8634-48B6-8FB7-067081039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5D6755-34D7-4A06-AB10-27C7E465D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24AC4E-DD1A-4FA0-B432-BC904BF8A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33E03D-D14C-48DF-AABC-EDD1A1D72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94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6FB963-D414-412C-B10C-6C29FE331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9C5DE7-18E4-40B9-B98D-04A22F32C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C35D5-3E63-4B51-9F0E-920E73630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04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19D0A-B97D-4DDD-BFD9-5A01EDADD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9C32E-EC8D-4F8B-B815-339B90CA5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A288C-1BE4-497F-98B7-2E5077151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72D46-EAD4-415C-A624-2DB4438E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6A0B4-5110-4D5C-8247-255820C64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BEED2-7596-4C63-A4DC-15263A370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960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05D6E-010D-46DE-B7B8-26F95CD65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B9DBE-02E5-412E-B5E1-0EF016EDD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AC693-2794-4EE2-8CE4-2CF839816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6179B-BD06-434D-88BE-2FCE99756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289BE-7FA3-47F1-8A2E-0BC035511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843D9-897E-4FA7-A95A-7AFDDBA9F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519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D696E-352C-49B2-9E02-5B7A7152E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0A0937-9F6F-4CE8-BAB0-DA6EA1A33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F0085-FB03-4A5C-9D66-580A92FD7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890D2-4DBA-44DB-B786-024024064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0AECD-947A-4D5C-BC32-A0EFDBC43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899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9A070C-9203-44D4-9389-42F341A01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A0DB5-DBBA-4022-8560-ADA0E8321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63C7A-C164-49A8-8A99-41A63CEFF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0F653-49BF-4261-B3D3-C2246834A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A5250-D0E5-442A-98E8-64DB2FF83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358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4598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65461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135068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79367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193273" y="5132441"/>
            <a:ext cx="8409867" cy="1460779"/>
          </a:xfrm>
          <a:prstGeom prst="rect">
            <a:avLst/>
          </a:prstGeom>
        </p:spPr>
        <p:txBody>
          <a:bodyPr lIns="137160" tIns="137160" rIns="137160" bIns="137160" anchor="b" anchorCtr="0">
            <a:normAutofit/>
          </a:bodyPr>
          <a:lstStyle>
            <a:lvl1pPr marL="0" indent="0" algn="l" defTabSz="914052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Arial" pitchFamily="34" charset="0"/>
              <a:buNone/>
              <a:defRPr lang="en-US" sz="2400" b="0" kern="0" spc="0" baseline="0" dirty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3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58945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D92556-C7BC-4DE3-9278-20DEB5669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D6B4E-9726-48B7-95FC-86DC5068328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CF3D86-F32C-46DE-BDA1-539591F02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78CCB-6CF9-4770-B736-7F633976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99AF1-9C60-444A-B0F3-23DBD8E42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195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12EE92-87CB-4FD5-B91D-C59EC8D51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BF0E1-A364-40B5-BC0C-3BE9D9A14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310C0-F0F3-4F98-81D3-906780F89F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B3463-61C8-4819-BC9A-C94FD847F06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0BF1B-55AF-4313-A077-2E67AE818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3C8F-10C2-41C1-87DB-2A43F3AFC2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45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74" r:id="rId13"/>
    <p:sldLayoutId id="2147483678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79514" y="182215"/>
            <a:ext cx="11524432" cy="1063487"/>
          </a:xfrm>
          <a:prstGeom prst="rect">
            <a:avLst/>
          </a:prstGeom>
        </p:spPr>
        <p:txBody>
          <a:bodyPr vert="horz" lIns="91409" tIns="45705" rIns="91409" bIns="45705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65163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</p:sldLayoutIdLst>
  <p:txStyles>
    <p:titleStyle>
      <a:lvl1pPr algn="l" defTabSz="914088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1pPr>
    </p:titleStyle>
    <p:bodyStyle>
      <a:lvl1pPr marL="342783" indent="-342783" algn="l" defTabSz="914088" rtl="0" eaLnBrk="1" latinLnBrk="0" hangingPunct="1">
        <a:spcBef>
          <a:spcPts val="1200"/>
        </a:spcBef>
        <a:buFont typeface="Arial" pitchFamily="34" charset="0"/>
        <a:buChar char="•"/>
        <a:defRPr sz="3200" b="1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1pPr>
      <a:lvl2pPr marL="742698" indent="-285652" algn="l" defTabSz="914088" rtl="0" eaLnBrk="1" latinLnBrk="0" hangingPunct="1">
        <a:spcBef>
          <a:spcPts val="300"/>
        </a:spcBef>
        <a:spcAft>
          <a:spcPts val="300"/>
        </a:spcAft>
        <a:buFont typeface="Arial" pitchFamily="34" charset="0"/>
        <a:buChar char="–"/>
        <a:defRPr sz="28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2pPr>
      <a:lvl3pPr marL="1142612" indent="-228522" algn="l" defTabSz="914088" rtl="0" eaLnBrk="1" latinLnBrk="0" hangingPunct="1">
        <a:spcBef>
          <a:spcPts val="200"/>
        </a:spcBef>
        <a:spcAft>
          <a:spcPts val="200"/>
        </a:spcAft>
        <a:buFont typeface="Arial" pitchFamily="34" charset="0"/>
        <a:buChar char="•"/>
        <a:defRPr sz="24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3pPr>
      <a:lvl4pPr marL="1599657" indent="-228522" algn="l" defTabSz="914088" rtl="0" eaLnBrk="1" latinLnBrk="0" hangingPunct="1">
        <a:spcBef>
          <a:spcPct val="20000"/>
        </a:spcBef>
        <a:buFont typeface="Arial" pitchFamily="34" charset="0"/>
        <a:buChar char="–"/>
        <a:defRPr sz="20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4pPr>
      <a:lvl5pPr marL="2056700" indent="-228522" algn="l" defTabSz="914088" rtl="0" eaLnBrk="1" latinLnBrk="0" hangingPunct="1">
        <a:spcBef>
          <a:spcPct val="20000"/>
        </a:spcBef>
        <a:buFont typeface="Arial" pitchFamily="34" charset="0"/>
        <a:buChar char="»"/>
        <a:defRPr sz="20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5pPr>
      <a:lvl6pPr marL="2513745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89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33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78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44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33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7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22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67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11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5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ath.mit.edu/~gs/linearalgebra/ila6/indexila6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hyperlink" Target="https://ocw.mit.edu/courses/18-06-linear-algebra-spring-2010/" TargetMode="External"/><Relationship Id="rId4" Type="http://schemas.openxmlformats.org/officeDocument/2006/relationships/hyperlink" Target="https://www.youtube.com/playlist?list=PL49CF3715CB9EF31D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0.png"/><Relationship Id="rId4" Type="http://schemas.openxmlformats.org/officeDocument/2006/relationships/image" Target="../media/image19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copy.html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2.png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2.png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1.png"/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1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1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1.png"/><Relationship Id="rId1" Type="http://schemas.openxmlformats.org/officeDocument/2006/relationships/slideLayout" Target="../slideLayouts/slideLayout1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659" y="695131"/>
            <a:ext cx="11693950" cy="2973777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CSCI E-108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Review of Linear Algebra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835092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950" y="4619819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636C8FC-9C07-4DFA-B141-EBF94D41D6A9}"/>
              </a:ext>
            </a:extLst>
          </p:cNvPr>
          <p:cNvSpPr txBox="1">
            <a:spLocks/>
          </p:cNvSpPr>
          <p:nvPr/>
        </p:nvSpPr>
        <p:spPr>
          <a:xfrm>
            <a:off x="1524000" y="6363896"/>
            <a:ext cx="9144000" cy="494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Copyright 2020, 2021, 2022, 2023. 2024, 2025</a:t>
            </a:r>
            <a:r>
              <a:rPr lang="en-US" sz="1100"/>
              <a:t>, 2026 </a:t>
            </a:r>
            <a:r>
              <a:rPr lang="en-US" sz="1100" dirty="0"/>
              <a:t>Stephen F Elston. All rights reserved.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05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155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Linear algebra is at the core of nearly all machine learning algorithms</a:t>
            </a:r>
          </a:p>
          <a:p>
            <a:r>
              <a:rPr lang="en-US" dirty="0">
                <a:latin typeface="+mn-lt"/>
              </a:rPr>
              <a:t>Linear algebra is the algebra of </a:t>
            </a:r>
            <a:r>
              <a:rPr lang="en-US" b="1" dirty="0">
                <a:latin typeface="+mn-lt"/>
              </a:rPr>
              <a:t>arrays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Understanding of linear algebra is essential to understanding machine learning</a:t>
            </a:r>
          </a:p>
          <a:p>
            <a:r>
              <a:rPr lang="en-US" dirty="0">
                <a:latin typeface="+mn-lt"/>
              </a:rPr>
              <a:t>Linear algebra operations are building blocks of algorithms</a:t>
            </a:r>
          </a:p>
          <a:p>
            <a:r>
              <a:rPr lang="en-US" dirty="0">
                <a:latin typeface="+mn-lt"/>
              </a:rPr>
              <a:t>Efficient linear algebra algorithms enable large scale machine learning and statistical analysis </a:t>
            </a:r>
          </a:p>
          <a:p>
            <a:r>
              <a:rPr lang="en-US" dirty="0">
                <a:latin typeface="+mn-lt"/>
              </a:rPr>
              <a:t>We limit ourselves to linear algebra with real valued arrays </a:t>
            </a:r>
          </a:p>
        </p:txBody>
      </p:sp>
    </p:spTree>
    <p:extLst>
      <p:ext uri="{BB962C8B-B14F-4D97-AF65-F5344CB8AC3E}">
        <p14:creationId xmlns:p14="http://schemas.microsoft.com/office/powerpoint/2010/main" val="760930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DCF7F-7335-2BAF-131C-B4F8A55D5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7EF39-2A0F-42D4-72E8-8509BB118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079EF-81DF-4CCE-BD31-5E77E9BA334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7183303" cy="5155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There are a great many recourses for digging further into this subject</a:t>
            </a:r>
          </a:p>
          <a:p>
            <a:pPr marL="0" indent="0" algn="ctr">
              <a:buNone/>
            </a:pPr>
            <a:r>
              <a:rPr lang="en-US" i="1" dirty="0">
                <a:latin typeface="+mn-lt"/>
              </a:rPr>
              <a:t>Gil Strang is the master and we are all his pupils </a:t>
            </a:r>
          </a:p>
          <a:p>
            <a:r>
              <a:rPr lang="en-US" dirty="0">
                <a:latin typeface="+mn-lt"/>
              </a:rPr>
              <a:t>Book and lectures by Gilbert Strang are particularly good</a:t>
            </a:r>
          </a:p>
          <a:p>
            <a:r>
              <a:rPr lang="en-US" dirty="0">
                <a:latin typeface="+mn-lt"/>
              </a:rPr>
              <a:t>Strang’s </a:t>
            </a:r>
            <a:r>
              <a:rPr lang="en-US" dirty="0">
                <a:latin typeface="+mn-lt"/>
                <a:hlinkClick r:id="rId3"/>
              </a:rPr>
              <a:t>Introduction to Linear Algebra</a:t>
            </a:r>
            <a:r>
              <a:rPr lang="en-US" dirty="0">
                <a:latin typeface="+mn-lt"/>
              </a:rPr>
              <a:t>, now in 6</a:t>
            </a:r>
            <a:r>
              <a:rPr lang="en-US" baseline="30000" dirty="0">
                <a:latin typeface="+mn-lt"/>
              </a:rPr>
              <a:t>th</a:t>
            </a:r>
            <a:r>
              <a:rPr lang="en-US" dirty="0">
                <a:latin typeface="+mn-lt"/>
              </a:rPr>
              <a:t> edition, is the classic text</a:t>
            </a:r>
          </a:p>
          <a:p>
            <a:r>
              <a:rPr lang="en-US" dirty="0">
                <a:latin typeface="+mn-lt"/>
              </a:rPr>
              <a:t>Also see Strang’s lectures on </a:t>
            </a:r>
            <a:r>
              <a:rPr lang="en-US" dirty="0">
                <a:latin typeface="+mn-lt"/>
                <a:hlinkClick r:id="rId4"/>
              </a:rPr>
              <a:t>YouTube</a:t>
            </a:r>
            <a:r>
              <a:rPr lang="en-US" dirty="0">
                <a:latin typeface="+mn-lt"/>
              </a:rPr>
              <a:t> and </a:t>
            </a:r>
            <a:r>
              <a:rPr lang="en-US" dirty="0">
                <a:latin typeface="+mn-lt"/>
                <a:hlinkClick r:id="rId5"/>
              </a:rPr>
              <a:t>MIT Open Courseware</a:t>
            </a:r>
            <a:endParaRPr lang="en-US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B9413C-3060-E528-1261-CB85FE92D7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0120" y="640597"/>
            <a:ext cx="3508505" cy="50079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52DE4F-13C6-6603-EB2A-216BDB4546C5}"/>
              </a:ext>
            </a:extLst>
          </p:cNvPr>
          <p:cNvSpPr txBox="1"/>
          <p:nvPr/>
        </p:nvSpPr>
        <p:spPr>
          <a:xfrm>
            <a:off x="8473256" y="5744026"/>
            <a:ext cx="3262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Your </a:t>
            </a:r>
            <a:r>
              <a:rPr lang="en-US"/>
              <a:t>instructor’s well-warn copy </a:t>
            </a:r>
            <a:r>
              <a:rPr lang="en-US" dirty="0"/>
              <a:t>from the 1970s</a:t>
            </a:r>
          </a:p>
        </p:txBody>
      </p:sp>
    </p:spTree>
    <p:extLst>
      <p:ext uri="{BB962C8B-B14F-4D97-AF65-F5344CB8AC3E}">
        <p14:creationId xmlns:p14="http://schemas.microsoft.com/office/powerpoint/2010/main" val="3283641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307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Types of 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Linear algebra commonly uses three types of arrays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Scaler is a single </a:t>
                </a:r>
                <a:r>
                  <a:rPr lang="en-US">
                    <a:cs typeface="Segoe UI" panose="020B0502040204020203" pitchFamily="34" charset="0"/>
                  </a:rPr>
                  <a:t>number is </a:t>
                </a:r>
                <a:r>
                  <a:rPr lang="en-US" dirty="0">
                    <a:cs typeface="Segoe UI" panose="020B0502040204020203" pitchFamily="34" charset="0"/>
                  </a:rPr>
                  <a:t>zero dimensional array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𝒔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ℛ</m:t>
                    </m:r>
                  </m:oMath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dimensional vector is one dimensional array of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: </a:t>
                </a:r>
              </a:p>
              <a:p>
                <a:pPr marL="0" indent="0">
                  <a:buNone/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  <a:blipFill>
                <a:blip r:embed="rId2"/>
                <a:stretch>
                  <a:fillRect l="-1058" t="-1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0510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307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Types of 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Linear algebra commonly uses three types of arrays</a:t>
                </a:r>
              </a:p>
              <a:p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A matrix,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, is an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𝑟𝑜𝑤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×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𝑚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𝑐𝑜𝑙𝑢𝑚𝑛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two dimensional array of values,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:</a:t>
                </a:r>
              </a:p>
              <a:p>
                <a:pPr marL="0" indent="0">
                  <a:buNone/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𝑨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	Using the convention, </a:t>
                </a:r>
                <a:r>
                  <a:rPr lang="en-US" i="1" dirty="0">
                    <a:cs typeface="Segoe UI" panose="020B0502040204020203" pitchFamily="34" charset="0"/>
                  </a:rPr>
                  <a:t>row index, column index</a:t>
                </a:r>
                <a:r>
                  <a:rPr lang="en-US" dirty="0">
                    <a:cs typeface="Segoe UI" panose="020B0502040204020203" pitchFamily="34" charset="0"/>
                  </a:rPr>
                  <a:t>, 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Linear algebra works with arrays of any dimensions: sometimes referred to as </a:t>
                </a:r>
                <a:r>
                  <a:rPr lang="en-US" b="1" dirty="0">
                    <a:cs typeface="Segoe UI" panose="020B0502040204020203" pitchFamily="34" charset="0"/>
                  </a:rPr>
                  <a:t>tensors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  <a:blipFill>
                <a:blip r:embed="rId2"/>
                <a:stretch>
                  <a:fillRect l="-1058" t="-1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4672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307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Basic Array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Can add or multiply a scalar with a vector, a commutative operation</a:t>
                </a:r>
              </a:p>
              <a:p>
                <a:pPr marL="0" indent="0">
                  <a:buNone/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𝒔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𝒔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∗</m:t>
                      </m:r>
                      <m:r>
                        <a:rPr lang="en-US" b="1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𝒗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  <a:blipFill>
                <a:blip r:embed="rId2"/>
                <a:stretch>
                  <a:fillRect l="-1058" t="-1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1754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307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Basic Array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Can add or multiply a scalar with an array, a commutative operation</a:t>
                </a: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                             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𝑨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𝒔</m:t>
                    </m:r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+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1,1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1,2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+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2,1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+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2,2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+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+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2,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+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,1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,2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+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</m:oMath>
                </a14:m>
                <a:endParaRPr lang="en-US" i="1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sz="2800" b="0" i="1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𝑨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∗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𝒔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𝑠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∗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∗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	</a:t>
                </a: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  <a:blipFill>
                <a:blip r:embed="rId2"/>
                <a:stretch>
                  <a:fillRect l="-1058" t="-1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7273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307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Basic Array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Perform element-wise operations on arrays, a commutative operation</a:t>
                </a:r>
              </a:p>
              <a:p>
                <a:pPr marL="0" indent="0">
                  <a:buNone/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𝒖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𝒖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∗</m:t>
                      </m:r>
                      <m:r>
                        <a:rPr lang="en-US" b="1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𝒗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  <a:blipFill>
                <a:blip r:embed="rId2"/>
                <a:stretch>
                  <a:fillRect l="-1058" t="-1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4266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+mn-lt"/>
                <a:cs typeface="Segoe UI" panose="020B0502040204020203" pitchFamily="34" charset="0"/>
              </a:rPr>
              <a:t>Basic </a:t>
            </a:r>
            <a:r>
              <a:rPr lang="en-US" sz="4400" dirty="0" err="1">
                <a:latin typeface="+mn-lt"/>
                <a:cs typeface="Segoe UI" panose="020B0502040204020203" pitchFamily="34" charset="0"/>
              </a:rPr>
              <a:t>Numpy</a:t>
            </a:r>
            <a:r>
              <a:rPr lang="en-US" sz="4400" dirty="0">
                <a:latin typeface="+mn-lt"/>
                <a:cs typeface="Segoe UI" panose="020B0502040204020203" pitchFamily="34" charset="0"/>
              </a:rPr>
              <a:t>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3458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Perform basic linear algebra operations in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, create some arrays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pt-BR" dirty="0"/>
              <a:t>import numpy.random as nr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pt-BR" dirty="0"/>
              <a:t>import numpy.linalg as npla</a:t>
            </a:r>
            <a:endParaRPr lang="en-US" dirty="0"/>
          </a:p>
          <a:p>
            <a:pPr marL="0" indent="0">
              <a:spcBef>
                <a:spcPts val="200"/>
              </a:spcBef>
              <a:buNone/>
            </a:pPr>
            <a:r>
              <a:rPr lang="en-US" dirty="0"/>
              <a:t>y = </a:t>
            </a:r>
            <a:r>
              <a:rPr lang="en-US" dirty="0" err="1"/>
              <a:t>np.array</a:t>
            </a:r>
            <a:r>
              <a:rPr lang="en-US" dirty="0"/>
              <a:t>([2]*3)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dirty="0"/>
              <a:t>print('Array y = {}, with type {}'.format(</a:t>
            </a:r>
            <a:r>
              <a:rPr lang="en-US" dirty="0" err="1"/>
              <a:t>y,type</a:t>
            </a:r>
            <a:r>
              <a:rPr lang="en-US" dirty="0"/>
              <a:t>(y)))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dirty="0"/>
              <a:t>## Array y = [2 2 2], with type &lt; class '</a:t>
            </a:r>
            <a:r>
              <a:rPr lang="en-US" dirty="0" err="1"/>
              <a:t>numpy.ndarray</a:t>
            </a:r>
            <a:r>
              <a:rPr lang="en-US" dirty="0"/>
              <a:t> &gt;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dirty="0"/>
              <a:t>x = </a:t>
            </a:r>
            <a:r>
              <a:rPr lang="en-US" dirty="0" err="1"/>
              <a:t>np.arange</a:t>
            </a:r>
            <a:r>
              <a:rPr lang="en-US" dirty="0"/>
              <a:t>(1, 4)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dirty="0"/>
              <a:t>print('Array x = {} with type {}'.format(</a:t>
            </a:r>
            <a:r>
              <a:rPr lang="en-US" dirty="0" err="1"/>
              <a:t>x,type</a:t>
            </a:r>
            <a:r>
              <a:rPr lang="en-US" dirty="0"/>
              <a:t>(x)))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dirty="0"/>
              <a:t>## Array x = [1 2 3] with type &lt; class '</a:t>
            </a:r>
            <a:r>
              <a:rPr lang="en-US" dirty="0" err="1"/>
              <a:t>numpy.ndarray</a:t>
            </a:r>
            <a:r>
              <a:rPr lang="en-US" dirty="0"/>
              <a:t> &gt;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5830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+mn-lt"/>
                <a:cs typeface="Segoe UI" panose="020B0502040204020203" pitchFamily="34" charset="0"/>
              </a:rPr>
              <a:t>Basic </a:t>
            </a:r>
            <a:r>
              <a:rPr lang="en-US" sz="4400" dirty="0" err="1">
                <a:latin typeface="+mn-lt"/>
                <a:cs typeface="Segoe UI" panose="020B0502040204020203" pitchFamily="34" charset="0"/>
              </a:rPr>
              <a:t>Numpy</a:t>
            </a:r>
            <a:r>
              <a:rPr lang="en-US" sz="4400" dirty="0">
                <a:latin typeface="+mn-lt"/>
                <a:cs typeface="Segoe UI" panose="020B0502040204020203" pitchFamily="34" charset="0"/>
              </a:rPr>
              <a:t>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155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Perform basic linear algebra operations in </a:t>
            </a:r>
            <a:r>
              <a:rPr lang="en-US" dirty="0" err="1">
                <a:latin typeface="+mn-lt"/>
              </a:rPr>
              <a:t>Numpy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 err="1"/>
              <a:t>a_scalar</a:t>
            </a:r>
            <a:r>
              <a:rPr lang="en-US" dirty="0"/>
              <a:t> = 1.0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print(</a:t>
            </a:r>
            <a:r>
              <a:rPr lang="en-US" dirty="0" err="1"/>
              <a:t>a_scalar</a:t>
            </a:r>
            <a:r>
              <a:rPr lang="en-US" dirty="0"/>
              <a:t> + y)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[3. 3. 3.]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print(y - x)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[ 1 0 -1]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02488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+mn-lt"/>
                <a:cs typeface="Segoe UI" panose="020B0502040204020203" pitchFamily="34" charset="0"/>
              </a:rPr>
              <a:t>Basic </a:t>
            </a:r>
            <a:r>
              <a:rPr lang="en-US" sz="4400" dirty="0" err="1">
                <a:latin typeface="+mn-lt"/>
                <a:cs typeface="Segoe UI" panose="020B0502040204020203" pitchFamily="34" charset="0"/>
              </a:rPr>
              <a:t>Numpy</a:t>
            </a:r>
            <a:r>
              <a:rPr lang="en-US" sz="4400" dirty="0">
                <a:latin typeface="+mn-lt"/>
                <a:cs typeface="Segoe UI" panose="020B0502040204020203" pitchFamily="34" charset="0"/>
              </a:rPr>
              <a:t>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155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Create arrays using </a:t>
            </a:r>
            <a:r>
              <a:rPr lang="en-US" dirty="0" err="1">
                <a:latin typeface="+mn-lt"/>
              </a:rPr>
              <a:t>Numpy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/>
              <a:t>A = </a:t>
            </a:r>
            <a:r>
              <a:rPr lang="en-US" dirty="0" err="1"/>
              <a:t>np.full</a:t>
            </a:r>
            <a:r>
              <a:rPr lang="en-US" dirty="0"/>
              <a:t>((4,3), 2.0)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print('A = \n{}'.format(A))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A =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[[2. 2. 2.]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[2. 2. 2.]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[2. 2. 2.]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[2. 2. 2.]]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27747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+mn-lt"/>
                <a:cs typeface="Segoe UI" panose="020B0502040204020203" pitchFamily="34" charset="0"/>
              </a:rPr>
              <a:t>Basic </a:t>
            </a:r>
            <a:r>
              <a:rPr lang="en-US" sz="4400" dirty="0" err="1">
                <a:latin typeface="+mn-lt"/>
                <a:cs typeface="Segoe UI" panose="020B0502040204020203" pitchFamily="34" charset="0"/>
              </a:rPr>
              <a:t>Numpy</a:t>
            </a:r>
            <a:r>
              <a:rPr lang="en-US" sz="4400" dirty="0">
                <a:latin typeface="+mn-lt"/>
                <a:cs typeface="Segoe UI" panose="020B0502040204020203" pitchFamily="34" charset="0"/>
              </a:rPr>
              <a:t>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155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Create arrays using </a:t>
            </a:r>
            <a:r>
              <a:rPr lang="en-US" dirty="0" err="1">
                <a:latin typeface="+mn-lt"/>
              </a:rPr>
              <a:t>Numpy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/>
              <a:t>B = </a:t>
            </a:r>
            <a:r>
              <a:rPr lang="en-US" dirty="0" err="1"/>
              <a:t>np.arange</a:t>
            </a:r>
            <a:r>
              <a:rPr lang="en-US" dirty="0"/>
              <a:t>(1,13).reshape((4,3))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print('Matrix B with shape {} \n{}'.format(</a:t>
            </a:r>
            <a:r>
              <a:rPr lang="en-US" dirty="0" err="1"/>
              <a:t>B.shape</a:t>
            </a:r>
            <a:r>
              <a:rPr lang="en-US" dirty="0"/>
              <a:t>, B))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Matrix B with shape (4, 3)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[[ 1 2 3]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[ 4 5 6]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[ 7 8 9]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[10 11 12]]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94851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+mn-lt"/>
                <a:cs typeface="Segoe UI" panose="020B0502040204020203" pitchFamily="34" charset="0"/>
              </a:rPr>
              <a:t>Basic </a:t>
            </a:r>
            <a:r>
              <a:rPr lang="en-US" sz="4400" dirty="0" err="1">
                <a:latin typeface="+mn-lt"/>
                <a:cs typeface="Segoe UI" panose="020B0502040204020203" pitchFamily="34" charset="0"/>
              </a:rPr>
              <a:t>Numpy</a:t>
            </a:r>
            <a:r>
              <a:rPr lang="en-US" sz="4400" dirty="0">
                <a:latin typeface="+mn-lt"/>
                <a:cs typeface="Segoe UI" panose="020B0502040204020203" pitchFamily="34" charset="0"/>
              </a:rPr>
              <a:t>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155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scalar operation on an array</a:t>
            </a:r>
          </a:p>
          <a:p>
            <a:pPr marL="0" indent="0">
              <a:buNone/>
            </a:pPr>
            <a:r>
              <a:rPr lang="en-US" dirty="0"/>
              <a:t>print('1.0 + A = \n{}'.format(</a:t>
            </a:r>
            <a:r>
              <a:rPr lang="en-US" dirty="0" err="1"/>
              <a:t>a_scalar</a:t>
            </a:r>
            <a:r>
              <a:rPr lang="en-US" dirty="0"/>
              <a:t> + A))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1.0 + A =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[[3. 3. 3.]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[3. 3. 3.]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[3. 3. 3.]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[3. 3. 3.]]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86067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+mn-lt"/>
                <a:cs typeface="Segoe UI" panose="020B0502040204020203" pitchFamily="34" charset="0"/>
              </a:rPr>
              <a:t>Basic </a:t>
            </a:r>
            <a:r>
              <a:rPr lang="en-US" sz="4400" dirty="0" err="1">
                <a:latin typeface="+mn-lt"/>
                <a:cs typeface="Segoe UI" panose="020B0502040204020203" pitchFamily="34" charset="0"/>
              </a:rPr>
              <a:t>Numpy</a:t>
            </a:r>
            <a:r>
              <a:rPr lang="en-US" sz="4400" dirty="0">
                <a:latin typeface="+mn-lt"/>
                <a:cs typeface="Segoe UI" panose="020B0502040204020203" pitchFamily="34" charset="0"/>
              </a:rPr>
              <a:t>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155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element-wise operations on arrays</a:t>
            </a:r>
          </a:p>
          <a:p>
            <a:pPr marL="0" indent="0">
              <a:buNone/>
            </a:pPr>
            <a:r>
              <a:rPr lang="en-US" dirty="0"/>
              <a:t>print('A + B = \n{}'.format(A + B))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A + B =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[[ 3. 4. 5.]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[ 6. 7. 8.]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[ 9. 10. 11.]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[12. 13. 14.]]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3261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Dot product </a:t>
                </a:r>
                <a:r>
                  <a:rPr lang="en-US" dirty="0">
                    <a:latin typeface="+mn-lt"/>
                  </a:rPr>
                  <a:t>or </a:t>
                </a:r>
                <a:r>
                  <a:rPr lang="en-US" b="1" dirty="0">
                    <a:latin typeface="+mn-lt"/>
                  </a:rPr>
                  <a:t>scalar product </a:t>
                </a:r>
                <a:r>
                  <a:rPr lang="en-US" dirty="0">
                    <a:latin typeface="+mn-lt"/>
                  </a:rPr>
                  <a:t>of vectors is foundational operation in linear algebra</a:t>
                </a:r>
              </a:p>
              <a:p>
                <a:r>
                  <a:rPr lang="en-US" dirty="0">
                    <a:latin typeface="+mn-lt"/>
                  </a:rPr>
                  <a:t>Array multiplication can be constructed as a series of dot products</a:t>
                </a:r>
              </a:p>
              <a:p>
                <a:r>
                  <a:rPr lang="en-US" dirty="0">
                    <a:latin typeface="+mn-lt"/>
                  </a:rPr>
                  <a:t>Dot product of two vectors,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dirty="0">
                    <a:latin typeface="+mn-lt"/>
                  </a:rPr>
                  <a:t>, is the sum of element-wise products</a:t>
                </a:r>
              </a:p>
              <a:p>
                <a:pPr marL="0" indent="0">
                  <a:buNone/>
                </a:pPr>
                <a:r>
                  <a:rPr lang="en-US" b="0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𝑑𝑜𝑡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𝑝𝑟𝑜𝑑𝑢𝑐𝑡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And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d>
                          <m:d>
                            <m:dPr>
                              <m:begChr m:val="‖"/>
                              <m:endChr m:val="‖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Compute the </a:t>
                </a:r>
                <a:r>
                  <a:rPr lang="en-US" b="1" dirty="0">
                    <a:latin typeface="+mn-lt"/>
                  </a:rPr>
                  <a:t>Euclidian norm</a:t>
                </a:r>
                <a:r>
                  <a:rPr lang="en-US" dirty="0">
                    <a:latin typeface="+mn-lt"/>
                  </a:rPr>
                  <a:t> (length or magnitude) as the square root of dot product of vector with itself</a:t>
                </a:r>
              </a:p>
              <a:p>
                <a:pPr marL="0" indent="0">
                  <a:buNone/>
                </a:pPr>
                <a:r>
                  <a:rPr lang="en-US" dirty="0"/>
                  <a:t>					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e>
                    </m:rad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1111" t="-1784" r="-1534" b="-8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8669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68432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Dot product of vectors is the product of a vector and the projection of another vector onto the first, or vice versa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69E9CF-F4F7-4322-AFB3-DED698EBDD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807" y="1824648"/>
            <a:ext cx="5269584" cy="481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988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155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Dot product of vectors with </a:t>
            </a:r>
            <a:r>
              <a:rPr lang="en-US" dirty="0" err="1">
                <a:latin typeface="+mn-lt"/>
              </a:rPr>
              <a:t>Numpy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s-ES" dirty="0"/>
              <a:t>np.dot(</a:t>
            </a:r>
            <a:r>
              <a:rPr lang="es-ES" dirty="0" err="1"/>
              <a:t>x,y</a:t>
            </a:r>
            <a:r>
              <a:rPr lang="es-ES" dirty="0"/>
              <a:t>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s-ES" dirty="0"/>
              <a:t>## 12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s-ES" dirty="0"/>
              <a:t>np.dot(y, y)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s-ES" dirty="0"/>
              <a:t>## 12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 err="1"/>
              <a:t>npla.norm</a:t>
            </a:r>
            <a:r>
              <a:rPr lang="en-US" dirty="0"/>
              <a:t>(y)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3.4641016151377544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56261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Vectors are </a:t>
                </a:r>
                <a:r>
                  <a:rPr lang="en-US" b="1" dirty="0">
                    <a:latin typeface="+mn-lt"/>
                  </a:rPr>
                  <a:t>orthogonal </a:t>
                </a:r>
                <a:r>
                  <a:rPr lang="en-US" dirty="0">
                    <a:latin typeface="+mn-lt"/>
                  </a:rPr>
                  <a:t>if the dot product between them is 0</a:t>
                </a:r>
              </a:p>
              <a:p>
                <a:r>
                  <a:rPr lang="en-US" dirty="0">
                    <a:latin typeface="+mn-lt"/>
                  </a:rPr>
                  <a:t>Recall</a:t>
                </a:r>
              </a:p>
              <a:p>
                <a:pPr marL="0" indent="0">
                  <a:buNone/>
                </a:pPr>
                <a:r>
                  <a:rPr lang="en-US" b="0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𝑑𝑜𝑡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𝑝𝑟𝑜𝑑𝑢𝑐𝑡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If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>
                    <a:latin typeface="+mn-lt"/>
                  </a:rPr>
                  <a:t> then,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𝑐𝑜𝑠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+mn-lt"/>
                  </a:rPr>
                  <a:t>, so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  <m:d>
                        <m:dPr>
                          <m:begChr m:val="‖"/>
                          <m:endChr m:val="‖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  <m:d>
                        <m:dPr>
                          <m:begChr m:val="‖"/>
                          <m:endChr m:val="‖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Example:</a:t>
                </a:r>
              </a:p>
              <a:p>
                <a:pPr marL="0" indent="0">
                  <a:buNone/>
                </a:pPr>
                <a:r>
                  <a:rPr lang="pl-PL" dirty="0"/>
                  <a:t>w = np.array([1.0,1.0,0.0]) </a:t>
                </a:r>
                <a:endParaRPr lang="en-US" dirty="0"/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pl-PL" dirty="0"/>
                  <a:t>z = np.array([0.0,0.0,1.0]) </a:t>
                </a:r>
                <a:endParaRPr lang="en-US" dirty="0"/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pl-PL" dirty="0"/>
                  <a:t>np.dot(w, </a:t>
                </a:r>
                <a:r>
                  <a:rPr lang="en-US" dirty="0"/>
                  <a:t>z</a:t>
                </a:r>
                <a:r>
                  <a:rPr lang="pl-PL" dirty="0"/>
                  <a:t>) </a:t>
                </a:r>
                <a:endParaRPr lang="en-US" dirty="0"/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pl-PL" dirty="0"/>
                  <a:t>## 0.0</a:t>
                </a: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1111" t="-1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6234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Matrix </a:t>
                </a:r>
                <a:r>
                  <a:rPr lang="en-US" b="1" dirty="0">
                    <a:latin typeface="+mn-lt"/>
                  </a:rPr>
                  <a:t>transpose </a:t>
                </a:r>
                <a:r>
                  <a:rPr lang="en-US" dirty="0">
                    <a:latin typeface="+mn-lt"/>
                  </a:rPr>
                  <a:t>of matrix</a:t>
                </a:r>
                <a:r>
                  <a:rPr lang="en-US" b="1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en-US" dirty="0">
                    <a:latin typeface="+mn-lt"/>
                  </a:rPr>
                  <a:t>,</a:t>
                </a:r>
                <a:r>
                  <a:rPr lang="en-US" b="1" dirty="0">
                    <a:latin typeface="+mn-lt"/>
                  </a:rPr>
                  <a:t> </a:t>
                </a:r>
                <a:r>
                  <a:rPr lang="en-US" dirty="0">
                    <a:latin typeface="+mn-lt"/>
                  </a:rPr>
                  <a:t>permutes the element indices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Transpose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matrix has dimension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r>
                  <a:rPr lang="en-US" dirty="0">
                    <a:latin typeface="+mn-lt"/>
                  </a:rPr>
                  <a:t>Example:</a:t>
                </a:r>
              </a:p>
              <a:p>
                <a:pPr marL="0" indent="0">
                  <a:buNone/>
                </a:pPr>
                <a:r>
                  <a:rPr lang="en-US" dirty="0" err="1"/>
                  <a:t>np.transpose</a:t>
                </a:r>
                <a:r>
                  <a:rPr lang="en-US" dirty="0"/>
                  <a:t>(B)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array([[ 1, 4, 7, 10],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[ 2, 5, 8, 11],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[ 3, 6, 9, 12]])</a:t>
                </a: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1111" t="-1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6784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Matrix </a:t>
                </a:r>
                <a:r>
                  <a:rPr lang="en-US" b="1" dirty="0">
                    <a:latin typeface="+mn-lt"/>
                  </a:rPr>
                  <a:t>product </a:t>
                </a:r>
                <a:r>
                  <a:rPr lang="en-US" dirty="0">
                    <a:latin typeface="+mn-lt"/>
                  </a:rPr>
                  <a:t>of matrix and vector</a:t>
                </a:r>
                <a:r>
                  <a:rPr lang="en-US" b="1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Matrix products computed by series of dot products</a:t>
                </a:r>
              </a:p>
              <a:p>
                <a:r>
                  <a:rPr lang="en-US" dirty="0">
                    <a:latin typeface="+mn-lt"/>
                  </a:rPr>
                  <a:t>Matrix products computed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𝑟𝑜𝑤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𝑐𝑜𝑙𝑢𝑚𝑛</m:t>
                    </m:r>
                  </m:oMath>
                </a14:m>
                <a:r>
                  <a:rPr lang="en-US" dirty="0">
                    <a:latin typeface="+mn-lt"/>
                  </a:rPr>
                  <a:t> or the </a:t>
                </a:r>
                <a:r>
                  <a:rPr lang="en-US" b="1" dirty="0">
                    <a:latin typeface="+mn-lt"/>
                  </a:rPr>
                  <a:t>RC rule</a:t>
                </a:r>
                <a:r>
                  <a:rPr lang="en-US" dirty="0">
                    <a:latin typeface="+mn-lt"/>
                  </a:rPr>
                  <a:t>: 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2,2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𝑟𝑜𝑤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 1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∙</m:t>
                                          </m:r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𝑟𝑜𝑤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 2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∙</m:t>
                                          </m:r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𝑟𝑜𝑤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∙</m:t>
                                          </m:r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Product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matrix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latin typeface="+mn-lt"/>
                  </a:rPr>
                  <a:t> vector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</m:t>
                    </m:r>
                  </m:oMath>
                </a14:m>
                <a:r>
                  <a:rPr lang="en-US" dirty="0">
                    <a:latin typeface="+mn-lt"/>
                  </a:rPr>
                  <a:t>, not a commutative operation 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952" t="-2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619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36773-78CF-8405-F603-206C76237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7DCF-A12F-B1D8-C5E6-D88CD684E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705817-C740-4D0E-F314-1DB3D2C8202C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11359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product of a matrix with a vector,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en-US" dirty="0">
                    <a:latin typeface="+mn-lt"/>
                  </a:rPr>
                  <a:t>, is a projection from a coordinate system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to another coordinate system,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705817-C740-4D0E-F314-1DB3D2C820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1135955"/>
              </a:xfrm>
              <a:blipFill>
                <a:blip r:embed="rId3"/>
                <a:stretch>
                  <a:fillRect l="-1111" t="-3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77E7288-15DE-7FB9-E84D-E2E623F60A68}"/>
              </a:ext>
            </a:extLst>
          </p:cNvPr>
          <p:cNvCxnSpPr/>
          <p:nvPr/>
        </p:nvCxnSpPr>
        <p:spPr>
          <a:xfrm>
            <a:off x="2743200" y="6206363"/>
            <a:ext cx="3977898" cy="4649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3FCB8BA-C61B-D43D-C5BA-530DE6281734}"/>
              </a:ext>
            </a:extLst>
          </p:cNvPr>
          <p:cNvCxnSpPr>
            <a:cxnSpLocks/>
          </p:cNvCxnSpPr>
          <p:nvPr/>
        </p:nvCxnSpPr>
        <p:spPr>
          <a:xfrm flipV="1">
            <a:off x="2743200" y="2698154"/>
            <a:ext cx="0" cy="350820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C3D585A-3DCD-E4E1-EE0A-595006047ABD}"/>
              </a:ext>
            </a:extLst>
          </p:cNvPr>
          <p:cNvCxnSpPr>
            <a:cxnSpLocks/>
          </p:cNvCxnSpPr>
          <p:nvPr/>
        </p:nvCxnSpPr>
        <p:spPr>
          <a:xfrm flipH="1" flipV="1">
            <a:off x="3608096" y="2585199"/>
            <a:ext cx="930537" cy="252283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3328419-0BFA-0E4A-3628-58AE9678C9CF}"/>
              </a:ext>
            </a:extLst>
          </p:cNvPr>
          <p:cNvCxnSpPr>
            <a:cxnSpLocks/>
          </p:cNvCxnSpPr>
          <p:nvPr/>
        </p:nvCxnSpPr>
        <p:spPr>
          <a:xfrm flipV="1">
            <a:off x="4538633" y="3671721"/>
            <a:ext cx="3168127" cy="143631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714F959-2F21-546C-103C-DAC2F4209766}"/>
                  </a:ext>
                </a:extLst>
              </p:cNvPr>
              <p:cNvSpPr txBox="1"/>
              <p:nvPr/>
            </p:nvSpPr>
            <p:spPr>
              <a:xfrm>
                <a:off x="6351296" y="6140055"/>
                <a:ext cx="580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714F959-2F21-546C-103C-DAC2F4209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1296" y="6140055"/>
                <a:ext cx="580913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B511C3E-EA2A-A07E-C716-44CD79AC8E93}"/>
                  </a:ext>
                </a:extLst>
              </p:cNvPr>
              <p:cNvSpPr txBox="1"/>
              <p:nvPr/>
            </p:nvSpPr>
            <p:spPr>
              <a:xfrm>
                <a:off x="2162287" y="2651659"/>
                <a:ext cx="580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B511C3E-EA2A-A07E-C716-44CD79AC8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2287" y="2651659"/>
                <a:ext cx="580913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1D945B8-10A3-93AD-BDFD-45618C09F6A1}"/>
                  </a:ext>
                </a:extLst>
              </p:cNvPr>
              <p:cNvSpPr txBox="1"/>
              <p:nvPr/>
            </p:nvSpPr>
            <p:spPr>
              <a:xfrm>
                <a:off x="7416303" y="3713044"/>
                <a:ext cx="580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1D945B8-10A3-93AD-BDFD-45618C09F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6303" y="3713044"/>
                <a:ext cx="580913" cy="461665"/>
              </a:xfrm>
              <a:prstGeom prst="rect">
                <a:avLst/>
              </a:prstGeom>
              <a:blipFill>
                <a:blip r:embed="rId6"/>
                <a:stretch>
                  <a:fillRect l="-3158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021C179-0522-799B-49C8-55136ABBE2FA}"/>
                  </a:ext>
                </a:extLst>
              </p:cNvPr>
              <p:cNvSpPr txBox="1"/>
              <p:nvPr/>
            </p:nvSpPr>
            <p:spPr>
              <a:xfrm>
                <a:off x="3121511" y="2445723"/>
                <a:ext cx="580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021C179-0522-799B-49C8-55136ABBE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1511" y="2445723"/>
                <a:ext cx="580913" cy="461665"/>
              </a:xfrm>
              <a:prstGeom prst="rect">
                <a:avLst/>
              </a:prstGeom>
              <a:blipFill>
                <a:blip r:embed="rId7"/>
                <a:stretch>
                  <a:fillRect l="-3158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80C810A-AA9F-4952-C873-3A24E9EDA4D8}"/>
              </a:ext>
            </a:extLst>
          </p:cNvPr>
          <p:cNvCxnSpPr>
            <a:cxnSpLocks/>
          </p:cNvCxnSpPr>
          <p:nvPr/>
        </p:nvCxnSpPr>
        <p:spPr>
          <a:xfrm flipV="1">
            <a:off x="2743200" y="5306884"/>
            <a:ext cx="3303296" cy="8994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3C7AA33-4CCC-513B-521D-6739334B4914}"/>
                  </a:ext>
                </a:extLst>
              </p:cNvPr>
              <p:cNvSpPr txBox="1"/>
              <p:nvPr/>
            </p:nvSpPr>
            <p:spPr>
              <a:xfrm>
                <a:off x="5818795" y="5294959"/>
                <a:ext cx="34961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3C7AA33-4CCC-513B-521D-6739334B4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795" y="5294959"/>
                <a:ext cx="349619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DB69687-29CA-31C7-D1F5-57188E1E7AE0}"/>
              </a:ext>
            </a:extLst>
          </p:cNvPr>
          <p:cNvCxnSpPr>
            <a:cxnSpLocks/>
          </p:cNvCxnSpPr>
          <p:nvPr/>
        </p:nvCxnSpPr>
        <p:spPr>
          <a:xfrm flipV="1">
            <a:off x="4538633" y="3015536"/>
            <a:ext cx="2393576" cy="21044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9F6B86B-8FA9-63B3-03EE-12681AAAA137}"/>
                  </a:ext>
                </a:extLst>
              </p:cNvPr>
              <p:cNvSpPr txBox="1"/>
              <p:nvPr/>
            </p:nvSpPr>
            <p:spPr>
              <a:xfrm>
                <a:off x="6911391" y="2907388"/>
                <a:ext cx="349619" cy="5868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9F6B86B-8FA9-63B3-03EE-12681AAAA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1391" y="2907388"/>
                <a:ext cx="349619" cy="58689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C427166-7F61-51B0-23EA-C4AC4E4D2C87}"/>
                  </a:ext>
                </a:extLst>
              </p:cNvPr>
              <p:cNvSpPr txBox="1"/>
              <p:nvPr/>
            </p:nvSpPr>
            <p:spPr>
              <a:xfrm>
                <a:off x="6292133" y="4389878"/>
                <a:ext cx="34961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C427166-7F61-51B0-23EA-C4AC4E4D2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133" y="4389878"/>
                <a:ext cx="34961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9B47E1F-1C3E-2A4C-0F0F-8857E0EA76E5}"/>
              </a:ext>
            </a:extLst>
          </p:cNvPr>
          <p:cNvCxnSpPr>
            <a:cxnSpLocks/>
            <a:stCxn id="24" idx="0"/>
          </p:cNvCxnSpPr>
          <p:nvPr/>
        </p:nvCxnSpPr>
        <p:spPr>
          <a:xfrm flipV="1">
            <a:off x="5993605" y="4806349"/>
            <a:ext cx="393102" cy="48861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14F9D8E-A1D5-1883-19DC-02FCE72A1BF2}"/>
              </a:ext>
            </a:extLst>
          </p:cNvPr>
          <p:cNvCxnSpPr>
            <a:cxnSpLocks/>
          </p:cNvCxnSpPr>
          <p:nvPr/>
        </p:nvCxnSpPr>
        <p:spPr>
          <a:xfrm flipV="1">
            <a:off x="6562243" y="3155611"/>
            <a:ext cx="314905" cy="1313541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728B4501-4A2E-265E-695C-1A3C2EE14EC7}"/>
              </a:ext>
            </a:extLst>
          </p:cNvPr>
          <p:cNvSpPr txBox="1">
            <a:spLocks/>
          </p:cNvSpPr>
          <p:nvPr/>
        </p:nvSpPr>
        <p:spPr>
          <a:xfrm>
            <a:off x="7465017" y="4389878"/>
            <a:ext cx="2262752" cy="11890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72C62C0-64AE-61BD-253B-2DF23128CDE8}"/>
                  </a:ext>
                </a:extLst>
              </p:cNvPr>
              <p:cNvSpPr txBox="1"/>
              <p:nvPr/>
            </p:nvSpPr>
            <p:spPr>
              <a:xfrm>
                <a:off x="7883471" y="4134529"/>
                <a:ext cx="3688596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Projection m</a:t>
                </a:r>
                <a:r>
                  <a:rPr lang="en-US" sz="2800" b="0" dirty="0"/>
                  <a:t>atrix,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800" dirty="0"/>
                  <a:t> performs translation, scale and rotation of a coordinate system 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72C62C0-64AE-61BD-253B-2DF23128C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3471" y="4134529"/>
                <a:ext cx="3688596" cy="1815882"/>
              </a:xfrm>
              <a:prstGeom prst="rect">
                <a:avLst/>
              </a:prstGeom>
              <a:blipFill>
                <a:blip r:embed="rId11"/>
                <a:stretch>
                  <a:fillRect l="-3306" t="-3020" b="-8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3407811-BDCD-5145-1311-65B29834873D}"/>
              </a:ext>
            </a:extLst>
          </p:cNvPr>
          <p:cNvCxnSpPr>
            <a:cxnSpLocks/>
            <a:stCxn id="50" idx="1"/>
            <a:endCxn id="41" idx="3"/>
          </p:cNvCxnSpPr>
          <p:nvPr/>
        </p:nvCxnSpPr>
        <p:spPr>
          <a:xfrm flipH="1" flipV="1">
            <a:off x="6641752" y="4651488"/>
            <a:ext cx="1241719" cy="390982"/>
          </a:xfrm>
          <a:prstGeom prst="straightConnector1">
            <a:avLst/>
          </a:prstGeom>
          <a:ln w="38100">
            <a:solidFill>
              <a:srgbClr val="FFC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1832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866AB-AF45-EEC9-76D1-60B683B1F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7F19A-EDC0-B5AE-3747-61A48E437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9C92E2-7967-5763-4F1D-BE3332DFF689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11359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product of a matrix with a vector,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en-US" dirty="0">
                    <a:latin typeface="+mn-lt"/>
                  </a:rPr>
                  <a:t>, is a projection from a coordinate system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to another coordinate system,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9C92E2-7967-5763-4F1D-BE3332DFF6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1135955"/>
              </a:xfrm>
              <a:blipFill>
                <a:blip r:embed="rId3"/>
                <a:stretch>
                  <a:fillRect l="-1111" t="-3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952806A-B549-83E3-E0BD-165A3DC3BACB}"/>
              </a:ext>
            </a:extLst>
          </p:cNvPr>
          <p:cNvCxnSpPr/>
          <p:nvPr/>
        </p:nvCxnSpPr>
        <p:spPr>
          <a:xfrm>
            <a:off x="2743200" y="6206363"/>
            <a:ext cx="3977898" cy="4649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DE1905D-FACF-452E-4FC3-26A9B4A20CC2}"/>
              </a:ext>
            </a:extLst>
          </p:cNvPr>
          <p:cNvCxnSpPr>
            <a:cxnSpLocks/>
          </p:cNvCxnSpPr>
          <p:nvPr/>
        </p:nvCxnSpPr>
        <p:spPr>
          <a:xfrm flipV="1">
            <a:off x="2743200" y="2698154"/>
            <a:ext cx="0" cy="350820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DD89FA5-E9C7-895F-3CCA-918FBA74B2FA}"/>
              </a:ext>
            </a:extLst>
          </p:cNvPr>
          <p:cNvCxnSpPr>
            <a:cxnSpLocks/>
          </p:cNvCxnSpPr>
          <p:nvPr/>
        </p:nvCxnSpPr>
        <p:spPr>
          <a:xfrm flipH="1" flipV="1">
            <a:off x="1779294" y="3683527"/>
            <a:ext cx="930537" cy="252283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CB747BD-6048-F0B9-A2DC-2CCB6F90D1C3}"/>
              </a:ext>
            </a:extLst>
          </p:cNvPr>
          <p:cNvCxnSpPr>
            <a:cxnSpLocks/>
          </p:cNvCxnSpPr>
          <p:nvPr/>
        </p:nvCxnSpPr>
        <p:spPr>
          <a:xfrm flipV="1">
            <a:off x="2709831" y="4770049"/>
            <a:ext cx="3168127" cy="143631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144EF6A-E35D-C990-C7FB-1F06F1359A50}"/>
                  </a:ext>
                </a:extLst>
              </p:cNvPr>
              <p:cNvSpPr txBox="1"/>
              <p:nvPr/>
            </p:nvSpPr>
            <p:spPr>
              <a:xfrm>
                <a:off x="6351296" y="6140055"/>
                <a:ext cx="580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144EF6A-E35D-C990-C7FB-1F06F1359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1296" y="6140055"/>
                <a:ext cx="580913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66231D3-CBB9-D8EB-7C7E-BC7605A499A9}"/>
                  </a:ext>
                </a:extLst>
              </p:cNvPr>
              <p:cNvSpPr txBox="1"/>
              <p:nvPr/>
            </p:nvSpPr>
            <p:spPr>
              <a:xfrm>
                <a:off x="2162287" y="2651659"/>
                <a:ext cx="580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66231D3-CBB9-D8EB-7C7E-BC7605A49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2287" y="2651659"/>
                <a:ext cx="580913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21F92C0-3AE8-03B1-1A96-1375746A405E}"/>
                  </a:ext>
                </a:extLst>
              </p:cNvPr>
              <p:cNvSpPr txBox="1"/>
              <p:nvPr/>
            </p:nvSpPr>
            <p:spPr>
              <a:xfrm>
                <a:off x="5557243" y="4345969"/>
                <a:ext cx="580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21F92C0-3AE8-03B1-1A96-1375746A4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7243" y="4345969"/>
                <a:ext cx="580913" cy="461665"/>
              </a:xfrm>
              <a:prstGeom prst="rect">
                <a:avLst/>
              </a:prstGeom>
              <a:blipFill>
                <a:blip r:embed="rId6"/>
                <a:stretch>
                  <a:fillRect l="-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4003252-013D-9DDB-4244-C0AF28D4796D}"/>
                  </a:ext>
                </a:extLst>
              </p:cNvPr>
              <p:cNvSpPr txBox="1"/>
              <p:nvPr/>
            </p:nvSpPr>
            <p:spPr>
              <a:xfrm>
                <a:off x="1292709" y="3544051"/>
                <a:ext cx="580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4003252-013D-9DDB-4244-C0AF28D47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2709" y="3544051"/>
                <a:ext cx="580913" cy="461665"/>
              </a:xfrm>
              <a:prstGeom prst="rect">
                <a:avLst/>
              </a:prstGeom>
              <a:blipFill>
                <a:blip r:embed="rId7"/>
                <a:stretch>
                  <a:fillRect l="-3158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6F96AEE-EC77-B532-713D-FCB366B8E008}"/>
              </a:ext>
            </a:extLst>
          </p:cNvPr>
          <p:cNvCxnSpPr>
            <a:cxnSpLocks/>
          </p:cNvCxnSpPr>
          <p:nvPr/>
        </p:nvCxnSpPr>
        <p:spPr>
          <a:xfrm flipV="1">
            <a:off x="2743200" y="5306884"/>
            <a:ext cx="3303296" cy="8994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3238114-E4D0-0433-9D76-24AD6CDEED28}"/>
                  </a:ext>
                </a:extLst>
              </p:cNvPr>
              <p:cNvSpPr txBox="1"/>
              <p:nvPr/>
            </p:nvSpPr>
            <p:spPr>
              <a:xfrm>
                <a:off x="5818795" y="5294959"/>
                <a:ext cx="34961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3238114-E4D0-0433-9D76-24AD6CDEE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795" y="5294959"/>
                <a:ext cx="349619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867BFBE-B0BC-3D17-6A46-7BBC3E01D623}"/>
                  </a:ext>
                </a:extLst>
              </p:cNvPr>
              <p:cNvSpPr txBox="1"/>
              <p:nvPr/>
            </p:nvSpPr>
            <p:spPr>
              <a:xfrm>
                <a:off x="5200554" y="5507280"/>
                <a:ext cx="349619" cy="5868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867BFBE-B0BC-3D17-6A46-7BBC3E01D6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0554" y="5507280"/>
                <a:ext cx="349619" cy="58689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0A4E7F4-E86C-D85B-481C-D4E1BC8444D7}"/>
                  </a:ext>
                </a:extLst>
              </p:cNvPr>
              <p:cNvSpPr txBox="1"/>
              <p:nvPr/>
            </p:nvSpPr>
            <p:spPr>
              <a:xfrm>
                <a:off x="6412562" y="5045274"/>
                <a:ext cx="34961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0A4E7F4-E86C-D85B-481C-D4E1BC844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562" y="5045274"/>
                <a:ext cx="34961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4ECB477-622D-E5DE-D8DF-FEA38137EE9D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6002345" y="4807634"/>
            <a:ext cx="639408" cy="1332421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EBE9FDBB-943D-7422-0AC8-2B5F1CAE7A7C}"/>
              </a:ext>
            </a:extLst>
          </p:cNvPr>
          <p:cNvSpPr txBox="1">
            <a:spLocks/>
          </p:cNvSpPr>
          <p:nvPr/>
        </p:nvSpPr>
        <p:spPr>
          <a:xfrm>
            <a:off x="7465017" y="4389878"/>
            <a:ext cx="2262752" cy="11890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C131DB8-C41C-348D-1626-983EE694E38B}"/>
                  </a:ext>
                </a:extLst>
              </p:cNvPr>
              <p:cNvSpPr txBox="1"/>
              <p:nvPr/>
            </p:nvSpPr>
            <p:spPr>
              <a:xfrm>
                <a:off x="5749101" y="2277903"/>
                <a:ext cx="4614173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</a:t>
                </a:r>
                <a:r>
                  <a:rPr lang="en-US" sz="2800" b="1" dirty="0"/>
                  <a:t>zero-centered</a:t>
                </a:r>
                <a:r>
                  <a:rPr lang="en-US" sz="2800" dirty="0"/>
                  <a:t> projection matrix,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800" dirty="0"/>
                  <a:t>, is a pure rotation and scale of the coordinate system 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C131DB8-C41C-348D-1626-983EE694E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101" y="2277903"/>
                <a:ext cx="4614173" cy="1815882"/>
              </a:xfrm>
              <a:prstGeom prst="rect">
                <a:avLst/>
              </a:prstGeom>
              <a:blipFill>
                <a:blip r:embed="rId11"/>
                <a:stretch>
                  <a:fillRect l="-2642" t="-3356" b="-8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DD724D6-7471-5142-E995-5145112AFCED}"/>
              </a:ext>
            </a:extLst>
          </p:cNvPr>
          <p:cNvCxnSpPr>
            <a:cxnSpLocks/>
            <a:stCxn id="50" idx="2"/>
            <a:endCxn id="41" idx="3"/>
          </p:cNvCxnSpPr>
          <p:nvPr/>
        </p:nvCxnSpPr>
        <p:spPr>
          <a:xfrm flipH="1">
            <a:off x="6762181" y="4093785"/>
            <a:ext cx="1294007" cy="1213099"/>
          </a:xfrm>
          <a:prstGeom prst="straightConnector1">
            <a:avLst/>
          </a:prstGeom>
          <a:ln w="38100">
            <a:solidFill>
              <a:srgbClr val="FFC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FA7119F-8CD8-DA38-E6E7-1B61ED47C568}"/>
                  </a:ext>
                </a:extLst>
              </p:cNvPr>
              <p:cNvSpPr txBox="1"/>
              <p:nvPr/>
            </p:nvSpPr>
            <p:spPr>
              <a:xfrm>
                <a:off x="8312838" y="4469279"/>
                <a:ext cx="3688596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Zero-centered</a:t>
                </a:r>
                <a:r>
                  <a:rPr lang="en-US" sz="2800" dirty="0"/>
                  <a:t> projection matrix,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800" dirty="0"/>
                  <a:t>, is used for most ML algorithms, e.g. PCA, cluster models,…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FA7119F-8CD8-DA38-E6E7-1B61ED47C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838" y="4469279"/>
                <a:ext cx="3688596" cy="2246769"/>
              </a:xfrm>
              <a:prstGeom prst="rect">
                <a:avLst/>
              </a:prstGeom>
              <a:blipFill>
                <a:blip r:embed="rId12"/>
                <a:stretch>
                  <a:fillRect l="-3471" t="-2439" b="-6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83A3C88-66F0-8FE8-0C91-9CD332E8179F}"/>
              </a:ext>
            </a:extLst>
          </p:cNvPr>
          <p:cNvCxnSpPr>
            <a:cxnSpLocks/>
          </p:cNvCxnSpPr>
          <p:nvPr/>
        </p:nvCxnSpPr>
        <p:spPr>
          <a:xfrm flipV="1">
            <a:off x="2648872" y="5460274"/>
            <a:ext cx="2800952" cy="792584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02463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Matrix </a:t>
                </a:r>
                <a:r>
                  <a:rPr lang="en-US" b="1" dirty="0">
                    <a:latin typeface="+mn-lt"/>
                  </a:rPr>
                  <a:t>product </a:t>
                </a:r>
                <a:r>
                  <a:rPr lang="en-US" dirty="0">
                    <a:latin typeface="+mn-lt"/>
                  </a:rPr>
                  <a:t>of matrix and vector</a:t>
                </a:r>
                <a:r>
                  <a:rPr lang="en-US" b="1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Example: </a:t>
                </a:r>
              </a:p>
              <a:p>
                <a:pPr marL="0" indent="0">
                  <a:buNone/>
                </a:pPr>
                <a:r>
                  <a:rPr lang="en-US" dirty="0"/>
                  <a:t>np.dot(B, x)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array([14, 32, 50, 68]) 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1111" t="-1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40705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Matrix </a:t>
                </a:r>
                <a:r>
                  <a:rPr lang="en-US" b="1" dirty="0">
                    <a:latin typeface="+mn-lt"/>
                  </a:rPr>
                  <a:t>product </a:t>
                </a:r>
                <a:r>
                  <a:rPr lang="en-US" dirty="0">
                    <a:latin typeface="+mn-lt"/>
                  </a:rPr>
                  <a:t>of matrices</a:t>
                </a:r>
                <a:r>
                  <a:rPr lang="en-US" b="1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en-US" b="1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Matrix products computed by series of dot products</a:t>
                </a:r>
              </a:p>
              <a:p>
                <a:r>
                  <a:rPr lang="en-US" dirty="0">
                    <a:latin typeface="+mn-lt"/>
                  </a:rPr>
                  <a:t>Matrix products computed 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𝑟𝑜𝑤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𝑐𝑜𝑙𝑢𝑚𝑛</m:t>
                    </m:r>
                  </m:oMath>
                </a14:m>
                <a:r>
                  <a:rPr lang="en-US" dirty="0">
                    <a:latin typeface="+mn-lt"/>
                  </a:rPr>
                  <a:t> or the </a:t>
                </a:r>
                <a:r>
                  <a:rPr lang="en-US" b="1" dirty="0">
                    <a:latin typeface="+mn-lt"/>
                  </a:rPr>
                  <a:t>RC ru</a:t>
                </a:r>
                <a:r>
                  <a:rPr lang="en-US" dirty="0">
                    <a:latin typeface="+mn-lt"/>
                  </a:rPr>
                  <a:t>le: 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2,2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2,2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𝑟𝑜𝑤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1</m:t>
                                          </m:r>
                                        </m:sub>
                                      </m:sSub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𝑐𝑜𝑙𝑢𝑚𝑛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𝑟𝑜𝑤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1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𝑐𝑜𝑙𝑢𝑚𝑛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𝑟𝑜𝑤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2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𝑐𝑜𝑙𝑢𝑚𝑛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𝑟𝑜𝑤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2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𝑐𝑜𝑙𝑢𝑚𝑛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𝑟𝑜𝑤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1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𝑐𝑜𝑙𝑢𝑚𝑛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𝑟𝑜𝑤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2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𝑐𝑜𝑙𝑢𝑚𝑛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𝑟𝑜𝑤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𝑐𝑜𝑙𝑢𝑚𝑛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𝑟𝑜𝑤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𝑐𝑜𝑙𝑢𝑚𝑛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𝑟𝑜𝑤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𝑐𝑜𝑙𝑢𝑚𝑛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952" t="-1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9724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Matrix </a:t>
                </a:r>
                <a:r>
                  <a:rPr lang="en-US" b="1" dirty="0">
                    <a:latin typeface="+mn-lt"/>
                  </a:rPr>
                  <a:t>product </a:t>
                </a:r>
                <a:r>
                  <a:rPr lang="en-US" dirty="0">
                    <a:latin typeface="+mn-lt"/>
                  </a:rPr>
                  <a:t>of matrices</a:t>
                </a:r>
                <a:r>
                  <a:rPr lang="en-US" b="1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en-US" b="1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Matrix products computed by series of dot products</a:t>
                </a:r>
              </a:p>
              <a:p>
                <a:r>
                  <a:rPr lang="en-US" dirty="0">
                    <a:latin typeface="+mn-lt"/>
                  </a:rPr>
                  <a:t>Matrix products computed 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𝑟𝑜𝑤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𝑐𝑜𝑙𝑢𝑚𝑛</m:t>
                    </m:r>
                  </m:oMath>
                </a14:m>
                <a:r>
                  <a:rPr lang="en-US" dirty="0">
                    <a:latin typeface="+mn-lt"/>
                  </a:rPr>
                  <a:t> or the </a:t>
                </a:r>
                <a:r>
                  <a:rPr lang="en-US" b="1" dirty="0">
                    <a:latin typeface="+mn-lt"/>
                  </a:rPr>
                  <a:t>RC ru</a:t>
                </a:r>
                <a:r>
                  <a:rPr lang="en-US" dirty="0">
                    <a:latin typeface="+mn-lt"/>
                  </a:rPr>
                  <a:t>le: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.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∙</m:t>
                          </m:r>
                        </m:e>
                      </m:nary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Product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matrix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 matrix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r>
                  <a:rPr lang="en-US" dirty="0">
                    <a:latin typeface="+mn-lt"/>
                  </a:rPr>
                  <a:t>Product of transpose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+mn-lt"/>
                  </a:rPr>
                  <a:t>matrix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+mn-lt"/>
                  </a:rPr>
                  <a:t>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Matrix product is </a:t>
                </a:r>
                <a:r>
                  <a:rPr lang="en-US" b="1" dirty="0">
                    <a:latin typeface="+mn-lt"/>
                  </a:rPr>
                  <a:t>not a commutative operation</a:t>
                </a:r>
              </a:p>
              <a:p>
                <a:r>
                  <a:rPr lang="en-US" dirty="0">
                    <a:latin typeface="+mn-lt"/>
                  </a:rPr>
                  <a:t>Matrix product only possible if matrices are </a:t>
                </a:r>
                <a:r>
                  <a:rPr lang="en-US" b="1" dirty="0">
                    <a:latin typeface="+mn-lt"/>
                  </a:rPr>
                  <a:t>conformable </a:t>
                </a:r>
                <a:r>
                  <a:rPr lang="en-US" dirty="0">
                    <a:latin typeface="+mn-lt"/>
                  </a:rPr>
                  <a:t>– number of columns of first matrix = number of rows of second matrix </a:t>
                </a:r>
              </a:p>
              <a:p>
                <a:r>
                  <a:rPr lang="en-US" dirty="0" err="1">
                    <a:latin typeface="+mn-lt"/>
                  </a:rPr>
                  <a:t>Numpy</a:t>
                </a:r>
                <a:r>
                  <a:rPr lang="en-US" dirty="0">
                    <a:latin typeface="+mn-lt"/>
                  </a:rPr>
                  <a:t> throws </a:t>
                </a:r>
                <a:r>
                  <a:rPr lang="en-US" b="1" dirty="0">
                    <a:latin typeface="+mn-lt"/>
                  </a:rPr>
                  <a:t>exception if matrices are not conformable</a:t>
                </a:r>
                <a:r>
                  <a:rPr lang="en-US" dirty="0">
                    <a:latin typeface="+mn-lt"/>
                  </a:rPr>
                  <a:t>!</a:t>
                </a:r>
              </a:p>
              <a:p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952" t="-2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17701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Matrix </a:t>
                </a:r>
                <a:r>
                  <a:rPr lang="en-US" b="1" dirty="0">
                    <a:latin typeface="+mn-lt"/>
                  </a:rPr>
                  <a:t>product </a:t>
                </a:r>
                <a:r>
                  <a:rPr lang="en-US" dirty="0">
                    <a:latin typeface="+mn-lt"/>
                  </a:rPr>
                  <a:t>of matrices</a:t>
                </a:r>
                <a:r>
                  <a:rPr lang="en-US" b="1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en-US" b="1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Examples of conformable products: </a:t>
                </a:r>
              </a:p>
              <a:p>
                <a:pPr marL="0" indent="0">
                  <a:buNone/>
                </a:pPr>
                <a:r>
                  <a:rPr lang="en-US" dirty="0"/>
                  <a:t>np.dot(</a:t>
                </a:r>
                <a:r>
                  <a:rPr lang="en-US" dirty="0" err="1"/>
                  <a:t>np.transpose</a:t>
                </a:r>
                <a:r>
                  <a:rPr lang="en-US" dirty="0"/>
                  <a:t>(A) , B)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array([[44., 52., 60.],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[44., 52., 60.],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[44., 52., 60.]])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np.dot(A, </a:t>
                </a:r>
                <a:r>
                  <a:rPr lang="en-US" dirty="0" err="1"/>
                  <a:t>np.transpose</a:t>
                </a:r>
                <a:r>
                  <a:rPr lang="en-US" dirty="0"/>
                  <a:t>(B))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array([[12., 30., 48., 66.],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[12., 30., 48., 66.],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[12., 30., 48., 66.],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[12., 30., 48., 66.]])</a:t>
                </a: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1111" t="-1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73950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</a:rPr>
                  <a:t>identity </a:t>
                </a:r>
                <a:r>
                  <a:rPr lang="en-US" dirty="0">
                    <a:latin typeface="+mn-lt"/>
                  </a:rPr>
                  <a:t>of matrix</a:t>
                </a:r>
                <a:r>
                  <a:rPr lang="en-US" b="1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dirty="0">
                    <a:latin typeface="+mn-lt"/>
                  </a:rPr>
                  <a:t>, has special properties</a:t>
                </a:r>
              </a:p>
              <a:p>
                <a:r>
                  <a:rPr lang="en-US" dirty="0">
                    <a:latin typeface="+mn-lt"/>
                  </a:rPr>
                  <a:t>Identity matrix has role of a 1 in ordinary algebra</a:t>
                </a:r>
              </a:p>
              <a:p>
                <a:r>
                  <a:rPr lang="en-US" dirty="0">
                    <a:latin typeface="+mn-lt"/>
                  </a:rPr>
                  <a:t>Identity matrix has 1s on the diagonal and zeros elsewhere: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1111" t="-1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2413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Properties of the identity matrix </a:t>
                </a:r>
              </a:p>
              <a:p>
                <a:r>
                  <a:rPr lang="en-US" dirty="0">
                    <a:latin typeface="+mn-lt"/>
                  </a:rPr>
                  <a:t>Products  of a rectangular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 matrix and an  identity matrix are the original matrix: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𝑨𝑰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𝑰𝑨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b="1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Define the </a:t>
                </a:r>
                <a:r>
                  <a:rPr lang="en-US" b="1" dirty="0">
                    <a:latin typeface="+mn-lt"/>
                  </a:rPr>
                  <a:t>inverse </a:t>
                </a:r>
                <a:r>
                  <a:rPr lang="en-US" dirty="0">
                    <a:latin typeface="+mn-lt"/>
                  </a:rPr>
                  <a:t>of a square matrix,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b="1" dirty="0">
                    <a:latin typeface="+mn-lt"/>
                  </a:rPr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en-US" b="1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1111" t="-1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1312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468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Examples of identity matrix and inverse: </a:t>
            </a:r>
          </a:p>
          <a:p>
            <a:pPr marL="0" indent="0">
              <a:buNone/>
            </a:pPr>
            <a:r>
              <a:rPr lang="nn-NO" dirty="0"/>
              <a:t>I3 = np.eye(3)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nn-NO" dirty="0"/>
              <a:t>I3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nn-NO" dirty="0"/>
              <a:t>## array([[1., 0., 0.],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nn-NO" dirty="0"/>
              <a:t>## [0., 1., 0.],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nn-NO" dirty="0"/>
              <a:t>## [0., 0., 1.]])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C = </a:t>
            </a:r>
            <a:r>
              <a:rPr lang="en-US" dirty="0" err="1"/>
              <a:t>np.array</a:t>
            </a:r>
            <a:r>
              <a:rPr lang="en-US" dirty="0"/>
              <a:t>([[1,3,6], [2,2,1], [3,1,4]])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array([[1, 3, 6],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[2, 2, 1],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[3, 1, 4]])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52176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468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Examples of identity matrix and inverse: </a:t>
            </a:r>
          </a:p>
          <a:p>
            <a:pPr marL="0" indent="0">
              <a:buNone/>
            </a:pPr>
            <a:r>
              <a:rPr lang="en-US" dirty="0"/>
              <a:t>np.dot(C,I3)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array([[1., 3., 6.],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[2., 2., 1.],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[3., 1., 4.]])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np.dot(I3,C)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array([[1., 3., 6.],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[2., 2., 1.],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[3., 1., 4.]]) 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09475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468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Examples of identity matrix and inverse: </a:t>
            </a:r>
          </a:p>
          <a:p>
            <a:pPr marL="0" indent="0">
              <a:buNone/>
            </a:pPr>
            <a:r>
              <a:rPr lang="en-US" dirty="0" err="1"/>
              <a:t>inv_C</a:t>
            </a:r>
            <a:r>
              <a:rPr lang="en-US" dirty="0"/>
              <a:t> = </a:t>
            </a:r>
            <a:r>
              <a:rPr lang="en-US" dirty="0" err="1"/>
              <a:t>npla.inv</a:t>
            </a:r>
            <a:r>
              <a:rPr lang="en-US" dirty="0"/>
              <a:t>(C)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np.dot(</a:t>
            </a:r>
            <a:r>
              <a:rPr lang="en-US" dirty="0" err="1"/>
              <a:t>inv_C,C</a:t>
            </a:r>
            <a:r>
              <a:rPr lang="en-US" dirty="0"/>
              <a:t>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array([[ 1.00000000e+00, -1.11022302e-16, 2.22044605e-16],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[ 1.66533454e-16, 1.00000000e+00, 2.22044605e-16],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[-1.38777878e-17, 6.93889390e-17, 1.00000000e+00]])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794182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Broadcasting in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468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Broadcasting ‘fills’ in values for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calculations </a:t>
            </a:r>
          </a:p>
          <a:p>
            <a:r>
              <a:rPr lang="en-US" dirty="0">
                <a:latin typeface="+mn-lt"/>
              </a:rPr>
              <a:t>Values from lower dimensional arrays are broadcast into higher dimensional arrays   </a:t>
            </a:r>
          </a:p>
          <a:p>
            <a:r>
              <a:rPr lang="en-US" dirty="0">
                <a:latin typeface="+mn-lt"/>
              </a:rPr>
              <a:t>Broadcasting simplifies syntax</a:t>
            </a:r>
          </a:p>
          <a:p>
            <a:r>
              <a:rPr lang="en-US" dirty="0">
                <a:latin typeface="+mn-lt"/>
              </a:rPr>
              <a:t>Broadcasting used in many scientific languages    </a:t>
            </a:r>
          </a:p>
          <a:p>
            <a:pPr lvl="1"/>
            <a:r>
              <a:rPr lang="en-US" dirty="0" err="1">
                <a:latin typeface="+mn-lt"/>
              </a:rPr>
              <a:t>Matlab</a:t>
            </a:r>
            <a:endParaRPr lang="en-US" dirty="0">
              <a:latin typeface="+mn-lt"/>
            </a:endParaRPr>
          </a:p>
          <a:p>
            <a:pPr lvl="1"/>
            <a:r>
              <a:rPr lang="en-US" dirty="0">
                <a:latin typeface="+mn-lt"/>
              </a:rPr>
              <a:t>R</a:t>
            </a:r>
          </a:p>
          <a:p>
            <a:pPr lvl="1"/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</a:t>
            </a:r>
          </a:p>
          <a:p>
            <a:pPr lvl="1"/>
            <a:r>
              <a:rPr lang="en-US" dirty="0">
                <a:latin typeface="+mn-lt"/>
              </a:rPr>
              <a:t>…..</a:t>
            </a:r>
          </a:p>
          <a:p>
            <a:r>
              <a:rPr lang="en-US" dirty="0">
                <a:latin typeface="+mn-lt"/>
              </a:rPr>
              <a:t>Exact broadcasting rules vary from language to language  </a:t>
            </a:r>
          </a:p>
        </p:txBody>
      </p:sp>
    </p:spTree>
    <p:extLst>
      <p:ext uri="{BB962C8B-B14F-4D97-AF65-F5344CB8AC3E}">
        <p14:creationId xmlns:p14="http://schemas.microsoft.com/office/powerpoint/2010/main" val="2399170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Broadcasting in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10663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Broadcasting ‘fills’ in values for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calculations </a:t>
            </a:r>
          </a:p>
          <a:p>
            <a:r>
              <a:rPr lang="en-US" dirty="0">
                <a:latin typeface="+mn-lt"/>
              </a:rPr>
              <a:t>Example: Multiply array by scalar by broadcasting into the array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C9D6E1-575B-EF67-FA95-B13C197A9C86}"/>
                  </a:ext>
                </a:extLst>
              </p:cNvPr>
              <p:cNvSpPr txBox="1"/>
              <p:nvPr/>
            </p:nvSpPr>
            <p:spPr>
              <a:xfrm>
                <a:off x="175054" y="3289381"/>
                <a:ext cx="4435084" cy="1718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×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C9D6E1-575B-EF67-FA95-B13C197A9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054" y="3289381"/>
                <a:ext cx="4435084" cy="17180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66A766C-6F0E-DA2D-A725-0D66DDBC750E}"/>
                  </a:ext>
                </a:extLst>
              </p:cNvPr>
              <p:cNvSpPr txBox="1"/>
              <p:nvPr/>
            </p:nvSpPr>
            <p:spPr>
              <a:xfrm>
                <a:off x="6102465" y="3851297"/>
                <a:ext cx="42052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66A766C-6F0E-DA2D-A725-0D66DDBC75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465" y="3851297"/>
                <a:ext cx="42052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01D629-CF6B-8249-3A9E-6A60249E8E99}"/>
                  </a:ext>
                </a:extLst>
              </p:cNvPr>
              <p:cNvSpPr txBox="1"/>
              <p:nvPr/>
            </p:nvSpPr>
            <p:spPr>
              <a:xfrm>
                <a:off x="6482071" y="3289380"/>
                <a:ext cx="2826328" cy="1718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𝑠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∗</m:t>
                                      </m:r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𝑠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∗</m:t>
                                      </m:r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01D629-CF6B-8249-3A9E-6A60249E8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2071" y="3289380"/>
                <a:ext cx="2826328" cy="1718099"/>
              </a:xfrm>
              <a:prstGeom prst="rect">
                <a:avLst/>
              </a:prstGeom>
              <a:blipFill>
                <a:blip r:embed="rId5"/>
                <a:stretch>
                  <a:fillRect r="-931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D52E83F-86B0-93CA-9997-981A76D02C86}"/>
              </a:ext>
            </a:extLst>
          </p:cNvPr>
          <p:cNvSpPr/>
          <p:nvPr/>
        </p:nvSpPr>
        <p:spPr>
          <a:xfrm rot="21432883">
            <a:off x="805763" y="2119768"/>
            <a:ext cx="5431134" cy="1959090"/>
          </a:xfrm>
          <a:custGeom>
            <a:avLst/>
            <a:gdLst>
              <a:gd name="connsiteX0" fmla="*/ 5431134 w 5431134"/>
              <a:gd name="connsiteY0" fmla="*/ 1207255 h 1207255"/>
              <a:gd name="connsiteX1" fmla="*/ 4757895 w 5431134"/>
              <a:gd name="connsiteY1" fmla="*/ 383290 h 1207255"/>
              <a:gd name="connsiteX2" fmla="*/ 2255855 w 5431134"/>
              <a:gd name="connsiteY2" fmla="*/ 16525 h 1207255"/>
              <a:gd name="connsiteX3" fmla="*/ 748602 w 5431134"/>
              <a:gd name="connsiteY3" fmla="*/ 111984 h 1207255"/>
              <a:gd name="connsiteX4" fmla="*/ 0 w 5431134"/>
              <a:gd name="connsiteY4" fmla="*/ 544063 h 1207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31134" h="1207255">
                <a:moveTo>
                  <a:pt x="5431134" y="1207255"/>
                </a:moveTo>
                <a:cubicBezTo>
                  <a:pt x="5359121" y="894500"/>
                  <a:pt x="5287108" y="581745"/>
                  <a:pt x="4757895" y="383290"/>
                </a:cubicBezTo>
                <a:cubicBezTo>
                  <a:pt x="4228682" y="184835"/>
                  <a:pt x="2924070" y="61743"/>
                  <a:pt x="2255855" y="16525"/>
                </a:cubicBezTo>
                <a:cubicBezTo>
                  <a:pt x="1587640" y="-28693"/>
                  <a:pt x="1124578" y="24061"/>
                  <a:pt x="748602" y="111984"/>
                </a:cubicBezTo>
                <a:cubicBezTo>
                  <a:pt x="372626" y="199907"/>
                  <a:pt x="186313" y="371985"/>
                  <a:pt x="0" y="544063"/>
                </a:cubicBezTo>
              </a:path>
            </a:pathLst>
          </a:custGeom>
          <a:noFill/>
          <a:ln w="31750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9A2B62A-9F43-6FFF-D9F9-01875F577179}"/>
              </a:ext>
            </a:extLst>
          </p:cNvPr>
          <p:cNvSpPr/>
          <p:nvPr/>
        </p:nvSpPr>
        <p:spPr>
          <a:xfrm>
            <a:off x="1747579" y="4374517"/>
            <a:ext cx="4522123" cy="2222269"/>
          </a:xfrm>
          <a:custGeom>
            <a:avLst/>
            <a:gdLst>
              <a:gd name="connsiteX0" fmla="*/ 4522123 w 4522123"/>
              <a:gd name="connsiteY0" fmla="*/ 0 h 1539301"/>
              <a:gd name="connsiteX1" fmla="*/ 4078778 w 4522123"/>
              <a:gd name="connsiteY1" fmla="*/ 737062 h 1539301"/>
              <a:gd name="connsiteX2" fmla="*/ 2571403 w 4522123"/>
              <a:gd name="connsiteY2" fmla="*/ 1324494 h 1539301"/>
              <a:gd name="connsiteX3" fmla="*/ 748145 w 4522123"/>
              <a:gd name="connsiteY3" fmla="*/ 1535083 h 1539301"/>
              <a:gd name="connsiteX4" fmla="*/ 144087 w 4522123"/>
              <a:gd name="connsiteY4" fmla="*/ 1163782 h 1539301"/>
              <a:gd name="connsiteX5" fmla="*/ 0 w 4522123"/>
              <a:gd name="connsiteY5" fmla="*/ 609600 h 1539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22123" h="1539301">
                <a:moveTo>
                  <a:pt x="4522123" y="0"/>
                </a:moveTo>
                <a:cubicBezTo>
                  <a:pt x="4463010" y="258156"/>
                  <a:pt x="4403898" y="516313"/>
                  <a:pt x="4078778" y="737062"/>
                </a:cubicBezTo>
                <a:cubicBezTo>
                  <a:pt x="3753658" y="957811"/>
                  <a:pt x="3126508" y="1191491"/>
                  <a:pt x="2571403" y="1324494"/>
                </a:cubicBezTo>
                <a:cubicBezTo>
                  <a:pt x="2016298" y="1457497"/>
                  <a:pt x="1152698" y="1561868"/>
                  <a:pt x="748145" y="1535083"/>
                </a:cubicBezTo>
                <a:cubicBezTo>
                  <a:pt x="343592" y="1508298"/>
                  <a:pt x="268778" y="1318029"/>
                  <a:pt x="144087" y="1163782"/>
                </a:cubicBezTo>
                <a:cubicBezTo>
                  <a:pt x="19396" y="1009535"/>
                  <a:pt x="9698" y="809567"/>
                  <a:pt x="0" y="609600"/>
                </a:cubicBezTo>
              </a:path>
            </a:pathLst>
          </a:custGeom>
          <a:noFill/>
          <a:ln w="31750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120EBBC-702F-280A-1807-7E62BD3ED113}"/>
              </a:ext>
            </a:extLst>
          </p:cNvPr>
          <p:cNvSpPr/>
          <p:nvPr/>
        </p:nvSpPr>
        <p:spPr>
          <a:xfrm>
            <a:off x="3537921" y="3010203"/>
            <a:ext cx="2585788" cy="952198"/>
          </a:xfrm>
          <a:custGeom>
            <a:avLst/>
            <a:gdLst>
              <a:gd name="connsiteX0" fmla="*/ 2585788 w 2585788"/>
              <a:gd name="connsiteY0" fmla="*/ 952198 h 952198"/>
              <a:gd name="connsiteX1" fmla="*/ 2208944 w 2585788"/>
              <a:gd name="connsiteY1" fmla="*/ 292721 h 952198"/>
              <a:gd name="connsiteX2" fmla="*/ 1133831 w 2585788"/>
              <a:gd name="connsiteY2" fmla="*/ 4547 h 952198"/>
              <a:gd name="connsiteX3" fmla="*/ 152929 w 2585788"/>
              <a:gd name="connsiteY3" fmla="*/ 132009 h 952198"/>
              <a:gd name="connsiteX4" fmla="*/ 3300 w 2585788"/>
              <a:gd name="connsiteY4" fmla="*/ 342598 h 95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85788" h="952198">
                <a:moveTo>
                  <a:pt x="2585788" y="952198"/>
                </a:moveTo>
                <a:cubicBezTo>
                  <a:pt x="2518362" y="701430"/>
                  <a:pt x="2450937" y="450663"/>
                  <a:pt x="2208944" y="292721"/>
                </a:cubicBezTo>
                <a:cubicBezTo>
                  <a:pt x="1966951" y="134779"/>
                  <a:pt x="1476500" y="31332"/>
                  <a:pt x="1133831" y="4547"/>
                </a:cubicBezTo>
                <a:cubicBezTo>
                  <a:pt x="791162" y="-22238"/>
                  <a:pt x="341351" y="75667"/>
                  <a:pt x="152929" y="132009"/>
                </a:cubicBezTo>
                <a:cubicBezTo>
                  <a:pt x="-35493" y="188351"/>
                  <a:pt x="3300" y="342598"/>
                  <a:pt x="3300" y="342598"/>
                </a:cubicBezTo>
              </a:path>
            </a:pathLst>
          </a:custGeom>
          <a:noFill/>
          <a:ln w="31750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C67B1D0-D138-01ED-3B46-2EE5FDE2709A}"/>
              </a:ext>
            </a:extLst>
          </p:cNvPr>
          <p:cNvSpPr/>
          <p:nvPr/>
        </p:nvSpPr>
        <p:spPr>
          <a:xfrm>
            <a:off x="3402676" y="4361412"/>
            <a:ext cx="2726574" cy="959616"/>
          </a:xfrm>
          <a:custGeom>
            <a:avLst/>
            <a:gdLst>
              <a:gd name="connsiteX0" fmla="*/ 2726574 w 2726574"/>
              <a:gd name="connsiteY0" fmla="*/ 0 h 959616"/>
              <a:gd name="connsiteX1" fmla="*/ 2482734 w 2726574"/>
              <a:gd name="connsiteY1" fmla="*/ 570807 h 959616"/>
              <a:gd name="connsiteX2" fmla="*/ 1579418 w 2726574"/>
              <a:gd name="connsiteY2" fmla="*/ 886691 h 959616"/>
              <a:gd name="connsiteX3" fmla="*/ 676102 w 2726574"/>
              <a:gd name="connsiteY3" fmla="*/ 958734 h 959616"/>
              <a:gd name="connsiteX4" fmla="*/ 177338 w 2726574"/>
              <a:gd name="connsiteY4" fmla="*/ 858981 h 959616"/>
              <a:gd name="connsiteX5" fmla="*/ 0 w 2726574"/>
              <a:gd name="connsiteY5" fmla="*/ 631767 h 959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26574" h="959616">
                <a:moveTo>
                  <a:pt x="2726574" y="0"/>
                </a:moveTo>
                <a:cubicBezTo>
                  <a:pt x="2700250" y="211512"/>
                  <a:pt x="2673927" y="423025"/>
                  <a:pt x="2482734" y="570807"/>
                </a:cubicBezTo>
                <a:cubicBezTo>
                  <a:pt x="2291541" y="718589"/>
                  <a:pt x="1880523" y="822037"/>
                  <a:pt x="1579418" y="886691"/>
                </a:cubicBezTo>
                <a:cubicBezTo>
                  <a:pt x="1278313" y="951346"/>
                  <a:pt x="909782" y="963352"/>
                  <a:pt x="676102" y="958734"/>
                </a:cubicBezTo>
                <a:cubicBezTo>
                  <a:pt x="442422" y="954116"/>
                  <a:pt x="290022" y="913475"/>
                  <a:pt x="177338" y="858981"/>
                </a:cubicBezTo>
                <a:cubicBezTo>
                  <a:pt x="64654" y="804487"/>
                  <a:pt x="32327" y="718127"/>
                  <a:pt x="0" y="631767"/>
                </a:cubicBezTo>
              </a:path>
            </a:pathLst>
          </a:custGeom>
          <a:noFill/>
          <a:ln w="31750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3637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Broadcasting in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10663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Broadcasting ‘fills’ in values for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calculations </a:t>
            </a:r>
          </a:p>
          <a:p>
            <a:r>
              <a:rPr lang="en-US" dirty="0">
                <a:latin typeface="+mn-lt"/>
              </a:rPr>
              <a:t>Example: Multiply array by vector by broadcasting into the array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C9D6E1-575B-EF67-FA95-B13C197A9C86}"/>
                  </a:ext>
                </a:extLst>
              </p:cNvPr>
              <p:cNvSpPr txBox="1"/>
              <p:nvPr/>
            </p:nvSpPr>
            <p:spPr>
              <a:xfrm>
                <a:off x="1277876" y="3292418"/>
                <a:ext cx="4435084" cy="1718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C9D6E1-575B-EF67-FA95-B13C197A9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876" y="3292418"/>
                <a:ext cx="4435084" cy="17180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2100227-374D-936A-9F75-F30037CD3E0A}"/>
                  </a:ext>
                </a:extLst>
              </p:cNvPr>
              <p:cNvSpPr txBox="1"/>
              <p:nvPr/>
            </p:nvSpPr>
            <p:spPr>
              <a:xfrm>
                <a:off x="5436523" y="3272710"/>
                <a:ext cx="6096000" cy="1734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800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𝑟𝑜𝑤</m:t>
                                              </m:r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 1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8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∙</m:t>
                                          </m:r>
                                          <m:r>
                                            <a:rPr lang="en-US" sz="2800" b="1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𝑟𝑜𝑤</m:t>
                                              </m:r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 2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∙</m:t>
                                          </m:r>
                                          <m:r>
                                            <a:rPr lang="en-US" sz="2800" b="1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𝑟𝑜𝑤</m:t>
                                              </m:r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∙</m:t>
                                          </m:r>
                                          <m:r>
                                            <a:rPr lang="en-US" sz="2800" b="1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2100227-374D-936A-9F75-F30037CD3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523" y="3272710"/>
                <a:ext cx="6096000" cy="17347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1E83178-2D5F-36A0-C1C7-AB763B7DF50E}"/>
              </a:ext>
            </a:extLst>
          </p:cNvPr>
          <p:cNvCxnSpPr>
            <a:cxnSpLocks/>
          </p:cNvCxnSpPr>
          <p:nvPr/>
        </p:nvCxnSpPr>
        <p:spPr>
          <a:xfrm flipH="1" flipV="1">
            <a:off x="5248102" y="3546764"/>
            <a:ext cx="1751214" cy="60470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FA311E3-730B-B148-ED7C-54DA90FFB7BD}"/>
              </a:ext>
            </a:extLst>
          </p:cNvPr>
          <p:cNvCxnSpPr>
            <a:cxnSpLocks/>
          </p:cNvCxnSpPr>
          <p:nvPr/>
        </p:nvCxnSpPr>
        <p:spPr>
          <a:xfrm flipH="1" flipV="1">
            <a:off x="5297978" y="4001193"/>
            <a:ext cx="1701338" cy="138902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93C4829-DF6D-CCCD-DEF3-F9AA462960BA}"/>
              </a:ext>
            </a:extLst>
          </p:cNvPr>
          <p:cNvCxnSpPr>
            <a:cxnSpLocks/>
          </p:cNvCxnSpPr>
          <p:nvPr/>
        </p:nvCxnSpPr>
        <p:spPr>
          <a:xfrm flipH="1">
            <a:off x="5297978" y="4140095"/>
            <a:ext cx="1640378" cy="65357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55550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Vectorization in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468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Vectorization of code greatly speeds execution </a:t>
            </a:r>
          </a:p>
          <a:p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calculations performed in compiled code</a:t>
            </a:r>
          </a:p>
          <a:p>
            <a:pPr lvl="1"/>
            <a:r>
              <a:rPr lang="en-US" dirty="0">
                <a:latin typeface="+mn-lt"/>
              </a:rPr>
              <a:t>Mathematical operations performed at ‘C-speed’</a:t>
            </a:r>
          </a:p>
          <a:p>
            <a:pPr lvl="1"/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is a wrapper on optimized C and FORTRAN routines    </a:t>
            </a:r>
          </a:p>
          <a:p>
            <a:r>
              <a:rPr lang="en-US" dirty="0">
                <a:latin typeface="+mn-lt"/>
              </a:rPr>
              <a:t>Vectorized code operates on entire arrays with one call   </a:t>
            </a:r>
          </a:p>
          <a:p>
            <a:pPr lvl="1"/>
            <a:r>
              <a:rPr lang="en-US" dirty="0">
                <a:latin typeface="+mn-lt"/>
              </a:rPr>
              <a:t>Limits slow function call context switching </a:t>
            </a:r>
          </a:p>
          <a:p>
            <a:pPr lvl="1"/>
            <a:r>
              <a:rPr lang="en-US" dirty="0">
                <a:latin typeface="+mn-lt"/>
              </a:rPr>
              <a:t>Context switching must push and pop from stack – expensive   </a:t>
            </a:r>
          </a:p>
          <a:p>
            <a:r>
              <a:rPr lang="en-US" dirty="0">
                <a:latin typeface="+mn-lt"/>
              </a:rPr>
              <a:t>Coding with for loops requires many context switches    </a:t>
            </a:r>
          </a:p>
        </p:txBody>
      </p:sp>
    </p:spTree>
    <p:extLst>
      <p:ext uri="{BB962C8B-B14F-4D97-AF65-F5344CB8AC3E}">
        <p14:creationId xmlns:p14="http://schemas.microsoft.com/office/powerpoint/2010/main" val="450290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Vectorization in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46842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600" dirty="0">
                <a:latin typeface="+mn-lt"/>
              </a:rPr>
              <a:t>Example: use nested for loops to multiply matrix by vector </a:t>
            </a:r>
          </a:p>
          <a:p>
            <a:r>
              <a:rPr lang="en-US" sz="3100" dirty="0">
                <a:latin typeface="+mn-lt"/>
              </a:rPr>
              <a:t>Perform calculation with nested for loops     </a:t>
            </a:r>
          </a:p>
          <a:p>
            <a:pPr lvl="1"/>
            <a:r>
              <a:rPr lang="en-US" sz="2800" dirty="0">
                <a:latin typeface="+mn-lt"/>
              </a:rPr>
              <a:t>Each arithmetic operation is a function call with context switching  </a:t>
            </a:r>
          </a:p>
          <a:p>
            <a:pPr marL="0" indent="0">
              <a:buNone/>
            </a:pP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num_calculations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= 1000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dim = 1000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Q =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np.full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dim,dim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), 2.0)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z =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np.full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((dim), 10.0)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matrix_vector_product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A,x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o =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np.zeros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(x))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(x)):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j in range(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(x)):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o[j] =+ A[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]*x[j]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%time for _ in range(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num_calculations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matrix_vector_product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Q,z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 latinLnBrk="1">
              <a:buNone/>
            </a:pP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CPU times: total: 14min 30s</a:t>
            </a:r>
          </a:p>
          <a:p>
            <a:pPr marL="0" indent="0" latinLnBrk="1">
              <a:buNone/>
            </a:pP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Wall time: 14min 37s</a:t>
            </a:r>
          </a:p>
        </p:txBody>
      </p:sp>
    </p:spTree>
    <p:extLst>
      <p:ext uri="{BB962C8B-B14F-4D97-AF65-F5344CB8AC3E}">
        <p14:creationId xmlns:p14="http://schemas.microsoft.com/office/powerpoint/2010/main" val="4386188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Vectorization in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468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+mn-lt"/>
              </a:rPr>
              <a:t>Example: use nested for loops to multiply matrix by vector </a:t>
            </a:r>
          </a:p>
          <a:p>
            <a:r>
              <a:rPr lang="en-US" sz="3100" dirty="0">
                <a:latin typeface="+mn-lt"/>
              </a:rPr>
              <a:t>Vectorized calculation is much faster with </a:t>
            </a:r>
            <a:r>
              <a:rPr lang="en-US" sz="3100" dirty="0" err="1">
                <a:latin typeface="+mn-lt"/>
              </a:rPr>
              <a:t>Numpy</a:t>
            </a:r>
            <a:r>
              <a:rPr lang="en-US" sz="3100" dirty="0">
                <a:latin typeface="+mn-lt"/>
              </a:rPr>
              <a:t> </a:t>
            </a:r>
            <a:endParaRPr lang="en-US" sz="2800" dirty="0">
              <a:latin typeface="+mn-lt"/>
            </a:endParaRPr>
          </a:p>
          <a:p>
            <a:pPr marL="0" indent="0">
              <a:buNone/>
            </a:pP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o = np.zeros((dim))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%time for _ in range(num_calculations): o = np.dot(Q, z) </a:t>
            </a:r>
          </a:p>
          <a:p>
            <a:pPr marL="0" indent="0" latinLnBrk="1">
              <a:buNone/>
            </a:pPr>
            <a:r>
              <a: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CPU times: total: 2.27 s</a:t>
            </a:r>
          </a:p>
          <a:p>
            <a:pPr marL="0" indent="0" latinLnBrk="1">
              <a:buNone/>
            </a:pPr>
            <a:r>
              <a: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Wall time: 503 </a:t>
            </a:r>
            <a:r>
              <a:rPr lang="en-US" sz="20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ms</a:t>
            </a:r>
            <a:endParaRPr lang="en-US" sz="20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400"/>
              </a:spcBef>
              <a:buNone/>
            </a:pPr>
            <a:endParaRPr lang="en-US" sz="2600" dirty="0">
              <a:solidFill>
                <a:srgbClr val="C00000"/>
              </a:solidFill>
              <a:latin typeface="+mn-lt"/>
            </a:endParaRPr>
          </a:p>
          <a:p>
            <a:r>
              <a:rPr lang="en-US" sz="2600" dirty="0">
                <a:latin typeface="+mn-lt"/>
              </a:rPr>
              <a:t>Vectorized code is about 380 times faster!!</a:t>
            </a:r>
          </a:p>
        </p:txBody>
      </p:sp>
    </p:spTree>
    <p:extLst>
      <p:ext uri="{BB962C8B-B14F-4D97-AF65-F5344CB8AC3E}">
        <p14:creationId xmlns:p14="http://schemas.microsoft.com/office/powerpoint/2010/main" val="40347453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Working with </a:t>
            </a:r>
            <a:r>
              <a:rPr lang="en-US" dirty="0" err="1"/>
              <a:t>Numpy</a:t>
            </a:r>
            <a:r>
              <a:rPr lang="en-US" dirty="0"/>
              <a:t>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11974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Subset</a:t>
            </a:r>
            <a:r>
              <a:rPr lang="en-US" dirty="0">
                <a:latin typeface="+mn-lt"/>
              </a:rPr>
              <a:t> or </a:t>
            </a:r>
            <a:r>
              <a:rPr lang="en-US" b="1" dirty="0">
                <a:latin typeface="+mn-lt"/>
              </a:rPr>
              <a:t>slice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arrays</a:t>
            </a:r>
          </a:p>
          <a:p>
            <a:pPr marL="0" indent="0">
              <a:buNone/>
            </a:pPr>
            <a:r>
              <a:rPr lang="en-US" dirty="0">
                <a:latin typeface="+mn-lt"/>
              </a:rPr>
              <a:t>Common operations include: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EC11D0-EED5-4354-B9F1-5FE720707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153" y="2290761"/>
            <a:ext cx="9613694" cy="419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0963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Working with </a:t>
            </a:r>
            <a:r>
              <a:rPr lang="en-US" dirty="0" err="1"/>
              <a:t>Numpy</a:t>
            </a:r>
            <a:r>
              <a:rPr lang="en-US" dirty="0"/>
              <a:t>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11974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Subset</a:t>
            </a:r>
            <a:r>
              <a:rPr lang="en-US" dirty="0">
                <a:latin typeface="+mn-lt"/>
              </a:rPr>
              <a:t> or </a:t>
            </a:r>
            <a:r>
              <a:rPr lang="en-US" b="1" dirty="0">
                <a:latin typeface="+mn-lt"/>
              </a:rPr>
              <a:t>slice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arrays</a:t>
            </a:r>
          </a:p>
          <a:p>
            <a:pPr marL="0" indent="0">
              <a:buNone/>
            </a:pP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arrays use Python 0 indexing convention: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FA8015-8F14-46A2-BF62-391C3EA0C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951" y="2085848"/>
            <a:ext cx="7120122" cy="486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7795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Working with </a:t>
            </a:r>
            <a:r>
              <a:rPr lang="en-US" dirty="0" err="1"/>
              <a:t>Numpy</a:t>
            </a:r>
            <a:r>
              <a:rPr lang="en-US" dirty="0"/>
              <a:t>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4313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Subset</a:t>
            </a:r>
            <a:r>
              <a:rPr lang="en-US" dirty="0">
                <a:latin typeface="+mn-lt"/>
              </a:rPr>
              <a:t> or </a:t>
            </a:r>
            <a:r>
              <a:rPr lang="en-US" b="1" dirty="0">
                <a:latin typeface="+mn-lt"/>
              </a:rPr>
              <a:t>slice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arrays</a:t>
            </a:r>
          </a:p>
          <a:p>
            <a:pPr marL="0" indent="0">
              <a:buNone/>
            </a:pPr>
            <a:r>
              <a:rPr lang="en-US" dirty="0">
                <a:latin typeface="+mn-lt"/>
              </a:rPr>
              <a:t>Example, select range of columns:</a:t>
            </a:r>
          </a:p>
          <a:p>
            <a:pPr marL="0" indent="0">
              <a:buNone/>
            </a:pPr>
            <a:r>
              <a:rPr lang="en-US" dirty="0"/>
              <a:t>B[:, 1:3]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array([[ 2, 3],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[ 5, 6], </a:t>
            </a:r>
            <a:endParaRPr lang="en-US" dirty="0">
              <a:latin typeface="+mn-lt"/>
            </a:endParaRP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[ 8, 9],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[11, 12]]) 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039176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Working with </a:t>
            </a:r>
            <a:r>
              <a:rPr lang="en-US" dirty="0" err="1"/>
              <a:t>Numpy</a:t>
            </a:r>
            <a:r>
              <a:rPr lang="en-US" dirty="0"/>
              <a:t>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3218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Subset</a:t>
            </a:r>
            <a:r>
              <a:rPr lang="en-US" dirty="0">
                <a:latin typeface="+mn-lt"/>
              </a:rPr>
              <a:t> or </a:t>
            </a:r>
            <a:r>
              <a:rPr lang="en-US" b="1" dirty="0">
                <a:latin typeface="+mn-lt"/>
              </a:rPr>
              <a:t>slice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arrays</a:t>
            </a:r>
          </a:p>
          <a:p>
            <a:pPr marL="0" indent="0">
              <a:buNone/>
            </a:pPr>
            <a:r>
              <a:rPr lang="en-US" dirty="0">
                <a:latin typeface="+mn-lt"/>
              </a:rPr>
              <a:t>Example, all but last column:</a:t>
            </a:r>
          </a:p>
          <a:p>
            <a:pPr marL="0" indent="0">
              <a:buNone/>
            </a:pPr>
            <a:r>
              <a:rPr lang="en-US" dirty="0"/>
              <a:t>B[:, :-1]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array([[ 1, 2],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[ 4, 5],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[ 7, 8],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[10, 11]])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65826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Working with </a:t>
            </a:r>
            <a:r>
              <a:rPr lang="en-US" dirty="0" err="1"/>
              <a:t>Numpy</a:t>
            </a:r>
            <a:r>
              <a:rPr lang="en-US" dirty="0"/>
              <a:t>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5504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Subset</a:t>
            </a:r>
            <a:r>
              <a:rPr lang="en-US" dirty="0">
                <a:latin typeface="+mn-lt"/>
              </a:rPr>
              <a:t> or </a:t>
            </a:r>
            <a:r>
              <a:rPr lang="en-US" b="1" dirty="0">
                <a:latin typeface="+mn-lt"/>
              </a:rPr>
              <a:t>slice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arrays</a:t>
            </a:r>
          </a:p>
          <a:p>
            <a:pPr marL="0" indent="0">
              <a:buNone/>
            </a:pPr>
            <a:r>
              <a:rPr lang="en-US" dirty="0">
                <a:latin typeface="+mn-lt"/>
              </a:rPr>
              <a:t>Example, select rows 0 and 2:</a:t>
            </a:r>
          </a:p>
          <a:p>
            <a:pPr marL="0" indent="0">
              <a:buNone/>
            </a:pPr>
            <a:r>
              <a:rPr lang="en-US" dirty="0"/>
              <a:t>B[[0,2], :]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array([[1, 2, 3],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[7, 8, 9]])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da-DK" dirty="0"/>
              <a:t>B[[True,False,True,False], :]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da-DK" dirty="0"/>
              <a:t>## array([[1, 2, 3],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da-DK" dirty="0"/>
              <a:t>## [7, 8, 9]])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354171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Working with </a:t>
            </a:r>
            <a:r>
              <a:rPr lang="en-US" dirty="0" err="1"/>
              <a:t>Numpy</a:t>
            </a:r>
            <a:r>
              <a:rPr lang="en-US" dirty="0"/>
              <a:t>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76300"/>
            <a:ext cx="11525250" cy="57054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To create a copy of a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array use the </a:t>
            </a:r>
            <a:r>
              <a:rPr lang="en-US" dirty="0" err="1">
                <a:latin typeface="+mn-lt"/>
              </a:rPr>
              <a:t>numpy.copy</a:t>
            </a:r>
            <a:r>
              <a:rPr lang="en-US" dirty="0">
                <a:latin typeface="+mn-lt"/>
              </a:rPr>
              <a:t> function; </a:t>
            </a:r>
          </a:p>
          <a:p>
            <a:pPr marL="0" indent="0">
              <a:buNone/>
            </a:pPr>
            <a:r>
              <a:rPr lang="en-US" sz="2200" b="1" dirty="0">
                <a:latin typeface="+mn-lt"/>
              </a:rPr>
              <a:t>Note: </a:t>
            </a:r>
            <a:r>
              <a:rPr lang="en-US" sz="2200" dirty="0" err="1">
                <a:latin typeface="+mn-lt"/>
              </a:rPr>
              <a:t>numpy.copy</a:t>
            </a:r>
            <a:r>
              <a:rPr lang="en-US" sz="2200" dirty="0">
                <a:latin typeface="+mn-lt"/>
              </a:rPr>
              <a:t> is not to be confused with the Python </a:t>
            </a:r>
            <a:r>
              <a:rPr lang="en-US" sz="2200" dirty="0">
                <a:latin typeface="+mn-lt"/>
                <a:hlinkClick r:id="rId3"/>
              </a:rPr>
              <a:t>copy package</a:t>
            </a:r>
            <a:r>
              <a:rPr lang="en-US" sz="2200" dirty="0">
                <a:latin typeface="+mn-lt"/>
              </a:rPr>
              <a:t>, </a:t>
            </a:r>
            <a:r>
              <a:rPr lang="en-US" sz="2200" dirty="0" err="1">
                <a:latin typeface="+mn-lt"/>
              </a:rPr>
              <a:t>copy.deepcopy</a:t>
            </a:r>
            <a:r>
              <a:rPr lang="en-US" sz="2200" dirty="0">
                <a:latin typeface="+mn-lt"/>
              </a:rPr>
              <a:t>, which is less efficient for </a:t>
            </a:r>
            <a:r>
              <a:rPr lang="en-US" sz="2200" dirty="0" err="1">
                <a:latin typeface="+mn-lt"/>
              </a:rPr>
              <a:t>Numpy</a:t>
            </a:r>
            <a:r>
              <a:rPr lang="en-US" sz="2200" dirty="0">
                <a:latin typeface="+mn-lt"/>
              </a:rPr>
              <a:t> arrays</a:t>
            </a:r>
          </a:p>
          <a:p>
            <a:pPr marL="0" indent="0">
              <a:buNone/>
            </a:pPr>
            <a:r>
              <a:rPr lang="en-US" dirty="0">
                <a:latin typeface="+mn-lt"/>
              </a:rPr>
              <a:t>Example:</a:t>
            </a:r>
          </a:p>
          <a:p>
            <a:pPr marL="0" indent="0">
              <a:buNone/>
            </a:pPr>
            <a:r>
              <a:rPr lang="en-US" dirty="0"/>
              <a:t>C = </a:t>
            </a:r>
            <a:r>
              <a:rPr lang="en-US" dirty="0" err="1"/>
              <a:t>np.copy</a:t>
            </a:r>
            <a:r>
              <a:rPr lang="en-US" dirty="0"/>
              <a:t>(B)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B = B + 1.0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print(B)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[[ 2. 3. 4.]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[ 5. 6. 7.]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[ 8. 9. 10.]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[11. 12. 13.]]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print(C)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[[ 1 2 3]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[ 4 5 6]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[ 7 8 9]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[10 11 12]]</a:t>
            </a:r>
          </a:p>
          <a:p>
            <a:pPr marL="0" indent="0">
              <a:spcBef>
                <a:spcPts val="400"/>
              </a:spcBef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225147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307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Review of Eigenvalues and Eigenvectors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800" b="1" dirty="0">
                    <a:latin typeface="+mn-lt"/>
                    <a:cs typeface="Segoe UI" panose="020B0502040204020203" pitchFamily="34" charset="0"/>
                  </a:rPr>
                  <a:t>Eigenvalues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are characteristic roots or characteristic values of a linear system</a:t>
                </a:r>
              </a:p>
              <a:p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Start with the eigenvalue, eigenvector relationship: </a:t>
                </a:r>
              </a:p>
              <a:p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To see that </a:t>
                </a:r>
                <a:r>
                  <a:rPr lang="en-US" sz="2800" dirty="0">
                    <a:latin typeface="Symbol" panose="05050102010706020507" pitchFamily="18" charset="2"/>
                    <a:cs typeface="Segoe UI" panose="020B0502040204020203" pitchFamily="34" charset="0"/>
                  </a:rPr>
                  <a:t>l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𝑥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represent a root of </a:t>
                </a:r>
                <a:r>
                  <a:rPr lang="en-US" sz="2800" i="1" dirty="0">
                    <a:latin typeface="+mn-lt"/>
                    <a:cs typeface="Segoe UI" panose="020B0502040204020203" pitchFamily="34" charset="0"/>
                  </a:rPr>
                  <a:t>A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we rearrange as follows: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  <a:blipFill>
                <a:blip r:embed="rId2"/>
                <a:stretch>
                  <a:fillRect l="-1058" t="-1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AEA1668-3240-481F-9ADA-8EBE27A38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888" y="2299174"/>
            <a:ext cx="1554513" cy="3886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7ECF0E-4535-45CF-9C92-AF8E6CAD2A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3149" y="2841975"/>
            <a:ext cx="5064260" cy="17754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0533CD-4735-4F33-89BD-8EFA70FAB2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4161" y="5371876"/>
            <a:ext cx="2446991" cy="3410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F4DAA7-9F50-47C2-9B46-BABFA5B1AB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6094" y="5816591"/>
            <a:ext cx="2597382" cy="41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400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Review of Eigenvalues and Eigenvectors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Each eigenvalue of a square matrix is associated with an </a:t>
                </a:r>
                <a:r>
                  <a:rPr lang="en-US" sz="2800" b="1" dirty="0">
                    <a:latin typeface="+mn-lt"/>
                    <a:cs typeface="Segoe UI" panose="020B0502040204020203" pitchFamily="34" charset="0"/>
                  </a:rPr>
                  <a:t>eigenvector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Reconstruct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matrix by matrix multiplication: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𝑄</m:t>
                      </m:r>
                      <m:r>
                        <m:rPr>
                          <m:sty m:val="p"/>
                        </m:rPr>
                        <a:rPr lang="el-G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Λ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𝑄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800" b="0" dirty="0">
                  <a:latin typeface="+mn-lt"/>
                  <a:ea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(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𝑛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(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𝑛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𝑛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(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(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𝑛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(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lang="en-US" sz="2800" b="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The n eigenvalues are ordered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|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|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≥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…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≥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|</m:t>
                    </m:r>
                  </m:oMath>
                </a14:m>
                <a:endParaRPr lang="en-US" dirty="0"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Each of the n orthogonal and unit norm eigenvectors,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 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are scaled by the corresponding eigenvalue,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Intuitively, t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he larger the eigenvalue the greater the contribution to reconstruction of matrix A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 r="-106" b="-1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5122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Review of Eigenvalues and Eigenvectors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Some key properties of </a:t>
                </a:r>
                <a:r>
                  <a:rPr lang="en-US" sz="2800" dirty="0" err="1">
                    <a:latin typeface="+mn-lt"/>
                    <a:cs typeface="Segoe UI" panose="020B0502040204020203" pitchFamily="34" charset="0"/>
                  </a:rPr>
                  <a:t>eigendecomposition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 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The </a:t>
                </a:r>
                <a:r>
                  <a:rPr lang="en-US" sz="2800" b="1" dirty="0">
                    <a:latin typeface="+mn-lt"/>
                    <a:cs typeface="Segoe UI" panose="020B0502040204020203" pitchFamily="34" charset="0"/>
                  </a:rPr>
                  <a:t>l2 norm 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of any eigenvector is constrained to 1.0: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‖"/>
                          <m:endChr m:val="‖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)</m:t>
                              </m:r>
                            </m:sup>
                          </m:sSup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+ 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𝑝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 2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1/2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=1.0</m:t>
                      </m:r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Further the eigenvectors are </a:t>
                </a:r>
                <a:r>
                  <a:rPr lang="en-US" b="1" dirty="0">
                    <a:cs typeface="Segoe UI" panose="020B0502040204020203" pitchFamily="34" charset="0"/>
                  </a:rPr>
                  <a:t>orthogonal</a:t>
                </a:r>
                <a:r>
                  <a:rPr lang="en-US" dirty="0">
                    <a:cs typeface="Segoe UI" panose="020B0502040204020203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𝑞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∙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𝑞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𝑗</m:t>
                            </m:r>
                          </m:e>
                        </m:d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=0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,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𝑗</m:t>
                    </m:r>
                  </m:oMath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The unit norm and orthogonality 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properties of the matrix of n eigenvectors, </a:t>
                </a:r>
                <a:r>
                  <a:rPr lang="en-US" sz="2800" i="1" dirty="0">
                    <a:latin typeface="+mn-lt"/>
                    <a:cs typeface="Segoe UI" panose="020B0502040204020203" pitchFamily="34" charset="0"/>
                  </a:rPr>
                  <a:t>Q 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give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pPr lvl="1"/>
                <a:r>
                  <a:rPr lang="en-US" dirty="0">
                    <a:cs typeface="Segoe UI" panose="020B0502040204020203" pitchFamily="34" charset="0"/>
                  </a:rPr>
                  <a:t>A </a:t>
                </a:r>
                <a:r>
                  <a:rPr lang="en-US" b="1" dirty="0">
                    <a:cs typeface="Segoe UI" panose="020B0502040204020203" pitchFamily="34" charset="0"/>
                  </a:rPr>
                  <a:t>unique solution </a:t>
                </a:r>
                <a:r>
                  <a:rPr lang="en-US" dirty="0">
                    <a:cs typeface="Segoe UI" panose="020B0502040204020203" pitchFamily="34" charset="0"/>
                  </a:rPr>
                  <a:t>to eigen-decomposition problem  </a:t>
                </a:r>
              </a:p>
              <a:p>
                <a:pPr lvl="1"/>
                <a:r>
                  <a:rPr lang="en-US" dirty="0">
                    <a:cs typeface="Segoe UI" panose="020B0502040204020203" pitchFamily="34" charset="0"/>
                  </a:rPr>
                  <a:t>Scaling only from eigenvalues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6907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Review of Eigenvalues and Eigenvectors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8025" y="1193836"/>
            <a:ext cx="5509477" cy="5410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+mn-lt"/>
                <a:cs typeface="Segoe UI" panose="020B0502040204020203" pitchFamily="34" charset="0"/>
              </a:rPr>
              <a:t>How can we interpret eigen-decomposition for 2-d example?  </a:t>
            </a:r>
            <a:endParaRPr lang="en-US" sz="2800" b="1" dirty="0">
              <a:latin typeface="+mn-lt"/>
              <a:cs typeface="Segoe UI" panose="020B0502040204020203" pitchFamily="34" charset="0"/>
            </a:endParaRPr>
          </a:p>
          <a:p>
            <a:r>
              <a:rPr lang="en-US" sz="2800" dirty="0">
                <a:latin typeface="+mn-lt"/>
                <a:cs typeface="Segoe UI" panose="020B0502040204020203" pitchFamily="34" charset="0"/>
              </a:rPr>
              <a:t>First eigenvector is along direction of fastest change – highest variance</a:t>
            </a:r>
          </a:p>
          <a:p>
            <a:r>
              <a:rPr lang="en-US" dirty="0">
                <a:cs typeface="Segoe UI" panose="020B0502040204020203" pitchFamily="34" charset="0"/>
              </a:rPr>
              <a:t>First eigenvalue determine the scale of the first eigenvector</a:t>
            </a:r>
          </a:p>
          <a:p>
            <a:r>
              <a:rPr lang="en-US" sz="2800" dirty="0">
                <a:latin typeface="+mn-lt"/>
                <a:cs typeface="Segoe UI" panose="020B0502040204020203" pitchFamily="34" charset="0"/>
              </a:rPr>
              <a:t>Other eigenvectors ordered by decreasing </a:t>
            </a:r>
            <a:r>
              <a:rPr lang="en-US" dirty="0">
                <a:cs typeface="Segoe UI" panose="020B0502040204020203" pitchFamily="34" charset="0"/>
              </a:rPr>
              <a:t>eigenvalue</a:t>
            </a:r>
            <a:endParaRPr lang="en-US" sz="2800" dirty="0">
              <a:latin typeface="+mn-lt"/>
              <a:cs typeface="Segoe UI" panose="020B0502040204020203" pitchFamily="34" charset="0"/>
            </a:endParaRPr>
          </a:p>
        </p:txBody>
      </p:sp>
      <p:grpSp>
        <p:nvGrpSpPr>
          <p:cNvPr id="4" name="Group 21">
            <a:extLst>
              <a:ext uri="{FF2B5EF4-FFF2-40B4-BE49-F238E27FC236}">
                <a16:creationId xmlns:a16="http://schemas.microsoft.com/office/drawing/2014/main" id="{1144DD8E-88AE-4361-990C-33430DF76415}"/>
              </a:ext>
            </a:extLst>
          </p:cNvPr>
          <p:cNvGrpSpPr>
            <a:grpSpLocks/>
          </p:cNvGrpSpPr>
          <p:nvPr/>
        </p:nvGrpSpPr>
        <p:grpSpPr bwMode="auto">
          <a:xfrm>
            <a:off x="6303011" y="2292334"/>
            <a:ext cx="5787413" cy="3017854"/>
            <a:chOff x="2254" y="2352"/>
            <a:chExt cx="3410" cy="1813"/>
          </a:xfrm>
        </p:grpSpPr>
        <p:sp>
          <p:nvSpPr>
            <p:cNvPr id="5" name="Text Box 8">
              <a:extLst>
                <a:ext uri="{FF2B5EF4-FFF2-40B4-BE49-F238E27FC236}">
                  <a16:creationId xmlns:a16="http://schemas.microsoft.com/office/drawing/2014/main" id="{B30430D9-95A9-40BC-B2A3-3AB4693BDD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2736"/>
              <a:ext cx="1008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en-US" sz="1600">
                  <a:solidFill>
                    <a:srgbClr val="FF3300"/>
                  </a:solidFill>
                  <a:cs typeface="Times New Roman" panose="02020603050405020304" pitchFamily="18" charset="0"/>
                </a:rPr>
                <a:t>direction of the slowest change</a:t>
              </a:r>
              <a:endParaRPr lang="ru-RU" altLang="en-US" sz="1600">
                <a:solidFill>
                  <a:srgbClr val="FF33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" name="Text Box 9">
              <a:extLst>
                <a:ext uri="{FF2B5EF4-FFF2-40B4-BE49-F238E27FC236}">
                  <a16:creationId xmlns:a16="http://schemas.microsoft.com/office/drawing/2014/main" id="{9BD20CB3-81D3-46EF-A76C-1B174A453B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352"/>
              <a:ext cx="105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en-US" sz="1600" dirty="0">
                  <a:solidFill>
                    <a:srgbClr val="0033CC"/>
                  </a:solidFill>
                  <a:cs typeface="Times New Roman" panose="02020603050405020304" pitchFamily="18" charset="0"/>
                </a:rPr>
                <a:t>direction of the fastest change</a:t>
              </a:r>
              <a:endParaRPr lang="ru-RU" altLang="en-US" sz="1600" dirty="0">
                <a:solidFill>
                  <a:srgbClr val="0033CC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" name="Oval 11">
              <a:extLst>
                <a:ext uri="{FF2B5EF4-FFF2-40B4-BE49-F238E27FC236}">
                  <a16:creationId xmlns:a16="http://schemas.microsoft.com/office/drawing/2014/main" id="{7D4A61DB-3EDE-4AE1-98D7-93C2F6C8CEB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106879">
              <a:off x="2254" y="2771"/>
              <a:ext cx="2448" cy="1217"/>
            </a:xfrm>
            <a:prstGeom prst="ellipse">
              <a:avLst/>
            </a:prstGeom>
            <a:solidFill>
              <a:srgbClr val="7CF6D3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hangingPunct="0">
                <a:spcBef>
                  <a:spcPct val="0"/>
                </a:spcBef>
              </a:pPr>
              <a:endParaRPr lang="en-US" altLang="en-US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8" name="Line 12">
              <a:extLst>
                <a:ext uri="{FF2B5EF4-FFF2-40B4-BE49-F238E27FC236}">
                  <a16:creationId xmlns:a16="http://schemas.microsoft.com/office/drawing/2014/main" id="{5392019D-7A21-4173-9032-45FE30C7D13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280297" flipV="1">
              <a:off x="2555" y="2597"/>
              <a:ext cx="1875" cy="156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Line 13">
              <a:extLst>
                <a:ext uri="{FF2B5EF4-FFF2-40B4-BE49-F238E27FC236}">
                  <a16:creationId xmlns:a16="http://schemas.microsoft.com/office/drawing/2014/main" id="{B9335222-F3FE-47F2-81E0-D6183D80883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280297" flipH="1" flipV="1">
              <a:off x="3094" y="2904"/>
              <a:ext cx="798" cy="94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AutoShape 14">
              <a:extLst>
                <a:ext uri="{FF2B5EF4-FFF2-40B4-BE49-F238E27FC236}">
                  <a16:creationId xmlns:a16="http://schemas.microsoft.com/office/drawing/2014/main" id="{172CB780-BC01-4F06-B927-F20A920525C4}"/>
                </a:ext>
              </a:extLst>
            </p:cNvPr>
            <p:cNvSpPr>
              <a:spLocks/>
            </p:cNvSpPr>
            <p:nvPr/>
          </p:nvSpPr>
          <p:spPr bwMode="auto">
            <a:xfrm rot="-6496486">
              <a:off x="4037" y="2756"/>
              <a:ext cx="116" cy="1095"/>
            </a:xfrm>
            <a:prstGeom prst="leftBrace">
              <a:avLst>
                <a:gd name="adj1" fmla="val 78664"/>
                <a:gd name="adj2" fmla="val 49065"/>
              </a:avLst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hangingPunct="0">
                <a:spcBef>
                  <a:spcPct val="0"/>
                </a:spcBef>
              </a:pPr>
              <a:endParaRPr lang="en-US" altLang="en-US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1" name="AutoShape 15">
              <a:extLst>
                <a:ext uri="{FF2B5EF4-FFF2-40B4-BE49-F238E27FC236}">
                  <a16:creationId xmlns:a16="http://schemas.microsoft.com/office/drawing/2014/main" id="{FFCA31A6-9DC5-4BCE-9CEB-DBFB524F5E23}"/>
                </a:ext>
              </a:extLst>
            </p:cNvPr>
            <p:cNvSpPr>
              <a:spLocks/>
            </p:cNvSpPr>
            <p:nvPr/>
          </p:nvSpPr>
          <p:spPr bwMode="auto">
            <a:xfrm rot="-1178674">
              <a:off x="3212" y="2864"/>
              <a:ext cx="140" cy="513"/>
            </a:xfrm>
            <a:prstGeom prst="leftBrace">
              <a:avLst>
                <a:gd name="adj1" fmla="val 30536"/>
                <a:gd name="adj2" fmla="val 49065"/>
              </a:avLst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hangingPunct="0">
                <a:spcBef>
                  <a:spcPct val="0"/>
                </a:spcBef>
              </a:pPr>
              <a:endParaRPr lang="en-US" altLang="en-US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" name="Rectangle 16">
              <a:extLst>
                <a:ext uri="{FF2B5EF4-FFF2-40B4-BE49-F238E27FC236}">
                  <a16:creationId xmlns:a16="http://schemas.microsoft.com/office/drawing/2014/main" id="{574AAD93-4951-4F14-A053-5C9D15B9DB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3168"/>
              <a:ext cx="11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en-US" sz="240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ru-RU" altLang="en-US" sz="240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lang="en-US" altLang="en-US" sz="2400" baseline="-2500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max</a:t>
              </a:r>
              <a:r>
                <a:rPr lang="en-US" altLang="en-US" sz="240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r>
                <a:rPr lang="en-US" altLang="en-US" sz="2400" baseline="3000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-1/2</a:t>
              </a:r>
              <a:endParaRPr lang="ru-RU" altLang="en-US" sz="2400" baseline="3000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3" name="Rectangle 17">
              <a:extLst>
                <a:ext uri="{FF2B5EF4-FFF2-40B4-BE49-F238E27FC236}">
                  <a16:creationId xmlns:a16="http://schemas.microsoft.com/office/drawing/2014/main" id="{8A615ADB-3C6B-4045-94D6-EB6C8EAF75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3360"/>
              <a:ext cx="11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en-US" sz="240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ru-RU" altLang="en-US" sz="240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lang="en-US" altLang="en-US" sz="2400" baseline="-2500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min</a:t>
              </a:r>
              <a:r>
                <a:rPr lang="en-US" altLang="en-US" sz="240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r>
                <a:rPr lang="en-US" altLang="en-US" sz="2400" baseline="3000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-1/2</a:t>
              </a:r>
              <a:endParaRPr lang="ru-RU" altLang="en-US" sz="2400" baseline="3000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422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Least Squares for the linear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For the linear model we want to find the </a:t>
                </a:r>
                <a:r>
                  <a:rPr lang="en-US" b="1" dirty="0">
                    <a:cs typeface="Segoe UI" panose="020B0502040204020203" pitchFamily="34" charset="0"/>
                  </a:rPr>
                  <a:t>least squares error </a:t>
                </a:r>
                <a:r>
                  <a:rPr lang="en-US" dirty="0">
                    <a:cs typeface="Segoe UI" panose="020B0502040204020203" pitchFamily="34" charset="0"/>
                  </a:rPr>
                  <a:t>solution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Given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data (feature)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and label vector, </a:t>
                </a:r>
                <a:r>
                  <a:rPr lang="en-US" i="1" dirty="0">
                    <a:cs typeface="Segoe UI" panose="020B0502040204020203" pitchFamily="34" charset="0"/>
                  </a:rPr>
                  <a:t>b</a:t>
                </a:r>
                <a:r>
                  <a:rPr lang="en-US" dirty="0">
                    <a:cs typeface="Segoe UI" panose="020B0502040204020203" pitchFamily="34" charset="0"/>
                  </a:rPr>
                  <a:t>, we want to find a </a:t>
                </a:r>
                <a:r>
                  <a:rPr lang="en-US" b="1" dirty="0" err="1">
                    <a:cs typeface="Segoe UI" panose="020B0502040204020203" pitchFamily="34" charset="0"/>
                  </a:rPr>
                  <a:t>coeffeiciet</a:t>
                </a:r>
                <a:r>
                  <a:rPr lang="en-US" b="1" dirty="0">
                    <a:cs typeface="Segoe UI" panose="020B0502040204020203" pitchFamily="34" charset="0"/>
                  </a:rPr>
                  <a:t> vector</a:t>
                </a:r>
                <a:r>
                  <a:rPr lang="en-US" dirty="0">
                    <a:cs typeface="Segoe UI" panose="020B0502040204020203" pitchFamily="34" charset="0"/>
                  </a:rPr>
                  <a:t>,</a:t>
                </a:r>
                <a:r>
                  <a:rPr lang="en-US" b="1" dirty="0">
                    <a:cs typeface="Segoe UI" panose="020B0502040204020203" pitchFamily="34" charset="0"/>
                  </a:rPr>
                  <a:t> </a:t>
                </a:r>
                <a:r>
                  <a:rPr lang="en-US" i="1" dirty="0">
                    <a:cs typeface="Segoe UI" panose="020B0502040204020203" pitchFamily="34" charset="0"/>
                  </a:rPr>
                  <a:t>q</a:t>
                </a:r>
                <a:r>
                  <a:rPr lang="en-US" dirty="0">
                    <a:cs typeface="Segoe UI" panose="020B0502040204020203" pitchFamily="34" charset="0"/>
                  </a:rPr>
                  <a:t>, that minimizes the squared error: 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𝑏</m:t>
                      </m:r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We can find the </a:t>
                </a:r>
                <a:r>
                  <a:rPr lang="en-US" b="1" dirty="0">
                    <a:cs typeface="Segoe UI" panose="020B0502040204020203" pitchFamily="34" charset="0"/>
                  </a:rPr>
                  <a:t>normal equations </a:t>
                </a:r>
                <a:r>
                  <a:rPr lang="en-US" dirty="0">
                    <a:cs typeface="Segoe UI" panose="020B0502040204020203" pitchFamily="34" charset="0"/>
                  </a:rPr>
                  <a:t>by multiplying both sides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and taking an inverse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𝐴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𝐴𝑞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𝐴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𝑏</m:t>
                      </m:r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457200" lvl="1" indent="0">
                  <a:buNone/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Or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𝑞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𝐴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𝑏</m:t>
                      </m:r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These are the normal equations with covariance,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6824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Least Squares for Linear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Define eigenvalue decomposition of covariance  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Given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data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compute the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𝒑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𝒑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</m:oMath>
                </a14:m>
                <a:r>
                  <a:rPr lang="en-US" b="1" dirty="0">
                    <a:cs typeface="Segoe UI" panose="020B0502040204020203" pitchFamily="34" charset="0"/>
                  </a:rPr>
                  <a:t>centered covariance matrix</a:t>
                </a:r>
              </a:p>
              <a:p>
                <a:pPr marL="0" indent="0">
                  <a:buNone/>
                </a:pPr>
                <a:endParaRPr lang="en-US" sz="1000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𝑝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1,1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1,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𝑝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,1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𝑝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457200" lvl="1" indent="0">
                  <a:buNone/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 where,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𝑗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457200" lvl="1" indent="0">
                  <a:buNone/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For column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  <a:cs typeface="Segoe U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  <a:cs typeface="Segoe UI" panose="020B0502040204020203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endParaRPr lang="en-US" dirty="0">
                  <a:latin typeface="+mn-lt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 err="1">
                    <a:cs typeface="Segoe UI" panose="020B0502040204020203" pitchFamily="34" charset="0"/>
                  </a:rPr>
                  <a:t>Eigendecomposition</a:t>
                </a:r>
                <a:r>
                  <a:rPr lang="en-US" dirty="0">
                    <a:cs typeface="Segoe UI" panose="020B0502040204020203" pitchFamily="34" charset="0"/>
                  </a:rPr>
                  <a:t> of covariance is then: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𝑄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Λ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0041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Least Squares for Linear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We can use </a:t>
                </a:r>
                <a:r>
                  <a:rPr lang="en-US" dirty="0" err="1">
                    <a:cs typeface="Segoe UI" panose="020B0502040204020203" pitchFamily="34" charset="0"/>
                  </a:rPr>
                  <a:t>eigendecomposition</a:t>
                </a:r>
                <a:r>
                  <a:rPr lang="en-US" dirty="0">
                    <a:cs typeface="Segoe UI" panose="020B0502040204020203" pitchFamily="34" charset="0"/>
                  </a:rPr>
                  <a:t> to find the </a:t>
                </a:r>
                <a:r>
                  <a:rPr lang="en-US" b="1" dirty="0">
                    <a:cs typeface="Segoe UI" panose="020B0502040204020203" pitchFamily="34" charset="0"/>
                  </a:rPr>
                  <a:t>inverse</a:t>
                </a:r>
                <a:r>
                  <a:rPr lang="en-US" dirty="0">
                    <a:cs typeface="Segoe UI" panose="020B0502040204020203" pitchFamily="34" charset="0"/>
                  </a:rPr>
                  <a:t> 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convariance matrix,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Σ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Σ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−1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𝑄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Λ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−1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Q</m:t>
                      </m:r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For example for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2×2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inverse covariance matrix </a:t>
                </a:r>
                <a:r>
                  <a:rPr lang="en-US" dirty="0">
                    <a:cs typeface="Segoe U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Σ</m:t>
                    </m:r>
                    <m: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sz="2800" dirty="0">
                    <a:cs typeface="Segoe UI" panose="020B0502040204020203" pitchFamily="34" charset="0"/>
                  </a:rPr>
                  <a:t>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Σ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−1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2,2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2,2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But, if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≫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, this </a:t>
                </a:r>
                <a:r>
                  <a:rPr lang="en-US" sz="2800" b="1" dirty="0">
                    <a:latin typeface="+mn-lt"/>
                    <a:cs typeface="Segoe UI" panose="020B0502040204020203" pitchFamily="34" charset="0"/>
                  </a:rPr>
                  <a:t>inverse is unstable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!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And if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=0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, the </a:t>
                </a:r>
                <a:r>
                  <a:rPr lang="en-US" sz="2800" b="1" dirty="0">
                    <a:latin typeface="+mn-lt"/>
                    <a:cs typeface="Segoe UI" panose="020B0502040204020203" pitchFamily="34" charset="0"/>
                  </a:rPr>
                  <a:t>inverse does not exist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!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Solution, set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=0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for small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→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</a:t>
                </a:r>
                <a:r>
                  <a:rPr lang="en-US" sz="2800" b="1" dirty="0">
                    <a:latin typeface="+mn-lt"/>
                    <a:cs typeface="Segoe UI" panose="020B0502040204020203" pitchFamily="34" charset="0"/>
                  </a:rPr>
                  <a:t>stable inverse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 r="-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5996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Examples of Eigenvalues and Eigenvectors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1265273"/>
            <a:ext cx="11525250" cy="5410511"/>
          </a:xfrm>
        </p:spPr>
        <p:txBody>
          <a:bodyPr/>
          <a:lstStyle/>
          <a:p>
            <a:pPr marL="0" indent="0">
              <a:buNone/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DD6408-B0DC-4BBF-8F31-9B2A4D280801}"/>
              </a:ext>
            </a:extLst>
          </p:cNvPr>
          <p:cNvSpPr txBox="1">
            <a:spLocks/>
          </p:cNvSpPr>
          <p:nvPr/>
        </p:nvSpPr>
        <p:spPr>
          <a:xfrm>
            <a:off x="923925" y="1422400"/>
            <a:ext cx="10515600" cy="6662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See </a:t>
            </a:r>
            <a:r>
              <a:rPr lang="en-US" sz="4000">
                <a:latin typeface="+mn-lt"/>
                <a:cs typeface="Segoe UI" panose="020B0502040204020203" pitchFamily="34" charset="0"/>
              </a:rPr>
              <a:t>the notebook!</a:t>
            </a:r>
            <a:endParaRPr lang="en-US" sz="4000" dirty="0">
              <a:latin typeface="+mn-lt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2909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Principle Component Decomposition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Want to find a projection with largest variance 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Projection with highest variance explains most variation in the data  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Start with projection vector,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𝑤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to map the data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to another,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𝑡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vector in another space  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:r>
                  <a:rPr lang="en-US" i="1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            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 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We want to find projection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𝑤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with maximum variance</a:t>
                </a:r>
              </a:p>
              <a:p>
                <a:pPr>
                  <a:tabLst>
                    <a:tab pos="7543800" algn="l"/>
                  </a:tabLst>
                </a:pPr>
                <a:endParaRPr lang="en-US" sz="1000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argmax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𝑤</m:t>
                                  </m:r>
                                </m:e>
                              </m:eqAr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 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=</m:t>
                          </m:r>
                        </m:fName>
                        <m: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 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9558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Principle Component Decomposition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Want to find a projection with largest variance 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We want to find projection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𝑤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so that  has the maximum variance</a:t>
                </a:r>
              </a:p>
              <a:p>
                <a:pPr>
                  <a:tabLst>
                    <a:tab pos="7543800" algn="l"/>
                  </a:tabLst>
                </a:pPr>
                <a:endParaRPr lang="en-US" sz="1000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argmax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𝑤</m:t>
                                  </m:r>
                                </m:e>
                              </m:eqAr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 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=</m:t>
                          </m:r>
                        </m:fName>
                        <m: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 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Or in matrix form:   </a:t>
                </a:r>
              </a:p>
              <a:p>
                <a:pPr>
                  <a:tabLst>
                    <a:tab pos="7543800" algn="l"/>
                  </a:tabLst>
                </a:pPr>
                <a:endParaRPr lang="en-US" sz="1000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eqArr>
                                <m:eqArr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argmax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𝑤</m:t>
                                  </m:r>
                                </m:e>
                              </m:eqAr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 </m:t>
                              </m:r>
                            </m:lim>
                          </m:limLow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𝐴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𝑊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=</m:t>
                          </m:r>
                        </m:fName>
                        <m: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𝐴𝑤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Since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𝑐𝑜𝑣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𝑝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𝑛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</m:fName>
                        <m: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𝑐𝑜𝑣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𝐴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2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5242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Principle Component Decomposition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Want to find a projection with largest variance 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Start with standardized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: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</m:fName>
                        <m: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𝑐𝑜𝑣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𝐴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Substitute eigen decomposition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𝑐𝑜𝑣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𝑄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Λ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endParaRPr lang="en-US" sz="1000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uncPr>
                        <m:fNam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</m:fName>
                        <m: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𝑄</m:t>
                              </m:r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Λ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Maximize by choosing largest eigenvalue,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and corresponding unit norm eigenvector,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.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=1.0</m:t>
                      </m:r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The </a:t>
                </a:r>
                <a:r>
                  <a:rPr lang="en-US" b="1" dirty="0">
                    <a:cs typeface="Segoe UI" panose="020B0502040204020203" pitchFamily="34" charset="0"/>
                  </a:rPr>
                  <a:t>first principle component!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6849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Principle Component Decomposition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031359"/>
                <a:ext cx="11525250" cy="564442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Find subsequent principal components  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The kth principle component has the following properties: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Orthogonal to the other k-1 principal components 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Maximize explained component of the remining variance  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We can remove the explained component of the k-1 principle components from the data matrix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̃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𝐴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−1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𝑠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𝑇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Then solve: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</m:fName>
                        <m: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𝑐𝑜𝑣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Is maximized by choosing the kth eigenvalue,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and eigenvector,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 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.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=1.0</m:t>
                      </m:r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031359"/>
                <a:ext cx="11525250" cy="5644426"/>
              </a:xfrm>
              <a:blipFill>
                <a:blip r:embed="rId2"/>
                <a:stretch>
                  <a:fillRect l="-1058" t="-2376" b="-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8253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Principle Component Decomposition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1270591"/>
            <a:ext cx="11525250" cy="5405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cs typeface="Segoe UI" panose="020B0502040204020203" pitchFamily="34" charset="0"/>
              </a:rPr>
              <a:t>Properties of principle components </a:t>
            </a:r>
            <a:endParaRPr lang="en-US" sz="2800" b="1" dirty="0">
              <a:latin typeface="+mn-lt"/>
              <a:cs typeface="Segoe UI" panose="020B0502040204020203" pitchFamily="34" charset="0"/>
            </a:endParaRPr>
          </a:p>
          <a:p>
            <a:pPr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The projection directions are determined by the unit norm eigenvectors</a:t>
            </a:r>
          </a:p>
          <a:p>
            <a:pPr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Each principle direction scaled by the eigenvalue  </a:t>
            </a:r>
          </a:p>
          <a:p>
            <a:pPr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Each PC ordered by eigenvalues, having decreasing variance</a:t>
            </a: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sz="2800" dirty="0">
              <a:latin typeface="+mn-lt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211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Principle Component Decomposition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70591"/>
                <a:ext cx="11525250" cy="540519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Given the principle components, dimensionality reduction is easy   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For all components the transformation to the full dimensional orthogonal space is 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𝐴𝑊</m:t>
                      </m:r>
                    </m:oMath>
                  </m:oMathPara>
                </a14:m>
                <a:endParaRPr lang="en-US" b="0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We can limit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𝑊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 to the first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 components </a:t>
                </a:r>
              </a:p>
              <a:p>
                <a:pPr>
                  <a:tabLst>
                    <a:tab pos="7543800" algn="l"/>
                  </a:tabLst>
                </a:pPr>
                <a:endParaRPr lang="en-US" sz="1000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𝑊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𝐿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is the first L columns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𝑊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is the projection of the first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𝐿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principle components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Projection has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𝐿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components which explain the most variance   </a:t>
                </a:r>
              </a:p>
              <a:p>
                <a:pPr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70591"/>
                <a:ext cx="11525250" cy="5405194"/>
              </a:xfrm>
              <a:blipFill>
                <a:blip r:embed="rId2"/>
                <a:stretch>
                  <a:fillRect l="-1058" t="-1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5187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Singular Value Decomposition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Singular value decomposition (SVD) is a computational efficient matrix decomposition  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Given a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computing the covariance,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is computationally intensive  </a:t>
                </a:r>
              </a:p>
              <a:p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Even if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is sparse,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is dense   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SVD provides an alternative: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U</m:t>
                      </m:r>
                      <m:r>
                        <m:rPr>
                          <m:sty m:val="p"/>
                        </m:rPr>
                        <a:rPr lang="el-G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Σ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𝑉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Where: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𝑙𝑒𝑓𝑡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𝑠𝑖𝑛𝑔𝑢𝑙𝑎𝑟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𝑜𝑟𝑡ℎ𝑜𝑛𝑜𝑟𝑚𝑎𝑙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𝑣𝑒𝑐𝑡𝑜𝑟𝑠</m:t>
                      </m:r>
                    </m:oMath>
                  </m:oMathPara>
                </a14:m>
                <a:endParaRPr lang="en-US" sz="2800" b="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l-G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𝑑𝑖𝑎𝑔𝑜𝑛𝑎𝑙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𝑚𝑎𝑡𝑟𝑖𝑥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𝑜𝑓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𝑠𝑖𝑛𝑔𝑢𝑙𝑎𝑟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𝑣𝑎𝑙𝑢𝑒𝑠</m:t>
                      </m:r>
                    </m:oMath>
                  </m:oMathPara>
                </a14:m>
                <a:endParaRPr lang="en-US" sz="2800" b="0" dirty="0">
                  <a:latin typeface="+mn-lt"/>
                  <a:ea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𝑉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𝑟𝑖𝑔ℎ𝑡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𝑜𝑟𝑡ℎ𝑜𝑛𝑜𝑟𝑚𝑎𝑙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𝑠𝑖𝑛𝑔𝑢𝑙𝑎𝑟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𝑣𝑒𝑐𝑡𝑜𝑟𝑠</m:t>
                      </m:r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7904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Singular Value Decomposition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Singular value decomposition (SVD) of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U</m:t>
                      </m:r>
                      <m:r>
                        <m:rPr>
                          <m:sty m:val="p"/>
                        </m:rPr>
                        <a:rPr lang="el-G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Σ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𝑉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Where: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𝑙𝑒𝑓𝑡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𝑠𝑖𝑛𝑔𝑢𝑙𝑎𝑟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𝑜𝑟𝑡ℎ𝑜𝑛𝑜𝑟𝑚𝑎𝑙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𝑣𝑒𝑐𝑡𝑜𝑟𝑠</m:t>
                      </m:r>
                    </m:oMath>
                  </m:oMathPara>
                </a14:m>
                <a:endParaRPr lang="en-US" sz="2800" b="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l-G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𝑑𝑖𝑎𝑔𝑜𝑛𝑎𝑙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𝑚𝑎𝑡𝑟𝑖𝑥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𝑜𝑓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𝑠𝑖𝑛𝑔𝑢𝑙𝑎𝑟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𝑣𝑎𝑙𝑢𝑒𝑠</m:t>
                      </m:r>
                    </m:oMath>
                  </m:oMathPara>
                </a14:m>
                <a:endParaRPr lang="en-US" sz="2800" b="0" dirty="0">
                  <a:latin typeface="+mn-lt"/>
                  <a:ea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𝑉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𝑟𝑖𝑔ℎ𝑡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𝑜𝑟𝑡ℎ𝑜𝑛𝑜𝑟𝑚𝑎𝑙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𝑠𝑖𝑛𝑔𝑢𝑙𝑎𝑟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𝑣𝑒𝑐𝑡𝑜𝑟𝑠</m:t>
                      </m:r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For example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n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=4×2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matrix:</a:t>
                </a:r>
              </a:p>
              <a:p>
                <a:pPr marL="0" indent="0">
                  <a:buNone/>
                </a:pPr>
                <a:r>
                  <a:rPr lang="en-US" sz="2800" dirty="0">
                    <a:cs typeface="Segoe UI" panose="020B0502040204020203" pitchFamily="34" charset="0"/>
                  </a:rPr>
                  <a:t>	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4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4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2,2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3,1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3,2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4,1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4,2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88700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Singular Value Decomposition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We can use SVD to find the </a:t>
                </a:r>
                <a:r>
                  <a:rPr lang="en-US" b="1" dirty="0">
                    <a:cs typeface="Segoe UI" panose="020B0502040204020203" pitchFamily="34" charset="0"/>
                  </a:rPr>
                  <a:t>pseudoinverse</a:t>
                </a:r>
                <a:r>
                  <a:rPr lang="en-US" dirty="0">
                    <a:cs typeface="Segoe UI" panose="020B0502040204020203" pitchFamily="34" charset="0"/>
                  </a:rPr>
                  <a:t> of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𝐴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∗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V</m:t>
                      </m:r>
                      <m:sSup>
                        <m:sSup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Σ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𝑈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For example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n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=4×2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matrix the :</a:t>
                </a:r>
              </a:p>
              <a:p>
                <a:pPr marL="0" indent="0">
                  <a:buNone/>
                </a:pPr>
                <a:r>
                  <a:rPr lang="en-US" sz="2800" dirty="0">
                    <a:cs typeface="Segoe UI" panose="020B0502040204020203" pitchFamily="34" charset="0"/>
                  </a:rPr>
                  <a:t>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∗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2,2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2,1</m:t>
                                  </m:r>
                                </m:sub>
                              </m:sSub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3,1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4,1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2,2</m:t>
                                  </m:r>
                                </m:sub>
                              </m:sSub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3,2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4,2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659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Singular Value Decomposition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We can use SVD to find the </a:t>
                </a:r>
                <a:r>
                  <a:rPr lang="en-US" b="1" dirty="0">
                    <a:cs typeface="Segoe UI" panose="020B0502040204020203" pitchFamily="34" charset="0"/>
                  </a:rPr>
                  <a:t>pseudoinverse</a:t>
                </a:r>
                <a:r>
                  <a:rPr lang="en-US" dirty="0">
                    <a:cs typeface="Segoe UI" panose="020B0502040204020203" pitchFamily="34" charset="0"/>
                  </a:rPr>
                  <a:t> of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𝐴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∗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V</m:t>
                      </m:r>
                      <m:sSup>
                        <m:sSupPr>
                          <m:ctrl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Σ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𝑈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But, if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≫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this </a:t>
                </a:r>
                <a:r>
                  <a:rPr lang="en-US" b="1" dirty="0">
                    <a:cs typeface="Segoe UI" panose="020B0502040204020203" pitchFamily="34" charset="0"/>
                  </a:rPr>
                  <a:t>inverse is unstable</a:t>
                </a:r>
                <a:r>
                  <a:rPr lang="en-US" dirty="0">
                    <a:cs typeface="Segoe UI" panose="020B0502040204020203" pitchFamily="34" charset="0"/>
                  </a:rPr>
                  <a:t>!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And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=0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the </a:t>
                </a:r>
                <a:r>
                  <a:rPr lang="en-US" b="1" dirty="0">
                    <a:cs typeface="Segoe UI" panose="020B0502040204020203" pitchFamily="34" charset="0"/>
                  </a:rPr>
                  <a:t>inverse does not exist</a:t>
                </a:r>
                <a:r>
                  <a:rPr lang="en-US" dirty="0">
                    <a:cs typeface="Segoe UI" panose="020B0502040204020203" pitchFamily="34" charset="0"/>
                  </a:rPr>
                  <a:t>!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Solution, set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=0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for small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→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</a:t>
                </a:r>
                <a:r>
                  <a:rPr lang="en-US" b="1" dirty="0">
                    <a:cs typeface="Segoe UI" panose="020B0502040204020203" pitchFamily="34" charset="0"/>
                  </a:rPr>
                  <a:t>stable inverse</a:t>
                </a:r>
              </a:p>
              <a:p>
                <a:pPr marL="0" indent="0">
                  <a:buNone/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129808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Singular Value Decomposition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How does SVD relate to PCA?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SVD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U</m:t>
                      </m:r>
                      <m:r>
                        <m:rPr>
                          <m:sty m:val="p"/>
                        </m:rPr>
                        <a:rPr lang="el-G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Σ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𝑉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Substituting the terms of the SVD into the covariance: </a:t>
                </a:r>
              </a:p>
              <a:p>
                <a:pPr marL="0" indent="0">
                  <a:buNone/>
                </a:pPr>
                <a:r>
                  <a:rPr lang="en-US" sz="2800" b="0" dirty="0">
                    <a:cs typeface="Segoe UI" panose="020B0502040204020203" pitchFamily="34" charset="0"/>
                  </a:rPr>
                  <a:t>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𝑊</m:t>
                    </m:r>
                    <m:sSup>
                      <m:sSupPr>
                        <m:ctrlPr>
                          <a:rPr lang="el-G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Σ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𝑈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𝑈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Σ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𝑊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𝑊</m:t>
                    </m:r>
                    <m:sSup>
                      <m:sSupPr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𝑊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sz="2800" b="0" i="1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Since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𝑈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𝑈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I</m:t>
                    </m:r>
                  </m:oMath>
                </a14:m>
                <a:r>
                  <a:rPr lang="en-US" b="0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, the identity matrix  </a:t>
                </a:r>
                <a:endParaRPr lang="en-US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457200" lvl="1" indent="0">
                  <a:buNone/>
                </a:pPr>
                <a:r>
                  <a:rPr lang="en-US" b="0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And SVD of covariance in terms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r>
                  <a:rPr lang="en-US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Thus, the relationship between SVD and PCA is  </a:t>
                </a:r>
              </a:p>
              <a:p>
                <a:pPr marL="0" indent="0">
                  <a:buNone/>
                </a:pPr>
                <a:endParaRPr lang="en-US" sz="1000" b="0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𝑋𝑊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𝑈</m:t>
                      </m:r>
                      <m:sSup>
                        <m:sSup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𝑊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𝑈</m:t>
                      </m:r>
                      <m:sSup>
                        <m:sSup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4001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Singular Value Decomposition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How can we do dimensionality reduction with SVD?</a:t>
                </a:r>
                <a:endParaRPr lang="en-US" sz="2800" b="0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r>
                  <a:rPr lang="en-US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The relationship between SVD and PCA is:  </a:t>
                </a:r>
              </a:p>
              <a:p>
                <a:pPr marL="0" indent="0">
                  <a:buNone/>
                </a:pPr>
                <a:endParaRPr lang="en-US" sz="1000" b="0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𝑋𝑊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𝑈</m:t>
                      </m:r>
                      <m:sSup>
                        <m:sSup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𝑊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𝑈</m:t>
                      </m:r>
                      <m:sSup>
                        <m:sSup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We can construct a lower dimensional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𝐿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limited dimension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𝑊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𝐿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Σ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𝐿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𝐿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)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𝑋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𝑊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𝐿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)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𝑈</m:t>
                      </m:r>
                      <m:sSup>
                        <m:sSup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𝐿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𝑊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is the first L columns of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𝑊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Σ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𝐿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has first L non-zero singular values</a:t>
                </a:r>
              </a:p>
              <a:p>
                <a:pPr marL="0" indent="0">
                  <a:buNone/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0752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27932</TotalTime>
  <Words>3887</Words>
  <Application>Microsoft Office PowerPoint</Application>
  <PresentationFormat>Widescreen</PresentationFormat>
  <Paragraphs>557</Paragraphs>
  <Slides>63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63</vt:i4>
      </vt:variant>
    </vt:vector>
  </HeadingPairs>
  <TitlesOfParts>
    <vt:vector size="74" baseType="lpstr">
      <vt:lpstr>Arial</vt:lpstr>
      <vt:lpstr>Calibri</vt:lpstr>
      <vt:lpstr>Calibri Light</vt:lpstr>
      <vt:lpstr>Cambria Math</vt:lpstr>
      <vt:lpstr>Courier New</vt:lpstr>
      <vt:lpstr>Segoe UI</vt:lpstr>
      <vt:lpstr>Segoe UI Light</vt:lpstr>
      <vt:lpstr>Symbol</vt:lpstr>
      <vt:lpstr>Times New Roman</vt:lpstr>
      <vt:lpstr>Office Theme</vt:lpstr>
      <vt:lpstr>1_Office Theme</vt:lpstr>
      <vt:lpstr>CSCI E-108 Review of Linear Algebra</vt:lpstr>
      <vt:lpstr>Review of Linear Algebra</vt:lpstr>
      <vt:lpstr>Review of Linear Algebra</vt:lpstr>
      <vt:lpstr>Types of Arrays</vt:lpstr>
      <vt:lpstr>Types of Arrays</vt:lpstr>
      <vt:lpstr>Basic Array Operations</vt:lpstr>
      <vt:lpstr>Basic Array Operations</vt:lpstr>
      <vt:lpstr>Basic Array Operations</vt:lpstr>
      <vt:lpstr>Basic Numpy Operations</vt:lpstr>
      <vt:lpstr>Basic Numpy Operations</vt:lpstr>
      <vt:lpstr>Basic Numpy Operations</vt:lpstr>
      <vt:lpstr>Basic Numpy Operations</vt:lpstr>
      <vt:lpstr>Basic Numpy Operations</vt:lpstr>
      <vt:lpstr>Basic Numpy Operations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Broadcasting in Numpy</vt:lpstr>
      <vt:lpstr>Broadcasting in Numpy</vt:lpstr>
      <vt:lpstr>Broadcasting in Numpy</vt:lpstr>
      <vt:lpstr>Vectorization in Numpy</vt:lpstr>
      <vt:lpstr>Vectorization in Numpy</vt:lpstr>
      <vt:lpstr>Vectorization in Numpy</vt:lpstr>
      <vt:lpstr>Working with Numpy Arrays</vt:lpstr>
      <vt:lpstr>Working with Numpy Arrays</vt:lpstr>
      <vt:lpstr>Working with Numpy Arrays</vt:lpstr>
      <vt:lpstr>Working with Numpy Arrays</vt:lpstr>
      <vt:lpstr>Working with Numpy Arrays</vt:lpstr>
      <vt:lpstr>Working with Numpy Arrays</vt:lpstr>
      <vt:lpstr>Review of Eigenvalues and Eigenvectors</vt:lpstr>
      <vt:lpstr>Review of Eigenvalues and Eigenvectors</vt:lpstr>
      <vt:lpstr>Review of Eigenvalues and Eigenvectors</vt:lpstr>
      <vt:lpstr>Review of Eigenvalues and Eigenvectors</vt:lpstr>
      <vt:lpstr>Least Squares for the linear model</vt:lpstr>
      <vt:lpstr>Least Squares for Linear Model</vt:lpstr>
      <vt:lpstr>Least Squares for Linear Model</vt:lpstr>
      <vt:lpstr>Examples of Eigenvalues and Eigenvectors</vt:lpstr>
      <vt:lpstr>Principle Component Decomposition</vt:lpstr>
      <vt:lpstr>Principle Component Decomposition</vt:lpstr>
      <vt:lpstr>Principle Component Decomposition</vt:lpstr>
      <vt:lpstr>Principle Component Decomposition</vt:lpstr>
      <vt:lpstr>Principle Component Decomposition</vt:lpstr>
      <vt:lpstr>Principle Component Decomposition</vt:lpstr>
      <vt:lpstr>Singular Value Decomposition </vt:lpstr>
      <vt:lpstr>Singular Value Decomposition </vt:lpstr>
      <vt:lpstr>Singular Value Decomposition </vt:lpstr>
      <vt:lpstr>Singular Value Decomposition </vt:lpstr>
      <vt:lpstr>Singular Value Decomposition </vt:lpstr>
      <vt:lpstr>Singular Value Decomposition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 Elston</dc:creator>
  <cp:lastModifiedBy>Stephen Elston</cp:lastModifiedBy>
  <cp:revision>920</cp:revision>
  <dcterms:created xsi:type="dcterms:W3CDTF">2020-07-25T22:15:22Z</dcterms:created>
  <dcterms:modified xsi:type="dcterms:W3CDTF">2026-09-14T23:53:25Z</dcterms:modified>
</cp:coreProperties>
</file>